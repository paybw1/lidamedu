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85" showSpecialPlsOnTitleSld="0" embedTrueTypeFonts="1" saveSubsetFonts="1">
  <p:sldMasterIdLst>
    <p:sldMasterId id="2147483648" r:id="rId1"/>
  </p:sldMasterIdLst>
  <p:notesMasterIdLst>
    <p:notesMasterId r:id="rId146"/>
  </p:notesMasterIdLst>
  <p:handoutMasterIdLst>
    <p:handoutMasterId r:id="rId147"/>
  </p:handoutMasterIdLst>
  <p:sldIdLst>
    <p:sldId id="256" r:id="rId2"/>
    <p:sldId id="2046" r:id="rId3"/>
    <p:sldId id="2049" r:id="rId4"/>
    <p:sldId id="2053" r:id="rId5"/>
    <p:sldId id="285" r:id="rId6"/>
    <p:sldId id="481" r:id="rId7"/>
    <p:sldId id="2039" r:id="rId8"/>
    <p:sldId id="480" r:id="rId9"/>
    <p:sldId id="479" r:id="rId10"/>
    <p:sldId id="443" r:id="rId11"/>
    <p:sldId id="482" r:id="rId12"/>
    <p:sldId id="483" r:id="rId13"/>
    <p:sldId id="2055" r:id="rId14"/>
    <p:sldId id="702" r:id="rId15"/>
    <p:sldId id="484" r:id="rId16"/>
    <p:sldId id="485" r:id="rId17"/>
    <p:sldId id="2048" r:id="rId18"/>
    <p:sldId id="486" r:id="rId19"/>
    <p:sldId id="488" r:id="rId20"/>
    <p:sldId id="489" r:id="rId21"/>
    <p:sldId id="487" r:id="rId22"/>
    <p:sldId id="517" r:id="rId23"/>
    <p:sldId id="703" r:id="rId24"/>
    <p:sldId id="2024" r:id="rId25"/>
    <p:sldId id="783" r:id="rId26"/>
    <p:sldId id="492" r:id="rId27"/>
    <p:sldId id="494" r:id="rId28"/>
    <p:sldId id="495" r:id="rId29"/>
    <p:sldId id="500" r:id="rId30"/>
    <p:sldId id="503" r:id="rId31"/>
    <p:sldId id="504" r:id="rId32"/>
    <p:sldId id="2056" r:id="rId33"/>
    <p:sldId id="704" r:id="rId34"/>
    <p:sldId id="705" r:id="rId35"/>
    <p:sldId id="806" r:id="rId36"/>
    <p:sldId id="513" r:id="rId37"/>
    <p:sldId id="505" r:id="rId38"/>
    <p:sldId id="514" r:id="rId39"/>
    <p:sldId id="519" r:id="rId40"/>
    <p:sldId id="516" r:id="rId41"/>
    <p:sldId id="795" r:id="rId42"/>
    <p:sldId id="796" r:id="rId43"/>
    <p:sldId id="797" r:id="rId44"/>
    <p:sldId id="798" r:id="rId45"/>
    <p:sldId id="799" r:id="rId46"/>
    <p:sldId id="533" r:id="rId47"/>
    <p:sldId id="534" r:id="rId48"/>
    <p:sldId id="345" r:id="rId49"/>
    <p:sldId id="699" r:id="rId50"/>
    <p:sldId id="2019" r:id="rId51"/>
    <p:sldId id="800" r:id="rId52"/>
    <p:sldId id="2012" r:id="rId53"/>
    <p:sldId id="2013" r:id="rId54"/>
    <p:sldId id="2037" r:id="rId55"/>
    <p:sldId id="2014" r:id="rId56"/>
    <p:sldId id="2057" r:id="rId57"/>
    <p:sldId id="2058" r:id="rId58"/>
    <p:sldId id="2020" r:id="rId59"/>
    <p:sldId id="706" r:id="rId60"/>
    <p:sldId id="801" r:id="rId61"/>
    <p:sldId id="802" r:id="rId62"/>
    <p:sldId id="2059" r:id="rId63"/>
    <p:sldId id="541" r:id="rId64"/>
    <p:sldId id="708" r:id="rId65"/>
    <p:sldId id="2045" r:id="rId66"/>
    <p:sldId id="545" r:id="rId67"/>
    <p:sldId id="546" r:id="rId68"/>
    <p:sldId id="550" r:id="rId69"/>
    <p:sldId id="562" r:id="rId70"/>
    <p:sldId id="563" r:id="rId71"/>
    <p:sldId id="564" r:id="rId72"/>
    <p:sldId id="565" r:id="rId73"/>
    <p:sldId id="561" r:id="rId74"/>
    <p:sldId id="566" r:id="rId75"/>
    <p:sldId id="568" r:id="rId76"/>
    <p:sldId id="306" r:id="rId77"/>
    <p:sldId id="567" r:id="rId78"/>
    <p:sldId id="572" r:id="rId79"/>
    <p:sldId id="573" r:id="rId80"/>
    <p:sldId id="575" r:id="rId81"/>
    <p:sldId id="574" r:id="rId82"/>
    <p:sldId id="576" r:id="rId83"/>
    <p:sldId id="577" r:id="rId84"/>
    <p:sldId id="579" r:id="rId85"/>
    <p:sldId id="584" r:id="rId86"/>
    <p:sldId id="588" r:id="rId87"/>
    <p:sldId id="589" r:id="rId88"/>
    <p:sldId id="794" r:id="rId89"/>
    <p:sldId id="591" r:id="rId90"/>
    <p:sldId id="590" r:id="rId91"/>
    <p:sldId id="593" r:id="rId92"/>
    <p:sldId id="594" r:id="rId93"/>
    <p:sldId id="622" r:id="rId94"/>
    <p:sldId id="614" r:id="rId95"/>
    <p:sldId id="615" r:id="rId96"/>
    <p:sldId id="620" r:id="rId97"/>
    <p:sldId id="616" r:id="rId98"/>
    <p:sldId id="2021" r:id="rId99"/>
    <p:sldId id="710" r:id="rId100"/>
    <p:sldId id="2052" r:id="rId101"/>
    <p:sldId id="2025" r:id="rId102"/>
    <p:sldId id="2017" r:id="rId103"/>
    <p:sldId id="642" r:id="rId104"/>
    <p:sldId id="644" r:id="rId105"/>
    <p:sldId id="804" r:id="rId106"/>
    <p:sldId id="647" r:id="rId107"/>
    <p:sldId id="805" r:id="rId108"/>
    <p:sldId id="2016" r:id="rId109"/>
    <p:sldId id="2015" r:id="rId110"/>
    <p:sldId id="2040" r:id="rId111"/>
    <p:sldId id="2060" r:id="rId112"/>
    <p:sldId id="2061" r:id="rId113"/>
    <p:sldId id="2051" r:id="rId114"/>
    <p:sldId id="2018" r:id="rId115"/>
    <p:sldId id="621" r:id="rId116"/>
    <p:sldId id="2041" r:id="rId117"/>
    <p:sldId id="2054" r:id="rId118"/>
    <p:sldId id="648" r:id="rId119"/>
    <p:sldId id="650" r:id="rId120"/>
    <p:sldId id="659" r:id="rId121"/>
    <p:sldId id="652" r:id="rId122"/>
    <p:sldId id="651" r:id="rId123"/>
    <p:sldId id="715" r:id="rId124"/>
    <p:sldId id="789" r:id="rId125"/>
    <p:sldId id="653" r:id="rId126"/>
    <p:sldId id="792" r:id="rId127"/>
    <p:sldId id="2035" r:id="rId128"/>
    <p:sldId id="716" r:id="rId129"/>
    <p:sldId id="656" r:id="rId130"/>
    <p:sldId id="657" r:id="rId131"/>
    <p:sldId id="660" r:id="rId132"/>
    <p:sldId id="661" r:id="rId133"/>
    <p:sldId id="662" r:id="rId134"/>
    <p:sldId id="663" r:id="rId135"/>
    <p:sldId id="666" r:id="rId136"/>
    <p:sldId id="664" r:id="rId137"/>
    <p:sldId id="665" r:id="rId138"/>
    <p:sldId id="658" r:id="rId139"/>
    <p:sldId id="2023" r:id="rId140"/>
    <p:sldId id="667" r:id="rId141"/>
    <p:sldId id="668" r:id="rId142"/>
    <p:sldId id="671" r:id="rId143"/>
    <p:sldId id="670" r:id="rId144"/>
    <p:sldId id="2047" r:id="rId145"/>
  </p:sldIdLst>
  <p:sldSz cx="12192000" cy="6858000"/>
  <p:notesSz cx="7104063" cy="10234613"/>
  <p:embeddedFontLst>
    <p:embeddedFont>
      <p:font typeface="Frutiger LT 65 Bold" panose="020B0800000000000000" pitchFamily="34" charset="0"/>
      <p:regular r:id="rId148"/>
    </p:embeddedFont>
    <p:embeddedFont>
      <p:font typeface="Frutiger LT 75 Black" panose="02000A03050000020004" pitchFamily="2" charset="0"/>
      <p:regular r:id="rId149"/>
    </p:embeddedFont>
    <p:embeddedFont>
      <p:font typeface="Rix모던고딕 B" panose="02020603020101020101" pitchFamily="18" charset="-127"/>
      <p:regular r:id="rId150"/>
    </p:embeddedFont>
    <p:embeddedFont>
      <p:font typeface="Rix모던고딕 EB" panose="02020603020101020101" pitchFamily="18" charset="-127"/>
      <p:regular r:id="rId151"/>
    </p:embeddedFont>
    <p:embeddedFont>
      <p:font typeface="Rix모던고딕 L" panose="02020603020101020101" pitchFamily="18" charset="-127"/>
      <p:regular r:id="rId152"/>
    </p:embeddedFont>
    <p:embeddedFont>
      <p:font typeface="Rix모던고딕 M" panose="02020603020101020101" pitchFamily="18" charset="-127"/>
      <p:regular r:id="rId153"/>
    </p:embeddedFont>
    <p:embeddedFont>
      <p:font typeface="Rix모던명조 B" panose="02020603020101020101" pitchFamily="18" charset="-127"/>
      <p:regular r:id="rId154"/>
    </p:embeddedFont>
    <p:embeddedFont>
      <p:font typeface="Rix모던명조 L" panose="02020603020101020101" pitchFamily="18" charset="-127"/>
      <p:regular r:id="rId155"/>
    </p:embeddedFont>
    <p:embeddedFont>
      <p:font typeface="Rix커피향 M" panose="02020603020101020101" pitchFamily="18" charset="-127"/>
      <p:regular r:id="rId156"/>
    </p:embeddedFont>
    <p:embeddedFont>
      <p:font typeface="Yoon가변 윤명조 320_TT" panose="02020603020101020101" pitchFamily="18" charset="-127"/>
      <p:regular r:id="rId157"/>
    </p:embeddedFont>
    <p:embeddedFont>
      <p:font typeface="맑은 고딕" panose="020B0503020000020004" pitchFamily="50" charset="-127"/>
      <p:regular r:id="rId158"/>
      <p:bold r:id="rId159"/>
    </p:embeddedFont>
    <p:embeddedFont>
      <p:font typeface="산돌신문제비 L" panose="02030504000101010101" pitchFamily="18" charset="-127"/>
      <p:regular r:id="rId160"/>
    </p:embeddedFont>
    <p:embeddedFont>
      <p:font typeface="옥션고딕 M" panose="02000000000000000000" pitchFamily="2" charset="-127"/>
      <p:regular r:id="rId16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00B0F0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0" autoAdjust="0"/>
    <p:restoredTop sz="96400" autoAdjust="0"/>
  </p:normalViewPr>
  <p:slideViewPr>
    <p:cSldViewPr snapToGrid="0">
      <p:cViewPr varScale="1">
        <p:scale>
          <a:sx n="107" d="100"/>
          <a:sy n="107" d="100"/>
        </p:scale>
        <p:origin x="1170" y="102"/>
      </p:cViewPr>
      <p:guideLst>
        <p:guide orient="horz" pos="247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0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font" Target="fonts/font12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font" Target="fonts/font2.fntdata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font" Target="fonts/font13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font" Target="fonts/font3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font" Target="fonts/font4.fntdata"/><Relationship Id="rId156" Type="http://schemas.openxmlformats.org/officeDocument/2006/relationships/font" Target="fonts/font9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font" Target="fonts/font10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font" Target="fonts/font6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font" Target="fonts/font1.fntdata"/><Relationship Id="rId16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font" Target="fonts/font7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163" cy="51276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313" y="1"/>
            <a:ext cx="3078162" cy="51276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2026-05-20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163" cy="512763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313" y="9721851"/>
            <a:ext cx="3078162" cy="512763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‹#›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48" tIns="47324" rIns="94648" bIns="47324" rtlCol="0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48" tIns="47324" rIns="94648" bIns="47324" rtlCol="0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782597F2-0C3F-472E-942C-F0680216029B}" type="datetimeFigureOut">
              <a:rPr lang="ko-KR" altLang="en-US" smtClean="0"/>
              <a:pPr/>
              <a:t>2026-05-20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8" tIns="47324" rIns="94648" bIns="47324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9"/>
          </a:xfrm>
          <a:prstGeom prst="rect">
            <a:avLst/>
          </a:prstGeom>
        </p:spPr>
        <p:txBody>
          <a:bodyPr vert="horz" lIns="94648" tIns="47324" rIns="94648" bIns="47324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8" cy="513507"/>
          </a:xfrm>
          <a:prstGeom prst="rect">
            <a:avLst/>
          </a:prstGeom>
        </p:spPr>
        <p:txBody>
          <a:bodyPr vert="horz" lIns="94648" tIns="47324" rIns="94648" bIns="47324" rtlCol="0" anchor="b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8" cy="513507"/>
          </a:xfrm>
          <a:prstGeom prst="rect">
            <a:avLst/>
          </a:prstGeom>
        </p:spPr>
        <p:txBody>
          <a:bodyPr vert="horz" lIns="94648" tIns="47324" rIns="94648" bIns="47324" rtlCol="0" anchor="b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30C005C8-BD53-41EA-B159-BC12A6DFFB7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200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8882-A3B7-EA01-2C28-44E8E603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슬라이드 이미지 개체 틀 1">
            <a:extLst>
              <a:ext uri="{FF2B5EF4-FFF2-40B4-BE49-F238E27FC236}">
                <a16:creationId xmlns:a16="http://schemas.microsoft.com/office/drawing/2014/main" id="{B1DD0B34-EA1C-EBF2-4194-2D8E6FED95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슬라이드 노트 개체 틀 2">
            <a:extLst>
              <a:ext uri="{FF2B5EF4-FFF2-40B4-BE49-F238E27FC236}">
                <a16:creationId xmlns:a16="http://schemas.microsoft.com/office/drawing/2014/main" id="{7CECEBE4-5009-5DC6-7BEC-B3A33DD47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29028" name="슬라이드 번호 개체 틀 3">
            <a:extLst>
              <a:ext uri="{FF2B5EF4-FFF2-40B4-BE49-F238E27FC236}">
                <a16:creationId xmlns:a16="http://schemas.microsoft.com/office/drawing/2014/main" id="{A205E1B1-15E7-29F4-4E77-97B3A0A22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EF4288-44A2-476D-940D-77CB62538A16}" type="slidenum">
              <a:rPr lang="en-US" altLang="ko-KR" smtClean="0"/>
              <a:pPr/>
              <a:t>316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54837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2902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EF4288-44A2-476D-940D-77CB62538A16}" type="slidenum">
              <a:rPr lang="en-US" altLang="ko-KR" smtClean="0"/>
              <a:pPr/>
              <a:t>317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16775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2902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EF4288-44A2-476D-940D-77CB62538A16}" type="slidenum">
              <a:rPr lang="en-US" altLang="ko-KR" smtClean="0"/>
              <a:pPr/>
              <a:t>318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3129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2902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EF4288-44A2-476D-940D-77CB62538A16}" type="slidenum">
              <a:rPr lang="en-US" altLang="ko-KR" smtClean="0"/>
              <a:pPr/>
              <a:t>319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6309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321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1182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322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1182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323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1182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324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1182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2186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57DEC3-CB2E-4E7F-BFCF-51C8366DB624}" type="slidenum">
              <a:rPr lang="en-US" altLang="ko-KR" smtClean="0"/>
              <a:pPr/>
              <a:t>331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68839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16513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51373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21052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5186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82404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54507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01CF-2F47-706D-C3D0-E3F75863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>
            <a:extLst>
              <a:ext uri="{FF2B5EF4-FFF2-40B4-BE49-F238E27FC236}">
                <a16:creationId xmlns:a16="http://schemas.microsoft.com/office/drawing/2014/main" id="{832944A8-0F18-7A36-3657-F01CB2B2A8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>
            <a:extLst>
              <a:ext uri="{FF2B5EF4-FFF2-40B4-BE49-F238E27FC236}">
                <a16:creationId xmlns:a16="http://schemas.microsoft.com/office/drawing/2014/main" id="{5F7DA72D-BBED-294C-BD0C-1F8633D33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>
            <a:extLst>
              <a:ext uri="{FF2B5EF4-FFF2-40B4-BE49-F238E27FC236}">
                <a16:creationId xmlns:a16="http://schemas.microsoft.com/office/drawing/2014/main" id="{6BD1CB57-8ADC-2ABB-FA22-12B29DA0C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340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9073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3CBB7-8339-B474-1CD6-20D7AF89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>
            <a:extLst>
              <a:ext uri="{FF2B5EF4-FFF2-40B4-BE49-F238E27FC236}">
                <a16:creationId xmlns:a16="http://schemas.microsoft.com/office/drawing/2014/main" id="{8A1485D2-11B2-BBF9-2F1E-3AEEDF9241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>
            <a:extLst>
              <a:ext uri="{FF2B5EF4-FFF2-40B4-BE49-F238E27FC236}">
                <a16:creationId xmlns:a16="http://schemas.microsoft.com/office/drawing/2014/main" id="{3D81D24E-7DB4-86EF-8A7C-8FAC0FD5F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>
            <a:extLst>
              <a:ext uri="{FF2B5EF4-FFF2-40B4-BE49-F238E27FC236}">
                <a16:creationId xmlns:a16="http://schemas.microsoft.com/office/drawing/2014/main" id="{951FA198-8F1A-8AE3-941E-74B441558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341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64433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342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0977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2836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7133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6A97B-66F7-7AE5-E3D7-6A2B339D2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86AF0B-7FFD-8DA3-0F93-CD24E103B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462E8-FA0B-67BC-D7EF-F0691D39A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F8D578-C66A-75F7-495E-265581EAAA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1016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2596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142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/>
              <a:pPr/>
              <a:t>351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12530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5224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/>
              <a:pPr/>
              <a:t>364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12530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/>
              <a:pPr/>
              <a:t>365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12530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6243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1680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6536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661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1D30-2AE6-735D-7633-F3D5138E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>
            <a:extLst>
              <a:ext uri="{FF2B5EF4-FFF2-40B4-BE49-F238E27FC236}">
                <a16:creationId xmlns:a16="http://schemas.microsoft.com/office/drawing/2014/main" id="{77389DA2-174C-0A54-17B5-E6875D3E0C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>
            <a:extLst>
              <a:ext uri="{FF2B5EF4-FFF2-40B4-BE49-F238E27FC236}">
                <a16:creationId xmlns:a16="http://schemas.microsoft.com/office/drawing/2014/main" id="{6F95009A-6502-DA26-5B9F-5439D8C3E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>
            <a:extLst>
              <a:ext uri="{FF2B5EF4-FFF2-40B4-BE49-F238E27FC236}">
                <a16:creationId xmlns:a16="http://schemas.microsoft.com/office/drawing/2014/main" id="{EC84BFB4-1CC2-B2C7-5FD3-78A6A7156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395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496845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B1C21-9064-BFDC-6335-374D2B7F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>
            <a:extLst>
              <a:ext uri="{FF2B5EF4-FFF2-40B4-BE49-F238E27FC236}">
                <a16:creationId xmlns:a16="http://schemas.microsoft.com/office/drawing/2014/main" id="{71281422-02E6-87E1-2FA6-B7FA4E6FFA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>
            <a:extLst>
              <a:ext uri="{FF2B5EF4-FFF2-40B4-BE49-F238E27FC236}">
                <a16:creationId xmlns:a16="http://schemas.microsoft.com/office/drawing/2014/main" id="{70A1F560-8AF4-4735-5C54-C1D5F9CA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>
            <a:extLst>
              <a:ext uri="{FF2B5EF4-FFF2-40B4-BE49-F238E27FC236}">
                <a16:creationId xmlns:a16="http://schemas.microsoft.com/office/drawing/2014/main" id="{53EE0545-F512-343F-4047-5C508C3D9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396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82834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1660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593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2185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6629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7782-31DA-416C-96A7-178F9741EA4A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" y="677164"/>
            <a:ext cx="27382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9E64-7F66-4126-97FC-7ED7350E9E2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77164"/>
            <a:ext cx="27233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222-B815-4713-A257-9245DA703C44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6857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685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 hasCustomPrompt="1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4270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40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69882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71677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53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84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69882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71677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3687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6542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915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E8507-BCFF-46C4-9E26-080A469A7C02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745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2" Type="http://schemas.openxmlformats.org/officeDocument/2006/relationships/hyperlink" Target="http://anyf.co.kr/mart7/mall.php?cat=062004001&amp;query=view&amp;no=31166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nyf.co.kr/mart7/mall.php?cat=062004001&amp;query=view&amp;no=31162" TargetMode="External"/><Relationship Id="rId5" Type="http://schemas.openxmlformats.org/officeDocument/2006/relationships/image" Target="../media/image2.jpeg"/><Relationship Id="rId4" Type="http://schemas.openxmlformats.org/officeDocument/2006/relationships/hyperlink" Target="http://anyf.co.kr/mart7/mall.php?cat=080001002&amp;query=view&amp;no=28749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://anyf.co.kr/mart7/mall.php?cat=062004001&amp;query=view&amp;no=31166" TargetMode="External"/><Relationship Id="rId3" Type="http://schemas.openxmlformats.org/officeDocument/2006/relationships/image" Target="../media/image4.jpeg"/><Relationship Id="rId7" Type="http://schemas.openxmlformats.org/officeDocument/2006/relationships/image" Target="../media/image2.jpeg"/><Relationship Id="rId2" Type="http://schemas.openxmlformats.org/officeDocument/2006/relationships/hyperlink" Target="http://anyf.co.kr/mart7/mall.php?cat=080001002&amp;query=view&amp;no=28747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nyf.co.kr/mart7/mall.php?cat=080001002&amp;query=view&amp;no=28749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5.jpeg"/><Relationship Id="rId10" Type="http://schemas.openxmlformats.org/officeDocument/2006/relationships/hyperlink" Target="http://anyf.co.kr/mart7/mall.php?cat=062004001&amp;query=view&amp;no=31162" TargetMode="External"/><Relationship Id="rId4" Type="http://schemas.openxmlformats.org/officeDocument/2006/relationships/hyperlink" Target="http://anyf.co.kr/mart7/mall.php?cat=080001002&amp;query=view&amp;no=28748" TargetMode="External"/><Relationship Id="rId9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://anyf.co.kr/mart7/mall.php?cat=062004001&amp;query=view&amp;no=31160" TargetMode="External"/><Relationship Id="rId13" Type="http://schemas.openxmlformats.org/officeDocument/2006/relationships/image" Target="../media/image5.jpeg"/><Relationship Id="rId3" Type="http://schemas.openxmlformats.org/officeDocument/2006/relationships/image" Target="../media/image4.jpeg"/><Relationship Id="rId7" Type="http://schemas.openxmlformats.org/officeDocument/2006/relationships/image" Target="../media/image7.jpeg"/><Relationship Id="rId12" Type="http://schemas.openxmlformats.org/officeDocument/2006/relationships/hyperlink" Target="http://anyf.co.kr/mart7/mall.php?cat=080001002&amp;query=view&amp;no=28748" TargetMode="External"/><Relationship Id="rId2" Type="http://schemas.openxmlformats.org/officeDocument/2006/relationships/hyperlink" Target="http://anyf.co.kr/mart7/mall.php?cat=080001002&amp;query=view&amp;no=28747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nyf.co.kr/mart7/mall.php?cat=062004001&amp;query=view&amp;no=31157" TargetMode="External"/><Relationship Id="rId11" Type="http://schemas.openxmlformats.org/officeDocument/2006/relationships/image" Target="../media/image1.jpeg"/><Relationship Id="rId5" Type="http://schemas.openxmlformats.org/officeDocument/2006/relationships/image" Target="../media/image6.jpeg"/><Relationship Id="rId10" Type="http://schemas.openxmlformats.org/officeDocument/2006/relationships/hyperlink" Target="http://anyf.co.kr/mart7/mall.php?cat=062004001&amp;query=view&amp;no=31166" TargetMode="External"/><Relationship Id="rId4" Type="http://schemas.openxmlformats.org/officeDocument/2006/relationships/hyperlink" Target="http://anyf.co.kr/mart7/mall.php?cat=062005002&amp;query=view&amp;no=31687" TargetMode="External"/><Relationship Id="rId9" Type="http://schemas.openxmlformats.org/officeDocument/2006/relationships/image" Target="../media/image8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://anyf.co.kr/mart7/mall.php?cat=062004001&amp;query=view&amp;no=31166" TargetMode="External"/><Relationship Id="rId13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jpeg"/><Relationship Id="rId12" Type="http://schemas.openxmlformats.org/officeDocument/2006/relationships/hyperlink" Target="http://anyf.co.kr/mart7/mall.php?cat=062004001&amp;query=view&amp;no=31160" TargetMode="External"/><Relationship Id="rId2" Type="http://schemas.openxmlformats.org/officeDocument/2006/relationships/hyperlink" Target="http://anyf.co.kr/mart7/mall.php?cat=062006001&amp;query=view&amp;no=30961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nyf.co.kr/mart7/mall.php?cat=062004001&amp;query=view&amp;no=31157" TargetMode="External"/><Relationship Id="rId11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hyperlink" Target="http://anyf.co.kr/mart7/mall.php?cat=062005002&amp;query=view&amp;no=31687" TargetMode="External"/><Relationship Id="rId4" Type="http://schemas.openxmlformats.org/officeDocument/2006/relationships/hyperlink" Target="http://anyf.co.kr/mart7/mall.php?cat=080001002&amp;query=view&amp;no=28748" TargetMode="External"/><Relationship Id="rId9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anyf.co.kr/mart7/mall.php?cat=080001002&amp;query=view&amp;no=28747" TargetMode="External"/><Relationship Id="rId13" Type="http://schemas.openxmlformats.org/officeDocument/2006/relationships/image" Target="../media/image8.jpeg"/><Relationship Id="rId18" Type="http://schemas.openxmlformats.org/officeDocument/2006/relationships/hyperlink" Target="http://anyf.co.kr/mart7/mall.php?cat=062006001&amp;query=view&amp;no=30961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12" Type="http://schemas.openxmlformats.org/officeDocument/2006/relationships/hyperlink" Target="http://anyf.co.kr/mart7/mall.php?cat=062004001&amp;query=view&amp;no=31160" TargetMode="External"/><Relationship Id="rId17" Type="http://schemas.openxmlformats.org/officeDocument/2006/relationships/image" Target="../media/image6.jpeg"/><Relationship Id="rId2" Type="http://schemas.openxmlformats.org/officeDocument/2006/relationships/hyperlink" Target="http://anyf.co.kr/mart7/mall.php?cat=062004001&amp;query=view&amp;no=31166" TargetMode="External"/><Relationship Id="rId16" Type="http://schemas.openxmlformats.org/officeDocument/2006/relationships/hyperlink" Target="http://anyf.co.kr/mart7/mall.php?cat=062005002&amp;query=view&amp;no=31687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nyf.co.kr/mart7/mall.php?cat=062004001&amp;query=view&amp;no=31162" TargetMode="External"/><Relationship Id="rId11" Type="http://schemas.openxmlformats.org/officeDocument/2006/relationships/image" Target="../media/image5.jpeg"/><Relationship Id="rId5" Type="http://schemas.openxmlformats.org/officeDocument/2006/relationships/image" Target="../media/image2.jpeg"/><Relationship Id="rId15" Type="http://schemas.openxmlformats.org/officeDocument/2006/relationships/image" Target="../media/image7.jpeg"/><Relationship Id="rId10" Type="http://schemas.openxmlformats.org/officeDocument/2006/relationships/hyperlink" Target="http://anyf.co.kr/mart7/mall.php?cat=080001002&amp;query=view&amp;no=28748" TargetMode="External"/><Relationship Id="rId19" Type="http://schemas.openxmlformats.org/officeDocument/2006/relationships/image" Target="../media/image10.jpeg"/><Relationship Id="rId4" Type="http://schemas.openxmlformats.org/officeDocument/2006/relationships/hyperlink" Target="http://anyf.co.kr/mart7/mall.php?cat=080001002&amp;query=view&amp;no=28749" TargetMode="External"/><Relationship Id="rId9" Type="http://schemas.openxmlformats.org/officeDocument/2006/relationships/image" Target="../media/image4.jpeg"/><Relationship Id="rId14" Type="http://schemas.openxmlformats.org/officeDocument/2006/relationships/hyperlink" Target="http://anyf.co.kr/mart7/mall.php?cat=062004001&amp;query=view&amp;no=31157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5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9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emf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특허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요건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이익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제도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심사</a:t>
            </a:r>
            <a:endParaRPr lang="en-US" altLang="ko-KR" sz="2000" b="1" dirty="0"/>
          </a:p>
          <a:p>
            <a:pPr algn="ctr"/>
            <a:r>
              <a:rPr lang="en-US" altLang="ko-KR" sz="2000" b="1" dirty="0"/>
              <a:t>(</a:t>
            </a:r>
            <a:r>
              <a:rPr lang="ko-KR" altLang="en-US" sz="2000" b="1" dirty="0"/>
              <a:t>제도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16" name="직사각형 15"/>
          <p:cNvSpPr/>
          <p:nvPr/>
        </p:nvSpPr>
        <p:spPr>
          <a:xfrm>
            <a:off x="11153594" y="3912483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특허권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심판</a:t>
            </a:r>
            <a:r>
              <a:rPr lang="en-US" altLang="ko-KR" sz="2000" b="1" dirty="0"/>
              <a:t>/</a:t>
            </a:r>
          </a:p>
          <a:p>
            <a:pPr algn="ctr"/>
            <a:r>
              <a:rPr lang="ko-KR" altLang="en-US" sz="2000" b="1" dirty="0"/>
              <a:t>소송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PCT</a:t>
            </a:r>
            <a:endParaRPr lang="ko-KR" altLang="en-US" sz="2000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9BCD263-7D87-0057-9703-795E7274EF24}"/>
              </a:ext>
            </a:extLst>
          </p:cNvPr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6BABB91-6D4E-1D4F-1DD4-784FBA4C49DE}"/>
              </a:ext>
            </a:extLst>
          </p:cNvPr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F6DD042-4F55-1371-A493-62122B3FF1F2}"/>
              </a:ext>
            </a:extLst>
          </p:cNvPr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2025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23BDEEB-E4D2-612B-4614-CE527DE517E5}"/>
              </a:ext>
            </a:extLst>
          </p:cNvPr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43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347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287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총칙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보칙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목적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행위능력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3~5①)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대리인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3②, 5②~10, 12)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복수당사자 대표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재외자의</a:t>
            </a:r>
            <a:r>
              <a:rPr lang="ko-KR" altLang="en-US" sz="1000" dirty="0">
                <a:solidFill>
                  <a:schemeClr val="tx1"/>
                </a:solidFill>
              </a:rPr>
              <a:t> 재판관할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기일과 기간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14, 15)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특허에 관한 절차 일반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16, 28~28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추후보완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17, 67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효력의 승계 및 절차의 속행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18, 19)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정지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20~24, 78, 164)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특허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협의의 특허요건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29)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선출원주의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불특허발명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국방상 필요한 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 41, 106)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출원인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25, 33, 44)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특허를 받을 수 있는 권리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37, 38)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직무발명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발진법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2, 10~19, 58)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특허출원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42~42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3, 43)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하나의 특허출원의 범위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이익</a:t>
            </a:r>
            <a:endParaRPr lang="en-US" altLang="ko-KR" sz="1200" dirty="0"/>
          </a:p>
          <a:p>
            <a:pPr algn="ctr"/>
            <a:r>
              <a:rPr lang="ko-KR" altLang="en-US" sz="1200" dirty="0"/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34, 35, 99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보정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46, 47, 51)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분리출원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55, 56)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판단시점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소급제도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심사</a:t>
              </a:r>
              <a:endParaRPr lang="en-US" altLang="ko-KR" sz="1200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제도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57</a:t>
                </a:r>
                <a:r>
                  <a:rPr lang="en-US" altLang="ko-KR" sz="1000">
                    <a:solidFill>
                      <a:schemeClr val="tx1"/>
                    </a:solidFill>
                  </a:rPr>
                  <a:t>, 68)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전문기관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58, 58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출원의 무효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취하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포기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특허여부결정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66~67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심사청구제도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59, 60)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우선심사제도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61)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심사의 진행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정보제공제도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출원공개제도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64, 65)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타절차와의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관계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78)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보칙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215-224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21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288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이해관계인에 의한 특허료의 대납</a:t>
            </a:r>
          </a:p>
        </p:txBody>
      </p:sp>
      <p:cxnSp>
        <p:nvCxnSpPr>
          <p:cNvPr id="82" name="직선 연결선 81"/>
          <p:cNvCxnSpPr/>
          <p:nvPr/>
        </p:nvCxnSpPr>
        <p:spPr>
          <a:xfrm>
            <a:off x="0" y="150588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80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이해관계인에 의한 특허료의 납부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이해관계인은 특허료를 내야 할 자의 의사와 관계없이 특허료를 낼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이해관계인은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항에 따라 특허료를 낸 경우</a:t>
            </a:r>
            <a:r>
              <a:rPr lang="ko-KR" altLang="en-US" sz="1400" dirty="0">
                <a:solidFill>
                  <a:schemeClr val="tx2"/>
                </a:solidFill>
              </a:rPr>
              <a:t>에는 내야 할 자가 현재 이익을 얻는 한도에서 그 비용의 상환을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35227" y="2209796"/>
            <a:ext cx="12700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특허료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5227" y="3014130"/>
            <a:ext cx="12700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납부이익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1093" y="3005663"/>
            <a:ext cx="1270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특허권자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301093" y="3623730"/>
            <a:ext cx="1270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실시권자</a:t>
            </a:r>
            <a:endParaRPr lang="ko-KR" altLang="en-US" dirty="0"/>
          </a:p>
        </p:txBody>
      </p:sp>
      <p:cxnSp>
        <p:nvCxnSpPr>
          <p:cNvPr id="6" name="꺾인 연결선 5"/>
          <p:cNvCxnSpPr>
            <a:stCxn id="38" idx="3"/>
            <a:endCxn id="42" idx="1"/>
          </p:cNvCxnSpPr>
          <p:nvPr/>
        </p:nvCxnSpPr>
        <p:spPr>
          <a:xfrm flipV="1">
            <a:off x="3505227" y="3190329"/>
            <a:ext cx="795866" cy="84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7"/>
          <p:cNvCxnSpPr>
            <a:stCxn id="38" idx="3"/>
            <a:endCxn id="43" idx="1"/>
          </p:cNvCxnSpPr>
          <p:nvPr/>
        </p:nvCxnSpPr>
        <p:spPr>
          <a:xfrm>
            <a:off x="3505227" y="3198796"/>
            <a:ext cx="795866" cy="6096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2" idx="1"/>
            <a:endCxn id="38" idx="1"/>
          </p:cNvCxnSpPr>
          <p:nvPr/>
        </p:nvCxnSpPr>
        <p:spPr>
          <a:xfrm rot="10800000" flipV="1">
            <a:off x="2235227" y="2394462"/>
            <a:ext cx="12700" cy="804334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06827" y="220979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100</a:t>
            </a:r>
            <a:r>
              <a:rPr lang="ko-KR" altLang="en-US" dirty="0"/>
              <a:t>만원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45696" y="300566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30</a:t>
            </a:r>
            <a:r>
              <a:rPr lang="ko-KR" altLang="en-US" dirty="0"/>
              <a:t>만원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5696" y="3623730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1,000</a:t>
            </a:r>
            <a:r>
              <a:rPr lang="ko-KR" altLang="en-US" dirty="0"/>
              <a:t>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4693" y="4800611"/>
            <a:ext cx="5274734" cy="120032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실시권자가</a:t>
            </a:r>
            <a:r>
              <a:rPr lang="ko-KR" altLang="en-US" dirty="0"/>
              <a:t> 특허료 </a:t>
            </a:r>
            <a:r>
              <a:rPr lang="en-US" altLang="ko-KR" dirty="0"/>
              <a:t>100</a:t>
            </a:r>
            <a:r>
              <a:rPr lang="ko-KR" altLang="en-US" dirty="0"/>
              <a:t>만원을 대신 납부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특허권자에게</a:t>
            </a:r>
            <a:r>
              <a:rPr lang="ko-KR" altLang="en-US" dirty="0"/>
              <a:t> 비용상환청구 가능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특허권자의 의사에 의한 경우</a:t>
            </a:r>
            <a:r>
              <a:rPr lang="en-US" altLang="ko-KR" dirty="0"/>
              <a:t>: 100</a:t>
            </a:r>
            <a:r>
              <a:rPr lang="ko-KR" altLang="en-US" dirty="0"/>
              <a:t>만원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특허권자의 의사에 반한 경우</a:t>
            </a:r>
            <a:r>
              <a:rPr lang="en-US" altLang="ko-KR" dirty="0"/>
              <a:t>: 30</a:t>
            </a:r>
            <a:r>
              <a:rPr lang="ko-KR" altLang="en-US" dirty="0"/>
              <a:t>만원</a:t>
            </a:r>
          </a:p>
        </p:txBody>
      </p:sp>
      <p:cxnSp>
        <p:nvCxnSpPr>
          <p:cNvPr id="16" name="꺾인 연결선 15"/>
          <p:cNvCxnSpPr>
            <a:stCxn id="12" idx="0"/>
            <a:endCxn id="43" idx="2"/>
          </p:cNvCxnSpPr>
          <p:nvPr/>
        </p:nvCxnSpPr>
        <p:spPr>
          <a:xfrm rot="16200000" flipV="1">
            <a:off x="5330303" y="3598853"/>
            <a:ext cx="807549" cy="1595967"/>
          </a:xfrm>
          <a:prstGeom prst="bentConnector3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97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직선 연결선 128"/>
          <p:cNvCxnSpPr/>
          <p:nvPr/>
        </p:nvCxnSpPr>
        <p:spPr>
          <a:xfrm flipH="1">
            <a:off x="336431" y="3734740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양쪽 모서리가 둥근 사각형 54"/>
          <p:cNvSpPr/>
          <p:nvPr/>
        </p:nvSpPr>
        <p:spPr>
          <a:xfrm>
            <a:off x="7080566" y="2158543"/>
            <a:ext cx="2190481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양쪽 모서리가 둥근 사각형 51"/>
          <p:cNvSpPr/>
          <p:nvPr/>
        </p:nvSpPr>
        <p:spPr>
          <a:xfrm>
            <a:off x="5926713" y="1718732"/>
            <a:ext cx="3708400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양쪽 모서리가 둥근 사각형 40"/>
          <p:cNvSpPr/>
          <p:nvPr/>
        </p:nvSpPr>
        <p:spPr>
          <a:xfrm>
            <a:off x="2743200" y="1701797"/>
            <a:ext cx="2413008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양쪽 모서리가 둥근 사각형 13"/>
          <p:cNvSpPr/>
          <p:nvPr/>
        </p:nvSpPr>
        <p:spPr>
          <a:xfrm>
            <a:off x="1147530" y="1718732"/>
            <a:ext cx="1595670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79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81</a:t>
            </a:r>
            <a:r>
              <a:rPr lang="ko-KR" altLang="en-US" dirty="0"/>
              <a:t>조의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특허료 납부 절차</a:t>
            </a:r>
          </a:p>
        </p:txBody>
      </p:sp>
      <p:sp>
        <p:nvSpPr>
          <p:cNvPr id="19" name="양쪽 모서리가 둥근 사각형 18"/>
          <p:cNvSpPr/>
          <p:nvPr/>
        </p:nvSpPr>
        <p:spPr>
          <a:xfrm>
            <a:off x="4478868" y="2158543"/>
            <a:ext cx="1447846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/>
          <p:nvPr/>
        </p:nvCxnSpPr>
        <p:spPr>
          <a:xfrm>
            <a:off x="752475" y="2162601"/>
            <a:ext cx="107156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2602" y="2000450"/>
            <a:ext cx="769856" cy="316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특허결정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등본송달일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907849" y="1425968"/>
            <a:ext cx="1985039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납부기간</a:t>
            </a:r>
            <a:r>
              <a:rPr lang="en-US" altLang="ko-KR" sz="1050" dirty="0">
                <a:solidFill>
                  <a:schemeClr val="tx1"/>
                </a:solidFill>
              </a:rPr>
              <a:t>(3</a:t>
            </a:r>
            <a:r>
              <a:rPr lang="ko-KR" altLang="en-US" sz="1050" dirty="0">
                <a:solidFill>
                  <a:schemeClr val="tx1"/>
                </a:solidFill>
              </a:rPr>
              <a:t>개월</a:t>
            </a:r>
            <a:r>
              <a:rPr lang="en-US" altLang="ko-KR" sz="1050" dirty="0">
                <a:solidFill>
                  <a:schemeClr val="tx1"/>
                </a:solidFill>
              </a:rPr>
              <a:t>): 3</a:t>
            </a:r>
            <a:r>
              <a:rPr lang="ko-KR" altLang="en-US" sz="1050" dirty="0" err="1">
                <a:solidFill>
                  <a:schemeClr val="tx1"/>
                </a:solidFill>
              </a:rPr>
              <a:t>년분</a:t>
            </a:r>
            <a:r>
              <a:rPr lang="ko-KR" altLang="en-US" sz="105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798355" y="1425968"/>
            <a:ext cx="2900185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추가납부기간</a:t>
            </a:r>
            <a:r>
              <a:rPr lang="en-US" altLang="ko-KR" sz="1050" dirty="0">
                <a:solidFill>
                  <a:schemeClr val="tx1"/>
                </a:solidFill>
              </a:rPr>
              <a:t>(6</a:t>
            </a:r>
            <a:r>
              <a:rPr lang="ko-KR" altLang="en-US" sz="1050" dirty="0">
                <a:solidFill>
                  <a:schemeClr val="tx1"/>
                </a:solidFill>
              </a:rPr>
              <a:t>개월</a:t>
            </a:r>
            <a:r>
              <a:rPr lang="en-US" altLang="ko-KR" sz="1050" dirty="0">
                <a:solidFill>
                  <a:schemeClr val="tx1"/>
                </a:solidFill>
              </a:rPr>
              <a:t>): </a:t>
            </a:r>
            <a:r>
              <a:rPr lang="ko-KR" altLang="en-US" sz="1050" dirty="0">
                <a:solidFill>
                  <a:schemeClr val="tx1"/>
                </a:solidFill>
              </a:rPr>
              <a:t>최대 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배 </a:t>
            </a:r>
            <a:r>
              <a:rPr lang="ko-KR" altLang="en-US" sz="1050" dirty="0" err="1">
                <a:solidFill>
                  <a:schemeClr val="tx1"/>
                </a:solidFill>
              </a:rPr>
              <a:t>범위내에서</a:t>
            </a:r>
            <a:r>
              <a:rPr lang="ko-KR" altLang="en-US" sz="105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4502785" y="2501222"/>
            <a:ext cx="1474722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보전기간</a:t>
            </a:r>
            <a:r>
              <a:rPr lang="en-US" altLang="ko-KR" sz="900" dirty="0">
                <a:solidFill>
                  <a:schemeClr val="tx1"/>
                </a:solidFill>
              </a:rPr>
              <a:t>(1</a:t>
            </a:r>
            <a:r>
              <a:rPr lang="ko-KR" altLang="en-US" sz="900" dirty="0">
                <a:solidFill>
                  <a:schemeClr val="tx1"/>
                </a:solidFill>
              </a:rPr>
              <a:t>개월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4020807" y="2936705"/>
            <a:ext cx="769856" cy="25952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일부납부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176810" y="1443386"/>
            <a:ext cx="3140318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추가납부기간과 보전기간 만료일 중 늦은 날로부터 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 flipV="1">
            <a:off x="9174252" y="20945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8136481" y="2936705"/>
            <a:ext cx="769856" cy="25952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완납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8136481" y="2000450"/>
            <a:ext cx="769856" cy="316186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</a:p>
        </p:txBody>
      </p:sp>
      <p:cxnSp>
        <p:nvCxnSpPr>
          <p:cNvPr id="17" name="직선 화살표 연결선 16"/>
          <p:cNvCxnSpPr>
            <a:stCxn id="49" idx="0"/>
          </p:cNvCxnSpPr>
          <p:nvPr/>
        </p:nvCxnSpPr>
        <p:spPr>
          <a:xfrm flipV="1">
            <a:off x="4405735" y="2171068"/>
            <a:ext cx="0" cy="765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57" idx="0"/>
            <a:endCxn id="58" idx="2"/>
          </p:cNvCxnSpPr>
          <p:nvPr/>
        </p:nvCxnSpPr>
        <p:spPr>
          <a:xfrm flipV="1">
            <a:off x="8521409" y="2316636"/>
            <a:ext cx="0" cy="62006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7483057" y="2501222"/>
            <a:ext cx="1474722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사유소멸일로부터 </a:t>
            </a:r>
            <a:r>
              <a:rPr lang="en-US" altLang="ko-KR" sz="900" dirty="0">
                <a:solidFill>
                  <a:schemeClr val="tx1"/>
                </a:solidFill>
              </a:rPr>
              <a:t>2</a:t>
            </a:r>
            <a:r>
              <a:rPr lang="ko-KR" altLang="en-US" sz="9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5541785" y="2806944"/>
            <a:ext cx="769856" cy="38928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특허출원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포기간주</a:t>
            </a:r>
          </a:p>
        </p:txBody>
      </p:sp>
      <p:cxnSp>
        <p:nvCxnSpPr>
          <p:cNvPr id="64" name="직선 화살표 연결선 63"/>
          <p:cNvCxnSpPr>
            <a:stCxn id="51" idx="0"/>
            <a:endCxn id="63" idx="0"/>
          </p:cNvCxnSpPr>
          <p:nvPr/>
        </p:nvCxnSpPr>
        <p:spPr>
          <a:xfrm>
            <a:off x="5926713" y="2247599"/>
            <a:ext cx="0" cy="55934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V="1">
            <a:off x="5926713" y="2178407"/>
            <a:ext cx="2209768" cy="1"/>
          </a:xfrm>
          <a:prstGeom prst="line">
            <a:avLst/>
          </a:prstGeom>
          <a:ln w="952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 flipV="1">
            <a:off x="5855275" y="20945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6329174" y="3426712"/>
            <a:ext cx="4292260" cy="56875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/>
                </a:solidFill>
              </a:rPr>
              <a:t>▪ 실시 → 보상금청구권</a:t>
            </a:r>
            <a:r>
              <a:rPr lang="en-US" altLang="ko-KR" sz="1100" dirty="0">
                <a:solidFill>
                  <a:schemeClr val="bg1"/>
                </a:solidFill>
              </a:rPr>
              <a:t>/</a:t>
            </a:r>
            <a:r>
              <a:rPr lang="ko-KR" altLang="en-US" sz="1100" dirty="0">
                <a:solidFill>
                  <a:schemeClr val="bg1"/>
                </a:solidFill>
              </a:rPr>
              <a:t>특허권 행사불가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▪ 선의의 국내에서 </a:t>
            </a:r>
            <a:r>
              <a:rPr lang="ko-KR" altLang="en-US" sz="1100" dirty="0" err="1">
                <a:solidFill>
                  <a:schemeClr val="bg1"/>
                </a:solidFill>
              </a:rPr>
              <a:t>특허출원된</a:t>
            </a:r>
            <a:r>
              <a:rPr lang="ko-KR" altLang="en-US" sz="1100" dirty="0">
                <a:solidFill>
                  <a:schemeClr val="bg1"/>
                </a:solidFill>
              </a:rPr>
              <a:t> 발명</a:t>
            </a:r>
            <a:r>
              <a:rPr lang="en-US" altLang="ko-KR" sz="1100" dirty="0">
                <a:solidFill>
                  <a:schemeClr val="bg1"/>
                </a:solidFill>
              </a:rPr>
              <a:t>/</a:t>
            </a:r>
            <a:r>
              <a:rPr lang="ko-KR" altLang="en-US" sz="1100" dirty="0">
                <a:solidFill>
                  <a:schemeClr val="bg1"/>
                </a:solidFill>
              </a:rPr>
              <a:t>특허발명을 업으로 실시하거나 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   </a:t>
            </a:r>
            <a:r>
              <a:rPr lang="ko-KR" altLang="en-US" sz="1100" dirty="0">
                <a:solidFill>
                  <a:schemeClr val="bg1"/>
                </a:solidFill>
              </a:rPr>
              <a:t>이를 준비 → 유상의 </a:t>
            </a:r>
            <a:r>
              <a:rPr lang="ko-KR" altLang="en-US" sz="1100" dirty="0" err="1">
                <a:solidFill>
                  <a:schemeClr val="bg1"/>
                </a:solidFill>
              </a:rPr>
              <a:t>법정실시권</a:t>
            </a:r>
            <a:r>
              <a:rPr lang="ko-KR" altLang="en-US" sz="1100" dirty="0">
                <a:solidFill>
                  <a:schemeClr val="bg1"/>
                </a:solidFill>
              </a:rPr>
              <a:t> 발생</a:t>
            </a:r>
          </a:p>
        </p:txBody>
      </p:sp>
      <p:sp>
        <p:nvSpPr>
          <p:cNvPr id="72" name="모서리가 둥근 직사각형 71"/>
          <p:cNvSpPr/>
          <p:nvPr/>
        </p:nvSpPr>
        <p:spPr>
          <a:xfrm>
            <a:off x="6399941" y="2057114"/>
            <a:ext cx="1083116" cy="259522"/>
          </a:xfrm>
          <a:prstGeom prst="roundRect">
            <a:avLst>
              <a:gd name="adj" fmla="val 1085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효력제한기간</a:t>
            </a:r>
          </a:p>
        </p:txBody>
      </p:sp>
      <p:cxnSp>
        <p:nvCxnSpPr>
          <p:cNvPr id="73" name="직선 화살표 연결선 72"/>
          <p:cNvCxnSpPr>
            <a:stCxn id="72" idx="2"/>
          </p:cNvCxnSpPr>
          <p:nvPr/>
        </p:nvCxnSpPr>
        <p:spPr>
          <a:xfrm>
            <a:off x="6941499" y="2316636"/>
            <a:ext cx="18597" cy="105713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양쪽 모서리가 둥근 사각형 77"/>
          <p:cNvSpPr/>
          <p:nvPr/>
        </p:nvSpPr>
        <p:spPr>
          <a:xfrm>
            <a:off x="6180724" y="4478857"/>
            <a:ext cx="4089414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양쪽 모서리가 둥근 사각형 78"/>
          <p:cNvSpPr/>
          <p:nvPr/>
        </p:nvSpPr>
        <p:spPr>
          <a:xfrm>
            <a:off x="3776173" y="4461922"/>
            <a:ext cx="2400637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양쪽 모서리가 둥근 사각형 79"/>
          <p:cNvSpPr/>
          <p:nvPr/>
        </p:nvSpPr>
        <p:spPr>
          <a:xfrm>
            <a:off x="2218267" y="4478857"/>
            <a:ext cx="1557905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양쪽 모서리가 둥근 사각형 80"/>
          <p:cNvSpPr/>
          <p:nvPr/>
        </p:nvSpPr>
        <p:spPr>
          <a:xfrm>
            <a:off x="4761033" y="4918668"/>
            <a:ext cx="1237118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/>
          <p:cNvCxnSpPr/>
          <p:nvPr/>
        </p:nvCxnSpPr>
        <p:spPr>
          <a:xfrm>
            <a:off x="752475" y="4922726"/>
            <a:ext cx="107156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762602" y="4760575"/>
            <a:ext cx="769856" cy="316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2055224" y="4186093"/>
            <a:ext cx="1737884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납부기간</a:t>
            </a:r>
            <a:r>
              <a:rPr lang="en-US" altLang="ko-KR" sz="1050" dirty="0">
                <a:solidFill>
                  <a:schemeClr val="tx1"/>
                </a:solidFill>
              </a:rPr>
              <a:t>(1</a:t>
            </a:r>
            <a:r>
              <a:rPr lang="ko-KR" altLang="en-US" sz="1050" dirty="0">
                <a:solidFill>
                  <a:schemeClr val="tx1"/>
                </a:solidFill>
              </a:rPr>
              <a:t>년</a:t>
            </a:r>
            <a:r>
              <a:rPr lang="en-US" altLang="ko-KR" sz="1050" dirty="0">
                <a:solidFill>
                  <a:schemeClr val="tx1"/>
                </a:solidFill>
              </a:rPr>
              <a:t>): 1</a:t>
            </a:r>
            <a:r>
              <a:rPr lang="ko-KR" altLang="en-US" sz="1050" dirty="0" err="1">
                <a:solidFill>
                  <a:schemeClr val="tx1"/>
                </a:solidFill>
              </a:rPr>
              <a:t>년분</a:t>
            </a:r>
            <a:r>
              <a:rPr lang="ko-KR" altLang="en-US" sz="105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3619367" y="4186093"/>
            <a:ext cx="2996192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추가납부기간</a:t>
            </a:r>
            <a:r>
              <a:rPr lang="en-US" altLang="ko-KR" sz="1050" dirty="0">
                <a:solidFill>
                  <a:schemeClr val="tx1"/>
                </a:solidFill>
              </a:rPr>
              <a:t>(6</a:t>
            </a:r>
            <a:r>
              <a:rPr lang="ko-KR" altLang="en-US" sz="1050" dirty="0">
                <a:solidFill>
                  <a:schemeClr val="tx1"/>
                </a:solidFill>
              </a:rPr>
              <a:t>개월</a:t>
            </a:r>
            <a:r>
              <a:rPr lang="en-US" altLang="ko-KR" sz="1050" dirty="0">
                <a:solidFill>
                  <a:schemeClr val="tx1"/>
                </a:solidFill>
              </a:rPr>
              <a:t>): </a:t>
            </a:r>
            <a:r>
              <a:rPr lang="ko-KR" altLang="en-US" sz="1050" dirty="0">
                <a:solidFill>
                  <a:schemeClr val="tx1"/>
                </a:solidFill>
              </a:rPr>
              <a:t>최대 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배 </a:t>
            </a:r>
            <a:r>
              <a:rPr lang="ko-KR" altLang="en-US" sz="1050" dirty="0" err="1">
                <a:solidFill>
                  <a:schemeClr val="tx1"/>
                </a:solidFill>
              </a:rPr>
              <a:t>범위내에서</a:t>
            </a:r>
            <a:r>
              <a:rPr lang="ko-KR" altLang="en-US" sz="105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4672125" y="5261347"/>
            <a:ext cx="1474722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보전기간</a:t>
            </a:r>
            <a:r>
              <a:rPr lang="en-US" altLang="ko-KR" sz="900" dirty="0">
                <a:solidFill>
                  <a:schemeClr val="tx1"/>
                </a:solidFill>
              </a:rPr>
              <a:t>(1</a:t>
            </a:r>
            <a:r>
              <a:rPr lang="ko-KR" altLang="en-US" sz="900" dirty="0">
                <a:solidFill>
                  <a:schemeClr val="tx1"/>
                </a:solidFill>
              </a:rPr>
              <a:t>개월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4291751" y="5552891"/>
            <a:ext cx="769856" cy="25952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일부납부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8771506" y="5552891"/>
            <a:ext cx="769856" cy="25952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완납</a:t>
            </a:r>
          </a:p>
        </p:txBody>
      </p:sp>
      <p:cxnSp>
        <p:nvCxnSpPr>
          <p:cNvPr id="93" name="직선 화살표 연결선 92"/>
          <p:cNvCxnSpPr>
            <a:stCxn id="88" idx="0"/>
          </p:cNvCxnSpPr>
          <p:nvPr/>
        </p:nvCxnSpPr>
        <p:spPr>
          <a:xfrm flipV="1">
            <a:off x="4676679" y="4947000"/>
            <a:ext cx="0" cy="60589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cxnSpLocks/>
            <a:stCxn id="91" idx="0"/>
          </p:cNvCxnSpPr>
          <p:nvPr/>
        </p:nvCxnSpPr>
        <p:spPr>
          <a:xfrm flipH="1" flipV="1">
            <a:off x="9144612" y="4969458"/>
            <a:ext cx="11822" cy="58343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6252161" y="4914258"/>
            <a:ext cx="2904273" cy="0"/>
          </a:xfrm>
          <a:prstGeom prst="line">
            <a:avLst/>
          </a:prstGeom>
          <a:ln w="952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14"/>
          <p:cNvSpPr>
            <a:spLocks noChangeArrowheads="1"/>
          </p:cNvSpPr>
          <p:nvPr/>
        </p:nvSpPr>
        <p:spPr bwMode="auto">
          <a:xfrm flipV="1">
            <a:off x="6109285" y="485466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2" name="모서리가 둥근 직사각형 101"/>
          <p:cNvSpPr/>
          <p:nvPr/>
        </p:nvSpPr>
        <p:spPr>
          <a:xfrm>
            <a:off x="7034966" y="4817239"/>
            <a:ext cx="1083116" cy="259522"/>
          </a:xfrm>
          <a:prstGeom prst="roundRect">
            <a:avLst>
              <a:gd name="adj" fmla="val 1085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효력제한기간</a:t>
            </a:r>
          </a:p>
        </p:txBody>
      </p:sp>
      <p:sp>
        <p:nvSpPr>
          <p:cNvPr id="104" name="직사각형 103"/>
          <p:cNvSpPr/>
          <p:nvPr/>
        </p:nvSpPr>
        <p:spPr>
          <a:xfrm>
            <a:off x="3310532" y="4760575"/>
            <a:ext cx="931284" cy="316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년 존속기간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만료일</a:t>
            </a:r>
          </a:p>
        </p:txBody>
      </p:sp>
      <p:cxnSp>
        <p:nvCxnSpPr>
          <p:cNvPr id="105" name="꺾인 연결선 104"/>
          <p:cNvCxnSpPr>
            <a:stCxn id="99" idx="0"/>
            <a:endCxn id="104" idx="2"/>
          </p:cNvCxnSpPr>
          <p:nvPr/>
        </p:nvCxnSpPr>
        <p:spPr>
          <a:xfrm rot="5400000">
            <a:off x="4943931" y="3839968"/>
            <a:ext cx="69037" cy="2404549"/>
          </a:xfrm>
          <a:prstGeom prst="bentConnector3">
            <a:avLst>
              <a:gd name="adj1" fmla="val 158394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3949704" y="5914190"/>
            <a:ext cx="2048447" cy="376264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납부된 특허료에 해당되는 기간이 끝나는 날의 다음 날로 소급하여 소멸</a:t>
            </a:r>
          </a:p>
        </p:txBody>
      </p:sp>
      <p:cxnSp>
        <p:nvCxnSpPr>
          <p:cNvPr id="113" name="꺾인 연결선 112"/>
          <p:cNvCxnSpPr>
            <a:stCxn id="91" idx="2"/>
            <a:endCxn id="104" idx="2"/>
          </p:cNvCxnSpPr>
          <p:nvPr/>
        </p:nvCxnSpPr>
        <p:spPr>
          <a:xfrm rot="5400000" flipH="1">
            <a:off x="6098478" y="2754457"/>
            <a:ext cx="735652" cy="5380260"/>
          </a:xfrm>
          <a:prstGeom prst="bentConnector3">
            <a:avLst>
              <a:gd name="adj1" fmla="val -79412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6472962" y="6285870"/>
            <a:ext cx="2048447" cy="22499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계속하여 존속하고 있던 것으로 간주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9" name="Rectangle 14"/>
          <p:cNvSpPr>
            <a:spLocks noChangeArrowheads="1"/>
          </p:cNvSpPr>
          <p:nvPr/>
        </p:nvSpPr>
        <p:spPr bwMode="auto">
          <a:xfrm flipV="1">
            <a:off x="10193880" y="485466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26" name="직선 화살표 연결선 125"/>
          <p:cNvCxnSpPr>
            <a:stCxn id="102" idx="0"/>
          </p:cNvCxnSpPr>
          <p:nvPr/>
        </p:nvCxnSpPr>
        <p:spPr>
          <a:xfrm flipH="1" flipV="1">
            <a:off x="7080566" y="4030133"/>
            <a:ext cx="495958" cy="78710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6673479" y="4186093"/>
            <a:ext cx="3278674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추가납부기간  또는 보전기간 </a:t>
            </a:r>
            <a:r>
              <a:rPr lang="ko-KR" altLang="en-US" sz="1050" dirty="0" err="1">
                <a:solidFill>
                  <a:schemeClr val="tx1"/>
                </a:solidFill>
              </a:rPr>
              <a:t>만료일후</a:t>
            </a:r>
            <a:r>
              <a:rPr lang="ko-KR" altLang="en-US" sz="1050" dirty="0">
                <a:solidFill>
                  <a:schemeClr val="tx1"/>
                </a:solidFill>
              </a:rPr>
              <a:t>  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개월 </a:t>
            </a:r>
            <a:r>
              <a:rPr lang="en-US" altLang="ko-KR" sz="1050" dirty="0">
                <a:solidFill>
                  <a:schemeClr val="tx1"/>
                </a:solidFill>
              </a:rPr>
              <a:t>/ 2</a:t>
            </a:r>
            <a:r>
              <a:rPr lang="ko-KR" altLang="en-US" sz="1050" dirty="0">
                <a:solidFill>
                  <a:schemeClr val="tx1"/>
                </a:solidFill>
              </a:rPr>
              <a:t>배</a:t>
            </a:r>
          </a:p>
        </p:txBody>
      </p:sp>
      <p:sp>
        <p:nvSpPr>
          <p:cNvPr id="130" name="Rectangle 5"/>
          <p:cNvSpPr>
            <a:spLocks noChangeArrowheads="1"/>
          </p:cNvSpPr>
          <p:nvPr/>
        </p:nvSpPr>
        <p:spPr bwMode="auto">
          <a:xfrm>
            <a:off x="195260" y="1064232"/>
            <a:ext cx="16589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>
                <a:solidFill>
                  <a:schemeClr val="bg1"/>
                </a:solidFill>
                <a:latin typeface="+mj-ea"/>
                <a:ea typeface="+mj-ea"/>
              </a:rPr>
              <a:t>등록료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1" name="Rectangle 5"/>
          <p:cNvSpPr>
            <a:spLocks noChangeArrowheads="1"/>
          </p:cNvSpPr>
          <p:nvPr/>
        </p:nvSpPr>
        <p:spPr bwMode="auto">
          <a:xfrm>
            <a:off x="195260" y="3856082"/>
            <a:ext cx="16589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유지료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연차료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2" name="모서리가 둥근 사각형 설명선 131"/>
          <p:cNvSpPr/>
          <p:nvPr/>
        </p:nvSpPr>
        <p:spPr>
          <a:xfrm>
            <a:off x="9423400" y="1151466"/>
            <a:ext cx="1701799" cy="274501"/>
          </a:xfrm>
          <a:prstGeom prst="wedgeRoundRectCallout">
            <a:avLst>
              <a:gd name="adj1" fmla="val -48225"/>
              <a:gd name="adj2" fmla="val 141008"/>
              <a:gd name="adj3" fmla="val 16667"/>
            </a:avLst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등록료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유지료</a:t>
            </a:r>
            <a:r>
              <a:rPr lang="ko-KR" altLang="en-US" sz="1050" dirty="0"/>
              <a:t> 모두 해당</a:t>
            </a:r>
          </a:p>
        </p:txBody>
      </p:sp>
      <p:sp>
        <p:nvSpPr>
          <p:cNvPr id="133" name="모서리가 둥근 사각형 설명선 132"/>
          <p:cNvSpPr/>
          <p:nvPr/>
        </p:nvSpPr>
        <p:spPr>
          <a:xfrm>
            <a:off x="10106914" y="4040253"/>
            <a:ext cx="1007532" cy="274501"/>
          </a:xfrm>
          <a:prstGeom prst="wedgeRoundRectCallout">
            <a:avLst>
              <a:gd name="adj1" fmla="val -43393"/>
              <a:gd name="adj2" fmla="val 112720"/>
              <a:gd name="adj3" fmla="val 16667"/>
            </a:avLst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유지료만</a:t>
            </a:r>
            <a:r>
              <a:rPr lang="ko-KR" altLang="en-US" sz="1050" dirty="0"/>
              <a:t> 해당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62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특허료 또는 수수료의 감면</a:t>
            </a:r>
            <a:r>
              <a:rPr lang="en-US" altLang="ko-KR" sz="2400" dirty="0"/>
              <a:t>(</a:t>
            </a:r>
            <a:r>
              <a:rPr lang="ko-KR" altLang="en-US" sz="2400" dirty="0"/>
              <a:t>특허료 등의 징수규칙 별표 </a:t>
            </a:r>
            <a:r>
              <a:rPr lang="en-US" altLang="ko-KR" sz="2400" dirty="0"/>
              <a:t>4-6)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291</a:t>
            </a:fld>
            <a:endParaRPr lang="ko-KR" alt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E42BAE7-43BD-4AB3-BC10-AF59B23D5C29}"/>
              </a:ext>
            </a:extLst>
          </p:cNvPr>
          <p:cNvSpPr txBox="1"/>
          <p:nvPr/>
        </p:nvSpPr>
        <p:spPr>
          <a:xfrm>
            <a:off x="217432" y="5279885"/>
            <a:ext cx="117301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/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*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특허법」ㆍ「실용신안법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」 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디자인보호법」에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따른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출원ㆍ심사청구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또는 권리설정등록을 하는 경우에는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특허법」ㆍ「실용신안법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」 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디자인보호법」별로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각각 연간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10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건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(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무효ㆍ반려되거나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개월 이내에 취하 또는 포기된 것은 제외한다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.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이 경우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출원에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특허심사청구료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또는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실용신안심사청구료를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면제받을 수 있는 청구항은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30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 이하로 하고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「디자인보호법」 제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41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조에 따른 복수디자인등록출원은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출원에 면제받을 수 있는 디자인은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3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 이하로 한다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)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에 한하여 면제</a:t>
            </a:r>
            <a:endParaRPr lang="en-US" altLang="ko-KR" sz="10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  <a:p>
            <a:pPr marL="85725" indent="-85725"/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**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개인이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특허법」ㆍ「실용신안법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」 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디자인보호법」에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따른 출원을 하는 경우에는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특허법」ㆍ「실용신안법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」 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디자인보호법」별로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각각 연간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건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(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무효ㆍ반려되거나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개월 이내에 취하 또는 포기된 것은 제외한다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)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을 초과하는 경우에는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출원료의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30%</a:t>
            </a:r>
          </a:p>
          <a:p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***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다만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감면받을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수 있는 특허출원 우선심사신청은 연간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10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건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(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무효ㆍ반려되거나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개월 이내에 취하 또는 포기된 것은 제외한다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)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이하</a:t>
            </a:r>
            <a:endParaRPr lang="en-US" altLang="ko-KR" sz="10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  <a:p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****「은행법」 제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조제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호에 따른 은행이 다음의 어느 하나에 해당하는 방식에 따라 개인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중소기업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공공연구기관 또는 전담조직의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특허권ㆍ실용신안권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또는 디자인권을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2024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년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12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월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31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일까지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이전받는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경우</a:t>
            </a:r>
            <a:endParaRPr lang="en-US" altLang="ko-KR" sz="10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  <a:p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   -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질권의 행사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 -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「자본시장과 금융투자업에 관한 법률」 제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80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조제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항 본문에 따른 투자대상자산의 취득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-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신탁의 설정</a:t>
            </a:r>
            <a:endParaRPr lang="en-US" altLang="ko-KR" sz="10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  <a:p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***** </a:t>
            </a:r>
            <a:r>
              <a:rPr lang="ko-KR" altLang="en-US" sz="1000" b="1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직무발명보상우수기업선정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또는 지식재산경영인증을 받은 기업은 중소기업 또는 중견기업에 대해서는 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2026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년 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월 말일까지 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4</a:t>
            </a:r>
            <a:r>
              <a:rPr lang="ko-KR" altLang="en-US" sz="1000" b="1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년분부터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6</a:t>
            </a:r>
            <a:r>
              <a:rPr lang="ko-KR" altLang="en-US" sz="1000" b="1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년분까지의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특허료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등을 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20% 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추가 감면</a:t>
            </a:r>
          </a:p>
        </p:txBody>
      </p:sp>
      <p:sp>
        <p:nvSpPr>
          <p:cNvPr id="114" name="모서리가 둥근 직사각형 48">
            <a:extLst>
              <a:ext uri="{FF2B5EF4-FFF2-40B4-BE49-F238E27FC236}">
                <a16:creationId xmlns:a16="http://schemas.microsoft.com/office/drawing/2014/main" id="{2D63B50E-ECF6-4A42-964A-0EEBC468D356}"/>
              </a:ext>
            </a:extLst>
          </p:cNvPr>
          <p:cNvSpPr/>
          <p:nvPr/>
        </p:nvSpPr>
        <p:spPr>
          <a:xfrm>
            <a:off x="4465182" y="1026542"/>
            <a:ext cx="1047402" cy="257546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bg1"/>
                </a:solidFill>
              </a:rPr>
              <a:t>유지료</a:t>
            </a:r>
            <a:r>
              <a:rPr lang="en-US" altLang="ko-KR" sz="900" dirty="0">
                <a:solidFill>
                  <a:schemeClr val="bg1"/>
                </a:solidFill>
              </a:rPr>
              <a:t>(4-9</a:t>
            </a:r>
            <a:r>
              <a:rPr lang="ko-KR" altLang="en-US" sz="900" dirty="0">
                <a:solidFill>
                  <a:schemeClr val="bg1"/>
                </a:solidFill>
              </a:rPr>
              <a:t>년</a:t>
            </a:r>
            <a:r>
              <a:rPr lang="en-US" altLang="ko-KR" sz="900" dirty="0">
                <a:solidFill>
                  <a:schemeClr val="bg1"/>
                </a:solidFill>
              </a:rPr>
              <a:t>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48">
            <a:extLst>
              <a:ext uri="{FF2B5EF4-FFF2-40B4-BE49-F238E27FC236}">
                <a16:creationId xmlns:a16="http://schemas.microsoft.com/office/drawing/2014/main" id="{91C37CD5-C824-45A4-992B-5082A31579A3}"/>
              </a:ext>
            </a:extLst>
          </p:cNvPr>
          <p:cNvSpPr/>
          <p:nvPr/>
        </p:nvSpPr>
        <p:spPr>
          <a:xfrm>
            <a:off x="7324135" y="1026542"/>
            <a:ext cx="1696991" cy="25754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bg1"/>
                </a:solidFill>
              </a:rPr>
              <a:t>권리범위확인심판청구료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6" name="모서리가 둥근 직사각형 56">
            <a:extLst>
              <a:ext uri="{FF2B5EF4-FFF2-40B4-BE49-F238E27FC236}">
                <a16:creationId xmlns:a16="http://schemas.microsoft.com/office/drawing/2014/main" id="{8117689E-95A2-4F95-9415-DF0A779EB8F5}"/>
              </a:ext>
            </a:extLst>
          </p:cNvPr>
          <p:cNvSpPr/>
          <p:nvPr/>
        </p:nvSpPr>
        <p:spPr>
          <a:xfrm>
            <a:off x="389961" y="1396974"/>
            <a:ext cx="818753" cy="1069804"/>
          </a:xfrm>
          <a:prstGeom prst="roundRect">
            <a:avLst>
              <a:gd name="adj" fmla="val 195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100%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8" name="모서리가 둥근 직사각형 56">
            <a:extLst>
              <a:ext uri="{FF2B5EF4-FFF2-40B4-BE49-F238E27FC236}">
                <a16:creationId xmlns:a16="http://schemas.microsoft.com/office/drawing/2014/main" id="{190CEF09-42A5-4EC6-BD00-2D8C0E3F8ABE}"/>
              </a:ext>
            </a:extLst>
          </p:cNvPr>
          <p:cNvSpPr/>
          <p:nvPr/>
        </p:nvSpPr>
        <p:spPr>
          <a:xfrm>
            <a:off x="389961" y="2508707"/>
            <a:ext cx="818753" cy="378007"/>
          </a:xfrm>
          <a:prstGeom prst="roundRect">
            <a:avLst>
              <a:gd name="adj" fmla="val 3520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85%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0" name="모서리가 둥근 직사각형 56">
            <a:extLst>
              <a:ext uri="{FF2B5EF4-FFF2-40B4-BE49-F238E27FC236}">
                <a16:creationId xmlns:a16="http://schemas.microsoft.com/office/drawing/2014/main" id="{4DFC9FF2-0F72-4C5F-AF4F-DDF05484A13C}"/>
              </a:ext>
            </a:extLst>
          </p:cNvPr>
          <p:cNvSpPr/>
          <p:nvPr/>
        </p:nvSpPr>
        <p:spPr>
          <a:xfrm>
            <a:off x="389961" y="2923760"/>
            <a:ext cx="818753" cy="463001"/>
          </a:xfrm>
          <a:prstGeom prst="roundRect">
            <a:avLst>
              <a:gd name="adj" fmla="val 3520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70%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56">
            <a:extLst>
              <a:ext uri="{FF2B5EF4-FFF2-40B4-BE49-F238E27FC236}">
                <a16:creationId xmlns:a16="http://schemas.microsoft.com/office/drawing/2014/main" id="{0F1FD9D6-1987-4A1D-B328-FAB8648B7781}"/>
              </a:ext>
            </a:extLst>
          </p:cNvPr>
          <p:cNvSpPr/>
          <p:nvPr/>
        </p:nvSpPr>
        <p:spPr>
          <a:xfrm>
            <a:off x="389961" y="3428684"/>
            <a:ext cx="818753" cy="917752"/>
          </a:xfrm>
          <a:prstGeom prst="roundRect">
            <a:avLst>
              <a:gd name="adj" fmla="val 195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50%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2" name="모서리가 둥근 직사각형 56">
            <a:extLst>
              <a:ext uri="{FF2B5EF4-FFF2-40B4-BE49-F238E27FC236}">
                <a16:creationId xmlns:a16="http://schemas.microsoft.com/office/drawing/2014/main" id="{0F9C0A8A-DC5B-49B6-98F4-CF03298EDB87}"/>
              </a:ext>
            </a:extLst>
          </p:cNvPr>
          <p:cNvSpPr/>
          <p:nvPr/>
        </p:nvSpPr>
        <p:spPr>
          <a:xfrm>
            <a:off x="389961" y="4381153"/>
            <a:ext cx="818753" cy="407505"/>
          </a:xfrm>
          <a:prstGeom prst="roundRect">
            <a:avLst>
              <a:gd name="adj" fmla="val 3520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30%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AF94B5F2-7ED1-4C17-9219-A417938BD834}"/>
              </a:ext>
            </a:extLst>
          </p:cNvPr>
          <p:cNvSpPr/>
          <p:nvPr/>
        </p:nvSpPr>
        <p:spPr>
          <a:xfrm>
            <a:off x="7315509" y="3428685"/>
            <a:ext cx="1696991" cy="278350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>
                <a:solidFill>
                  <a:schemeClr val="tx1"/>
                </a:solidFill>
                <a:latin typeface="+mn-ea"/>
              </a:rPr>
              <a:t>전담조직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260598" y="1026542"/>
            <a:ext cx="978412" cy="25754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출원료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1" name="모서리가 둥근 직사각형 48">
            <a:extLst>
              <a:ext uri="{FF2B5EF4-FFF2-40B4-BE49-F238E27FC236}">
                <a16:creationId xmlns:a16="http://schemas.microsoft.com/office/drawing/2014/main" id="{9B1120DB-1786-4B62-A75C-50AAC516F093}"/>
              </a:ext>
            </a:extLst>
          </p:cNvPr>
          <p:cNvSpPr/>
          <p:nvPr/>
        </p:nvSpPr>
        <p:spPr>
          <a:xfrm>
            <a:off x="2247037" y="1026542"/>
            <a:ext cx="978412" cy="25754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심사청구료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2" name="모서리가 둥근 직사각형 48">
            <a:extLst>
              <a:ext uri="{FF2B5EF4-FFF2-40B4-BE49-F238E27FC236}">
                <a16:creationId xmlns:a16="http://schemas.microsoft.com/office/drawing/2014/main" id="{A15B975F-7DBC-483E-999D-7FB90B4D3B93}"/>
              </a:ext>
            </a:extLst>
          </p:cNvPr>
          <p:cNvSpPr/>
          <p:nvPr/>
        </p:nvSpPr>
        <p:spPr>
          <a:xfrm>
            <a:off x="3239324" y="1026542"/>
            <a:ext cx="1194639" cy="25754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등록료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640BC5-C1B7-4CC0-85F6-8FEB14B37966}"/>
              </a:ext>
            </a:extLst>
          </p:cNvPr>
          <p:cNvSpPr/>
          <p:nvPr/>
        </p:nvSpPr>
        <p:spPr>
          <a:xfrm>
            <a:off x="1260598" y="1674926"/>
            <a:ext cx="3173364" cy="791852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kern="0" spc="-50" dirty="0">
                <a:solidFill>
                  <a:schemeClr val="tx1"/>
                </a:solidFill>
                <a:effectLst/>
                <a:latin typeface="+mn-ea"/>
              </a:rPr>
              <a:t>의료급여 </a:t>
            </a:r>
            <a:r>
              <a:rPr lang="ko-KR" altLang="en-US" sz="900" kern="0" spc="-50" dirty="0" err="1">
                <a:solidFill>
                  <a:schemeClr val="tx1"/>
                </a:solidFill>
                <a:effectLst/>
                <a:latin typeface="+mn-ea"/>
              </a:rPr>
              <a:t>수급자</a:t>
            </a:r>
            <a:r>
              <a:rPr lang="en-US" altLang="ko-KR" sz="900" kern="0" spc="-50" dirty="0">
                <a:solidFill>
                  <a:schemeClr val="tx1"/>
                </a:solidFill>
                <a:effectLst/>
                <a:latin typeface="+mn-ea"/>
              </a:rPr>
              <a:t>*</a:t>
            </a:r>
            <a:endParaRPr lang="ko-KR" altLang="en-US" sz="900" kern="0" spc="-50" dirty="0">
              <a:solidFill>
                <a:schemeClr val="tx1"/>
              </a:solidFill>
              <a:effectLst/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국가유공자 등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*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장애인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*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학생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초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고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/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만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세 이상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18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세 이하 포함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)*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군인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*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D9482D62-0154-4845-837D-BBB48124EF64}"/>
              </a:ext>
            </a:extLst>
          </p:cNvPr>
          <p:cNvSpPr/>
          <p:nvPr/>
        </p:nvSpPr>
        <p:spPr>
          <a:xfrm>
            <a:off x="1260598" y="2508708"/>
            <a:ext cx="3173364" cy="378008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개인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만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19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세 이상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29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세 이하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또는 만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65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세 이상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발명자와 출원인 일치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 **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975A051D-72AA-4D8E-8CAC-F36A7D843527}"/>
              </a:ext>
            </a:extLst>
          </p:cNvPr>
          <p:cNvSpPr/>
          <p:nvPr/>
        </p:nvSpPr>
        <p:spPr>
          <a:xfrm>
            <a:off x="1260598" y="3428684"/>
            <a:ext cx="3173364" cy="92238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중소기업이 중소기업이 아닌 자와 계약에 따라 공동연구를 수행하고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그 연구결과물에 대하여 공동출원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공공연구기관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전담조직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지방자치단쳬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7052A4F9-B7B5-477C-A582-2A50D988E3BB}"/>
              </a:ext>
            </a:extLst>
          </p:cNvPr>
          <p:cNvSpPr/>
          <p:nvPr/>
        </p:nvSpPr>
        <p:spPr>
          <a:xfrm>
            <a:off x="1260598" y="2927694"/>
            <a:ext cx="3173364" cy="459066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개인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발명자와 출원인 일치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 *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중소기업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C01F96A-D84B-46E4-9351-9DBE047F3BB7}"/>
              </a:ext>
            </a:extLst>
          </p:cNvPr>
          <p:cNvSpPr/>
          <p:nvPr/>
        </p:nvSpPr>
        <p:spPr>
          <a:xfrm>
            <a:off x="1260598" y="4389942"/>
            <a:ext cx="3173364" cy="40750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>
                <a:solidFill>
                  <a:schemeClr val="tx1"/>
                </a:solidFill>
                <a:latin typeface="+mn-ea"/>
              </a:rPr>
              <a:t>중견기업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0644A66-BFF1-4CDD-8642-DA3A99CDEB04}"/>
              </a:ext>
            </a:extLst>
          </p:cNvPr>
          <p:cNvSpPr/>
          <p:nvPr/>
        </p:nvSpPr>
        <p:spPr>
          <a:xfrm>
            <a:off x="4465182" y="4389942"/>
            <a:ext cx="1047402" cy="40750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>
                <a:solidFill>
                  <a:schemeClr val="tx1"/>
                </a:solidFill>
                <a:latin typeface="+mn-ea"/>
              </a:rPr>
              <a:t>중견기업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2F2BE6F-49F9-4F20-B490-0882FCF77D36}"/>
              </a:ext>
            </a:extLst>
          </p:cNvPr>
          <p:cNvSpPr/>
          <p:nvPr/>
        </p:nvSpPr>
        <p:spPr>
          <a:xfrm>
            <a:off x="4465182" y="3428684"/>
            <a:ext cx="1939864" cy="92238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개인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중소기업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공공연구기관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전담조직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지방자치단쳬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은행이전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****</a:t>
            </a:r>
          </a:p>
        </p:txBody>
      </p:sp>
      <p:sp>
        <p:nvSpPr>
          <p:cNvPr id="138" name="모서리가 둥근 직사각형 48">
            <a:extLst>
              <a:ext uri="{FF2B5EF4-FFF2-40B4-BE49-F238E27FC236}">
                <a16:creationId xmlns:a16="http://schemas.microsoft.com/office/drawing/2014/main" id="{68456155-2E60-4BEA-B907-26B8A6665E53}"/>
              </a:ext>
            </a:extLst>
          </p:cNvPr>
          <p:cNvSpPr/>
          <p:nvPr/>
        </p:nvSpPr>
        <p:spPr>
          <a:xfrm>
            <a:off x="9048650" y="1026542"/>
            <a:ext cx="2752290" cy="25754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bg1"/>
                </a:solidFill>
              </a:rPr>
              <a:t>우선심사신청료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C9C1CFD-9AE8-4EF3-86E6-586D12F8C1A2}"/>
              </a:ext>
            </a:extLst>
          </p:cNvPr>
          <p:cNvSpPr/>
          <p:nvPr/>
        </p:nvSpPr>
        <p:spPr>
          <a:xfrm>
            <a:off x="9048647" y="1666731"/>
            <a:ext cx="2752293" cy="800048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첨단의료복합단지 육성에 관한 특별법에 따른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출원으로서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출원료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등 면제받은 자와 동일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CA2EA6F9-EE6D-4F38-8A99-A0C1C45A73B4}"/>
              </a:ext>
            </a:extLst>
          </p:cNvPr>
          <p:cNvSpPr/>
          <p:nvPr/>
        </p:nvSpPr>
        <p:spPr>
          <a:xfrm>
            <a:off x="1260598" y="1397914"/>
            <a:ext cx="10540342" cy="239952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>
                <a:solidFill>
                  <a:schemeClr val="tx1"/>
                </a:solidFill>
                <a:latin typeface="+mn-ea"/>
              </a:rPr>
              <a:t>국가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9F6987C-A85E-474F-8A27-0D5BADC66DC3}"/>
              </a:ext>
            </a:extLst>
          </p:cNvPr>
          <p:cNvSpPr/>
          <p:nvPr/>
        </p:nvSpPr>
        <p:spPr>
          <a:xfrm>
            <a:off x="7317605" y="2927694"/>
            <a:ext cx="1695125" cy="459066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개인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발명자와 출원인 일치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중소기업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178CB313-FF5D-4DB6-BBDE-43F9169F09B4}"/>
              </a:ext>
            </a:extLst>
          </p:cNvPr>
          <p:cNvSpPr/>
          <p:nvPr/>
        </p:nvSpPr>
        <p:spPr>
          <a:xfrm>
            <a:off x="9048647" y="2509179"/>
            <a:ext cx="2752293" cy="378008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첨단의료복합단지 육성에 관한 특별법에 따른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출원으로서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출원료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등 감면 받은 자와 동일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377D2D7-EED4-426A-9524-271405376E2D}"/>
              </a:ext>
            </a:extLst>
          </p:cNvPr>
          <p:cNvSpPr/>
          <p:nvPr/>
        </p:nvSpPr>
        <p:spPr>
          <a:xfrm>
            <a:off x="9048647" y="2927692"/>
            <a:ext cx="2752293" cy="459065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첨단의료복합단지 육성에 관한 특별법에 따른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출원으로서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출원료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등 감면 받은 자와 동일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중소기업이 사업개시일로부터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년 이내 출원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***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C48D401-464D-445B-BB3E-5E0F8FC97AA8}"/>
              </a:ext>
            </a:extLst>
          </p:cNvPr>
          <p:cNvSpPr/>
          <p:nvPr/>
        </p:nvSpPr>
        <p:spPr>
          <a:xfrm>
            <a:off x="9048647" y="3424049"/>
            <a:ext cx="2752293" cy="92238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첨단의료복합단지 육성에 관한 특별법에 따른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출원으로서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출원료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등 감면 받은 자와 동일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단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지방자치단체는 제외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6CE0CA90-9822-410C-A48A-69095A0E5B4B}"/>
              </a:ext>
            </a:extLst>
          </p:cNvPr>
          <p:cNvSpPr/>
          <p:nvPr/>
        </p:nvSpPr>
        <p:spPr>
          <a:xfrm>
            <a:off x="9048647" y="4383200"/>
            <a:ext cx="2752293" cy="405625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첨단의료복합단지 육성에 관한 특별법에 따른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출원으로서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출원료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등 감면 받은 자와 동일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2" name="모서리가 둥근 직사각형 48">
            <a:extLst>
              <a:ext uri="{FF2B5EF4-FFF2-40B4-BE49-F238E27FC236}">
                <a16:creationId xmlns:a16="http://schemas.microsoft.com/office/drawing/2014/main" id="{7AC9CB6D-51FF-4A13-B105-A766C5B8FEE7}"/>
              </a:ext>
            </a:extLst>
          </p:cNvPr>
          <p:cNvSpPr/>
          <p:nvPr/>
        </p:nvSpPr>
        <p:spPr>
          <a:xfrm>
            <a:off x="6431801" y="1026542"/>
            <a:ext cx="873727" cy="257546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무효심판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F2E58D0B-3453-46C9-9D7F-6DB1CAB50BF4}"/>
              </a:ext>
            </a:extLst>
          </p:cNvPr>
          <p:cNvSpPr/>
          <p:nvPr/>
        </p:nvSpPr>
        <p:spPr>
          <a:xfrm>
            <a:off x="6431801" y="1674926"/>
            <a:ext cx="873727" cy="791852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심사관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" name="모서리가 둥근 직사각형 48">
            <a:extLst>
              <a:ext uri="{FF2B5EF4-FFF2-40B4-BE49-F238E27FC236}">
                <a16:creationId xmlns:a16="http://schemas.microsoft.com/office/drawing/2014/main" id="{736DC153-138A-4D82-B67F-9486E7287082}"/>
              </a:ext>
            </a:extLst>
          </p:cNvPr>
          <p:cNvSpPr/>
          <p:nvPr/>
        </p:nvSpPr>
        <p:spPr>
          <a:xfrm>
            <a:off x="5531318" y="1026542"/>
            <a:ext cx="873727" cy="257546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bg1"/>
                </a:solidFill>
              </a:rPr>
              <a:t>유지료</a:t>
            </a:r>
            <a:r>
              <a:rPr lang="en-US" altLang="ko-KR" sz="900" dirty="0">
                <a:solidFill>
                  <a:schemeClr val="bg1"/>
                </a:solidFill>
              </a:rPr>
              <a:t>(9</a:t>
            </a:r>
            <a:r>
              <a:rPr lang="ko-KR" altLang="en-US" sz="900" dirty="0">
                <a:solidFill>
                  <a:schemeClr val="bg1"/>
                </a:solidFill>
              </a:rPr>
              <a:t>년</a:t>
            </a:r>
            <a:r>
              <a:rPr lang="en-US" altLang="ko-KR" sz="900" dirty="0">
                <a:solidFill>
                  <a:schemeClr val="bg1"/>
                </a:solidFill>
              </a:rPr>
              <a:t>-)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2" name="모서리가 둥근 직사각형 48">
            <a:extLst>
              <a:ext uri="{FF2B5EF4-FFF2-40B4-BE49-F238E27FC236}">
                <a16:creationId xmlns:a16="http://schemas.microsoft.com/office/drawing/2014/main" id="{783FF420-BE0C-48E5-B8A0-8E1426DBFDD5}"/>
              </a:ext>
            </a:extLst>
          </p:cNvPr>
          <p:cNvSpPr/>
          <p:nvPr/>
        </p:nvSpPr>
        <p:spPr>
          <a:xfrm>
            <a:off x="389961" y="1026542"/>
            <a:ext cx="818753" cy="257546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구 분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2DAB9CB-9245-43B1-BEF4-5BFF10B69405}"/>
              </a:ext>
            </a:extLst>
          </p:cNvPr>
          <p:cNvCxnSpPr/>
          <p:nvPr/>
        </p:nvCxnSpPr>
        <p:spPr>
          <a:xfrm>
            <a:off x="94891" y="5201726"/>
            <a:ext cx="1209710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03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실무상 특허료 납부의 활용</a:t>
            </a:r>
          </a:p>
        </p:txBody>
      </p:sp>
      <p:graphicFrame>
        <p:nvGraphicFramePr>
          <p:cNvPr id="6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755657"/>
              </p:ext>
            </p:extLst>
          </p:nvPr>
        </p:nvGraphicFramePr>
        <p:xfrm>
          <a:off x="335361" y="2110682"/>
          <a:ext cx="5633642" cy="17520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02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928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특허료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등록료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연차료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1-3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4-6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7-9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10-12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13-25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0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기본료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13,000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36,000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90,000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216,000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324,000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3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가산료</a:t>
                      </a:r>
                      <a:endParaRPr kumimoji="0" lang="ko-KR" altLang="en-US" sz="900" b="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900" b="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청구항별</a:t>
                      </a:r>
                      <a:r>
                        <a:rPr kumimoji="0" lang="en-US" altLang="ko-KR" sz="9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12,000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20,000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34,000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49,000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49,000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" name="그룹 20"/>
          <p:cNvGrpSpPr/>
          <p:nvPr/>
        </p:nvGrpSpPr>
        <p:grpSpPr>
          <a:xfrm>
            <a:off x="324590" y="4662298"/>
            <a:ext cx="5661343" cy="1872206"/>
            <a:chOff x="324590" y="4636897"/>
            <a:chExt cx="6635506" cy="1872206"/>
          </a:xfrm>
        </p:grpSpPr>
        <p:sp>
          <p:nvSpPr>
            <p:cNvPr id="8" name="직사각형 7"/>
            <p:cNvSpPr/>
            <p:nvPr/>
          </p:nvSpPr>
          <p:spPr>
            <a:xfrm>
              <a:off x="2570672" y="5121630"/>
              <a:ext cx="2187169" cy="1287153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4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ko-KR" altLang="en-US" sz="1600">
                <a:latin typeface="+mn-ea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576705" y="4636897"/>
              <a:ext cx="2172087" cy="34071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600" dirty="0" err="1">
                  <a:solidFill>
                    <a:schemeClr val="tx1"/>
                  </a:solidFill>
                  <a:latin typeface="+mn-ea"/>
                </a:rPr>
                <a:t>일부유지</a:t>
              </a:r>
              <a:endParaRPr lang="ko-KR" altLang="en-US" sz="1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748791" y="4636897"/>
              <a:ext cx="2190188" cy="34071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전부포기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24590" y="4636897"/>
              <a:ext cx="2246081" cy="34071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전부유지</a:t>
              </a:r>
            </a:p>
          </p:txBody>
        </p:sp>
        <p:cxnSp>
          <p:nvCxnSpPr>
            <p:cNvPr id="13" name="직선 화살표 연결선 12"/>
            <p:cNvCxnSpPr/>
            <p:nvPr/>
          </p:nvCxnSpPr>
          <p:spPr>
            <a:xfrm>
              <a:off x="380483" y="6507211"/>
              <a:ext cx="6564531" cy="189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/>
            <p:nvPr/>
          </p:nvCxnSpPr>
          <p:spPr>
            <a:xfrm flipV="1">
              <a:off x="380483" y="5121629"/>
              <a:ext cx="3" cy="138558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392550" y="5547525"/>
              <a:ext cx="2090633" cy="1893"/>
            </a:xfrm>
            <a:prstGeom prst="line">
              <a:avLst/>
            </a:prstGeom>
            <a:ln w="2222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4757842" y="6230851"/>
              <a:ext cx="2135887" cy="1892"/>
            </a:xfrm>
            <a:prstGeom prst="line">
              <a:avLst/>
            </a:prstGeom>
            <a:ln w="2222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2465083" y="5547524"/>
              <a:ext cx="2292759" cy="683328"/>
            </a:xfrm>
            <a:prstGeom prst="line">
              <a:avLst/>
            </a:prstGeom>
            <a:ln w="2222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09"/>
            <p:cNvSpPr txBox="1">
              <a:spLocks noChangeArrowheads="1"/>
            </p:cNvSpPr>
            <p:nvPr/>
          </p:nvSpPr>
          <p:spPr bwMode="auto">
            <a:xfrm>
              <a:off x="802834" y="5374404"/>
              <a:ext cx="1095093" cy="3385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9pPr>
            </a:lstStyle>
            <a:p>
              <a:pPr algn="ctr" eaLnBrk="1" hangingPunct="1"/>
              <a:r>
                <a:rPr lang="ko-KR" altLang="en-US" sz="1600" b="0" dirty="0">
                  <a:latin typeface="+mn-ea"/>
                  <a:ea typeface="+mn-ea"/>
                </a:rPr>
                <a:t>비용</a:t>
              </a:r>
            </a:p>
          </p:txBody>
        </p:sp>
        <p:sp>
          <p:nvSpPr>
            <p:cNvPr id="24" name="Freeform 35"/>
            <p:cNvSpPr>
              <a:spLocks/>
            </p:cNvSpPr>
            <p:nvPr/>
          </p:nvSpPr>
          <p:spPr bwMode="auto">
            <a:xfrm>
              <a:off x="392549" y="5390417"/>
              <a:ext cx="6567547" cy="944543"/>
            </a:xfrm>
            <a:custGeom>
              <a:avLst/>
              <a:gdLst>
                <a:gd name="T0" fmla="*/ 0 w 2177"/>
                <a:gd name="T1" fmla="*/ 2147483647 h 499"/>
                <a:gd name="T2" fmla="*/ 2147483647 w 2177"/>
                <a:gd name="T3" fmla="*/ 2147483647 h 499"/>
                <a:gd name="T4" fmla="*/ 2147483647 w 2177"/>
                <a:gd name="T5" fmla="*/ 0 h 499"/>
                <a:gd name="T6" fmla="*/ 2147483647 w 2177"/>
                <a:gd name="T7" fmla="*/ 0 h 49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77"/>
                <a:gd name="T13" fmla="*/ 0 h 499"/>
                <a:gd name="T14" fmla="*/ 2177 w 2177"/>
                <a:gd name="T15" fmla="*/ 499 h 49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77" h="499">
                  <a:moveTo>
                    <a:pt x="0" y="499"/>
                  </a:moveTo>
                  <a:lnTo>
                    <a:pt x="726" y="499"/>
                  </a:lnTo>
                  <a:lnTo>
                    <a:pt x="1451" y="0"/>
                  </a:lnTo>
                  <a:lnTo>
                    <a:pt x="2177" y="0"/>
                  </a:lnTo>
                </a:path>
              </a:pathLst>
            </a:custGeom>
            <a:noFill/>
            <a:ln w="22225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26" name="TextBox 108"/>
            <p:cNvSpPr txBox="1">
              <a:spLocks noChangeArrowheads="1"/>
            </p:cNvSpPr>
            <p:nvPr/>
          </p:nvSpPr>
          <p:spPr bwMode="auto">
            <a:xfrm>
              <a:off x="5327916" y="5221081"/>
              <a:ext cx="1095093" cy="338554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9pPr>
            </a:lstStyle>
            <a:p>
              <a:pPr algn="ctr" eaLnBrk="1" hangingPunct="1"/>
              <a:r>
                <a:rPr lang="en-US" altLang="ko-KR" sz="1600" b="0" dirty="0">
                  <a:latin typeface="+mn-ea"/>
                  <a:ea typeface="+mn-ea"/>
                </a:rPr>
                <a:t>RISK</a:t>
              </a:r>
              <a:endParaRPr lang="ko-KR" altLang="en-US" sz="1600" b="0" dirty="0">
                <a:latin typeface="+mn-ea"/>
                <a:ea typeface="+mn-ea"/>
              </a:endParaRPr>
            </a:p>
          </p:txBody>
        </p:sp>
      </p:grpSp>
      <p:sp>
        <p:nvSpPr>
          <p:cNvPr id="27" name="내용 개체 틀 6"/>
          <p:cNvSpPr txBox="1">
            <a:spLocks/>
          </p:cNvSpPr>
          <p:nvPr/>
        </p:nvSpPr>
        <p:spPr bwMode="auto">
          <a:xfrm>
            <a:off x="6096001" y="4662297"/>
            <a:ext cx="5760640" cy="188844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120000"/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tx2"/>
                </a:solidFill>
              </a:rPr>
              <a:t>시장은 예측 불가능하기 때문에 특허가 포기된 후 특허와 관련된 시장이 형성될 가능성이 항상 존재함</a:t>
            </a:r>
            <a:endParaRPr lang="en-US" altLang="ko-KR" sz="120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  <a:buSzPct val="120000"/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tx2"/>
                </a:solidFill>
              </a:rPr>
              <a:t>그렇다고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하여 특허를 계속 유지하고 있기에는 특허료가 누진세이다 보니 예산적인 측면에서 상당한 부담감이 됨</a:t>
            </a:r>
            <a:endParaRPr lang="en-US" altLang="ko-KR" sz="120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  <a:buSzPct val="120000"/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tx2"/>
                </a:solidFill>
              </a:rPr>
              <a:t>일정기간 경과된 특허에 대하여 일부포기</a:t>
            </a:r>
            <a:r>
              <a:rPr lang="en-US" altLang="ko-KR" sz="1200" dirty="0">
                <a:solidFill>
                  <a:schemeClr val="tx2"/>
                </a:solidFill>
              </a:rPr>
              <a:t>/</a:t>
            </a:r>
            <a:r>
              <a:rPr lang="ko-KR" altLang="en-US" sz="1200" dirty="0" err="1">
                <a:solidFill>
                  <a:schemeClr val="tx2"/>
                </a:solidFill>
              </a:rPr>
              <a:t>일부유지를</a:t>
            </a:r>
            <a:r>
              <a:rPr lang="ko-KR" altLang="en-US" sz="1200" dirty="0">
                <a:solidFill>
                  <a:schemeClr val="tx2"/>
                </a:solidFill>
              </a:rPr>
              <a:t> 한다면 특허료를 줄일 수 있고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특허권도 그 동안 유지시킬 수 있는 장점이 있음</a:t>
            </a:r>
            <a:endParaRPr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23" name="내용 개체 틀 6"/>
          <p:cNvSpPr txBox="1">
            <a:spLocks/>
          </p:cNvSpPr>
          <p:nvPr/>
        </p:nvSpPr>
        <p:spPr bwMode="auto">
          <a:xfrm>
            <a:off x="6096000" y="2108222"/>
            <a:ext cx="5760640" cy="173566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0"/>
              </a:spcBef>
              <a:buSzPct val="120000"/>
              <a:buFont typeface="Wingdings" pitchFamily="2" charset="2"/>
              <a:buChar char="§"/>
            </a:pP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특허료는 특허에 부과되는 세금으로서 처음 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3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년분을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일괄납부 후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, 4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년차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이후에는 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1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년분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또는 일괄 납부 가능함</a:t>
            </a:r>
            <a:endParaRPr lang="en-US" altLang="ko-KR" sz="1200" b="0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SzPct val="120000"/>
              <a:buFont typeface="Wingdings" pitchFamily="2" charset="2"/>
              <a:buChar char="§"/>
            </a:pP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특허료는 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청구항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수에 따라 가산됨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(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예를 들어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, 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청구항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15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항의 특허료인 경우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설정등록료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39,000+15x36,000=579,000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원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)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SzPct val="120000"/>
              <a:buFont typeface="Wingdings" pitchFamily="2" charset="2"/>
              <a:buChar char="§"/>
            </a:pP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특허료는 존속기간이 지날수록 증가함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(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예를 들어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, </a:t>
            </a:r>
            <a:r>
              <a:rPr lang="en-US" altLang="ko-KR" sz="1200" b="0" dirty="0">
                <a:solidFill>
                  <a:srgbClr val="FF0000"/>
                </a:solidFill>
                <a:latin typeface="+mn-lt"/>
                <a:ea typeface="+mn-ea"/>
              </a:rPr>
              <a:t>7</a:t>
            </a:r>
            <a:r>
              <a:rPr lang="ko-KR" altLang="en-US" sz="1200" b="0" dirty="0" err="1">
                <a:solidFill>
                  <a:srgbClr val="FF0000"/>
                </a:solidFill>
                <a:latin typeface="+mn-lt"/>
                <a:ea typeface="+mn-ea"/>
              </a:rPr>
              <a:t>년차의</a:t>
            </a:r>
            <a:r>
              <a:rPr lang="ko-KR" altLang="en-US" sz="1200" b="0" dirty="0">
                <a:solidFill>
                  <a:srgbClr val="FF0000"/>
                </a:solidFill>
                <a:latin typeface="+mn-lt"/>
                <a:ea typeface="+mn-ea"/>
              </a:rPr>
              <a:t> 기본료는 </a:t>
            </a:r>
            <a:r>
              <a:rPr lang="en-US" altLang="ko-KR" sz="1200" b="0" dirty="0">
                <a:solidFill>
                  <a:srgbClr val="FF0000"/>
                </a:solidFill>
                <a:latin typeface="+mn-lt"/>
                <a:ea typeface="+mn-ea"/>
              </a:rPr>
              <a:t>4-6</a:t>
            </a:r>
            <a:r>
              <a:rPr lang="ko-KR" altLang="en-US" sz="1200" b="0" dirty="0" err="1">
                <a:solidFill>
                  <a:srgbClr val="FF0000"/>
                </a:solidFill>
                <a:latin typeface="+mn-lt"/>
                <a:ea typeface="+mn-ea"/>
              </a:rPr>
              <a:t>년차</a:t>
            </a:r>
            <a:r>
              <a:rPr lang="ko-KR" altLang="en-US" sz="1200" b="0" dirty="0">
                <a:solidFill>
                  <a:srgbClr val="FF0000"/>
                </a:solidFill>
                <a:latin typeface="+mn-lt"/>
                <a:ea typeface="+mn-ea"/>
              </a:rPr>
              <a:t> 기본료의 </a:t>
            </a:r>
            <a:r>
              <a:rPr lang="en-US" altLang="ko-KR" sz="1200" b="0" dirty="0">
                <a:solidFill>
                  <a:srgbClr val="FF0000"/>
                </a:solidFill>
                <a:latin typeface="+mn-lt"/>
                <a:ea typeface="+mn-ea"/>
              </a:rPr>
              <a:t>250%</a:t>
            </a:r>
            <a:r>
              <a:rPr lang="ko-KR" altLang="en-US" sz="1200" b="0" dirty="0">
                <a:solidFill>
                  <a:srgbClr val="FF0000"/>
                </a:solidFill>
                <a:latin typeface="+mn-lt"/>
                <a:ea typeface="+mn-ea"/>
              </a:rPr>
              <a:t>로 증가함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)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SzPct val="120000"/>
              <a:buFont typeface="Wingdings" pitchFamily="2" charset="2"/>
              <a:buChar char="§"/>
            </a:pP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한정된 예산 내에서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권리유지비용과 출원 및 등록에 관련된 비용을 적절하게 조절해야 함</a:t>
            </a:r>
            <a:endParaRPr lang="en-US" altLang="ko-KR" sz="1200" b="0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SzPct val="120000"/>
              <a:buFont typeface="Wingdings" pitchFamily="2" charset="2"/>
              <a:buChar char="§"/>
            </a:pP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따라서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일정기간 경과한 경우에는 유지비절감을 위해 등록 포기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/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유지 여부를 결정할 필요가 있음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  </a:t>
            </a:r>
            <a:endParaRPr lang="ko-KR" altLang="en-US" sz="1200" b="0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195260" y="1606120"/>
            <a:ext cx="283261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특허료의 체계</a:t>
            </a:r>
          </a:p>
        </p:txBody>
      </p:sp>
      <p:cxnSp>
        <p:nvCxnSpPr>
          <p:cNvPr id="29" name="직선 연결선 28"/>
          <p:cNvCxnSpPr/>
          <p:nvPr/>
        </p:nvCxnSpPr>
        <p:spPr>
          <a:xfrm flipH="1">
            <a:off x="336431" y="4005694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195260" y="4137653"/>
            <a:ext cx="283261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일부유지전략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0" y="150588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특허료는 </a:t>
            </a:r>
            <a:r>
              <a:rPr lang="ko-KR" altLang="en-US" sz="1400" dirty="0" err="1">
                <a:solidFill>
                  <a:schemeClr val="tx2"/>
                </a:solidFill>
              </a:rPr>
              <a:t>청구항별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가산료가</a:t>
            </a:r>
            <a:r>
              <a:rPr lang="ko-KR" altLang="en-US" sz="1400" dirty="0">
                <a:solidFill>
                  <a:schemeClr val="tx2"/>
                </a:solidFill>
              </a:rPr>
              <a:t> 산정되기 때문에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청구항이</a:t>
            </a:r>
            <a:r>
              <a:rPr lang="ko-KR" altLang="en-US" sz="1400" dirty="0">
                <a:solidFill>
                  <a:schemeClr val="tx2"/>
                </a:solidFill>
              </a:rPr>
              <a:t> 많을수록 많은 특허료를 납부해야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청구항별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일부 포기 제도를 활용</a:t>
            </a:r>
            <a:r>
              <a:rPr lang="ko-KR" altLang="en-US" sz="1400" dirty="0">
                <a:solidFill>
                  <a:schemeClr val="tx2"/>
                </a:solidFill>
              </a:rPr>
              <a:t>하여 점차적으로 특허료를 줄여 나가면서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특허권을 그 동안 </a:t>
            </a:r>
            <a:r>
              <a:rPr lang="ko-KR" altLang="en-US" sz="1400" dirty="0" err="1">
                <a:solidFill>
                  <a:schemeClr val="tx2"/>
                </a:solidFill>
              </a:rPr>
              <a:t>유지존속시키는</a:t>
            </a:r>
            <a:r>
              <a:rPr lang="ko-KR" altLang="en-US" sz="1400" dirty="0">
                <a:solidFill>
                  <a:schemeClr val="tx2"/>
                </a:solidFill>
              </a:rPr>
              <a:t> 전략이 필요하다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71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04"/>
          <p:cNvSpPr>
            <a:spLocks noChangeArrowheads="1"/>
          </p:cNvSpPr>
          <p:nvPr/>
        </p:nvSpPr>
        <p:spPr bwMode="auto">
          <a:xfrm>
            <a:off x="821003" y="1164823"/>
            <a:ext cx="7819231" cy="5229225"/>
          </a:xfrm>
          <a:prstGeom prst="rightArrow">
            <a:avLst>
              <a:gd name="adj1" fmla="val 75602"/>
              <a:gd name="adj2" fmla="val 47043"/>
            </a:avLst>
          </a:prstGeom>
          <a:solidFill>
            <a:schemeClr val="bg1">
              <a:lumMod val="85000"/>
              <a:alpha val="70195"/>
            </a:schemeClr>
          </a:solidFill>
          <a:ln>
            <a:noFill/>
          </a:ln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50" name="AutoShape 85"/>
          <p:cNvSpPr>
            <a:spLocks noChangeArrowheads="1"/>
          </p:cNvSpPr>
          <p:nvPr/>
        </p:nvSpPr>
        <p:spPr bwMode="auto">
          <a:xfrm>
            <a:off x="7103798" y="3199054"/>
            <a:ext cx="1485900" cy="360362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latin typeface="+mn-ea"/>
              </a:rPr>
              <a:t>특허권 전부유지</a:t>
            </a:r>
          </a:p>
        </p:txBody>
      </p:sp>
      <p:sp>
        <p:nvSpPr>
          <p:cNvPr id="51" name="AutoShape 86"/>
          <p:cNvSpPr>
            <a:spLocks noChangeArrowheads="1"/>
          </p:cNvSpPr>
          <p:nvPr/>
        </p:nvSpPr>
        <p:spPr bwMode="auto">
          <a:xfrm>
            <a:off x="7103798" y="3630854"/>
            <a:ext cx="1485900" cy="360362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latin typeface="+mn-ea"/>
              </a:rPr>
              <a:t>특허권 일부유지</a:t>
            </a:r>
          </a:p>
        </p:txBody>
      </p:sp>
      <p:sp>
        <p:nvSpPr>
          <p:cNvPr id="52" name="AutoShape 87"/>
          <p:cNvSpPr>
            <a:spLocks noChangeArrowheads="1"/>
          </p:cNvSpPr>
          <p:nvPr/>
        </p:nvSpPr>
        <p:spPr bwMode="auto">
          <a:xfrm>
            <a:off x="8687065" y="2767254"/>
            <a:ext cx="1344084" cy="360362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자산감소</a:t>
            </a:r>
            <a:endParaRPr lang="en-US" altLang="ko-KR" sz="10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bg1"/>
                </a:solidFill>
                <a:latin typeface="+mn-ea"/>
              </a:rPr>
              <a:t>활용리스크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3" name="AutoShape 88"/>
          <p:cNvSpPr>
            <a:spLocks noChangeArrowheads="1"/>
          </p:cNvSpPr>
          <p:nvPr/>
        </p:nvSpPr>
        <p:spPr bwMode="auto">
          <a:xfrm>
            <a:off x="10128515" y="2767254"/>
            <a:ext cx="1344083" cy="360362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특허료 부담</a:t>
            </a:r>
          </a:p>
        </p:txBody>
      </p:sp>
      <p:sp>
        <p:nvSpPr>
          <p:cNvPr id="54" name="AutoShape 89"/>
          <p:cNvSpPr>
            <a:spLocks noChangeArrowheads="1"/>
          </p:cNvSpPr>
          <p:nvPr/>
        </p:nvSpPr>
        <p:spPr bwMode="auto">
          <a:xfrm>
            <a:off x="8687065" y="3199054"/>
            <a:ext cx="1344084" cy="360362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>
                <a:latin typeface="+mn-ea"/>
              </a:rPr>
              <a:t>LOW</a:t>
            </a:r>
          </a:p>
        </p:txBody>
      </p:sp>
      <p:sp>
        <p:nvSpPr>
          <p:cNvPr id="55" name="AutoShape 90"/>
          <p:cNvSpPr>
            <a:spLocks noChangeArrowheads="1"/>
          </p:cNvSpPr>
          <p:nvPr/>
        </p:nvSpPr>
        <p:spPr bwMode="auto">
          <a:xfrm>
            <a:off x="10128515" y="3199054"/>
            <a:ext cx="1344083" cy="360362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>
                <a:latin typeface="+mn-ea"/>
              </a:rPr>
              <a:t>HIGH</a:t>
            </a:r>
          </a:p>
        </p:txBody>
      </p:sp>
      <p:sp>
        <p:nvSpPr>
          <p:cNvPr id="56" name="AutoShape 91"/>
          <p:cNvSpPr>
            <a:spLocks noChangeArrowheads="1"/>
          </p:cNvSpPr>
          <p:nvPr/>
        </p:nvSpPr>
        <p:spPr bwMode="auto">
          <a:xfrm>
            <a:off x="8687065" y="3630854"/>
            <a:ext cx="1344084" cy="360362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LOW</a:t>
            </a:r>
          </a:p>
        </p:txBody>
      </p:sp>
      <p:sp>
        <p:nvSpPr>
          <p:cNvPr id="57" name="AutoShape 92"/>
          <p:cNvSpPr>
            <a:spLocks noChangeArrowheads="1"/>
          </p:cNvSpPr>
          <p:nvPr/>
        </p:nvSpPr>
        <p:spPr bwMode="auto">
          <a:xfrm>
            <a:off x="10128515" y="3630854"/>
            <a:ext cx="1344083" cy="360362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 b="1">
                <a:solidFill>
                  <a:schemeClr val="bg1"/>
                </a:solidFill>
                <a:latin typeface="+mn-ea"/>
              </a:rPr>
              <a:t>LOW</a:t>
            </a:r>
          </a:p>
        </p:txBody>
      </p:sp>
      <p:sp>
        <p:nvSpPr>
          <p:cNvPr id="58" name="AutoShape 93"/>
          <p:cNvSpPr>
            <a:spLocks noChangeArrowheads="1"/>
          </p:cNvSpPr>
          <p:nvPr/>
        </p:nvSpPr>
        <p:spPr bwMode="auto">
          <a:xfrm>
            <a:off x="7103798" y="4064242"/>
            <a:ext cx="1485900" cy="360363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latin typeface="+mn-ea"/>
              </a:rPr>
              <a:t>특허권 포기</a:t>
            </a:r>
          </a:p>
        </p:txBody>
      </p:sp>
      <p:sp>
        <p:nvSpPr>
          <p:cNvPr id="60" name="AutoShape 95"/>
          <p:cNvSpPr>
            <a:spLocks noChangeArrowheads="1"/>
          </p:cNvSpPr>
          <p:nvPr/>
        </p:nvSpPr>
        <p:spPr bwMode="auto">
          <a:xfrm>
            <a:off x="8687065" y="4064242"/>
            <a:ext cx="1344084" cy="360363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>
                <a:latin typeface="+mn-ea"/>
              </a:rPr>
              <a:t>HIGH</a:t>
            </a:r>
          </a:p>
        </p:txBody>
      </p:sp>
      <p:sp>
        <p:nvSpPr>
          <p:cNvPr id="61" name="AutoShape 96"/>
          <p:cNvSpPr>
            <a:spLocks noChangeArrowheads="1"/>
          </p:cNvSpPr>
          <p:nvPr/>
        </p:nvSpPr>
        <p:spPr bwMode="auto">
          <a:xfrm>
            <a:off x="10128515" y="4064242"/>
            <a:ext cx="1344083" cy="360363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>
                <a:latin typeface="+mn-ea"/>
              </a:rPr>
              <a:t>LOW</a:t>
            </a:r>
          </a:p>
        </p:txBody>
      </p:sp>
      <p:sp>
        <p:nvSpPr>
          <p:cNvPr id="23" name="AutoShape 31"/>
          <p:cNvSpPr>
            <a:spLocks noChangeArrowheads="1"/>
          </p:cNvSpPr>
          <p:nvPr/>
        </p:nvSpPr>
        <p:spPr bwMode="auto">
          <a:xfrm>
            <a:off x="2745521" y="2013042"/>
            <a:ext cx="1698195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특정년차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경과한</a:t>
            </a:r>
          </a:p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 추출</a:t>
            </a:r>
          </a:p>
        </p:txBody>
      </p:sp>
      <p:sp>
        <p:nvSpPr>
          <p:cNvPr id="25" name="AutoShape 33"/>
          <p:cNvSpPr>
            <a:spLocks noChangeArrowheads="1"/>
          </p:cNvSpPr>
          <p:nvPr/>
        </p:nvSpPr>
        <p:spPr bwMode="auto">
          <a:xfrm>
            <a:off x="2745521" y="2803816"/>
            <a:ext cx="1698195" cy="577850"/>
          </a:xfrm>
          <a:prstGeom prst="diamond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특허심의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?</a:t>
            </a:r>
          </a:p>
        </p:txBody>
      </p:sp>
      <p:sp>
        <p:nvSpPr>
          <p:cNvPr id="28" name="AutoShape 34"/>
          <p:cNvSpPr>
            <a:spLocks noChangeArrowheads="1"/>
          </p:cNvSpPr>
          <p:nvPr/>
        </p:nvSpPr>
        <p:spPr bwMode="auto">
          <a:xfrm>
            <a:off x="1103446" y="4461066"/>
            <a:ext cx="1444441" cy="360362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전체 연차료 </a:t>
            </a:r>
          </a:p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납부</a:t>
            </a:r>
          </a:p>
        </p:txBody>
      </p:sp>
      <p:sp>
        <p:nvSpPr>
          <p:cNvPr id="29" name="AutoShape 35"/>
          <p:cNvSpPr>
            <a:spLocks noChangeArrowheads="1"/>
          </p:cNvSpPr>
          <p:nvPr/>
        </p:nvSpPr>
        <p:spPr bwMode="auto">
          <a:xfrm>
            <a:off x="1103446" y="5073942"/>
            <a:ext cx="1444441" cy="358775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특허권 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전부유지</a:t>
            </a:r>
          </a:p>
        </p:txBody>
      </p:sp>
      <p:sp>
        <p:nvSpPr>
          <p:cNvPr id="30" name="AutoShape 36"/>
          <p:cNvSpPr>
            <a:spLocks noChangeArrowheads="1"/>
          </p:cNvSpPr>
          <p:nvPr/>
        </p:nvSpPr>
        <p:spPr bwMode="auto">
          <a:xfrm>
            <a:off x="2872398" y="4461066"/>
            <a:ext cx="1444441" cy="360362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일부 연차료 </a:t>
            </a:r>
          </a:p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납부</a:t>
            </a:r>
          </a:p>
        </p:txBody>
      </p:sp>
      <p:sp>
        <p:nvSpPr>
          <p:cNvPr id="31" name="AutoShape 37"/>
          <p:cNvSpPr>
            <a:spLocks noChangeArrowheads="1"/>
          </p:cNvSpPr>
          <p:nvPr/>
        </p:nvSpPr>
        <p:spPr bwMode="auto">
          <a:xfrm>
            <a:off x="2872398" y="5073942"/>
            <a:ext cx="1444441" cy="358775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특허권 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일부유지</a:t>
            </a:r>
            <a:endParaRPr lang="en-US" altLang="ko-KR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AutoShape 38"/>
          <p:cNvSpPr>
            <a:spLocks noChangeArrowheads="1"/>
          </p:cNvSpPr>
          <p:nvPr/>
        </p:nvSpPr>
        <p:spPr bwMode="auto">
          <a:xfrm>
            <a:off x="2872398" y="3669004"/>
            <a:ext cx="1444441" cy="57626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권리범위 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협소한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청구항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선별</a:t>
            </a:r>
          </a:p>
        </p:txBody>
      </p:sp>
      <p:sp>
        <p:nvSpPr>
          <p:cNvPr id="36" name="AutoShape 41"/>
          <p:cNvSpPr>
            <a:spLocks noChangeArrowheads="1"/>
          </p:cNvSpPr>
          <p:nvPr/>
        </p:nvSpPr>
        <p:spPr bwMode="auto">
          <a:xfrm>
            <a:off x="4731629" y="4461066"/>
            <a:ext cx="1444441" cy="360362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연차료 불납</a:t>
            </a:r>
          </a:p>
        </p:txBody>
      </p:sp>
      <p:sp>
        <p:nvSpPr>
          <p:cNvPr id="37" name="AutoShape 42"/>
          <p:cNvSpPr>
            <a:spLocks noChangeArrowheads="1"/>
          </p:cNvSpPr>
          <p:nvPr/>
        </p:nvSpPr>
        <p:spPr bwMode="auto">
          <a:xfrm>
            <a:off x="4731629" y="5073942"/>
            <a:ext cx="1444441" cy="358775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특허권 포기</a:t>
            </a:r>
            <a:endParaRPr lang="en-US" altLang="ko-KR" sz="100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9" name="AutoShape 45"/>
          <p:cNvCxnSpPr>
            <a:cxnSpLocks noChangeShapeType="1"/>
            <a:stCxn id="23" idx="2"/>
            <a:endCxn id="25" idx="0"/>
          </p:cNvCxnSpPr>
          <p:nvPr/>
        </p:nvCxnSpPr>
        <p:spPr bwMode="auto">
          <a:xfrm>
            <a:off x="3594619" y="2444842"/>
            <a:ext cx="0" cy="358974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46"/>
          <p:cNvCxnSpPr>
            <a:cxnSpLocks noChangeShapeType="1"/>
            <a:stCxn id="25" idx="1"/>
            <a:endCxn id="28" idx="0"/>
          </p:cNvCxnSpPr>
          <p:nvPr/>
        </p:nvCxnSpPr>
        <p:spPr bwMode="auto">
          <a:xfrm rot="10800000" flipV="1">
            <a:off x="1825669" y="3092741"/>
            <a:ext cx="919855" cy="1368325"/>
          </a:xfrm>
          <a:prstGeom prst="bentConnector2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AutoShape 51"/>
          <p:cNvCxnSpPr>
            <a:cxnSpLocks noChangeShapeType="1"/>
            <a:stCxn id="36" idx="2"/>
            <a:endCxn id="37" idx="0"/>
          </p:cNvCxnSpPr>
          <p:nvPr/>
        </p:nvCxnSpPr>
        <p:spPr bwMode="auto">
          <a:xfrm>
            <a:off x="5453849" y="4821429"/>
            <a:ext cx="0" cy="252513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52"/>
          <p:cNvCxnSpPr>
            <a:cxnSpLocks noChangeShapeType="1"/>
            <a:stCxn id="25" idx="2"/>
            <a:endCxn id="32" idx="0"/>
          </p:cNvCxnSpPr>
          <p:nvPr/>
        </p:nvCxnSpPr>
        <p:spPr bwMode="auto">
          <a:xfrm rot="5400000">
            <a:off x="3451376" y="3524910"/>
            <a:ext cx="288925" cy="2441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AutoShape 53"/>
          <p:cNvCxnSpPr>
            <a:cxnSpLocks noChangeShapeType="1"/>
            <a:stCxn id="32" idx="2"/>
            <a:endCxn id="30" idx="0"/>
          </p:cNvCxnSpPr>
          <p:nvPr/>
        </p:nvCxnSpPr>
        <p:spPr bwMode="auto">
          <a:xfrm>
            <a:off x="3594619" y="4245266"/>
            <a:ext cx="0" cy="215800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54"/>
          <p:cNvCxnSpPr>
            <a:cxnSpLocks noChangeShapeType="1"/>
            <a:stCxn id="30" idx="2"/>
            <a:endCxn id="31" idx="0"/>
          </p:cNvCxnSpPr>
          <p:nvPr/>
        </p:nvCxnSpPr>
        <p:spPr bwMode="auto">
          <a:xfrm>
            <a:off x="3594619" y="4821429"/>
            <a:ext cx="0" cy="252513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55"/>
          <p:cNvCxnSpPr>
            <a:cxnSpLocks noChangeShapeType="1"/>
            <a:stCxn id="28" idx="2"/>
            <a:endCxn id="29" idx="0"/>
          </p:cNvCxnSpPr>
          <p:nvPr/>
        </p:nvCxnSpPr>
        <p:spPr bwMode="auto">
          <a:xfrm>
            <a:off x="1825667" y="4821429"/>
            <a:ext cx="0" cy="252513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직사각형 23"/>
          <p:cNvSpPr>
            <a:spLocks noChangeArrowheads="1"/>
          </p:cNvSpPr>
          <p:nvPr/>
        </p:nvSpPr>
        <p:spPr bwMode="auto">
          <a:xfrm>
            <a:off x="1825667" y="2678404"/>
            <a:ext cx="1327324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유지</a:t>
            </a:r>
          </a:p>
          <a:p>
            <a:pPr algn="ctr">
              <a:defRPr/>
            </a:pP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(S, A</a:t>
            </a: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등급</a:t>
            </a: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)</a:t>
            </a:r>
          </a:p>
        </p:txBody>
      </p:sp>
      <p:sp>
        <p:nvSpPr>
          <p:cNvPr id="65" name="직사각형 23"/>
          <p:cNvSpPr>
            <a:spLocks noChangeArrowheads="1"/>
          </p:cNvSpPr>
          <p:nvPr/>
        </p:nvSpPr>
        <p:spPr bwMode="auto">
          <a:xfrm>
            <a:off x="2518609" y="3234029"/>
            <a:ext cx="1327324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유지</a:t>
            </a:r>
          </a:p>
          <a:p>
            <a:pPr algn="ctr">
              <a:defRPr/>
            </a:pP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(B</a:t>
            </a: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등급</a:t>
            </a: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)</a:t>
            </a:r>
          </a:p>
        </p:txBody>
      </p:sp>
      <p:sp>
        <p:nvSpPr>
          <p:cNvPr id="66" name="직사각형 23"/>
          <p:cNvSpPr>
            <a:spLocks noChangeArrowheads="1"/>
          </p:cNvSpPr>
          <p:nvPr/>
        </p:nvSpPr>
        <p:spPr bwMode="auto">
          <a:xfrm>
            <a:off x="3904581" y="2678404"/>
            <a:ext cx="1327324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포기</a:t>
            </a:r>
          </a:p>
          <a:p>
            <a:pPr algn="ctr">
              <a:defRPr/>
            </a:pP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(C</a:t>
            </a: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등급</a:t>
            </a: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)</a:t>
            </a:r>
          </a:p>
        </p:txBody>
      </p:sp>
      <p:cxnSp>
        <p:nvCxnSpPr>
          <p:cNvPr id="69" name="AutoShape 46"/>
          <p:cNvCxnSpPr>
            <a:cxnSpLocks noChangeShapeType="1"/>
            <a:stCxn id="25" idx="3"/>
            <a:endCxn id="36" idx="0"/>
          </p:cNvCxnSpPr>
          <p:nvPr/>
        </p:nvCxnSpPr>
        <p:spPr bwMode="auto">
          <a:xfrm>
            <a:off x="4443716" y="3092742"/>
            <a:ext cx="1010133" cy="1368325"/>
          </a:xfrm>
          <a:prstGeom prst="bentConnector2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실무상 특허료 납부의 활용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21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101</a:t>
            </a:r>
            <a:r>
              <a:rPr lang="ko-KR" altLang="en-US" dirty="0"/>
              <a:t>조</a:t>
            </a:r>
            <a:r>
              <a:rPr lang="en-US" altLang="ko-KR" dirty="0"/>
              <a:t>,</a:t>
            </a:r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등록의 효력</a:t>
            </a:r>
          </a:p>
        </p:txBody>
      </p:sp>
      <p:cxnSp>
        <p:nvCxnSpPr>
          <p:cNvPr id="82" name="직선 연결선 81"/>
          <p:cNvCxnSpPr/>
          <p:nvPr/>
        </p:nvCxnSpPr>
        <p:spPr>
          <a:xfrm>
            <a:off x="0" y="365856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7875" y="976902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87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특허권의 설정등록 및 등록공고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특허권은 설정등록에 의하여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101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 및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전용실시권의</a:t>
            </a:r>
            <a:r>
              <a:rPr lang="ko-KR" altLang="en-US" sz="1400" b="1" dirty="0">
                <a:solidFill>
                  <a:schemeClr val="accent1"/>
                </a:solidFill>
              </a:rPr>
              <a:t> 등록의 효력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사항은 등록하여야만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특허권의 이전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상속이나 그 밖의 일반승계에 의한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), </a:t>
            </a:r>
            <a:r>
              <a:rPr lang="ko-KR" altLang="en-US" sz="1400" dirty="0">
                <a:solidFill>
                  <a:schemeClr val="tx2"/>
                </a:solidFill>
              </a:rPr>
              <a:t>포기에 의한 소멸 또는 처분의 제한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설정ㆍ이전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상속이나 그 밖의 일반승계에 의한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 err="1">
                <a:solidFill>
                  <a:schemeClr val="tx2"/>
                </a:solidFill>
              </a:rPr>
              <a:t>ㆍ변경ㆍ소멸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혼동에 의한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또는 처분의 제한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특허권 또는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400" dirty="0">
                <a:solidFill>
                  <a:schemeClr val="tx2"/>
                </a:solidFill>
              </a:rPr>
              <a:t> 목적으로 하는 질권의 </a:t>
            </a:r>
            <a:r>
              <a:rPr lang="ko-KR" altLang="en-US" sz="1400" dirty="0" err="1">
                <a:solidFill>
                  <a:schemeClr val="tx2"/>
                </a:solidFill>
              </a:rPr>
              <a:t>설정ㆍ이전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상속이나 그 밖의 일반승계에 의한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 err="1">
                <a:solidFill>
                  <a:schemeClr val="tx2"/>
                </a:solidFill>
              </a:rPr>
              <a:t>ㆍ변경ㆍ소멸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혼동에 의한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또는 처분의 제한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특허권ㆍ전용실시권</a:t>
            </a:r>
            <a:r>
              <a:rPr lang="ko-KR" altLang="en-US" sz="1400" dirty="0">
                <a:solidFill>
                  <a:schemeClr val="tx2"/>
                </a:solidFill>
              </a:rPr>
              <a:t> 및 질권의 상속이나 그 밖의 일반승계의 경우에는 지체 없이 그 취지를 지식재산처장에게 신고하여야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118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통상실시권의</a:t>
            </a:r>
            <a:r>
              <a:rPr lang="ko-KR" altLang="en-US" sz="1400" b="1" dirty="0">
                <a:solidFill>
                  <a:schemeClr val="accent1"/>
                </a:solidFill>
              </a:rPr>
              <a:t> 등록의 효력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등록한 경우에는 그 등록 후에 특허권 또는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400" dirty="0">
                <a:solidFill>
                  <a:schemeClr val="tx2"/>
                </a:solidFill>
              </a:rPr>
              <a:t> 취득한 자에 대해서도 그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81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103</a:t>
            </a:r>
            <a:r>
              <a:rPr lang="ko-KR" altLang="en-US" sz="1400" dirty="0">
                <a:solidFill>
                  <a:schemeClr val="tx2"/>
                </a:solidFill>
              </a:rPr>
              <a:t>조부터 제</a:t>
            </a:r>
            <a:r>
              <a:rPr lang="en-US" altLang="ko-KR" sz="1400" dirty="0">
                <a:solidFill>
                  <a:schemeClr val="tx2"/>
                </a:solidFill>
              </a:rPr>
              <a:t>105</a:t>
            </a:r>
            <a:r>
              <a:rPr lang="ko-KR" altLang="en-US" sz="1400" dirty="0">
                <a:solidFill>
                  <a:schemeClr val="tx2"/>
                </a:solidFill>
              </a:rPr>
              <a:t>조까지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122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182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183</a:t>
            </a:r>
            <a:r>
              <a:rPr lang="ko-KR" altLang="en-US" sz="1400" dirty="0">
                <a:solidFill>
                  <a:schemeClr val="tx2"/>
                </a:solidFill>
              </a:rPr>
              <a:t>조 및 「발명진흥법」 제</a:t>
            </a:r>
            <a:r>
              <a:rPr lang="en-US" altLang="ko-KR" sz="1400" dirty="0">
                <a:solidFill>
                  <a:schemeClr val="tx2"/>
                </a:solidFill>
              </a:rPr>
              <a:t>10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통상실시권은</a:t>
            </a:r>
            <a:r>
              <a:rPr lang="ko-KR" altLang="en-US" sz="1400" dirty="0">
                <a:solidFill>
                  <a:schemeClr val="tx2"/>
                </a:solidFill>
              </a:rPr>
              <a:t> 등록이 없더라도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이전ㆍ변경ㆍ소멸</a:t>
            </a:r>
            <a:r>
              <a:rPr lang="ko-KR" altLang="en-US" sz="1400" dirty="0">
                <a:solidFill>
                  <a:schemeClr val="tx2"/>
                </a:solidFill>
              </a:rPr>
              <a:t> 또는 처분의 제한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목적으로 하는 질권의 </a:t>
            </a:r>
            <a:r>
              <a:rPr lang="ko-KR" altLang="en-US" sz="1400" dirty="0" err="1">
                <a:solidFill>
                  <a:schemeClr val="tx2"/>
                </a:solidFill>
              </a:rPr>
              <a:t>설정ㆍ이전ㆍ변경ㆍ소멸</a:t>
            </a:r>
            <a:r>
              <a:rPr lang="ko-KR" altLang="en-US" sz="1400" dirty="0">
                <a:solidFill>
                  <a:schemeClr val="tx2"/>
                </a:solidFill>
              </a:rPr>
              <a:t> 또는 처분의 제한은 이를 등록하여야만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자에게 대항할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649953"/>
              </p:ext>
            </p:extLst>
          </p:nvPr>
        </p:nvGraphicFramePr>
        <p:xfrm>
          <a:off x="474133" y="3835803"/>
          <a:ext cx="11269133" cy="226237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36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2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4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4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1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40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권리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특허권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전용실시권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통상실시권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451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등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록</a:t>
                      </a:r>
                      <a:endParaRPr lang="ko-KR" altLang="en-US" sz="12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사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항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설정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○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법정실시권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4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이전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상속 그 밖의 일반승계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○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/>
                        <a:t>(</a:t>
                      </a:r>
                      <a:r>
                        <a:rPr lang="ko-KR" altLang="en-US" sz="1200" kern="1200"/>
                        <a:t>상속 그 밖의 일반승계 제외</a:t>
                      </a:r>
                      <a:r>
                        <a:rPr lang="en-US" altLang="ko-KR" sz="1200" kern="1200"/>
                        <a:t>)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변경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/>
                        <a:t>-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(∵ </a:t>
                      </a:r>
                      <a:r>
                        <a:rPr lang="ko-KR" altLang="en-US" sz="1200" kern="1200" dirty="0"/>
                        <a:t>전면적 </a:t>
                      </a:r>
                      <a:r>
                        <a:rPr lang="ko-KR" altLang="en-US" sz="1200" kern="1200" dirty="0" err="1"/>
                        <a:t>지배성</a:t>
                      </a:r>
                      <a:r>
                        <a:rPr lang="en-US" altLang="ko-KR" sz="1200" kern="1200" dirty="0"/>
                        <a:t>)</a:t>
                      </a:r>
                      <a:endParaRPr 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  <a:endParaRPr lang="en-US" altLang="ko-KR" sz="1200" kern="1200" dirty="0"/>
                    </a:p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/>
                        <a:t>(∵ </a:t>
                      </a:r>
                      <a:r>
                        <a:rPr lang="ko-KR" altLang="en-US" sz="1200" kern="1200" dirty="0"/>
                        <a:t>일면적 </a:t>
                      </a:r>
                      <a:r>
                        <a:rPr lang="ko-KR" altLang="en-US" sz="1200" kern="1200" dirty="0" err="1"/>
                        <a:t>지배성</a:t>
                      </a:r>
                      <a:r>
                        <a:rPr lang="en-US" altLang="ko-KR" sz="1200" kern="1200" dirty="0"/>
                        <a:t>)</a:t>
                      </a: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○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4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소멸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포기에 한함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혼동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○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처분의 제한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○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0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효력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효력발생요건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대항요건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모서리가 둥근 사각형 설명선 5"/>
          <p:cNvSpPr/>
          <p:nvPr/>
        </p:nvSpPr>
        <p:spPr>
          <a:xfrm>
            <a:off x="2175933" y="6231467"/>
            <a:ext cx="4622800" cy="431800"/>
          </a:xfrm>
          <a:prstGeom prst="wedgeRoundRectCallout">
            <a:avLst>
              <a:gd name="adj1" fmla="val -9412"/>
              <a:gd name="adj2" fmla="val -23089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 err="1">
                <a:solidFill>
                  <a:schemeClr val="tx1"/>
                </a:solidFill>
              </a:rPr>
              <a:t>장래효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특허료 불납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존속기간 만료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특허권의 포기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상속인 </a:t>
            </a:r>
            <a:r>
              <a:rPr lang="ko-KR" altLang="en-US" sz="1200" dirty="0" err="1">
                <a:solidFill>
                  <a:schemeClr val="tx1"/>
                </a:solidFill>
              </a:rPr>
              <a:t>부존재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소급효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취소결정확정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무효심결확정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단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후발적 사유는 제외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294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423C05-168F-9230-48AE-3D4C8A6EAFD2}"/>
              </a:ext>
            </a:extLst>
          </p:cNvPr>
          <p:cNvSpPr/>
          <p:nvPr/>
        </p:nvSpPr>
        <p:spPr>
          <a:xfrm>
            <a:off x="2708636" y="3958614"/>
            <a:ext cx="939999" cy="2599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87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5D6CA70-03CF-94CF-306A-12991593FE70}"/>
              </a:ext>
            </a:extLst>
          </p:cNvPr>
          <p:cNvCxnSpPr>
            <a:stCxn id="7" idx="3"/>
          </p:cNvCxnSpPr>
          <p:nvPr/>
        </p:nvCxnSpPr>
        <p:spPr>
          <a:xfrm>
            <a:off x="3648635" y="4088602"/>
            <a:ext cx="502024" cy="12481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2551855E-424D-B0DB-A0D8-AC8CFEEC2783}"/>
              </a:ext>
            </a:extLst>
          </p:cNvPr>
          <p:cNvSpPr/>
          <p:nvPr/>
        </p:nvSpPr>
        <p:spPr>
          <a:xfrm>
            <a:off x="3352800" y="4572000"/>
            <a:ext cx="833718" cy="1021976"/>
          </a:xfrm>
          <a:custGeom>
            <a:avLst/>
            <a:gdLst>
              <a:gd name="connsiteX0" fmla="*/ 779929 w 833718"/>
              <a:gd name="connsiteY0" fmla="*/ 0 h 1021976"/>
              <a:gd name="connsiteX1" fmla="*/ 0 w 833718"/>
              <a:gd name="connsiteY1" fmla="*/ 0 h 1021976"/>
              <a:gd name="connsiteX2" fmla="*/ 0 w 833718"/>
              <a:gd name="connsiteY2" fmla="*/ 1021976 h 1021976"/>
              <a:gd name="connsiteX3" fmla="*/ 833718 w 833718"/>
              <a:gd name="connsiteY3" fmla="*/ 1021976 h 1021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3718" h="1021976">
                <a:moveTo>
                  <a:pt x="779929" y="0"/>
                </a:moveTo>
                <a:lnTo>
                  <a:pt x="0" y="0"/>
                </a:lnTo>
                <a:lnTo>
                  <a:pt x="0" y="1021976"/>
                </a:lnTo>
                <a:lnTo>
                  <a:pt x="833718" y="1021976"/>
                </a:lnTo>
              </a:path>
            </a:pathLst>
          </a:custGeom>
          <a:noFill/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9F1727-6E54-4830-3631-57A26A260A8F}"/>
              </a:ext>
            </a:extLst>
          </p:cNvPr>
          <p:cNvSpPr/>
          <p:nvPr/>
        </p:nvSpPr>
        <p:spPr>
          <a:xfrm>
            <a:off x="2175933" y="4694811"/>
            <a:ext cx="939999" cy="406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101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  <a:endParaRPr lang="en-US" altLang="ko-KR" sz="9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A3E34C-64AC-3B5F-9291-F7629EA83F0A}"/>
              </a:ext>
            </a:extLst>
          </p:cNvPr>
          <p:cNvCxnSpPr>
            <a:cxnSpLocks/>
          </p:cNvCxnSpPr>
          <p:nvPr/>
        </p:nvCxnSpPr>
        <p:spPr>
          <a:xfrm>
            <a:off x="3101788" y="4907623"/>
            <a:ext cx="251012" cy="12481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3F7AAA-9F0D-9DE2-A1A2-9E8C72DD0E00}"/>
              </a:ext>
            </a:extLst>
          </p:cNvPr>
          <p:cNvSpPr/>
          <p:nvPr/>
        </p:nvSpPr>
        <p:spPr>
          <a:xfrm>
            <a:off x="5441827" y="4875552"/>
            <a:ext cx="939999" cy="406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101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  <a:endParaRPr lang="en-US" altLang="ko-KR" sz="9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호</a:t>
            </a: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DE6B03EC-F6E3-D06D-788E-352A899556F5}"/>
              </a:ext>
            </a:extLst>
          </p:cNvPr>
          <p:cNvSpPr/>
          <p:nvPr/>
        </p:nvSpPr>
        <p:spPr>
          <a:xfrm>
            <a:off x="6714315" y="4216108"/>
            <a:ext cx="873312" cy="1377868"/>
          </a:xfrm>
          <a:custGeom>
            <a:avLst/>
            <a:gdLst>
              <a:gd name="connsiteX0" fmla="*/ 779929 w 833718"/>
              <a:gd name="connsiteY0" fmla="*/ 0 h 1021976"/>
              <a:gd name="connsiteX1" fmla="*/ 0 w 833718"/>
              <a:gd name="connsiteY1" fmla="*/ 0 h 1021976"/>
              <a:gd name="connsiteX2" fmla="*/ 0 w 833718"/>
              <a:gd name="connsiteY2" fmla="*/ 1021976 h 1021976"/>
              <a:gd name="connsiteX3" fmla="*/ 833718 w 833718"/>
              <a:gd name="connsiteY3" fmla="*/ 1021976 h 1021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3718" h="1021976">
                <a:moveTo>
                  <a:pt x="779929" y="0"/>
                </a:moveTo>
                <a:lnTo>
                  <a:pt x="0" y="0"/>
                </a:lnTo>
                <a:lnTo>
                  <a:pt x="0" y="1021976"/>
                </a:lnTo>
                <a:lnTo>
                  <a:pt x="833718" y="1021976"/>
                </a:lnTo>
              </a:path>
            </a:pathLst>
          </a:custGeom>
          <a:noFill/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DA9C99F-2E2B-7F47-B56A-5E1715D8FA89}"/>
              </a:ext>
            </a:extLst>
          </p:cNvPr>
          <p:cNvCxnSpPr>
            <a:cxnSpLocks/>
          </p:cNvCxnSpPr>
          <p:nvPr/>
        </p:nvCxnSpPr>
        <p:spPr>
          <a:xfrm flipV="1">
            <a:off x="6381826" y="4858117"/>
            <a:ext cx="332489" cy="220488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55010F-9AFB-2CC1-9765-B58E5ACD6EE0}"/>
              </a:ext>
            </a:extLst>
          </p:cNvPr>
          <p:cNvSpPr/>
          <p:nvPr/>
        </p:nvSpPr>
        <p:spPr>
          <a:xfrm>
            <a:off x="9013364" y="3958614"/>
            <a:ext cx="939999" cy="2599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118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0D03E2C-5AEA-96E5-7CFA-F4F8BE70D141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953363" y="4088602"/>
            <a:ext cx="502024" cy="64994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F200C8-E7DD-5954-85DE-7A5F3E263FF2}"/>
              </a:ext>
            </a:extLst>
          </p:cNvPr>
          <p:cNvSpPr/>
          <p:nvPr/>
        </p:nvSpPr>
        <p:spPr>
          <a:xfrm>
            <a:off x="11196194" y="3958614"/>
            <a:ext cx="939999" cy="2599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118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F0346A4-9B69-FF1A-CDB1-E534D8C908F0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11144036" y="4218589"/>
            <a:ext cx="522158" cy="125748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545F956D-93CF-AF2E-0F80-D8AE1CA0F547}"/>
              </a:ext>
            </a:extLst>
          </p:cNvPr>
          <p:cNvSpPr/>
          <p:nvPr/>
        </p:nvSpPr>
        <p:spPr>
          <a:xfrm>
            <a:off x="10235055" y="4694810"/>
            <a:ext cx="251012" cy="899165"/>
          </a:xfrm>
          <a:custGeom>
            <a:avLst/>
            <a:gdLst>
              <a:gd name="connsiteX0" fmla="*/ 779929 w 833718"/>
              <a:gd name="connsiteY0" fmla="*/ 0 h 1021976"/>
              <a:gd name="connsiteX1" fmla="*/ 0 w 833718"/>
              <a:gd name="connsiteY1" fmla="*/ 0 h 1021976"/>
              <a:gd name="connsiteX2" fmla="*/ 0 w 833718"/>
              <a:gd name="connsiteY2" fmla="*/ 1021976 h 1021976"/>
              <a:gd name="connsiteX3" fmla="*/ 833718 w 833718"/>
              <a:gd name="connsiteY3" fmla="*/ 1021976 h 1021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3718" h="1021976">
                <a:moveTo>
                  <a:pt x="779929" y="0"/>
                </a:moveTo>
                <a:lnTo>
                  <a:pt x="0" y="0"/>
                </a:lnTo>
                <a:lnTo>
                  <a:pt x="0" y="1021976"/>
                </a:lnTo>
                <a:lnTo>
                  <a:pt x="833718" y="1021976"/>
                </a:lnTo>
              </a:path>
            </a:pathLst>
          </a:custGeom>
          <a:noFill/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297145F-F239-28DC-5FE6-1BCE6E151CE4}"/>
              </a:ext>
            </a:extLst>
          </p:cNvPr>
          <p:cNvSpPr/>
          <p:nvPr/>
        </p:nvSpPr>
        <p:spPr>
          <a:xfrm>
            <a:off x="9051763" y="4897864"/>
            <a:ext cx="939999" cy="26913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118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3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E49A832-C227-00D7-A879-7C51054C357E}"/>
              </a:ext>
            </a:extLst>
          </p:cNvPr>
          <p:cNvCxnSpPr>
            <a:cxnSpLocks/>
          </p:cNvCxnSpPr>
          <p:nvPr/>
        </p:nvCxnSpPr>
        <p:spPr>
          <a:xfrm>
            <a:off x="9977618" y="5042191"/>
            <a:ext cx="251012" cy="12481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261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직선 연결선 66"/>
          <p:cNvCxnSpPr>
            <a:stCxn id="11" idx="2"/>
          </p:cNvCxnSpPr>
          <p:nvPr/>
        </p:nvCxnSpPr>
        <p:spPr>
          <a:xfrm flipH="1">
            <a:off x="4560948" y="1555642"/>
            <a:ext cx="1" cy="4896916"/>
          </a:xfrm>
          <a:prstGeom prst="line">
            <a:avLst/>
          </a:prstGeom>
          <a:ln w="12700">
            <a:solidFill>
              <a:schemeClr val="tx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28" idx="2"/>
          </p:cNvCxnSpPr>
          <p:nvPr/>
        </p:nvCxnSpPr>
        <p:spPr>
          <a:xfrm>
            <a:off x="1071804" y="1555642"/>
            <a:ext cx="0" cy="4896916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설정등록 및 등록공고의 효과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1071804" y="1430545"/>
            <a:ext cx="10409153" cy="4058"/>
          </a:xfrm>
          <a:prstGeom prst="line">
            <a:avLst/>
          </a:prstGeom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192962" y="1305447"/>
            <a:ext cx="735973" cy="25019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9537941" y="1305447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공고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986908" y="1305447"/>
            <a:ext cx="735973" cy="25019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경고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417460" y="1305447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703817" y="1305447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완성</a:t>
            </a:r>
          </a:p>
        </p:txBody>
      </p:sp>
      <p:cxnSp>
        <p:nvCxnSpPr>
          <p:cNvPr id="29" name="직선 연결선 28"/>
          <p:cNvCxnSpPr/>
          <p:nvPr/>
        </p:nvCxnSpPr>
        <p:spPr>
          <a:xfrm>
            <a:off x="1071804" y="4199609"/>
            <a:ext cx="10409153" cy="4058"/>
          </a:xfrm>
          <a:prstGeom prst="line">
            <a:avLst/>
          </a:prstGeom>
          <a:ln w="5715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stCxn id="17" idx="2"/>
          </p:cNvCxnSpPr>
          <p:nvPr/>
        </p:nvCxnSpPr>
        <p:spPr>
          <a:xfrm flipH="1">
            <a:off x="2785446" y="1555642"/>
            <a:ext cx="1" cy="4896916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stCxn id="16" idx="2"/>
          </p:cNvCxnSpPr>
          <p:nvPr/>
        </p:nvCxnSpPr>
        <p:spPr>
          <a:xfrm>
            <a:off x="6354895" y="1555642"/>
            <a:ext cx="0" cy="4896916"/>
          </a:xfrm>
          <a:prstGeom prst="line">
            <a:avLst/>
          </a:prstGeom>
          <a:ln w="12700">
            <a:solidFill>
              <a:schemeClr val="tx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14" idx="2"/>
          </p:cNvCxnSpPr>
          <p:nvPr/>
        </p:nvCxnSpPr>
        <p:spPr>
          <a:xfrm>
            <a:off x="8144366" y="1555642"/>
            <a:ext cx="0" cy="4896916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stCxn id="15" idx="2"/>
          </p:cNvCxnSpPr>
          <p:nvPr/>
        </p:nvCxnSpPr>
        <p:spPr>
          <a:xfrm flipH="1">
            <a:off x="9905927" y="1555642"/>
            <a:ext cx="1" cy="4896916"/>
          </a:xfrm>
          <a:prstGeom prst="line">
            <a:avLst/>
          </a:prstGeom>
          <a:ln w="12700">
            <a:solidFill>
              <a:schemeClr val="tx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7776379" y="4074511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9537941" y="4074511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공고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2417460" y="4074511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703817" y="4074511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완성</a:t>
            </a:r>
          </a:p>
        </p:txBody>
      </p:sp>
      <p:cxnSp>
        <p:nvCxnSpPr>
          <p:cNvPr id="37" name="직선 연결선 36"/>
          <p:cNvCxnSpPr>
            <a:endCxn id="109" idx="2"/>
          </p:cNvCxnSpPr>
          <p:nvPr/>
        </p:nvCxnSpPr>
        <p:spPr>
          <a:xfrm>
            <a:off x="2785446" y="1732276"/>
            <a:ext cx="5287481" cy="717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4689046" y="1634707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출원인</a:t>
            </a:r>
          </a:p>
        </p:txBody>
      </p:sp>
      <p:cxnSp>
        <p:nvCxnSpPr>
          <p:cNvPr id="46" name="직선 연결선 45"/>
          <p:cNvCxnSpPr>
            <a:stCxn id="109" idx="6"/>
          </p:cNvCxnSpPr>
          <p:nvPr/>
        </p:nvCxnSpPr>
        <p:spPr>
          <a:xfrm flipV="1">
            <a:off x="8215803" y="1732276"/>
            <a:ext cx="3474848" cy="717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9417092" y="1634707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특허권자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9" name="직선 연결선 48"/>
          <p:cNvCxnSpPr>
            <a:endCxn id="110" idx="2"/>
          </p:cNvCxnSpPr>
          <p:nvPr/>
        </p:nvCxnSpPr>
        <p:spPr>
          <a:xfrm flipV="1">
            <a:off x="2785446" y="2002372"/>
            <a:ext cx="5287481" cy="1117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4689046" y="1903832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출원발명</a:t>
            </a:r>
          </a:p>
        </p:txBody>
      </p:sp>
      <p:cxnSp>
        <p:nvCxnSpPr>
          <p:cNvPr id="53" name="직선 연결선 52"/>
          <p:cNvCxnSpPr/>
          <p:nvPr/>
        </p:nvCxnSpPr>
        <p:spPr>
          <a:xfrm>
            <a:off x="8215803" y="2004785"/>
            <a:ext cx="347484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9417092" y="1907215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특허발명</a:t>
            </a:r>
          </a:p>
        </p:txBody>
      </p:sp>
      <p:cxnSp>
        <p:nvCxnSpPr>
          <p:cNvPr id="55" name="직선 연결선 54"/>
          <p:cNvCxnSpPr>
            <a:endCxn id="111" idx="2"/>
          </p:cNvCxnSpPr>
          <p:nvPr/>
        </p:nvCxnSpPr>
        <p:spPr>
          <a:xfrm>
            <a:off x="1071804" y="2257070"/>
            <a:ext cx="700112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4127158" y="2159501"/>
            <a:ext cx="1859750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특허를 받을 수 있는 권리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7" name="직선 연결선 56"/>
          <p:cNvCxnSpPr>
            <a:stCxn id="111" idx="6"/>
          </p:cNvCxnSpPr>
          <p:nvPr/>
        </p:nvCxnSpPr>
        <p:spPr>
          <a:xfrm>
            <a:off x="8215803" y="2257070"/>
            <a:ext cx="3474848" cy="338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9417092" y="2162884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</a:t>
            </a:r>
          </a:p>
        </p:txBody>
      </p:sp>
      <p:cxnSp>
        <p:nvCxnSpPr>
          <p:cNvPr id="60" name="직선 연결선 59"/>
          <p:cNvCxnSpPr/>
          <p:nvPr/>
        </p:nvCxnSpPr>
        <p:spPr>
          <a:xfrm>
            <a:off x="8121203" y="2536309"/>
            <a:ext cx="356944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9097690" y="2438739"/>
            <a:ext cx="1374778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보상금청구권 행사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6354894" y="2536309"/>
            <a:ext cx="175579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6545402" y="2432062"/>
            <a:ext cx="1374778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보상금청구권 성립</a:t>
            </a:r>
          </a:p>
        </p:txBody>
      </p:sp>
      <p:cxnSp>
        <p:nvCxnSpPr>
          <p:cNvPr id="65" name="직선 연결선 64"/>
          <p:cNvCxnSpPr/>
          <p:nvPr/>
        </p:nvCxnSpPr>
        <p:spPr>
          <a:xfrm>
            <a:off x="8121203" y="2798705"/>
            <a:ext cx="356944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9073424" y="2701136"/>
            <a:ext cx="1690778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특허증 발급</a:t>
            </a:r>
          </a:p>
        </p:txBody>
      </p:sp>
      <p:cxnSp>
        <p:nvCxnSpPr>
          <p:cNvPr id="69" name="직선 연결선 68"/>
          <p:cNvCxnSpPr/>
          <p:nvPr/>
        </p:nvCxnSpPr>
        <p:spPr>
          <a:xfrm>
            <a:off x="4549867" y="3017515"/>
            <a:ext cx="7140784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5319320" y="2881845"/>
            <a:ext cx="2457059" cy="283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C0C0C0"/>
                </a:highlight>
              </a:rPr>
              <a:t>공지기술의 지위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C0C0C0"/>
                </a:highlight>
              </a:rPr>
              <a:t>/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C0C0C0"/>
                </a:highlight>
              </a:rPr>
              <a:t>미생물시료의 분양</a:t>
            </a:r>
          </a:p>
        </p:txBody>
      </p:sp>
      <p:cxnSp>
        <p:nvCxnSpPr>
          <p:cNvPr id="74" name="직선 연결선 73"/>
          <p:cNvCxnSpPr/>
          <p:nvPr/>
        </p:nvCxnSpPr>
        <p:spPr>
          <a:xfrm>
            <a:off x="2811779" y="3282757"/>
            <a:ext cx="174916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2969210" y="3194864"/>
            <a:ext cx="14992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00FFFF"/>
                </a:highlight>
              </a:rPr>
              <a:t>확대된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00FFFF"/>
                </a:highlight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00FFFF"/>
                </a:highlight>
              </a:rPr>
              <a:t> 지위</a:t>
            </a:r>
          </a:p>
        </p:txBody>
      </p:sp>
      <p:cxnSp>
        <p:nvCxnSpPr>
          <p:cNvPr id="83" name="직선 연결선 82"/>
          <p:cNvCxnSpPr>
            <a:endCxn id="112" idx="2"/>
          </p:cNvCxnSpPr>
          <p:nvPr/>
        </p:nvCxnSpPr>
        <p:spPr>
          <a:xfrm>
            <a:off x="2785446" y="4535851"/>
            <a:ext cx="528748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4689046" y="4438282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출원인</a:t>
            </a:r>
          </a:p>
        </p:txBody>
      </p:sp>
      <p:cxnSp>
        <p:nvCxnSpPr>
          <p:cNvPr id="85" name="직선 연결선 84"/>
          <p:cNvCxnSpPr>
            <a:stCxn id="112" idx="6"/>
          </p:cNvCxnSpPr>
          <p:nvPr/>
        </p:nvCxnSpPr>
        <p:spPr>
          <a:xfrm>
            <a:off x="8215803" y="4535851"/>
            <a:ext cx="347484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/>
          <p:cNvSpPr/>
          <p:nvPr/>
        </p:nvSpPr>
        <p:spPr>
          <a:xfrm>
            <a:off x="9417092" y="4438282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특허권자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/>
          <p:cNvCxnSpPr>
            <a:endCxn id="113" idx="2"/>
          </p:cNvCxnSpPr>
          <p:nvPr/>
        </p:nvCxnSpPr>
        <p:spPr>
          <a:xfrm flipV="1">
            <a:off x="2785446" y="4787321"/>
            <a:ext cx="5287481" cy="1765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4689046" y="4707407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출원발명</a:t>
            </a:r>
          </a:p>
        </p:txBody>
      </p:sp>
      <p:cxnSp>
        <p:nvCxnSpPr>
          <p:cNvPr id="89" name="직선 연결선 88"/>
          <p:cNvCxnSpPr>
            <a:stCxn id="113" idx="6"/>
          </p:cNvCxnSpPr>
          <p:nvPr/>
        </p:nvCxnSpPr>
        <p:spPr>
          <a:xfrm>
            <a:off x="8215803" y="4787321"/>
            <a:ext cx="3474848" cy="2103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9417092" y="4710790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특허발명</a:t>
            </a:r>
          </a:p>
        </p:txBody>
      </p:sp>
      <p:cxnSp>
        <p:nvCxnSpPr>
          <p:cNvPr id="91" name="직선 연결선 90"/>
          <p:cNvCxnSpPr>
            <a:endCxn id="114" idx="2"/>
          </p:cNvCxnSpPr>
          <p:nvPr/>
        </p:nvCxnSpPr>
        <p:spPr>
          <a:xfrm>
            <a:off x="1071804" y="5060645"/>
            <a:ext cx="700112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4127158" y="4963076"/>
            <a:ext cx="1859750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특허를 받을 수 있는 권리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3" name="직선 연결선 92"/>
          <p:cNvCxnSpPr>
            <a:stCxn id="114" idx="6"/>
          </p:cNvCxnSpPr>
          <p:nvPr/>
        </p:nvCxnSpPr>
        <p:spPr>
          <a:xfrm>
            <a:off x="8215803" y="5060645"/>
            <a:ext cx="3474848" cy="338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/>
          <p:cNvSpPr/>
          <p:nvPr/>
        </p:nvSpPr>
        <p:spPr>
          <a:xfrm>
            <a:off x="9417092" y="4966459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</a:t>
            </a:r>
          </a:p>
        </p:txBody>
      </p:sp>
      <p:cxnSp>
        <p:nvCxnSpPr>
          <p:cNvPr id="99" name="직선 연결선 98"/>
          <p:cNvCxnSpPr/>
          <p:nvPr/>
        </p:nvCxnSpPr>
        <p:spPr>
          <a:xfrm>
            <a:off x="8121203" y="5334874"/>
            <a:ext cx="356944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8964739" y="5237305"/>
            <a:ext cx="1690778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특허증 발급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8144365" y="5683074"/>
            <a:ext cx="354628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8688284" y="5523963"/>
            <a:ext cx="2417866" cy="283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C0C0C0"/>
                </a:highlight>
              </a:rPr>
              <a:t>공지기술의 지위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C0C0C0"/>
                </a:highlight>
              </a:rPr>
              <a:t>/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C0C0C0"/>
                </a:highlight>
              </a:rPr>
              <a:t>미생물시료의 분양</a:t>
            </a:r>
          </a:p>
        </p:txBody>
      </p:sp>
      <p:cxnSp>
        <p:nvCxnSpPr>
          <p:cNvPr id="106" name="직선 연결선 105"/>
          <p:cNvCxnSpPr/>
          <p:nvPr/>
        </p:nvCxnSpPr>
        <p:spPr>
          <a:xfrm>
            <a:off x="2811779" y="5994585"/>
            <a:ext cx="710572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4823971" y="5893178"/>
            <a:ext cx="14992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00FFFF"/>
                </a:highlight>
              </a:rPr>
              <a:t>확대된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00FFFF"/>
                </a:highlight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00FFFF"/>
                </a:highlight>
              </a:rPr>
              <a:t> 지위</a:t>
            </a:r>
          </a:p>
        </p:txBody>
      </p:sp>
      <p:sp>
        <p:nvSpPr>
          <p:cNvPr id="109" name="Rectangle 14"/>
          <p:cNvSpPr>
            <a:spLocks noChangeArrowheads="1"/>
          </p:cNvSpPr>
          <p:nvPr/>
        </p:nvSpPr>
        <p:spPr bwMode="auto">
          <a:xfrm flipV="1">
            <a:off x="8072927" y="166291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0" name="Rectangle 14"/>
          <p:cNvSpPr>
            <a:spLocks noChangeArrowheads="1"/>
          </p:cNvSpPr>
          <p:nvPr/>
        </p:nvSpPr>
        <p:spPr bwMode="auto">
          <a:xfrm flipV="1">
            <a:off x="8072927" y="1925841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1" name="Rectangle 14"/>
          <p:cNvSpPr>
            <a:spLocks noChangeArrowheads="1"/>
          </p:cNvSpPr>
          <p:nvPr/>
        </p:nvSpPr>
        <p:spPr bwMode="auto">
          <a:xfrm flipV="1">
            <a:off x="8072927" y="218053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2" name="Rectangle 14"/>
          <p:cNvSpPr>
            <a:spLocks noChangeArrowheads="1"/>
          </p:cNvSpPr>
          <p:nvPr/>
        </p:nvSpPr>
        <p:spPr bwMode="auto">
          <a:xfrm flipV="1">
            <a:off x="8072927" y="44593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 flipV="1">
            <a:off x="8072927" y="471079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4" name="Rectangle 14"/>
          <p:cNvSpPr>
            <a:spLocks noChangeArrowheads="1"/>
          </p:cNvSpPr>
          <p:nvPr/>
        </p:nvSpPr>
        <p:spPr bwMode="auto">
          <a:xfrm flipV="1">
            <a:off x="8072927" y="498411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2" name="직선 연결선 131"/>
          <p:cNvCxnSpPr/>
          <p:nvPr/>
        </p:nvCxnSpPr>
        <p:spPr>
          <a:xfrm flipH="1">
            <a:off x="336431" y="3796144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7776379" y="1305447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5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양쪽 모서리가 둥근 사각형 50"/>
          <p:cNvSpPr/>
          <p:nvPr/>
        </p:nvSpPr>
        <p:spPr>
          <a:xfrm>
            <a:off x="8338905" y="2654946"/>
            <a:ext cx="2786785" cy="1154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34"/>
          <p:cNvSpPr/>
          <p:nvPr/>
        </p:nvSpPr>
        <p:spPr>
          <a:xfrm>
            <a:off x="7400926" y="3493835"/>
            <a:ext cx="3924300" cy="311982"/>
          </a:xfrm>
          <a:custGeom>
            <a:avLst/>
            <a:gdLst>
              <a:gd name="connsiteX0" fmla="*/ 0 w 2952328"/>
              <a:gd name="connsiteY0" fmla="*/ 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0 w 2952328"/>
              <a:gd name="connsiteY4" fmla="*/ 0 h 864096"/>
              <a:gd name="connsiteX0" fmla="*/ 1054100 w 2952328"/>
              <a:gd name="connsiteY0" fmla="*/ 27940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1054100 w 2952328"/>
              <a:gd name="connsiteY4" fmla="*/ 279400 h 864096"/>
              <a:gd name="connsiteX0" fmla="*/ 1054100 w 2952328"/>
              <a:gd name="connsiteY0" fmla="*/ 27940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1054100 w 2952328"/>
              <a:gd name="connsiteY4" fmla="*/ 279400 h 864096"/>
              <a:gd name="connsiteX0" fmla="*/ 1054100 w 2952328"/>
              <a:gd name="connsiteY0" fmla="*/ 279400 h 864096"/>
              <a:gd name="connsiteX1" fmla="*/ 1920328 w 2952328"/>
              <a:gd name="connsiteY1" fmla="*/ 151024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054100 w 2952328"/>
              <a:gd name="connsiteY5" fmla="*/ 279400 h 864096"/>
              <a:gd name="connsiteX0" fmla="*/ 1391070 w 2952328"/>
              <a:gd name="connsiteY0" fmla="*/ 214779 h 864096"/>
              <a:gd name="connsiteX1" fmla="*/ 1920328 w 2952328"/>
              <a:gd name="connsiteY1" fmla="*/ 151024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391070 w 2952328"/>
              <a:gd name="connsiteY5" fmla="*/ 214779 h 864096"/>
              <a:gd name="connsiteX0" fmla="*/ 1391070 w 2952328"/>
              <a:gd name="connsiteY0" fmla="*/ 214779 h 864096"/>
              <a:gd name="connsiteX1" fmla="*/ 1794944 w 2952328"/>
              <a:gd name="connsiteY1" fmla="*/ 612606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391070 w 2952328"/>
              <a:gd name="connsiteY5" fmla="*/ 214779 h 864096"/>
              <a:gd name="connsiteX0" fmla="*/ 1391070 w 2983674"/>
              <a:gd name="connsiteY0" fmla="*/ 0 h 649317"/>
              <a:gd name="connsiteX1" fmla="*/ 1794944 w 2983674"/>
              <a:gd name="connsiteY1" fmla="*/ 397827 h 649317"/>
              <a:gd name="connsiteX2" fmla="*/ 2983674 w 2983674"/>
              <a:gd name="connsiteY2" fmla="*/ 551447 h 649317"/>
              <a:gd name="connsiteX3" fmla="*/ 2952328 w 2983674"/>
              <a:gd name="connsiteY3" fmla="*/ 649317 h 649317"/>
              <a:gd name="connsiteX4" fmla="*/ 0 w 2983674"/>
              <a:gd name="connsiteY4" fmla="*/ 649317 h 649317"/>
              <a:gd name="connsiteX5" fmla="*/ 1391070 w 2983674"/>
              <a:gd name="connsiteY5" fmla="*/ 0 h 649317"/>
              <a:gd name="connsiteX0" fmla="*/ 850351 w 2983674"/>
              <a:gd name="connsiteY0" fmla="*/ 0 h 473916"/>
              <a:gd name="connsiteX1" fmla="*/ 1794944 w 2983674"/>
              <a:gd name="connsiteY1" fmla="*/ 222426 h 473916"/>
              <a:gd name="connsiteX2" fmla="*/ 2983674 w 2983674"/>
              <a:gd name="connsiteY2" fmla="*/ 376046 h 473916"/>
              <a:gd name="connsiteX3" fmla="*/ 2952328 w 2983674"/>
              <a:gd name="connsiteY3" fmla="*/ 473916 h 473916"/>
              <a:gd name="connsiteX4" fmla="*/ 0 w 2983674"/>
              <a:gd name="connsiteY4" fmla="*/ 473916 h 473916"/>
              <a:gd name="connsiteX5" fmla="*/ 850351 w 2983674"/>
              <a:gd name="connsiteY5" fmla="*/ 0 h 473916"/>
              <a:gd name="connsiteX0" fmla="*/ 850351 w 2983674"/>
              <a:gd name="connsiteY0" fmla="*/ 0 h 473916"/>
              <a:gd name="connsiteX1" fmla="*/ 1794944 w 2983674"/>
              <a:gd name="connsiteY1" fmla="*/ 222426 h 473916"/>
              <a:gd name="connsiteX2" fmla="*/ 2116241 w 2983674"/>
              <a:gd name="connsiteY2" fmla="*/ 345935 h 473916"/>
              <a:gd name="connsiteX3" fmla="*/ 2983674 w 2983674"/>
              <a:gd name="connsiteY3" fmla="*/ 376046 h 473916"/>
              <a:gd name="connsiteX4" fmla="*/ 2952328 w 2983674"/>
              <a:gd name="connsiteY4" fmla="*/ 473916 h 473916"/>
              <a:gd name="connsiteX5" fmla="*/ 0 w 2983674"/>
              <a:gd name="connsiteY5" fmla="*/ 473916 h 473916"/>
              <a:gd name="connsiteX6" fmla="*/ 850351 w 2983674"/>
              <a:gd name="connsiteY6" fmla="*/ 0 h 473916"/>
              <a:gd name="connsiteX0" fmla="*/ 647414 w 2983674"/>
              <a:gd name="connsiteY0" fmla="*/ 0 h 464684"/>
              <a:gd name="connsiteX1" fmla="*/ 1794944 w 2983674"/>
              <a:gd name="connsiteY1" fmla="*/ 213194 h 464684"/>
              <a:gd name="connsiteX2" fmla="*/ 2116241 w 2983674"/>
              <a:gd name="connsiteY2" fmla="*/ 336703 h 464684"/>
              <a:gd name="connsiteX3" fmla="*/ 2983674 w 2983674"/>
              <a:gd name="connsiteY3" fmla="*/ 366814 h 464684"/>
              <a:gd name="connsiteX4" fmla="*/ 2952328 w 2983674"/>
              <a:gd name="connsiteY4" fmla="*/ 464684 h 464684"/>
              <a:gd name="connsiteX5" fmla="*/ 0 w 2983674"/>
              <a:gd name="connsiteY5" fmla="*/ 464684 h 464684"/>
              <a:gd name="connsiteX6" fmla="*/ 647414 w 2983674"/>
              <a:gd name="connsiteY6" fmla="*/ 0 h 464684"/>
              <a:gd name="connsiteX0" fmla="*/ 623539 w 2983674"/>
              <a:gd name="connsiteY0" fmla="*/ 0 h 464684"/>
              <a:gd name="connsiteX1" fmla="*/ 1794944 w 2983674"/>
              <a:gd name="connsiteY1" fmla="*/ 213194 h 464684"/>
              <a:gd name="connsiteX2" fmla="*/ 2116241 w 2983674"/>
              <a:gd name="connsiteY2" fmla="*/ 336703 h 464684"/>
              <a:gd name="connsiteX3" fmla="*/ 2983674 w 2983674"/>
              <a:gd name="connsiteY3" fmla="*/ 366814 h 464684"/>
              <a:gd name="connsiteX4" fmla="*/ 2952328 w 2983674"/>
              <a:gd name="connsiteY4" fmla="*/ 464684 h 464684"/>
              <a:gd name="connsiteX5" fmla="*/ 0 w 2983674"/>
              <a:gd name="connsiteY5" fmla="*/ 464684 h 464684"/>
              <a:gd name="connsiteX6" fmla="*/ 623539 w 2983674"/>
              <a:gd name="connsiteY6" fmla="*/ 0 h 464684"/>
              <a:gd name="connsiteX0" fmla="*/ 671289 w 2983674"/>
              <a:gd name="connsiteY0" fmla="*/ 0 h 261588"/>
              <a:gd name="connsiteX1" fmla="*/ 1794944 w 2983674"/>
              <a:gd name="connsiteY1" fmla="*/ 10098 h 261588"/>
              <a:gd name="connsiteX2" fmla="*/ 2116241 w 2983674"/>
              <a:gd name="connsiteY2" fmla="*/ 133607 h 261588"/>
              <a:gd name="connsiteX3" fmla="*/ 2983674 w 2983674"/>
              <a:gd name="connsiteY3" fmla="*/ 163718 h 261588"/>
              <a:gd name="connsiteX4" fmla="*/ 2952328 w 2983674"/>
              <a:gd name="connsiteY4" fmla="*/ 261588 h 261588"/>
              <a:gd name="connsiteX5" fmla="*/ 0 w 2983674"/>
              <a:gd name="connsiteY5" fmla="*/ 261588 h 261588"/>
              <a:gd name="connsiteX6" fmla="*/ 671289 w 2983674"/>
              <a:gd name="connsiteY6" fmla="*/ 0 h 261588"/>
              <a:gd name="connsiteX0" fmla="*/ 671289 w 2983674"/>
              <a:gd name="connsiteY0" fmla="*/ 0 h 261588"/>
              <a:gd name="connsiteX1" fmla="*/ 1806882 w 2983674"/>
              <a:gd name="connsiteY1" fmla="*/ 139341 h 261588"/>
              <a:gd name="connsiteX2" fmla="*/ 2116241 w 2983674"/>
              <a:gd name="connsiteY2" fmla="*/ 133607 h 261588"/>
              <a:gd name="connsiteX3" fmla="*/ 2983674 w 2983674"/>
              <a:gd name="connsiteY3" fmla="*/ 163718 h 261588"/>
              <a:gd name="connsiteX4" fmla="*/ 2952328 w 2983674"/>
              <a:gd name="connsiteY4" fmla="*/ 261588 h 261588"/>
              <a:gd name="connsiteX5" fmla="*/ 0 w 2983674"/>
              <a:gd name="connsiteY5" fmla="*/ 261588 h 261588"/>
              <a:gd name="connsiteX6" fmla="*/ 671289 w 2983674"/>
              <a:gd name="connsiteY6" fmla="*/ 0 h 261588"/>
              <a:gd name="connsiteX0" fmla="*/ 671289 w 2983674"/>
              <a:gd name="connsiteY0" fmla="*/ 0 h 261588"/>
              <a:gd name="connsiteX1" fmla="*/ 1806882 w 2983674"/>
              <a:gd name="connsiteY1" fmla="*/ 139341 h 261588"/>
              <a:gd name="connsiteX2" fmla="*/ 2128179 w 2983674"/>
              <a:gd name="connsiteY2" fmla="*/ 188997 h 261588"/>
              <a:gd name="connsiteX3" fmla="*/ 2983674 w 2983674"/>
              <a:gd name="connsiteY3" fmla="*/ 163718 h 261588"/>
              <a:gd name="connsiteX4" fmla="*/ 2952328 w 2983674"/>
              <a:gd name="connsiteY4" fmla="*/ 261588 h 261588"/>
              <a:gd name="connsiteX5" fmla="*/ 0 w 2983674"/>
              <a:gd name="connsiteY5" fmla="*/ 261588 h 261588"/>
              <a:gd name="connsiteX6" fmla="*/ 671289 w 2983674"/>
              <a:gd name="connsiteY6" fmla="*/ 0 h 26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83674" h="261588">
                <a:moveTo>
                  <a:pt x="671289" y="0"/>
                </a:moveTo>
                <a:lnTo>
                  <a:pt x="1806882" y="139341"/>
                </a:lnTo>
                <a:cubicBezTo>
                  <a:pt x="1814719" y="143584"/>
                  <a:pt x="2120342" y="184754"/>
                  <a:pt x="2128179" y="188997"/>
                </a:cubicBezTo>
                <a:lnTo>
                  <a:pt x="2983674" y="163718"/>
                </a:lnTo>
                <a:lnTo>
                  <a:pt x="2952328" y="261588"/>
                </a:lnTo>
                <a:lnTo>
                  <a:pt x="0" y="261588"/>
                </a:lnTo>
                <a:lnTo>
                  <a:pt x="671289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존속기간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8422" y="2178696"/>
            <a:ext cx="5472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설정등록한</a:t>
            </a:r>
            <a:r>
              <a:rPr lang="ko-KR" altLang="en-US" sz="2400" dirty="0"/>
              <a:t> 날로부터 </a:t>
            </a:r>
            <a:r>
              <a:rPr lang="ko-KR" altLang="en-US" sz="2400" dirty="0" err="1"/>
              <a:t>특허출원일후</a:t>
            </a:r>
            <a:r>
              <a:rPr lang="ko-KR" altLang="en-US" sz="2400" dirty="0"/>
              <a:t> </a:t>
            </a:r>
            <a:r>
              <a:rPr lang="en-US" altLang="ko-KR" sz="2400" dirty="0"/>
              <a:t>20</a:t>
            </a:r>
            <a:r>
              <a:rPr lang="ko-KR" altLang="en-US" sz="2400" dirty="0"/>
              <a:t>년</a:t>
            </a:r>
          </a:p>
        </p:txBody>
      </p:sp>
      <p:cxnSp>
        <p:nvCxnSpPr>
          <p:cNvPr id="77" name="직선 연결선 76"/>
          <p:cNvCxnSpPr/>
          <p:nvPr/>
        </p:nvCxnSpPr>
        <p:spPr>
          <a:xfrm>
            <a:off x="3064573" y="2694034"/>
            <a:ext cx="1350264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857250" y="3964444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소급제도</a:t>
            </a:r>
            <a:endParaRPr lang="en-US" altLang="ko-KR" sz="1050" dirty="0"/>
          </a:p>
          <a:p>
            <a:pPr algn="ctr"/>
            <a:r>
              <a:rPr lang="en-US" altLang="ko-KR" sz="1050" dirty="0"/>
              <a:t>(7</a:t>
            </a:r>
            <a:r>
              <a:rPr lang="ko-KR" altLang="en-US" sz="1050" dirty="0"/>
              <a:t>가지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79" name="직사각형 78"/>
          <p:cNvSpPr/>
          <p:nvPr/>
        </p:nvSpPr>
        <p:spPr>
          <a:xfrm>
            <a:off x="857250" y="6226295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PCT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2002922" y="3506510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34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35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002922" y="4244801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2002922" y="4616126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2002922" y="3873475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2002922" y="499640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54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 err="1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공</a:t>
            </a:r>
            <a:r>
              <a:rPr lang="ko-KR" altLang="en-US" sz="1050" dirty="0" err="1">
                <a:solidFill>
                  <a:srgbClr val="FF0000"/>
                </a:solidFill>
              </a:rPr>
              <a:t>존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재등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2002922" y="5367734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55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56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공</a:t>
            </a:r>
            <a:r>
              <a:rPr lang="ko-KR" altLang="en-US" sz="1050" dirty="0">
                <a:solidFill>
                  <a:srgbClr val="FF0000"/>
                </a:solidFill>
              </a:rPr>
              <a:t>존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재등이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8" name="꺾인 연결선 107"/>
          <p:cNvCxnSpPr>
            <a:stCxn id="78" idx="3"/>
            <a:endCxn id="81" idx="1"/>
          </p:cNvCxnSpPr>
          <p:nvPr/>
        </p:nvCxnSpPr>
        <p:spPr>
          <a:xfrm flipV="1">
            <a:off x="1652778" y="3672886"/>
            <a:ext cx="350144" cy="4843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114"/>
          <p:cNvCxnSpPr>
            <a:cxnSpLocks/>
            <a:stCxn id="78" idx="3"/>
            <a:endCxn id="98" idx="1"/>
          </p:cNvCxnSpPr>
          <p:nvPr/>
        </p:nvCxnSpPr>
        <p:spPr>
          <a:xfrm>
            <a:off x="1652778" y="4157258"/>
            <a:ext cx="350144" cy="137685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78" idx="3"/>
            <a:endCxn id="96" idx="1"/>
          </p:cNvCxnSpPr>
          <p:nvPr/>
        </p:nvCxnSpPr>
        <p:spPr>
          <a:xfrm flipV="1">
            <a:off x="1652778" y="4039851"/>
            <a:ext cx="350144" cy="1174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cxnSpLocks/>
            <a:stCxn id="78" idx="3"/>
            <a:endCxn id="97" idx="1"/>
          </p:cNvCxnSpPr>
          <p:nvPr/>
        </p:nvCxnSpPr>
        <p:spPr>
          <a:xfrm>
            <a:off x="1652778" y="4157258"/>
            <a:ext cx="350144" cy="10055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7"/>
          <p:cNvCxnSpPr>
            <a:stCxn id="78" idx="3"/>
            <a:endCxn id="82" idx="1"/>
          </p:cNvCxnSpPr>
          <p:nvPr/>
        </p:nvCxnSpPr>
        <p:spPr>
          <a:xfrm>
            <a:off x="1652778" y="4157258"/>
            <a:ext cx="350144" cy="2539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stCxn id="78" idx="3"/>
            <a:endCxn id="95" idx="1"/>
          </p:cNvCxnSpPr>
          <p:nvPr/>
        </p:nvCxnSpPr>
        <p:spPr>
          <a:xfrm>
            <a:off x="1652778" y="4157258"/>
            <a:ext cx="350144" cy="6252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78" idx="1"/>
            <a:endCxn id="79" idx="1"/>
          </p:cNvCxnSpPr>
          <p:nvPr/>
        </p:nvCxnSpPr>
        <p:spPr>
          <a:xfrm rot="10800000" flipV="1">
            <a:off x="857250" y="4157257"/>
            <a:ext cx="12700" cy="2261851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>
            <a:off x="4812504" y="2694034"/>
            <a:ext cx="67865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3924300" y="3820599"/>
            <a:ext cx="1566861" cy="385628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존속기간 만료일이 </a:t>
            </a:r>
            <a:endParaRPr lang="en-US" altLang="ko-KR" sz="1050" dirty="0"/>
          </a:p>
          <a:p>
            <a:pPr algn="ctr"/>
            <a:r>
              <a:rPr lang="ko-KR" altLang="en-US" sz="1050" dirty="0"/>
              <a:t>공휴일인 경우</a:t>
            </a:r>
            <a:r>
              <a:rPr lang="en-US" altLang="ko-KR" sz="1050" dirty="0"/>
              <a:t>(</a:t>
            </a:r>
            <a:r>
              <a:rPr lang="ko-KR" altLang="en-US" sz="1050" dirty="0"/>
              <a:t>法 </a:t>
            </a:r>
            <a:r>
              <a:rPr lang="en-US" altLang="ko-KR" sz="1050" dirty="0"/>
              <a:t>14Ⅳ)</a:t>
            </a:r>
            <a:endParaRPr lang="ko-KR" altLang="en-US" sz="1050" dirty="0"/>
          </a:p>
        </p:txBody>
      </p:sp>
      <p:cxnSp>
        <p:nvCxnSpPr>
          <p:cNvPr id="125" name="꺾인 연결선 124"/>
          <p:cNvCxnSpPr>
            <a:stCxn id="124" idx="1"/>
            <a:endCxn id="128" idx="1"/>
          </p:cNvCxnSpPr>
          <p:nvPr/>
        </p:nvCxnSpPr>
        <p:spPr>
          <a:xfrm rot="10800000" flipV="1">
            <a:off x="3924300" y="4013412"/>
            <a:ext cx="12700" cy="529473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/>
          <p:nvPr/>
        </p:nvCxnSpPr>
        <p:spPr>
          <a:xfrm>
            <a:off x="0" y="150108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88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특허권의 존속기간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특허권의 존속기간은 제</a:t>
            </a:r>
            <a:r>
              <a:rPr lang="en-US" altLang="ko-KR" sz="1400" dirty="0">
                <a:solidFill>
                  <a:schemeClr val="tx2"/>
                </a:solidFill>
              </a:rPr>
              <a:t>87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특허권을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설정등록한</a:t>
            </a:r>
            <a:r>
              <a:rPr lang="ko-KR" altLang="en-US" sz="1400" dirty="0">
                <a:solidFill>
                  <a:schemeClr val="tx2"/>
                </a:solidFill>
              </a:rPr>
              <a:t> 날부터 특허출원일 후 </a:t>
            </a:r>
            <a:r>
              <a:rPr lang="en-US" altLang="ko-KR" sz="1400" dirty="0">
                <a:solidFill>
                  <a:schemeClr val="tx2"/>
                </a:solidFill>
              </a:rPr>
              <a:t>20</a:t>
            </a:r>
            <a:r>
              <a:rPr lang="ko-KR" altLang="en-US" sz="1400" dirty="0">
                <a:solidFill>
                  <a:schemeClr val="tx2"/>
                </a:solidFill>
              </a:rPr>
              <a:t>년이 되는 날까지로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권리자의 특허출원이 제</a:t>
            </a:r>
            <a:r>
              <a:rPr lang="en-US" altLang="ko-KR" sz="1400" dirty="0">
                <a:solidFill>
                  <a:schemeClr val="tx2"/>
                </a:solidFill>
              </a:rPr>
              <a:t>34</a:t>
            </a:r>
            <a:r>
              <a:rPr lang="ko-KR" altLang="en-US" sz="1400" dirty="0">
                <a:solidFill>
                  <a:schemeClr val="tx2"/>
                </a:solidFill>
              </a:rPr>
              <a:t>조 또는 제</a:t>
            </a:r>
            <a:r>
              <a:rPr lang="en-US" altLang="ko-KR" sz="1400" dirty="0">
                <a:solidFill>
                  <a:schemeClr val="tx2"/>
                </a:solidFill>
              </a:rPr>
              <a:t>35</a:t>
            </a:r>
            <a:r>
              <a:rPr lang="ko-KR" altLang="en-US" sz="1400" dirty="0">
                <a:solidFill>
                  <a:schemeClr val="tx2"/>
                </a:solidFill>
              </a:rPr>
              <a:t>조에 따라 특허된 경우에는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특허권의 존속기간은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특허출원일의</a:t>
            </a:r>
            <a:r>
              <a:rPr lang="ko-KR" altLang="en-US" sz="1400" dirty="0">
                <a:solidFill>
                  <a:schemeClr val="tx2"/>
                </a:solidFill>
              </a:rPr>
              <a:t> 다음 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3924300" y="4350072"/>
            <a:ext cx="1566861" cy="385628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연장가능</a:t>
            </a:r>
            <a:r>
              <a:rPr lang="en-US" altLang="ko-KR" sz="1050" dirty="0"/>
              <a:t>(</a:t>
            </a:r>
            <a:r>
              <a:rPr lang="ko-KR" altLang="en-US" sz="1050" dirty="0"/>
              <a:t>法 </a:t>
            </a:r>
            <a:r>
              <a:rPr lang="en-US" altLang="ko-KR" sz="1050" dirty="0"/>
              <a:t>89~95)</a:t>
            </a:r>
            <a:endParaRPr lang="ko-KR" altLang="en-US" sz="1050" dirty="0"/>
          </a:p>
        </p:txBody>
      </p:sp>
      <p:sp>
        <p:nvSpPr>
          <p:cNvPr id="25" name="자유형 24"/>
          <p:cNvSpPr/>
          <p:nvPr/>
        </p:nvSpPr>
        <p:spPr>
          <a:xfrm>
            <a:off x="438150" y="2695575"/>
            <a:ext cx="3343275" cy="2276475"/>
          </a:xfrm>
          <a:custGeom>
            <a:avLst/>
            <a:gdLst>
              <a:gd name="connsiteX0" fmla="*/ 209550 w 3343275"/>
              <a:gd name="connsiteY0" fmla="*/ 2276475 h 2276475"/>
              <a:gd name="connsiteX1" fmla="*/ 209550 w 3343275"/>
              <a:gd name="connsiteY1" fmla="*/ 2276475 h 2276475"/>
              <a:gd name="connsiteX2" fmla="*/ 123825 w 3343275"/>
              <a:gd name="connsiteY2" fmla="*/ 2276475 h 2276475"/>
              <a:gd name="connsiteX3" fmla="*/ 0 w 3343275"/>
              <a:gd name="connsiteY3" fmla="*/ 2276475 h 2276475"/>
              <a:gd name="connsiteX4" fmla="*/ 0 w 3343275"/>
              <a:gd name="connsiteY4" fmla="*/ 523875 h 2276475"/>
              <a:gd name="connsiteX5" fmla="*/ 133350 w 3343275"/>
              <a:gd name="connsiteY5" fmla="*/ 523875 h 2276475"/>
              <a:gd name="connsiteX6" fmla="*/ 3343275 w 3343275"/>
              <a:gd name="connsiteY6" fmla="*/ 523875 h 2276475"/>
              <a:gd name="connsiteX7" fmla="*/ 3343275 w 3343275"/>
              <a:gd name="connsiteY7" fmla="*/ 0 h 227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3275" h="2276475">
                <a:moveTo>
                  <a:pt x="209550" y="2276475"/>
                </a:moveTo>
                <a:lnTo>
                  <a:pt x="209550" y="2276475"/>
                </a:lnTo>
                <a:lnTo>
                  <a:pt x="123825" y="2276475"/>
                </a:lnTo>
                <a:lnTo>
                  <a:pt x="0" y="2276475"/>
                </a:lnTo>
                <a:lnTo>
                  <a:pt x="0" y="523875"/>
                </a:lnTo>
                <a:lnTo>
                  <a:pt x="133350" y="523875"/>
                </a:lnTo>
                <a:lnTo>
                  <a:pt x="3343275" y="523875"/>
                </a:lnTo>
                <a:lnTo>
                  <a:pt x="3343275" y="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 25"/>
          <p:cNvSpPr/>
          <p:nvPr/>
        </p:nvSpPr>
        <p:spPr>
          <a:xfrm>
            <a:off x="3486150" y="2714625"/>
            <a:ext cx="1666875" cy="1581150"/>
          </a:xfrm>
          <a:custGeom>
            <a:avLst/>
            <a:gdLst>
              <a:gd name="connsiteX0" fmla="*/ 209550 w 1666875"/>
              <a:gd name="connsiteY0" fmla="*/ 1581150 h 1581150"/>
              <a:gd name="connsiteX1" fmla="*/ 0 w 1666875"/>
              <a:gd name="connsiteY1" fmla="*/ 1581150 h 1581150"/>
              <a:gd name="connsiteX2" fmla="*/ 0 w 1666875"/>
              <a:gd name="connsiteY2" fmla="*/ 809625 h 1581150"/>
              <a:gd name="connsiteX3" fmla="*/ 1666875 w 1666875"/>
              <a:gd name="connsiteY3" fmla="*/ 809625 h 1581150"/>
              <a:gd name="connsiteX4" fmla="*/ 1666875 w 1666875"/>
              <a:gd name="connsiteY4" fmla="*/ 0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5" h="1581150">
                <a:moveTo>
                  <a:pt x="209550" y="1581150"/>
                </a:moveTo>
                <a:lnTo>
                  <a:pt x="0" y="1581150"/>
                </a:lnTo>
                <a:lnTo>
                  <a:pt x="0" y="809625"/>
                </a:lnTo>
                <a:lnTo>
                  <a:pt x="1666875" y="809625"/>
                </a:lnTo>
                <a:lnTo>
                  <a:pt x="1666875" y="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9" name="직선 연결선 128"/>
          <p:cNvCxnSpPr/>
          <p:nvPr/>
        </p:nvCxnSpPr>
        <p:spPr>
          <a:xfrm flipV="1">
            <a:off x="6088591" y="1768712"/>
            <a:ext cx="0" cy="467971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/>
          <p:cNvCxnSpPr/>
          <p:nvPr/>
        </p:nvCxnSpPr>
        <p:spPr>
          <a:xfrm>
            <a:off x="6562725" y="3809875"/>
            <a:ext cx="51530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사각형: 둥근 모서리 130"/>
          <p:cNvSpPr/>
          <p:nvPr/>
        </p:nvSpPr>
        <p:spPr>
          <a:xfrm>
            <a:off x="6458552" y="3647724"/>
            <a:ext cx="769856" cy="31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특허출원</a:t>
            </a:r>
          </a:p>
        </p:txBody>
      </p:sp>
      <p:sp>
        <p:nvSpPr>
          <p:cNvPr id="133" name="사각형: 둥근 모서리 132"/>
          <p:cNvSpPr/>
          <p:nvPr/>
        </p:nvSpPr>
        <p:spPr>
          <a:xfrm>
            <a:off x="7953977" y="3647724"/>
            <a:ext cx="769856" cy="31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설정등록</a:t>
            </a:r>
          </a:p>
        </p:txBody>
      </p:sp>
      <p:sp>
        <p:nvSpPr>
          <p:cNvPr id="134" name="Rectangle 14"/>
          <p:cNvSpPr>
            <a:spLocks noChangeArrowheads="1"/>
          </p:cNvSpPr>
          <p:nvPr/>
        </p:nvSpPr>
        <p:spPr bwMode="auto">
          <a:xfrm flipV="1">
            <a:off x="11054252" y="373334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45" name="꺾인 연결선 44"/>
          <p:cNvCxnSpPr>
            <a:endCxn id="134" idx="0"/>
          </p:cNvCxnSpPr>
          <p:nvPr/>
        </p:nvCxnSpPr>
        <p:spPr>
          <a:xfrm rot="5400000" flipH="1" flipV="1">
            <a:off x="8945833" y="1784053"/>
            <a:ext cx="77504" cy="4282210"/>
          </a:xfrm>
          <a:prstGeom prst="bentConnector3">
            <a:avLst>
              <a:gd name="adj1" fmla="val -442429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8374144" y="4288834"/>
            <a:ext cx="769856" cy="316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9347369" y="2338760"/>
            <a:ext cx="769856" cy="316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존속기간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66684" y="3339947"/>
            <a:ext cx="2468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발명이 실시되는 시장</a:t>
            </a:r>
            <a:r>
              <a:rPr lang="en-US" altLang="ko-KR" sz="1400" dirty="0">
                <a:solidFill>
                  <a:srgbClr val="FF0000"/>
                </a:solidFill>
              </a:rPr>
              <a:t>(Market)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8" name="양쪽 모서리가 둥근 사각형 137"/>
          <p:cNvSpPr/>
          <p:nvPr/>
        </p:nvSpPr>
        <p:spPr>
          <a:xfrm>
            <a:off x="9537275" y="4855806"/>
            <a:ext cx="1588415" cy="1154929"/>
          </a:xfrm>
          <a:prstGeom prst="round2SameRect">
            <a:avLst>
              <a:gd name="adj1" fmla="val 2031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연결선 139"/>
          <p:cNvCxnSpPr/>
          <p:nvPr/>
        </p:nvCxnSpPr>
        <p:spPr>
          <a:xfrm>
            <a:off x="6562725" y="6010735"/>
            <a:ext cx="51530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사각형: 둥근 모서리 140"/>
          <p:cNvSpPr/>
          <p:nvPr/>
        </p:nvSpPr>
        <p:spPr>
          <a:xfrm>
            <a:off x="6458552" y="5848584"/>
            <a:ext cx="769856" cy="31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특허출원</a:t>
            </a: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 flipV="1">
            <a:off x="11054252" y="593420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44" name="꺾인 연결선 143"/>
          <p:cNvCxnSpPr>
            <a:endCxn id="143" idx="0"/>
          </p:cNvCxnSpPr>
          <p:nvPr/>
        </p:nvCxnSpPr>
        <p:spPr>
          <a:xfrm rot="5400000" flipH="1" flipV="1">
            <a:off x="8945833" y="3984913"/>
            <a:ext cx="77504" cy="4282210"/>
          </a:xfrm>
          <a:prstGeom prst="bentConnector3">
            <a:avLst>
              <a:gd name="adj1" fmla="val -442429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/>
        </p:nvSpPr>
        <p:spPr>
          <a:xfrm>
            <a:off x="8374144" y="6489694"/>
            <a:ext cx="769856" cy="316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46" name="직사각형 145"/>
          <p:cNvSpPr/>
          <p:nvPr/>
        </p:nvSpPr>
        <p:spPr>
          <a:xfrm>
            <a:off x="9890294" y="4539620"/>
            <a:ext cx="769856" cy="316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존속기간</a:t>
            </a:r>
          </a:p>
        </p:txBody>
      </p:sp>
      <p:sp>
        <p:nvSpPr>
          <p:cNvPr id="148" name="직사각형 34"/>
          <p:cNvSpPr/>
          <p:nvPr/>
        </p:nvSpPr>
        <p:spPr>
          <a:xfrm>
            <a:off x="8338904" y="4992875"/>
            <a:ext cx="2986321" cy="998895"/>
          </a:xfrm>
          <a:custGeom>
            <a:avLst/>
            <a:gdLst>
              <a:gd name="connsiteX0" fmla="*/ 0 w 2952328"/>
              <a:gd name="connsiteY0" fmla="*/ 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0 w 2952328"/>
              <a:gd name="connsiteY4" fmla="*/ 0 h 864096"/>
              <a:gd name="connsiteX0" fmla="*/ 1054100 w 2952328"/>
              <a:gd name="connsiteY0" fmla="*/ 27940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1054100 w 2952328"/>
              <a:gd name="connsiteY4" fmla="*/ 279400 h 864096"/>
              <a:gd name="connsiteX0" fmla="*/ 1054100 w 2952328"/>
              <a:gd name="connsiteY0" fmla="*/ 27940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1054100 w 2952328"/>
              <a:gd name="connsiteY4" fmla="*/ 279400 h 864096"/>
              <a:gd name="connsiteX0" fmla="*/ 1054100 w 2952328"/>
              <a:gd name="connsiteY0" fmla="*/ 279400 h 864096"/>
              <a:gd name="connsiteX1" fmla="*/ 1920328 w 2952328"/>
              <a:gd name="connsiteY1" fmla="*/ 151024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054100 w 2952328"/>
              <a:gd name="connsiteY5" fmla="*/ 279400 h 864096"/>
              <a:gd name="connsiteX0" fmla="*/ 1391070 w 2952328"/>
              <a:gd name="connsiteY0" fmla="*/ 214779 h 864096"/>
              <a:gd name="connsiteX1" fmla="*/ 1920328 w 2952328"/>
              <a:gd name="connsiteY1" fmla="*/ 151024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391070 w 2952328"/>
              <a:gd name="connsiteY5" fmla="*/ 214779 h 864096"/>
              <a:gd name="connsiteX0" fmla="*/ 1391070 w 2952328"/>
              <a:gd name="connsiteY0" fmla="*/ 214779 h 864096"/>
              <a:gd name="connsiteX1" fmla="*/ 1794944 w 2952328"/>
              <a:gd name="connsiteY1" fmla="*/ 612606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391070 w 2952328"/>
              <a:gd name="connsiteY5" fmla="*/ 214779 h 864096"/>
              <a:gd name="connsiteX0" fmla="*/ 1391070 w 2983674"/>
              <a:gd name="connsiteY0" fmla="*/ 0 h 649317"/>
              <a:gd name="connsiteX1" fmla="*/ 1794944 w 2983674"/>
              <a:gd name="connsiteY1" fmla="*/ 397827 h 649317"/>
              <a:gd name="connsiteX2" fmla="*/ 2983674 w 2983674"/>
              <a:gd name="connsiteY2" fmla="*/ 551447 h 649317"/>
              <a:gd name="connsiteX3" fmla="*/ 2952328 w 2983674"/>
              <a:gd name="connsiteY3" fmla="*/ 649317 h 649317"/>
              <a:gd name="connsiteX4" fmla="*/ 0 w 2983674"/>
              <a:gd name="connsiteY4" fmla="*/ 649317 h 649317"/>
              <a:gd name="connsiteX5" fmla="*/ 1391070 w 2983674"/>
              <a:gd name="connsiteY5" fmla="*/ 0 h 649317"/>
              <a:gd name="connsiteX0" fmla="*/ 850351 w 2983674"/>
              <a:gd name="connsiteY0" fmla="*/ 0 h 473916"/>
              <a:gd name="connsiteX1" fmla="*/ 1794944 w 2983674"/>
              <a:gd name="connsiteY1" fmla="*/ 222426 h 473916"/>
              <a:gd name="connsiteX2" fmla="*/ 2983674 w 2983674"/>
              <a:gd name="connsiteY2" fmla="*/ 376046 h 473916"/>
              <a:gd name="connsiteX3" fmla="*/ 2952328 w 2983674"/>
              <a:gd name="connsiteY3" fmla="*/ 473916 h 473916"/>
              <a:gd name="connsiteX4" fmla="*/ 0 w 2983674"/>
              <a:gd name="connsiteY4" fmla="*/ 473916 h 473916"/>
              <a:gd name="connsiteX5" fmla="*/ 850351 w 2983674"/>
              <a:gd name="connsiteY5" fmla="*/ 0 h 473916"/>
              <a:gd name="connsiteX0" fmla="*/ 850351 w 2983674"/>
              <a:gd name="connsiteY0" fmla="*/ 0 h 473916"/>
              <a:gd name="connsiteX1" fmla="*/ 1794944 w 2983674"/>
              <a:gd name="connsiteY1" fmla="*/ 222426 h 473916"/>
              <a:gd name="connsiteX2" fmla="*/ 2116241 w 2983674"/>
              <a:gd name="connsiteY2" fmla="*/ 345935 h 473916"/>
              <a:gd name="connsiteX3" fmla="*/ 2983674 w 2983674"/>
              <a:gd name="connsiteY3" fmla="*/ 376046 h 473916"/>
              <a:gd name="connsiteX4" fmla="*/ 2952328 w 2983674"/>
              <a:gd name="connsiteY4" fmla="*/ 473916 h 473916"/>
              <a:gd name="connsiteX5" fmla="*/ 0 w 2983674"/>
              <a:gd name="connsiteY5" fmla="*/ 473916 h 473916"/>
              <a:gd name="connsiteX6" fmla="*/ 850351 w 2983674"/>
              <a:gd name="connsiteY6" fmla="*/ 0 h 473916"/>
              <a:gd name="connsiteX0" fmla="*/ 647414 w 2983674"/>
              <a:gd name="connsiteY0" fmla="*/ 0 h 464684"/>
              <a:gd name="connsiteX1" fmla="*/ 1794944 w 2983674"/>
              <a:gd name="connsiteY1" fmla="*/ 213194 h 464684"/>
              <a:gd name="connsiteX2" fmla="*/ 2116241 w 2983674"/>
              <a:gd name="connsiteY2" fmla="*/ 336703 h 464684"/>
              <a:gd name="connsiteX3" fmla="*/ 2983674 w 2983674"/>
              <a:gd name="connsiteY3" fmla="*/ 366814 h 464684"/>
              <a:gd name="connsiteX4" fmla="*/ 2952328 w 2983674"/>
              <a:gd name="connsiteY4" fmla="*/ 464684 h 464684"/>
              <a:gd name="connsiteX5" fmla="*/ 0 w 2983674"/>
              <a:gd name="connsiteY5" fmla="*/ 464684 h 464684"/>
              <a:gd name="connsiteX6" fmla="*/ 647414 w 2983674"/>
              <a:gd name="connsiteY6" fmla="*/ 0 h 464684"/>
              <a:gd name="connsiteX0" fmla="*/ 623539 w 2983674"/>
              <a:gd name="connsiteY0" fmla="*/ 0 h 464684"/>
              <a:gd name="connsiteX1" fmla="*/ 1794944 w 2983674"/>
              <a:gd name="connsiteY1" fmla="*/ 213194 h 464684"/>
              <a:gd name="connsiteX2" fmla="*/ 2116241 w 2983674"/>
              <a:gd name="connsiteY2" fmla="*/ 336703 h 464684"/>
              <a:gd name="connsiteX3" fmla="*/ 2983674 w 2983674"/>
              <a:gd name="connsiteY3" fmla="*/ 366814 h 464684"/>
              <a:gd name="connsiteX4" fmla="*/ 2952328 w 2983674"/>
              <a:gd name="connsiteY4" fmla="*/ 464684 h 464684"/>
              <a:gd name="connsiteX5" fmla="*/ 0 w 2983674"/>
              <a:gd name="connsiteY5" fmla="*/ 464684 h 464684"/>
              <a:gd name="connsiteX6" fmla="*/ 623539 w 2983674"/>
              <a:gd name="connsiteY6" fmla="*/ 0 h 464684"/>
              <a:gd name="connsiteX0" fmla="*/ 1680003 w 2983674"/>
              <a:gd name="connsiteY0" fmla="*/ 0 h 1101667"/>
              <a:gd name="connsiteX1" fmla="*/ 1794944 w 2983674"/>
              <a:gd name="connsiteY1" fmla="*/ 850177 h 1101667"/>
              <a:gd name="connsiteX2" fmla="*/ 2116241 w 2983674"/>
              <a:gd name="connsiteY2" fmla="*/ 973686 h 1101667"/>
              <a:gd name="connsiteX3" fmla="*/ 2983674 w 2983674"/>
              <a:gd name="connsiteY3" fmla="*/ 1003797 h 1101667"/>
              <a:gd name="connsiteX4" fmla="*/ 2952328 w 2983674"/>
              <a:gd name="connsiteY4" fmla="*/ 1101667 h 1101667"/>
              <a:gd name="connsiteX5" fmla="*/ 0 w 2983674"/>
              <a:gd name="connsiteY5" fmla="*/ 1101667 h 1101667"/>
              <a:gd name="connsiteX6" fmla="*/ 1680003 w 2983674"/>
              <a:gd name="connsiteY6" fmla="*/ 0 h 1101667"/>
              <a:gd name="connsiteX0" fmla="*/ 1680003 w 2983674"/>
              <a:gd name="connsiteY0" fmla="*/ 0 h 1101667"/>
              <a:gd name="connsiteX1" fmla="*/ 2033693 w 2983674"/>
              <a:gd name="connsiteY1" fmla="*/ 93183 h 1101667"/>
              <a:gd name="connsiteX2" fmla="*/ 2116241 w 2983674"/>
              <a:gd name="connsiteY2" fmla="*/ 973686 h 1101667"/>
              <a:gd name="connsiteX3" fmla="*/ 2983674 w 2983674"/>
              <a:gd name="connsiteY3" fmla="*/ 1003797 h 1101667"/>
              <a:gd name="connsiteX4" fmla="*/ 2952328 w 2983674"/>
              <a:gd name="connsiteY4" fmla="*/ 1101667 h 1101667"/>
              <a:gd name="connsiteX5" fmla="*/ 0 w 2983674"/>
              <a:gd name="connsiteY5" fmla="*/ 1101667 h 1101667"/>
              <a:gd name="connsiteX6" fmla="*/ 1680003 w 2983674"/>
              <a:gd name="connsiteY6" fmla="*/ 0 h 1101667"/>
              <a:gd name="connsiteX0" fmla="*/ 1680003 w 2983674"/>
              <a:gd name="connsiteY0" fmla="*/ 0 h 1101667"/>
              <a:gd name="connsiteX1" fmla="*/ 2033693 w 2983674"/>
              <a:gd name="connsiteY1" fmla="*/ 93183 h 1101667"/>
              <a:gd name="connsiteX2" fmla="*/ 2116241 w 2983674"/>
              <a:gd name="connsiteY2" fmla="*/ 973686 h 1101667"/>
              <a:gd name="connsiteX3" fmla="*/ 2471344 w 2983674"/>
              <a:gd name="connsiteY3" fmla="*/ 92553 h 1101667"/>
              <a:gd name="connsiteX4" fmla="*/ 2983674 w 2983674"/>
              <a:gd name="connsiteY4" fmla="*/ 1003797 h 1101667"/>
              <a:gd name="connsiteX5" fmla="*/ 2952328 w 2983674"/>
              <a:gd name="connsiteY5" fmla="*/ 1101667 h 1101667"/>
              <a:gd name="connsiteX6" fmla="*/ 0 w 2983674"/>
              <a:gd name="connsiteY6" fmla="*/ 1101667 h 1101667"/>
              <a:gd name="connsiteX7" fmla="*/ 1680003 w 2983674"/>
              <a:gd name="connsiteY7" fmla="*/ 0 h 1101667"/>
              <a:gd name="connsiteX0" fmla="*/ 1680003 w 2983674"/>
              <a:gd name="connsiteY0" fmla="*/ 0 h 1101667"/>
              <a:gd name="connsiteX1" fmla="*/ 2033693 w 2983674"/>
              <a:gd name="connsiteY1" fmla="*/ 93183 h 1101667"/>
              <a:gd name="connsiteX2" fmla="*/ 2271428 w 2983674"/>
              <a:gd name="connsiteY2" fmla="*/ 87450 h 1101667"/>
              <a:gd name="connsiteX3" fmla="*/ 2471344 w 2983674"/>
              <a:gd name="connsiteY3" fmla="*/ 92553 h 1101667"/>
              <a:gd name="connsiteX4" fmla="*/ 2983674 w 2983674"/>
              <a:gd name="connsiteY4" fmla="*/ 1003797 h 1101667"/>
              <a:gd name="connsiteX5" fmla="*/ 2952328 w 2983674"/>
              <a:gd name="connsiteY5" fmla="*/ 1101667 h 1101667"/>
              <a:gd name="connsiteX6" fmla="*/ 0 w 2983674"/>
              <a:gd name="connsiteY6" fmla="*/ 1101667 h 1101667"/>
              <a:gd name="connsiteX7" fmla="*/ 1680003 w 2983674"/>
              <a:gd name="connsiteY7" fmla="*/ 0 h 1101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83674" h="1101667">
                <a:moveTo>
                  <a:pt x="1680003" y="0"/>
                </a:moveTo>
                <a:lnTo>
                  <a:pt x="2033693" y="93183"/>
                </a:lnTo>
                <a:cubicBezTo>
                  <a:pt x="2041530" y="97426"/>
                  <a:pt x="2263591" y="83207"/>
                  <a:pt x="2271428" y="87450"/>
                </a:cubicBezTo>
                <a:cubicBezTo>
                  <a:pt x="2278379" y="86074"/>
                  <a:pt x="2464393" y="93929"/>
                  <a:pt x="2471344" y="92553"/>
                </a:cubicBezTo>
                <a:lnTo>
                  <a:pt x="2983674" y="1003797"/>
                </a:lnTo>
                <a:lnTo>
                  <a:pt x="2952328" y="1101667"/>
                </a:lnTo>
                <a:lnTo>
                  <a:pt x="0" y="1101667"/>
                </a:lnTo>
                <a:lnTo>
                  <a:pt x="1680003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TextBox 146"/>
          <p:cNvSpPr txBox="1"/>
          <p:nvPr/>
        </p:nvSpPr>
        <p:spPr>
          <a:xfrm>
            <a:off x="8666684" y="5540807"/>
            <a:ext cx="2468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발명이 실시되는 시장</a:t>
            </a:r>
            <a:r>
              <a:rPr lang="en-US" altLang="ko-KR" sz="1400" dirty="0">
                <a:solidFill>
                  <a:srgbClr val="FF0000"/>
                </a:solidFill>
              </a:rPr>
              <a:t>(Market)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6319647" y="1711971"/>
            <a:ext cx="5472303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4">
                    <a:lumMod val="50000"/>
                  </a:schemeClr>
                </a:solidFill>
              </a:rPr>
              <a:t>* Market Maker</a:t>
            </a:r>
            <a:r>
              <a:rPr lang="ko-KR" altLang="en-US" sz="2400" dirty="0">
                <a:solidFill>
                  <a:schemeClr val="accent4">
                    <a:lumMod val="50000"/>
                  </a:schemeClr>
                </a:solidFill>
              </a:rPr>
              <a:t>가 될 수 있는가</a:t>
            </a:r>
            <a:r>
              <a:rPr lang="en-US" altLang="ko-KR" sz="2400" dirty="0">
                <a:solidFill>
                  <a:schemeClr val="accent4">
                    <a:lumMod val="50000"/>
                  </a:schemeClr>
                </a:solidFill>
              </a:rPr>
              <a:t>?</a:t>
            </a:r>
            <a:endParaRPr lang="ko-KR" altLang="en-US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2" name="사각형: 둥근 모서리 141"/>
          <p:cNvSpPr/>
          <p:nvPr/>
        </p:nvSpPr>
        <p:spPr>
          <a:xfrm>
            <a:off x="9163652" y="5848584"/>
            <a:ext cx="769856" cy="31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설정등록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296</a:t>
            </a:fld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3C7CA4D-9C84-49D1-9187-4990F49BC873}"/>
              </a:ext>
            </a:extLst>
          </p:cNvPr>
          <p:cNvSpPr/>
          <p:nvPr/>
        </p:nvSpPr>
        <p:spPr>
          <a:xfrm>
            <a:off x="2002922" y="499640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53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8141F86-C523-46A3-A6A9-A30288BF4F12}"/>
              </a:ext>
            </a:extLst>
          </p:cNvPr>
          <p:cNvSpPr/>
          <p:nvPr/>
        </p:nvSpPr>
        <p:spPr>
          <a:xfrm>
            <a:off x="2002922" y="5376690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54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 err="1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공</a:t>
            </a:r>
            <a:r>
              <a:rPr lang="ko-KR" altLang="en-US" sz="1050" dirty="0" err="1">
                <a:solidFill>
                  <a:srgbClr val="FF0000"/>
                </a:solidFill>
              </a:rPr>
              <a:t>존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재등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B7A286-D9C6-43FD-A820-69AAE328ED98}"/>
              </a:ext>
            </a:extLst>
          </p:cNvPr>
          <p:cNvSpPr/>
          <p:nvPr/>
        </p:nvSpPr>
        <p:spPr>
          <a:xfrm>
            <a:off x="2002922" y="5748016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55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56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공</a:t>
            </a:r>
            <a:r>
              <a:rPr lang="ko-KR" altLang="en-US" sz="1050" dirty="0">
                <a:solidFill>
                  <a:srgbClr val="FF0000"/>
                </a:solidFill>
              </a:rPr>
              <a:t>존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재등이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8" name="꺾인 연결선 116">
            <a:extLst>
              <a:ext uri="{FF2B5EF4-FFF2-40B4-BE49-F238E27FC236}">
                <a16:creationId xmlns:a16="http://schemas.microsoft.com/office/drawing/2014/main" id="{668FE3F0-1DFB-498D-AECB-0A7B26F1E3B0}"/>
              </a:ext>
            </a:extLst>
          </p:cNvPr>
          <p:cNvCxnSpPr>
            <a:cxnSpLocks/>
            <a:stCxn id="78" idx="3"/>
            <a:endCxn id="57" idx="1"/>
          </p:cNvCxnSpPr>
          <p:nvPr/>
        </p:nvCxnSpPr>
        <p:spPr>
          <a:xfrm>
            <a:off x="1652778" y="4157258"/>
            <a:ext cx="350144" cy="175713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929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3F13-0E0C-F82A-DFA3-1F46BBDA8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74AB29D-EFBF-B5B6-1682-FC672521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F960D7-9CF8-567E-DE86-F664B5ADA6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객체</a:t>
            </a:r>
            <a:r>
              <a:rPr lang="en-US" altLang="ko-KR" dirty="0"/>
              <a:t>: </a:t>
            </a:r>
            <a:r>
              <a:rPr lang="ko-KR" altLang="en-US" dirty="0"/>
              <a:t>허가 등의 필요성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시행령 제</a:t>
            </a:r>
            <a:r>
              <a:rPr lang="en-US" altLang="ko-KR" dirty="0"/>
              <a:t>7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DEC603-B8DF-1055-F9CE-53202955C2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297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5759E8-B756-4DAE-B0E7-6AD8A7E4DD9C}"/>
              </a:ext>
            </a:extLst>
          </p:cNvPr>
          <p:cNvSpPr txBox="1"/>
          <p:nvPr/>
        </p:nvSpPr>
        <p:spPr>
          <a:xfrm>
            <a:off x="228015" y="2070847"/>
            <a:ext cx="11829513" cy="12657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noAutofit/>
          </a:bodyPr>
          <a:lstStyle/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kern="0" spc="-60" dirty="0">
                <a:latin typeface="+mn-ea"/>
              </a:rPr>
              <a:t>1.</a:t>
            </a:r>
            <a:r>
              <a:rPr lang="en-US" altLang="ko-KR" sz="1200" kern="0" spc="-60" dirty="0">
                <a:effectLst/>
                <a:latin typeface="+mn-ea"/>
              </a:rPr>
              <a:t> </a:t>
            </a:r>
            <a:r>
              <a:rPr lang="ko-KR" altLang="en-US" sz="1200" kern="0" spc="-60" dirty="0">
                <a:effectLst/>
                <a:latin typeface="+mn-ea"/>
              </a:rPr>
              <a:t>특허발명을 실시하기 위하여 약사법 제</a:t>
            </a:r>
            <a:r>
              <a:rPr lang="en-US" altLang="ko-KR" sz="1200" kern="0" spc="-60" dirty="0">
                <a:effectLst/>
                <a:latin typeface="+mn-ea"/>
              </a:rPr>
              <a:t>31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2</a:t>
            </a:r>
            <a:r>
              <a:rPr lang="ko-KR" altLang="en-US" sz="1200" kern="0" spc="-60" dirty="0" err="1">
                <a:effectLst/>
                <a:latin typeface="+mn-ea"/>
              </a:rPr>
              <a:t>항ㆍ제</a:t>
            </a:r>
            <a:r>
              <a:rPr lang="en-US" altLang="ko-KR" sz="1200" kern="0" spc="-60" dirty="0">
                <a:effectLst/>
                <a:latin typeface="+mn-ea"/>
              </a:rPr>
              <a:t>3</a:t>
            </a:r>
            <a:r>
              <a:rPr lang="ko-KR" altLang="en-US" sz="1200" kern="0" spc="-60" dirty="0">
                <a:effectLst/>
                <a:latin typeface="+mn-ea"/>
              </a:rPr>
              <a:t>항 또는 제</a:t>
            </a:r>
            <a:r>
              <a:rPr lang="en-US" altLang="ko-KR" sz="1200" kern="0" spc="-60" dirty="0">
                <a:effectLst/>
                <a:latin typeface="+mn-ea"/>
              </a:rPr>
              <a:t>42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1</a:t>
            </a:r>
            <a:r>
              <a:rPr lang="ko-KR" altLang="en-US" sz="1200" kern="0" spc="-60" dirty="0">
                <a:effectLst/>
                <a:latin typeface="+mn-ea"/>
              </a:rPr>
              <a:t>항에 따라 품목허가를 받은 의약품</a:t>
            </a:r>
            <a:r>
              <a:rPr lang="en-US" altLang="ko-KR" sz="1200" kern="0" spc="-60" dirty="0">
                <a:effectLst/>
                <a:latin typeface="+mn-ea"/>
              </a:rPr>
              <a:t>[</a:t>
            </a:r>
            <a:r>
              <a:rPr lang="ko-KR" altLang="en-US" sz="1200" kern="0" spc="-60" dirty="0" err="1">
                <a:effectLst/>
                <a:latin typeface="+mn-ea"/>
              </a:rPr>
              <a:t>신물질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약효를 나타내는 유효성부분의 화학구조가 새로운 물질을 말한다</a:t>
            </a:r>
            <a:r>
              <a:rPr lang="en-US" altLang="ko-KR" sz="1200" kern="0" spc="-60" dirty="0">
                <a:effectLst/>
                <a:latin typeface="+mn-ea"/>
              </a:rPr>
              <a:t>. </a:t>
            </a:r>
            <a:r>
              <a:rPr lang="ko-KR" altLang="en-US" sz="1200" kern="0" spc="-60" dirty="0">
                <a:effectLst/>
                <a:latin typeface="+mn-ea"/>
              </a:rPr>
              <a:t>이하 이 조에서 같다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을 유효성분으로 하여 제조한 의약품으로서 </a:t>
            </a:r>
            <a:r>
              <a:rPr lang="ko-KR" altLang="en-US" sz="1200" kern="0" spc="-60" dirty="0">
                <a:effectLst/>
                <a:highlight>
                  <a:srgbClr val="FFFF00"/>
                </a:highlight>
                <a:latin typeface="+mn-ea"/>
              </a:rPr>
              <a:t>최초로 품목허가를 받은 의약품</a:t>
            </a:r>
            <a:r>
              <a:rPr lang="ko-KR" altLang="en-US" sz="1200" kern="0" spc="-60" dirty="0">
                <a:effectLst/>
                <a:latin typeface="+mn-ea"/>
              </a:rPr>
              <a:t>으로 한정한다</a:t>
            </a:r>
            <a:r>
              <a:rPr lang="en-US" altLang="ko-KR" sz="1200" kern="0" spc="-60" dirty="0">
                <a:effectLst/>
                <a:latin typeface="+mn-ea"/>
              </a:rPr>
              <a:t>]</a:t>
            </a:r>
            <a:r>
              <a:rPr lang="ko-KR" altLang="en-US" sz="1200" kern="0" spc="-60" dirty="0">
                <a:effectLst/>
                <a:latin typeface="+mn-ea"/>
              </a:rPr>
              <a:t>의 발명 또는 「마약류 관리에 관한 법률」 제</a:t>
            </a:r>
            <a:r>
              <a:rPr lang="en-US" altLang="ko-KR" sz="1200" kern="0" spc="-60" dirty="0">
                <a:effectLst/>
                <a:latin typeface="+mn-ea"/>
              </a:rPr>
              <a:t>18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2</a:t>
            </a:r>
            <a:r>
              <a:rPr lang="ko-KR" altLang="en-US" sz="1200" kern="0" spc="-60" dirty="0">
                <a:effectLst/>
                <a:latin typeface="+mn-ea"/>
              </a:rPr>
              <a:t>항 또는 제</a:t>
            </a:r>
            <a:r>
              <a:rPr lang="en-US" altLang="ko-KR" sz="1200" kern="0" spc="-60" dirty="0">
                <a:effectLst/>
                <a:latin typeface="+mn-ea"/>
              </a:rPr>
              <a:t>21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2</a:t>
            </a:r>
            <a:r>
              <a:rPr lang="ko-KR" altLang="en-US" sz="1200" kern="0" spc="-60" dirty="0">
                <a:effectLst/>
                <a:latin typeface="+mn-ea"/>
              </a:rPr>
              <a:t>항에 따라 품목허가를 받은 마약 또는 향정신성의약품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신물질을 유효성분으로 하여 제조한 마약 또는 향정신성의약품으로서 </a:t>
            </a:r>
            <a:r>
              <a:rPr lang="ko-KR" altLang="en-US" sz="1200" kern="0" spc="-60" dirty="0">
                <a:effectLst/>
                <a:highlight>
                  <a:srgbClr val="FFFF00"/>
                </a:highlight>
                <a:latin typeface="+mn-ea"/>
              </a:rPr>
              <a:t>최초로 품목허가를 받은 마약 또는 향정신성의약품</a:t>
            </a:r>
            <a:r>
              <a:rPr lang="ko-KR" altLang="en-US" sz="1200" kern="0" spc="-60" dirty="0">
                <a:effectLst/>
                <a:latin typeface="+mn-ea"/>
              </a:rPr>
              <a:t>으로 한정한다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의 발명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kern="0" spc="-60" dirty="0">
                <a:latin typeface="+mn-ea"/>
              </a:rPr>
              <a:t>2.</a:t>
            </a:r>
            <a:r>
              <a:rPr lang="en-US" altLang="ko-KR" sz="1200" kern="0" spc="-60" dirty="0">
                <a:effectLst/>
                <a:latin typeface="+mn-ea"/>
              </a:rPr>
              <a:t> </a:t>
            </a:r>
            <a:r>
              <a:rPr lang="ko-KR" altLang="en-US" sz="1200" kern="0" spc="-60" dirty="0">
                <a:effectLst/>
                <a:latin typeface="+mn-ea"/>
              </a:rPr>
              <a:t>특허발명을 실시하기 위하여 「농약관리법」 제</a:t>
            </a:r>
            <a:r>
              <a:rPr lang="en-US" altLang="ko-KR" sz="1200" kern="0" spc="-60" dirty="0">
                <a:effectLst/>
                <a:latin typeface="+mn-ea"/>
              </a:rPr>
              <a:t>8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1</a:t>
            </a:r>
            <a:r>
              <a:rPr lang="ko-KR" altLang="en-US" sz="1200" kern="0" spc="-60" dirty="0">
                <a:effectLst/>
                <a:latin typeface="+mn-ea"/>
              </a:rPr>
              <a:t>항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  <a:r>
              <a:rPr lang="ko-KR" altLang="en-US" sz="1200" kern="0" spc="-60" dirty="0">
                <a:effectLst/>
                <a:latin typeface="+mn-ea"/>
              </a:rPr>
              <a:t>제</a:t>
            </a:r>
            <a:r>
              <a:rPr lang="en-US" altLang="ko-KR" sz="1200" kern="0" spc="-60" dirty="0">
                <a:effectLst/>
                <a:latin typeface="+mn-ea"/>
              </a:rPr>
              <a:t>16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1</a:t>
            </a:r>
            <a:r>
              <a:rPr lang="ko-KR" altLang="en-US" sz="1200" kern="0" spc="-60" dirty="0">
                <a:effectLst/>
                <a:latin typeface="+mn-ea"/>
              </a:rPr>
              <a:t>항 또는 제</a:t>
            </a:r>
            <a:r>
              <a:rPr lang="en-US" altLang="ko-KR" sz="1200" kern="0" spc="-60" dirty="0">
                <a:effectLst/>
                <a:latin typeface="+mn-ea"/>
              </a:rPr>
              <a:t>17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1</a:t>
            </a:r>
            <a:r>
              <a:rPr lang="ko-KR" altLang="en-US" sz="1200" kern="0" spc="-60" dirty="0">
                <a:effectLst/>
                <a:latin typeface="+mn-ea"/>
              </a:rPr>
              <a:t>항에 따라 등록한 농약 또는 원제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신물질을 유효성분으로 하여 제조한 농약 또는 원제로서 최초로 등록한 농약 또는 원제로 한정한다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의 발명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634ED92-0FA7-57A3-A670-8F2386847E33}"/>
              </a:ext>
            </a:extLst>
          </p:cNvPr>
          <p:cNvSpPr/>
          <p:nvPr/>
        </p:nvSpPr>
        <p:spPr>
          <a:xfrm>
            <a:off x="228015" y="1869148"/>
            <a:ext cx="2371748" cy="2465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연장가능한 대통령령이 정하는 발명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A051F2-A0AF-A034-803C-3A87395B92A2}"/>
              </a:ext>
            </a:extLst>
          </p:cNvPr>
          <p:cNvSpPr txBox="1"/>
          <p:nvPr/>
        </p:nvSpPr>
        <p:spPr>
          <a:xfrm>
            <a:off x="77875" y="3825424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당해 법령 자체에 그 법령에서 사용하는 용어의 정의나 포섭의 구체적인 범위가 명확히 규정되어 있지 아니한 경우 법령상 용어의 해석은 가능한 문언의 통상적인 의미에 충실하게 해석하는 것을 원칙으로 하면서</a:t>
            </a:r>
            <a:r>
              <a:rPr lang="en-US" altLang="ko-KR" sz="1200" dirty="0"/>
              <a:t>, </a:t>
            </a:r>
            <a:r>
              <a:rPr lang="ko-KR" altLang="en-US" sz="1200" dirty="0"/>
              <a:t>그 법령의 전반적인 체계와 </a:t>
            </a:r>
            <a:r>
              <a:rPr lang="ko-KR" altLang="en-US" sz="1200" dirty="0" err="1"/>
              <a:t>취지ㆍ목적</a:t>
            </a:r>
            <a:r>
              <a:rPr lang="en-US" altLang="ko-KR" sz="1200" dirty="0"/>
              <a:t>, </a:t>
            </a:r>
            <a:r>
              <a:rPr lang="ko-KR" altLang="en-US" sz="1200" dirty="0"/>
              <a:t>당해 조항의 규정형식과 내용 및 관련 법령을 종합적으로 고려하여 해석하여야 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2010. 6. 24.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2010</a:t>
            </a:r>
            <a:r>
              <a:rPr lang="ko-KR" altLang="en-US" sz="1200" dirty="0"/>
              <a:t>두</a:t>
            </a:r>
            <a:r>
              <a:rPr lang="en-US" altLang="ko-KR" sz="1200" dirty="0"/>
              <a:t>3978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2013. 1. 17.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2011</a:t>
            </a:r>
            <a:r>
              <a:rPr lang="ko-KR" altLang="en-US" sz="1200" dirty="0"/>
              <a:t>다</a:t>
            </a:r>
            <a:r>
              <a:rPr lang="en-US" altLang="ko-KR" sz="1200" dirty="0"/>
              <a:t>83431 </a:t>
            </a:r>
            <a:r>
              <a:rPr lang="ko-KR" altLang="en-US" sz="1200" dirty="0"/>
              <a:t>전원합의체 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2018. 6. 21.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2011</a:t>
            </a:r>
            <a:r>
              <a:rPr lang="ko-KR" altLang="en-US" sz="1200" dirty="0"/>
              <a:t>다</a:t>
            </a:r>
            <a:r>
              <a:rPr lang="en-US" altLang="ko-KR" sz="1200" dirty="0"/>
              <a:t>112391 </a:t>
            </a:r>
            <a:r>
              <a:rPr lang="ko-KR" altLang="en-US" sz="1200" dirty="0"/>
              <a:t>전원합의체 판결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허가 등에 따른 특허권의 존속기간의 연장제도를 규정한 특허법 제</a:t>
            </a:r>
            <a:r>
              <a:rPr lang="en-US" altLang="ko-KR" sz="1200" dirty="0"/>
              <a:t>89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항과 이 사건 시행령 조항의 전반적인 체계와 </a:t>
            </a:r>
            <a:r>
              <a:rPr lang="ko-KR" altLang="en-US" sz="1200" dirty="0" err="1"/>
              <a:t>취지ㆍ목적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시행령 조항의 규정형식과 내용</a:t>
            </a:r>
            <a:r>
              <a:rPr lang="en-US" altLang="ko-KR" sz="1200" dirty="0"/>
              <a:t>, </a:t>
            </a:r>
            <a:r>
              <a:rPr lang="ko-KR" altLang="en-US" sz="1200" dirty="0"/>
              <a:t>관련 약사법령 등을 종합하면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시행령 조항에서 </a:t>
            </a:r>
            <a:r>
              <a:rPr lang="ko-KR" altLang="en-US" sz="1200" dirty="0">
                <a:solidFill>
                  <a:srgbClr val="FF0000"/>
                </a:solidFill>
              </a:rPr>
              <a:t>‘약효를 나타내는 활성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유효성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 err="1">
                <a:solidFill>
                  <a:srgbClr val="FF0000"/>
                </a:solidFill>
              </a:rPr>
              <a:t>부분’은</a:t>
            </a:r>
            <a:r>
              <a:rPr lang="ko-KR" altLang="en-US" sz="1200" dirty="0">
                <a:solidFill>
                  <a:srgbClr val="FF0000"/>
                </a:solidFill>
              </a:rPr>
              <a:t> ‘의약품의 유효성분 중 활성을 가지면서 내재된 약리작용에 의하여 의약품 품목허가상의 </a:t>
            </a:r>
            <a:r>
              <a:rPr lang="ko-KR" altLang="en-US" sz="1200" dirty="0" err="1">
                <a:solidFill>
                  <a:srgbClr val="FF0000"/>
                </a:solidFill>
              </a:rPr>
              <a:t>효능ㆍ효과를</a:t>
            </a:r>
            <a:r>
              <a:rPr lang="ko-KR" altLang="en-US" sz="1200" dirty="0">
                <a:solidFill>
                  <a:srgbClr val="FF0000"/>
                </a:solidFill>
              </a:rPr>
              <a:t> 나타내는 </a:t>
            </a:r>
            <a:r>
              <a:rPr lang="ko-KR" altLang="en-US" sz="1200" dirty="0" err="1">
                <a:solidFill>
                  <a:srgbClr val="FF0000"/>
                </a:solidFill>
              </a:rPr>
              <a:t>부분’</a:t>
            </a:r>
            <a:r>
              <a:rPr lang="ko-KR" altLang="en-US" sz="1200" dirty="0" err="1"/>
              <a:t>을</a:t>
            </a:r>
            <a:r>
              <a:rPr lang="ko-KR" altLang="en-US" sz="1200" dirty="0"/>
              <a:t> 의미한다</a:t>
            </a:r>
            <a:r>
              <a:rPr lang="en-US" altLang="ko-KR" sz="1200" dirty="0"/>
              <a:t>. </a:t>
            </a:r>
            <a:r>
              <a:rPr lang="ko-KR" altLang="en-US" sz="1200" dirty="0"/>
              <a:t>한편 그 자체로는 활성을 가지지 않는 부분이 기존에 </a:t>
            </a:r>
            <a:r>
              <a:rPr lang="ko-KR" altLang="en-US" sz="1200" dirty="0" err="1"/>
              <a:t>품목허가된</a:t>
            </a:r>
            <a:r>
              <a:rPr lang="ko-KR" altLang="en-US" sz="1200" dirty="0"/>
              <a:t> 의약품의 ‘약효를 나타내는 </a:t>
            </a:r>
            <a:r>
              <a:rPr lang="ko-KR" altLang="en-US" sz="1200" dirty="0" err="1"/>
              <a:t>활성부분’에</a:t>
            </a:r>
            <a:r>
              <a:rPr lang="ko-KR" altLang="en-US" sz="1200" dirty="0"/>
              <a:t> 결합되어 의약품의 </a:t>
            </a:r>
            <a:r>
              <a:rPr lang="ko-KR" altLang="en-US" sz="1200" dirty="0" err="1"/>
              <a:t>효능ㆍ효과의</a:t>
            </a:r>
            <a:r>
              <a:rPr lang="ko-KR" altLang="en-US" sz="1200" dirty="0"/>
              <a:t> 정도에 영향을 미치더라도 이는 의약품의 </a:t>
            </a:r>
            <a:r>
              <a:rPr lang="ko-KR" altLang="en-US" sz="1200" dirty="0" err="1"/>
              <a:t>효능ㆍ효과로서의</a:t>
            </a:r>
            <a:r>
              <a:rPr lang="ko-KR" altLang="en-US" sz="1200" dirty="0"/>
              <a:t> ‘</a:t>
            </a:r>
            <a:r>
              <a:rPr lang="ko-KR" altLang="en-US" sz="1200" dirty="0" err="1"/>
              <a:t>약효’를</a:t>
            </a:r>
            <a:r>
              <a:rPr lang="ko-KR" altLang="en-US" sz="1200" dirty="0"/>
              <a:t> 나타내는 부분이 아니므로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이러한 부분이 ‘약효를 나타내는 </a:t>
            </a:r>
            <a:r>
              <a:rPr lang="ko-KR" altLang="en-US" sz="1200" dirty="0" err="1"/>
              <a:t>활성부분’에</a:t>
            </a:r>
            <a:r>
              <a:rPr lang="ko-KR" altLang="en-US" sz="1200" dirty="0"/>
              <a:t> 결합되어 있다는 사정만으로 그 결합물 전체를 이 사건 시행령 조항에서 말하는 ‘약효를 나타내는 </a:t>
            </a:r>
            <a:r>
              <a:rPr lang="ko-KR" altLang="en-US" sz="1200" dirty="0" err="1"/>
              <a:t>활성부분’이라고</a:t>
            </a:r>
            <a:r>
              <a:rPr lang="ko-KR" altLang="en-US" sz="1200" dirty="0"/>
              <a:t> 볼 수는 없다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1" name="모서리가 둥근 직사각형 55">
            <a:extLst>
              <a:ext uri="{FF2B5EF4-FFF2-40B4-BE49-F238E27FC236}">
                <a16:creationId xmlns:a16="http://schemas.microsoft.com/office/drawing/2014/main" id="{800C44B3-D0A4-3DAD-A68E-94AA36CC9044}"/>
              </a:ext>
            </a:extLst>
          </p:cNvPr>
          <p:cNvSpPr/>
          <p:nvPr/>
        </p:nvSpPr>
        <p:spPr bwMode="auto">
          <a:xfrm>
            <a:off x="257976" y="3495742"/>
            <a:ext cx="4054048" cy="312283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2024. 7. 25.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2021</a:t>
            </a:r>
            <a:r>
              <a:rPr lang="ko-KR" altLang="en-US" sz="1200" dirty="0"/>
              <a:t>후</a:t>
            </a:r>
            <a:r>
              <a:rPr lang="en-US" altLang="ko-KR" sz="1200" dirty="0"/>
              <a:t>11070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거절결정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4A6338D-3C32-0344-F488-9BBDB0BEFD40}"/>
              </a:ext>
            </a:extLst>
          </p:cNvPr>
          <p:cNvCxnSpPr/>
          <p:nvPr/>
        </p:nvCxnSpPr>
        <p:spPr>
          <a:xfrm>
            <a:off x="0" y="525866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B67457-B064-3A42-8266-6E8A6E15BE02}"/>
              </a:ext>
            </a:extLst>
          </p:cNvPr>
          <p:cNvSpPr txBox="1"/>
          <p:nvPr/>
        </p:nvSpPr>
        <p:spPr>
          <a:xfrm>
            <a:off x="257976" y="5348347"/>
            <a:ext cx="11629224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기허가된</a:t>
            </a:r>
            <a:r>
              <a:rPr lang="ko-KR" altLang="en-US" sz="1100" dirty="0">
                <a:latin typeface="+mn-ea"/>
              </a:rPr>
              <a:t> 의약품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</a:t>
            </a:r>
            <a:r>
              <a:rPr lang="ko-KR" altLang="en-US" sz="1100" kern="0" spc="-30" dirty="0">
                <a:effectLst/>
                <a:latin typeface="+mn-ea"/>
              </a:rPr>
              <a:t>를 유효성분으로 하는 의약품</a:t>
            </a:r>
            <a:endParaRPr lang="en-US" altLang="ko-KR" sz="1100" kern="0" spc="-30" dirty="0">
              <a:effectLst/>
              <a:latin typeface="+mn-ea"/>
            </a:endParaRPr>
          </a:p>
          <a:p>
            <a:r>
              <a:rPr lang="ko-KR" altLang="en-US" sz="1100" kern="0" spc="-30" dirty="0">
                <a:latin typeface="+mn-ea"/>
              </a:rPr>
              <a:t>약리기전</a:t>
            </a:r>
            <a:r>
              <a:rPr lang="en-US" altLang="ko-KR" sz="1100" kern="0" spc="-30" dirty="0">
                <a:latin typeface="+mn-ea"/>
              </a:rPr>
              <a:t>: 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</a:t>
            </a:r>
            <a:r>
              <a:rPr lang="ko-KR" altLang="en-US" sz="1100" kern="0" spc="-30" dirty="0">
                <a:effectLst/>
                <a:latin typeface="+mn-ea"/>
              </a:rPr>
              <a:t>이</a:t>
            </a:r>
            <a:r>
              <a:rPr lang="en-US" altLang="ko-KR" sz="1100" kern="0" spc="-30" dirty="0">
                <a:effectLst/>
                <a:latin typeface="+mn-ea"/>
              </a:rPr>
              <a:t> </a:t>
            </a:r>
            <a:r>
              <a:rPr lang="ko-KR" altLang="en-US" sz="1100" kern="0" spc="-30" dirty="0">
                <a:effectLst/>
                <a:latin typeface="+mn-ea"/>
              </a:rPr>
              <a:t>체내 유효성을 가지면서 내재된 약리작용에 의하여 재발성 다발성 경화증의 치료효과를 나타냄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9C9CD6-954A-0B54-7C55-D2D926DCD9B3}"/>
              </a:ext>
            </a:extLst>
          </p:cNvPr>
          <p:cNvSpPr txBox="1"/>
          <p:nvPr/>
        </p:nvSpPr>
        <p:spPr>
          <a:xfrm>
            <a:off x="257976" y="5824091"/>
            <a:ext cx="11629224" cy="9387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이 사건 의약품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 err="1">
                <a:latin typeface="+mn-ea"/>
              </a:rPr>
              <a:t>페그인터페론베타</a:t>
            </a:r>
            <a:r>
              <a:rPr lang="en-US" altLang="ko-KR" sz="1100" dirty="0">
                <a:latin typeface="+mn-ea"/>
              </a:rPr>
              <a:t>-1a(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 + </a:t>
            </a:r>
            <a:r>
              <a:rPr lang="ko-KR" altLang="en-US" sz="1100" kern="0" spc="-30" dirty="0" err="1">
                <a:effectLst/>
                <a:latin typeface="+mn-ea"/>
              </a:rPr>
              <a:t>폴리에틸렌글리콜</a:t>
            </a:r>
            <a:r>
              <a:rPr lang="en-US" altLang="ko-KR" sz="1100" dirty="0">
                <a:latin typeface="+mn-ea"/>
              </a:rPr>
              <a:t>)</a:t>
            </a:r>
            <a:r>
              <a:rPr lang="ko-KR" altLang="en-US" sz="1100" dirty="0">
                <a:latin typeface="+mn-ea"/>
              </a:rPr>
              <a:t>를 유효성분으로 하는 의약품</a:t>
            </a:r>
            <a:endParaRPr lang="en-US" altLang="ko-KR" sz="1100" dirty="0">
              <a:latin typeface="+mn-ea"/>
            </a:endParaRPr>
          </a:p>
          <a:p>
            <a:r>
              <a:rPr lang="ko-KR" altLang="en-US" sz="1100" kern="0" spc="-30" dirty="0">
                <a:latin typeface="+mn-ea"/>
              </a:rPr>
              <a:t>약리기전</a:t>
            </a:r>
            <a:r>
              <a:rPr lang="en-US" altLang="ko-KR" sz="1100" kern="0" spc="-30" dirty="0">
                <a:latin typeface="+mn-ea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 </a:t>
            </a:r>
            <a:r>
              <a:rPr lang="ko-KR" altLang="en-US" sz="1100" kern="0" spc="-30" dirty="0">
                <a:effectLst/>
                <a:latin typeface="+mn-ea"/>
              </a:rPr>
              <a:t>부분이</a:t>
            </a:r>
            <a:r>
              <a:rPr lang="en-US" altLang="ko-KR" sz="1100" kern="0" spc="-30" dirty="0">
                <a:effectLst/>
                <a:latin typeface="+mn-ea"/>
              </a:rPr>
              <a:t> </a:t>
            </a:r>
            <a:r>
              <a:rPr lang="ko-KR" altLang="en-US" sz="1100" kern="0" spc="-30" dirty="0">
                <a:effectLst/>
                <a:latin typeface="+mn-ea"/>
              </a:rPr>
              <a:t>체내 유효성을 가지면서 내재된 약리작용에 의하여 재발성 다발성 경화증의 치료효과를 나타냄 </a:t>
            </a:r>
            <a:endParaRPr lang="en-US" altLang="ko-KR" sz="1100" kern="0" spc="-30" dirty="0">
              <a:effectLst/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100" kern="0" spc="-30" dirty="0" err="1">
                <a:effectLst/>
                <a:latin typeface="+mn-ea"/>
              </a:rPr>
              <a:t>폴리에틸렌글리콜</a:t>
            </a:r>
            <a:r>
              <a:rPr lang="ko-KR" altLang="en-US" sz="1100" kern="0" spc="-30" dirty="0">
                <a:effectLst/>
                <a:latin typeface="+mn-ea"/>
              </a:rPr>
              <a:t> 부분은 체내 유효성이나 위와 같은 치료효과를 가지지 않으면서 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 </a:t>
            </a:r>
            <a:r>
              <a:rPr lang="ko-KR" altLang="en-US" sz="1100" kern="0" spc="-30" dirty="0">
                <a:effectLst/>
                <a:latin typeface="+mn-ea"/>
              </a:rPr>
              <a:t>부분이 혈액 중에 오래 체류하도록 하거나 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</a:t>
            </a:r>
            <a:r>
              <a:rPr lang="ko-KR" altLang="en-US" sz="1100" kern="0" spc="-30" dirty="0">
                <a:effectLst/>
                <a:latin typeface="+mn-ea"/>
              </a:rPr>
              <a:t>의 단백질 수용체에 대한 결합력을 낮추는 등으로 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</a:t>
            </a:r>
            <a:r>
              <a:rPr lang="ko-KR" altLang="en-US" sz="1100" kern="0" spc="-30" dirty="0">
                <a:effectLst/>
                <a:latin typeface="+mn-ea"/>
              </a:rPr>
              <a:t>의 유효성 정도에 영향을 미치는 부분에 불과</a:t>
            </a:r>
            <a:endParaRPr lang="ko-KR" altLang="en-US" sz="1100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9C6540-20BD-8F81-0DD4-5FCCD0BE5705}"/>
              </a:ext>
            </a:extLst>
          </p:cNvPr>
          <p:cNvSpPr txBox="1"/>
          <p:nvPr/>
        </p:nvSpPr>
        <p:spPr>
          <a:xfrm>
            <a:off x="228015" y="1035736"/>
            <a:ext cx="11829512" cy="7437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-60" dirty="0">
                <a:effectLst/>
                <a:latin typeface="+mn-ea"/>
              </a:rPr>
              <a:t>이미 허가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등록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된 의약품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농약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에 의하여 확인된 신물질을 유효성분으로 하여 제조된 의약품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농약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이면서 용도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  <a:r>
              <a:rPr lang="ko-KR" altLang="en-US" sz="1200" kern="0" spc="-60" dirty="0">
                <a:effectLst/>
                <a:latin typeface="+mn-ea"/>
              </a:rPr>
              <a:t>제형 </a:t>
            </a:r>
            <a:r>
              <a:rPr lang="ko-KR" altLang="en-US" sz="1200" kern="0" spc="-60" dirty="0" err="1">
                <a:effectLst/>
                <a:latin typeface="+mn-ea"/>
              </a:rPr>
              <a:t>등만을</a:t>
            </a:r>
            <a:r>
              <a:rPr lang="ko-KR" altLang="en-US" sz="1200" kern="0" spc="-60" dirty="0">
                <a:effectLst/>
                <a:latin typeface="+mn-ea"/>
              </a:rPr>
              <a:t> 변경한 경우에는 이미 허가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등록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된 의약품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농약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과 동일한 물질로 볼 수 있기 때문에 존속기간 연장 대상이 될 수 없다</a:t>
            </a:r>
            <a:r>
              <a:rPr lang="en-US" altLang="ko-KR" sz="1200" kern="0" spc="-60" dirty="0">
                <a:effectLst/>
                <a:latin typeface="+mn-ea"/>
              </a:rPr>
              <a:t>. </a:t>
            </a:r>
            <a:r>
              <a:rPr lang="ko-KR" altLang="en-US" sz="1200" kern="0" spc="-60" dirty="0">
                <a:effectLst/>
                <a:latin typeface="+mn-ea"/>
              </a:rPr>
              <a:t>그러나 이미 허가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등록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된 의약품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농약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의 염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  <a:r>
              <a:rPr lang="ko-KR" altLang="en-US" sz="1200" kern="0" spc="-60" dirty="0" err="1">
                <a:effectLst/>
                <a:latin typeface="+mn-ea"/>
              </a:rPr>
              <a:t>에스테르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  <a:r>
              <a:rPr lang="ko-KR" altLang="en-US" sz="1200" kern="0" spc="-60" dirty="0">
                <a:effectLst/>
                <a:latin typeface="+mn-ea"/>
              </a:rPr>
              <a:t>구조 이성질체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  <a:r>
              <a:rPr lang="ko-KR" altLang="en-US" sz="1200" kern="0" spc="-60" dirty="0" err="1">
                <a:effectLst/>
                <a:latin typeface="+mn-ea"/>
              </a:rPr>
              <a:t>광학이성질체</a:t>
            </a:r>
            <a:r>
              <a:rPr lang="ko-KR" altLang="en-US" sz="1200" kern="0" spc="-60" dirty="0">
                <a:effectLst/>
                <a:latin typeface="+mn-ea"/>
              </a:rPr>
              <a:t> 등이 달라 새로운 신물질을 유효성분으로 한 것이라면 존속기간 연장의 대상이 될 수 있다</a:t>
            </a:r>
            <a:r>
              <a:rPr lang="en-US" altLang="ko-KR" sz="1200" kern="0" spc="-60" dirty="0">
                <a:effectLst/>
                <a:latin typeface="+mn-ea"/>
              </a:rPr>
              <a:t>.</a:t>
            </a:r>
            <a:endParaRPr lang="ko-KR" altLang="en-US" sz="1200" kern="0" spc="-60" dirty="0">
              <a:effectLst/>
              <a:latin typeface="+mn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C8D77D-62D3-FCBE-05A5-33758F88B675}"/>
              </a:ext>
            </a:extLst>
          </p:cNvPr>
          <p:cNvSpPr/>
          <p:nvPr/>
        </p:nvSpPr>
        <p:spPr>
          <a:xfrm>
            <a:off x="7171765" y="2178215"/>
            <a:ext cx="3164541" cy="2402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CC88449-4094-8555-9005-17F4115EF5CA}"/>
              </a:ext>
            </a:extLst>
          </p:cNvPr>
          <p:cNvCxnSpPr>
            <a:endCxn id="21" idx="3"/>
          </p:cNvCxnSpPr>
          <p:nvPr/>
        </p:nvCxnSpPr>
        <p:spPr>
          <a:xfrm flipH="1">
            <a:off x="4312024" y="2418458"/>
            <a:ext cx="4473388" cy="123342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F41936-4811-52B9-34EA-ABEFBEEBA8AD}"/>
              </a:ext>
            </a:extLst>
          </p:cNvPr>
          <p:cNvSpPr/>
          <p:nvPr/>
        </p:nvSpPr>
        <p:spPr>
          <a:xfrm>
            <a:off x="8346140" y="5542568"/>
            <a:ext cx="3281080" cy="544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약효를 나타내는 유효성 부분인 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인터페론베타</a:t>
            </a:r>
            <a:r>
              <a:rPr lang="en-US" altLang="ko-KR" dirty="0">
                <a:solidFill>
                  <a:srgbClr val="FF0000"/>
                </a:solidFill>
              </a:rPr>
              <a:t>-1a</a:t>
            </a:r>
            <a:r>
              <a:rPr lang="ko-KR" altLang="en-US" dirty="0">
                <a:solidFill>
                  <a:srgbClr val="FF0000"/>
                </a:solidFill>
              </a:rPr>
              <a:t>가 동일</a:t>
            </a:r>
          </a:p>
        </p:txBody>
      </p:sp>
    </p:spTree>
    <p:extLst>
      <p:ext uri="{BB962C8B-B14F-4D97-AF65-F5344CB8AC3E}">
        <p14:creationId xmlns:p14="http://schemas.microsoft.com/office/powerpoint/2010/main" val="62942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44C5683-D951-41A5-8C59-0D3786236B68}"/>
              </a:ext>
            </a:extLst>
          </p:cNvPr>
          <p:cNvSpPr/>
          <p:nvPr/>
        </p:nvSpPr>
        <p:spPr>
          <a:xfrm>
            <a:off x="272838" y="5111035"/>
            <a:ext cx="5675116" cy="144120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5343F1B-9096-40E8-9F50-0DE853B18BCA}"/>
              </a:ext>
            </a:extLst>
          </p:cNvPr>
          <p:cNvCxnSpPr/>
          <p:nvPr/>
        </p:nvCxnSpPr>
        <p:spPr>
          <a:xfrm>
            <a:off x="5085807" y="4796287"/>
            <a:ext cx="0" cy="188055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8789905-C14C-40E0-B5FD-3B87DDE66CEE}"/>
              </a:ext>
            </a:extLst>
          </p:cNvPr>
          <p:cNvCxnSpPr/>
          <p:nvPr/>
        </p:nvCxnSpPr>
        <p:spPr>
          <a:xfrm>
            <a:off x="1000664" y="4796287"/>
            <a:ext cx="0" cy="188055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525252"/>
                </a:solidFill>
              </a:rPr>
              <a:t>객체</a:t>
            </a:r>
            <a:r>
              <a:rPr lang="en-US" altLang="ko-KR" dirty="0">
                <a:solidFill>
                  <a:srgbClr val="525252"/>
                </a:solidFill>
              </a:rPr>
              <a:t>: </a:t>
            </a:r>
            <a:r>
              <a:rPr lang="ko-KR" altLang="en-US" dirty="0">
                <a:solidFill>
                  <a:srgbClr val="525252"/>
                </a:solidFill>
              </a:rPr>
              <a:t>연장기간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89</a:t>
            </a:r>
            <a:r>
              <a:rPr lang="ko-KR" altLang="en-US" dirty="0">
                <a:solidFill>
                  <a:srgbClr val="525252"/>
                </a:solidFill>
              </a:rPr>
              <a:t>조</a:t>
            </a:r>
            <a:r>
              <a:rPr lang="en-US" altLang="ko-KR" dirty="0">
                <a:solidFill>
                  <a:srgbClr val="525252"/>
                </a:solidFill>
              </a:rPr>
              <a:t>, </a:t>
            </a:r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91</a:t>
            </a:r>
            <a:r>
              <a:rPr lang="ko-KR" altLang="en-US" dirty="0">
                <a:solidFill>
                  <a:srgbClr val="525252"/>
                </a:solidFill>
              </a:rPr>
              <a:t>조제</a:t>
            </a:r>
            <a:r>
              <a:rPr lang="en-US" altLang="ko-KR" dirty="0">
                <a:solidFill>
                  <a:srgbClr val="525252"/>
                </a:solidFill>
              </a:rPr>
              <a:t>3</a:t>
            </a:r>
            <a:r>
              <a:rPr lang="ko-KR" altLang="en-US" dirty="0">
                <a:solidFill>
                  <a:srgbClr val="525252"/>
                </a:solidFill>
              </a:rPr>
              <a:t>호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298</a:t>
            </a:fld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B63F12B-A9B8-40F5-8512-F5EA7729ED4D}"/>
              </a:ext>
            </a:extLst>
          </p:cNvPr>
          <p:cNvSpPr/>
          <p:nvPr/>
        </p:nvSpPr>
        <p:spPr>
          <a:xfrm>
            <a:off x="272839" y="1043274"/>
            <a:ext cx="11585784" cy="326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연장기간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특허발명을 실시할 수 없었던 기간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최대 </a:t>
            </a:r>
            <a:r>
              <a:rPr lang="en-US" altLang="ko-KR" sz="1200" dirty="0">
                <a:solidFill>
                  <a:schemeClr val="tx1"/>
                </a:solidFill>
              </a:rPr>
              <a:t>5</a:t>
            </a:r>
            <a:r>
              <a:rPr lang="ko-KR" altLang="en-US" sz="1200" dirty="0">
                <a:solidFill>
                  <a:schemeClr val="tx1"/>
                </a:solidFill>
              </a:rPr>
              <a:t>년</a:t>
            </a:r>
            <a:r>
              <a:rPr lang="en-US" altLang="ko-KR" sz="1200" dirty="0">
                <a:solidFill>
                  <a:schemeClr val="tx1"/>
                </a:solidFill>
              </a:rPr>
              <a:t>) / </a:t>
            </a:r>
            <a:r>
              <a:rPr lang="ko-KR" altLang="en-US" sz="1200" dirty="0">
                <a:solidFill>
                  <a:schemeClr val="tx1"/>
                </a:solidFill>
              </a:rPr>
              <a:t>단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허가 등을 받은 날로부터 </a:t>
            </a:r>
            <a:r>
              <a:rPr lang="en-US" altLang="ko-KR" sz="1200" dirty="0">
                <a:solidFill>
                  <a:schemeClr val="tx1"/>
                </a:solidFill>
              </a:rPr>
              <a:t>14</a:t>
            </a:r>
            <a:r>
              <a:rPr lang="ko-KR" altLang="en-US" sz="1200" dirty="0">
                <a:solidFill>
                  <a:schemeClr val="tx1"/>
                </a:solidFill>
              </a:rPr>
              <a:t>년 초과 연장 불가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C3895A4-F439-4C5F-9793-ACB83291B274}"/>
              </a:ext>
            </a:extLst>
          </p:cNvPr>
          <p:cNvSpPr/>
          <p:nvPr/>
        </p:nvSpPr>
        <p:spPr>
          <a:xfrm>
            <a:off x="414632" y="5548096"/>
            <a:ext cx="1109362" cy="4333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식약처에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허가의 신청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0ABB98C-ACA5-46E0-A537-5256A24636C7}"/>
              </a:ext>
            </a:extLst>
          </p:cNvPr>
          <p:cNvSpPr/>
          <p:nvPr/>
        </p:nvSpPr>
        <p:spPr>
          <a:xfrm>
            <a:off x="4728756" y="5600344"/>
            <a:ext cx="714102" cy="22436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허가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AA234AB-9F1E-403C-8D6E-A871D006661C}"/>
              </a:ext>
            </a:extLst>
          </p:cNvPr>
          <p:cNvSpPr/>
          <p:nvPr/>
        </p:nvSpPr>
        <p:spPr>
          <a:xfrm>
            <a:off x="1898468" y="5221288"/>
            <a:ext cx="760122" cy="433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부서심사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DF45460-F765-4AEE-9B74-4D1133676F84}"/>
              </a:ext>
            </a:extLst>
          </p:cNvPr>
          <p:cNvSpPr/>
          <p:nvPr/>
        </p:nvSpPr>
        <p:spPr>
          <a:xfrm>
            <a:off x="1898467" y="5915903"/>
            <a:ext cx="760119" cy="433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부서심사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06DEB5F-1126-4B6F-83F4-DD097E69F90A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2658590" y="5437975"/>
            <a:ext cx="161731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E04B6A6-7819-48B2-9D2C-C36D51DB314B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2658586" y="6132590"/>
            <a:ext cx="319357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14">
            <a:extLst>
              <a:ext uri="{FF2B5EF4-FFF2-40B4-BE49-F238E27FC236}">
                <a16:creationId xmlns:a16="http://schemas.microsoft.com/office/drawing/2014/main" id="{D9C02F91-187E-4242-A74D-347ABFB9264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030765" y="6073624"/>
            <a:ext cx="110084" cy="11793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Rectangle 14">
            <a:extLst>
              <a:ext uri="{FF2B5EF4-FFF2-40B4-BE49-F238E27FC236}">
                <a16:creationId xmlns:a16="http://schemas.microsoft.com/office/drawing/2014/main" id="{D5D309B3-1AB6-4453-81D5-5B1AE0B229D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20867" y="5379009"/>
            <a:ext cx="110084" cy="11793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808B324-4E6D-46D7-B9F4-90E2742E85EA}"/>
              </a:ext>
            </a:extLst>
          </p:cNvPr>
          <p:cNvCxnSpPr>
            <a:cxnSpLocks/>
            <a:stCxn id="42" idx="2"/>
            <a:endCxn id="55" idx="4"/>
          </p:cNvCxnSpPr>
          <p:nvPr/>
        </p:nvCxnSpPr>
        <p:spPr>
          <a:xfrm>
            <a:off x="5085807" y="5824712"/>
            <a:ext cx="0" cy="24891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9C74924-35A2-442C-91F4-B43C614904AF}"/>
              </a:ext>
            </a:extLst>
          </p:cNvPr>
          <p:cNvSpPr/>
          <p:nvPr/>
        </p:nvSpPr>
        <p:spPr>
          <a:xfrm>
            <a:off x="3927880" y="5090366"/>
            <a:ext cx="7601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심사완료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AD17856-EC90-4D94-8185-EF77CCEC7305}"/>
              </a:ext>
            </a:extLst>
          </p:cNvPr>
          <p:cNvSpPr/>
          <p:nvPr/>
        </p:nvSpPr>
        <p:spPr>
          <a:xfrm>
            <a:off x="4705746" y="6169248"/>
            <a:ext cx="7601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심사완료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8A85C91-63B4-4C3B-94F1-6FC23D109111}"/>
              </a:ext>
            </a:extLst>
          </p:cNvPr>
          <p:cNvSpPr/>
          <p:nvPr/>
        </p:nvSpPr>
        <p:spPr>
          <a:xfrm>
            <a:off x="2932973" y="5301430"/>
            <a:ext cx="968780" cy="26282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서류보완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38D34921-9243-4863-9E39-B4978A71C1F9}"/>
              </a:ext>
            </a:extLst>
          </p:cNvPr>
          <p:cNvCxnSpPr>
            <a:cxnSpLocks/>
            <a:stCxn id="41" idx="3"/>
            <a:endCxn id="46" idx="1"/>
          </p:cNvCxnSpPr>
          <p:nvPr/>
        </p:nvCxnSpPr>
        <p:spPr>
          <a:xfrm flipV="1">
            <a:off x="1523994" y="5437975"/>
            <a:ext cx="374474" cy="3268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4B25D2A-10DA-404A-83EE-25D9B817263A}"/>
              </a:ext>
            </a:extLst>
          </p:cNvPr>
          <p:cNvCxnSpPr>
            <a:cxnSpLocks/>
            <a:stCxn id="41" idx="3"/>
            <a:endCxn id="47" idx="1"/>
          </p:cNvCxnSpPr>
          <p:nvPr/>
        </p:nvCxnSpPr>
        <p:spPr>
          <a:xfrm>
            <a:off x="1523994" y="5764783"/>
            <a:ext cx="374473" cy="3678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863BD97-3904-456F-8D3E-DDA7645BD93E}"/>
              </a:ext>
            </a:extLst>
          </p:cNvPr>
          <p:cNvSpPr/>
          <p:nvPr/>
        </p:nvSpPr>
        <p:spPr>
          <a:xfrm>
            <a:off x="272839" y="2299290"/>
            <a:ext cx="5675115" cy="23083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원고들이 피고를 상대로 피고의 특허발명에 대하여 이루어진 존속기간 연장등록은 특허발명을 실시할 수 없었던 기간을 초과하여 무효로 되어야 한다고 주장한 사건에서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식품의약품안전처 내 어느 심사부서에서 보완요구가 이루어지고 그 결과 보완자료를 제출할 때까지 그 보완요구 사항에 대한 심사가 진행되지 못하였다 하더라도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그 동안 식품의약품안전처의 다른 심사부서에서 그 의약품의 제조판매 </a:t>
            </a:r>
            <a:r>
              <a:rPr lang="en-US" altLang="ko-KR" sz="1200" dirty="0">
                <a:highlight>
                  <a:srgbClr val="FFFF00"/>
                </a:highlight>
              </a:rPr>
              <a:t>· </a:t>
            </a:r>
            <a:r>
              <a:rPr lang="ko-KR" altLang="en-US" sz="1200" dirty="0">
                <a:highlight>
                  <a:srgbClr val="FFFF00"/>
                </a:highlight>
              </a:rPr>
              <a:t>수입품목 허가를 위한 심사 등의 절차가 계속 진행되고 있었던 경우에는 다른 특별한 사정이 없는 한 그 기간 역시 허가를 위하여 소요된 기간으로 볼 수 있으므로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이를 가지고 허가 등을 받은 자의 귀책사유로 인하여 허가 등의 절차가 지연된 기간이라고 단정할 수 없으므로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특허발명을 실시할 수 없었던 기간 중에서 식품의약품안전처의 심사가 전혀 진행되지 아니한 기간은 없고 달리 ‘허가 등을 받은 자의 책임 있는 </a:t>
            </a:r>
            <a:r>
              <a:rPr lang="ko-KR" altLang="en-US" sz="1200" dirty="0" err="1"/>
              <a:t>사유’로</a:t>
            </a:r>
            <a:r>
              <a:rPr lang="ko-KR" altLang="en-US" sz="1200" dirty="0"/>
              <a:t> 제외되어야 할 기간을 인정할 자료가 없으므로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연장등록에 구 특허법 제</a:t>
            </a:r>
            <a:r>
              <a:rPr lang="en-US" altLang="ko-KR" sz="1200" dirty="0"/>
              <a:t>134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3</a:t>
            </a:r>
            <a:r>
              <a:rPr lang="ko-KR" altLang="en-US" sz="1200" dirty="0"/>
              <a:t>호의 무효사유가 있다고 볼 수 없다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2017. 11. 29.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2017</a:t>
            </a:r>
            <a:r>
              <a:rPr lang="ko-KR" altLang="en-US" sz="1200" dirty="0"/>
              <a:t>후</a:t>
            </a:r>
            <a:r>
              <a:rPr lang="en-US" altLang="ko-KR" sz="1200" dirty="0"/>
              <a:t>844, 851, 868, 875).</a:t>
            </a:r>
            <a:endParaRPr lang="ko-KR" altLang="en-US" sz="1200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94BDB975-038F-4A76-9B0C-1874AC4B26A7}"/>
              </a:ext>
            </a:extLst>
          </p:cNvPr>
          <p:cNvCxnSpPr>
            <a:cxnSpLocks/>
          </p:cNvCxnSpPr>
          <p:nvPr/>
        </p:nvCxnSpPr>
        <p:spPr>
          <a:xfrm flipV="1">
            <a:off x="6088591" y="1592820"/>
            <a:ext cx="0" cy="48556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ACA9939-1CF3-437E-A9A9-13AACF23545C}"/>
              </a:ext>
            </a:extLst>
          </p:cNvPr>
          <p:cNvCxnSpPr/>
          <p:nvPr/>
        </p:nvCxnSpPr>
        <p:spPr>
          <a:xfrm>
            <a:off x="1000664" y="4925685"/>
            <a:ext cx="4030101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931D68-9594-472E-90DF-55B58F14D8F7}"/>
              </a:ext>
            </a:extLst>
          </p:cNvPr>
          <p:cNvSpPr/>
          <p:nvPr/>
        </p:nvSpPr>
        <p:spPr>
          <a:xfrm>
            <a:off x="1905277" y="4598643"/>
            <a:ext cx="2221821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관련서류 검토기간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48206-87FC-4DD3-509A-4229BBE0911B}"/>
              </a:ext>
            </a:extLst>
          </p:cNvPr>
          <p:cNvSpPr txBox="1"/>
          <p:nvPr/>
        </p:nvSpPr>
        <p:spPr>
          <a:xfrm>
            <a:off x="352530" y="1856590"/>
            <a:ext cx="1084342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시험기간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04590-D319-55B8-770A-902F3281AFA2}"/>
              </a:ext>
            </a:extLst>
          </p:cNvPr>
          <p:cNvSpPr txBox="1"/>
          <p:nvPr/>
        </p:nvSpPr>
        <p:spPr>
          <a:xfrm>
            <a:off x="1943658" y="1856590"/>
            <a:ext cx="1532863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관련서류 검토기간</a:t>
            </a:r>
          </a:p>
        </p:txBody>
      </p:sp>
      <p:sp>
        <p:nvSpPr>
          <p:cNvPr id="10" name="더하기 기호 9">
            <a:extLst>
              <a:ext uri="{FF2B5EF4-FFF2-40B4-BE49-F238E27FC236}">
                <a16:creationId xmlns:a16="http://schemas.microsoft.com/office/drawing/2014/main" id="{616180E3-6A20-C457-BD75-5B3661D421A5}"/>
              </a:ext>
            </a:extLst>
          </p:cNvPr>
          <p:cNvSpPr/>
          <p:nvPr/>
        </p:nvSpPr>
        <p:spPr>
          <a:xfrm>
            <a:off x="1535147" y="1856590"/>
            <a:ext cx="325181" cy="286734"/>
          </a:xfrm>
          <a:prstGeom prst="mathPlu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5FC57A-FEFC-AC0C-871F-EEC5DB43FA07}"/>
              </a:ext>
            </a:extLst>
          </p:cNvPr>
          <p:cNvSpPr txBox="1"/>
          <p:nvPr/>
        </p:nvSpPr>
        <p:spPr>
          <a:xfrm>
            <a:off x="3892020" y="1856590"/>
            <a:ext cx="205347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책임있는</a:t>
            </a:r>
            <a:r>
              <a:rPr lang="ko-KR" altLang="en-US" sz="1400" dirty="0"/>
              <a:t> 사유로 소요기간</a:t>
            </a:r>
          </a:p>
        </p:txBody>
      </p:sp>
      <p:sp>
        <p:nvSpPr>
          <p:cNvPr id="15" name="빼기 기호 14">
            <a:extLst>
              <a:ext uri="{FF2B5EF4-FFF2-40B4-BE49-F238E27FC236}">
                <a16:creationId xmlns:a16="http://schemas.microsoft.com/office/drawing/2014/main" id="{B2BAAA45-38ED-B4B2-67CB-A87051DF0F7D}"/>
              </a:ext>
            </a:extLst>
          </p:cNvPr>
          <p:cNvSpPr/>
          <p:nvPr/>
        </p:nvSpPr>
        <p:spPr>
          <a:xfrm>
            <a:off x="3542613" y="1857680"/>
            <a:ext cx="278443" cy="288757"/>
          </a:xfrm>
          <a:prstGeom prst="mathMinu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E54E8-1C79-8595-83F6-5BA64DE4FDB7}"/>
              </a:ext>
            </a:extLst>
          </p:cNvPr>
          <p:cNvSpPr txBox="1"/>
          <p:nvPr/>
        </p:nvSpPr>
        <p:spPr>
          <a:xfrm>
            <a:off x="294986" y="1582971"/>
            <a:ext cx="3999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설정등록일 이후의 기간 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4D0B13-9B98-9B6D-02AA-6EB018A4A822}"/>
              </a:ext>
            </a:extLst>
          </p:cNvPr>
          <p:cNvSpPr/>
          <p:nvPr/>
        </p:nvSpPr>
        <p:spPr>
          <a:xfrm>
            <a:off x="964804" y="1047399"/>
            <a:ext cx="2136984" cy="3050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9A0A671-C6C6-A822-74D5-A28855AD610B}"/>
              </a:ext>
            </a:extLst>
          </p:cNvPr>
          <p:cNvSpPr/>
          <p:nvPr/>
        </p:nvSpPr>
        <p:spPr>
          <a:xfrm>
            <a:off x="272838" y="1582971"/>
            <a:ext cx="5769372" cy="6573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35D09377-5A1D-2774-288C-9DF35C1F623A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 rot="16200000" flipH="1">
            <a:off x="2480173" y="905619"/>
            <a:ext cx="230475" cy="1124228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7CF88D-5CC4-C240-B320-B48CC56BF5A8}"/>
              </a:ext>
            </a:extLst>
          </p:cNvPr>
          <p:cNvSpPr/>
          <p:nvPr/>
        </p:nvSpPr>
        <p:spPr>
          <a:xfrm>
            <a:off x="4127098" y="1047399"/>
            <a:ext cx="2826152" cy="305097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D64733E-A403-FBBF-B33B-12CE5F2E22BD}"/>
              </a:ext>
            </a:extLst>
          </p:cNvPr>
          <p:cNvSpPr/>
          <p:nvPr/>
        </p:nvSpPr>
        <p:spPr>
          <a:xfrm>
            <a:off x="6182847" y="1582971"/>
            <a:ext cx="5769372" cy="496926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94BC97E5-E67B-8EC4-35F8-C6FF43EB6F65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 rot="16200000" flipH="1">
            <a:off x="7188616" y="-295947"/>
            <a:ext cx="230475" cy="3527359"/>
          </a:xfrm>
          <a:prstGeom prst="bentConnector3">
            <a:avLst/>
          </a:prstGeom>
          <a:ln w="28575"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F96A3EC-5EDA-E375-7CBE-A64C84BFC539}"/>
              </a:ext>
            </a:extLst>
          </p:cNvPr>
          <p:cNvSpPr/>
          <p:nvPr/>
        </p:nvSpPr>
        <p:spPr>
          <a:xfrm>
            <a:off x="6496372" y="2820287"/>
            <a:ext cx="4626196" cy="30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3F6969-CB69-875F-B722-BF8B79B451B4}"/>
              </a:ext>
            </a:extLst>
          </p:cNvPr>
          <p:cNvSpPr txBox="1"/>
          <p:nvPr/>
        </p:nvSpPr>
        <p:spPr>
          <a:xfrm>
            <a:off x="6180384" y="2180121"/>
            <a:ext cx="67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  <a:endParaRPr lang="en-US" altLang="ko-KR" sz="1000" dirty="0"/>
          </a:p>
          <a:p>
            <a:pPr algn="ctr"/>
            <a:r>
              <a:rPr lang="en-US" altLang="ko-KR" sz="800" dirty="0"/>
              <a:t>(</a:t>
            </a:r>
            <a:r>
              <a:rPr lang="ko-KR" altLang="en-US" sz="800" dirty="0"/>
              <a:t>심사청구</a:t>
            </a:r>
            <a:r>
              <a:rPr lang="en-US" altLang="ko-KR" sz="800" dirty="0"/>
              <a:t>)</a:t>
            </a:r>
          </a:p>
          <a:p>
            <a:pPr algn="ctr"/>
            <a:r>
              <a:rPr lang="en-US" altLang="ko-KR" sz="1000" dirty="0"/>
              <a:t>2020.1.1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CF25E0-190A-2756-BB40-F2AF7FFF18A9}"/>
              </a:ext>
            </a:extLst>
          </p:cNvPr>
          <p:cNvSpPr txBox="1"/>
          <p:nvPr/>
        </p:nvSpPr>
        <p:spPr>
          <a:xfrm>
            <a:off x="7005072" y="2246796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설정등록</a:t>
            </a:r>
            <a:endParaRPr lang="en-US" altLang="ko-KR" sz="1000" dirty="0"/>
          </a:p>
          <a:p>
            <a:pPr algn="ctr"/>
            <a:r>
              <a:rPr lang="en-US" altLang="ko-KR" sz="1000" dirty="0"/>
              <a:t>2024.1.1</a:t>
            </a:r>
            <a:endParaRPr lang="ko-KR" alt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B7E46E-616C-585B-ACC5-65A217BB8870}"/>
              </a:ext>
            </a:extLst>
          </p:cNvPr>
          <p:cNvSpPr txBox="1"/>
          <p:nvPr/>
        </p:nvSpPr>
        <p:spPr>
          <a:xfrm>
            <a:off x="8599375" y="2228685"/>
            <a:ext cx="761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err="1"/>
              <a:t>식약처허가</a:t>
            </a:r>
            <a:endParaRPr lang="en-US" altLang="ko-KR" sz="1000" dirty="0"/>
          </a:p>
          <a:p>
            <a:pPr algn="ctr"/>
            <a:r>
              <a:rPr lang="en-US" altLang="ko-KR" sz="1000" dirty="0"/>
              <a:t>2030.1.1</a:t>
            </a:r>
            <a:endParaRPr lang="ko-KR" altLang="en-US" sz="1000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F263162-DC68-1CBF-8102-86D3131A0409}"/>
              </a:ext>
            </a:extLst>
          </p:cNvPr>
          <p:cNvCxnSpPr>
            <a:cxnSpLocks/>
          </p:cNvCxnSpPr>
          <p:nvPr/>
        </p:nvCxnSpPr>
        <p:spPr>
          <a:xfrm flipV="1">
            <a:off x="8915362" y="264668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A1494F6-0E3A-D5FE-F197-95CF57169266}"/>
              </a:ext>
            </a:extLst>
          </p:cNvPr>
          <p:cNvCxnSpPr>
            <a:cxnSpLocks/>
          </p:cNvCxnSpPr>
          <p:nvPr/>
        </p:nvCxnSpPr>
        <p:spPr>
          <a:xfrm flipV="1">
            <a:off x="7336263" y="264668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C9C70611-DE57-C8B9-A386-F809D2571092}"/>
              </a:ext>
            </a:extLst>
          </p:cNvPr>
          <p:cNvCxnSpPr>
            <a:cxnSpLocks/>
          </p:cNvCxnSpPr>
          <p:nvPr/>
        </p:nvCxnSpPr>
        <p:spPr>
          <a:xfrm flipV="1">
            <a:off x="6502542" y="264668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850512E-CE4A-80F8-4F40-8E071DBEC436}"/>
              </a:ext>
            </a:extLst>
          </p:cNvPr>
          <p:cNvSpPr txBox="1"/>
          <p:nvPr/>
        </p:nvSpPr>
        <p:spPr>
          <a:xfrm>
            <a:off x="9643782" y="2228685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연장전 만료일</a:t>
            </a:r>
            <a:endParaRPr lang="en-US" altLang="ko-KR" sz="1000" dirty="0"/>
          </a:p>
          <a:p>
            <a:pPr algn="ctr"/>
            <a:r>
              <a:rPr lang="en-US" altLang="ko-KR" sz="1000" dirty="0"/>
              <a:t>2040.1.1</a:t>
            </a:r>
            <a:endParaRPr lang="ko-KR" altLang="en-US" sz="1000" dirty="0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8CB0DB6-2DDD-0E66-0A70-0E7B9A388F9C}"/>
              </a:ext>
            </a:extLst>
          </p:cNvPr>
          <p:cNvCxnSpPr>
            <a:cxnSpLocks/>
          </p:cNvCxnSpPr>
          <p:nvPr/>
        </p:nvCxnSpPr>
        <p:spPr>
          <a:xfrm flipV="1">
            <a:off x="10083594" y="264668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870AFDD-4732-5176-100A-7336701E68BC}"/>
              </a:ext>
            </a:extLst>
          </p:cNvPr>
          <p:cNvSpPr txBox="1"/>
          <p:nvPr/>
        </p:nvSpPr>
        <p:spPr>
          <a:xfrm>
            <a:off x="10623501" y="2228685"/>
            <a:ext cx="1027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존속기간 만료일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2044.1.1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9775AC3-FE75-F3B2-31D7-F7FCE8977A55}"/>
              </a:ext>
            </a:extLst>
          </p:cNvPr>
          <p:cNvSpPr/>
          <p:nvPr/>
        </p:nvSpPr>
        <p:spPr>
          <a:xfrm>
            <a:off x="7882555" y="2820287"/>
            <a:ext cx="1030264" cy="301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F7A035D-9815-2B29-FE7A-AF944E09C5A4}"/>
              </a:ext>
            </a:extLst>
          </p:cNvPr>
          <p:cNvSpPr/>
          <p:nvPr/>
        </p:nvSpPr>
        <p:spPr>
          <a:xfrm>
            <a:off x="10092303" y="2820287"/>
            <a:ext cx="1030264" cy="301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EAF6B53-2B00-CCA3-C95D-53AD636ACEB7}"/>
              </a:ext>
            </a:extLst>
          </p:cNvPr>
          <p:cNvCxnSpPr>
            <a:cxnSpLocks/>
          </p:cNvCxnSpPr>
          <p:nvPr/>
        </p:nvCxnSpPr>
        <p:spPr>
          <a:xfrm flipV="1">
            <a:off x="11121021" y="264668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8246CAA-10BC-5BBF-B5FC-80E510D58764}"/>
              </a:ext>
            </a:extLst>
          </p:cNvPr>
          <p:cNvCxnSpPr/>
          <p:nvPr/>
        </p:nvCxnSpPr>
        <p:spPr>
          <a:xfrm>
            <a:off x="8912819" y="2743746"/>
            <a:ext cx="2208202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494FB22-A433-FEA9-84B9-5413234589A2}"/>
              </a:ext>
            </a:extLst>
          </p:cNvPr>
          <p:cNvSpPr txBox="1"/>
          <p:nvPr/>
        </p:nvSpPr>
        <p:spPr>
          <a:xfrm>
            <a:off x="9490855" y="2572565"/>
            <a:ext cx="44114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14</a:t>
            </a:r>
            <a:r>
              <a:rPr lang="ko-KR" altLang="en-US" sz="1000" dirty="0"/>
              <a:t>년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E10F21B1-B172-DC3D-BE16-B1E31C5B0DF8}"/>
              </a:ext>
            </a:extLst>
          </p:cNvPr>
          <p:cNvSpPr/>
          <p:nvPr/>
        </p:nvSpPr>
        <p:spPr>
          <a:xfrm>
            <a:off x="6306267" y="1817362"/>
            <a:ext cx="302884" cy="286734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C13DD8-D7DA-A6D7-24DC-4F4D74D42662}"/>
              </a:ext>
            </a:extLst>
          </p:cNvPr>
          <p:cNvSpPr txBox="1"/>
          <p:nvPr/>
        </p:nvSpPr>
        <p:spPr>
          <a:xfrm>
            <a:off x="6659252" y="1846453"/>
            <a:ext cx="21275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등록지연기간 없음</a:t>
            </a:r>
            <a:r>
              <a:rPr lang="en-US" altLang="ko-KR" sz="1000" dirty="0"/>
              <a:t>, </a:t>
            </a:r>
            <a:r>
              <a:rPr lang="ko-KR" altLang="en-US" sz="1000" dirty="0"/>
              <a:t>허가지연기간 </a:t>
            </a:r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2AFE682-D9E0-39F1-6AC4-9626478CDE3D}"/>
              </a:ext>
            </a:extLst>
          </p:cNvPr>
          <p:cNvSpPr/>
          <p:nvPr/>
        </p:nvSpPr>
        <p:spPr>
          <a:xfrm>
            <a:off x="10549503" y="1625425"/>
            <a:ext cx="463908" cy="1659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C51FF0-6761-ECA4-868A-D99A90164679}"/>
              </a:ext>
            </a:extLst>
          </p:cNvPr>
          <p:cNvSpPr txBox="1"/>
          <p:nvPr/>
        </p:nvSpPr>
        <p:spPr>
          <a:xfrm>
            <a:off x="11013411" y="1592820"/>
            <a:ext cx="8771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허가지연기간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FAC0B25-B793-5E48-A97E-31295CDD0FB3}"/>
              </a:ext>
            </a:extLst>
          </p:cNvPr>
          <p:cNvSpPr/>
          <p:nvPr/>
        </p:nvSpPr>
        <p:spPr>
          <a:xfrm>
            <a:off x="10549503" y="1826542"/>
            <a:ext cx="463908" cy="1659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150E5C-2567-7BCC-3F4E-162496451A4D}"/>
              </a:ext>
            </a:extLst>
          </p:cNvPr>
          <p:cNvSpPr txBox="1"/>
          <p:nvPr/>
        </p:nvSpPr>
        <p:spPr>
          <a:xfrm>
            <a:off x="11013411" y="1793937"/>
            <a:ext cx="8771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등록지연기간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BC58878-4CDE-A0F6-7380-81B1DB3402AB}"/>
              </a:ext>
            </a:extLst>
          </p:cNvPr>
          <p:cNvSpPr/>
          <p:nvPr/>
        </p:nvSpPr>
        <p:spPr>
          <a:xfrm>
            <a:off x="6496372" y="4382107"/>
            <a:ext cx="4626196" cy="30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A8EF56C-6A23-3D33-0B58-9D4E38ED8CDD}"/>
              </a:ext>
            </a:extLst>
          </p:cNvPr>
          <p:cNvSpPr txBox="1"/>
          <p:nvPr/>
        </p:nvSpPr>
        <p:spPr>
          <a:xfrm>
            <a:off x="7538472" y="3799091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설정등록</a:t>
            </a:r>
            <a:endParaRPr lang="en-US" altLang="ko-KR" sz="1000" dirty="0"/>
          </a:p>
          <a:p>
            <a:pPr algn="ctr"/>
            <a:r>
              <a:rPr lang="en-US" altLang="ko-KR" sz="1000" dirty="0"/>
              <a:t>2026.1.1</a:t>
            </a:r>
            <a:endParaRPr lang="ko-KR" altLang="en-US" sz="1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F6D7590-BE95-A50A-AE8F-F4C02D9EBE3C}"/>
              </a:ext>
            </a:extLst>
          </p:cNvPr>
          <p:cNvSpPr txBox="1"/>
          <p:nvPr/>
        </p:nvSpPr>
        <p:spPr>
          <a:xfrm>
            <a:off x="8599375" y="3790505"/>
            <a:ext cx="761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err="1"/>
              <a:t>식약처허가</a:t>
            </a:r>
            <a:endParaRPr lang="en-US" altLang="ko-KR" sz="1000" dirty="0"/>
          </a:p>
          <a:p>
            <a:pPr algn="ctr"/>
            <a:r>
              <a:rPr lang="en-US" altLang="ko-KR" sz="1000" dirty="0"/>
              <a:t>2030.1.1</a:t>
            </a:r>
            <a:endParaRPr lang="ko-KR" altLang="en-US" sz="1000" dirty="0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D926508A-27A4-7AE5-052F-A6C2219897C4}"/>
              </a:ext>
            </a:extLst>
          </p:cNvPr>
          <p:cNvCxnSpPr>
            <a:cxnSpLocks/>
          </p:cNvCxnSpPr>
          <p:nvPr/>
        </p:nvCxnSpPr>
        <p:spPr>
          <a:xfrm flipV="1">
            <a:off x="8915362" y="420850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8325023-8114-4039-5499-A0F1F60E0A5A}"/>
              </a:ext>
            </a:extLst>
          </p:cNvPr>
          <p:cNvCxnSpPr>
            <a:cxnSpLocks/>
          </p:cNvCxnSpPr>
          <p:nvPr/>
        </p:nvCxnSpPr>
        <p:spPr>
          <a:xfrm flipV="1">
            <a:off x="6502542" y="420850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E026108F-D953-5A0A-DE4B-8192539B42C4}"/>
              </a:ext>
            </a:extLst>
          </p:cNvPr>
          <p:cNvSpPr txBox="1"/>
          <p:nvPr/>
        </p:nvSpPr>
        <p:spPr>
          <a:xfrm>
            <a:off x="9643782" y="3790505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연장전 만료일</a:t>
            </a:r>
            <a:endParaRPr lang="en-US" altLang="ko-KR" sz="1000" dirty="0"/>
          </a:p>
          <a:p>
            <a:pPr algn="ctr"/>
            <a:r>
              <a:rPr lang="en-US" altLang="ko-KR" sz="1000" dirty="0"/>
              <a:t>2040.1.1</a:t>
            </a:r>
            <a:endParaRPr lang="ko-KR" altLang="en-US" sz="1000" dirty="0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C5FC690B-87CB-96CB-0F2B-2EB11755D53B}"/>
              </a:ext>
            </a:extLst>
          </p:cNvPr>
          <p:cNvCxnSpPr>
            <a:cxnSpLocks/>
          </p:cNvCxnSpPr>
          <p:nvPr/>
        </p:nvCxnSpPr>
        <p:spPr>
          <a:xfrm flipV="1">
            <a:off x="10083594" y="420850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14C89FF-140D-F79F-B21A-32F2596CC131}"/>
              </a:ext>
            </a:extLst>
          </p:cNvPr>
          <p:cNvSpPr txBox="1"/>
          <p:nvPr/>
        </p:nvSpPr>
        <p:spPr>
          <a:xfrm>
            <a:off x="10623501" y="3790505"/>
            <a:ext cx="1027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존속기간 만료일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2044.1.1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B4BE569-14B5-16D2-94E3-C623DEECADD9}"/>
              </a:ext>
            </a:extLst>
          </p:cNvPr>
          <p:cNvSpPr/>
          <p:nvPr/>
        </p:nvSpPr>
        <p:spPr>
          <a:xfrm>
            <a:off x="7882555" y="4382107"/>
            <a:ext cx="1030264" cy="301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9E4A21B5-7FA5-DC9F-2E35-D1FB3B56FE13}"/>
              </a:ext>
            </a:extLst>
          </p:cNvPr>
          <p:cNvSpPr/>
          <p:nvPr/>
        </p:nvSpPr>
        <p:spPr>
          <a:xfrm>
            <a:off x="10623501" y="4382107"/>
            <a:ext cx="499066" cy="301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331DEB5D-4647-D175-0B9B-3FF4F2A3071E}"/>
              </a:ext>
            </a:extLst>
          </p:cNvPr>
          <p:cNvCxnSpPr/>
          <p:nvPr/>
        </p:nvCxnSpPr>
        <p:spPr>
          <a:xfrm>
            <a:off x="8912819" y="4305566"/>
            <a:ext cx="2208202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8E177A1-211A-9EB8-5E82-EE1A7C65179B}"/>
              </a:ext>
            </a:extLst>
          </p:cNvPr>
          <p:cNvSpPr txBox="1"/>
          <p:nvPr/>
        </p:nvSpPr>
        <p:spPr>
          <a:xfrm>
            <a:off x="9490855" y="4134385"/>
            <a:ext cx="44114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14</a:t>
            </a:r>
            <a:r>
              <a:rPr lang="ko-KR" altLang="en-US" sz="1000" dirty="0"/>
              <a:t>년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DBCFF1F-F41D-FBF6-FB5F-D1BBD66DD29F}"/>
              </a:ext>
            </a:extLst>
          </p:cNvPr>
          <p:cNvSpPr/>
          <p:nvPr/>
        </p:nvSpPr>
        <p:spPr>
          <a:xfrm>
            <a:off x="6306267" y="3379182"/>
            <a:ext cx="302884" cy="286734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3399A49-0AF1-93B4-D92E-2A658B6C944E}"/>
              </a:ext>
            </a:extLst>
          </p:cNvPr>
          <p:cNvSpPr txBox="1"/>
          <p:nvPr/>
        </p:nvSpPr>
        <p:spPr>
          <a:xfrm>
            <a:off x="6659252" y="3408273"/>
            <a:ext cx="2082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등록지연기간 </a:t>
            </a:r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  <a:r>
              <a:rPr lang="en-US" altLang="ko-KR" sz="1000" dirty="0"/>
              <a:t>, </a:t>
            </a:r>
            <a:r>
              <a:rPr lang="ko-KR" altLang="en-US" sz="1000" dirty="0"/>
              <a:t>허가지연기간 </a:t>
            </a:r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CD96760-44E2-F443-5267-56FA4A5DED4E}"/>
              </a:ext>
            </a:extLst>
          </p:cNvPr>
          <p:cNvCxnSpPr>
            <a:cxnSpLocks/>
          </p:cNvCxnSpPr>
          <p:nvPr/>
        </p:nvCxnSpPr>
        <p:spPr>
          <a:xfrm flipV="1">
            <a:off x="7888713" y="420850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BE623934-5E3D-E5FC-2E71-A20BBF96387E}"/>
              </a:ext>
            </a:extLst>
          </p:cNvPr>
          <p:cNvSpPr txBox="1"/>
          <p:nvPr/>
        </p:nvSpPr>
        <p:spPr>
          <a:xfrm>
            <a:off x="6180384" y="3701266"/>
            <a:ext cx="67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  <a:endParaRPr lang="en-US" altLang="ko-KR" sz="1000" dirty="0"/>
          </a:p>
          <a:p>
            <a:pPr algn="ctr"/>
            <a:r>
              <a:rPr lang="en-US" altLang="ko-KR" sz="800" dirty="0"/>
              <a:t>(</a:t>
            </a:r>
            <a:r>
              <a:rPr lang="ko-KR" altLang="en-US" sz="800" dirty="0"/>
              <a:t>심사청구</a:t>
            </a:r>
            <a:r>
              <a:rPr lang="en-US" altLang="ko-KR" sz="800" dirty="0"/>
              <a:t>)</a:t>
            </a:r>
          </a:p>
          <a:p>
            <a:pPr algn="ctr"/>
            <a:r>
              <a:rPr lang="en-US" altLang="ko-KR" sz="1000" dirty="0"/>
              <a:t>2020.1.1</a:t>
            </a:r>
            <a:endParaRPr lang="ko-KR" altLang="en-US" sz="1000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51F3B3E-B36C-C245-9FD1-ADF9FA2802E6}"/>
              </a:ext>
            </a:extLst>
          </p:cNvPr>
          <p:cNvSpPr/>
          <p:nvPr/>
        </p:nvSpPr>
        <p:spPr>
          <a:xfrm>
            <a:off x="7336263" y="4382107"/>
            <a:ext cx="537584" cy="3010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593D9F8-FC22-2538-6BA7-C9BBFAE6BD88}"/>
              </a:ext>
            </a:extLst>
          </p:cNvPr>
          <p:cNvSpPr/>
          <p:nvPr/>
        </p:nvSpPr>
        <p:spPr>
          <a:xfrm>
            <a:off x="10092303" y="4382107"/>
            <a:ext cx="529652" cy="3010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F583AFB-686F-6EDE-D569-CA380AF70229}"/>
              </a:ext>
            </a:extLst>
          </p:cNvPr>
          <p:cNvSpPr/>
          <p:nvPr/>
        </p:nvSpPr>
        <p:spPr>
          <a:xfrm>
            <a:off x="11138251" y="4382107"/>
            <a:ext cx="499066" cy="3010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D9505A0-EDCE-B903-B888-F235E54515F8}"/>
              </a:ext>
            </a:extLst>
          </p:cNvPr>
          <p:cNvSpPr txBox="1"/>
          <p:nvPr/>
        </p:nvSpPr>
        <p:spPr>
          <a:xfrm>
            <a:off x="11176709" y="4694568"/>
            <a:ext cx="4154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제외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B0C7EE0D-6F24-5C8A-7FF8-547380C6A51A}"/>
              </a:ext>
            </a:extLst>
          </p:cNvPr>
          <p:cNvSpPr/>
          <p:nvPr/>
        </p:nvSpPr>
        <p:spPr>
          <a:xfrm>
            <a:off x="6496372" y="5992113"/>
            <a:ext cx="4626196" cy="30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F41A7B4-F815-F71E-0577-287B6BA2AE6F}"/>
              </a:ext>
            </a:extLst>
          </p:cNvPr>
          <p:cNvSpPr txBox="1"/>
          <p:nvPr/>
        </p:nvSpPr>
        <p:spPr>
          <a:xfrm>
            <a:off x="8062347" y="5399572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설정등록</a:t>
            </a:r>
            <a:endParaRPr lang="en-US" altLang="ko-KR" sz="1000" dirty="0"/>
          </a:p>
          <a:p>
            <a:pPr algn="ctr"/>
            <a:r>
              <a:rPr lang="en-US" altLang="ko-KR" sz="1000" dirty="0"/>
              <a:t>2028.1.1</a:t>
            </a:r>
            <a:endParaRPr lang="ko-KR" altLang="en-US" sz="10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5D86633-FBD4-AF5F-5A85-8563A467D3C3}"/>
              </a:ext>
            </a:extLst>
          </p:cNvPr>
          <p:cNvSpPr txBox="1"/>
          <p:nvPr/>
        </p:nvSpPr>
        <p:spPr>
          <a:xfrm>
            <a:off x="8599375" y="5400511"/>
            <a:ext cx="761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err="1"/>
              <a:t>식약처허가</a:t>
            </a:r>
            <a:endParaRPr lang="en-US" altLang="ko-KR" sz="1000" dirty="0"/>
          </a:p>
          <a:p>
            <a:pPr algn="ctr"/>
            <a:r>
              <a:rPr lang="en-US" altLang="ko-KR" sz="1000" dirty="0"/>
              <a:t>2030.1.1</a:t>
            </a:r>
            <a:endParaRPr lang="ko-KR" altLang="en-US" sz="1000" dirty="0"/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76E58D6C-FF74-8417-D3F4-7E92F77B45A3}"/>
              </a:ext>
            </a:extLst>
          </p:cNvPr>
          <p:cNvCxnSpPr>
            <a:cxnSpLocks/>
          </p:cNvCxnSpPr>
          <p:nvPr/>
        </p:nvCxnSpPr>
        <p:spPr>
          <a:xfrm flipV="1">
            <a:off x="8915362" y="5818506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0D19B4CD-589A-0990-819E-EEBDEA8D80E0}"/>
              </a:ext>
            </a:extLst>
          </p:cNvPr>
          <p:cNvCxnSpPr>
            <a:cxnSpLocks/>
          </p:cNvCxnSpPr>
          <p:nvPr/>
        </p:nvCxnSpPr>
        <p:spPr>
          <a:xfrm flipV="1">
            <a:off x="6502542" y="5818506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E3342C5B-E885-4554-74F2-F1A84092CF4C}"/>
              </a:ext>
            </a:extLst>
          </p:cNvPr>
          <p:cNvSpPr txBox="1"/>
          <p:nvPr/>
        </p:nvSpPr>
        <p:spPr>
          <a:xfrm>
            <a:off x="9643782" y="5400511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연장전 만료일</a:t>
            </a:r>
            <a:endParaRPr lang="en-US" altLang="ko-KR" sz="1000" dirty="0"/>
          </a:p>
          <a:p>
            <a:pPr algn="ctr"/>
            <a:r>
              <a:rPr lang="en-US" altLang="ko-KR" sz="1000" dirty="0"/>
              <a:t>2040.1.1</a:t>
            </a:r>
            <a:endParaRPr lang="ko-KR" altLang="en-US" sz="1000" dirty="0"/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B5176534-5D59-4AAF-895E-C515A3D9DA72}"/>
              </a:ext>
            </a:extLst>
          </p:cNvPr>
          <p:cNvCxnSpPr>
            <a:cxnSpLocks/>
          </p:cNvCxnSpPr>
          <p:nvPr/>
        </p:nvCxnSpPr>
        <p:spPr>
          <a:xfrm flipV="1">
            <a:off x="10083594" y="5818506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350D0E9F-04FD-6E91-31A6-317E418886CC}"/>
              </a:ext>
            </a:extLst>
          </p:cNvPr>
          <p:cNvSpPr txBox="1"/>
          <p:nvPr/>
        </p:nvSpPr>
        <p:spPr>
          <a:xfrm>
            <a:off x="10623501" y="5400511"/>
            <a:ext cx="1027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존속기간 만료일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2044.1.1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C0FCB87-7BCA-D86D-3798-1E65826D8A07}"/>
              </a:ext>
            </a:extLst>
          </p:cNvPr>
          <p:cNvSpPr/>
          <p:nvPr/>
        </p:nvSpPr>
        <p:spPr>
          <a:xfrm>
            <a:off x="8396933" y="5992113"/>
            <a:ext cx="515885" cy="301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94906E44-13D1-E49A-FB1A-712127367D30}"/>
              </a:ext>
            </a:extLst>
          </p:cNvPr>
          <p:cNvCxnSpPr/>
          <p:nvPr/>
        </p:nvCxnSpPr>
        <p:spPr>
          <a:xfrm>
            <a:off x="8912819" y="5915572"/>
            <a:ext cx="2208202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3B098FAA-1056-91FD-3A52-03913FF0D69C}"/>
              </a:ext>
            </a:extLst>
          </p:cNvPr>
          <p:cNvSpPr txBox="1"/>
          <p:nvPr/>
        </p:nvSpPr>
        <p:spPr>
          <a:xfrm>
            <a:off x="9490855" y="5744391"/>
            <a:ext cx="44114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14</a:t>
            </a:r>
            <a:r>
              <a:rPr lang="ko-KR" altLang="en-US" sz="1000" dirty="0"/>
              <a:t>년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8F45ECED-2F76-A64A-DFBE-CF9475A2B9F2}"/>
              </a:ext>
            </a:extLst>
          </p:cNvPr>
          <p:cNvSpPr/>
          <p:nvPr/>
        </p:nvSpPr>
        <p:spPr>
          <a:xfrm>
            <a:off x="6306267" y="4989188"/>
            <a:ext cx="302884" cy="286734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3</a:t>
            </a:r>
            <a:endParaRPr lang="ko-KR" altLang="en-US" sz="11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40704B9-9D08-E0FE-6D2C-A8391C581881}"/>
              </a:ext>
            </a:extLst>
          </p:cNvPr>
          <p:cNvSpPr txBox="1"/>
          <p:nvPr/>
        </p:nvSpPr>
        <p:spPr>
          <a:xfrm>
            <a:off x="6659252" y="5018279"/>
            <a:ext cx="2082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등록지연기간 </a:t>
            </a:r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  <a:r>
              <a:rPr lang="en-US" altLang="ko-KR" sz="1000" dirty="0"/>
              <a:t>, </a:t>
            </a:r>
            <a:r>
              <a:rPr lang="ko-KR" altLang="en-US" sz="1000" dirty="0"/>
              <a:t>허가지연기간 </a:t>
            </a:r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</a:p>
        </p:txBody>
      </p: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5CD64593-0C56-6BBA-9B42-B92F406D28F9}"/>
              </a:ext>
            </a:extLst>
          </p:cNvPr>
          <p:cNvCxnSpPr>
            <a:cxnSpLocks/>
          </p:cNvCxnSpPr>
          <p:nvPr/>
        </p:nvCxnSpPr>
        <p:spPr>
          <a:xfrm flipV="1">
            <a:off x="8412588" y="5818506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EBD94477-0CC5-E3A4-BDAB-F38DA073D265}"/>
              </a:ext>
            </a:extLst>
          </p:cNvPr>
          <p:cNvSpPr txBox="1"/>
          <p:nvPr/>
        </p:nvSpPr>
        <p:spPr>
          <a:xfrm>
            <a:off x="6180384" y="5311272"/>
            <a:ext cx="67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  <a:endParaRPr lang="en-US" altLang="ko-KR" sz="1000" dirty="0"/>
          </a:p>
          <a:p>
            <a:pPr algn="ctr"/>
            <a:r>
              <a:rPr lang="en-US" altLang="ko-KR" sz="800" dirty="0"/>
              <a:t>(</a:t>
            </a:r>
            <a:r>
              <a:rPr lang="ko-KR" altLang="en-US" sz="800" dirty="0"/>
              <a:t>심사청구</a:t>
            </a:r>
            <a:r>
              <a:rPr lang="en-US" altLang="ko-KR" sz="800" dirty="0"/>
              <a:t>)</a:t>
            </a:r>
          </a:p>
          <a:p>
            <a:pPr algn="ctr"/>
            <a:r>
              <a:rPr lang="en-US" altLang="ko-KR" sz="1000" dirty="0"/>
              <a:t>2020.1.1</a:t>
            </a:r>
            <a:endParaRPr lang="ko-KR" altLang="en-US" sz="1000" dirty="0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682670BD-339A-2A27-80F5-8DFE345187A3}"/>
              </a:ext>
            </a:extLst>
          </p:cNvPr>
          <p:cNvSpPr/>
          <p:nvPr/>
        </p:nvSpPr>
        <p:spPr>
          <a:xfrm>
            <a:off x="7336262" y="5992113"/>
            <a:ext cx="1060665" cy="3010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C89AB2C2-2D13-B6C2-2694-C13C83440D02}"/>
              </a:ext>
            </a:extLst>
          </p:cNvPr>
          <p:cNvSpPr/>
          <p:nvPr/>
        </p:nvSpPr>
        <p:spPr>
          <a:xfrm>
            <a:off x="10092302" y="5992113"/>
            <a:ext cx="1028709" cy="3010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63DB7CB9-B988-CC5D-16A3-CA3EB30BF9BB}"/>
              </a:ext>
            </a:extLst>
          </p:cNvPr>
          <p:cNvSpPr/>
          <p:nvPr/>
        </p:nvSpPr>
        <p:spPr>
          <a:xfrm>
            <a:off x="11138251" y="5992113"/>
            <a:ext cx="499066" cy="3010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4590F02-0B61-8BA1-14E3-79406CE8FA3C}"/>
              </a:ext>
            </a:extLst>
          </p:cNvPr>
          <p:cNvSpPr txBox="1"/>
          <p:nvPr/>
        </p:nvSpPr>
        <p:spPr>
          <a:xfrm>
            <a:off x="11176709" y="6304574"/>
            <a:ext cx="4154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제외</a:t>
            </a: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47D6880-CA59-7E8C-A4DD-1CED9CAB09CD}"/>
              </a:ext>
            </a:extLst>
          </p:cNvPr>
          <p:cNvCxnSpPr>
            <a:cxnSpLocks/>
          </p:cNvCxnSpPr>
          <p:nvPr/>
        </p:nvCxnSpPr>
        <p:spPr>
          <a:xfrm flipV="1">
            <a:off x="11121021" y="5818506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3B05053-472D-6AAA-CA93-617211C8843E}"/>
              </a:ext>
            </a:extLst>
          </p:cNvPr>
          <p:cNvCxnSpPr>
            <a:cxnSpLocks/>
          </p:cNvCxnSpPr>
          <p:nvPr/>
        </p:nvCxnSpPr>
        <p:spPr>
          <a:xfrm flipV="1">
            <a:off x="11121021" y="420850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DED200EA-68D4-93AD-5CCF-E71CB1225B29}"/>
              </a:ext>
            </a:extLst>
          </p:cNvPr>
          <p:cNvCxnSpPr/>
          <p:nvPr/>
        </p:nvCxnSpPr>
        <p:spPr>
          <a:xfrm>
            <a:off x="6264605" y="3264197"/>
            <a:ext cx="559335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E2089B0D-3DCD-8B4E-3EED-1DB121398358}"/>
              </a:ext>
            </a:extLst>
          </p:cNvPr>
          <p:cNvCxnSpPr/>
          <p:nvPr/>
        </p:nvCxnSpPr>
        <p:spPr>
          <a:xfrm>
            <a:off x="6264605" y="4902559"/>
            <a:ext cx="559335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AE05F7F-F35E-5C88-842C-7C2278B32F53}"/>
              </a:ext>
            </a:extLst>
          </p:cNvPr>
          <p:cNvSpPr txBox="1"/>
          <p:nvPr/>
        </p:nvSpPr>
        <p:spPr>
          <a:xfrm>
            <a:off x="6017645" y="6578057"/>
            <a:ext cx="58929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* </a:t>
            </a:r>
            <a:r>
              <a:rPr lang="ko-KR" altLang="en-US" sz="900" dirty="0"/>
              <a:t>이정석</a:t>
            </a:r>
            <a:r>
              <a:rPr lang="en-US" altLang="ko-KR" sz="900" dirty="0"/>
              <a:t>(</a:t>
            </a:r>
            <a:r>
              <a:rPr lang="ko-KR" altLang="en-US" sz="900" dirty="0"/>
              <a:t>법무법인 </a:t>
            </a:r>
            <a:r>
              <a:rPr lang="ko-KR" altLang="en-US" sz="900" dirty="0" err="1"/>
              <a:t>율우</a:t>
            </a:r>
            <a:r>
              <a:rPr lang="en-US" altLang="ko-KR" sz="900" dirty="0"/>
              <a:t>), “</a:t>
            </a:r>
            <a:r>
              <a:rPr lang="ko-KR" altLang="en-US" sz="900" dirty="0"/>
              <a:t>의약품 특허권 존속기간 연장등록제도 관련 특허법 개정안 연구</a:t>
            </a:r>
            <a:r>
              <a:rPr lang="en-US" altLang="ko-KR" sz="900" dirty="0"/>
              <a:t>“, </a:t>
            </a:r>
            <a:r>
              <a:rPr lang="ko-KR" altLang="en-US" sz="900" dirty="0"/>
              <a:t>지식재산처</a:t>
            </a:r>
            <a:r>
              <a:rPr lang="en-US" altLang="ko-KR" sz="900" dirty="0"/>
              <a:t>(2023), 34</a:t>
            </a:r>
            <a:r>
              <a:rPr lang="ko-KR" altLang="en-US" sz="900" dirty="0"/>
              <a:t>면 참조</a:t>
            </a:r>
          </a:p>
        </p:txBody>
      </p:sp>
    </p:spTree>
    <p:extLst>
      <p:ext uri="{BB962C8B-B14F-4D97-AF65-F5344CB8AC3E}">
        <p14:creationId xmlns:p14="http://schemas.microsoft.com/office/powerpoint/2010/main" val="1205138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허가 등의 대상물건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95</a:t>
            </a:r>
            <a:r>
              <a:rPr lang="ko-KR" altLang="en-US" dirty="0">
                <a:solidFill>
                  <a:srgbClr val="525252"/>
                </a:solidFill>
              </a:rPr>
              <a:t>조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299</a:t>
            </a:fld>
            <a:endParaRPr lang="ko-KR" altLang="en-US"/>
          </a:p>
        </p:txBody>
      </p:sp>
      <p:cxnSp>
        <p:nvCxnSpPr>
          <p:cNvPr id="126" name="직선 연결선 125"/>
          <p:cNvCxnSpPr/>
          <p:nvPr/>
        </p:nvCxnSpPr>
        <p:spPr>
          <a:xfrm>
            <a:off x="0" y="181804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77875" y="976902"/>
            <a:ext cx="11936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1.</a:t>
            </a:r>
            <a:r>
              <a:rPr lang="ko-KR" altLang="en-US" sz="1200" dirty="0">
                <a:solidFill>
                  <a:schemeClr val="tx2"/>
                </a:solidFill>
              </a:rPr>
              <a:t> 존속기간을 </a:t>
            </a:r>
            <a:r>
              <a:rPr lang="ko-KR" altLang="en-US" sz="1200" dirty="0" err="1">
                <a:solidFill>
                  <a:schemeClr val="tx2"/>
                </a:solidFill>
              </a:rPr>
              <a:t>연장등록할</a:t>
            </a:r>
            <a:r>
              <a:rPr lang="ko-KR" altLang="en-US" sz="1200" dirty="0">
                <a:solidFill>
                  <a:schemeClr val="tx2"/>
                </a:solidFill>
              </a:rPr>
              <a:t> 수 있는 기간은 그 특허발명을 실시할 수 없었던 기간으로서 최대 </a:t>
            </a:r>
            <a:r>
              <a:rPr lang="en-US" altLang="ko-KR" sz="1200" dirty="0">
                <a:solidFill>
                  <a:schemeClr val="tx2"/>
                </a:solidFill>
              </a:rPr>
              <a:t>5</a:t>
            </a:r>
            <a:r>
              <a:rPr lang="ko-KR" altLang="en-US" sz="1200" dirty="0">
                <a:solidFill>
                  <a:schemeClr val="tx2"/>
                </a:solidFill>
              </a:rPr>
              <a:t>년 내이다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「특허발명」은 특허를 받은 발명을 의미하기 때문에 등록 전부터 </a:t>
            </a:r>
            <a:r>
              <a:rPr lang="en-US" altLang="ko-KR" sz="1200" dirty="0">
                <a:solidFill>
                  <a:schemeClr val="tx2"/>
                </a:solidFill>
              </a:rPr>
              <a:t>a, b </a:t>
            </a:r>
            <a:r>
              <a:rPr lang="ko-KR" altLang="en-US" sz="1200" dirty="0">
                <a:solidFill>
                  <a:schemeClr val="tx2"/>
                </a:solidFill>
              </a:rPr>
              <a:t>에 대하여 인허가를 받지 못해서 실시하지 못했다고 하더라도 연장가능기간은 등록 후 인허가를 받은 </a:t>
            </a:r>
            <a:r>
              <a:rPr lang="ko-KR" altLang="en-US" sz="1200" dirty="0" err="1">
                <a:solidFill>
                  <a:schemeClr val="tx2"/>
                </a:solidFill>
              </a:rPr>
              <a:t>날까지이다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허가 등을 받은 날로부터 </a:t>
            </a:r>
            <a:r>
              <a:rPr lang="en-US" altLang="ko-KR" sz="1200" dirty="0">
                <a:solidFill>
                  <a:schemeClr val="tx2"/>
                </a:solidFill>
              </a:rPr>
              <a:t>14</a:t>
            </a:r>
            <a:r>
              <a:rPr lang="ko-KR" altLang="en-US" sz="1200" dirty="0">
                <a:solidFill>
                  <a:schemeClr val="tx2"/>
                </a:solidFill>
              </a:rPr>
              <a:t>년을 초과하여 연장할 수 없다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endParaRPr lang="ko-KR" altLang="en-US" sz="12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2.</a:t>
            </a:r>
            <a:r>
              <a:rPr lang="ko-KR" altLang="en-US" sz="1200" dirty="0">
                <a:solidFill>
                  <a:schemeClr val="tx2"/>
                </a:solidFill>
              </a:rPr>
              <a:t> 허가 등에 따른 특허권의 존속기간이 연장된 경우의 특허권의 효력은 그 연장등록의 이유가 된 허가 등의 대상물건에 관한 특허발명의 실시 행위에만 미치게 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따라서 </a:t>
            </a:r>
            <a:r>
              <a:rPr lang="en-US" altLang="ko-KR" sz="1200" dirty="0">
                <a:solidFill>
                  <a:schemeClr val="tx2"/>
                </a:solidFill>
              </a:rPr>
              <a:t>a, b, c </a:t>
            </a:r>
            <a:r>
              <a:rPr lang="ko-KR" altLang="en-US" sz="1200" dirty="0">
                <a:solidFill>
                  <a:schemeClr val="tx2"/>
                </a:solidFill>
              </a:rPr>
              <a:t>발명 중 인허가를 받지 못해서 실시하지 못했던 </a:t>
            </a:r>
            <a:r>
              <a:rPr lang="en-US" altLang="ko-KR" sz="1200" dirty="0">
                <a:solidFill>
                  <a:schemeClr val="tx2"/>
                </a:solidFill>
              </a:rPr>
              <a:t>a, b</a:t>
            </a:r>
            <a:r>
              <a:rPr lang="ko-KR" altLang="en-US" sz="1200" dirty="0">
                <a:solidFill>
                  <a:schemeClr val="tx2"/>
                </a:solidFill>
              </a:rPr>
              <a:t>와 관련된 대상물건에 대해서만 연장된 특허권의 효력이 미치게 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3904032" y="1838571"/>
            <a:ext cx="650038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52" name="양쪽 모서리가 둥근 사각형 151"/>
          <p:cNvSpPr/>
          <p:nvPr/>
        </p:nvSpPr>
        <p:spPr>
          <a:xfrm>
            <a:off x="2699913" y="2916322"/>
            <a:ext cx="1048318" cy="304348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bg2">
                <a:lumMod val="1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122" name="직선 연결선 121"/>
          <p:cNvCxnSpPr>
            <a:cxnSpLocks/>
          </p:cNvCxnSpPr>
          <p:nvPr/>
        </p:nvCxnSpPr>
        <p:spPr>
          <a:xfrm>
            <a:off x="1262205" y="2079820"/>
            <a:ext cx="0" cy="19171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cxnSpLocks/>
          </p:cNvCxnSpPr>
          <p:nvPr/>
        </p:nvCxnSpPr>
        <p:spPr>
          <a:xfrm flipH="1">
            <a:off x="7377254" y="2079820"/>
            <a:ext cx="1" cy="19171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양쪽 모서리가 둥근 사각형 111"/>
          <p:cNvSpPr/>
          <p:nvPr/>
        </p:nvSpPr>
        <p:spPr>
          <a:xfrm>
            <a:off x="7377254" y="2364974"/>
            <a:ext cx="2394273" cy="5349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21" name="양쪽 모서리가 둥근 사각형 20"/>
          <p:cNvSpPr/>
          <p:nvPr/>
        </p:nvSpPr>
        <p:spPr>
          <a:xfrm>
            <a:off x="3748230" y="2375136"/>
            <a:ext cx="3629025" cy="5247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10" name="양쪽 모서리가 둥근 사각형 109"/>
          <p:cNvSpPr/>
          <p:nvPr/>
        </p:nvSpPr>
        <p:spPr>
          <a:xfrm>
            <a:off x="7377254" y="2916322"/>
            <a:ext cx="2394271" cy="304348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57" name="양쪽 모서리가 둥근 사각형 56"/>
          <p:cNvSpPr/>
          <p:nvPr/>
        </p:nvSpPr>
        <p:spPr>
          <a:xfrm>
            <a:off x="3782724" y="2916322"/>
            <a:ext cx="2131131" cy="304348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58" name="직선 연결선 57"/>
          <p:cNvCxnSpPr/>
          <p:nvPr/>
        </p:nvCxnSpPr>
        <p:spPr>
          <a:xfrm>
            <a:off x="752475" y="2909946"/>
            <a:ext cx="107156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695609" y="2738438"/>
            <a:ext cx="1133192" cy="338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695609" y="3183258"/>
            <a:ext cx="1133192" cy="480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1. a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2. b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3. c</a:t>
            </a:r>
          </a:p>
        </p:txBody>
      </p:sp>
      <p:cxnSp>
        <p:nvCxnSpPr>
          <p:cNvPr id="5" name="직선 연결선 4"/>
          <p:cNvCxnSpPr>
            <a:cxnSpLocks/>
            <a:stCxn id="84" idx="0"/>
            <a:endCxn id="59" idx="2"/>
          </p:cNvCxnSpPr>
          <p:nvPr/>
        </p:nvCxnSpPr>
        <p:spPr>
          <a:xfrm flipV="1">
            <a:off x="1262205" y="3076936"/>
            <a:ext cx="0" cy="10632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3181634" y="2738438"/>
            <a:ext cx="1133192" cy="338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810659" y="2738438"/>
            <a:ext cx="1133192" cy="338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연장전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만료일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2597987" y="2840832"/>
            <a:ext cx="154738" cy="13371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90" name="직사각형 89"/>
          <p:cNvSpPr/>
          <p:nvPr/>
        </p:nvSpPr>
        <p:spPr>
          <a:xfrm>
            <a:off x="9114589" y="2738438"/>
            <a:ext cx="1199865" cy="338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연장된 존속기간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만료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445461" y="3733644"/>
            <a:ext cx="3365875" cy="253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인허가로 인해 </a:t>
            </a:r>
            <a:r>
              <a:rPr lang="en-US" altLang="ko-KR" sz="1000" dirty="0">
                <a:solidFill>
                  <a:schemeClr val="tx1"/>
                </a:solidFill>
              </a:rPr>
              <a:t>a, b</a:t>
            </a:r>
            <a:r>
              <a:rPr lang="ko-KR" altLang="en-US" sz="1000" dirty="0">
                <a:solidFill>
                  <a:schemeClr val="tx1"/>
                </a:solidFill>
              </a:rPr>
              <a:t>와 관련된 의약품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농약을 실시하지 못함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4" name="타원 93"/>
          <p:cNvSpPr/>
          <p:nvPr/>
        </p:nvSpPr>
        <p:spPr>
          <a:xfrm>
            <a:off x="5836487" y="2840832"/>
            <a:ext cx="154738" cy="13371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99" name="직사각형 98"/>
          <p:cNvSpPr/>
          <p:nvPr/>
        </p:nvSpPr>
        <p:spPr>
          <a:xfrm>
            <a:off x="5588837" y="3666970"/>
            <a:ext cx="650038" cy="213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인허가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100" name="직선 연결선 99"/>
          <p:cNvCxnSpPr>
            <a:cxnSpLocks/>
            <a:stCxn id="99" idx="0"/>
            <a:endCxn id="94" idx="4"/>
          </p:cNvCxnSpPr>
          <p:nvPr/>
        </p:nvCxnSpPr>
        <p:spPr>
          <a:xfrm flipV="1">
            <a:off x="5913856" y="2974542"/>
            <a:ext cx="0" cy="69242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4215500" y="3201745"/>
            <a:ext cx="650038" cy="1613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sz="1000" dirty="0">
                <a:solidFill>
                  <a:srgbClr val="FF0000"/>
                </a:solidFill>
                <a:latin typeface="+mn-ea"/>
              </a:rPr>
              <a:t>α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8374343" y="3206594"/>
            <a:ext cx="650038" cy="1613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ß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4540519" y="2458205"/>
            <a:ext cx="1967962" cy="213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원래의 존속기간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제</a:t>
            </a:r>
            <a:r>
              <a:rPr lang="en-US" altLang="ko-KR" sz="1000" dirty="0">
                <a:solidFill>
                  <a:schemeClr val="bg1"/>
                </a:solidFill>
              </a:rPr>
              <a:t>94</a:t>
            </a:r>
            <a:r>
              <a:rPr lang="ko-KR" altLang="en-US" sz="1000" dirty="0">
                <a:solidFill>
                  <a:schemeClr val="bg1"/>
                </a:solidFill>
              </a:rPr>
              <a:t>조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(a, b, c </a:t>
            </a:r>
            <a:r>
              <a:rPr lang="ko-KR" altLang="en-US" sz="1000" dirty="0">
                <a:solidFill>
                  <a:schemeClr val="bg1"/>
                </a:solidFill>
              </a:rPr>
              <a:t>모두 효력 인정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7338339" y="2412395"/>
            <a:ext cx="2452239" cy="269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연장된 존속기간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제</a:t>
            </a:r>
            <a:r>
              <a:rPr lang="en-US" altLang="ko-KR" sz="1000" dirty="0">
                <a:solidFill>
                  <a:schemeClr val="bg1"/>
                </a:solidFill>
              </a:rPr>
              <a:t>95</a:t>
            </a:r>
            <a:r>
              <a:rPr lang="ko-KR" altLang="en-US" sz="1000" dirty="0">
                <a:solidFill>
                  <a:schemeClr val="bg1"/>
                </a:solidFill>
              </a:rPr>
              <a:t>조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(a, b</a:t>
            </a:r>
            <a:r>
              <a:rPr lang="ko-KR" altLang="en-US" sz="1000" dirty="0">
                <a:solidFill>
                  <a:schemeClr val="bg1"/>
                </a:solidFill>
              </a:rPr>
              <a:t>와 관련된 의약품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농약 효력 인정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1262205" y="2151337"/>
            <a:ext cx="6115050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/>
          <p:cNvSpPr/>
          <p:nvPr/>
        </p:nvSpPr>
        <p:spPr>
          <a:xfrm>
            <a:off x="2358443" y="2254627"/>
            <a:ext cx="1213284" cy="2526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연장기간에 </a:t>
            </a:r>
            <a:r>
              <a:rPr lang="ko-KR" altLang="en-US" sz="1000" dirty="0" err="1">
                <a:solidFill>
                  <a:schemeClr val="tx1"/>
                </a:solidFill>
              </a:rPr>
              <a:t>불포함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154" name="직선 연결선 153"/>
          <p:cNvCxnSpPr/>
          <p:nvPr/>
        </p:nvCxnSpPr>
        <p:spPr>
          <a:xfrm flipH="1">
            <a:off x="2962275" y="2491144"/>
            <a:ext cx="1" cy="37732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화살표: 위로 구부러짐 5">
            <a:extLst>
              <a:ext uri="{FF2B5EF4-FFF2-40B4-BE49-F238E27FC236}">
                <a16:creationId xmlns:a16="http://schemas.microsoft.com/office/drawing/2014/main" id="{2D9F2852-FAC3-4CBB-94F3-79276411D68C}"/>
              </a:ext>
            </a:extLst>
          </p:cNvPr>
          <p:cNvSpPr/>
          <p:nvPr/>
        </p:nvSpPr>
        <p:spPr>
          <a:xfrm>
            <a:off x="4666798" y="3307325"/>
            <a:ext cx="4014634" cy="306939"/>
          </a:xfrm>
          <a:prstGeom prst="curvedUp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0585547-E3E8-5090-60D6-DEDF7881F525}"/>
              </a:ext>
            </a:extLst>
          </p:cNvPr>
          <p:cNvCxnSpPr>
            <a:cxnSpLocks/>
          </p:cNvCxnSpPr>
          <p:nvPr/>
        </p:nvCxnSpPr>
        <p:spPr>
          <a:xfrm>
            <a:off x="10864526" y="2065929"/>
            <a:ext cx="0" cy="19310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E027B3-06D9-81D2-8EAD-FC04C7590F1C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6238875" y="3768531"/>
            <a:ext cx="4625651" cy="506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C3110C-E132-4F51-6A61-88771DA3BDB4}"/>
              </a:ext>
            </a:extLst>
          </p:cNvPr>
          <p:cNvSpPr/>
          <p:nvPr/>
        </p:nvSpPr>
        <p:spPr>
          <a:xfrm>
            <a:off x="7994612" y="3783753"/>
            <a:ext cx="650038" cy="213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14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8804794" y="3298360"/>
            <a:ext cx="1992451" cy="4140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연장가능기간은 </a:t>
            </a:r>
            <a:r>
              <a:rPr lang="el-GR" altLang="ko-KR" sz="1000" dirty="0">
                <a:solidFill>
                  <a:schemeClr val="tx1"/>
                </a:solidFill>
                <a:latin typeface="+mn-ea"/>
              </a:rPr>
              <a:t>α</a:t>
            </a:r>
            <a:r>
              <a:rPr lang="ko-KR" altLang="en-US" sz="1000" dirty="0">
                <a:solidFill>
                  <a:schemeClr val="tx1"/>
                </a:solidFill>
              </a:rPr>
              <a:t>가 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년 이상이면 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  <a:r>
              <a:rPr lang="en-US" altLang="ko-KR" sz="1000" dirty="0">
                <a:solidFill>
                  <a:schemeClr val="tx1"/>
                </a:solidFill>
              </a:rPr>
              <a:t>, 5</a:t>
            </a:r>
            <a:r>
              <a:rPr lang="ko-KR" altLang="en-US" sz="1000" dirty="0">
                <a:solidFill>
                  <a:schemeClr val="tx1"/>
                </a:solidFill>
              </a:rPr>
              <a:t>년 미만이면 </a:t>
            </a:r>
            <a:r>
              <a:rPr lang="el-GR" altLang="ko-KR" sz="1000" dirty="0">
                <a:solidFill>
                  <a:schemeClr val="tx1"/>
                </a:solidFill>
                <a:latin typeface="+mn-ea"/>
              </a:rPr>
              <a:t>α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0ECC762B-6EBA-2B95-93C4-130299B11C08}"/>
              </a:ext>
            </a:extLst>
          </p:cNvPr>
          <p:cNvCxnSpPr>
            <a:stCxn id="91" idx="0"/>
            <a:endCxn id="89" idx="4"/>
          </p:cNvCxnSpPr>
          <p:nvPr/>
        </p:nvCxnSpPr>
        <p:spPr>
          <a:xfrm rot="16200000" flipV="1">
            <a:off x="2522327" y="3127571"/>
            <a:ext cx="759102" cy="453043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DD4291A-359E-1388-A9E9-744FFF846904}"/>
              </a:ext>
            </a:extLst>
          </p:cNvPr>
          <p:cNvSpPr/>
          <p:nvPr/>
        </p:nvSpPr>
        <p:spPr>
          <a:xfrm>
            <a:off x="91285" y="4265237"/>
            <a:ext cx="11922912" cy="1200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특허법은 이와 같이 존속기간이 연장된 특허권의 효력이 미치는 범위를 규정하면서 청구범위를 기준으로 하지 않고 ‘그 연장등록의 이유가 된 허가 등의 대상물건에 관한 특허발명의 </a:t>
            </a:r>
            <a:r>
              <a:rPr lang="ko-KR" altLang="en-US" sz="1200" dirty="0" err="1"/>
              <a:t>실시’로</a:t>
            </a:r>
            <a:r>
              <a:rPr lang="ko-KR" altLang="en-US" sz="1200" dirty="0"/>
              <a:t> 규정하고 있을 뿐</a:t>
            </a:r>
            <a:r>
              <a:rPr lang="en-US" altLang="ko-KR" sz="1200" dirty="0"/>
              <a:t>, </a:t>
            </a:r>
            <a:r>
              <a:rPr lang="ko-KR" altLang="en-US" sz="1200" dirty="0"/>
              <a:t>허가 등의 대상 </a:t>
            </a:r>
            <a:r>
              <a:rPr lang="ko-KR" altLang="en-US" sz="1200" dirty="0">
                <a:highlight>
                  <a:srgbClr val="FF0000"/>
                </a:highlight>
              </a:rPr>
              <a:t>‘품목</a:t>
            </a:r>
            <a:r>
              <a:rPr lang="en-US" altLang="ko-KR" sz="1200" dirty="0">
                <a:highlight>
                  <a:srgbClr val="FF0000"/>
                </a:highlight>
              </a:rPr>
              <a:t>(</a:t>
            </a:r>
            <a:r>
              <a:rPr lang="ko-KR" altLang="en-US" sz="1200" dirty="0">
                <a:highlight>
                  <a:srgbClr val="FF0000"/>
                </a:highlight>
              </a:rPr>
              <a:t>하급심 판결</a:t>
            </a:r>
            <a:r>
              <a:rPr lang="en-US" altLang="ko-KR" sz="1200" dirty="0">
                <a:highlight>
                  <a:srgbClr val="FF0000"/>
                </a:highlight>
              </a:rPr>
              <a:t>)</a:t>
            </a:r>
            <a:r>
              <a:rPr lang="ko-KR" altLang="en-US" sz="1200" dirty="0">
                <a:highlight>
                  <a:srgbClr val="FF0000"/>
                </a:highlight>
              </a:rPr>
              <a:t>’</a:t>
            </a:r>
            <a:r>
              <a:rPr lang="ko-KR" altLang="en-US" sz="1200" dirty="0"/>
              <a:t>의 실시로 제한하지는 않았다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법령의 규정과 제도의 취지 등에 비추어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존속기간이 연장된 의약품 특허권의 효력이 미치는 범위는 특허발명을 실시하기 위하여</a:t>
            </a:r>
            <a:r>
              <a:rPr lang="ko-KR" altLang="en-US" sz="1200" dirty="0">
                <a:highlight>
                  <a:srgbClr val="FFFF00"/>
                </a:highlight>
              </a:rPr>
              <a:t> 약사법에 따라 품목허가를 받은 의약품과 특정 질병에 대한 치료효과를 나타낼 것으로 기대되는 특정한 유효성분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치료효과 및 용도가 동일한지 여부를 중심으로 판단</a:t>
            </a:r>
            <a:r>
              <a:rPr lang="ko-KR" altLang="en-US" sz="1200" dirty="0"/>
              <a:t>해야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특허권자가 약사법에 따라 품목허가를 받은 의약품과 특허침해소송에서 상대방이 생산 등을 한 의약품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침해제품’이라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약학적으로 허용 가능한 염 등에서 차이가 있더라도 </a:t>
            </a:r>
            <a:r>
              <a:rPr lang="en-US" altLang="ko-KR" sz="1200" dirty="0"/>
              <a:t>ⅰ) </a:t>
            </a:r>
            <a:r>
              <a:rPr lang="ko-KR" altLang="en-US" sz="1200" dirty="0"/>
              <a:t>통상의 기술자라면 쉽게 이를 선택할 수 있는 정도에 불과하고</a:t>
            </a:r>
            <a:r>
              <a:rPr lang="en-US" altLang="ko-KR" sz="1200" dirty="0"/>
              <a:t>, ⅱ) </a:t>
            </a:r>
            <a:r>
              <a:rPr lang="ko-KR" altLang="en-US" sz="1200" dirty="0"/>
              <a:t>인체에 흡수되는 유효성분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 err="1">
                <a:solidFill>
                  <a:srgbClr val="FF0000"/>
                </a:solidFill>
              </a:rPr>
              <a:t>솔리페나신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/>
              <a:t>의 약리작용에 의해 나타나는 치료효과나 용도가 실질적으로 동일하다면 존속기간이 연장된 특허권의 효력이 침해제품에 미치는 것으로 보아야 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2019. 1. 17.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2017</a:t>
            </a:r>
            <a:r>
              <a:rPr lang="ko-KR" altLang="en-US" sz="1200" dirty="0"/>
              <a:t>다</a:t>
            </a:r>
            <a:r>
              <a:rPr lang="en-US" altLang="ko-KR" sz="1200" dirty="0"/>
              <a:t>245789).</a:t>
            </a:r>
            <a:endParaRPr lang="ko-KR" alt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93D84D-79EA-2350-FC4A-B7415FAA3B23}"/>
              </a:ext>
            </a:extLst>
          </p:cNvPr>
          <p:cNvSpPr txBox="1"/>
          <p:nvPr/>
        </p:nvSpPr>
        <p:spPr>
          <a:xfrm>
            <a:off x="96926" y="5525726"/>
            <a:ext cx="5208500" cy="6001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특허발명</a:t>
            </a:r>
            <a:r>
              <a:rPr lang="en-US" altLang="ko-KR" sz="1100" dirty="0">
                <a:solidFill>
                  <a:srgbClr val="FF0000"/>
                </a:solidFill>
              </a:rPr>
              <a:t>: </a:t>
            </a:r>
            <a:r>
              <a:rPr lang="ko-KR" altLang="en-US" sz="1100" dirty="0"/>
              <a:t>과민성 방광증상 등에 치료효과를 가지는 특정 기본골격을 갖는 </a:t>
            </a:r>
            <a:r>
              <a:rPr lang="ko-KR" altLang="en-US" sz="1100" dirty="0" err="1"/>
              <a:t>화합물’을</a:t>
            </a:r>
            <a:r>
              <a:rPr lang="ko-KR" altLang="en-US" sz="1100" dirty="0"/>
              <a:t> 특징으로 하는 </a:t>
            </a:r>
            <a:r>
              <a:rPr lang="ko-KR" altLang="en-US" sz="1100" dirty="0" err="1"/>
              <a:t>물질특허인데</a:t>
            </a:r>
            <a:r>
              <a:rPr lang="en-US" altLang="ko-KR" sz="1100" dirty="0"/>
              <a:t>, </a:t>
            </a:r>
            <a:r>
              <a:rPr lang="ko-KR" altLang="en-US" sz="1100" dirty="0"/>
              <a:t>그 </a:t>
            </a:r>
            <a:r>
              <a:rPr lang="ko-KR" altLang="en-US" sz="1100" dirty="0" err="1"/>
              <a:t>유리염기</a:t>
            </a:r>
            <a:r>
              <a:rPr lang="ko-KR" altLang="en-US" sz="1100" dirty="0"/>
              <a:t> 형태의 특정 화합물은 </a:t>
            </a:r>
            <a:r>
              <a:rPr lang="ko-KR" altLang="en-US" sz="1100" dirty="0" err="1"/>
              <a:t>숙신산이나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푸마르산을</a:t>
            </a:r>
            <a:r>
              <a:rPr lang="ko-KR" altLang="en-US" sz="1100" dirty="0"/>
              <a:t> 비롯한 다양한 산과 염 화합물을 형성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669BEF-49E0-D7A8-F50C-E302623A2771}"/>
              </a:ext>
            </a:extLst>
          </p:cNvPr>
          <p:cNvSpPr txBox="1"/>
          <p:nvPr/>
        </p:nvSpPr>
        <p:spPr>
          <a:xfrm>
            <a:off x="91286" y="6171932"/>
            <a:ext cx="5214140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연장등록출원서 기재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허가 등의 내용</a:t>
            </a:r>
            <a:r>
              <a:rPr lang="en-US" altLang="ko-KR" sz="1100" dirty="0">
                <a:solidFill>
                  <a:srgbClr val="FF0000"/>
                </a:solidFill>
              </a:rPr>
              <a:t>): </a:t>
            </a:r>
            <a:r>
              <a:rPr lang="ko-KR" altLang="en-US" sz="1100" dirty="0" err="1"/>
              <a:t>일반명</a:t>
            </a:r>
            <a:r>
              <a:rPr lang="en-US" altLang="ko-KR" sz="1100" dirty="0"/>
              <a:t>(</a:t>
            </a:r>
            <a:r>
              <a:rPr lang="ko-KR" altLang="en-US" sz="1100" dirty="0"/>
              <a:t>품목명</a:t>
            </a:r>
            <a:r>
              <a:rPr lang="en-US" altLang="ko-KR" sz="1100" dirty="0"/>
              <a:t>) </a:t>
            </a:r>
            <a:r>
              <a:rPr lang="ko-KR" altLang="en-US" sz="1100" dirty="0" err="1">
                <a:solidFill>
                  <a:srgbClr val="FF0000"/>
                </a:solidFill>
              </a:rPr>
              <a:t>숙신산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솔리페나신</a:t>
            </a:r>
            <a:r>
              <a:rPr lang="en-US" altLang="ko-KR" sz="1100" dirty="0"/>
              <a:t>, </a:t>
            </a:r>
            <a:r>
              <a:rPr lang="ko-KR" altLang="en-US" sz="1100" dirty="0"/>
              <a:t>제품명</a:t>
            </a:r>
            <a:r>
              <a:rPr lang="en-US" altLang="ko-KR" sz="1100" dirty="0"/>
              <a:t>(</a:t>
            </a:r>
            <a:r>
              <a:rPr lang="ko-KR" altLang="en-US" sz="1100" dirty="0"/>
              <a:t>상표명</a:t>
            </a:r>
            <a:r>
              <a:rPr lang="en-US" altLang="ko-KR" sz="1100" dirty="0"/>
              <a:t>) </a:t>
            </a:r>
            <a:r>
              <a:rPr lang="ko-KR" altLang="en-US" sz="1100" dirty="0" err="1"/>
              <a:t>베시케어정</a:t>
            </a:r>
            <a:r>
              <a:rPr lang="en-US" altLang="ko-KR" sz="1100" dirty="0"/>
              <a:t>, </a:t>
            </a:r>
            <a:r>
              <a:rPr lang="ko-KR" altLang="en-US" sz="1100" dirty="0"/>
              <a:t>효능 및 효과</a:t>
            </a:r>
            <a:r>
              <a:rPr lang="en-US" altLang="ko-KR" sz="1100" dirty="0"/>
              <a:t>(</a:t>
            </a:r>
            <a:r>
              <a:rPr lang="ko-KR" altLang="en-US" sz="1100" dirty="0"/>
              <a:t>용도</a:t>
            </a:r>
            <a:r>
              <a:rPr lang="en-US" altLang="ko-KR" sz="1100" dirty="0"/>
              <a:t>) </a:t>
            </a:r>
            <a:r>
              <a:rPr lang="ko-KR" altLang="en-US" sz="1100" dirty="0"/>
              <a:t>과민성 방광 증상의 치료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357EFE-1D80-CF33-CE93-E47E519541C0}"/>
              </a:ext>
            </a:extLst>
          </p:cNvPr>
          <p:cNvSpPr txBox="1"/>
          <p:nvPr/>
        </p:nvSpPr>
        <p:spPr>
          <a:xfrm>
            <a:off x="5400676" y="5503665"/>
            <a:ext cx="6613522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피고제품</a:t>
            </a:r>
            <a:r>
              <a:rPr lang="en-US" altLang="ko-KR" sz="1100" dirty="0">
                <a:solidFill>
                  <a:srgbClr val="FF0000"/>
                </a:solidFill>
              </a:rPr>
              <a:t>: </a:t>
            </a:r>
            <a:r>
              <a:rPr lang="ko-KR" altLang="en-US" sz="1100" dirty="0"/>
              <a:t>‘</a:t>
            </a:r>
            <a:r>
              <a:rPr lang="ko-KR" altLang="en-US" sz="1100" dirty="0" err="1">
                <a:solidFill>
                  <a:srgbClr val="FF0000"/>
                </a:solidFill>
              </a:rPr>
              <a:t>푸마르산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솔리페나신</a:t>
            </a:r>
            <a:r>
              <a:rPr lang="ko-KR" altLang="en-US" sz="1100" dirty="0"/>
              <a:t>’ 외 </a:t>
            </a:r>
            <a:r>
              <a:rPr lang="ko-KR" altLang="en-US" sz="1100" dirty="0" err="1"/>
              <a:t>부형제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결합제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붕해제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활택제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코팅제</a:t>
            </a:r>
            <a:r>
              <a:rPr lang="ko-KR" altLang="en-US" sz="1100" dirty="0"/>
              <a:t> 등으로 이루어지고</a:t>
            </a:r>
            <a:r>
              <a:rPr lang="en-US" altLang="ko-KR" sz="1100" dirty="0"/>
              <a:t>, </a:t>
            </a:r>
            <a:r>
              <a:rPr lang="ko-KR" altLang="en-US" sz="1100" dirty="0"/>
              <a:t>신경성 </a:t>
            </a:r>
            <a:r>
              <a:rPr lang="ko-KR" altLang="en-US" sz="1100" dirty="0" err="1"/>
              <a:t>빈뇨</a:t>
            </a:r>
            <a:r>
              <a:rPr lang="en-US" altLang="ko-KR" sz="1100" dirty="0"/>
              <a:t>, </a:t>
            </a:r>
            <a:r>
              <a:rPr lang="ko-KR" altLang="en-US" sz="1100" dirty="0"/>
              <a:t>불안정 방광</a:t>
            </a:r>
            <a:r>
              <a:rPr lang="en-US" altLang="ko-KR" sz="1100" dirty="0"/>
              <a:t>, </a:t>
            </a:r>
            <a:r>
              <a:rPr lang="ko-KR" altLang="en-US" sz="1100" dirty="0"/>
              <a:t>만성 방광염에서의 요실금과 </a:t>
            </a:r>
            <a:r>
              <a:rPr lang="ko-KR" altLang="en-US" sz="1100" dirty="0" err="1"/>
              <a:t>빈뇨의</a:t>
            </a:r>
            <a:r>
              <a:rPr lang="ko-KR" altLang="en-US" sz="1100" dirty="0"/>
              <a:t> 비뇨기 질환의 예방 또는 치료를 의약용도로 하는 약제학적 </a:t>
            </a:r>
            <a:r>
              <a:rPr lang="ko-KR" altLang="en-US" sz="1100" dirty="0" err="1"/>
              <a:t>조성물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4264F5-CBC8-32AD-7277-768F26DFE65E}"/>
              </a:ext>
            </a:extLst>
          </p:cNvPr>
          <p:cNvSpPr txBox="1"/>
          <p:nvPr/>
        </p:nvSpPr>
        <p:spPr>
          <a:xfrm>
            <a:off x="5400676" y="5960954"/>
            <a:ext cx="6613522" cy="7694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약리기전</a:t>
            </a:r>
            <a:r>
              <a:rPr lang="en-US" altLang="ko-KR" sz="1100" dirty="0">
                <a:solidFill>
                  <a:srgbClr val="FF0000"/>
                </a:solidFill>
              </a:rPr>
              <a:t>: </a:t>
            </a:r>
            <a:r>
              <a:rPr lang="ko-KR" altLang="en-US" sz="1100" dirty="0"/>
              <a:t>품목허가를 받은 </a:t>
            </a:r>
            <a:r>
              <a:rPr lang="ko-KR" altLang="en-US" sz="1100" dirty="0" err="1"/>
              <a:t>솔리페나신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숙신산염은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솔리페나신과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숙신산이</a:t>
            </a:r>
            <a:r>
              <a:rPr lang="ko-KR" altLang="en-US" sz="1100" dirty="0"/>
              <a:t> 이온결합에 의해 약하게 결합된 상태의 화합물이고</a:t>
            </a:r>
            <a:r>
              <a:rPr lang="en-US" altLang="ko-KR" sz="1100" dirty="0"/>
              <a:t>, </a:t>
            </a:r>
            <a:r>
              <a:rPr lang="ko-KR" altLang="en-US" sz="1100" dirty="0"/>
              <a:t>체내에 </a:t>
            </a:r>
            <a:r>
              <a:rPr lang="ko-KR" altLang="en-US" sz="1100" dirty="0" err="1"/>
              <a:t>경구투여되어</a:t>
            </a:r>
            <a:r>
              <a:rPr lang="ko-KR" altLang="en-US" sz="1100" dirty="0"/>
              <a:t> 위장에 들어가면 강산이 위액에 의해 이온결합이 끊어져 </a:t>
            </a:r>
            <a:r>
              <a:rPr lang="ko-KR" altLang="en-US" sz="1100" dirty="0" err="1"/>
              <a:t>솔리페나신과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숙신산으로</a:t>
            </a:r>
            <a:r>
              <a:rPr lang="ko-KR" altLang="en-US" sz="1100" dirty="0"/>
              <a:t> 분리되게 된다</a:t>
            </a:r>
            <a:r>
              <a:rPr lang="en-US" altLang="ko-KR" sz="1100" dirty="0"/>
              <a:t>. </a:t>
            </a:r>
            <a:r>
              <a:rPr lang="ko-KR" altLang="en-US" sz="1100" dirty="0"/>
              <a:t>이렇게 분리된 </a:t>
            </a:r>
            <a:r>
              <a:rPr lang="ko-KR" altLang="en-US" sz="1100" dirty="0" err="1"/>
              <a:t>숙신산은</a:t>
            </a:r>
            <a:r>
              <a:rPr lang="ko-KR" altLang="en-US" sz="1100" dirty="0"/>
              <a:t> 체내 대사를 거쳐 체외로 배출되고 </a:t>
            </a:r>
            <a:r>
              <a:rPr lang="ko-KR" altLang="en-US" sz="1100" dirty="0" err="1"/>
              <a:t>솔리페나신만</a:t>
            </a:r>
            <a:r>
              <a:rPr lang="ko-KR" altLang="en-US" sz="1100" dirty="0"/>
              <a:t> 소장의 상피세포에서 흡수된 후 혈액을 통하여 방광에 도달하여 사람의 </a:t>
            </a:r>
            <a:r>
              <a:rPr lang="en-US" altLang="ko-KR" sz="1100" dirty="0"/>
              <a:t>M </a:t>
            </a:r>
            <a:r>
              <a:rPr lang="ko-KR" altLang="en-US" sz="1100" dirty="0" err="1"/>
              <a:t>무스카린</a:t>
            </a:r>
            <a:r>
              <a:rPr lang="ko-KR" altLang="en-US" sz="1100" dirty="0"/>
              <a:t> 수용체와 반응하여 약리효과를 발휘하게 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AE2F6F4-1090-99ED-95D5-3CA351A893B2}"/>
              </a:ext>
            </a:extLst>
          </p:cNvPr>
          <p:cNvCxnSpPr/>
          <p:nvPr/>
        </p:nvCxnSpPr>
        <p:spPr>
          <a:xfrm>
            <a:off x="0" y="4152900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582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양쪽 모서리가 둥근 사각형 100"/>
          <p:cNvSpPr/>
          <p:nvPr/>
        </p:nvSpPr>
        <p:spPr>
          <a:xfrm>
            <a:off x="6030286" y="5076742"/>
            <a:ext cx="3751889" cy="48247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양쪽 모서리가 둥근 사각형 39"/>
          <p:cNvSpPr/>
          <p:nvPr/>
        </p:nvSpPr>
        <p:spPr>
          <a:xfrm>
            <a:off x="7492958" y="3167095"/>
            <a:ext cx="2165626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1" name="양쪽 모서리가 둥근 사각형 20"/>
          <p:cNvSpPr/>
          <p:nvPr/>
        </p:nvSpPr>
        <p:spPr>
          <a:xfrm>
            <a:off x="3014805" y="2402802"/>
            <a:ext cx="5090970" cy="744374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양쪽 모서리가 둥근 사각형 56"/>
          <p:cNvSpPr/>
          <p:nvPr/>
        </p:nvSpPr>
        <p:spPr>
          <a:xfrm>
            <a:off x="7057039" y="5576636"/>
            <a:ext cx="2165626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연장기간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92</a:t>
            </a:r>
            <a:r>
              <a:rPr lang="ko-KR" altLang="en-US" dirty="0"/>
              <a:t>조의</a:t>
            </a:r>
            <a:r>
              <a:rPr lang="en-US" altLang="ko-KR" dirty="0"/>
              <a:t>2)</a:t>
            </a:r>
            <a:endParaRPr lang="ko-KR" altLang="en-US" dirty="0"/>
          </a:p>
        </p:txBody>
      </p:sp>
      <p:cxnSp>
        <p:nvCxnSpPr>
          <p:cNvPr id="126" name="직선 연결선 125"/>
          <p:cNvCxnSpPr/>
          <p:nvPr/>
        </p:nvCxnSpPr>
        <p:spPr>
          <a:xfrm>
            <a:off x="0" y="192970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존속기간을 </a:t>
            </a:r>
            <a:r>
              <a:rPr lang="ko-KR" altLang="en-US" sz="1400" dirty="0" err="1">
                <a:solidFill>
                  <a:schemeClr val="tx2"/>
                </a:solidFill>
              </a:rPr>
              <a:t>연장등록할</a:t>
            </a:r>
            <a:r>
              <a:rPr lang="ko-KR" altLang="en-US" sz="1400" dirty="0">
                <a:solidFill>
                  <a:schemeClr val="tx2"/>
                </a:solidFill>
              </a:rPr>
              <a:t> 수 있는 기간은 지연된 기간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연장기준일로부터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설정등록일까지의</a:t>
            </a:r>
            <a:r>
              <a:rPr lang="ko-KR" altLang="en-US" sz="1400" dirty="0">
                <a:solidFill>
                  <a:schemeClr val="tx2"/>
                </a:solidFill>
              </a:rPr>
              <a:t> 기간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이내이어야 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92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2①, 92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4Ⅰ).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대통령령으로 정하는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출원인으로</a:t>
            </a:r>
            <a:r>
              <a:rPr lang="ko-KR" altLang="en-US" sz="1400" dirty="0">
                <a:solidFill>
                  <a:schemeClr val="tx2"/>
                </a:solidFill>
              </a:rPr>
              <a:t> 인하여 지연된 기간은 특허권의 존속기간의 연장에서 제외된다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출원인으로</a:t>
            </a:r>
            <a:r>
              <a:rPr lang="ko-KR" altLang="en-US" sz="1400" dirty="0">
                <a:solidFill>
                  <a:schemeClr val="tx2"/>
                </a:solidFill>
              </a:rPr>
              <a:t> 인하여 지연된 기간이 겹치는 경우에는 특허권의 존속기간의 연장에서 제외되는 기간은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출원인으로</a:t>
            </a:r>
            <a:r>
              <a:rPr lang="ko-KR" altLang="en-US" sz="1400" dirty="0">
                <a:solidFill>
                  <a:schemeClr val="tx2"/>
                </a:solidFill>
              </a:rPr>
              <a:t> 인하여 실제 지연된 기간을 초과하여서는 아니 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92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2②③). </a:t>
            </a:r>
            <a:r>
              <a:rPr lang="ko-KR" altLang="en-US" sz="1400" dirty="0">
                <a:solidFill>
                  <a:schemeClr val="tx2"/>
                </a:solidFill>
              </a:rPr>
              <a:t>결국 </a:t>
            </a:r>
            <a:r>
              <a:rPr lang="ko-KR" altLang="en-US" sz="1400" dirty="0" err="1">
                <a:highlight>
                  <a:srgbClr val="FFFF00"/>
                </a:highlight>
              </a:rPr>
              <a:t>연장가능한</a:t>
            </a:r>
            <a:r>
              <a:rPr lang="ko-KR" altLang="en-US" sz="1400" dirty="0">
                <a:highlight>
                  <a:srgbClr val="FFFF00"/>
                </a:highlight>
              </a:rPr>
              <a:t> 기간은 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연장기준일로부터 </a:t>
            </a:r>
            <a:r>
              <a:rPr lang="ko-KR" altLang="en-US" sz="1400" dirty="0" err="1">
                <a:highlight>
                  <a:srgbClr val="FFFF00"/>
                </a:highlight>
              </a:rPr>
              <a:t>설정등록일까지의</a:t>
            </a:r>
            <a:r>
              <a:rPr lang="ko-KR" altLang="en-US" sz="1400" dirty="0">
                <a:highlight>
                  <a:srgbClr val="FFFF00"/>
                </a:highlight>
              </a:rPr>
              <a:t> 기간 </a:t>
            </a:r>
            <a:r>
              <a:rPr lang="en-US" altLang="ko-KR" sz="1400" dirty="0">
                <a:highlight>
                  <a:srgbClr val="FFFF00"/>
                </a:highlight>
              </a:rPr>
              <a:t>- </a:t>
            </a:r>
            <a:r>
              <a:rPr lang="ko-KR" altLang="en-US" sz="1400" dirty="0" err="1">
                <a:highlight>
                  <a:srgbClr val="FFFF00"/>
                </a:highlight>
              </a:rPr>
              <a:t>출원인으로</a:t>
            </a:r>
            <a:r>
              <a:rPr lang="ko-KR" altLang="en-US" sz="1400" dirty="0">
                <a:highlight>
                  <a:srgbClr val="FFFF00"/>
                </a:highlight>
              </a:rPr>
              <a:t> 인하여 실제 지연된 기간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58" name="직선 연결선 57"/>
          <p:cNvCxnSpPr/>
          <p:nvPr/>
        </p:nvCxnSpPr>
        <p:spPr>
          <a:xfrm>
            <a:off x="2505075" y="3165228"/>
            <a:ext cx="91059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2489082" y="2947989"/>
            <a:ext cx="996030" cy="426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0" name="직선 연결선 99"/>
          <p:cNvCxnSpPr>
            <a:stCxn id="37" idx="0"/>
          </p:cNvCxnSpPr>
          <p:nvPr/>
        </p:nvCxnSpPr>
        <p:spPr>
          <a:xfrm flipV="1">
            <a:off x="4943617" y="3167095"/>
            <a:ext cx="0" cy="6689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3749944" y="2019808"/>
            <a:ext cx="196796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>
                <a:solidFill>
                  <a:schemeClr val="tx1"/>
                </a:solidFill>
              </a:rPr>
              <a:t>년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445602" y="3836076"/>
            <a:ext cx="996030" cy="426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1" name="직선 연결선 40"/>
          <p:cNvCxnSpPr>
            <a:stCxn id="42" idx="0"/>
          </p:cNvCxnSpPr>
          <p:nvPr/>
        </p:nvCxnSpPr>
        <p:spPr>
          <a:xfrm flipV="1">
            <a:off x="7492958" y="3167095"/>
            <a:ext cx="0" cy="63659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6994943" y="3803691"/>
            <a:ext cx="996030" cy="426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072701" y="3556771"/>
            <a:ext cx="196796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년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591790" y="3556771"/>
            <a:ext cx="196796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년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8105775" y="1865607"/>
            <a:ext cx="0" cy="13014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0726245" y="1865607"/>
            <a:ext cx="0" cy="13014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9658584" y="1865607"/>
            <a:ext cx="0" cy="13014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4237853" y="367649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832914" y="364754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8105775" y="2050377"/>
            <a:ext cx="2620470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9658584" y="2526627"/>
            <a:ext cx="1067661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9984665" y="252359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8809853" y="205037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866775" y="4197276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소급제도</a:t>
            </a:r>
            <a:endParaRPr lang="en-US" altLang="ko-KR" sz="1000" dirty="0"/>
          </a:p>
          <a:p>
            <a:pPr algn="ctr"/>
            <a:r>
              <a:rPr lang="en-US" altLang="ko-KR" sz="1000" dirty="0"/>
              <a:t>(7</a:t>
            </a:r>
            <a:r>
              <a:rPr lang="ko-KR" altLang="en-US" sz="1000" dirty="0"/>
              <a:t>가지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61" name="직사각형 60"/>
          <p:cNvSpPr/>
          <p:nvPr/>
        </p:nvSpPr>
        <p:spPr>
          <a:xfrm>
            <a:off x="866775" y="5831057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PCT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012447" y="3417187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35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012447" y="415547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52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확공조국</a:t>
            </a:r>
            <a:r>
              <a:rPr lang="ko-KR" altLang="en-US" sz="1000" dirty="0" err="1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012447" y="4904374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53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확공조국</a:t>
            </a:r>
            <a:r>
              <a:rPr lang="ko-KR" altLang="en-US" sz="1000" dirty="0" err="1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012447" y="3784152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51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2012447" y="5284656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b="1" dirty="0" err="1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공존재</a:t>
            </a:r>
            <a:r>
              <a:rPr lang="ko-KR" altLang="en-US" sz="1000" dirty="0" err="1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012447" y="5655982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55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56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공존재</a:t>
            </a:r>
            <a:r>
              <a:rPr lang="ko-KR" altLang="en-US" sz="1000" dirty="0">
                <a:solidFill>
                  <a:srgbClr val="FF0000"/>
                </a:solidFill>
              </a:rPr>
              <a:t>등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이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8" name="꺾인 연결선 67"/>
          <p:cNvCxnSpPr>
            <a:stCxn id="60" idx="3"/>
            <a:endCxn id="62" idx="1"/>
          </p:cNvCxnSpPr>
          <p:nvPr/>
        </p:nvCxnSpPr>
        <p:spPr>
          <a:xfrm flipV="1">
            <a:off x="1662303" y="3583563"/>
            <a:ext cx="350144" cy="8065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0" idx="3"/>
            <a:endCxn id="67" idx="1"/>
          </p:cNvCxnSpPr>
          <p:nvPr/>
        </p:nvCxnSpPr>
        <p:spPr>
          <a:xfrm>
            <a:off x="1662303" y="4390090"/>
            <a:ext cx="350144" cy="14322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60" idx="3"/>
            <a:endCxn id="65" idx="1"/>
          </p:cNvCxnSpPr>
          <p:nvPr/>
        </p:nvCxnSpPr>
        <p:spPr>
          <a:xfrm flipV="1">
            <a:off x="1662303" y="3950528"/>
            <a:ext cx="350144" cy="4395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60" idx="3"/>
            <a:endCxn id="66" idx="1"/>
          </p:cNvCxnSpPr>
          <p:nvPr/>
        </p:nvCxnSpPr>
        <p:spPr>
          <a:xfrm>
            <a:off x="1662303" y="4390090"/>
            <a:ext cx="350144" cy="10609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60" idx="3"/>
            <a:endCxn id="63" idx="1"/>
          </p:cNvCxnSpPr>
          <p:nvPr/>
        </p:nvCxnSpPr>
        <p:spPr>
          <a:xfrm flipV="1">
            <a:off x="1662303" y="4321854"/>
            <a:ext cx="350144" cy="6823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60" idx="3"/>
            <a:endCxn id="64" idx="1"/>
          </p:cNvCxnSpPr>
          <p:nvPr/>
        </p:nvCxnSpPr>
        <p:spPr>
          <a:xfrm>
            <a:off x="1662303" y="4390090"/>
            <a:ext cx="350144" cy="68066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60" idx="1"/>
            <a:endCxn id="61" idx="1"/>
          </p:cNvCxnSpPr>
          <p:nvPr/>
        </p:nvCxnSpPr>
        <p:spPr>
          <a:xfrm rot="10800000" flipV="1">
            <a:off x="866775" y="4390090"/>
            <a:ext cx="12700" cy="1633781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2012447" y="6106995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199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2012447" y="6469189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214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cxnSp>
        <p:nvCxnSpPr>
          <p:cNvPr id="17" name="꺾인 연결선 16"/>
          <p:cNvCxnSpPr>
            <a:stCxn id="61" idx="3"/>
            <a:endCxn id="75" idx="1"/>
          </p:cNvCxnSpPr>
          <p:nvPr/>
        </p:nvCxnSpPr>
        <p:spPr>
          <a:xfrm>
            <a:off x="1662303" y="6023871"/>
            <a:ext cx="350144" cy="249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61" idx="3"/>
            <a:endCxn id="79" idx="1"/>
          </p:cNvCxnSpPr>
          <p:nvPr/>
        </p:nvCxnSpPr>
        <p:spPr>
          <a:xfrm>
            <a:off x="1662303" y="6023871"/>
            <a:ext cx="350144" cy="6116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자유형 19"/>
          <p:cNvSpPr/>
          <p:nvPr/>
        </p:nvSpPr>
        <p:spPr>
          <a:xfrm>
            <a:off x="364492" y="2691655"/>
            <a:ext cx="2409825" cy="2209822"/>
          </a:xfrm>
          <a:custGeom>
            <a:avLst/>
            <a:gdLst>
              <a:gd name="connsiteX0" fmla="*/ 285750 w 2409825"/>
              <a:gd name="connsiteY0" fmla="*/ 2209822 h 2209822"/>
              <a:gd name="connsiteX1" fmla="*/ 0 w 2409825"/>
              <a:gd name="connsiteY1" fmla="*/ 2209822 h 2209822"/>
              <a:gd name="connsiteX2" fmla="*/ 0 w 2409825"/>
              <a:gd name="connsiteY2" fmla="*/ 9547 h 2209822"/>
              <a:gd name="connsiteX3" fmla="*/ 247650 w 2409825"/>
              <a:gd name="connsiteY3" fmla="*/ 22 h 2209822"/>
              <a:gd name="connsiteX4" fmla="*/ 2409825 w 2409825"/>
              <a:gd name="connsiteY4" fmla="*/ 22 h 2209822"/>
              <a:gd name="connsiteX5" fmla="*/ 2409825 w 2409825"/>
              <a:gd name="connsiteY5" fmla="*/ 247672 h 2209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09825" h="2209822">
                <a:moveTo>
                  <a:pt x="285750" y="2209822"/>
                </a:moveTo>
                <a:lnTo>
                  <a:pt x="0" y="2209822"/>
                </a:lnTo>
                <a:lnTo>
                  <a:pt x="0" y="9547"/>
                </a:lnTo>
                <a:cubicBezTo>
                  <a:pt x="209526" y="-929"/>
                  <a:pt x="126921" y="22"/>
                  <a:pt x="247650" y="22"/>
                </a:cubicBezTo>
                <a:lnTo>
                  <a:pt x="2409825" y="22"/>
                </a:lnTo>
                <a:lnTo>
                  <a:pt x="2409825" y="247672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/>
          <p:cNvSpPr/>
          <p:nvPr/>
        </p:nvSpPr>
        <p:spPr>
          <a:xfrm>
            <a:off x="10260330" y="2947989"/>
            <a:ext cx="931830" cy="426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설정등록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/>
          <p:cNvCxnSpPr/>
          <p:nvPr/>
        </p:nvCxnSpPr>
        <p:spPr>
          <a:xfrm>
            <a:off x="4874085" y="5550948"/>
            <a:ext cx="673689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4376070" y="5417157"/>
            <a:ext cx="823208" cy="278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658728" y="5417157"/>
            <a:ext cx="823208" cy="278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6654758" y="5426912"/>
            <a:ext cx="823208" cy="278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심사청구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7" name="양쪽 모서리가 둥근 사각형 96"/>
          <p:cNvSpPr/>
          <p:nvPr/>
        </p:nvSpPr>
        <p:spPr>
          <a:xfrm>
            <a:off x="4963223" y="3176679"/>
            <a:ext cx="2165626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8" name="직사각형 97"/>
          <p:cNvSpPr/>
          <p:nvPr/>
        </p:nvSpPr>
        <p:spPr>
          <a:xfrm>
            <a:off x="7079671" y="5943404"/>
            <a:ext cx="1967962" cy="3067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867406" y="4792580"/>
            <a:ext cx="196796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105" name="직선 연결선 104"/>
          <p:cNvCxnSpPr/>
          <p:nvPr/>
        </p:nvCxnSpPr>
        <p:spPr>
          <a:xfrm>
            <a:off x="9782175" y="4936452"/>
            <a:ext cx="0" cy="6383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10811767" y="4936452"/>
            <a:ext cx="0" cy="6383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>
            <a:off x="9782175" y="5175574"/>
            <a:ext cx="1029592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9744692" y="4852026"/>
            <a:ext cx="1095650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지연된 기간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10400163" y="5417157"/>
            <a:ext cx="823208" cy="278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952875" y="4643473"/>
            <a:ext cx="7934325" cy="17693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Rectangle 5"/>
          <p:cNvSpPr>
            <a:spLocks noChangeArrowheads="1"/>
          </p:cNvSpPr>
          <p:nvPr/>
        </p:nvSpPr>
        <p:spPr bwMode="auto">
          <a:xfrm>
            <a:off x="4177669" y="4476486"/>
            <a:ext cx="75288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CASE</a:t>
            </a:r>
            <a:endParaRPr lang="ko-KR" altLang="en-US" sz="14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300</a:t>
            </a:fld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5743853-99EB-4DEE-B4C8-D6E8E2411264}"/>
              </a:ext>
            </a:extLst>
          </p:cNvPr>
          <p:cNvSpPr/>
          <p:nvPr/>
        </p:nvSpPr>
        <p:spPr>
          <a:xfrm>
            <a:off x="2012447" y="453461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52</a:t>
            </a:r>
            <a:r>
              <a:rPr lang="ko-KR" altLang="en-US" sz="1000" dirty="0">
                <a:solidFill>
                  <a:srgbClr val="FF0000"/>
                </a:solidFill>
              </a:rPr>
              <a:t>조의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확공조국</a:t>
            </a:r>
            <a:r>
              <a:rPr lang="ko-KR" altLang="en-US" sz="1000" dirty="0" err="1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7" name="꺾인 연결선 72">
            <a:extLst>
              <a:ext uri="{FF2B5EF4-FFF2-40B4-BE49-F238E27FC236}">
                <a16:creationId xmlns:a16="http://schemas.microsoft.com/office/drawing/2014/main" id="{0008464C-102F-4069-92AB-9F3BF1D416AF}"/>
              </a:ext>
            </a:extLst>
          </p:cNvPr>
          <p:cNvCxnSpPr>
            <a:cxnSpLocks/>
            <a:stCxn id="60" idx="3"/>
            <a:endCxn id="76" idx="1"/>
          </p:cNvCxnSpPr>
          <p:nvPr/>
        </p:nvCxnSpPr>
        <p:spPr>
          <a:xfrm>
            <a:off x="1662303" y="4390090"/>
            <a:ext cx="350144" cy="31090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221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16DD3DAA-31B2-407C-A1F2-D0B9635FB583}"/>
              </a:ext>
            </a:extLst>
          </p:cNvPr>
          <p:cNvCxnSpPr>
            <a:stCxn id="78" idx="2"/>
          </p:cNvCxnSpPr>
          <p:nvPr/>
        </p:nvCxnSpPr>
        <p:spPr>
          <a:xfrm>
            <a:off x="10618124" y="1744818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6ACA587B-5B42-4F28-9E98-703AD9C725B0}"/>
              </a:ext>
            </a:extLst>
          </p:cNvPr>
          <p:cNvCxnSpPr/>
          <p:nvPr/>
        </p:nvCxnSpPr>
        <p:spPr>
          <a:xfrm>
            <a:off x="10723795" y="3851767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C4D10A65-5691-4F75-93F3-D3C573F97076}"/>
              </a:ext>
            </a:extLst>
          </p:cNvPr>
          <p:cNvCxnSpPr>
            <a:cxnSpLocks/>
            <a:stCxn id="78" idx="2"/>
          </p:cNvCxnSpPr>
          <p:nvPr/>
        </p:nvCxnSpPr>
        <p:spPr>
          <a:xfrm>
            <a:off x="10618124" y="1744818"/>
            <a:ext cx="4819" cy="178309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FD429695-AF0A-496D-BE1D-B90D768B30D1}"/>
              </a:ext>
            </a:extLst>
          </p:cNvPr>
          <p:cNvCxnSpPr>
            <a:cxnSpLocks/>
          </p:cNvCxnSpPr>
          <p:nvPr/>
        </p:nvCxnSpPr>
        <p:spPr>
          <a:xfrm>
            <a:off x="10723795" y="3851767"/>
            <a:ext cx="0" cy="1429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DED4D012-5270-44CF-81C0-0677FCAB4054}"/>
              </a:ext>
            </a:extLst>
          </p:cNvPr>
          <p:cNvCxnSpPr/>
          <p:nvPr/>
        </p:nvCxnSpPr>
        <p:spPr>
          <a:xfrm>
            <a:off x="10622943" y="5410268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53E3A61-883A-48FC-A0F4-45FE6E9CDFC4}"/>
              </a:ext>
            </a:extLst>
          </p:cNvPr>
          <p:cNvCxnSpPr/>
          <p:nvPr/>
        </p:nvCxnSpPr>
        <p:spPr>
          <a:xfrm>
            <a:off x="6541203" y="5410268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17F16241-AF51-4209-9834-F8ECDBACE00F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6541203" y="1744818"/>
            <a:ext cx="14233" cy="178309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3CB49FBF-15F8-4205-945F-89A9261D33F1}"/>
              </a:ext>
            </a:extLst>
          </p:cNvPr>
          <p:cNvCxnSpPr/>
          <p:nvPr/>
        </p:nvCxnSpPr>
        <p:spPr>
          <a:xfrm>
            <a:off x="6642055" y="3851767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9C5C1BEE-1DB2-4E8F-9559-1795DA3123B8}"/>
              </a:ext>
            </a:extLst>
          </p:cNvPr>
          <p:cNvCxnSpPr>
            <a:cxnSpLocks/>
          </p:cNvCxnSpPr>
          <p:nvPr/>
        </p:nvCxnSpPr>
        <p:spPr>
          <a:xfrm>
            <a:off x="6642055" y="3851767"/>
            <a:ext cx="0" cy="1429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725882B-FD6F-427A-B38B-E533A2F33D53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492747" y="1744818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1E07AA4D-6A35-4707-8808-A3E87328577E}"/>
              </a:ext>
            </a:extLst>
          </p:cNvPr>
          <p:cNvCxnSpPr/>
          <p:nvPr/>
        </p:nvCxnSpPr>
        <p:spPr>
          <a:xfrm>
            <a:off x="2492747" y="5410268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62D4E2-29B9-4EB6-92AB-83967913AB2E}"/>
              </a:ext>
            </a:extLst>
          </p:cNvPr>
          <p:cNvCxnSpPr/>
          <p:nvPr/>
        </p:nvCxnSpPr>
        <p:spPr>
          <a:xfrm>
            <a:off x="2600323" y="3851767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5B2E778B-0E6C-4378-8CAF-799668D19AE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492747" y="1744818"/>
            <a:ext cx="0" cy="178309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88501F7-6851-4EEA-BD99-C56E00B2E0F4}"/>
              </a:ext>
            </a:extLst>
          </p:cNvPr>
          <p:cNvCxnSpPr/>
          <p:nvPr/>
        </p:nvCxnSpPr>
        <p:spPr>
          <a:xfrm>
            <a:off x="787774" y="4249082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연장등록출원절차의</a:t>
            </a:r>
            <a:r>
              <a:rPr lang="ko-KR" altLang="en-US" dirty="0"/>
              <a:t> 비교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301</a:t>
            </a:fld>
            <a:endParaRPr lang="ko-KR" altLang="en-US"/>
          </a:p>
        </p:txBody>
      </p:sp>
      <p:sp>
        <p:nvSpPr>
          <p:cNvPr id="10" name="모서리가 둥근 직사각형 19">
            <a:extLst>
              <a:ext uri="{FF2B5EF4-FFF2-40B4-BE49-F238E27FC236}">
                <a16:creationId xmlns:a16="http://schemas.microsoft.com/office/drawing/2014/main" id="{34A4FCE5-62F2-4D2E-89B6-CB6DA3DCDFBE}"/>
              </a:ext>
            </a:extLst>
          </p:cNvPr>
          <p:cNvSpPr/>
          <p:nvPr/>
        </p:nvSpPr>
        <p:spPr>
          <a:xfrm>
            <a:off x="1968872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지식재산처장</a:t>
            </a:r>
          </a:p>
        </p:txBody>
      </p:sp>
      <p:sp>
        <p:nvSpPr>
          <p:cNvPr id="12" name="모서리가 둥근 직사각형 22">
            <a:extLst>
              <a:ext uri="{FF2B5EF4-FFF2-40B4-BE49-F238E27FC236}">
                <a16:creationId xmlns:a16="http://schemas.microsoft.com/office/drawing/2014/main" id="{3E79DBD3-ADE5-4E41-AF6D-330C40646556}"/>
              </a:ext>
            </a:extLst>
          </p:cNvPr>
          <p:cNvSpPr/>
          <p:nvPr/>
        </p:nvSpPr>
        <p:spPr>
          <a:xfrm>
            <a:off x="273424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출원인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9FFD247-A1B7-4818-B7FA-A8830EB54DC6}"/>
              </a:ext>
            </a:extLst>
          </p:cNvPr>
          <p:cNvCxnSpPr>
            <a:stCxn id="12" idx="2"/>
          </p:cNvCxnSpPr>
          <p:nvPr/>
        </p:nvCxnSpPr>
        <p:spPr>
          <a:xfrm>
            <a:off x="797299" y="1744818"/>
            <a:ext cx="0" cy="43529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25">
            <a:extLst>
              <a:ext uri="{FF2B5EF4-FFF2-40B4-BE49-F238E27FC236}">
                <a16:creationId xmlns:a16="http://schemas.microsoft.com/office/drawing/2014/main" id="{B492F138-4B7F-4D4A-811B-2D93E2D52868}"/>
              </a:ext>
            </a:extLst>
          </p:cNvPr>
          <p:cNvSpPr/>
          <p:nvPr/>
        </p:nvSpPr>
        <p:spPr>
          <a:xfrm>
            <a:off x="1968874" y="2530142"/>
            <a:ext cx="1047750" cy="23614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15" name="모서리가 둥근 직사각형 26">
            <a:extLst>
              <a:ext uri="{FF2B5EF4-FFF2-40B4-BE49-F238E27FC236}">
                <a16:creationId xmlns:a16="http://schemas.microsoft.com/office/drawing/2014/main" id="{2C122C16-04A2-428F-BE18-C5F2768F750A}"/>
              </a:ext>
            </a:extLst>
          </p:cNvPr>
          <p:cNvSpPr/>
          <p:nvPr/>
        </p:nvSpPr>
        <p:spPr>
          <a:xfrm>
            <a:off x="2076448" y="408715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실체심사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직권주의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F732D38-892E-4855-9BCF-E09F6F08C907}"/>
              </a:ext>
            </a:extLst>
          </p:cNvPr>
          <p:cNvCxnSpPr>
            <a:cxnSpLocks/>
          </p:cNvCxnSpPr>
          <p:nvPr/>
        </p:nvCxnSpPr>
        <p:spPr>
          <a:xfrm>
            <a:off x="787774" y="2426375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31">
            <a:extLst>
              <a:ext uri="{FF2B5EF4-FFF2-40B4-BE49-F238E27FC236}">
                <a16:creationId xmlns:a16="http://schemas.microsoft.com/office/drawing/2014/main" id="{603F43A0-EE52-4A7E-A4FA-665275D714A2}"/>
              </a:ext>
            </a:extLst>
          </p:cNvPr>
          <p:cNvSpPr/>
          <p:nvPr/>
        </p:nvSpPr>
        <p:spPr>
          <a:xfrm>
            <a:off x="1131793" y="2129420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29786E2-3A39-4A6C-8148-7F05B818053C}"/>
              </a:ext>
            </a:extLst>
          </p:cNvPr>
          <p:cNvCxnSpPr/>
          <p:nvPr/>
        </p:nvCxnSpPr>
        <p:spPr>
          <a:xfrm>
            <a:off x="787774" y="5641111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모서리가 둥근 직사각형 46">
            <a:extLst>
              <a:ext uri="{FF2B5EF4-FFF2-40B4-BE49-F238E27FC236}">
                <a16:creationId xmlns:a16="http://schemas.microsoft.com/office/drawing/2014/main" id="{41549790-6551-4C87-A53A-260C132A97A5}"/>
              </a:ext>
            </a:extLst>
          </p:cNvPr>
          <p:cNvSpPr/>
          <p:nvPr/>
        </p:nvSpPr>
        <p:spPr>
          <a:xfrm>
            <a:off x="922523" y="5290842"/>
            <a:ext cx="125730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특허료 납부</a:t>
            </a:r>
            <a:endParaRPr lang="en-US" altLang="ko-KR" sz="1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ctr"/>
            <a:r>
              <a:rPr lang="en-US" altLang="ko-KR" sz="800"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highlight>
                  <a:srgbClr val="FFFF00"/>
                </a:highlight>
              </a:rPr>
              <a:t>등록료</a:t>
            </a:r>
            <a:r>
              <a:rPr lang="en-US" altLang="ko-KR" sz="800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  <a:endParaRPr lang="ko-KR" altLang="en-US" sz="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D33FB55-2DC2-4FE2-9342-9F19EF127D32}"/>
              </a:ext>
            </a:extLst>
          </p:cNvPr>
          <p:cNvSpPr/>
          <p:nvPr/>
        </p:nvSpPr>
        <p:spPr>
          <a:xfrm>
            <a:off x="125506" y="1004047"/>
            <a:ext cx="933998" cy="28628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특허출원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25B3FED-1D03-4908-8D7E-4407C5BC2F56}"/>
              </a:ext>
            </a:extLst>
          </p:cNvPr>
          <p:cNvCxnSpPr>
            <a:cxnSpLocks/>
          </p:cNvCxnSpPr>
          <p:nvPr/>
        </p:nvCxnSpPr>
        <p:spPr>
          <a:xfrm>
            <a:off x="787774" y="3269061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모서리가 둥근 직사각형 31">
            <a:extLst>
              <a:ext uri="{FF2B5EF4-FFF2-40B4-BE49-F238E27FC236}">
                <a16:creationId xmlns:a16="http://schemas.microsoft.com/office/drawing/2014/main" id="{47D8C467-596D-4A06-A03A-AB5FB4A46E5B}"/>
              </a:ext>
            </a:extLst>
          </p:cNvPr>
          <p:cNvSpPr/>
          <p:nvPr/>
        </p:nvSpPr>
        <p:spPr>
          <a:xfrm>
            <a:off x="1059508" y="2937013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심사청구</a:t>
            </a:r>
          </a:p>
        </p:txBody>
      </p:sp>
      <p:sp>
        <p:nvSpPr>
          <p:cNvPr id="38" name="모서리가 둥근 직사각형 19">
            <a:extLst>
              <a:ext uri="{FF2B5EF4-FFF2-40B4-BE49-F238E27FC236}">
                <a16:creationId xmlns:a16="http://schemas.microsoft.com/office/drawing/2014/main" id="{1F4FC84C-1AE3-4451-B5CB-AD6841DED97B}"/>
              </a:ext>
            </a:extLst>
          </p:cNvPr>
          <p:cNvSpPr/>
          <p:nvPr/>
        </p:nvSpPr>
        <p:spPr>
          <a:xfrm>
            <a:off x="2076448" y="3527917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심사관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2097EE4-67FC-4E21-8AEE-64AF924C457C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2600323" y="3851767"/>
            <a:ext cx="0" cy="1429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1">
            <a:extLst>
              <a:ext uri="{FF2B5EF4-FFF2-40B4-BE49-F238E27FC236}">
                <a16:creationId xmlns:a16="http://schemas.microsoft.com/office/drawing/2014/main" id="{18203CBC-E35A-4CAD-AF1C-D9DECE8BF91E}"/>
              </a:ext>
            </a:extLst>
          </p:cNvPr>
          <p:cNvSpPr/>
          <p:nvPr/>
        </p:nvSpPr>
        <p:spPr>
          <a:xfrm>
            <a:off x="1672335" y="3239059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지정</a:t>
            </a:r>
          </a:p>
        </p:txBody>
      </p:sp>
      <p:sp>
        <p:nvSpPr>
          <p:cNvPr id="41" name="모서리가 둥근 직사각형 31">
            <a:extLst>
              <a:ext uri="{FF2B5EF4-FFF2-40B4-BE49-F238E27FC236}">
                <a16:creationId xmlns:a16="http://schemas.microsoft.com/office/drawing/2014/main" id="{A069B916-324F-4FFE-93B6-9626F6401958}"/>
              </a:ext>
            </a:extLst>
          </p:cNvPr>
          <p:cNvSpPr/>
          <p:nvPr/>
        </p:nvSpPr>
        <p:spPr>
          <a:xfrm>
            <a:off x="922801" y="3973385"/>
            <a:ext cx="1110780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의견제출기회부여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모서리가 둥근 직사각형 26">
            <a:extLst>
              <a:ext uri="{FF2B5EF4-FFF2-40B4-BE49-F238E27FC236}">
                <a16:creationId xmlns:a16="http://schemas.microsoft.com/office/drawing/2014/main" id="{A9D28A47-C25C-4828-9E08-0A922B812071}"/>
              </a:ext>
            </a:extLst>
          </p:cNvPr>
          <p:cNvSpPr/>
          <p:nvPr/>
        </p:nvSpPr>
        <p:spPr>
          <a:xfrm>
            <a:off x="2076448" y="460702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특허결정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3" name="모서리가 둥근 직사각형 25">
            <a:extLst>
              <a:ext uri="{FF2B5EF4-FFF2-40B4-BE49-F238E27FC236}">
                <a16:creationId xmlns:a16="http://schemas.microsoft.com/office/drawing/2014/main" id="{00820512-1293-40CF-A80B-7AE57D3E7622}"/>
              </a:ext>
            </a:extLst>
          </p:cNvPr>
          <p:cNvSpPr/>
          <p:nvPr/>
        </p:nvSpPr>
        <p:spPr>
          <a:xfrm>
            <a:off x="1968874" y="5086418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등본송달</a:t>
            </a:r>
          </a:p>
        </p:txBody>
      </p:sp>
      <p:sp>
        <p:nvSpPr>
          <p:cNvPr id="44" name="모서리가 둥근 직사각형 25">
            <a:extLst>
              <a:ext uri="{FF2B5EF4-FFF2-40B4-BE49-F238E27FC236}">
                <a16:creationId xmlns:a16="http://schemas.microsoft.com/office/drawing/2014/main" id="{D8C8A7FF-9598-4BCA-A49B-A1FBEFB3C078}"/>
              </a:ext>
            </a:extLst>
          </p:cNvPr>
          <p:cNvSpPr/>
          <p:nvPr/>
        </p:nvSpPr>
        <p:spPr>
          <a:xfrm>
            <a:off x="1968874" y="5760432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</a:p>
        </p:txBody>
      </p:sp>
      <p:sp>
        <p:nvSpPr>
          <p:cNvPr id="45" name="모서리가 둥근 직사각형 25">
            <a:extLst>
              <a:ext uri="{FF2B5EF4-FFF2-40B4-BE49-F238E27FC236}">
                <a16:creationId xmlns:a16="http://schemas.microsoft.com/office/drawing/2014/main" id="{25BB9433-1C9F-4246-84B6-132A07978544}"/>
              </a:ext>
            </a:extLst>
          </p:cNvPr>
          <p:cNvSpPr/>
          <p:nvPr/>
        </p:nvSpPr>
        <p:spPr>
          <a:xfrm>
            <a:off x="1968874" y="628029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등록공고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특허공보게재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7" name="모서리가 둥근 직사각형 25">
            <a:extLst>
              <a:ext uri="{FF2B5EF4-FFF2-40B4-BE49-F238E27FC236}">
                <a16:creationId xmlns:a16="http://schemas.microsoft.com/office/drawing/2014/main" id="{B5396664-F583-477E-AAED-C56DF1F6EE45}"/>
              </a:ext>
            </a:extLst>
          </p:cNvPr>
          <p:cNvSpPr/>
          <p:nvPr/>
        </p:nvSpPr>
        <p:spPr>
          <a:xfrm>
            <a:off x="273424" y="439637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명세서</a:t>
            </a:r>
            <a:r>
              <a:rPr lang="en-US" altLang="ko-KR" sz="1000" dirty="0">
                <a:solidFill>
                  <a:schemeClr val="tx1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도면 </a:t>
            </a:r>
            <a:endParaRPr lang="en-US" altLang="ko-KR" sz="1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보정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C41DD1B-C234-411D-9DA1-1F02DE789606}"/>
              </a:ext>
            </a:extLst>
          </p:cNvPr>
          <p:cNvCxnSpPr/>
          <p:nvPr/>
        </p:nvCxnSpPr>
        <p:spPr>
          <a:xfrm>
            <a:off x="3881718" y="896471"/>
            <a:ext cx="0" cy="575534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A11B81C-EF42-42FA-87AC-A2240292DC3E}"/>
              </a:ext>
            </a:extLst>
          </p:cNvPr>
          <p:cNvCxnSpPr>
            <a:stCxn id="53" idx="2"/>
          </p:cNvCxnSpPr>
          <p:nvPr/>
        </p:nvCxnSpPr>
        <p:spPr>
          <a:xfrm>
            <a:off x="6555436" y="1744818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F2DE2105-38F9-486D-BDC6-87DB30B0D478}"/>
              </a:ext>
            </a:extLst>
          </p:cNvPr>
          <p:cNvCxnSpPr/>
          <p:nvPr/>
        </p:nvCxnSpPr>
        <p:spPr>
          <a:xfrm>
            <a:off x="4850463" y="4249082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19">
            <a:extLst>
              <a:ext uri="{FF2B5EF4-FFF2-40B4-BE49-F238E27FC236}">
                <a16:creationId xmlns:a16="http://schemas.microsoft.com/office/drawing/2014/main" id="{5297980B-9A10-4D26-B8DA-90D6E152D055}"/>
              </a:ext>
            </a:extLst>
          </p:cNvPr>
          <p:cNvSpPr/>
          <p:nvPr/>
        </p:nvSpPr>
        <p:spPr>
          <a:xfrm>
            <a:off x="6031561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지식재산처장</a:t>
            </a:r>
          </a:p>
        </p:txBody>
      </p:sp>
      <p:sp>
        <p:nvSpPr>
          <p:cNvPr id="54" name="모서리가 둥근 직사각형 22">
            <a:extLst>
              <a:ext uri="{FF2B5EF4-FFF2-40B4-BE49-F238E27FC236}">
                <a16:creationId xmlns:a16="http://schemas.microsoft.com/office/drawing/2014/main" id="{F668B1B8-5D5A-470F-98CD-042C77F4E46C}"/>
              </a:ext>
            </a:extLst>
          </p:cNvPr>
          <p:cNvSpPr/>
          <p:nvPr/>
        </p:nvSpPr>
        <p:spPr>
          <a:xfrm>
            <a:off x="4336113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출원인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altLang="ko-KR" sz="800" dirty="0">
                <a:solidFill>
                  <a:schemeClr val="accent4"/>
                </a:solidFill>
              </a:rPr>
              <a:t>(</a:t>
            </a:r>
            <a:r>
              <a:rPr lang="ko-KR" altLang="en-US" sz="800" dirty="0">
                <a:solidFill>
                  <a:schemeClr val="accent4"/>
                </a:solidFill>
              </a:rPr>
              <a:t>특허권자</a:t>
            </a:r>
            <a:r>
              <a:rPr lang="en-US" altLang="ko-KR" sz="800" dirty="0">
                <a:solidFill>
                  <a:schemeClr val="accent4"/>
                </a:solidFill>
              </a:rPr>
              <a:t>)</a:t>
            </a:r>
            <a:endParaRPr lang="ko-KR" altLang="en-US" sz="800" dirty="0">
              <a:solidFill>
                <a:schemeClr val="accent4"/>
              </a:solidFill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D2C3DC1-E8FD-4D2E-B67F-98EDB96A0D58}"/>
              </a:ext>
            </a:extLst>
          </p:cNvPr>
          <p:cNvCxnSpPr>
            <a:stCxn id="54" idx="2"/>
          </p:cNvCxnSpPr>
          <p:nvPr/>
        </p:nvCxnSpPr>
        <p:spPr>
          <a:xfrm>
            <a:off x="4859988" y="1744818"/>
            <a:ext cx="0" cy="43529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모서리가 둥근 직사각형 25">
            <a:extLst>
              <a:ext uri="{FF2B5EF4-FFF2-40B4-BE49-F238E27FC236}">
                <a16:creationId xmlns:a16="http://schemas.microsoft.com/office/drawing/2014/main" id="{E1457409-B7A3-4DEF-ADF9-537BF8052155}"/>
              </a:ext>
            </a:extLst>
          </p:cNvPr>
          <p:cNvSpPr/>
          <p:nvPr/>
        </p:nvSpPr>
        <p:spPr>
          <a:xfrm>
            <a:off x="6031563" y="2628757"/>
            <a:ext cx="1047750" cy="23614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57" name="모서리가 둥근 직사각형 26">
            <a:extLst>
              <a:ext uri="{FF2B5EF4-FFF2-40B4-BE49-F238E27FC236}">
                <a16:creationId xmlns:a16="http://schemas.microsoft.com/office/drawing/2014/main" id="{F4352400-C0D2-4556-83C5-9EFEB1E33A75}"/>
              </a:ext>
            </a:extLst>
          </p:cNvPr>
          <p:cNvSpPr/>
          <p:nvPr/>
        </p:nvSpPr>
        <p:spPr>
          <a:xfrm>
            <a:off x="6139137" y="408715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실체심사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직권주의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4853FA1-BBB3-4C0D-B54D-9BEBE9917D15}"/>
              </a:ext>
            </a:extLst>
          </p:cNvPr>
          <p:cNvCxnSpPr>
            <a:cxnSpLocks/>
          </p:cNvCxnSpPr>
          <p:nvPr/>
        </p:nvCxnSpPr>
        <p:spPr>
          <a:xfrm>
            <a:off x="4850463" y="2453270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31">
            <a:extLst>
              <a:ext uri="{FF2B5EF4-FFF2-40B4-BE49-F238E27FC236}">
                <a16:creationId xmlns:a16="http://schemas.microsoft.com/office/drawing/2014/main" id="{7F3DE23B-D5F8-42A8-8E8E-8A6AFFF22D52}"/>
              </a:ext>
            </a:extLst>
          </p:cNvPr>
          <p:cNvSpPr/>
          <p:nvPr/>
        </p:nvSpPr>
        <p:spPr>
          <a:xfrm>
            <a:off x="4914813" y="2182427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연장등록출원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46EDF5A-DCF0-43B2-8150-B7D5795E2303}"/>
              </a:ext>
            </a:extLst>
          </p:cNvPr>
          <p:cNvSpPr/>
          <p:nvPr/>
        </p:nvSpPr>
        <p:spPr>
          <a:xfrm>
            <a:off x="4026829" y="1004047"/>
            <a:ext cx="2329148" cy="28628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허가 등에 따른 연장등록출원</a:t>
            </a:r>
          </a:p>
        </p:txBody>
      </p:sp>
      <p:sp>
        <p:nvSpPr>
          <p:cNvPr id="65" name="모서리가 둥근 직사각형 19">
            <a:extLst>
              <a:ext uri="{FF2B5EF4-FFF2-40B4-BE49-F238E27FC236}">
                <a16:creationId xmlns:a16="http://schemas.microsoft.com/office/drawing/2014/main" id="{CEFBFE15-B3A2-4F1F-978B-21FBFB336A72}"/>
              </a:ext>
            </a:extLst>
          </p:cNvPr>
          <p:cNvSpPr/>
          <p:nvPr/>
        </p:nvSpPr>
        <p:spPr>
          <a:xfrm>
            <a:off x="6139137" y="3527917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심사관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AE2B02A9-40A8-4D14-B352-18E2450B7D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6663012" y="3851767"/>
            <a:ext cx="0" cy="1429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31">
            <a:extLst>
              <a:ext uri="{FF2B5EF4-FFF2-40B4-BE49-F238E27FC236}">
                <a16:creationId xmlns:a16="http://schemas.microsoft.com/office/drawing/2014/main" id="{DB3D8881-B0B0-46B3-9BD2-3FDBC68C27E9}"/>
              </a:ext>
            </a:extLst>
          </p:cNvPr>
          <p:cNvSpPr/>
          <p:nvPr/>
        </p:nvSpPr>
        <p:spPr>
          <a:xfrm>
            <a:off x="5735024" y="3239059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지정</a:t>
            </a:r>
          </a:p>
        </p:txBody>
      </p:sp>
      <p:sp>
        <p:nvSpPr>
          <p:cNvPr id="68" name="모서리가 둥근 직사각형 31">
            <a:extLst>
              <a:ext uri="{FF2B5EF4-FFF2-40B4-BE49-F238E27FC236}">
                <a16:creationId xmlns:a16="http://schemas.microsoft.com/office/drawing/2014/main" id="{E22F7C72-B0C0-49AD-9FCA-8F9718750C90}"/>
              </a:ext>
            </a:extLst>
          </p:cNvPr>
          <p:cNvSpPr/>
          <p:nvPr/>
        </p:nvSpPr>
        <p:spPr>
          <a:xfrm>
            <a:off x="4985490" y="3973385"/>
            <a:ext cx="1110780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의견제출기회부여</a:t>
            </a:r>
          </a:p>
        </p:txBody>
      </p:sp>
      <p:sp>
        <p:nvSpPr>
          <p:cNvPr id="69" name="모서리가 둥근 직사각형 26">
            <a:extLst>
              <a:ext uri="{FF2B5EF4-FFF2-40B4-BE49-F238E27FC236}">
                <a16:creationId xmlns:a16="http://schemas.microsoft.com/office/drawing/2014/main" id="{45C43FE2-61A9-4322-9DDD-6074D26BC044}"/>
              </a:ext>
            </a:extLst>
          </p:cNvPr>
          <p:cNvSpPr/>
          <p:nvPr/>
        </p:nvSpPr>
        <p:spPr>
          <a:xfrm>
            <a:off x="6139137" y="460702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등록결정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0" name="모서리가 둥근 직사각형 25">
            <a:extLst>
              <a:ext uri="{FF2B5EF4-FFF2-40B4-BE49-F238E27FC236}">
                <a16:creationId xmlns:a16="http://schemas.microsoft.com/office/drawing/2014/main" id="{3474BB63-DADE-43F4-BD6D-9FAF0EF4645A}"/>
              </a:ext>
            </a:extLst>
          </p:cNvPr>
          <p:cNvSpPr/>
          <p:nvPr/>
        </p:nvSpPr>
        <p:spPr>
          <a:xfrm>
            <a:off x="6031563" y="5086418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등본송달</a:t>
            </a:r>
          </a:p>
        </p:txBody>
      </p:sp>
      <p:sp>
        <p:nvSpPr>
          <p:cNvPr id="71" name="모서리가 둥근 직사각형 25">
            <a:extLst>
              <a:ext uri="{FF2B5EF4-FFF2-40B4-BE49-F238E27FC236}">
                <a16:creationId xmlns:a16="http://schemas.microsoft.com/office/drawing/2014/main" id="{492E32AF-F9AE-4E67-BFD4-1005D2D3A54C}"/>
              </a:ext>
            </a:extLst>
          </p:cNvPr>
          <p:cNvSpPr/>
          <p:nvPr/>
        </p:nvSpPr>
        <p:spPr>
          <a:xfrm>
            <a:off x="6031563" y="5794522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연장등록</a:t>
            </a:r>
          </a:p>
        </p:txBody>
      </p:sp>
      <p:sp>
        <p:nvSpPr>
          <p:cNvPr id="72" name="모서리가 둥근 직사각형 25">
            <a:extLst>
              <a:ext uri="{FF2B5EF4-FFF2-40B4-BE49-F238E27FC236}">
                <a16:creationId xmlns:a16="http://schemas.microsoft.com/office/drawing/2014/main" id="{DB1B8F5D-5E25-425C-A06C-568FFDAD9FD7}"/>
              </a:ext>
            </a:extLst>
          </p:cNvPr>
          <p:cNvSpPr/>
          <p:nvPr/>
        </p:nvSpPr>
        <p:spPr>
          <a:xfrm>
            <a:off x="6031563" y="628029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특허공보게재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3" name="모서리가 둥근 직사각형 25">
            <a:extLst>
              <a:ext uri="{FF2B5EF4-FFF2-40B4-BE49-F238E27FC236}">
                <a16:creationId xmlns:a16="http://schemas.microsoft.com/office/drawing/2014/main" id="{2774C958-0A80-40C2-B448-92A7209C522B}"/>
              </a:ext>
            </a:extLst>
          </p:cNvPr>
          <p:cNvSpPr/>
          <p:nvPr/>
        </p:nvSpPr>
        <p:spPr>
          <a:xfrm>
            <a:off x="4336113" y="439637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출원서 보정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774BF91-8E84-4F1C-84F8-7A5AE0481892}"/>
              </a:ext>
            </a:extLst>
          </p:cNvPr>
          <p:cNvCxnSpPr/>
          <p:nvPr/>
        </p:nvCxnSpPr>
        <p:spPr>
          <a:xfrm>
            <a:off x="7944407" y="896471"/>
            <a:ext cx="0" cy="575534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모서리가 둥근 직사각형 25">
            <a:extLst>
              <a:ext uri="{FF2B5EF4-FFF2-40B4-BE49-F238E27FC236}">
                <a16:creationId xmlns:a16="http://schemas.microsoft.com/office/drawing/2014/main" id="{8E004309-4C8E-4AE1-A018-7FA7BD7BBC1F}"/>
              </a:ext>
            </a:extLst>
          </p:cNvPr>
          <p:cNvSpPr/>
          <p:nvPr/>
        </p:nvSpPr>
        <p:spPr>
          <a:xfrm>
            <a:off x="6031563" y="3025822"/>
            <a:ext cx="1047750" cy="243239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특허공보게재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3A6574C-7BFC-4CD3-B3EE-FA8362E1B10D}"/>
              </a:ext>
            </a:extLst>
          </p:cNvPr>
          <p:cNvCxnSpPr/>
          <p:nvPr/>
        </p:nvCxnSpPr>
        <p:spPr>
          <a:xfrm>
            <a:off x="8913151" y="4249082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모서리가 둥근 직사각형 19">
            <a:extLst>
              <a:ext uri="{FF2B5EF4-FFF2-40B4-BE49-F238E27FC236}">
                <a16:creationId xmlns:a16="http://schemas.microsoft.com/office/drawing/2014/main" id="{518C70D5-24B8-45EA-9A63-9EE93916F692}"/>
              </a:ext>
            </a:extLst>
          </p:cNvPr>
          <p:cNvSpPr/>
          <p:nvPr/>
        </p:nvSpPr>
        <p:spPr>
          <a:xfrm>
            <a:off x="10094249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지식재산처장</a:t>
            </a:r>
          </a:p>
        </p:txBody>
      </p:sp>
      <p:sp>
        <p:nvSpPr>
          <p:cNvPr id="79" name="모서리가 둥근 직사각형 22">
            <a:extLst>
              <a:ext uri="{FF2B5EF4-FFF2-40B4-BE49-F238E27FC236}">
                <a16:creationId xmlns:a16="http://schemas.microsoft.com/office/drawing/2014/main" id="{B46DCA67-BBF5-4989-A068-B5C67F0D1BE3}"/>
              </a:ext>
            </a:extLst>
          </p:cNvPr>
          <p:cNvSpPr/>
          <p:nvPr/>
        </p:nvSpPr>
        <p:spPr>
          <a:xfrm>
            <a:off x="8398801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출원인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altLang="ko-KR" sz="800" dirty="0">
                <a:solidFill>
                  <a:schemeClr val="accent4"/>
                </a:solidFill>
              </a:rPr>
              <a:t>(</a:t>
            </a:r>
            <a:r>
              <a:rPr lang="ko-KR" altLang="en-US" sz="800" dirty="0">
                <a:solidFill>
                  <a:schemeClr val="accent4"/>
                </a:solidFill>
              </a:rPr>
              <a:t>특허권자</a:t>
            </a:r>
            <a:r>
              <a:rPr lang="en-US" altLang="ko-KR" sz="800" dirty="0">
                <a:solidFill>
                  <a:schemeClr val="accent4"/>
                </a:solidFill>
              </a:rPr>
              <a:t>)</a:t>
            </a:r>
            <a:endParaRPr lang="ko-KR" altLang="en-US" sz="800" dirty="0">
              <a:solidFill>
                <a:schemeClr val="accent4"/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E00C110-DE0B-41D1-A142-1EE0B243FCB3}"/>
              </a:ext>
            </a:extLst>
          </p:cNvPr>
          <p:cNvCxnSpPr>
            <a:stCxn id="79" idx="2"/>
          </p:cNvCxnSpPr>
          <p:nvPr/>
        </p:nvCxnSpPr>
        <p:spPr>
          <a:xfrm>
            <a:off x="8922676" y="1744818"/>
            <a:ext cx="0" cy="43529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모서리가 둥근 직사각형 25">
            <a:extLst>
              <a:ext uri="{FF2B5EF4-FFF2-40B4-BE49-F238E27FC236}">
                <a16:creationId xmlns:a16="http://schemas.microsoft.com/office/drawing/2014/main" id="{4D2508E0-ADFE-441A-BA5C-D7DE40DDAD4F}"/>
              </a:ext>
            </a:extLst>
          </p:cNvPr>
          <p:cNvSpPr/>
          <p:nvPr/>
        </p:nvSpPr>
        <p:spPr>
          <a:xfrm>
            <a:off x="10094251" y="2860888"/>
            <a:ext cx="1047750" cy="23614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82" name="모서리가 둥근 직사각형 26">
            <a:extLst>
              <a:ext uri="{FF2B5EF4-FFF2-40B4-BE49-F238E27FC236}">
                <a16:creationId xmlns:a16="http://schemas.microsoft.com/office/drawing/2014/main" id="{E5677B5C-7EFE-4942-9587-ED8FB6B6550A}"/>
              </a:ext>
            </a:extLst>
          </p:cNvPr>
          <p:cNvSpPr/>
          <p:nvPr/>
        </p:nvSpPr>
        <p:spPr>
          <a:xfrm>
            <a:off x="10201825" y="408715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실체심사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직권주의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24C5DDA-61A7-4315-80EB-049F8FD86D59}"/>
              </a:ext>
            </a:extLst>
          </p:cNvPr>
          <p:cNvCxnSpPr>
            <a:cxnSpLocks/>
          </p:cNvCxnSpPr>
          <p:nvPr/>
        </p:nvCxnSpPr>
        <p:spPr>
          <a:xfrm>
            <a:off x="8913151" y="2453270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91B3CEC3-5C16-476B-88C5-2AD3138582B4}"/>
              </a:ext>
            </a:extLst>
          </p:cNvPr>
          <p:cNvSpPr/>
          <p:nvPr/>
        </p:nvSpPr>
        <p:spPr>
          <a:xfrm>
            <a:off x="8071590" y="1004047"/>
            <a:ext cx="2329148" cy="28628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등록지연에 따른 연장등록출원</a:t>
            </a:r>
          </a:p>
        </p:txBody>
      </p:sp>
      <p:sp>
        <p:nvSpPr>
          <p:cNvPr id="86" name="모서리가 둥근 직사각형 19">
            <a:extLst>
              <a:ext uri="{FF2B5EF4-FFF2-40B4-BE49-F238E27FC236}">
                <a16:creationId xmlns:a16="http://schemas.microsoft.com/office/drawing/2014/main" id="{EF5DAFCD-EA3B-4574-80D4-14EDCD400E31}"/>
              </a:ext>
            </a:extLst>
          </p:cNvPr>
          <p:cNvSpPr/>
          <p:nvPr/>
        </p:nvSpPr>
        <p:spPr>
          <a:xfrm>
            <a:off x="10201825" y="3527917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심사관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0CF2B7E6-C408-4390-9A0F-96E19239321F}"/>
              </a:ext>
            </a:extLst>
          </p:cNvPr>
          <p:cNvCxnSpPr>
            <a:cxnSpLocks/>
            <a:stCxn id="86" idx="2"/>
          </p:cNvCxnSpPr>
          <p:nvPr/>
        </p:nvCxnSpPr>
        <p:spPr>
          <a:xfrm>
            <a:off x="10725700" y="3851767"/>
            <a:ext cx="0" cy="1429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모서리가 둥근 직사각형 31">
            <a:extLst>
              <a:ext uri="{FF2B5EF4-FFF2-40B4-BE49-F238E27FC236}">
                <a16:creationId xmlns:a16="http://schemas.microsoft.com/office/drawing/2014/main" id="{2413D63A-18BF-4F0A-96CF-6B80000705DE}"/>
              </a:ext>
            </a:extLst>
          </p:cNvPr>
          <p:cNvSpPr/>
          <p:nvPr/>
        </p:nvSpPr>
        <p:spPr>
          <a:xfrm>
            <a:off x="9797712" y="3239059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지정</a:t>
            </a:r>
          </a:p>
        </p:txBody>
      </p:sp>
      <p:sp>
        <p:nvSpPr>
          <p:cNvPr id="89" name="모서리가 둥근 직사각형 31">
            <a:extLst>
              <a:ext uri="{FF2B5EF4-FFF2-40B4-BE49-F238E27FC236}">
                <a16:creationId xmlns:a16="http://schemas.microsoft.com/office/drawing/2014/main" id="{F0A5108F-4101-47A6-AD05-951C406374DE}"/>
              </a:ext>
            </a:extLst>
          </p:cNvPr>
          <p:cNvSpPr/>
          <p:nvPr/>
        </p:nvSpPr>
        <p:spPr>
          <a:xfrm>
            <a:off x="9048178" y="3973385"/>
            <a:ext cx="1110780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의견제출기회부여</a:t>
            </a:r>
          </a:p>
        </p:txBody>
      </p:sp>
      <p:sp>
        <p:nvSpPr>
          <p:cNvPr id="90" name="모서리가 둥근 직사각형 26">
            <a:extLst>
              <a:ext uri="{FF2B5EF4-FFF2-40B4-BE49-F238E27FC236}">
                <a16:creationId xmlns:a16="http://schemas.microsoft.com/office/drawing/2014/main" id="{1951DA70-4A95-4D16-B92A-C53228FB95E6}"/>
              </a:ext>
            </a:extLst>
          </p:cNvPr>
          <p:cNvSpPr/>
          <p:nvPr/>
        </p:nvSpPr>
        <p:spPr>
          <a:xfrm>
            <a:off x="10201825" y="460702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등록결정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91" name="모서리가 둥근 직사각형 25">
            <a:extLst>
              <a:ext uri="{FF2B5EF4-FFF2-40B4-BE49-F238E27FC236}">
                <a16:creationId xmlns:a16="http://schemas.microsoft.com/office/drawing/2014/main" id="{5FDA6FE6-22E6-451E-81E9-7C729E2E8187}"/>
              </a:ext>
            </a:extLst>
          </p:cNvPr>
          <p:cNvSpPr/>
          <p:nvPr/>
        </p:nvSpPr>
        <p:spPr>
          <a:xfrm>
            <a:off x="10094251" y="5086418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등본송달</a:t>
            </a:r>
          </a:p>
        </p:txBody>
      </p:sp>
      <p:sp>
        <p:nvSpPr>
          <p:cNvPr id="92" name="모서리가 둥근 직사각형 25">
            <a:extLst>
              <a:ext uri="{FF2B5EF4-FFF2-40B4-BE49-F238E27FC236}">
                <a16:creationId xmlns:a16="http://schemas.microsoft.com/office/drawing/2014/main" id="{4DD0F487-A0A9-42EF-B494-E9D843F910ED}"/>
              </a:ext>
            </a:extLst>
          </p:cNvPr>
          <p:cNvSpPr/>
          <p:nvPr/>
        </p:nvSpPr>
        <p:spPr>
          <a:xfrm>
            <a:off x="10094251" y="5794522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연장등록</a:t>
            </a:r>
          </a:p>
        </p:txBody>
      </p:sp>
      <p:sp>
        <p:nvSpPr>
          <p:cNvPr id="93" name="모서리가 둥근 직사각형 25">
            <a:extLst>
              <a:ext uri="{FF2B5EF4-FFF2-40B4-BE49-F238E27FC236}">
                <a16:creationId xmlns:a16="http://schemas.microsoft.com/office/drawing/2014/main" id="{F8749617-8E20-4367-AF24-0421327DBEE8}"/>
              </a:ext>
            </a:extLst>
          </p:cNvPr>
          <p:cNvSpPr/>
          <p:nvPr/>
        </p:nvSpPr>
        <p:spPr>
          <a:xfrm>
            <a:off x="10094251" y="628029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특허공보게재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94" name="모서리가 둥근 직사각형 25">
            <a:extLst>
              <a:ext uri="{FF2B5EF4-FFF2-40B4-BE49-F238E27FC236}">
                <a16:creationId xmlns:a16="http://schemas.microsoft.com/office/drawing/2014/main" id="{78B949DA-5B4C-4EA8-B0BE-7A5A24AE2513}"/>
              </a:ext>
            </a:extLst>
          </p:cNvPr>
          <p:cNvSpPr/>
          <p:nvPr/>
        </p:nvSpPr>
        <p:spPr>
          <a:xfrm>
            <a:off x="8398801" y="439637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출원서 보정</a:t>
            </a:r>
          </a:p>
        </p:txBody>
      </p:sp>
      <p:sp>
        <p:nvSpPr>
          <p:cNvPr id="116" name="말풍선: 모서리가 둥근 사각형 115">
            <a:extLst>
              <a:ext uri="{FF2B5EF4-FFF2-40B4-BE49-F238E27FC236}">
                <a16:creationId xmlns:a16="http://schemas.microsoft.com/office/drawing/2014/main" id="{C5EA1EB4-A8F2-42AC-900D-71BC67D5C380}"/>
              </a:ext>
            </a:extLst>
          </p:cNvPr>
          <p:cNvSpPr/>
          <p:nvPr/>
        </p:nvSpPr>
        <p:spPr>
          <a:xfrm>
            <a:off x="105030" y="1838938"/>
            <a:ext cx="1313084" cy="376540"/>
          </a:xfrm>
          <a:prstGeom prst="wedgeRoundRectCallout">
            <a:avLst>
              <a:gd name="adj1" fmla="val 56052"/>
              <a:gd name="adj2" fmla="val 3342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출원서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명세서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도면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요약서 제출</a:t>
            </a:r>
          </a:p>
        </p:txBody>
      </p:sp>
      <p:sp>
        <p:nvSpPr>
          <p:cNvPr id="117" name="말풍선: 모서리가 둥근 사각형 116">
            <a:extLst>
              <a:ext uri="{FF2B5EF4-FFF2-40B4-BE49-F238E27FC236}">
                <a16:creationId xmlns:a16="http://schemas.microsoft.com/office/drawing/2014/main" id="{113EEDBF-F970-4EF3-8B53-DA55BC4682DB}"/>
              </a:ext>
            </a:extLst>
          </p:cNvPr>
          <p:cNvSpPr/>
          <p:nvPr/>
        </p:nvSpPr>
        <p:spPr>
          <a:xfrm>
            <a:off x="4252381" y="1849563"/>
            <a:ext cx="982118" cy="256939"/>
          </a:xfrm>
          <a:prstGeom prst="wedgeRoundRectCallout">
            <a:avLst>
              <a:gd name="adj1" fmla="val 45749"/>
              <a:gd name="adj2" fmla="val 9041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출원서 제출</a:t>
            </a:r>
          </a:p>
        </p:txBody>
      </p:sp>
      <p:sp>
        <p:nvSpPr>
          <p:cNvPr id="118" name="말풍선: 모서리가 둥근 사각형 117">
            <a:extLst>
              <a:ext uri="{FF2B5EF4-FFF2-40B4-BE49-F238E27FC236}">
                <a16:creationId xmlns:a16="http://schemas.microsoft.com/office/drawing/2014/main" id="{A6ABB609-7C2E-402F-80A5-FB7851F2C157}"/>
              </a:ext>
            </a:extLst>
          </p:cNvPr>
          <p:cNvSpPr/>
          <p:nvPr/>
        </p:nvSpPr>
        <p:spPr>
          <a:xfrm>
            <a:off x="8509546" y="1870317"/>
            <a:ext cx="982118" cy="256939"/>
          </a:xfrm>
          <a:prstGeom prst="wedgeRoundRectCallout">
            <a:avLst>
              <a:gd name="adj1" fmla="val 36621"/>
              <a:gd name="adj2" fmla="val 7994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출원서 제출</a:t>
            </a:r>
          </a:p>
        </p:txBody>
      </p:sp>
      <p:sp>
        <p:nvSpPr>
          <p:cNvPr id="119" name="말풍선: 모서리가 둥근 사각형 118">
            <a:extLst>
              <a:ext uri="{FF2B5EF4-FFF2-40B4-BE49-F238E27FC236}">
                <a16:creationId xmlns:a16="http://schemas.microsoft.com/office/drawing/2014/main" id="{75121241-407C-4627-B4D0-07DD1FF241EA}"/>
              </a:ext>
            </a:extLst>
          </p:cNvPr>
          <p:cNvSpPr/>
          <p:nvPr/>
        </p:nvSpPr>
        <p:spPr>
          <a:xfrm>
            <a:off x="3221262" y="3830218"/>
            <a:ext cx="971334" cy="256939"/>
          </a:xfrm>
          <a:prstGeom prst="wedgeRoundRectCallout">
            <a:avLst>
              <a:gd name="adj1" fmla="val -59475"/>
              <a:gd name="adj2" fmla="val 4505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명세서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도면</a:t>
            </a:r>
          </a:p>
        </p:txBody>
      </p:sp>
      <p:sp>
        <p:nvSpPr>
          <p:cNvPr id="120" name="말풍선: 모서리가 둥근 사각형 119">
            <a:extLst>
              <a:ext uri="{FF2B5EF4-FFF2-40B4-BE49-F238E27FC236}">
                <a16:creationId xmlns:a16="http://schemas.microsoft.com/office/drawing/2014/main" id="{3E8594A7-AB9D-4415-8246-6A58987742C5}"/>
              </a:ext>
            </a:extLst>
          </p:cNvPr>
          <p:cNvSpPr/>
          <p:nvPr/>
        </p:nvSpPr>
        <p:spPr>
          <a:xfrm>
            <a:off x="7310711" y="3830218"/>
            <a:ext cx="792192" cy="256939"/>
          </a:xfrm>
          <a:prstGeom prst="wedgeRoundRectCallout">
            <a:avLst>
              <a:gd name="adj1" fmla="val -60607"/>
              <a:gd name="adj2" fmla="val 8343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출원서</a:t>
            </a:r>
          </a:p>
        </p:txBody>
      </p:sp>
      <p:sp>
        <p:nvSpPr>
          <p:cNvPr id="122" name="말풍선: 모서리가 둥근 사각형 121">
            <a:extLst>
              <a:ext uri="{FF2B5EF4-FFF2-40B4-BE49-F238E27FC236}">
                <a16:creationId xmlns:a16="http://schemas.microsoft.com/office/drawing/2014/main" id="{F77BD149-7AE0-4FD1-8465-6490A2AA77D3}"/>
              </a:ext>
            </a:extLst>
          </p:cNvPr>
          <p:cNvSpPr/>
          <p:nvPr/>
        </p:nvSpPr>
        <p:spPr>
          <a:xfrm>
            <a:off x="11312645" y="3830218"/>
            <a:ext cx="792192" cy="256939"/>
          </a:xfrm>
          <a:prstGeom prst="wedgeRoundRectCallout">
            <a:avLst>
              <a:gd name="adj1" fmla="val -60607"/>
              <a:gd name="adj2" fmla="val 8343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출원서</a:t>
            </a:r>
          </a:p>
        </p:txBody>
      </p:sp>
      <p:sp>
        <p:nvSpPr>
          <p:cNvPr id="123" name="모서리가 둥근 직사각형 25">
            <a:extLst>
              <a:ext uri="{FF2B5EF4-FFF2-40B4-BE49-F238E27FC236}">
                <a16:creationId xmlns:a16="http://schemas.microsoft.com/office/drawing/2014/main" id="{9C157977-979D-477D-93E5-14FB484B4E80}"/>
              </a:ext>
            </a:extLst>
          </p:cNvPr>
          <p:cNvSpPr/>
          <p:nvPr/>
        </p:nvSpPr>
        <p:spPr>
          <a:xfrm>
            <a:off x="1968874" y="2925880"/>
            <a:ext cx="1047750" cy="250819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출원공개</a:t>
            </a:r>
          </a:p>
        </p:txBody>
      </p:sp>
      <p:sp>
        <p:nvSpPr>
          <p:cNvPr id="124" name="말풍선: 모서리가 둥근 사각형 123">
            <a:extLst>
              <a:ext uri="{FF2B5EF4-FFF2-40B4-BE49-F238E27FC236}">
                <a16:creationId xmlns:a16="http://schemas.microsoft.com/office/drawing/2014/main" id="{8B4382DE-906B-433B-83A0-62CBC18C5B5E}"/>
              </a:ext>
            </a:extLst>
          </p:cNvPr>
          <p:cNvSpPr/>
          <p:nvPr/>
        </p:nvSpPr>
        <p:spPr>
          <a:xfrm>
            <a:off x="409234" y="4911346"/>
            <a:ext cx="1257301" cy="256939"/>
          </a:xfrm>
          <a:prstGeom prst="wedgeRoundRectCallout">
            <a:avLst>
              <a:gd name="adj1" fmla="val -3101"/>
              <a:gd name="adj2" fmla="val -11893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항 시기</a:t>
            </a:r>
          </a:p>
        </p:txBody>
      </p:sp>
      <p:sp>
        <p:nvSpPr>
          <p:cNvPr id="125" name="말풍선: 모서리가 둥근 사각형 124">
            <a:extLst>
              <a:ext uri="{FF2B5EF4-FFF2-40B4-BE49-F238E27FC236}">
                <a16:creationId xmlns:a16="http://schemas.microsoft.com/office/drawing/2014/main" id="{9F6A7CEA-7110-4438-B971-E74666CCBF18}"/>
              </a:ext>
            </a:extLst>
          </p:cNvPr>
          <p:cNvSpPr/>
          <p:nvPr/>
        </p:nvSpPr>
        <p:spPr>
          <a:xfrm>
            <a:off x="3664321" y="4922553"/>
            <a:ext cx="2129255" cy="394774"/>
          </a:xfrm>
          <a:prstGeom prst="wedgeRoundRectCallout">
            <a:avLst>
              <a:gd name="adj1" fmla="val -10679"/>
              <a:gd name="adj2" fmla="val -9849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원칙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: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연장등록여부결정등본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송달전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예외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의견서 제출기간내</a:t>
            </a:r>
          </a:p>
        </p:txBody>
      </p:sp>
      <p:sp>
        <p:nvSpPr>
          <p:cNvPr id="126" name="말풍선: 모서리가 둥근 사각형 125">
            <a:extLst>
              <a:ext uri="{FF2B5EF4-FFF2-40B4-BE49-F238E27FC236}">
                <a16:creationId xmlns:a16="http://schemas.microsoft.com/office/drawing/2014/main" id="{7D921BB1-875A-4AFD-84B2-8CA57DA61EA5}"/>
              </a:ext>
            </a:extLst>
          </p:cNvPr>
          <p:cNvSpPr/>
          <p:nvPr/>
        </p:nvSpPr>
        <p:spPr>
          <a:xfrm>
            <a:off x="7748426" y="4922553"/>
            <a:ext cx="2129255" cy="394774"/>
          </a:xfrm>
          <a:prstGeom prst="wedgeRoundRectCallout">
            <a:avLst>
              <a:gd name="adj1" fmla="val -8153"/>
              <a:gd name="adj2" fmla="val -9395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원칙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: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연장등록여부결정전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예외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의견서 제출기간내</a:t>
            </a:r>
          </a:p>
        </p:txBody>
      </p:sp>
      <p:sp>
        <p:nvSpPr>
          <p:cNvPr id="129" name="모서리가 둥근 직사각형 25">
            <a:extLst>
              <a:ext uri="{FF2B5EF4-FFF2-40B4-BE49-F238E27FC236}">
                <a16:creationId xmlns:a16="http://schemas.microsoft.com/office/drawing/2014/main" id="{30064E18-DF33-45F8-91B9-A9750B2FD3D2}"/>
              </a:ext>
            </a:extLst>
          </p:cNvPr>
          <p:cNvSpPr/>
          <p:nvPr/>
        </p:nvSpPr>
        <p:spPr>
          <a:xfrm>
            <a:off x="6031563" y="1814519"/>
            <a:ext cx="1047750" cy="22289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설정등록</a:t>
            </a:r>
          </a:p>
        </p:txBody>
      </p:sp>
      <p:sp>
        <p:nvSpPr>
          <p:cNvPr id="130" name="모서리가 둥근 직사각형 25">
            <a:extLst>
              <a:ext uri="{FF2B5EF4-FFF2-40B4-BE49-F238E27FC236}">
                <a16:creationId xmlns:a16="http://schemas.microsoft.com/office/drawing/2014/main" id="{B1A8E174-62DC-415B-BA50-F1F3D0FA6608}"/>
              </a:ext>
            </a:extLst>
          </p:cNvPr>
          <p:cNvSpPr/>
          <p:nvPr/>
        </p:nvSpPr>
        <p:spPr>
          <a:xfrm>
            <a:off x="6031563" y="2090026"/>
            <a:ext cx="1047750" cy="22289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등록공고</a:t>
            </a:r>
          </a:p>
        </p:txBody>
      </p:sp>
      <p:sp>
        <p:nvSpPr>
          <p:cNvPr id="131" name="모서리가 둥근 직사각형 31">
            <a:extLst>
              <a:ext uri="{FF2B5EF4-FFF2-40B4-BE49-F238E27FC236}">
                <a16:creationId xmlns:a16="http://schemas.microsoft.com/office/drawing/2014/main" id="{122446D8-43AB-443E-9B51-3FFA752832F7}"/>
              </a:ext>
            </a:extLst>
          </p:cNvPr>
          <p:cNvSpPr/>
          <p:nvPr/>
        </p:nvSpPr>
        <p:spPr>
          <a:xfrm>
            <a:off x="8960700" y="2182427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연장등록출원</a:t>
            </a:r>
          </a:p>
        </p:txBody>
      </p:sp>
      <p:sp>
        <p:nvSpPr>
          <p:cNvPr id="132" name="모서리가 둥근 직사각형 25">
            <a:extLst>
              <a:ext uri="{FF2B5EF4-FFF2-40B4-BE49-F238E27FC236}">
                <a16:creationId xmlns:a16="http://schemas.microsoft.com/office/drawing/2014/main" id="{DAB9B324-FBC7-4824-B076-64CF6F1CC571}"/>
              </a:ext>
            </a:extLst>
          </p:cNvPr>
          <p:cNvSpPr/>
          <p:nvPr/>
        </p:nvSpPr>
        <p:spPr>
          <a:xfrm>
            <a:off x="10077450" y="1814519"/>
            <a:ext cx="1047750" cy="22289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설정등록</a:t>
            </a:r>
          </a:p>
        </p:txBody>
      </p:sp>
      <p:sp>
        <p:nvSpPr>
          <p:cNvPr id="133" name="모서리가 둥근 직사각형 25">
            <a:extLst>
              <a:ext uri="{FF2B5EF4-FFF2-40B4-BE49-F238E27FC236}">
                <a16:creationId xmlns:a16="http://schemas.microsoft.com/office/drawing/2014/main" id="{C4BF8EDF-4E19-46F8-AD34-7F520410A1F9}"/>
              </a:ext>
            </a:extLst>
          </p:cNvPr>
          <p:cNvSpPr/>
          <p:nvPr/>
        </p:nvSpPr>
        <p:spPr>
          <a:xfrm>
            <a:off x="10077450" y="2090026"/>
            <a:ext cx="1047750" cy="22289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등록공고</a:t>
            </a:r>
          </a:p>
        </p:txBody>
      </p:sp>
      <p:sp>
        <p:nvSpPr>
          <p:cNvPr id="134" name="모서리가 둥근 직사각형 25">
            <a:extLst>
              <a:ext uri="{FF2B5EF4-FFF2-40B4-BE49-F238E27FC236}">
                <a16:creationId xmlns:a16="http://schemas.microsoft.com/office/drawing/2014/main" id="{12558B3C-28E5-4640-AE3B-53810A6C36F8}"/>
              </a:ext>
            </a:extLst>
          </p:cNvPr>
          <p:cNvSpPr/>
          <p:nvPr/>
        </p:nvSpPr>
        <p:spPr>
          <a:xfrm>
            <a:off x="273424" y="2727528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출원서 보정</a:t>
            </a:r>
          </a:p>
        </p:txBody>
      </p:sp>
      <p:sp>
        <p:nvSpPr>
          <p:cNvPr id="135" name="말풍선: 모서리가 둥근 사각형 134">
            <a:extLst>
              <a:ext uri="{FF2B5EF4-FFF2-40B4-BE49-F238E27FC236}">
                <a16:creationId xmlns:a16="http://schemas.microsoft.com/office/drawing/2014/main" id="{16469B79-DE2A-474B-8FFD-1DF11B224ED6}"/>
              </a:ext>
            </a:extLst>
          </p:cNvPr>
          <p:cNvSpPr/>
          <p:nvPr/>
        </p:nvSpPr>
        <p:spPr>
          <a:xfrm>
            <a:off x="74940" y="3395551"/>
            <a:ext cx="1257301" cy="393039"/>
          </a:xfrm>
          <a:prstGeom prst="wedgeRoundRectCallout">
            <a:avLst>
              <a:gd name="adj1" fmla="val -8805"/>
              <a:gd name="adj2" fmla="val -13261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원칙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계속중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예외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보정명령기간</a:t>
            </a: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DC88B8E7-4672-467E-AA4C-49C1D232A214}"/>
              </a:ext>
            </a:extLst>
          </p:cNvPr>
          <p:cNvSpPr/>
          <p:nvPr/>
        </p:nvSpPr>
        <p:spPr>
          <a:xfrm>
            <a:off x="3582758" y="2573581"/>
            <a:ext cx="2023619" cy="5540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허가 등을 받은 날로부터 </a:t>
            </a:r>
            <a:r>
              <a:rPr lang="en-US" altLang="ko-KR" sz="900" dirty="0">
                <a:solidFill>
                  <a:srgbClr val="FF0000"/>
                </a:solidFill>
              </a:rPr>
              <a:t>3</a:t>
            </a:r>
            <a:r>
              <a:rPr lang="ko-KR" altLang="en-US" sz="900" dirty="0">
                <a:solidFill>
                  <a:srgbClr val="FF0000"/>
                </a:solidFill>
              </a:rPr>
              <a:t>월 및 존속기간만료 </a:t>
            </a:r>
            <a:r>
              <a:rPr lang="en-US" altLang="ko-KR" sz="900" dirty="0">
                <a:solidFill>
                  <a:srgbClr val="FF0000"/>
                </a:solidFill>
              </a:rPr>
              <a:t>6</a:t>
            </a:r>
            <a:r>
              <a:rPr lang="ko-KR" altLang="en-US" sz="900" dirty="0">
                <a:solidFill>
                  <a:srgbClr val="FF0000"/>
                </a:solidFill>
              </a:rPr>
              <a:t>월 이전에 출원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algn="ctr"/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 err="1">
                <a:solidFill>
                  <a:srgbClr val="FF0000"/>
                </a:solidFill>
              </a:rPr>
              <a:t>출원계속</a:t>
            </a:r>
            <a:r>
              <a:rPr lang="ko-KR" altLang="en-US" sz="900" dirty="0">
                <a:solidFill>
                  <a:srgbClr val="FF0000"/>
                </a:solidFill>
              </a:rPr>
              <a:t> 중 존속기간 만료 가정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필요</a:t>
            </a:r>
            <a:r>
              <a:rPr lang="en-US" altLang="ko-KR" sz="900" dirty="0">
                <a:solidFill>
                  <a:srgbClr val="FF0000"/>
                </a:solidFill>
              </a:rPr>
              <a:t>)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D2ECD67B-E835-4A0C-9F9C-64229AA7D397}"/>
              </a:ext>
            </a:extLst>
          </p:cNvPr>
          <p:cNvSpPr/>
          <p:nvPr/>
        </p:nvSpPr>
        <p:spPr>
          <a:xfrm>
            <a:off x="3711319" y="3293627"/>
            <a:ext cx="1766046" cy="2934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rgbClr val="FF0000"/>
                </a:solidFill>
              </a:rPr>
              <a:t>출원시</a:t>
            </a:r>
            <a:r>
              <a:rPr lang="ko-KR" altLang="en-US" sz="900" dirty="0">
                <a:solidFill>
                  <a:srgbClr val="FF0000"/>
                </a:solidFill>
              </a:rPr>
              <a:t> 존속기간 연장 간주</a:t>
            </a:r>
          </a:p>
        </p:txBody>
      </p: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FA9A453B-86C0-4280-9572-19B1ED2DC9F6}"/>
              </a:ext>
            </a:extLst>
          </p:cNvPr>
          <p:cNvCxnSpPr>
            <a:cxnSpLocks/>
            <a:stCxn id="137" idx="2"/>
            <a:endCxn id="138" idx="0"/>
          </p:cNvCxnSpPr>
          <p:nvPr/>
        </p:nvCxnSpPr>
        <p:spPr>
          <a:xfrm flipH="1">
            <a:off x="4594342" y="3127591"/>
            <a:ext cx="226" cy="166036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904E6475-CE34-45C5-A006-F6A802987621}"/>
              </a:ext>
            </a:extLst>
          </p:cNvPr>
          <p:cNvCxnSpPr>
            <a:cxnSpLocks/>
            <a:stCxn id="138" idx="3"/>
            <a:endCxn id="75" idx="1"/>
          </p:cNvCxnSpPr>
          <p:nvPr/>
        </p:nvCxnSpPr>
        <p:spPr>
          <a:xfrm flipV="1">
            <a:off x="5477365" y="3147442"/>
            <a:ext cx="554198" cy="29292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04B2FFF1-DE50-468B-9115-541457638A28}"/>
              </a:ext>
            </a:extLst>
          </p:cNvPr>
          <p:cNvSpPr/>
          <p:nvPr/>
        </p:nvSpPr>
        <p:spPr>
          <a:xfrm>
            <a:off x="7596833" y="2573581"/>
            <a:ext cx="2023619" cy="5540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설정등록일로부터 </a:t>
            </a:r>
            <a:r>
              <a:rPr lang="en-US" altLang="ko-KR" sz="900" dirty="0">
                <a:solidFill>
                  <a:srgbClr val="FF0000"/>
                </a:solidFill>
              </a:rPr>
              <a:t>3</a:t>
            </a:r>
            <a:r>
              <a:rPr lang="ko-KR" altLang="en-US" sz="900" dirty="0">
                <a:solidFill>
                  <a:srgbClr val="FF0000"/>
                </a:solidFill>
              </a:rPr>
              <a:t>개월 이내 출원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algn="ctr"/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 err="1">
                <a:solidFill>
                  <a:srgbClr val="FF0000"/>
                </a:solidFill>
              </a:rPr>
              <a:t>출원계속</a:t>
            </a:r>
            <a:r>
              <a:rPr lang="ko-KR" altLang="en-US" sz="900" dirty="0">
                <a:solidFill>
                  <a:srgbClr val="FF0000"/>
                </a:solidFill>
              </a:rPr>
              <a:t> 중 존속기간 만료 가정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불요</a:t>
            </a:r>
            <a:r>
              <a:rPr lang="en-US" altLang="ko-KR" sz="900" dirty="0">
                <a:solidFill>
                  <a:srgbClr val="FF0000"/>
                </a:solidFill>
              </a:rPr>
              <a:t>)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15F77339-F725-4ED1-9A7E-7AB1934BEFD6}"/>
              </a:ext>
            </a:extLst>
          </p:cNvPr>
          <p:cNvSpPr/>
          <p:nvPr/>
        </p:nvSpPr>
        <p:spPr>
          <a:xfrm>
            <a:off x="7725394" y="3293627"/>
            <a:ext cx="1766046" cy="2934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rgbClr val="FF0000"/>
                </a:solidFill>
              </a:rPr>
              <a:t>출원시</a:t>
            </a:r>
            <a:r>
              <a:rPr lang="ko-KR" altLang="en-US" sz="900" dirty="0">
                <a:solidFill>
                  <a:srgbClr val="FF0000"/>
                </a:solidFill>
              </a:rPr>
              <a:t> 존속기간 연장 간주 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</a:rPr>
              <a:t>불요</a:t>
            </a:r>
            <a:endParaRPr lang="ko-KR" alt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1A1AC4BF-5A12-4B6A-8A72-B0EE1063855B}"/>
              </a:ext>
            </a:extLst>
          </p:cNvPr>
          <p:cNvCxnSpPr>
            <a:cxnSpLocks/>
            <a:stCxn id="145" idx="2"/>
            <a:endCxn id="146" idx="0"/>
          </p:cNvCxnSpPr>
          <p:nvPr/>
        </p:nvCxnSpPr>
        <p:spPr>
          <a:xfrm flipH="1">
            <a:off x="8608417" y="3127591"/>
            <a:ext cx="226" cy="166036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397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법조문의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613662"/>
              </p:ext>
            </p:extLst>
          </p:nvPr>
        </p:nvGraphicFramePr>
        <p:xfrm>
          <a:off x="342900" y="1152526"/>
          <a:ext cx="11506199" cy="162229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7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구 분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허가 등에 따른 특허권의 존속기간의 연장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등록지연에 따른 특허권의 존속기간의 연장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의 의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89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92</a:t>
                      </a:r>
                      <a:r>
                        <a:rPr lang="ko-KR" altLang="en-US" sz="1000" kern="1200" dirty="0"/>
                        <a:t>조의</a:t>
                      </a:r>
                      <a:r>
                        <a:rPr lang="en-US" altLang="ko-KR" sz="1000" kern="1200" dirty="0"/>
                        <a:t>2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연장등록</a:t>
                      </a:r>
                      <a:endParaRPr lang="en-US" altLang="ko-KR" sz="10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출원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90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92</a:t>
                      </a:r>
                      <a:r>
                        <a:rPr lang="ko-KR" altLang="en-US" sz="1000" kern="1200" dirty="0"/>
                        <a:t>조의</a:t>
                      </a:r>
                      <a:r>
                        <a:rPr lang="en-US" altLang="ko-KR" sz="1000" kern="1200" dirty="0"/>
                        <a:t>3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거절결정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91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92</a:t>
                      </a:r>
                      <a:r>
                        <a:rPr lang="ko-KR" altLang="en-US" sz="1000" kern="1200" dirty="0"/>
                        <a:t>조의</a:t>
                      </a:r>
                      <a:r>
                        <a:rPr lang="en-US" altLang="ko-KR" sz="1000" kern="1200" dirty="0"/>
                        <a:t>4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등록결정등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92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92</a:t>
                      </a:r>
                      <a:r>
                        <a:rPr lang="ko-KR" altLang="en-US" sz="1000" kern="1200" dirty="0"/>
                        <a:t>조의</a:t>
                      </a:r>
                      <a:r>
                        <a:rPr lang="en-US" altLang="ko-KR" sz="1000" kern="1200" dirty="0"/>
                        <a:t>5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준용규정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93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특허권의 효력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95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94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49484"/>
              </p:ext>
            </p:extLst>
          </p:nvPr>
        </p:nvGraphicFramePr>
        <p:xfrm>
          <a:off x="339837" y="2953665"/>
          <a:ext cx="11518788" cy="36929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51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3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0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허가 등에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등록지연에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47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latin typeface="+mn-ea"/>
                          <a:ea typeface="+mn-ea"/>
                        </a:rPr>
                        <a:t>의의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등에 따른 특허권의 존속기간의 연장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의의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특허발명을 실시하기 위하여 다른 법령에 따라 허가를 받거나 등록 등을 하여야 하고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허가 또는 등록 등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이하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허가 등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을 위하여 필요한 유효성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안전성 등의 시험으로 인하여 장기간이 소요되는 대통령령으로 정하는 발명인 경우에는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항에도 불구하고 그 실시할 수 없었던 기간에 대하여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년의 기간까지 그 특허권의 존속기간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따라 특허권의 존속기간의 연장이 등록된 경우에는 그 연장된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날까지를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말한다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을 한 차례만 연장할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허가등을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받은 날부터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14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년을 초과하여 연장할 수 없다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항을 적용할 때 허가 등을 받은 자에게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책임있는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사유로 소요된 기간은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항의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실시할 수 없었던 기간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포함되지 아니한다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2【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등록지연에 따른 특허권의 존속기간의 연장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61290" marR="0" indent="-1612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의의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특허출원에 대하여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특허출원일부터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년과 출원심사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청구일부터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년 중 늦은 날보다 지연되어 특허권의 설정등록이 이루어지는 경우에는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항에도 불구하고 그 지연된 기간만큼 해당 특허권의 존속기간을 연장할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항의 규정을 적용할 때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출원인으로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인하여 지연된 기간은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특허권의 존속기간의 연장에서 제외된다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출원인으로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인하여 지연된 기간이 겹치는 경우에는 특허권의 존속기간의 연장에서 제외되는 기간은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출원인으로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인하여 실제 지연된 기간을 초과하여서는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아니된다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6210" marR="0" indent="-1562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③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지연기간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항에서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출원인으로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인하여 지연된 기간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관한 사항은 대통령령으로 정한다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④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출원일 기산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항에 따라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특허출원일부터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년을 기산할 때에는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199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및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항에도 불구하고 다음 각 호에 해당하는 날을 특허출원일로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03200" marR="0" indent="-2032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 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조에 따른 정당한 권리자의 특허출원의 경우에는 정당한 권리자가 출원을 한 날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조에 따른 분할출원의 경우에는 분할출원을 한 날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따른 분리출원의 경우에는 분리출원을 한 날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조에 따른 변경출원의 경우에는 변경출원을 한 날</a:t>
                      </a:r>
                    </a:p>
                    <a:p>
                      <a:pPr marL="205740" marR="0" indent="-2057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199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항에 따라 특허출원으로 보는 국제출원의 경우에는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각 호의 사항을 기재한 서면을 제출한 날</a:t>
                      </a:r>
                    </a:p>
                    <a:p>
                      <a:pPr marL="204470" marR="0" indent="-2044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조에 따라 특허출원으로 보는 국제출원의 경우에는 국제출원의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출원인이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항에 따라 결정을 신청한 날</a:t>
                      </a:r>
                    </a:p>
                    <a:p>
                      <a:pPr marL="203200" marR="0" indent="-2032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호부터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호까지의 규정 중 어느 하나에 해당되지 아니하는 특허출원에 대하여는 그 특허출원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일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22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법조문의 비교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269955"/>
              </p:ext>
            </p:extLst>
          </p:nvPr>
        </p:nvGraphicFramePr>
        <p:xfrm>
          <a:off x="339837" y="1015045"/>
          <a:ext cx="11518788" cy="550393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98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9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허가 등에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등록지연에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9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출원</a:t>
                      </a: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등에 따른 특허권의 존속기간의 연장등록출원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54940" marR="0" indent="-1549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출원서 제출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따라 특허권의 존속기간의 연장등록출원을 하려는 자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이하 이 조 및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조에서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는 다음 각 호의 사항을 적은 특허권의 존속기간의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연장등록출원서를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지식재산처장에게 제출하여야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연장등록출원인의 성명 및 주소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법인인 경우에는 그 명칭 및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04470" marR="0" indent="-2044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연장등록출원인의 대리인이 있는 경우에는 그 대리인의 성명 및 주소나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대리인이 특허법인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특허법인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유한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인 경우에는 그 명칭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사무소의 소재지 및 지정된 변리사의 성명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]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연장대상특허권의 특허번호 및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연장대상청구범위의 표시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연장신청의 기간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항에 따른 허가 등의 내용</a:t>
                      </a:r>
                    </a:p>
                    <a:p>
                      <a:pPr marL="199390" marR="0" indent="-199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총리령으로 정하는 연장이유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이를 증명할 수 있는 자료를 첨부하여야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99390" marR="0" indent="-199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8750" marR="0" indent="-1587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시기적 요건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특허권의 존속기간의 연장등록출원은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허가 등을 받은 날부터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개월 이내에 출원하여야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따른 특허권의 존속기간의 만료 전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개월 이후에는 그 특허권의 존속기간의 연장등록출원을 할 수 없다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58750" marR="0" indent="-1587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③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주체적 요건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특허권이 공유인 경우에는 공유자 모두가 공동으로 특허권의 존속기간의 연장등록출원을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8750" marR="0" indent="-1587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④ </a:t>
                      </a:r>
                      <a:r>
                        <a:rPr lang="en-US" altLang="ko-KR" sz="1000" b="1" u="sng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sng" kern="1200" dirty="0">
                          <a:latin typeface="+mn-ea"/>
                          <a:ea typeface="+mn-ea"/>
                        </a:rPr>
                        <a:t>출원의 효과</a:t>
                      </a:r>
                      <a:r>
                        <a:rPr lang="en-US" altLang="ko-KR" sz="1000" b="1" u="sng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항에 따른 특허권의 존속기간의 연장등록출원이 있으면 그 존속기간은 연장된 것으로 본다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그 출원에 관하여 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91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조의 연장등록거절결정이 확정된 경우에는 그러하지 아니하다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u="sng" kern="1200" dirty="0">
                        <a:latin typeface="+mn-ea"/>
                        <a:ea typeface="+mn-ea"/>
                      </a:endParaRP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⑤</a:t>
                      </a:r>
                      <a:r>
                        <a:rPr lang="ko-KR" altLang="en-US" sz="1000" b="1" u="sng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u="sng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sng" kern="1200" dirty="0">
                          <a:latin typeface="+mn-ea"/>
                          <a:ea typeface="+mn-ea"/>
                        </a:rPr>
                        <a:t>특허공보 게재</a:t>
                      </a:r>
                      <a:r>
                        <a:rPr lang="en-US" altLang="ko-KR" sz="1000" b="1" u="sng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지식재산처장은 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항에 따른 특허권의 존속기간의 연장등록출원이 있으면 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항 각 호의 사항을 특허공보에 게재하여야 한다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ko-KR" altLang="en-US" sz="1000" u="sng" kern="1200" dirty="0">
                        <a:latin typeface="+mn-ea"/>
                        <a:ea typeface="+mn-ea"/>
                      </a:endParaRP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⑥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출원서의 보정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연장등록출원인은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지식재산처장이 연장등록여부결정등본을 송달하기 전까지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연장등록출원서에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적혀 있는 사항 중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항제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호부터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호까지의 사항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 중 연장대상특허권의 특허번호는 제외한다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대하여 보정할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따라 준용되는 거절이유통지를 받은 후에는 해당 거절이유통지에 따른 의견서 제출기간에만 보정할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⑦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객체적 요건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하나의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허가등에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대하여 둘 이상의 특허권이 있는 경우에는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연장등록출원인은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그 중 하나의 특허권에 대해서만 존속기간의 연장등록출원을 하여야 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하나의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허가등에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대하여 둘 이상의 특허권에 대한 존속기간의 연장등록출원이 있는 경우에는 어느 특허권의 존속기간도 연장할 수 없다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⑧ 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객체적 요건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특허권의 존속기간의 연장등록출원이 다음 각 호의 어느 하나에 해당하는 경우 그 출원은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항을 적용할 때는 처음부터 없었던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무효 또는 취하된 경우</a:t>
                      </a: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거절결정이나 거절한다는 취지의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확정된 경우</a:t>
                      </a:r>
                    </a:p>
                  </a:txBody>
                  <a:tcPr marL="15858" marR="15858" marT="4384" marB="43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3【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등록지연에 따른 특허권의 존속기간의 연장등록출원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56210" marR="0" indent="-1562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출원서 제출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따라 특허권의 존속기간의 연장등록출원을 하려는 자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이하 이 조 및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는 다음 각 호의 사항을 적은 특허권의 존속기간의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연장등록출원서를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지식재산처장에게 제출하여야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04470" marR="0" indent="-2044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연장등록출원인의 성명 및 주소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법인인 경우에는 그 명칭 및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96850" marR="0" indent="-1968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연장등록출원인의 대리인이 있는 경우에는 그 대리인의 성명 및 주소나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대리인이 특허법인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특허법인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유한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인 경우에는 그 명칭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사무소의 소재지 및 지정된 변리사의 성명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 대상 특허권의 특허번호</a:t>
                      </a: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연장신청의 기간</a:t>
                      </a: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총리령이 정하는 연장이유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이를 증명할 수 있는 자료를 첨부하여야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61290" marR="0" indent="-1612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1290" marR="0" indent="-1612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시기적 요건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특허권의 존속기간의 연장등록출원은 특허권의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설정등록일부터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개월 이내에 출원하여야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③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주체적 요건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특허권이 공유인 경우에는 공유자 모두가 공동으로 특허권의 존속기간의 연장등록출원을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④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출원서의 보정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연장등록출원인은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심사관이 특허권의 존속기간의 연장등록 여부결정 전까지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연장등록출원서에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기재된 사항 중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항제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 및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호의 사항에 대하여 보정할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따라 준용되는 거절이유통지를 받은 후에는 해당 거절이유통지에 따른 의견서 제출기간에만 보정할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303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0F4B3F-363E-837B-8BC9-B898AC99AF77}"/>
              </a:ext>
            </a:extLst>
          </p:cNvPr>
          <p:cNvSpPr/>
          <p:nvPr/>
        </p:nvSpPr>
        <p:spPr>
          <a:xfrm>
            <a:off x="528918" y="3998259"/>
            <a:ext cx="5567082" cy="76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B6E07A2-BB94-B288-24BF-58271C16DA4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096000" y="4379259"/>
            <a:ext cx="1030941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곱하기 기호 9">
            <a:extLst>
              <a:ext uri="{FF2B5EF4-FFF2-40B4-BE49-F238E27FC236}">
                <a16:creationId xmlns:a16="http://schemas.microsoft.com/office/drawing/2014/main" id="{BA4DF09F-DB76-35F1-F802-8473F9F85164}"/>
              </a:ext>
            </a:extLst>
          </p:cNvPr>
          <p:cNvSpPr/>
          <p:nvPr/>
        </p:nvSpPr>
        <p:spPr>
          <a:xfrm>
            <a:off x="7046257" y="3939981"/>
            <a:ext cx="842682" cy="932329"/>
          </a:xfrm>
          <a:prstGeom prst="mathMultiply">
            <a:avLst>
              <a:gd name="adj1" fmla="val 649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9FBF6F-877B-1555-5285-48FB687865DE}"/>
              </a:ext>
            </a:extLst>
          </p:cNvPr>
          <p:cNvSpPr/>
          <p:nvPr/>
        </p:nvSpPr>
        <p:spPr>
          <a:xfrm>
            <a:off x="627529" y="2944904"/>
            <a:ext cx="5396752" cy="5871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FD338198-714A-5D5D-EA38-FF8D11D5BAAA}"/>
              </a:ext>
            </a:extLst>
          </p:cNvPr>
          <p:cNvCxnSpPr>
            <a:cxnSpLocks/>
            <a:stCxn id="11" idx="1"/>
            <a:endCxn id="6" idx="1"/>
          </p:cNvCxnSpPr>
          <p:nvPr/>
        </p:nvCxnSpPr>
        <p:spPr>
          <a:xfrm rot="10800000" flipV="1">
            <a:off x="528919" y="3238499"/>
            <a:ext cx="98611" cy="1140759"/>
          </a:xfrm>
          <a:prstGeom prst="bentConnector3">
            <a:avLst>
              <a:gd name="adj1" fmla="val 331820"/>
            </a:avLst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0D0B15A-54DB-235D-87B5-00F176B4DCCB}"/>
              </a:ext>
            </a:extLst>
          </p:cNvPr>
          <p:cNvSpPr txBox="1"/>
          <p:nvPr/>
        </p:nvSpPr>
        <p:spPr>
          <a:xfrm>
            <a:off x="7888939" y="4135432"/>
            <a:ext cx="3890685" cy="52322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</a:rPr>
              <a:t>등록일로부터 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</a:rPr>
              <a:t>개월 이내 출원하므로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</a:rPr>
              <a:t>출원계속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</a:rPr>
              <a:t> 중 존속기간이 만료되는 경우를 가정하지 않아도 됨</a:t>
            </a:r>
          </a:p>
        </p:txBody>
      </p:sp>
    </p:spTree>
    <p:extLst>
      <p:ext uri="{BB962C8B-B14F-4D97-AF65-F5344CB8AC3E}">
        <p14:creationId xmlns:p14="http://schemas.microsoft.com/office/powerpoint/2010/main" val="3002163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법조문의 비교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235614"/>
              </p:ext>
            </p:extLst>
          </p:nvPr>
        </p:nvGraphicFramePr>
        <p:xfrm>
          <a:off x="339837" y="1086764"/>
          <a:ext cx="11518788" cy="550956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61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0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6802">
                  <a:extLst>
                    <a:ext uri="{9D8B030D-6E8A-4147-A177-3AD203B41FA5}">
                      <a16:colId xmlns:a16="http://schemas.microsoft.com/office/drawing/2014/main" val="1596742533"/>
                    </a:ext>
                  </a:extLst>
                </a:gridCol>
              </a:tblGrid>
              <a:tr h="1880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허가 등에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등록지연에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62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거절결정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91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등에 따른 특허권의 존속기간의 연장등록거절결정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 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심사관은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따른 특허권의 존속기간의 연장등록출원이 다음 각 호의 어느 하나에 해당하는 경우에는 그 출원에 대하여 연장등록거절결정을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13360" marR="0" indent="-2133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객체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등의 필요성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특허발명의 실시가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허가 등을 받을 필요가 있는 것으로 인정되지 아니하는 경우</a:t>
                      </a:r>
                    </a:p>
                    <a:p>
                      <a:pPr marL="200660" marR="0" lvl="0" indent="-20066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  <a:defRPr/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객체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허가 등의 취득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특허권자 또는 그 특허권의 전용실시권이나 등록된 통상실시권을 가진 자가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허가 등을 받지 아니한 경우</a:t>
                      </a: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객체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연장신청의 기간이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따라 인정되는 그 특허발명을 실시할 수 없었던 기간을 초과하는 경우</a:t>
                      </a: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연장등록출원인이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해당 특허권자가 아닌 경우</a:t>
                      </a:r>
                    </a:p>
                    <a:p>
                      <a:pPr marL="210820" marR="0" indent="-2108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항을 위반하여 연장등록출원을 한 경우 </a:t>
                      </a: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210820" marR="0" indent="-2108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객체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연장횟수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항을 위반하여 하나의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허가등에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대하여 둘 이상의 특허권에 대한 존속기간의 연장등록출원을 한 경우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4【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등록지연에 따른 특허권의 존속기간의 </a:t>
                      </a:r>
                      <a:r>
                        <a:rPr lang="ko-KR" altLang="en-US" sz="1000" b="1" kern="1200" dirty="0" err="1">
                          <a:latin typeface="+mn-ea"/>
                          <a:ea typeface="+mn-ea"/>
                        </a:rPr>
                        <a:t>연장등록거절결정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심사관은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따른 특허권의 존속기간의 연장등록출원이 다음 각 호의 어느 하나에 해당하는 경우에는 그 출원에 대하여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연장등록거절결정을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객체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연장신청의 기간이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따라 인정되는 연장의 기간을 초과한 경우</a:t>
                      </a: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연장등록출원인이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해당 특허권자가 아닌 경우</a:t>
                      </a:r>
                    </a:p>
                    <a:p>
                      <a:pPr marL="224790" marR="0" indent="-2247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항을 위반하여 연장등록출원을 한 경우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985272"/>
                  </a:ext>
                </a:extLst>
              </a:tr>
              <a:tr h="21440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등록결정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등에 따른 특허권의 존속기간의 연장등록결정 등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54940" marR="0" indent="-1549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등록결정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심사관은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따른 특허권의 존속기간의 연장등록출원에 대하여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 각 호의 어느 하나에 해당하는 사유를 발견할 수 없을 때에는 연장등록결정을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특허원부 등록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지식재산처장은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연장등록결정을 한 경우에는 특허권의 존속기간의 연장을 특허원부에 등록하여야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49860" marR="0" indent="-1498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③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특허공보 게재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지식재산처장은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등록을 한 경우에는 다음 각 호의 사항을 특허공보에 게재하여야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03200" marR="0" indent="-2032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특허권자의 성명 및 주소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법인인 경우에는 그 명칭 및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특허번호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연장등록의 연월일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연장기간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항에 따른 허가 등의 내용</a:t>
                      </a:r>
                      <a:endParaRPr lang="ko-KR" altLang="en-US" sz="1000" u="sng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5【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등록지연에 따른 특허권의 존속기간의 연장등록결정 등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63830" marR="0" indent="-1638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등록결정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심사관은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따른 특허권의 존속기간의 연장등록출원에 대하여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각 호의 어느 하나에 해당하는 사유를 발견할 수 없는 경우에는 연장등록결정을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2400" marR="0" indent="-1524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특허원부 등록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지식재산처장은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항의 연장등록결정이 있으면 특허권의 존속기간의 연장을 특허원부에 등록하여야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4940" marR="0" indent="-1549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③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특허공보 게재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등록이 있으면 다음 각 호의 사항을 특허공보에 게재하여야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09550" marR="0" indent="-2095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특허권자의 성명 및 주소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법인인 경우에는 그 명칭 및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특허번호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 연월일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 기간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latin typeface="+mn-ea"/>
                          <a:ea typeface="+mn-ea"/>
                        </a:rPr>
                        <a:t>준용규정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/>
                </a:tc>
                <a:tc grid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93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준용규정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특허권의 존속기간의 연장등록출원의 심사에 관하여는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57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67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78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항ㆍ제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148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호부터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호까지 및 같은 조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호를 준용한다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 경우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78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 중 “특허취소신청에 대한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결정”은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“제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및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따른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연장등록거절결정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연장등록결정”으로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심사절차”는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“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허가등에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따른 연장등록출원 심사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절차”로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본다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5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latin typeface="+mn-ea"/>
                          <a:ea typeface="+mn-ea"/>
                        </a:rPr>
                        <a:t>효력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95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등에 따른 존속기간이 연장된 경우의 특허권의 효력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따라 특허권의 존속기간이 연장된 특허권의 효력은 그 연장등록의 이유가 된 허가 등의 대상물건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허가 등에 있어 물건에 대하여 특정의 용도가 정하여져 있는 경우에는 그 용도에 사용되는 물건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관한 그 특허발명의 실시 행위에만 미친다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94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특허권의 효력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80975" marR="0" indent="-18097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특허권자는 업으로서 특허발명을 실시할 권리를 독점한다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특허권에 관하여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전용실시권을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설정하였을 때에는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전용실시권의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효력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따라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전용실시권자가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그 특허발명을 실시할 권리를 독점하는 범위에서는 그러하지 아니하다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723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2C4116BC-9513-41E7-B4FC-BDDAF79EE0F1}"/>
              </a:ext>
            </a:extLst>
          </p:cNvPr>
          <p:cNvSpPr/>
          <p:nvPr/>
        </p:nvSpPr>
        <p:spPr>
          <a:xfrm>
            <a:off x="6781800" y="3596311"/>
            <a:ext cx="3373000" cy="20490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효력 개괄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23850" y="3441328"/>
            <a:ext cx="738640" cy="7905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효력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370257" y="2479303"/>
            <a:ext cx="738640" cy="7905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효력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범위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370257" y="4527178"/>
            <a:ext cx="738640" cy="7905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효력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내용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407871" y="2033059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시간적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07871" y="2892235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내용적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407871" y="3451867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지역적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392724" y="1703015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존속기간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88)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92724" y="2309284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존속기간의 연장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89~95)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92724" y="2891177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청구범위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392724" y="3452891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속지주의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407871" y="4296704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의의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407871" y="5394005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제한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407871" y="6191762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확장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392724" y="3996693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적극적 효력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94)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392724" y="4533007"/>
            <a:ext cx="1283827" cy="38474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소극적 효력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392724" y="5110129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적극적 효력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3392724" y="5646443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소극적 효력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3392724" y="6189368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소극적 효력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848506" y="876020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특허권 공유에 의한 제한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99)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848506" y="1260768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특허권 포기에 의한 제한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119)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848506" y="1637006"/>
            <a:ext cx="3218361" cy="29051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</a:rPr>
              <a:t>이용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</a:rPr>
              <a:t>저촉관계에 의한 제한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</a:rPr>
              <a:t>法 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</a:rPr>
              <a:t>98)</a:t>
            </a:r>
            <a:endParaRPr lang="ko-KR" alt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848506" y="1991330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타법에 의한 제한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89)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221739" y="4200973"/>
            <a:ext cx="1283827" cy="38474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침해성립요건 부정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221739" y="5646443"/>
            <a:ext cx="1283827" cy="38474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권리행사 부정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848506" y="2509171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실시권</a:t>
            </a:r>
            <a:r>
              <a:rPr lang="ko-KR" altLang="en-US" sz="1100" dirty="0">
                <a:solidFill>
                  <a:schemeClr val="tx1"/>
                </a:solidFill>
              </a:rPr>
              <a:t> 존재에 의한 제한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848506" y="2874504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권리소진에 의한 제한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848506" y="4910921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특허권의 하자에 의한 제한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848506" y="3644735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특허권의 효력이 미치지 아니하는 범위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96)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848506" y="4029483"/>
            <a:ext cx="3218361" cy="4124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특허료의 추가납부 또는 보전에 의하여 회복한 특허출원과 특허권의 효력 제한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81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3④)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848506" y="4527620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재심에 의하여 회복된 특허권의 효력 제한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181)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848506" y="5694617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권리남용에 의한 제한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6848506" y="6238879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간접침해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127)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0" name="꺾인 연결선 39"/>
          <p:cNvCxnSpPr>
            <a:stCxn id="6" idx="3"/>
            <a:endCxn id="7" idx="1"/>
          </p:cNvCxnSpPr>
          <p:nvPr/>
        </p:nvCxnSpPr>
        <p:spPr>
          <a:xfrm flipV="1">
            <a:off x="1062490" y="2874591"/>
            <a:ext cx="307767" cy="9620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6" idx="3"/>
            <a:endCxn id="8" idx="1"/>
          </p:cNvCxnSpPr>
          <p:nvPr/>
        </p:nvCxnSpPr>
        <p:spPr>
          <a:xfrm>
            <a:off x="1062490" y="3836616"/>
            <a:ext cx="307767" cy="1085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7" idx="3"/>
            <a:endCxn id="9" idx="1"/>
          </p:cNvCxnSpPr>
          <p:nvPr/>
        </p:nvCxnSpPr>
        <p:spPr>
          <a:xfrm flipV="1">
            <a:off x="2108897" y="2225433"/>
            <a:ext cx="298973" cy="6491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7" idx="3"/>
            <a:endCxn id="11" idx="1"/>
          </p:cNvCxnSpPr>
          <p:nvPr/>
        </p:nvCxnSpPr>
        <p:spPr>
          <a:xfrm>
            <a:off x="2108897" y="2874591"/>
            <a:ext cx="298973" cy="7696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7" idx="3"/>
            <a:endCxn id="10" idx="1"/>
          </p:cNvCxnSpPr>
          <p:nvPr/>
        </p:nvCxnSpPr>
        <p:spPr>
          <a:xfrm>
            <a:off x="2108897" y="2874591"/>
            <a:ext cx="298973" cy="21001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9" idx="3"/>
            <a:endCxn id="12" idx="1"/>
          </p:cNvCxnSpPr>
          <p:nvPr/>
        </p:nvCxnSpPr>
        <p:spPr>
          <a:xfrm flipV="1">
            <a:off x="3111338" y="1895389"/>
            <a:ext cx="281387" cy="3300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9" idx="3"/>
            <a:endCxn id="13" idx="1"/>
          </p:cNvCxnSpPr>
          <p:nvPr/>
        </p:nvCxnSpPr>
        <p:spPr>
          <a:xfrm>
            <a:off x="3111338" y="2225433"/>
            <a:ext cx="281387" cy="2762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0" idx="3"/>
            <a:endCxn id="14" idx="1"/>
          </p:cNvCxnSpPr>
          <p:nvPr/>
        </p:nvCxnSpPr>
        <p:spPr>
          <a:xfrm flipV="1">
            <a:off x="3111338" y="3083551"/>
            <a:ext cx="281387" cy="10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11" idx="3"/>
            <a:endCxn id="15" idx="1"/>
          </p:cNvCxnSpPr>
          <p:nvPr/>
        </p:nvCxnSpPr>
        <p:spPr>
          <a:xfrm>
            <a:off x="3111338" y="3644241"/>
            <a:ext cx="281387" cy="10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8" idx="3"/>
            <a:endCxn id="17" idx="1"/>
          </p:cNvCxnSpPr>
          <p:nvPr/>
        </p:nvCxnSpPr>
        <p:spPr>
          <a:xfrm flipV="1">
            <a:off x="2108897" y="4489078"/>
            <a:ext cx="298973" cy="4333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stCxn id="8" idx="3"/>
            <a:endCxn id="19" idx="1"/>
          </p:cNvCxnSpPr>
          <p:nvPr/>
        </p:nvCxnSpPr>
        <p:spPr>
          <a:xfrm>
            <a:off x="2108897" y="4922466"/>
            <a:ext cx="298973" cy="14616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8" idx="3"/>
            <a:endCxn id="18" idx="1"/>
          </p:cNvCxnSpPr>
          <p:nvPr/>
        </p:nvCxnSpPr>
        <p:spPr>
          <a:xfrm>
            <a:off x="2108897" y="4922466"/>
            <a:ext cx="298973" cy="66391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7" idx="3"/>
            <a:endCxn id="20" idx="1"/>
          </p:cNvCxnSpPr>
          <p:nvPr/>
        </p:nvCxnSpPr>
        <p:spPr>
          <a:xfrm flipV="1">
            <a:off x="3111338" y="4189067"/>
            <a:ext cx="281387" cy="3000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17" idx="3"/>
            <a:endCxn id="21" idx="1"/>
          </p:cNvCxnSpPr>
          <p:nvPr/>
        </p:nvCxnSpPr>
        <p:spPr>
          <a:xfrm>
            <a:off x="3111338" y="4489078"/>
            <a:ext cx="281387" cy="23630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18" idx="3"/>
            <a:endCxn id="22" idx="1"/>
          </p:cNvCxnSpPr>
          <p:nvPr/>
        </p:nvCxnSpPr>
        <p:spPr>
          <a:xfrm flipV="1">
            <a:off x="3111338" y="5302503"/>
            <a:ext cx="281387" cy="2838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8" idx="3"/>
            <a:endCxn id="23" idx="1"/>
          </p:cNvCxnSpPr>
          <p:nvPr/>
        </p:nvCxnSpPr>
        <p:spPr>
          <a:xfrm>
            <a:off x="3111338" y="5586379"/>
            <a:ext cx="281387" cy="2524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9" idx="3"/>
            <a:endCxn id="24" idx="1"/>
          </p:cNvCxnSpPr>
          <p:nvPr/>
        </p:nvCxnSpPr>
        <p:spPr>
          <a:xfrm flipV="1">
            <a:off x="3111338" y="6381742"/>
            <a:ext cx="281387" cy="23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23" idx="3"/>
            <a:endCxn id="29" idx="1"/>
          </p:cNvCxnSpPr>
          <p:nvPr/>
        </p:nvCxnSpPr>
        <p:spPr>
          <a:xfrm flipV="1">
            <a:off x="4676552" y="4393347"/>
            <a:ext cx="545187" cy="1445470"/>
          </a:xfrm>
          <a:prstGeom prst="bentConnector3">
            <a:avLst>
              <a:gd name="adj1" fmla="val 65724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endCxn id="30" idx="1"/>
          </p:cNvCxnSpPr>
          <p:nvPr/>
        </p:nvCxnSpPr>
        <p:spPr>
          <a:xfrm>
            <a:off x="4676552" y="5838816"/>
            <a:ext cx="545187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22" idx="3"/>
            <a:endCxn id="25" idx="1"/>
          </p:cNvCxnSpPr>
          <p:nvPr/>
        </p:nvCxnSpPr>
        <p:spPr>
          <a:xfrm flipV="1">
            <a:off x="4676551" y="1021277"/>
            <a:ext cx="2171955" cy="4281226"/>
          </a:xfrm>
          <a:prstGeom prst="bentConnector3">
            <a:avLst>
              <a:gd name="adj1" fmla="val 996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22" idx="3"/>
            <a:endCxn id="28" idx="1"/>
          </p:cNvCxnSpPr>
          <p:nvPr/>
        </p:nvCxnSpPr>
        <p:spPr>
          <a:xfrm flipV="1">
            <a:off x="4676551" y="2136587"/>
            <a:ext cx="2171955" cy="3165916"/>
          </a:xfrm>
          <a:prstGeom prst="bentConnector3">
            <a:avLst>
              <a:gd name="adj1" fmla="val 955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22" idx="3"/>
            <a:endCxn id="26" idx="1"/>
          </p:cNvCxnSpPr>
          <p:nvPr/>
        </p:nvCxnSpPr>
        <p:spPr>
          <a:xfrm flipV="1">
            <a:off x="4676551" y="1406025"/>
            <a:ext cx="2171955" cy="3896478"/>
          </a:xfrm>
          <a:prstGeom prst="bentConnector3">
            <a:avLst>
              <a:gd name="adj1" fmla="val 913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86"/>
          <p:cNvCxnSpPr>
            <a:stCxn id="22" idx="3"/>
            <a:endCxn id="27" idx="1"/>
          </p:cNvCxnSpPr>
          <p:nvPr/>
        </p:nvCxnSpPr>
        <p:spPr>
          <a:xfrm flipV="1">
            <a:off x="4676551" y="1782263"/>
            <a:ext cx="2171955" cy="3520240"/>
          </a:xfrm>
          <a:prstGeom prst="bentConnector3">
            <a:avLst>
              <a:gd name="adj1" fmla="val 913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1"/>
          <p:cNvCxnSpPr>
            <a:cxnSpLocks/>
            <a:stCxn id="29" idx="3"/>
            <a:endCxn id="31" idx="1"/>
          </p:cNvCxnSpPr>
          <p:nvPr/>
        </p:nvCxnSpPr>
        <p:spPr>
          <a:xfrm flipV="1">
            <a:off x="6505566" y="2654428"/>
            <a:ext cx="342940" cy="17389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cxnSpLocks/>
            <a:stCxn id="29" idx="3"/>
            <a:endCxn id="36" idx="1"/>
          </p:cNvCxnSpPr>
          <p:nvPr/>
        </p:nvCxnSpPr>
        <p:spPr>
          <a:xfrm>
            <a:off x="6505566" y="4393347"/>
            <a:ext cx="342940" cy="2795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cxnSpLocks/>
            <a:stCxn id="29" idx="3"/>
            <a:endCxn id="32" idx="1"/>
          </p:cNvCxnSpPr>
          <p:nvPr/>
        </p:nvCxnSpPr>
        <p:spPr>
          <a:xfrm flipV="1">
            <a:off x="6505566" y="3019761"/>
            <a:ext cx="342940" cy="13735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>
            <a:cxnSpLocks/>
            <a:stCxn id="29" idx="3"/>
            <a:endCxn id="33" idx="1"/>
          </p:cNvCxnSpPr>
          <p:nvPr/>
        </p:nvCxnSpPr>
        <p:spPr>
          <a:xfrm>
            <a:off x="6505566" y="4393347"/>
            <a:ext cx="342940" cy="6628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 99"/>
          <p:cNvCxnSpPr>
            <a:cxnSpLocks/>
            <a:stCxn id="29" idx="3"/>
            <a:endCxn id="34" idx="1"/>
          </p:cNvCxnSpPr>
          <p:nvPr/>
        </p:nvCxnSpPr>
        <p:spPr>
          <a:xfrm flipV="1">
            <a:off x="6505566" y="3789992"/>
            <a:ext cx="342940" cy="6033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 101"/>
          <p:cNvCxnSpPr>
            <a:cxnSpLocks/>
            <a:stCxn id="29" idx="3"/>
            <a:endCxn id="35" idx="1"/>
          </p:cNvCxnSpPr>
          <p:nvPr/>
        </p:nvCxnSpPr>
        <p:spPr>
          <a:xfrm flipV="1">
            <a:off x="6505566" y="4235689"/>
            <a:ext cx="342940" cy="1576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cxnSpLocks/>
            <a:stCxn id="30" idx="3"/>
            <a:endCxn id="37" idx="1"/>
          </p:cNvCxnSpPr>
          <p:nvPr/>
        </p:nvCxnSpPr>
        <p:spPr>
          <a:xfrm>
            <a:off x="6505566" y="5838817"/>
            <a:ext cx="342940" cy="10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>
            <a:stCxn id="24" idx="3"/>
            <a:endCxn id="38" idx="1"/>
          </p:cNvCxnSpPr>
          <p:nvPr/>
        </p:nvCxnSpPr>
        <p:spPr>
          <a:xfrm>
            <a:off x="4676552" y="6381742"/>
            <a:ext cx="2171954" cy="239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모서리가 둥근 직사각형 108"/>
          <p:cNvSpPr/>
          <p:nvPr/>
        </p:nvSpPr>
        <p:spPr>
          <a:xfrm>
            <a:off x="10541000" y="2657833"/>
            <a:ext cx="1346200" cy="31487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정당한 권원</a:t>
            </a: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10541000" y="4032066"/>
            <a:ext cx="1346200" cy="31487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법률 제한</a:t>
            </a:r>
          </a:p>
        </p:txBody>
      </p:sp>
      <p:cxnSp>
        <p:nvCxnSpPr>
          <p:cNvPr id="112" name="꺾인 연결선 111"/>
          <p:cNvCxnSpPr>
            <a:stCxn id="31" idx="3"/>
            <a:endCxn id="109" idx="1"/>
          </p:cNvCxnSpPr>
          <p:nvPr/>
        </p:nvCxnSpPr>
        <p:spPr>
          <a:xfrm>
            <a:off x="10066867" y="2654428"/>
            <a:ext cx="474133" cy="16084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114"/>
          <p:cNvCxnSpPr>
            <a:stCxn id="32" idx="3"/>
            <a:endCxn id="109" idx="1"/>
          </p:cNvCxnSpPr>
          <p:nvPr/>
        </p:nvCxnSpPr>
        <p:spPr>
          <a:xfrm flipV="1">
            <a:off x="10066867" y="2815268"/>
            <a:ext cx="474133" cy="2044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stCxn id="36" idx="3"/>
            <a:endCxn id="110" idx="1"/>
          </p:cNvCxnSpPr>
          <p:nvPr/>
        </p:nvCxnSpPr>
        <p:spPr>
          <a:xfrm flipV="1">
            <a:off x="10066867" y="4189501"/>
            <a:ext cx="474133" cy="4833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35" idx="3"/>
            <a:endCxn id="110" idx="1"/>
          </p:cNvCxnSpPr>
          <p:nvPr/>
        </p:nvCxnSpPr>
        <p:spPr>
          <a:xfrm flipV="1">
            <a:off x="10066867" y="4189501"/>
            <a:ext cx="474133" cy="461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122"/>
          <p:cNvCxnSpPr>
            <a:stCxn id="34" idx="3"/>
            <a:endCxn id="110" idx="1"/>
          </p:cNvCxnSpPr>
          <p:nvPr/>
        </p:nvCxnSpPr>
        <p:spPr>
          <a:xfrm>
            <a:off x="10066867" y="3789992"/>
            <a:ext cx="474133" cy="3995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305</a:t>
            </a:fld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B011385-A101-4911-AE11-9E58FF91202C}"/>
              </a:ext>
            </a:extLst>
          </p:cNvPr>
          <p:cNvSpPr/>
          <p:nvPr/>
        </p:nvSpPr>
        <p:spPr>
          <a:xfrm>
            <a:off x="6848506" y="5269873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자유기술에 의한 제한</a:t>
            </a:r>
          </a:p>
        </p:txBody>
      </p:sp>
      <p:cxnSp>
        <p:nvCxnSpPr>
          <p:cNvPr id="95" name="꺾인 연결선 97">
            <a:extLst>
              <a:ext uri="{FF2B5EF4-FFF2-40B4-BE49-F238E27FC236}">
                <a16:creationId xmlns:a16="http://schemas.microsoft.com/office/drawing/2014/main" id="{832C1DF3-DEA1-4804-B318-1020C3F8DF61}"/>
              </a:ext>
            </a:extLst>
          </p:cNvPr>
          <p:cNvCxnSpPr>
            <a:cxnSpLocks/>
            <a:stCxn id="29" idx="3"/>
            <a:endCxn id="93" idx="1"/>
          </p:cNvCxnSpPr>
          <p:nvPr/>
        </p:nvCxnSpPr>
        <p:spPr>
          <a:xfrm>
            <a:off x="6505566" y="4393347"/>
            <a:ext cx="342940" cy="102178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1B8144C-3AC8-4E45-998D-729FE60B0081}"/>
              </a:ext>
            </a:extLst>
          </p:cNvPr>
          <p:cNvSpPr txBox="1"/>
          <p:nvPr/>
        </p:nvSpPr>
        <p:spPr>
          <a:xfrm>
            <a:off x="10704986" y="4940048"/>
            <a:ext cx="1018227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보호범위</a:t>
            </a:r>
            <a:endParaRPr lang="en-US" altLang="ko-KR" dirty="0"/>
          </a:p>
          <a:p>
            <a:pPr algn="ctr"/>
            <a:r>
              <a:rPr lang="ko-KR" altLang="en-US" dirty="0"/>
              <a:t>판단</a:t>
            </a:r>
            <a:endParaRPr lang="en-US" altLang="ko-KR" dirty="0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9E0C9B-2475-4F79-B6E9-2D756CE2601D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10154802" y="5263214"/>
            <a:ext cx="550184" cy="665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F6650F9-307C-46BC-DDCD-568903D2B77B}"/>
              </a:ext>
            </a:extLst>
          </p:cNvPr>
          <p:cNvSpPr/>
          <p:nvPr/>
        </p:nvSpPr>
        <p:spPr>
          <a:xfrm>
            <a:off x="6848506" y="3251192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업이 아닌 실시에 의한 제한</a:t>
            </a:r>
          </a:p>
        </p:txBody>
      </p:sp>
    </p:spTree>
    <p:extLst>
      <p:ext uri="{BB962C8B-B14F-4D97-AF65-F5344CB8AC3E}">
        <p14:creationId xmlns:p14="http://schemas.microsoft.com/office/powerpoint/2010/main" val="1738049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소극적 효력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306</a:t>
            </a:fld>
            <a:endParaRPr lang="ko-KR" altLang="en-US"/>
          </a:p>
        </p:txBody>
      </p:sp>
      <p:sp>
        <p:nvSpPr>
          <p:cNvPr id="66" name="모서리가 둥근 직사각형 73">
            <a:extLst>
              <a:ext uri="{FF2B5EF4-FFF2-40B4-BE49-F238E27FC236}">
                <a16:creationId xmlns:a16="http://schemas.microsoft.com/office/drawing/2014/main" id="{A2D85254-C7C7-4921-A321-FC8F78CA60E1}"/>
              </a:ext>
            </a:extLst>
          </p:cNvPr>
          <p:cNvSpPr/>
          <p:nvPr/>
        </p:nvSpPr>
        <p:spPr>
          <a:xfrm>
            <a:off x="562188" y="1052973"/>
            <a:ext cx="1152128" cy="505937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/>
              <a:t>침해</a:t>
            </a:r>
            <a:endParaRPr lang="ko-KR" altLang="en-US" sz="2400" b="1" dirty="0"/>
          </a:p>
        </p:txBody>
      </p:sp>
      <p:sp>
        <p:nvSpPr>
          <p:cNvPr id="67" name="모서리가 둥근 직사각형 75">
            <a:extLst>
              <a:ext uri="{FF2B5EF4-FFF2-40B4-BE49-F238E27FC236}">
                <a16:creationId xmlns:a16="http://schemas.microsoft.com/office/drawing/2014/main" id="{F9D857E2-97FB-43BE-AD52-8A205649B0F7}"/>
              </a:ext>
            </a:extLst>
          </p:cNvPr>
          <p:cNvSpPr/>
          <p:nvPr/>
        </p:nvSpPr>
        <p:spPr>
          <a:xfrm>
            <a:off x="1667348" y="1709395"/>
            <a:ext cx="1517032" cy="272111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성립요건</a:t>
            </a:r>
          </a:p>
        </p:txBody>
      </p:sp>
      <p:sp>
        <p:nvSpPr>
          <p:cNvPr id="68" name="모서리가 둥근 직사각형 77">
            <a:extLst>
              <a:ext uri="{FF2B5EF4-FFF2-40B4-BE49-F238E27FC236}">
                <a16:creationId xmlns:a16="http://schemas.microsoft.com/office/drawing/2014/main" id="{65B1EB52-1FD8-435F-A420-47BCA5A33258}"/>
              </a:ext>
            </a:extLst>
          </p:cNvPr>
          <p:cNvSpPr/>
          <p:nvPr/>
        </p:nvSpPr>
        <p:spPr>
          <a:xfrm>
            <a:off x="1667348" y="3023179"/>
            <a:ext cx="1517032" cy="272111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종류</a:t>
            </a:r>
          </a:p>
        </p:txBody>
      </p:sp>
      <p:sp>
        <p:nvSpPr>
          <p:cNvPr id="69" name="모서리가 둥근 직사각형 79">
            <a:extLst>
              <a:ext uri="{FF2B5EF4-FFF2-40B4-BE49-F238E27FC236}">
                <a16:creationId xmlns:a16="http://schemas.microsoft.com/office/drawing/2014/main" id="{F8862226-3DA6-4950-BC11-85A40BB6D5C3}"/>
              </a:ext>
            </a:extLst>
          </p:cNvPr>
          <p:cNvSpPr/>
          <p:nvPr/>
        </p:nvSpPr>
        <p:spPr>
          <a:xfrm>
            <a:off x="1667348" y="4233674"/>
            <a:ext cx="1517032" cy="272111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조치</a:t>
            </a:r>
          </a:p>
        </p:txBody>
      </p:sp>
      <p:sp>
        <p:nvSpPr>
          <p:cNvPr id="70" name="모서리가 둥근 직사각형 80">
            <a:extLst>
              <a:ext uri="{FF2B5EF4-FFF2-40B4-BE49-F238E27FC236}">
                <a16:creationId xmlns:a16="http://schemas.microsoft.com/office/drawing/2014/main" id="{C4271554-236F-416F-8D40-3A33DE4EA29F}"/>
              </a:ext>
            </a:extLst>
          </p:cNvPr>
          <p:cNvSpPr/>
          <p:nvPr/>
        </p:nvSpPr>
        <p:spPr>
          <a:xfrm>
            <a:off x="6067134" y="2324984"/>
            <a:ext cx="1277005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직접침해</a:t>
            </a:r>
          </a:p>
        </p:txBody>
      </p:sp>
      <p:sp>
        <p:nvSpPr>
          <p:cNvPr id="71" name="모서리가 둥근 직사각형 82">
            <a:extLst>
              <a:ext uri="{FF2B5EF4-FFF2-40B4-BE49-F238E27FC236}">
                <a16:creationId xmlns:a16="http://schemas.microsoft.com/office/drawing/2014/main" id="{4A829A53-AB6B-47B0-B220-6997AC4EDF3E}"/>
              </a:ext>
            </a:extLst>
          </p:cNvPr>
          <p:cNvSpPr/>
          <p:nvPr/>
        </p:nvSpPr>
        <p:spPr>
          <a:xfrm>
            <a:off x="6064700" y="3080298"/>
            <a:ext cx="1277005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간접침해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127)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2" name="모서리가 둥근 직사각형 83">
            <a:extLst>
              <a:ext uri="{FF2B5EF4-FFF2-40B4-BE49-F238E27FC236}">
                <a16:creationId xmlns:a16="http://schemas.microsoft.com/office/drawing/2014/main" id="{080BEF68-A9B8-49DB-9916-CB07C0DE52A6}"/>
              </a:ext>
            </a:extLst>
          </p:cNvPr>
          <p:cNvSpPr/>
          <p:nvPr/>
        </p:nvSpPr>
        <p:spPr>
          <a:xfrm>
            <a:off x="3627137" y="4331160"/>
            <a:ext cx="907081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민사</a:t>
            </a:r>
          </a:p>
        </p:txBody>
      </p:sp>
      <p:sp>
        <p:nvSpPr>
          <p:cNvPr id="73" name="모서리가 둥근 직사각형 85">
            <a:extLst>
              <a:ext uri="{FF2B5EF4-FFF2-40B4-BE49-F238E27FC236}">
                <a16:creationId xmlns:a16="http://schemas.microsoft.com/office/drawing/2014/main" id="{EDE6105A-3321-40F1-A463-7969CADEEF8B}"/>
              </a:ext>
            </a:extLst>
          </p:cNvPr>
          <p:cNvSpPr/>
          <p:nvPr/>
        </p:nvSpPr>
        <p:spPr>
          <a:xfrm>
            <a:off x="3627137" y="5859249"/>
            <a:ext cx="907081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형사</a:t>
            </a:r>
          </a:p>
        </p:txBody>
      </p:sp>
      <p:cxnSp>
        <p:nvCxnSpPr>
          <p:cNvPr id="75" name="꺾인 연결선 87">
            <a:extLst>
              <a:ext uri="{FF2B5EF4-FFF2-40B4-BE49-F238E27FC236}">
                <a16:creationId xmlns:a16="http://schemas.microsoft.com/office/drawing/2014/main" id="{FF386483-0D89-4099-A494-0D6CCA55164F}"/>
              </a:ext>
            </a:extLst>
          </p:cNvPr>
          <p:cNvCxnSpPr>
            <a:stCxn id="66" idx="2"/>
            <a:endCxn id="69" idx="1"/>
          </p:cNvCxnSpPr>
          <p:nvPr/>
        </p:nvCxnSpPr>
        <p:spPr>
          <a:xfrm rot="16200000" flipH="1">
            <a:off x="-2610" y="2699772"/>
            <a:ext cx="2810820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88">
            <a:extLst>
              <a:ext uri="{FF2B5EF4-FFF2-40B4-BE49-F238E27FC236}">
                <a16:creationId xmlns:a16="http://schemas.microsoft.com/office/drawing/2014/main" id="{B0444112-2523-4809-AFAF-5C3B27BA6172}"/>
              </a:ext>
            </a:extLst>
          </p:cNvPr>
          <p:cNvCxnSpPr>
            <a:stCxn id="66" idx="2"/>
            <a:endCxn id="67" idx="1"/>
          </p:cNvCxnSpPr>
          <p:nvPr/>
        </p:nvCxnSpPr>
        <p:spPr>
          <a:xfrm rot="16200000" flipH="1">
            <a:off x="1259530" y="1437632"/>
            <a:ext cx="286541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89">
            <a:extLst>
              <a:ext uri="{FF2B5EF4-FFF2-40B4-BE49-F238E27FC236}">
                <a16:creationId xmlns:a16="http://schemas.microsoft.com/office/drawing/2014/main" id="{59DA640C-24E0-4631-A873-84489C2461C9}"/>
              </a:ext>
            </a:extLst>
          </p:cNvPr>
          <p:cNvCxnSpPr>
            <a:stCxn id="66" idx="2"/>
            <a:endCxn id="68" idx="1"/>
          </p:cNvCxnSpPr>
          <p:nvPr/>
        </p:nvCxnSpPr>
        <p:spPr>
          <a:xfrm rot="16200000" flipH="1">
            <a:off x="602638" y="2094524"/>
            <a:ext cx="1600325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90">
            <a:extLst>
              <a:ext uri="{FF2B5EF4-FFF2-40B4-BE49-F238E27FC236}">
                <a16:creationId xmlns:a16="http://schemas.microsoft.com/office/drawing/2014/main" id="{5DA72B22-A4C9-4967-85EF-52E5BFF2D939}"/>
              </a:ext>
            </a:extLst>
          </p:cNvPr>
          <p:cNvCxnSpPr>
            <a:stCxn id="68" idx="3"/>
            <a:endCxn id="70" idx="1"/>
          </p:cNvCxnSpPr>
          <p:nvPr/>
        </p:nvCxnSpPr>
        <p:spPr>
          <a:xfrm flipV="1">
            <a:off x="3184380" y="2461040"/>
            <a:ext cx="2882754" cy="69819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92">
            <a:extLst>
              <a:ext uri="{FF2B5EF4-FFF2-40B4-BE49-F238E27FC236}">
                <a16:creationId xmlns:a16="http://schemas.microsoft.com/office/drawing/2014/main" id="{D6BC5ED1-2BC8-436A-AD7F-9FBE8A706863}"/>
              </a:ext>
            </a:extLst>
          </p:cNvPr>
          <p:cNvCxnSpPr>
            <a:cxnSpLocks/>
            <a:stCxn id="68" idx="3"/>
            <a:endCxn id="71" idx="1"/>
          </p:cNvCxnSpPr>
          <p:nvPr/>
        </p:nvCxnSpPr>
        <p:spPr>
          <a:xfrm>
            <a:off x="3184380" y="3159235"/>
            <a:ext cx="2880320" cy="5711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94">
            <a:extLst>
              <a:ext uri="{FF2B5EF4-FFF2-40B4-BE49-F238E27FC236}">
                <a16:creationId xmlns:a16="http://schemas.microsoft.com/office/drawing/2014/main" id="{7D94F8E4-95C8-4C35-93A9-EDB17ADA325B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3184380" y="4369730"/>
            <a:ext cx="442757" cy="9748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6">
            <a:extLst>
              <a:ext uri="{FF2B5EF4-FFF2-40B4-BE49-F238E27FC236}">
                <a16:creationId xmlns:a16="http://schemas.microsoft.com/office/drawing/2014/main" id="{2ED608A9-F5CD-4A6A-8EBE-68036E5C3853}"/>
              </a:ext>
            </a:extLst>
          </p:cNvPr>
          <p:cNvCxnSpPr>
            <a:cxnSpLocks/>
            <a:stCxn id="69" idx="3"/>
            <a:endCxn id="73" idx="1"/>
          </p:cNvCxnSpPr>
          <p:nvPr/>
        </p:nvCxnSpPr>
        <p:spPr>
          <a:xfrm>
            <a:off x="3184380" y="4369730"/>
            <a:ext cx="442757" cy="162557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모서리가 둥근 직사각형 98">
            <a:extLst>
              <a:ext uri="{FF2B5EF4-FFF2-40B4-BE49-F238E27FC236}">
                <a16:creationId xmlns:a16="http://schemas.microsoft.com/office/drawing/2014/main" id="{4C918EF9-72D6-46E2-A9C6-B965D80ECD1D}"/>
              </a:ext>
            </a:extLst>
          </p:cNvPr>
          <p:cNvSpPr/>
          <p:nvPr/>
        </p:nvSpPr>
        <p:spPr>
          <a:xfrm>
            <a:off x="3654277" y="946784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특허권의 존속 중</a:t>
            </a:r>
          </a:p>
        </p:txBody>
      </p:sp>
      <p:sp>
        <p:nvSpPr>
          <p:cNvPr id="96" name="모서리가 둥근 직사각형 100">
            <a:extLst>
              <a:ext uri="{FF2B5EF4-FFF2-40B4-BE49-F238E27FC236}">
                <a16:creationId xmlns:a16="http://schemas.microsoft.com/office/drawing/2014/main" id="{A2D427AE-5404-4D87-B11C-0CB52DCBDFEE}"/>
              </a:ext>
            </a:extLst>
          </p:cNvPr>
          <p:cNvSpPr/>
          <p:nvPr/>
        </p:nvSpPr>
        <p:spPr>
          <a:xfrm>
            <a:off x="3654277" y="1254853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정당한 권원이 없는 자</a:t>
            </a:r>
          </a:p>
        </p:txBody>
      </p:sp>
      <p:sp>
        <p:nvSpPr>
          <p:cNvPr id="98" name="모서리가 둥근 직사각형 102">
            <a:extLst>
              <a:ext uri="{FF2B5EF4-FFF2-40B4-BE49-F238E27FC236}">
                <a16:creationId xmlns:a16="http://schemas.microsoft.com/office/drawing/2014/main" id="{D284877A-0B0A-446D-8008-C50371A84181}"/>
              </a:ext>
            </a:extLst>
          </p:cNvPr>
          <p:cNvSpPr/>
          <p:nvPr/>
        </p:nvSpPr>
        <p:spPr>
          <a:xfrm>
            <a:off x="3654277" y="1575716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업으로서</a:t>
            </a:r>
          </a:p>
        </p:txBody>
      </p:sp>
      <p:sp>
        <p:nvSpPr>
          <p:cNvPr id="100" name="모서리가 둥근 직사각형 104">
            <a:extLst>
              <a:ext uri="{FF2B5EF4-FFF2-40B4-BE49-F238E27FC236}">
                <a16:creationId xmlns:a16="http://schemas.microsoft.com/office/drawing/2014/main" id="{F5C97EB5-FC57-47E9-B141-BEF218854306}"/>
              </a:ext>
            </a:extLst>
          </p:cNvPr>
          <p:cNvSpPr/>
          <p:nvPr/>
        </p:nvSpPr>
        <p:spPr>
          <a:xfrm>
            <a:off x="3654277" y="1884321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특허발명의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보호범위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97)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에 속하는 발명을 실시</a:t>
            </a:r>
          </a:p>
        </p:txBody>
      </p:sp>
      <p:cxnSp>
        <p:nvCxnSpPr>
          <p:cNvPr id="102" name="꺾인 연결선 106">
            <a:extLst>
              <a:ext uri="{FF2B5EF4-FFF2-40B4-BE49-F238E27FC236}">
                <a16:creationId xmlns:a16="http://schemas.microsoft.com/office/drawing/2014/main" id="{52A04DBD-63E7-4D39-A71F-73BCA698069F}"/>
              </a:ext>
            </a:extLst>
          </p:cNvPr>
          <p:cNvCxnSpPr>
            <a:stCxn id="67" idx="3"/>
            <a:endCxn id="94" idx="1"/>
          </p:cNvCxnSpPr>
          <p:nvPr/>
        </p:nvCxnSpPr>
        <p:spPr>
          <a:xfrm flipV="1">
            <a:off x="3184380" y="1082840"/>
            <a:ext cx="469897" cy="7626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7">
            <a:extLst>
              <a:ext uri="{FF2B5EF4-FFF2-40B4-BE49-F238E27FC236}">
                <a16:creationId xmlns:a16="http://schemas.microsoft.com/office/drawing/2014/main" id="{5A8F2E01-312D-4008-8DBF-3518D4FA8B79}"/>
              </a:ext>
            </a:extLst>
          </p:cNvPr>
          <p:cNvCxnSpPr>
            <a:stCxn id="67" idx="3"/>
            <a:endCxn id="100" idx="1"/>
          </p:cNvCxnSpPr>
          <p:nvPr/>
        </p:nvCxnSpPr>
        <p:spPr>
          <a:xfrm>
            <a:off x="3184380" y="1845451"/>
            <a:ext cx="469897" cy="1749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10">
            <a:extLst>
              <a:ext uri="{FF2B5EF4-FFF2-40B4-BE49-F238E27FC236}">
                <a16:creationId xmlns:a16="http://schemas.microsoft.com/office/drawing/2014/main" id="{8CE6747A-FB7D-4009-86A2-578575EDAAEB}"/>
              </a:ext>
            </a:extLst>
          </p:cNvPr>
          <p:cNvCxnSpPr>
            <a:stCxn id="67" idx="3"/>
            <a:endCxn id="96" idx="1"/>
          </p:cNvCxnSpPr>
          <p:nvPr/>
        </p:nvCxnSpPr>
        <p:spPr>
          <a:xfrm flipV="1">
            <a:off x="3184380" y="1390909"/>
            <a:ext cx="469897" cy="4545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12">
            <a:extLst>
              <a:ext uri="{FF2B5EF4-FFF2-40B4-BE49-F238E27FC236}">
                <a16:creationId xmlns:a16="http://schemas.microsoft.com/office/drawing/2014/main" id="{77CF4D42-1515-4252-A1EE-0CF4D7B9F7BF}"/>
              </a:ext>
            </a:extLst>
          </p:cNvPr>
          <p:cNvCxnSpPr>
            <a:stCxn id="67" idx="3"/>
            <a:endCxn id="98" idx="1"/>
          </p:cNvCxnSpPr>
          <p:nvPr/>
        </p:nvCxnSpPr>
        <p:spPr>
          <a:xfrm flipV="1">
            <a:off x="3184380" y="1711772"/>
            <a:ext cx="469897" cy="13367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모서리가 둥근 직사각형 113">
            <a:extLst>
              <a:ext uri="{FF2B5EF4-FFF2-40B4-BE49-F238E27FC236}">
                <a16:creationId xmlns:a16="http://schemas.microsoft.com/office/drawing/2014/main" id="{C3852852-055E-45A3-9BBD-83FC34F11D8C}"/>
              </a:ext>
            </a:extLst>
          </p:cNvPr>
          <p:cNvSpPr/>
          <p:nvPr/>
        </p:nvSpPr>
        <p:spPr>
          <a:xfrm>
            <a:off x="8619555" y="1070704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문언침해</a:t>
            </a:r>
          </a:p>
        </p:txBody>
      </p:sp>
      <p:sp>
        <p:nvSpPr>
          <p:cNvPr id="112" name="모서리가 둥근 직사각형 115">
            <a:extLst>
              <a:ext uri="{FF2B5EF4-FFF2-40B4-BE49-F238E27FC236}">
                <a16:creationId xmlns:a16="http://schemas.microsoft.com/office/drawing/2014/main" id="{4F7B58BB-90A2-4685-86C2-4BCD4B206D64}"/>
              </a:ext>
            </a:extLst>
          </p:cNvPr>
          <p:cNvSpPr/>
          <p:nvPr/>
        </p:nvSpPr>
        <p:spPr>
          <a:xfrm>
            <a:off x="8619555" y="1396113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균등침해</a:t>
            </a:r>
          </a:p>
        </p:txBody>
      </p:sp>
      <p:sp>
        <p:nvSpPr>
          <p:cNvPr id="115" name="모서리가 둥근 직사각형 116">
            <a:extLst>
              <a:ext uri="{FF2B5EF4-FFF2-40B4-BE49-F238E27FC236}">
                <a16:creationId xmlns:a16="http://schemas.microsoft.com/office/drawing/2014/main" id="{DEEC8AB7-B94B-40F0-B1B8-FB75E2CDCFCF}"/>
              </a:ext>
            </a:extLst>
          </p:cNvPr>
          <p:cNvSpPr/>
          <p:nvPr/>
        </p:nvSpPr>
        <p:spPr>
          <a:xfrm>
            <a:off x="8619555" y="1721295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저촉 침해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98)</a:t>
            </a:r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9" name="모서리가 둥근 직사각형 117">
            <a:extLst>
              <a:ext uri="{FF2B5EF4-FFF2-40B4-BE49-F238E27FC236}">
                <a16:creationId xmlns:a16="http://schemas.microsoft.com/office/drawing/2014/main" id="{AC335138-6834-4F1F-A81F-7DF9DD21F684}"/>
              </a:ext>
            </a:extLst>
          </p:cNvPr>
          <p:cNvSpPr/>
          <p:nvPr/>
        </p:nvSpPr>
        <p:spPr>
          <a:xfrm>
            <a:off x="8619555" y="2047870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생략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불완전이용침해</a:t>
            </a:r>
          </a:p>
        </p:txBody>
      </p:sp>
      <p:sp>
        <p:nvSpPr>
          <p:cNvPr id="121" name="모서리가 둥근 직사각형 119">
            <a:extLst>
              <a:ext uri="{FF2B5EF4-FFF2-40B4-BE49-F238E27FC236}">
                <a16:creationId xmlns:a16="http://schemas.microsoft.com/office/drawing/2014/main" id="{7CCEA30F-AEAB-41A8-A569-30D091496A8C}"/>
              </a:ext>
            </a:extLst>
          </p:cNvPr>
          <p:cNvSpPr/>
          <p:nvPr/>
        </p:nvSpPr>
        <p:spPr>
          <a:xfrm>
            <a:off x="8619555" y="2373709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선택침해</a:t>
            </a:r>
          </a:p>
        </p:txBody>
      </p:sp>
      <p:sp>
        <p:nvSpPr>
          <p:cNvPr id="123" name="모서리가 둥근 직사각형 121">
            <a:extLst>
              <a:ext uri="{FF2B5EF4-FFF2-40B4-BE49-F238E27FC236}">
                <a16:creationId xmlns:a16="http://schemas.microsoft.com/office/drawing/2014/main" id="{9F3BC31A-65C4-47D5-9408-EF1389E27FB9}"/>
              </a:ext>
            </a:extLst>
          </p:cNvPr>
          <p:cNvSpPr/>
          <p:nvPr/>
        </p:nvSpPr>
        <p:spPr>
          <a:xfrm>
            <a:off x="8619555" y="2698891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우회침해</a:t>
            </a:r>
          </a:p>
        </p:txBody>
      </p:sp>
      <p:sp>
        <p:nvSpPr>
          <p:cNvPr id="150" name="모서리가 둥근 직사각형 124">
            <a:extLst>
              <a:ext uri="{FF2B5EF4-FFF2-40B4-BE49-F238E27FC236}">
                <a16:creationId xmlns:a16="http://schemas.microsoft.com/office/drawing/2014/main" id="{8D3870C4-412D-47BA-B6E9-242C0A25C12D}"/>
              </a:ext>
            </a:extLst>
          </p:cNvPr>
          <p:cNvSpPr/>
          <p:nvPr/>
        </p:nvSpPr>
        <p:spPr>
          <a:xfrm>
            <a:off x="8619555" y="3070249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물건의 특허발명침해</a:t>
            </a:r>
          </a:p>
        </p:txBody>
      </p:sp>
      <p:sp>
        <p:nvSpPr>
          <p:cNvPr id="151" name="모서리가 둥근 직사각형 125">
            <a:extLst>
              <a:ext uri="{FF2B5EF4-FFF2-40B4-BE49-F238E27FC236}">
                <a16:creationId xmlns:a16="http://schemas.microsoft.com/office/drawing/2014/main" id="{039794FD-FAC5-41F6-852C-78051316D115}"/>
              </a:ext>
            </a:extLst>
          </p:cNvPr>
          <p:cNvSpPr/>
          <p:nvPr/>
        </p:nvSpPr>
        <p:spPr>
          <a:xfrm>
            <a:off x="8619555" y="3396825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방법의 특허발명침해</a:t>
            </a:r>
          </a:p>
        </p:txBody>
      </p:sp>
      <p:cxnSp>
        <p:nvCxnSpPr>
          <p:cNvPr id="152" name="꺾인 연결선 127">
            <a:extLst>
              <a:ext uri="{FF2B5EF4-FFF2-40B4-BE49-F238E27FC236}">
                <a16:creationId xmlns:a16="http://schemas.microsoft.com/office/drawing/2014/main" id="{52C635E3-2899-457E-9801-C0CF0A417AF2}"/>
              </a:ext>
            </a:extLst>
          </p:cNvPr>
          <p:cNvCxnSpPr>
            <a:stCxn id="70" idx="3"/>
            <a:endCxn id="119" idx="1"/>
          </p:cNvCxnSpPr>
          <p:nvPr/>
        </p:nvCxnSpPr>
        <p:spPr>
          <a:xfrm flipV="1">
            <a:off x="7344139" y="2183925"/>
            <a:ext cx="1275416" cy="2771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꺾인 연결선 128">
            <a:extLst>
              <a:ext uri="{FF2B5EF4-FFF2-40B4-BE49-F238E27FC236}">
                <a16:creationId xmlns:a16="http://schemas.microsoft.com/office/drawing/2014/main" id="{A3ECEBA8-A047-4F7D-B256-6625774A84E0}"/>
              </a:ext>
            </a:extLst>
          </p:cNvPr>
          <p:cNvCxnSpPr>
            <a:stCxn id="70" idx="3"/>
            <a:endCxn id="110" idx="1"/>
          </p:cNvCxnSpPr>
          <p:nvPr/>
        </p:nvCxnSpPr>
        <p:spPr>
          <a:xfrm flipV="1">
            <a:off x="7344139" y="1206759"/>
            <a:ext cx="1275416" cy="12542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꺾인 연결선 129">
            <a:extLst>
              <a:ext uri="{FF2B5EF4-FFF2-40B4-BE49-F238E27FC236}">
                <a16:creationId xmlns:a16="http://schemas.microsoft.com/office/drawing/2014/main" id="{1B5821AF-6740-4FB4-A08D-C14037EF439C}"/>
              </a:ext>
            </a:extLst>
          </p:cNvPr>
          <p:cNvCxnSpPr>
            <a:stCxn id="70" idx="3"/>
            <a:endCxn id="112" idx="1"/>
          </p:cNvCxnSpPr>
          <p:nvPr/>
        </p:nvCxnSpPr>
        <p:spPr>
          <a:xfrm flipV="1">
            <a:off x="7344139" y="1532169"/>
            <a:ext cx="1275416" cy="9288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 130">
            <a:extLst>
              <a:ext uri="{FF2B5EF4-FFF2-40B4-BE49-F238E27FC236}">
                <a16:creationId xmlns:a16="http://schemas.microsoft.com/office/drawing/2014/main" id="{246CB03C-4BDD-4FF8-AB50-7703F54AFE2E}"/>
              </a:ext>
            </a:extLst>
          </p:cNvPr>
          <p:cNvCxnSpPr>
            <a:stCxn id="70" idx="3"/>
            <a:endCxn id="115" idx="1"/>
          </p:cNvCxnSpPr>
          <p:nvPr/>
        </p:nvCxnSpPr>
        <p:spPr>
          <a:xfrm flipV="1">
            <a:off x="7344139" y="1857351"/>
            <a:ext cx="1275416" cy="6036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연결선 131">
            <a:extLst>
              <a:ext uri="{FF2B5EF4-FFF2-40B4-BE49-F238E27FC236}">
                <a16:creationId xmlns:a16="http://schemas.microsoft.com/office/drawing/2014/main" id="{816D648E-462C-44FA-ACB5-BFC92F1EB008}"/>
              </a:ext>
            </a:extLst>
          </p:cNvPr>
          <p:cNvCxnSpPr>
            <a:stCxn id="70" idx="3"/>
            <a:endCxn id="121" idx="1"/>
          </p:cNvCxnSpPr>
          <p:nvPr/>
        </p:nvCxnSpPr>
        <p:spPr>
          <a:xfrm>
            <a:off x="7344139" y="2461040"/>
            <a:ext cx="1275416" cy="4872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꺾인 연결선 132">
            <a:extLst>
              <a:ext uri="{FF2B5EF4-FFF2-40B4-BE49-F238E27FC236}">
                <a16:creationId xmlns:a16="http://schemas.microsoft.com/office/drawing/2014/main" id="{5DE17342-832C-47A3-B5FE-B1646CD9927B}"/>
              </a:ext>
            </a:extLst>
          </p:cNvPr>
          <p:cNvCxnSpPr>
            <a:stCxn id="70" idx="3"/>
            <a:endCxn id="123" idx="1"/>
          </p:cNvCxnSpPr>
          <p:nvPr/>
        </p:nvCxnSpPr>
        <p:spPr>
          <a:xfrm>
            <a:off x="7344139" y="2461040"/>
            <a:ext cx="1275416" cy="3739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 133">
            <a:extLst>
              <a:ext uri="{FF2B5EF4-FFF2-40B4-BE49-F238E27FC236}">
                <a16:creationId xmlns:a16="http://schemas.microsoft.com/office/drawing/2014/main" id="{45629E76-2AE4-4F64-943D-1FC562B2B31D}"/>
              </a:ext>
            </a:extLst>
          </p:cNvPr>
          <p:cNvCxnSpPr>
            <a:stCxn id="71" idx="3"/>
            <a:endCxn id="151" idx="1"/>
          </p:cNvCxnSpPr>
          <p:nvPr/>
        </p:nvCxnSpPr>
        <p:spPr>
          <a:xfrm>
            <a:off x="7341706" y="3216354"/>
            <a:ext cx="1277849" cy="3165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134">
            <a:extLst>
              <a:ext uri="{FF2B5EF4-FFF2-40B4-BE49-F238E27FC236}">
                <a16:creationId xmlns:a16="http://schemas.microsoft.com/office/drawing/2014/main" id="{1B00A11B-F916-48EA-B697-D083673FA621}"/>
              </a:ext>
            </a:extLst>
          </p:cNvPr>
          <p:cNvCxnSpPr>
            <a:stCxn id="71" idx="3"/>
            <a:endCxn id="150" idx="1"/>
          </p:cNvCxnSpPr>
          <p:nvPr/>
        </p:nvCxnSpPr>
        <p:spPr>
          <a:xfrm flipV="1">
            <a:off x="7341706" y="3206305"/>
            <a:ext cx="1277849" cy="100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모서리가 둥근 직사각형 135">
            <a:extLst>
              <a:ext uri="{FF2B5EF4-FFF2-40B4-BE49-F238E27FC236}">
                <a16:creationId xmlns:a16="http://schemas.microsoft.com/office/drawing/2014/main" id="{BAA4CFA1-384F-411E-ABC8-C1BD334574A7}"/>
              </a:ext>
            </a:extLst>
          </p:cNvPr>
          <p:cNvSpPr/>
          <p:nvPr/>
        </p:nvSpPr>
        <p:spPr>
          <a:xfrm>
            <a:off x="5172699" y="3934346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1" name="모서리가 둥근 직사각형 136">
            <a:extLst>
              <a:ext uri="{FF2B5EF4-FFF2-40B4-BE49-F238E27FC236}">
                <a16:creationId xmlns:a16="http://schemas.microsoft.com/office/drawing/2014/main" id="{791C274B-A464-44C4-AD21-23BCF612678B}"/>
              </a:ext>
            </a:extLst>
          </p:cNvPr>
          <p:cNvSpPr/>
          <p:nvPr/>
        </p:nvSpPr>
        <p:spPr>
          <a:xfrm>
            <a:off x="5172699" y="4269803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2" name="모서리가 둥근 직사각형 137">
            <a:extLst>
              <a:ext uri="{FF2B5EF4-FFF2-40B4-BE49-F238E27FC236}">
                <a16:creationId xmlns:a16="http://schemas.microsoft.com/office/drawing/2014/main" id="{42B326E7-61B4-4DA0-8315-F01EB2F0BD59}"/>
              </a:ext>
            </a:extLst>
          </p:cNvPr>
          <p:cNvSpPr/>
          <p:nvPr/>
        </p:nvSpPr>
        <p:spPr>
          <a:xfrm>
            <a:off x="5172699" y="4594985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3" name="모서리가 둥근 직사각형 138">
            <a:extLst>
              <a:ext uri="{FF2B5EF4-FFF2-40B4-BE49-F238E27FC236}">
                <a16:creationId xmlns:a16="http://schemas.microsoft.com/office/drawing/2014/main" id="{855CFE1D-D1A5-40DB-ACD2-9D234454571A}"/>
              </a:ext>
            </a:extLst>
          </p:cNvPr>
          <p:cNvSpPr/>
          <p:nvPr/>
        </p:nvSpPr>
        <p:spPr>
          <a:xfrm>
            <a:off x="5172699" y="4921560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4" name="모서리가 둥근 직사각형 139">
            <a:extLst>
              <a:ext uri="{FF2B5EF4-FFF2-40B4-BE49-F238E27FC236}">
                <a16:creationId xmlns:a16="http://schemas.microsoft.com/office/drawing/2014/main" id="{402142D8-597F-43AB-BE47-3A2C3A332F7E}"/>
              </a:ext>
            </a:extLst>
          </p:cNvPr>
          <p:cNvSpPr/>
          <p:nvPr/>
        </p:nvSpPr>
        <p:spPr>
          <a:xfrm>
            <a:off x="5172699" y="5372023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침해죄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225)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5" name="모서리가 둥근 직사각형 140">
            <a:extLst>
              <a:ext uri="{FF2B5EF4-FFF2-40B4-BE49-F238E27FC236}">
                <a16:creationId xmlns:a16="http://schemas.microsoft.com/office/drawing/2014/main" id="{1F94A1D7-A928-487B-989D-B565D64417F8}"/>
              </a:ext>
            </a:extLst>
          </p:cNvPr>
          <p:cNvSpPr/>
          <p:nvPr/>
        </p:nvSpPr>
        <p:spPr>
          <a:xfrm>
            <a:off x="5172699" y="5697205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몰수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6" name="모서리가 둥근 직사각형 141">
            <a:extLst>
              <a:ext uri="{FF2B5EF4-FFF2-40B4-BE49-F238E27FC236}">
                <a16:creationId xmlns:a16="http://schemas.microsoft.com/office/drawing/2014/main" id="{A3DF3E9C-CBFA-4D82-812A-2241C553289F}"/>
              </a:ext>
            </a:extLst>
          </p:cNvPr>
          <p:cNvSpPr/>
          <p:nvPr/>
        </p:nvSpPr>
        <p:spPr>
          <a:xfrm>
            <a:off x="5172699" y="6023780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양벌규정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230)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72" name="꺾인 연결선 142">
            <a:extLst>
              <a:ext uri="{FF2B5EF4-FFF2-40B4-BE49-F238E27FC236}">
                <a16:creationId xmlns:a16="http://schemas.microsoft.com/office/drawing/2014/main" id="{E6424E80-8786-426E-9848-31D457168A66}"/>
              </a:ext>
            </a:extLst>
          </p:cNvPr>
          <p:cNvCxnSpPr>
            <a:cxnSpLocks/>
            <a:stCxn id="72" idx="3"/>
            <a:endCxn id="160" idx="1"/>
          </p:cNvCxnSpPr>
          <p:nvPr/>
        </p:nvCxnSpPr>
        <p:spPr>
          <a:xfrm flipV="1">
            <a:off x="4534218" y="4070402"/>
            <a:ext cx="638481" cy="3968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43">
            <a:extLst>
              <a:ext uri="{FF2B5EF4-FFF2-40B4-BE49-F238E27FC236}">
                <a16:creationId xmlns:a16="http://schemas.microsoft.com/office/drawing/2014/main" id="{265EE89C-B521-4072-B03E-0FCD3AAF4C13}"/>
              </a:ext>
            </a:extLst>
          </p:cNvPr>
          <p:cNvCxnSpPr>
            <a:cxnSpLocks/>
            <a:stCxn id="72" idx="3"/>
            <a:endCxn id="161" idx="1"/>
          </p:cNvCxnSpPr>
          <p:nvPr/>
        </p:nvCxnSpPr>
        <p:spPr>
          <a:xfrm flipV="1">
            <a:off x="4534218" y="4405859"/>
            <a:ext cx="638481" cy="613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꺾인 연결선 144">
            <a:extLst>
              <a:ext uri="{FF2B5EF4-FFF2-40B4-BE49-F238E27FC236}">
                <a16:creationId xmlns:a16="http://schemas.microsoft.com/office/drawing/2014/main" id="{9FA47B7F-C16E-4F29-A131-92B876F70486}"/>
              </a:ext>
            </a:extLst>
          </p:cNvPr>
          <p:cNvCxnSpPr>
            <a:cxnSpLocks/>
            <a:stCxn id="72" idx="3"/>
            <a:endCxn id="162" idx="1"/>
          </p:cNvCxnSpPr>
          <p:nvPr/>
        </p:nvCxnSpPr>
        <p:spPr>
          <a:xfrm>
            <a:off x="4534218" y="4467216"/>
            <a:ext cx="638481" cy="263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꺾인 연결선 145">
            <a:extLst>
              <a:ext uri="{FF2B5EF4-FFF2-40B4-BE49-F238E27FC236}">
                <a16:creationId xmlns:a16="http://schemas.microsoft.com/office/drawing/2014/main" id="{0F669D33-649A-43C1-BFE7-1382458FA21D}"/>
              </a:ext>
            </a:extLst>
          </p:cNvPr>
          <p:cNvCxnSpPr>
            <a:cxnSpLocks/>
            <a:stCxn id="72" idx="3"/>
            <a:endCxn id="163" idx="1"/>
          </p:cNvCxnSpPr>
          <p:nvPr/>
        </p:nvCxnSpPr>
        <p:spPr>
          <a:xfrm>
            <a:off x="4534218" y="4467216"/>
            <a:ext cx="638481" cy="5904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46">
            <a:extLst>
              <a:ext uri="{FF2B5EF4-FFF2-40B4-BE49-F238E27FC236}">
                <a16:creationId xmlns:a16="http://schemas.microsoft.com/office/drawing/2014/main" id="{669EC8D5-1AB5-4272-A390-FA9CFF0162B1}"/>
              </a:ext>
            </a:extLst>
          </p:cNvPr>
          <p:cNvCxnSpPr>
            <a:cxnSpLocks/>
            <a:stCxn id="73" idx="3"/>
            <a:endCxn id="164" idx="1"/>
          </p:cNvCxnSpPr>
          <p:nvPr/>
        </p:nvCxnSpPr>
        <p:spPr>
          <a:xfrm flipV="1">
            <a:off x="4534218" y="5508079"/>
            <a:ext cx="638481" cy="4872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47">
            <a:extLst>
              <a:ext uri="{FF2B5EF4-FFF2-40B4-BE49-F238E27FC236}">
                <a16:creationId xmlns:a16="http://schemas.microsoft.com/office/drawing/2014/main" id="{558BB470-6A34-4E85-B8EA-04B9E47119E4}"/>
              </a:ext>
            </a:extLst>
          </p:cNvPr>
          <p:cNvCxnSpPr>
            <a:cxnSpLocks/>
            <a:stCxn id="73" idx="3"/>
            <a:endCxn id="166" idx="1"/>
          </p:cNvCxnSpPr>
          <p:nvPr/>
        </p:nvCxnSpPr>
        <p:spPr>
          <a:xfrm>
            <a:off x="4534218" y="5995305"/>
            <a:ext cx="638481" cy="1645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48">
            <a:extLst>
              <a:ext uri="{FF2B5EF4-FFF2-40B4-BE49-F238E27FC236}">
                <a16:creationId xmlns:a16="http://schemas.microsoft.com/office/drawing/2014/main" id="{F899B392-4CE3-4197-BD3C-8479E4BB9E7D}"/>
              </a:ext>
            </a:extLst>
          </p:cNvPr>
          <p:cNvCxnSpPr>
            <a:cxnSpLocks/>
            <a:stCxn id="73" idx="3"/>
            <a:endCxn id="165" idx="1"/>
          </p:cNvCxnSpPr>
          <p:nvPr/>
        </p:nvCxnSpPr>
        <p:spPr>
          <a:xfrm flipV="1">
            <a:off x="4534218" y="5833261"/>
            <a:ext cx="638481" cy="1620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모서리가 둥근 직사각형 117">
            <a:extLst>
              <a:ext uri="{FF2B5EF4-FFF2-40B4-BE49-F238E27FC236}">
                <a16:creationId xmlns:a16="http://schemas.microsoft.com/office/drawing/2014/main" id="{FF01D1C4-B015-41BF-9625-A96C0B1F3ABD}"/>
              </a:ext>
            </a:extLst>
          </p:cNvPr>
          <p:cNvSpPr/>
          <p:nvPr/>
        </p:nvSpPr>
        <p:spPr>
          <a:xfrm>
            <a:off x="8205601" y="4419084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손해액의 산정 등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128②~⑨)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0" name="모서리가 둥근 직사각형 118">
            <a:extLst>
              <a:ext uri="{FF2B5EF4-FFF2-40B4-BE49-F238E27FC236}">
                <a16:creationId xmlns:a16="http://schemas.microsoft.com/office/drawing/2014/main" id="{A900B23F-7A7B-4DAE-869A-316D3CA7721D}"/>
              </a:ext>
            </a:extLst>
          </p:cNvPr>
          <p:cNvSpPr/>
          <p:nvPr/>
        </p:nvSpPr>
        <p:spPr>
          <a:xfrm>
            <a:off x="8205601" y="4867430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감정사항 설명의무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1" name="모서리가 둥근 직사각형 119">
            <a:extLst>
              <a:ext uri="{FF2B5EF4-FFF2-40B4-BE49-F238E27FC236}">
                <a16:creationId xmlns:a16="http://schemas.microsoft.com/office/drawing/2014/main" id="{450796F3-853C-43A0-A266-28F623D2F248}"/>
              </a:ext>
            </a:extLst>
          </p:cNvPr>
          <p:cNvSpPr/>
          <p:nvPr/>
        </p:nvSpPr>
        <p:spPr>
          <a:xfrm>
            <a:off x="8205601" y="5272117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생산방법의 추정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129)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2" name="모서리가 둥근 직사각형 120">
            <a:extLst>
              <a:ext uri="{FF2B5EF4-FFF2-40B4-BE49-F238E27FC236}">
                <a16:creationId xmlns:a16="http://schemas.microsoft.com/office/drawing/2014/main" id="{3C559B42-0077-4A1F-8CF1-19C41415C986}"/>
              </a:ext>
            </a:extLst>
          </p:cNvPr>
          <p:cNvSpPr/>
          <p:nvPr/>
        </p:nvSpPr>
        <p:spPr>
          <a:xfrm>
            <a:off x="8205601" y="5683803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과실의 추정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130)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3" name="모서리가 둥근 직사각형 121">
            <a:extLst>
              <a:ext uri="{FF2B5EF4-FFF2-40B4-BE49-F238E27FC236}">
                <a16:creationId xmlns:a16="http://schemas.microsoft.com/office/drawing/2014/main" id="{926BC384-3ACD-4292-B0E8-F9AE8C0A3696}"/>
              </a:ext>
            </a:extLst>
          </p:cNvPr>
          <p:cNvSpPr/>
          <p:nvPr/>
        </p:nvSpPr>
        <p:spPr>
          <a:xfrm>
            <a:off x="8205601" y="6088490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자료의 제출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4" name="왼쪽 화살표 86">
            <a:extLst>
              <a:ext uri="{FF2B5EF4-FFF2-40B4-BE49-F238E27FC236}">
                <a16:creationId xmlns:a16="http://schemas.microsoft.com/office/drawing/2014/main" id="{C5306CAB-0800-424A-9D2A-950D835BED68}"/>
              </a:ext>
            </a:extLst>
          </p:cNvPr>
          <p:cNvSpPr/>
          <p:nvPr/>
        </p:nvSpPr>
        <p:spPr>
          <a:xfrm>
            <a:off x="7278223" y="4502539"/>
            <a:ext cx="765279" cy="1187679"/>
          </a:xfrm>
          <a:prstGeom prst="leftArrow">
            <a:avLst>
              <a:gd name="adj1" fmla="val 75663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2AA44819-6C30-4AF9-9C1D-EAD79589B8CD}"/>
              </a:ext>
            </a:extLst>
          </p:cNvPr>
          <p:cNvSpPr txBox="1"/>
          <p:nvPr/>
        </p:nvSpPr>
        <p:spPr>
          <a:xfrm>
            <a:off x="7442562" y="4979732"/>
            <a:ext cx="498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실효성</a:t>
            </a:r>
          </a:p>
        </p:txBody>
      </p:sp>
      <p:sp>
        <p:nvSpPr>
          <p:cNvPr id="186" name="모서리가 둥근 직사각형 117">
            <a:extLst>
              <a:ext uri="{FF2B5EF4-FFF2-40B4-BE49-F238E27FC236}">
                <a16:creationId xmlns:a16="http://schemas.microsoft.com/office/drawing/2014/main" id="{02A140FD-89AF-4AD7-BE9F-237FD64B99AF}"/>
              </a:ext>
            </a:extLst>
          </p:cNvPr>
          <p:cNvSpPr/>
          <p:nvPr/>
        </p:nvSpPr>
        <p:spPr>
          <a:xfrm>
            <a:off x="8205601" y="3873221"/>
            <a:ext cx="2826099" cy="4136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구체적인 행위의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내용ㆍ방식ㆍ형태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제시 의무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09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권리소진에 의한 제한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307</a:t>
            </a:fld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04800" y="3511883"/>
            <a:ext cx="1921933" cy="3952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solidFill>
                  <a:schemeClr val="bg1">
                    <a:lumMod val="95000"/>
                  </a:schemeClr>
                </a:solidFill>
              </a:rPr>
              <a:t>권리소진</a:t>
            </a:r>
            <a:endParaRPr lang="ko-KR" alt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04800" y="3959550"/>
            <a:ext cx="1921933" cy="26596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dirty="0">
                <a:solidFill>
                  <a:schemeClr val="tx1"/>
                </a:solidFill>
              </a:rPr>
              <a:t>1) </a:t>
            </a:r>
            <a:r>
              <a:rPr lang="ko-KR" altLang="en-US" sz="1400" dirty="0">
                <a:solidFill>
                  <a:schemeClr val="tx1"/>
                </a:solidFill>
              </a:rPr>
              <a:t>특허권자 또는 </a:t>
            </a:r>
            <a:r>
              <a:rPr lang="ko-KR" altLang="en-US" sz="1400" dirty="0" err="1">
                <a:solidFill>
                  <a:schemeClr val="tx1"/>
                </a:solidFill>
              </a:rPr>
              <a:t>제조ㆍ판매권을</a:t>
            </a:r>
            <a:r>
              <a:rPr lang="ko-KR" altLang="en-US" sz="1400" dirty="0">
                <a:solidFill>
                  <a:schemeClr val="tx1"/>
                </a:solidFill>
              </a:rPr>
              <a:t> 갖는 </a:t>
            </a:r>
            <a:r>
              <a:rPr lang="ko-KR" altLang="en-US" sz="1400" dirty="0" err="1">
                <a:solidFill>
                  <a:schemeClr val="tx1"/>
                </a:solidFill>
              </a:rPr>
              <a:t>실시권자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이하 “특허권자 </a:t>
            </a:r>
            <a:r>
              <a:rPr lang="ko-KR" altLang="en-US" sz="1400" dirty="0" err="1">
                <a:solidFill>
                  <a:schemeClr val="tx1"/>
                </a:solidFill>
              </a:rPr>
              <a:t>등”이라</a:t>
            </a:r>
            <a:r>
              <a:rPr lang="ko-KR" altLang="en-US" sz="1400" dirty="0">
                <a:solidFill>
                  <a:schemeClr val="tx1"/>
                </a:solidFill>
              </a:rPr>
              <a:t> 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r>
              <a:rPr lang="ko-KR" altLang="en-US" sz="1400" dirty="0">
                <a:solidFill>
                  <a:schemeClr val="tx1"/>
                </a:solidFill>
              </a:rPr>
              <a:t>가 </a:t>
            </a:r>
            <a:r>
              <a:rPr lang="en-US" altLang="ko-KR" sz="1400" dirty="0">
                <a:solidFill>
                  <a:schemeClr val="tx1"/>
                </a:solidFill>
              </a:rPr>
              <a:t>2) </a:t>
            </a:r>
            <a:r>
              <a:rPr lang="ko-KR" altLang="en-US" sz="1400" dirty="0">
                <a:solidFill>
                  <a:schemeClr val="tx1"/>
                </a:solidFill>
              </a:rPr>
              <a:t>특허발명을 실질적으로 구현한 제품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이하 “</a:t>
            </a:r>
            <a:r>
              <a:rPr lang="ko-KR" altLang="en-US" sz="1400" dirty="0" err="1">
                <a:solidFill>
                  <a:schemeClr val="tx1"/>
                </a:solidFill>
              </a:rPr>
              <a:t>특허제품”이라</a:t>
            </a:r>
            <a:r>
              <a:rPr lang="ko-KR" altLang="en-US" sz="1400" dirty="0">
                <a:solidFill>
                  <a:schemeClr val="tx1"/>
                </a:solidFill>
              </a:rPr>
              <a:t> 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r>
              <a:rPr lang="ko-KR" altLang="en-US" sz="1400" dirty="0">
                <a:solidFill>
                  <a:schemeClr val="tx1"/>
                </a:solidFill>
              </a:rPr>
              <a:t>을 </a:t>
            </a:r>
            <a:r>
              <a:rPr lang="en-US" altLang="ko-KR" sz="1400" dirty="0">
                <a:solidFill>
                  <a:schemeClr val="tx1"/>
                </a:solidFill>
              </a:rPr>
              <a:t>3) </a:t>
            </a:r>
            <a:r>
              <a:rPr lang="ko-KR" altLang="en-US" sz="1400" dirty="0">
                <a:solidFill>
                  <a:schemeClr val="tx1"/>
                </a:solidFill>
              </a:rPr>
              <a:t>적법하게 판매한 경우</a:t>
            </a:r>
            <a:r>
              <a:rPr lang="en-US" altLang="ko-KR" sz="1400" dirty="0">
                <a:solidFill>
                  <a:schemeClr val="tx1"/>
                </a:solidFill>
              </a:rPr>
              <a:t>, 4)</a:t>
            </a:r>
            <a:r>
              <a:rPr lang="ko-KR" altLang="en-US" sz="1400" dirty="0">
                <a:solidFill>
                  <a:schemeClr val="tx1"/>
                </a:solidFill>
              </a:rPr>
              <a:t> 판매할 때 권리가 소진되어 동일물에 대해서는 특허권의 침해를 주장할 수 없게 되는 것을 말한다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모서리가 둥근 사각형 설명선 5"/>
          <p:cNvSpPr/>
          <p:nvPr/>
        </p:nvSpPr>
        <p:spPr>
          <a:xfrm>
            <a:off x="304800" y="2600793"/>
            <a:ext cx="1921933" cy="711200"/>
          </a:xfrm>
          <a:prstGeom prst="wedgeRoundRectCallout">
            <a:avLst>
              <a:gd name="adj1" fmla="val -32681"/>
              <a:gd name="adj2" fmla="val 71479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rgbClr val="FF0000"/>
                </a:solidFill>
              </a:rPr>
              <a:t>권리자 이중이득 불필요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</a:rPr>
              <a:t>유통과정 보호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</a:rPr>
              <a:t>양수인 또는 </a:t>
            </a:r>
            <a:r>
              <a:rPr lang="ko-KR" altLang="en-US" sz="1100" dirty="0" err="1">
                <a:solidFill>
                  <a:schemeClr val="tx1"/>
                </a:solidFill>
              </a:rPr>
              <a:t>전득자</a:t>
            </a:r>
            <a:r>
              <a:rPr lang="ko-KR" altLang="en-US" sz="1100" dirty="0">
                <a:solidFill>
                  <a:schemeClr val="tx1"/>
                </a:solidFill>
              </a:rPr>
              <a:t> 보호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2772093" y="3726685"/>
            <a:ext cx="1168393" cy="161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외국에서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2772093" y="5382946"/>
            <a:ext cx="1168393" cy="14368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부품교환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2772093" y="1777306"/>
            <a:ext cx="1168393" cy="938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방법발명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772093" y="2744168"/>
            <a:ext cx="1168393" cy="938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조건부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940486" y="3724357"/>
            <a:ext cx="8152902" cy="161582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57163" indent="-157163" algn="just" fontAlgn="base"/>
            <a:r>
              <a:rPr lang="en-US" altLang="ko-KR" sz="1100" dirty="0">
                <a:latin typeface="+mn-ea"/>
              </a:rPr>
              <a:t>1. </a:t>
            </a:r>
            <a:r>
              <a:rPr lang="ko-KR" altLang="en-US" sz="1100" dirty="0">
                <a:latin typeface="+mn-ea"/>
              </a:rPr>
              <a:t>국내와 외국 특허권의 특허권자가 각기 다른 경우 외국의 특허권자가 판매한 특허제품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진정상품</a:t>
            </a:r>
            <a:r>
              <a:rPr lang="en-US" altLang="ko-KR" sz="1100" dirty="0">
                <a:latin typeface="+mn-ea"/>
              </a:rPr>
              <a:t>)</a:t>
            </a:r>
            <a:r>
              <a:rPr lang="ko-KR" altLang="en-US" sz="1100" dirty="0">
                <a:latin typeface="+mn-ea"/>
              </a:rPr>
              <a:t>을 제</a:t>
            </a:r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자가 구매하여 국내에 </a:t>
            </a:r>
            <a:r>
              <a:rPr lang="ko-KR" altLang="en-US" sz="1100" dirty="0" err="1">
                <a:latin typeface="+mn-ea"/>
              </a:rPr>
              <a:t>병행수입하는</a:t>
            </a:r>
            <a:r>
              <a:rPr lang="ko-KR" altLang="en-US" sz="1100" dirty="0">
                <a:latin typeface="+mn-ea"/>
              </a:rPr>
              <a:t> 경우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>
                <a:latin typeface="+mn-ea"/>
              </a:rPr>
              <a:t>외국에서 특허권의 경우 권리소진이 발생하지만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국내에서 특허권의 경우 특허권자가 달라 국내의 특허권자가 특허제품의 판매를 통해 이득을 취한 것도 아니고 특허독립의 원칙 및 속지주의에 의하여 국내에서 권리소진이 발생하지 않아서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highlight>
                  <a:srgbClr val="FFFF00"/>
                </a:highlight>
                <a:latin typeface="+mn-ea"/>
              </a:rPr>
              <a:t>국내 특허권의 침해라고 볼 것이다</a:t>
            </a:r>
            <a:r>
              <a:rPr lang="en-US" altLang="ko-KR" sz="1100" dirty="0">
                <a:highlight>
                  <a:srgbClr val="FFFF00"/>
                </a:highlight>
                <a:latin typeface="+mn-ea"/>
              </a:rPr>
              <a:t>.</a:t>
            </a:r>
          </a:p>
          <a:p>
            <a:pPr marL="157163" indent="-157163" algn="just" fontAlgn="base"/>
            <a:r>
              <a:rPr lang="en-US" altLang="ko-KR" sz="1100" dirty="0">
                <a:latin typeface="+mn-ea"/>
              </a:rPr>
              <a:t>2. </a:t>
            </a:r>
            <a:r>
              <a:rPr lang="ko-KR" altLang="en-US" sz="1100" dirty="0">
                <a:latin typeface="+mn-ea"/>
              </a:rPr>
              <a:t>국내와 외국 특허권의 특허권자가 동일한 경우 특허권자가 외국에서 판매한 특허제품을 제</a:t>
            </a:r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자가 구매한 후 국내에 </a:t>
            </a:r>
            <a:r>
              <a:rPr lang="ko-KR" altLang="en-US" sz="1100" dirty="0" err="1">
                <a:latin typeface="+mn-ea"/>
              </a:rPr>
              <a:t>병행수입하는</a:t>
            </a:r>
            <a:r>
              <a:rPr lang="ko-KR" altLang="en-US" sz="1100" dirty="0">
                <a:latin typeface="+mn-ea"/>
              </a:rPr>
              <a:t> 경우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>
                <a:latin typeface="+mn-ea"/>
              </a:rPr>
              <a:t>외국에서 특허제품의 판매를 통해 외국과 국내에서 특허권의 권리소진이 발생하였고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특허권자가 이득을 취하였기 때문에 </a:t>
            </a:r>
            <a:r>
              <a:rPr lang="ko-KR" altLang="en-US" sz="1100" dirty="0">
                <a:highlight>
                  <a:srgbClr val="FFFF00"/>
                </a:highlight>
                <a:latin typeface="+mn-ea"/>
              </a:rPr>
              <a:t>국내 특허권의 침해가 아니라고 볼 것이다</a:t>
            </a:r>
            <a:r>
              <a:rPr lang="en-US" altLang="ko-KR" sz="1100" dirty="0">
                <a:highlight>
                  <a:srgbClr val="FFFF00"/>
                </a:highlight>
                <a:latin typeface="+mn-ea"/>
              </a:rPr>
              <a:t>.</a:t>
            </a:r>
            <a:endParaRPr lang="ko-KR" altLang="en-US" sz="1100" dirty="0">
              <a:highlight>
                <a:srgbClr val="FFFF00"/>
              </a:highlight>
              <a:latin typeface="+mn-ea"/>
            </a:endParaRPr>
          </a:p>
          <a:p>
            <a:pPr marL="165100" indent="-165100" algn="just" fontAlgn="base"/>
            <a:r>
              <a:rPr lang="en-US" altLang="ko-KR" sz="1100" dirty="0">
                <a:latin typeface="+mn-ea"/>
              </a:rPr>
              <a:t>3. 	</a:t>
            </a:r>
            <a:r>
              <a:rPr lang="ko-KR" altLang="en-US" sz="1100" dirty="0">
                <a:latin typeface="+mn-ea"/>
              </a:rPr>
              <a:t>국내 특허권자가 특허권이 없는 외국에서 특허제품을 판매하거나 국내에서 판매하여 외국에 수출하였는데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제</a:t>
            </a:r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자가 이를 그대로 또는 가공하여 국내에 수입할 경우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>
                <a:latin typeface="+mn-ea"/>
              </a:rPr>
              <a:t>국내외 특허제품의 판매를 통해 국내 특허권의 권리소진이 발생하였고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특허권자가 이득을 취하였기 때문에 </a:t>
            </a:r>
            <a:r>
              <a:rPr lang="ko-KR" altLang="en-US" sz="1100" dirty="0">
                <a:highlight>
                  <a:srgbClr val="FFFF00"/>
                </a:highlight>
                <a:latin typeface="+mn-ea"/>
              </a:rPr>
              <a:t>국내 특허권의 침해가 아니라고 볼 것이다</a:t>
            </a:r>
            <a:r>
              <a:rPr lang="en-US" altLang="ko-KR" sz="1100" dirty="0">
                <a:highlight>
                  <a:srgbClr val="FFFF00"/>
                </a:highlight>
                <a:latin typeface="+mn-ea"/>
              </a:rPr>
              <a:t>. </a:t>
            </a:r>
            <a:endParaRPr lang="ko-KR" altLang="en-US" sz="1100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940485" y="5373215"/>
            <a:ext cx="8152903" cy="14465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39700" indent="-139700" fontAlgn="base"/>
            <a:r>
              <a:rPr lang="en-US" altLang="ko-KR" sz="1100" dirty="0"/>
              <a:t>1. </a:t>
            </a:r>
            <a:r>
              <a:rPr lang="ko-KR" altLang="en-US" sz="1100" dirty="0">
                <a:highlight>
                  <a:srgbClr val="FFFF00"/>
                </a:highlight>
              </a:rPr>
              <a:t>부품이 </a:t>
            </a:r>
            <a:r>
              <a:rPr lang="ko-KR" altLang="en-US" sz="1100" dirty="0" err="1">
                <a:highlight>
                  <a:srgbClr val="FFFF00"/>
                </a:highlight>
              </a:rPr>
              <a:t>비소모품인</a:t>
            </a:r>
            <a:r>
              <a:rPr lang="ko-KR" altLang="en-US" sz="1100" dirty="0">
                <a:highlight>
                  <a:srgbClr val="FFFF00"/>
                </a:highlight>
              </a:rPr>
              <a:t> 경우</a:t>
            </a:r>
            <a:r>
              <a:rPr lang="ko-KR" altLang="en-US" sz="1100" dirty="0"/>
              <a:t>에는 발명의 기술적 사상과 관련된 본질적인 구성요소라면 부품의 교체가 생산에 해당한다</a:t>
            </a:r>
            <a:r>
              <a:rPr lang="en-US" altLang="ko-KR" sz="1100" dirty="0"/>
              <a:t>(</a:t>
            </a:r>
            <a:r>
              <a:rPr lang="ko-KR" altLang="en-US" sz="1100" dirty="0"/>
              <a:t>서울중앙지방법원 </a:t>
            </a:r>
            <a:r>
              <a:rPr lang="en-US" altLang="ko-KR" sz="1100" dirty="0"/>
              <a:t>2006. 8. 23.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2005</a:t>
            </a:r>
            <a:r>
              <a:rPr lang="ko-KR" altLang="en-US" sz="1100" dirty="0"/>
              <a:t>가합</a:t>
            </a:r>
            <a:r>
              <a:rPr lang="en-US" altLang="ko-KR" sz="1100" dirty="0"/>
              <a:t>48548).</a:t>
            </a:r>
          </a:p>
          <a:p>
            <a:pPr marL="147638" indent="-147638" fontAlgn="base"/>
            <a:r>
              <a:rPr lang="en-US" altLang="ko-KR" sz="1100" dirty="0"/>
              <a:t>2. </a:t>
            </a:r>
            <a:r>
              <a:rPr lang="ko-KR" altLang="en-US" sz="1100" dirty="0">
                <a:highlight>
                  <a:srgbClr val="FFFF00"/>
                </a:highlight>
              </a:rPr>
              <a:t>부품이 소모품인 경우</a:t>
            </a:r>
            <a:r>
              <a:rPr lang="ko-KR" altLang="en-US" sz="1100" dirty="0"/>
              <a:t>에는 </a:t>
            </a:r>
            <a:r>
              <a:rPr lang="en-US" altLang="ko-KR" sz="1100" dirty="0"/>
              <a:t>ⅰ) </a:t>
            </a:r>
            <a:r>
              <a:rPr lang="ko-KR" altLang="en-US" sz="1100" dirty="0"/>
              <a:t>특허발명의 본질적인 구성요소에 해당하고 </a:t>
            </a:r>
            <a:r>
              <a:rPr lang="en-US" altLang="ko-KR" sz="1100" dirty="0"/>
              <a:t>ⅱ) </a:t>
            </a:r>
            <a:r>
              <a:rPr lang="ko-KR" altLang="en-US" sz="1100" dirty="0"/>
              <a:t>일반적으로 널리 쉽게 구할 수 없는 물품으로서 </a:t>
            </a:r>
            <a:r>
              <a:rPr lang="en-US" altLang="ko-KR" sz="1100" dirty="0"/>
              <a:t>ⅲ)</a:t>
            </a:r>
            <a:r>
              <a:rPr lang="ko-KR" altLang="en-US" sz="1100" dirty="0"/>
              <a:t>　해당 발명에 관한 물건의 구입시에 이미 그러한 교체가 예정되어 있었고</a:t>
            </a:r>
            <a:r>
              <a:rPr lang="en-US" altLang="ko-KR" sz="1100" dirty="0"/>
              <a:t>, ⅳ) </a:t>
            </a:r>
            <a:r>
              <a:rPr lang="ko-KR" altLang="en-US" sz="1100" dirty="0"/>
              <a:t>특허권자 측에 의하여 그러한 부품을 따로 </a:t>
            </a:r>
            <a:r>
              <a:rPr lang="ko-KR" altLang="en-US" sz="1100" dirty="0" err="1"/>
              <a:t>제조ㆍ판매하고</a:t>
            </a:r>
            <a:r>
              <a:rPr lang="ko-KR" altLang="en-US" sz="1100" dirty="0"/>
              <a:t> 있다면 생산에 해당한다</a:t>
            </a:r>
            <a:r>
              <a:rPr lang="en-US" altLang="ko-KR" sz="1100" dirty="0"/>
              <a:t>(</a:t>
            </a:r>
            <a:r>
              <a:rPr lang="ko-KR" altLang="en-US" sz="1100" dirty="0"/>
              <a:t>대법원 </a:t>
            </a:r>
            <a:r>
              <a:rPr lang="en-US" altLang="ko-KR" sz="1100" dirty="0"/>
              <a:t>2001. 1. 30. </a:t>
            </a:r>
            <a:r>
              <a:rPr lang="ko-KR" altLang="en-US" sz="1100" dirty="0"/>
              <a:t>선고 </a:t>
            </a:r>
            <a:r>
              <a:rPr lang="en-US" altLang="ko-KR" sz="1100" dirty="0"/>
              <a:t>98</a:t>
            </a:r>
            <a:r>
              <a:rPr lang="ko-KR" altLang="en-US" sz="1100" dirty="0"/>
              <a:t>후</a:t>
            </a:r>
            <a:r>
              <a:rPr lang="en-US" altLang="ko-KR" sz="1100" dirty="0"/>
              <a:t>2580).</a:t>
            </a:r>
          </a:p>
          <a:p>
            <a:pPr marL="157163" indent="-157163" fontAlgn="base"/>
            <a:r>
              <a:rPr lang="en-US" altLang="ko-KR" sz="1100" dirty="0"/>
              <a:t>3. </a:t>
            </a: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특허법원 </a:t>
            </a:r>
            <a:r>
              <a:rPr lang="en-US" altLang="ko-KR" sz="1100" dirty="0"/>
              <a:t>2017. 11. 10.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2017</a:t>
            </a:r>
            <a:r>
              <a:rPr lang="ko-KR" altLang="en-US" sz="1100" dirty="0"/>
              <a:t>나</a:t>
            </a:r>
            <a:r>
              <a:rPr lang="en-US" altLang="ko-KR" sz="1100" dirty="0"/>
              <a:t>1001 </a:t>
            </a:r>
            <a:r>
              <a:rPr lang="ko-KR" altLang="en-US" sz="1100" dirty="0"/>
              <a:t>판결에서는 부품을 교체하는 것이 원래 </a:t>
            </a:r>
            <a:r>
              <a:rPr lang="ko-KR" altLang="en-US" sz="1100" dirty="0">
                <a:highlight>
                  <a:srgbClr val="FFFF00"/>
                </a:highlight>
              </a:rPr>
              <a:t>특허제품과의 동일성을 해할 정도에 이르게 된 경우</a:t>
            </a:r>
            <a:r>
              <a:rPr lang="ko-KR" altLang="en-US" sz="1100" dirty="0"/>
              <a:t>에는 재생산으로 특허권을 침해하는 것으로</a:t>
            </a:r>
            <a:r>
              <a:rPr lang="en-US" altLang="ko-KR" sz="1100" dirty="0"/>
              <a:t>, </a:t>
            </a:r>
            <a:r>
              <a:rPr lang="ko-KR" altLang="en-US" sz="1100" dirty="0"/>
              <a:t>동일성을 유지되는 경우에는 수리로서 특허권을 침해하지 않은 것으로 판단하고 있다</a:t>
            </a:r>
            <a:r>
              <a:rPr lang="en-US" altLang="ko-KR" sz="1100" dirty="0"/>
              <a:t>. </a:t>
            </a:r>
            <a:r>
              <a:rPr lang="ko-KR" altLang="en-US" sz="1100" dirty="0"/>
              <a:t>이는 본질적 부분의 교체라면 생산이 </a:t>
            </a:r>
            <a:r>
              <a:rPr lang="ko-KR" altLang="en-US" sz="1100" dirty="0">
                <a:highlight>
                  <a:srgbClr val="FFFF00"/>
                </a:highlight>
              </a:rPr>
              <a:t>된다는 기존의 판례보다 수리의 범위를 조금 더 넓게 인정해 주려는 경향</a:t>
            </a:r>
            <a:r>
              <a:rPr lang="ko-KR" altLang="en-US" sz="1100" dirty="0"/>
              <a:t>으로 파악된다</a:t>
            </a:r>
            <a:r>
              <a:rPr lang="en-US" altLang="ko-KR" sz="1100" dirty="0"/>
              <a:t>. </a:t>
            </a:r>
            <a:endParaRPr lang="ko-KR" altLang="en-US" sz="1100" dirty="0"/>
          </a:p>
        </p:txBody>
      </p:sp>
      <p:sp>
        <p:nvSpPr>
          <p:cNvPr id="11" name="직사각형 10"/>
          <p:cNvSpPr/>
          <p:nvPr/>
        </p:nvSpPr>
        <p:spPr>
          <a:xfrm>
            <a:off x="3940485" y="1777307"/>
            <a:ext cx="8152903" cy="93871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방법발명에 대한 특허권자로부터 방법의 실시에만 사용되는 물건을 양도받은 제</a:t>
            </a:r>
            <a:r>
              <a:rPr lang="en-US" altLang="ko-KR" sz="1100" dirty="0">
                <a:solidFill>
                  <a:schemeClr val="tx2"/>
                </a:solidFill>
              </a:rPr>
              <a:t>3</a:t>
            </a:r>
            <a:r>
              <a:rPr lang="ko-KR" altLang="en-US" sz="1100" dirty="0">
                <a:solidFill>
                  <a:schemeClr val="tx2"/>
                </a:solidFill>
              </a:rPr>
              <a:t>자가 해당 물건을 양도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대여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수출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수입 또는 대여의 </a:t>
            </a:r>
            <a:r>
              <a:rPr lang="ko-KR" altLang="en-US" sz="1100" dirty="0" err="1">
                <a:solidFill>
                  <a:schemeClr val="tx2"/>
                </a:solidFill>
              </a:rPr>
              <a:t>청약뿐만</a:t>
            </a:r>
            <a:r>
              <a:rPr lang="ko-KR" altLang="en-US" sz="1100" dirty="0">
                <a:solidFill>
                  <a:schemeClr val="tx2"/>
                </a:solidFill>
              </a:rPr>
              <a:t> 아니라 사용하는 행위를 하더라도 특허권이 소진된다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대가 확보 기회 부여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제품판매시 소진 회피 악용 방지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다만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방법의 발명에 대한 특허권이 공유인 경우에 있어서는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우리나라에서 그 방법의 실시에만 사용되는 물건이 양도되었다고 하더라도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그 물건이 공유자 중 일부의 소유이고 그 소유자가 아닌 다른 공유자가 그 물건의 양도에 대해서 동의를 한 바가 없다면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양수인 또는 </a:t>
            </a:r>
            <a:r>
              <a:rPr lang="ko-KR" altLang="en-US" sz="1100" dirty="0" err="1">
                <a:solidFill>
                  <a:schemeClr val="tx2"/>
                </a:solidFill>
              </a:rPr>
              <a:t>전득자가</a:t>
            </a:r>
            <a:r>
              <a:rPr lang="ko-KR" altLang="en-US" sz="1100" dirty="0">
                <a:solidFill>
                  <a:schemeClr val="tx2"/>
                </a:solidFill>
              </a:rPr>
              <a:t> 그 물건을 이용하여 해당 방법발명을 실시하는 것과 관련하여서 특허권이 소진되지 아니한다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99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항의 무력화 방지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</a:t>
            </a:r>
            <a:endParaRPr lang="ko-KR" altLang="en-US" sz="11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940486" y="2744168"/>
            <a:ext cx="8152902" cy="93871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권리소진은 특허권자가 특허제품의 판매를 적법하게 한 경우에 적용되기 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</a:rPr>
              <a:t>때문에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/>
              <a:t>특허제품을 판매할 때 조건을 부과하여 권리소진을 배제할 수 있는지 문제이다</a:t>
            </a:r>
            <a:r>
              <a:rPr lang="en-US" altLang="ko-KR" sz="1100" dirty="0"/>
              <a:t>. </a:t>
            </a:r>
            <a:r>
              <a:rPr lang="ko-KR" altLang="en-US" sz="1100" dirty="0">
                <a:highlight>
                  <a:srgbClr val="FFFF00"/>
                </a:highlight>
              </a:rPr>
              <a:t>특허권자가 특허제품을 판매할 때 특허권자의 권한 양도를 추정하는 것이 아니라</a:t>
            </a:r>
            <a:r>
              <a:rPr lang="en-US" altLang="ko-KR" sz="1100" dirty="0">
                <a:highlight>
                  <a:srgbClr val="FFFF00"/>
                </a:highlight>
              </a:rPr>
              <a:t> </a:t>
            </a:r>
            <a:r>
              <a:rPr lang="ko-KR" altLang="en-US" sz="1100" dirty="0">
                <a:highlight>
                  <a:srgbClr val="FFFF00"/>
                </a:highlight>
              </a:rPr>
              <a:t>특허권자의 권리범위를 제한하기 때문에 배제불가</a:t>
            </a:r>
            <a:r>
              <a:rPr lang="ko-KR" altLang="en-US" sz="1100" dirty="0"/>
              <a:t>라는 것이 일반적이다</a:t>
            </a:r>
            <a:r>
              <a:rPr lang="en-US" altLang="ko-KR" sz="1100" dirty="0"/>
              <a:t>. </a:t>
            </a:r>
            <a:r>
              <a:rPr lang="ko-KR" altLang="en-US" sz="1100" dirty="0"/>
              <a:t>우리나라는 이에 관한 사례가 아직 존재하지 않으나</a:t>
            </a:r>
            <a:r>
              <a:rPr lang="en-US" altLang="ko-KR" sz="1100" dirty="0"/>
              <a:t>, </a:t>
            </a:r>
            <a:r>
              <a:rPr lang="ko-KR" altLang="en-US" sz="1100" dirty="0"/>
              <a:t>만약 조건부 판매에 의하여 권리소진을 제한할 수 있다면 </a:t>
            </a:r>
            <a:r>
              <a:rPr lang="en-US" altLang="ko-KR" sz="1100" dirty="0"/>
              <a:t>ⅰ) </a:t>
            </a:r>
            <a:r>
              <a:rPr lang="ko-KR" altLang="en-US" sz="1100" dirty="0"/>
              <a:t>조건부 판매가 계약법적으로 유효한지 여부</a:t>
            </a:r>
            <a:r>
              <a:rPr lang="en-US" altLang="ko-KR" sz="1100" dirty="0"/>
              <a:t>, ⅱ) </a:t>
            </a:r>
            <a:r>
              <a:rPr lang="ko-KR" altLang="en-US" sz="1100" dirty="0"/>
              <a:t>계약법적으로 유효하더라도 특허권의 남용이나 독점금지법 등의 법률에 위반되는지 여부와 함께 검토되어야 할 것이다</a:t>
            </a:r>
            <a:r>
              <a:rPr lang="en-US" altLang="ko-KR" sz="1100" dirty="0"/>
              <a:t>. </a:t>
            </a:r>
            <a:endParaRPr lang="ko-KR" altLang="en-US" sz="1100" dirty="0"/>
          </a:p>
        </p:txBody>
      </p:sp>
      <p:cxnSp>
        <p:nvCxnSpPr>
          <p:cNvPr id="16" name="꺾인 연결선 15"/>
          <p:cNvCxnSpPr>
            <a:cxnSpLocks/>
            <a:stCxn id="23" idx="3"/>
            <a:endCxn id="27" idx="1"/>
          </p:cNvCxnSpPr>
          <p:nvPr/>
        </p:nvCxnSpPr>
        <p:spPr>
          <a:xfrm>
            <a:off x="2226733" y="3709527"/>
            <a:ext cx="545360" cy="8239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cxnSpLocks/>
            <a:stCxn id="23" idx="3"/>
            <a:endCxn id="32" idx="1"/>
          </p:cNvCxnSpPr>
          <p:nvPr/>
        </p:nvCxnSpPr>
        <p:spPr>
          <a:xfrm flipV="1">
            <a:off x="2226733" y="3213528"/>
            <a:ext cx="545360" cy="4959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23" idx="3"/>
            <a:endCxn id="28" idx="1"/>
          </p:cNvCxnSpPr>
          <p:nvPr/>
        </p:nvCxnSpPr>
        <p:spPr>
          <a:xfrm>
            <a:off x="2226733" y="3709527"/>
            <a:ext cx="545360" cy="23918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꺾인 연결선 33"/>
          <p:cNvCxnSpPr>
            <a:cxnSpLocks/>
            <a:stCxn id="23" idx="3"/>
            <a:endCxn id="29" idx="1"/>
          </p:cNvCxnSpPr>
          <p:nvPr/>
        </p:nvCxnSpPr>
        <p:spPr>
          <a:xfrm flipV="1">
            <a:off x="2226733" y="2246666"/>
            <a:ext cx="545360" cy="146286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1A53DA1-17DD-4A5C-8016-7DBB3C4B2FAC}"/>
              </a:ext>
            </a:extLst>
          </p:cNvPr>
          <p:cNvSpPr txBox="1"/>
          <p:nvPr/>
        </p:nvSpPr>
        <p:spPr>
          <a:xfrm>
            <a:off x="182877" y="110036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특허권자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BE72FB-6166-497D-820F-E3580178B75E}"/>
              </a:ext>
            </a:extLst>
          </p:cNvPr>
          <p:cNvSpPr txBox="1"/>
          <p:nvPr/>
        </p:nvSpPr>
        <p:spPr>
          <a:xfrm>
            <a:off x="1752192" y="1117787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양수인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894784-B227-4ED2-9987-4261AB713A83}"/>
              </a:ext>
            </a:extLst>
          </p:cNvPr>
          <p:cNvSpPr txBox="1"/>
          <p:nvPr/>
        </p:nvSpPr>
        <p:spPr>
          <a:xfrm>
            <a:off x="252547" y="1430677"/>
            <a:ext cx="598241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특허권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EB2988-AAD1-4E67-81D9-196F1A2D245C}"/>
              </a:ext>
            </a:extLst>
          </p:cNvPr>
          <p:cNvSpPr txBox="1"/>
          <p:nvPr/>
        </p:nvSpPr>
        <p:spPr>
          <a:xfrm>
            <a:off x="252547" y="1706786"/>
            <a:ext cx="598241" cy="27699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소유권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75221A7-EF00-4EA4-9955-B31378273D26}"/>
              </a:ext>
            </a:extLst>
          </p:cNvPr>
          <p:cNvCxnSpPr>
            <a:cxnSpLocks/>
          </p:cNvCxnSpPr>
          <p:nvPr/>
        </p:nvCxnSpPr>
        <p:spPr>
          <a:xfrm>
            <a:off x="997738" y="1645824"/>
            <a:ext cx="676075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1541500-C4A4-4DC4-A60C-66AFFD266F70}"/>
              </a:ext>
            </a:extLst>
          </p:cNvPr>
          <p:cNvSpPr txBox="1"/>
          <p:nvPr/>
        </p:nvSpPr>
        <p:spPr>
          <a:xfrm>
            <a:off x="968083" y="1331369"/>
            <a:ext cx="69121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accent1"/>
                </a:solidFill>
              </a:rPr>
              <a:t>특허제품</a:t>
            </a:r>
            <a:endParaRPr lang="en-US" altLang="ko-KR" sz="1100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accent1"/>
                </a:solidFill>
              </a:rPr>
              <a:t>판매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FF8D70-3460-4E73-86F3-B68C79D5C01A}"/>
              </a:ext>
            </a:extLst>
          </p:cNvPr>
          <p:cNvSpPr txBox="1"/>
          <p:nvPr/>
        </p:nvSpPr>
        <p:spPr>
          <a:xfrm>
            <a:off x="1782645" y="1513773"/>
            <a:ext cx="598241" cy="27699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소유권</a:t>
            </a: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DA265B91-23C1-4C1F-A842-C64018B8A41D}"/>
              </a:ext>
            </a:extLst>
          </p:cNvPr>
          <p:cNvCxnSpPr>
            <a:stCxn id="35" idx="2"/>
            <a:endCxn id="41" idx="2"/>
          </p:cNvCxnSpPr>
          <p:nvPr/>
        </p:nvCxnSpPr>
        <p:spPr>
          <a:xfrm rot="5400000" flipH="1" flipV="1">
            <a:off x="1220210" y="1122230"/>
            <a:ext cx="193013" cy="1530098"/>
          </a:xfrm>
          <a:prstGeom prst="bentConnector3">
            <a:avLst>
              <a:gd name="adj1" fmla="val -11843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E7A7CFD-E726-4D0D-933B-B2B2F1FF620C}"/>
              </a:ext>
            </a:extLst>
          </p:cNvPr>
          <p:cNvSpPr txBox="1"/>
          <p:nvPr/>
        </p:nvSpPr>
        <p:spPr>
          <a:xfrm>
            <a:off x="1059701" y="2160763"/>
            <a:ext cx="437940" cy="320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이전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EC7CD6E-7C14-3FBD-0703-FAE10130D4FF}"/>
              </a:ext>
            </a:extLst>
          </p:cNvPr>
          <p:cNvSpPr/>
          <p:nvPr/>
        </p:nvSpPr>
        <p:spPr>
          <a:xfrm>
            <a:off x="2604453" y="2081983"/>
            <a:ext cx="335280" cy="335280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1AEFEC-D096-6B30-3DCD-039C66D51535}"/>
              </a:ext>
            </a:extLst>
          </p:cNvPr>
          <p:cNvSpPr/>
          <p:nvPr/>
        </p:nvSpPr>
        <p:spPr>
          <a:xfrm>
            <a:off x="2772093" y="978845"/>
            <a:ext cx="1168393" cy="756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실시권자의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계약조건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위반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10220A-A66E-650E-EB83-351B70E78B8C}"/>
              </a:ext>
            </a:extLst>
          </p:cNvPr>
          <p:cNvSpPr/>
          <p:nvPr/>
        </p:nvSpPr>
        <p:spPr>
          <a:xfrm>
            <a:off x="3940485" y="978845"/>
            <a:ext cx="8152903" cy="76944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 err="1">
                <a:solidFill>
                  <a:schemeClr val="tx2"/>
                </a:solidFill>
              </a:rPr>
              <a:t>실시권자가</a:t>
            </a:r>
            <a:r>
              <a:rPr lang="ko-KR" altLang="en-US" sz="1100" dirty="0">
                <a:solidFill>
                  <a:schemeClr val="tx2"/>
                </a:solidFill>
              </a:rPr>
              <a:t> 실시권의 제한조건을 벗어나서 판매한 경우에는 실시권의 제한조건이 </a:t>
            </a:r>
            <a:r>
              <a:rPr lang="ko-KR" altLang="en-US" sz="1100" dirty="0" err="1">
                <a:solidFill>
                  <a:schemeClr val="tx2"/>
                </a:solidFill>
              </a:rPr>
              <a:t>위법하다거나</a:t>
            </a:r>
            <a:r>
              <a:rPr lang="ko-KR" altLang="en-US" sz="1100" dirty="0">
                <a:solidFill>
                  <a:schemeClr val="tx2"/>
                </a:solidFill>
              </a:rPr>
              <a:t> 무효인 경우를 제외하고는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권리소진의 효과가 발생하지 않아서 특허권의 침해가 된다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다만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계약상 부수적인 제한조건을 위반</a:t>
            </a:r>
            <a:r>
              <a:rPr lang="ko-KR" altLang="en-US" sz="1100" dirty="0">
                <a:solidFill>
                  <a:schemeClr val="tx2"/>
                </a:solidFill>
              </a:rPr>
              <a:t>하여 판매한 경우에는 일률적으로 특허권자의 동의를 받지 않은 양도행위로서 권리소진의 원칙이 배제된다고 볼 수는 없고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ⅰ)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계약의 구체적인 내용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, ⅱ)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특허권자가 판매로 보상을 받았음에도 추가적인 유통을 금지할 이익과 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ⅲ)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특허제품을 구입한 수요자 보호의 필요성 등을 종합하여 권리소진 여부를 판단</a:t>
            </a:r>
            <a:r>
              <a:rPr lang="ko-KR" altLang="en-US" sz="1100" dirty="0">
                <a:solidFill>
                  <a:schemeClr val="tx2"/>
                </a:solidFill>
              </a:rPr>
              <a:t>하여야 한다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  <a:endParaRPr lang="ko-KR" altLang="en-US" sz="11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cxnSp>
        <p:nvCxnSpPr>
          <p:cNvPr id="19" name="꺾인 연결선 33">
            <a:extLst>
              <a:ext uri="{FF2B5EF4-FFF2-40B4-BE49-F238E27FC236}">
                <a16:creationId xmlns:a16="http://schemas.microsoft.com/office/drawing/2014/main" id="{51FB009F-CE47-144D-C8E6-D29CBE33A0D4}"/>
              </a:ext>
            </a:extLst>
          </p:cNvPr>
          <p:cNvCxnSpPr>
            <a:cxnSpLocks/>
            <a:stCxn id="23" idx="3"/>
            <a:endCxn id="15" idx="1"/>
          </p:cNvCxnSpPr>
          <p:nvPr/>
        </p:nvCxnSpPr>
        <p:spPr>
          <a:xfrm flipV="1">
            <a:off x="2226733" y="1357341"/>
            <a:ext cx="545360" cy="235218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39">
            <a:extLst>
              <a:ext uri="{FF2B5EF4-FFF2-40B4-BE49-F238E27FC236}">
                <a16:creationId xmlns:a16="http://schemas.microsoft.com/office/drawing/2014/main" id="{195AD9EB-D6BF-F001-8FFA-27C3B3D6154A}"/>
              </a:ext>
            </a:extLst>
          </p:cNvPr>
          <p:cNvSpPr/>
          <p:nvPr/>
        </p:nvSpPr>
        <p:spPr>
          <a:xfrm>
            <a:off x="2604453" y="1194387"/>
            <a:ext cx="335280" cy="335280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B113673-0345-D191-3192-413F9C62CA22}"/>
              </a:ext>
            </a:extLst>
          </p:cNvPr>
          <p:cNvSpPr/>
          <p:nvPr/>
        </p:nvSpPr>
        <p:spPr>
          <a:xfrm>
            <a:off x="2604453" y="3048845"/>
            <a:ext cx="335280" cy="33528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AB2786A-3E40-6900-0C41-521892D289DA}"/>
              </a:ext>
            </a:extLst>
          </p:cNvPr>
          <p:cNvSpPr/>
          <p:nvPr/>
        </p:nvSpPr>
        <p:spPr>
          <a:xfrm>
            <a:off x="2604453" y="4362989"/>
            <a:ext cx="335280" cy="33528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1C3F969E-090B-3F02-18AD-A188E1E64AE9}"/>
              </a:ext>
            </a:extLst>
          </p:cNvPr>
          <p:cNvSpPr/>
          <p:nvPr/>
        </p:nvSpPr>
        <p:spPr>
          <a:xfrm>
            <a:off x="2604453" y="5928850"/>
            <a:ext cx="335280" cy="335280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767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권리소진에 의한 제한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외국에서 판매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308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2623E-4D4B-4741-9B6B-301711A6033C}"/>
              </a:ext>
            </a:extLst>
          </p:cNvPr>
          <p:cNvSpPr txBox="1"/>
          <p:nvPr/>
        </p:nvSpPr>
        <p:spPr>
          <a:xfrm>
            <a:off x="1295920" y="2104420"/>
            <a:ext cx="151529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한국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39D742-C841-486D-AF46-4239D6038C46}"/>
              </a:ext>
            </a:extLst>
          </p:cNvPr>
          <p:cNvSpPr txBox="1"/>
          <p:nvPr/>
        </p:nvSpPr>
        <p:spPr>
          <a:xfrm>
            <a:off x="1295920" y="2473751"/>
            <a:ext cx="1515292" cy="10030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795BC1-808B-43E6-8770-6A6EBA31D7CD}"/>
              </a:ext>
            </a:extLst>
          </p:cNvPr>
          <p:cNvSpPr txBox="1"/>
          <p:nvPr/>
        </p:nvSpPr>
        <p:spPr>
          <a:xfrm>
            <a:off x="3392872" y="2104420"/>
            <a:ext cx="151529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외국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CA6984-C33C-4303-94DD-1F1BA5773746}"/>
              </a:ext>
            </a:extLst>
          </p:cNvPr>
          <p:cNvSpPr txBox="1"/>
          <p:nvPr/>
        </p:nvSpPr>
        <p:spPr>
          <a:xfrm>
            <a:off x="3392872" y="2473751"/>
            <a:ext cx="1515292" cy="100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869C6F1-50B3-46AC-AD21-7F896CF9EC5F}"/>
              </a:ext>
            </a:extLst>
          </p:cNvPr>
          <p:cNvSpPr/>
          <p:nvPr/>
        </p:nvSpPr>
        <p:spPr>
          <a:xfrm>
            <a:off x="1443967" y="2566866"/>
            <a:ext cx="370857" cy="369333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갑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240921BE-7F77-4A3A-9ECD-CF672DEB17A0}"/>
              </a:ext>
            </a:extLst>
          </p:cNvPr>
          <p:cNvSpPr/>
          <p:nvPr/>
        </p:nvSpPr>
        <p:spPr>
          <a:xfrm>
            <a:off x="3537636" y="2566866"/>
            <a:ext cx="370857" cy="369333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D472FFB-7076-40EC-9893-DB247B1E8F6D}"/>
              </a:ext>
            </a:extLst>
          </p:cNvPr>
          <p:cNvSpPr/>
          <p:nvPr/>
        </p:nvSpPr>
        <p:spPr>
          <a:xfrm>
            <a:off x="3537636" y="3073526"/>
            <a:ext cx="370857" cy="369333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13F4E5-4F0F-44CE-B07B-DB64187DF573}"/>
              </a:ext>
            </a:extLst>
          </p:cNvPr>
          <p:cNvSpPr txBox="1"/>
          <p:nvPr/>
        </p:nvSpPr>
        <p:spPr>
          <a:xfrm>
            <a:off x="1805508" y="2566864"/>
            <a:ext cx="869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특허권자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A1E865-0364-4E9F-AFB1-A8B6641E5C68}"/>
              </a:ext>
            </a:extLst>
          </p:cNvPr>
          <p:cNvSpPr txBox="1"/>
          <p:nvPr/>
        </p:nvSpPr>
        <p:spPr>
          <a:xfrm>
            <a:off x="3908493" y="2566865"/>
            <a:ext cx="830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특허권자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4BF4D70-5BF1-4570-B0E5-38F93300D8A2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3723065" y="2969642"/>
            <a:ext cx="0" cy="1038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C543A88-5E62-4F46-BF0C-63B1F62273C5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2198899" y="3258193"/>
            <a:ext cx="133873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5EE100B-FFBA-4349-81AD-0774E9615306}"/>
              </a:ext>
            </a:extLst>
          </p:cNvPr>
          <p:cNvSpPr txBox="1"/>
          <p:nvPr/>
        </p:nvSpPr>
        <p:spPr>
          <a:xfrm>
            <a:off x="3823214" y="2886765"/>
            <a:ext cx="830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판매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C7C934-DF0C-4EEB-BA03-534FE2BEF1C1}"/>
              </a:ext>
            </a:extLst>
          </p:cNvPr>
          <p:cNvSpPr txBox="1"/>
          <p:nvPr/>
        </p:nvSpPr>
        <p:spPr>
          <a:xfrm>
            <a:off x="2824097" y="2983089"/>
            <a:ext cx="522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수입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27858C81-ED03-4574-AD1A-EE9D514988FD}"/>
              </a:ext>
            </a:extLst>
          </p:cNvPr>
          <p:cNvSpPr/>
          <p:nvPr/>
        </p:nvSpPr>
        <p:spPr>
          <a:xfrm>
            <a:off x="1812920" y="3073526"/>
            <a:ext cx="370857" cy="3693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정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BBC16D-90A6-4F94-99BA-8B0901F0D214}"/>
              </a:ext>
            </a:extLst>
          </p:cNvPr>
          <p:cNvSpPr txBox="1"/>
          <p:nvPr/>
        </p:nvSpPr>
        <p:spPr>
          <a:xfrm>
            <a:off x="5011271" y="1982268"/>
            <a:ext cx="68323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800" dirty="0">
                <a:latin typeface="+mn-ea"/>
              </a:rPr>
              <a:t>외국에서 특허권의 경우 권리소진이 발생하지만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국내에서 특허권의 경우 특허권자가 달라 국내의 특허권자가 특허제품의 판매를 통해 이득을 취한 것도 아니고 특허독립의 원칙 및 속지주의에 의하여 국내에서 권리소진이 발생하지 않아서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정의 수입은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국내 갑의 특허권의 침해라고 볼 것이다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3EB50E-DEC0-47AD-BD69-A884E3F18DA1}"/>
              </a:ext>
            </a:extLst>
          </p:cNvPr>
          <p:cNvSpPr txBox="1"/>
          <p:nvPr/>
        </p:nvSpPr>
        <p:spPr>
          <a:xfrm>
            <a:off x="1295920" y="3693134"/>
            <a:ext cx="151529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한국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15990E-C54B-41B4-AD18-1F7C50408252}"/>
              </a:ext>
            </a:extLst>
          </p:cNvPr>
          <p:cNvSpPr txBox="1"/>
          <p:nvPr/>
        </p:nvSpPr>
        <p:spPr>
          <a:xfrm>
            <a:off x="1295920" y="4062465"/>
            <a:ext cx="1515292" cy="100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ko-KR" alt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36127E-80CA-4362-B0A0-1D70C2E34D74}"/>
              </a:ext>
            </a:extLst>
          </p:cNvPr>
          <p:cNvSpPr txBox="1"/>
          <p:nvPr/>
        </p:nvSpPr>
        <p:spPr>
          <a:xfrm>
            <a:off x="3392872" y="3693134"/>
            <a:ext cx="151529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외국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6434E2-0D30-404C-98AE-07613FF146CA}"/>
              </a:ext>
            </a:extLst>
          </p:cNvPr>
          <p:cNvSpPr txBox="1"/>
          <p:nvPr/>
        </p:nvSpPr>
        <p:spPr>
          <a:xfrm>
            <a:off x="3392872" y="4062465"/>
            <a:ext cx="1515292" cy="100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06FC9A49-71D0-4EF0-8FC1-38548FFF6F9F}"/>
              </a:ext>
            </a:extLst>
          </p:cNvPr>
          <p:cNvSpPr/>
          <p:nvPr/>
        </p:nvSpPr>
        <p:spPr>
          <a:xfrm>
            <a:off x="1443967" y="4155580"/>
            <a:ext cx="370857" cy="369333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갑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D7ABC74B-21F9-4F86-9A5B-CDDE8A3900A7}"/>
              </a:ext>
            </a:extLst>
          </p:cNvPr>
          <p:cNvSpPr/>
          <p:nvPr/>
        </p:nvSpPr>
        <p:spPr>
          <a:xfrm>
            <a:off x="3537636" y="4155580"/>
            <a:ext cx="370857" cy="369333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갑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48EB278-5A81-4865-8DB3-37E0622402FE}"/>
              </a:ext>
            </a:extLst>
          </p:cNvPr>
          <p:cNvSpPr/>
          <p:nvPr/>
        </p:nvSpPr>
        <p:spPr>
          <a:xfrm>
            <a:off x="3537636" y="4644831"/>
            <a:ext cx="370857" cy="369333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병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813BAB-0884-4529-A885-E337536EBA84}"/>
              </a:ext>
            </a:extLst>
          </p:cNvPr>
          <p:cNvSpPr txBox="1"/>
          <p:nvPr/>
        </p:nvSpPr>
        <p:spPr>
          <a:xfrm>
            <a:off x="1805508" y="4155578"/>
            <a:ext cx="869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특허권자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E209F8-64AF-4D40-8452-62D5712C51FF}"/>
              </a:ext>
            </a:extLst>
          </p:cNvPr>
          <p:cNvSpPr txBox="1"/>
          <p:nvPr/>
        </p:nvSpPr>
        <p:spPr>
          <a:xfrm>
            <a:off x="3908493" y="4155579"/>
            <a:ext cx="830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특허권자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98A72B9-4AB4-4E16-A38B-F5A1815345AA}"/>
              </a:ext>
            </a:extLst>
          </p:cNvPr>
          <p:cNvCxnSpPr>
            <a:cxnSpLocks/>
            <a:stCxn id="56" idx="4"/>
            <a:endCxn id="57" idx="0"/>
          </p:cNvCxnSpPr>
          <p:nvPr/>
        </p:nvCxnSpPr>
        <p:spPr>
          <a:xfrm>
            <a:off x="3723065" y="4524913"/>
            <a:ext cx="0" cy="11991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27AC4FA-0D1E-4DFD-9D8A-97C9C1579FB0}"/>
              </a:ext>
            </a:extLst>
          </p:cNvPr>
          <p:cNvCxnSpPr>
            <a:cxnSpLocks/>
            <a:stCxn id="57" idx="2"/>
          </p:cNvCxnSpPr>
          <p:nvPr/>
        </p:nvCxnSpPr>
        <p:spPr>
          <a:xfrm flipH="1">
            <a:off x="2198899" y="4829498"/>
            <a:ext cx="133873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4087310-9586-4D05-915C-CE54A596C88F}"/>
              </a:ext>
            </a:extLst>
          </p:cNvPr>
          <p:cNvSpPr txBox="1"/>
          <p:nvPr/>
        </p:nvSpPr>
        <p:spPr>
          <a:xfrm>
            <a:off x="3798009" y="4485556"/>
            <a:ext cx="830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판매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098BDEB-5960-4D28-AB57-A4F964B9F804}"/>
              </a:ext>
            </a:extLst>
          </p:cNvPr>
          <p:cNvSpPr txBox="1"/>
          <p:nvPr/>
        </p:nvSpPr>
        <p:spPr>
          <a:xfrm>
            <a:off x="2788416" y="4548149"/>
            <a:ext cx="522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수입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C5AD0F24-6B4A-4A67-ADFE-990F24132B3F}"/>
              </a:ext>
            </a:extLst>
          </p:cNvPr>
          <p:cNvSpPr/>
          <p:nvPr/>
        </p:nvSpPr>
        <p:spPr>
          <a:xfrm>
            <a:off x="1812920" y="4644831"/>
            <a:ext cx="370857" cy="3693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정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2CB544-D35B-40B2-AD43-FEB6DB24AD92}"/>
              </a:ext>
            </a:extLst>
          </p:cNvPr>
          <p:cNvSpPr txBox="1"/>
          <p:nvPr/>
        </p:nvSpPr>
        <p:spPr>
          <a:xfrm>
            <a:off x="5011271" y="3830959"/>
            <a:ext cx="68323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800" dirty="0">
                <a:latin typeface="+mn-ea"/>
              </a:rPr>
              <a:t>외국에서 특허제품의 판매를 통해 외국과 국내에서 특허권의 권리소진이 발생하였고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특허권자가 이득을 취하였기 때문에 정의 수입은 국내 갑의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특허권의 침해가 아니라고 볼 것이다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58BA9E-4105-4CAB-82EB-1C7CCD65A5EC}"/>
              </a:ext>
            </a:extLst>
          </p:cNvPr>
          <p:cNvSpPr txBox="1"/>
          <p:nvPr/>
        </p:nvSpPr>
        <p:spPr>
          <a:xfrm>
            <a:off x="1295920" y="5261423"/>
            <a:ext cx="151529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한국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01145E-BECF-419D-A92F-87A5887BC94C}"/>
              </a:ext>
            </a:extLst>
          </p:cNvPr>
          <p:cNvSpPr txBox="1"/>
          <p:nvPr/>
        </p:nvSpPr>
        <p:spPr>
          <a:xfrm>
            <a:off x="1295920" y="5630754"/>
            <a:ext cx="1515292" cy="100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ko-KR" altLang="en-US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2431728-3A18-44CC-8CFC-2EC85B7E54CB}"/>
              </a:ext>
            </a:extLst>
          </p:cNvPr>
          <p:cNvSpPr txBox="1"/>
          <p:nvPr/>
        </p:nvSpPr>
        <p:spPr>
          <a:xfrm>
            <a:off x="3392872" y="5261423"/>
            <a:ext cx="151529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외국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6007A1-6F62-4B0A-99A4-B67DFF3438D5}"/>
              </a:ext>
            </a:extLst>
          </p:cNvPr>
          <p:cNvSpPr txBox="1"/>
          <p:nvPr/>
        </p:nvSpPr>
        <p:spPr>
          <a:xfrm>
            <a:off x="3392872" y="5630754"/>
            <a:ext cx="1515292" cy="10030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E15CE73B-0E54-4F64-9EF0-530C94AC35B7}"/>
              </a:ext>
            </a:extLst>
          </p:cNvPr>
          <p:cNvSpPr/>
          <p:nvPr/>
        </p:nvSpPr>
        <p:spPr>
          <a:xfrm>
            <a:off x="1443967" y="5723869"/>
            <a:ext cx="370857" cy="369333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갑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17EBB885-E6B3-406C-A43C-7A44AC225CD1}"/>
              </a:ext>
            </a:extLst>
          </p:cNvPr>
          <p:cNvSpPr/>
          <p:nvPr/>
        </p:nvSpPr>
        <p:spPr>
          <a:xfrm>
            <a:off x="3537636" y="6204404"/>
            <a:ext cx="370857" cy="369333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병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42DA7F-5129-42C2-B7E6-C83840ED1483}"/>
              </a:ext>
            </a:extLst>
          </p:cNvPr>
          <p:cNvSpPr txBox="1"/>
          <p:nvPr/>
        </p:nvSpPr>
        <p:spPr>
          <a:xfrm>
            <a:off x="1812920" y="5709881"/>
            <a:ext cx="869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특허권자</a:t>
            </a: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6C0EB37-5A4E-4F53-978B-F8B2B1210147}"/>
              </a:ext>
            </a:extLst>
          </p:cNvPr>
          <p:cNvCxnSpPr>
            <a:cxnSpLocks/>
            <a:stCxn id="70" idx="6"/>
            <a:endCxn id="72" idx="1"/>
          </p:cNvCxnSpPr>
          <p:nvPr/>
        </p:nvCxnSpPr>
        <p:spPr>
          <a:xfrm>
            <a:off x="1814824" y="5908536"/>
            <a:ext cx="1777123" cy="34995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F5142966-6D5B-40CB-BCE7-9B2140353FF1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198899" y="6389071"/>
            <a:ext cx="133873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7CF7D69-5DE0-4A94-85E1-63C3A991B626}"/>
              </a:ext>
            </a:extLst>
          </p:cNvPr>
          <p:cNvSpPr txBox="1"/>
          <p:nvPr/>
        </p:nvSpPr>
        <p:spPr>
          <a:xfrm>
            <a:off x="2788416" y="6386400"/>
            <a:ext cx="522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수입</a:t>
            </a: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03CF87AF-A358-45AA-8D8F-02EDCC987392}"/>
              </a:ext>
            </a:extLst>
          </p:cNvPr>
          <p:cNvSpPr/>
          <p:nvPr/>
        </p:nvSpPr>
        <p:spPr>
          <a:xfrm>
            <a:off x="1812920" y="6204404"/>
            <a:ext cx="370857" cy="3693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정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A25756-A4CC-4F0A-A487-BDB059D68F56}"/>
              </a:ext>
            </a:extLst>
          </p:cNvPr>
          <p:cNvSpPr txBox="1"/>
          <p:nvPr/>
        </p:nvSpPr>
        <p:spPr>
          <a:xfrm>
            <a:off x="5011271" y="5399248"/>
            <a:ext cx="68323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800" dirty="0">
                <a:latin typeface="+mn-ea"/>
              </a:rPr>
              <a:t>국내외 특허제품의 판매를 통해 국내 특허권의 권리소진이 발생하였고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특허권자가 이득을 취하였기 때문에 정의 수입은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국내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갑의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특허권의 침해가 아니라고 볼 것이다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5BE89A8-9B12-44C4-ADF6-A9043D2F45C5}"/>
              </a:ext>
            </a:extLst>
          </p:cNvPr>
          <p:cNvSpPr txBox="1"/>
          <p:nvPr/>
        </p:nvSpPr>
        <p:spPr>
          <a:xfrm>
            <a:off x="2911616" y="5905612"/>
            <a:ext cx="522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수출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1B162EB-D58A-443E-A30C-32AD0095BAA7}"/>
              </a:ext>
            </a:extLst>
          </p:cNvPr>
          <p:cNvCxnSpPr/>
          <p:nvPr/>
        </p:nvCxnSpPr>
        <p:spPr>
          <a:xfrm>
            <a:off x="261257" y="3592061"/>
            <a:ext cx="11686903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DBD8DC9-694D-4E16-ACBA-53521A16A249}"/>
              </a:ext>
            </a:extLst>
          </p:cNvPr>
          <p:cNvCxnSpPr/>
          <p:nvPr/>
        </p:nvCxnSpPr>
        <p:spPr>
          <a:xfrm>
            <a:off x="261257" y="5185728"/>
            <a:ext cx="11686903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85D176E-20DA-444B-B66C-0CA94C54F08F}"/>
              </a:ext>
            </a:extLst>
          </p:cNvPr>
          <p:cNvSpPr txBox="1"/>
          <p:nvPr/>
        </p:nvSpPr>
        <p:spPr>
          <a:xfrm>
            <a:off x="261257" y="1087176"/>
            <a:ext cx="11791406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권리소진의 요건으로서 판매는 국내외를 불문하고</a:t>
            </a:r>
            <a:r>
              <a:rPr lang="en-US" altLang="ko-KR" dirty="0"/>
              <a:t>, </a:t>
            </a:r>
            <a:r>
              <a:rPr lang="ko-KR" altLang="en-US" dirty="0"/>
              <a:t>권리소진이 적용되는 범위는 특허독립의 원칙 및 속지주의 원칙에 따라 국내로 한정되는 것으로 이해</a:t>
            </a:r>
            <a:endParaRPr lang="en-US" altLang="ko-KR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4FCC3A0-811F-D127-FDB9-09D14CEB1BE6}"/>
              </a:ext>
            </a:extLst>
          </p:cNvPr>
          <p:cNvSpPr/>
          <p:nvPr/>
        </p:nvSpPr>
        <p:spPr>
          <a:xfrm>
            <a:off x="468725" y="2575753"/>
            <a:ext cx="484550" cy="45913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1</a:t>
            </a:r>
            <a:endParaRPr lang="ko-KR" altLang="en-US" sz="28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E3418AF-1B3C-460D-2A1A-C2EC09F60ECF}"/>
              </a:ext>
            </a:extLst>
          </p:cNvPr>
          <p:cNvSpPr/>
          <p:nvPr/>
        </p:nvSpPr>
        <p:spPr>
          <a:xfrm>
            <a:off x="468725" y="4155578"/>
            <a:ext cx="484550" cy="45913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2</a:t>
            </a:r>
            <a:endParaRPr lang="ko-KR" altLang="en-US" sz="28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D0E5CED-29C2-791C-A43A-4FF117F81D52}"/>
              </a:ext>
            </a:extLst>
          </p:cNvPr>
          <p:cNvSpPr/>
          <p:nvPr/>
        </p:nvSpPr>
        <p:spPr>
          <a:xfrm>
            <a:off x="468725" y="5762449"/>
            <a:ext cx="484550" cy="45913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3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17998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권리소진 </a:t>
            </a:r>
            <a:r>
              <a:rPr lang="en-US" altLang="ko-KR" dirty="0"/>
              <a:t>CASE: </a:t>
            </a:r>
            <a:r>
              <a:rPr lang="ko-KR" altLang="en-US" dirty="0"/>
              <a:t>사료제조방법 사건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309</a:t>
            </a:fld>
            <a:endParaRPr lang="ko-KR" altLang="en-US"/>
          </a:p>
        </p:txBody>
      </p:sp>
      <p:sp>
        <p:nvSpPr>
          <p:cNvPr id="36" name="Line 5">
            <a:extLst>
              <a:ext uri="{FF2B5EF4-FFF2-40B4-BE49-F238E27FC236}">
                <a16:creationId xmlns:a16="http://schemas.microsoft.com/office/drawing/2014/main" id="{E854A4B8-96C6-43D9-A5B4-70A829B94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1792914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C7A1B5-855F-4329-B5E1-C6D3B1632D78}"/>
              </a:ext>
            </a:extLst>
          </p:cNvPr>
          <p:cNvSpPr txBox="1"/>
          <p:nvPr/>
        </p:nvSpPr>
        <p:spPr>
          <a:xfrm>
            <a:off x="1269021" y="2049089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BC46C1C-A6EA-42E7-99E5-44568BB4E05C}"/>
              </a:ext>
            </a:extLst>
          </p:cNvPr>
          <p:cNvSpPr/>
          <p:nvPr/>
        </p:nvSpPr>
        <p:spPr>
          <a:xfrm>
            <a:off x="1594150" y="169898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D9CB9A2-7B4D-48C0-8EB1-6D081971D7EA}"/>
              </a:ext>
            </a:extLst>
          </p:cNvPr>
          <p:cNvCxnSpPr>
            <a:cxnSpLocks/>
            <a:stCxn id="37" idx="0"/>
            <a:endCxn id="38" idx="4"/>
          </p:cNvCxnSpPr>
          <p:nvPr/>
        </p:nvCxnSpPr>
        <p:spPr>
          <a:xfrm flipH="1" flipV="1">
            <a:off x="1671519" y="186031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73C7D35-0104-4E10-89BE-5DB672C5D41A}"/>
              </a:ext>
            </a:extLst>
          </p:cNvPr>
          <p:cNvSpPr txBox="1"/>
          <p:nvPr/>
        </p:nvSpPr>
        <p:spPr>
          <a:xfrm>
            <a:off x="2564217" y="1013468"/>
            <a:ext cx="148600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혈분사료제조방법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A36312D-0971-47DE-8819-960AADA3A329}"/>
              </a:ext>
            </a:extLst>
          </p:cNvPr>
          <p:cNvSpPr/>
          <p:nvPr/>
        </p:nvSpPr>
        <p:spPr>
          <a:xfrm>
            <a:off x="3229850" y="1698980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5EDF473-CF75-48C4-A970-3C80A1DC1F8D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3307219" y="1475133"/>
            <a:ext cx="1" cy="2238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B401103-3443-412E-9BF4-1F5F20F43B03}"/>
              </a:ext>
            </a:extLst>
          </p:cNvPr>
          <p:cNvSpPr txBox="1"/>
          <p:nvPr/>
        </p:nvSpPr>
        <p:spPr>
          <a:xfrm>
            <a:off x="2252355" y="2049089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EAC2ADC0-30FF-4A3D-B32C-6C13D5A4CE84}"/>
              </a:ext>
            </a:extLst>
          </p:cNvPr>
          <p:cNvSpPr/>
          <p:nvPr/>
        </p:nvSpPr>
        <p:spPr>
          <a:xfrm>
            <a:off x="2577484" y="169898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1615A73-F5B8-4286-97D1-4829E0C74367}"/>
              </a:ext>
            </a:extLst>
          </p:cNvPr>
          <p:cNvCxnSpPr>
            <a:cxnSpLocks/>
            <a:stCxn id="50" idx="0"/>
            <a:endCxn id="51" idx="4"/>
          </p:cNvCxnSpPr>
          <p:nvPr/>
        </p:nvCxnSpPr>
        <p:spPr>
          <a:xfrm flipH="1" flipV="1">
            <a:off x="2654853" y="186031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3319886-C7F1-4E7B-A602-8F68F274C6EC}"/>
              </a:ext>
            </a:extLst>
          </p:cNvPr>
          <p:cNvSpPr txBox="1"/>
          <p:nvPr/>
        </p:nvSpPr>
        <p:spPr>
          <a:xfrm>
            <a:off x="3404820" y="2049089"/>
            <a:ext cx="104868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권리범위확인심판청구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DEB4E698-2389-44DF-BC34-9763BE1A7C6E}"/>
              </a:ext>
            </a:extLst>
          </p:cNvPr>
          <p:cNvSpPr/>
          <p:nvPr/>
        </p:nvSpPr>
        <p:spPr>
          <a:xfrm>
            <a:off x="3851791" y="169898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C4F219AE-26AA-46C9-8D2D-D89D3ED84067}"/>
              </a:ext>
            </a:extLst>
          </p:cNvPr>
          <p:cNvCxnSpPr>
            <a:cxnSpLocks/>
            <a:stCxn id="64" idx="0"/>
            <a:endCxn id="65" idx="4"/>
          </p:cNvCxnSpPr>
          <p:nvPr/>
        </p:nvCxnSpPr>
        <p:spPr>
          <a:xfrm flipH="1" flipV="1">
            <a:off x="3929160" y="186031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1931382D-9A6B-4FA5-88A6-B5CB431420D4}"/>
              </a:ext>
            </a:extLst>
          </p:cNvPr>
          <p:cNvSpPr txBox="1"/>
          <p:nvPr/>
        </p:nvSpPr>
        <p:spPr>
          <a:xfrm>
            <a:off x="3480881" y="2672659"/>
            <a:ext cx="89656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균등물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9EC0FD-C606-4F8A-A538-F38D283E0F00}"/>
              </a:ext>
            </a:extLst>
          </p:cNvPr>
          <p:cNvSpPr/>
          <p:nvPr/>
        </p:nvSpPr>
        <p:spPr>
          <a:xfrm>
            <a:off x="391665" y="2526010"/>
            <a:ext cx="2563514" cy="4572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유기성 폐기물을 순간 </a:t>
            </a:r>
            <a:r>
              <a:rPr lang="ko-KR" altLang="en-US" sz="1200" dirty="0" err="1">
                <a:solidFill>
                  <a:schemeClr val="tx1"/>
                </a:solidFill>
              </a:rPr>
              <a:t>고온처리하여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사료를 제조하는 방법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754F4F66-B98E-432B-BA6C-D83BEDF9EA3F}"/>
              </a:ext>
            </a:extLst>
          </p:cNvPr>
          <p:cNvCxnSpPr>
            <a:cxnSpLocks/>
            <a:stCxn id="5" idx="0"/>
            <a:endCxn id="37" idx="2"/>
          </p:cNvCxnSpPr>
          <p:nvPr/>
        </p:nvCxnSpPr>
        <p:spPr>
          <a:xfrm flipH="1" flipV="1">
            <a:off x="1671520" y="2326088"/>
            <a:ext cx="1902" cy="19992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B21A458-D60A-4B2A-9B37-636FFD88C5D2}"/>
              </a:ext>
            </a:extLst>
          </p:cNvPr>
          <p:cNvSpPr txBox="1"/>
          <p:nvPr/>
        </p:nvSpPr>
        <p:spPr>
          <a:xfrm>
            <a:off x="3773229" y="3043192"/>
            <a:ext cx="2032348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균등물이나 권리소진 되었기 때문에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0C1EC754-E7F5-4381-89DF-63D2EEBA59F9}"/>
              </a:ext>
            </a:extLst>
          </p:cNvPr>
          <p:cNvSpPr/>
          <p:nvPr/>
        </p:nvSpPr>
        <p:spPr>
          <a:xfrm>
            <a:off x="4712033" y="1698980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188361F-7BEF-4F4A-B969-5BDECDCD4740}"/>
              </a:ext>
            </a:extLst>
          </p:cNvPr>
          <p:cNvCxnSpPr>
            <a:cxnSpLocks/>
            <a:stCxn id="105" idx="0"/>
            <a:endCxn id="106" idx="4"/>
          </p:cNvCxnSpPr>
          <p:nvPr/>
        </p:nvCxnSpPr>
        <p:spPr>
          <a:xfrm flipH="1" flipV="1">
            <a:off x="4789402" y="1860318"/>
            <a:ext cx="1" cy="11828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3412B41-FD6A-4705-BE8B-2C41BBC0873B}"/>
              </a:ext>
            </a:extLst>
          </p:cNvPr>
          <p:cNvSpPr txBox="1"/>
          <p:nvPr/>
        </p:nvSpPr>
        <p:spPr>
          <a:xfrm>
            <a:off x="5315105" y="2049089"/>
            <a:ext cx="104868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심결취소소송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제기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80860A7-12E9-46AA-B737-934A40696292}"/>
              </a:ext>
            </a:extLst>
          </p:cNvPr>
          <p:cNvSpPr/>
          <p:nvPr/>
        </p:nvSpPr>
        <p:spPr>
          <a:xfrm>
            <a:off x="5762076" y="169898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C033F80C-552B-4BB8-AE1B-4EBEC3B4DEA3}"/>
              </a:ext>
            </a:extLst>
          </p:cNvPr>
          <p:cNvCxnSpPr>
            <a:cxnSpLocks/>
            <a:stCxn id="108" idx="0"/>
            <a:endCxn id="109" idx="4"/>
          </p:cNvCxnSpPr>
          <p:nvPr/>
        </p:nvCxnSpPr>
        <p:spPr>
          <a:xfrm flipH="1" flipV="1">
            <a:off x="5839445" y="186031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F6630180-F984-45B3-A95E-DC019D437DD3}"/>
              </a:ext>
            </a:extLst>
          </p:cNvPr>
          <p:cNvSpPr txBox="1"/>
          <p:nvPr/>
        </p:nvSpPr>
        <p:spPr>
          <a:xfrm>
            <a:off x="4625220" y="1013468"/>
            <a:ext cx="290564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특허권의 공유자 중 한명으로부터 사료제조설비를 경매 등에 의하여 양도받아 실시</a:t>
            </a: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D5C7BDAB-9E2B-4C26-AB88-35E4815D3CD0}"/>
              </a:ext>
            </a:extLst>
          </p:cNvPr>
          <p:cNvCxnSpPr>
            <a:cxnSpLocks/>
            <a:stCxn id="40" idx="3"/>
            <a:endCxn id="111" idx="1"/>
          </p:cNvCxnSpPr>
          <p:nvPr/>
        </p:nvCxnSpPr>
        <p:spPr>
          <a:xfrm>
            <a:off x="4050223" y="1244301"/>
            <a:ext cx="57499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79C5EEF-DD35-4048-9EB7-ABAD66F26DC8}"/>
              </a:ext>
            </a:extLst>
          </p:cNvPr>
          <p:cNvSpPr txBox="1"/>
          <p:nvPr/>
        </p:nvSpPr>
        <p:spPr>
          <a:xfrm>
            <a:off x="6354529" y="3043192"/>
            <a:ext cx="2032348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균등물이나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권리소진되지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않아 인용판결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22C516EE-BA1F-47F6-8660-657D52BB5B82}"/>
              </a:ext>
            </a:extLst>
          </p:cNvPr>
          <p:cNvSpPr/>
          <p:nvPr/>
        </p:nvSpPr>
        <p:spPr>
          <a:xfrm>
            <a:off x="7293333" y="1698980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3652EC2F-E5F3-4AED-B6D8-520E81285572}"/>
              </a:ext>
            </a:extLst>
          </p:cNvPr>
          <p:cNvCxnSpPr>
            <a:cxnSpLocks/>
            <a:stCxn id="113" idx="0"/>
            <a:endCxn id="114" idx="4"/>
          </p:cNvCxnSpPr>
          <p:nvPr/>
        </p:nvCxnSpPr>
        <p:spPr>
          <a:xfrm flipH="1" flipV="1">
            <a:off x="7370702" y="1860318"/>
            <a:ext cx="1" cy="11828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6D52C961-602D-4C45-81F9-C6FD25F0DC3D}"/>
              </a:ext>
            </a:extLst>
          </p:cNvPr>
          <p:cNvSpPr txBox="1"/>
          <p:nvPr/>
        </p:nvSpPr>
        <p:spPr>
          <a:xfrm>
            <a:off x="8205602" y="1194618"/>
            <a:ext cx="77503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상고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121CC400-69CE-451E-8D14-094211994EE6}"/>
              </a:ext>
            </a:extLst>
          </p:cNvPr>
          <p:cNvSpPr/>
          <p:nvPr/>
        </p:nvSpPr>
        <p:spPr>
          <a:xfrm>
            <a:off x="8515747" y="1698980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072C29CE-8B12-469A-93C0-B5D30D82A400}"/>
              </a:ext>
            </a:extLst>
          </p:cNvPr>
          <p:cNvCxnSpPr>
            <a:cxnSpLocks/>
            <a:stCxn id="116" idx="2"/>
            <a:endCxn id="117" idx="0"/>
          </p:cNvCxnSpPr>
          <p:nvPr/>
        </p:nvCxnSpPr>
        <p:spPr>
          <a:xfrm flipH="1">
            <a:off x="8593116" y="1471617"/>
            <a:ext cx="1" cy="227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A5F05147-E480-4407-9565-8300B71B2AFC}"/>
              </a:ext>
            </a:extLst>
          </p:cNvPr>
          <p:cNvSpPr txBox="1"/>
          <p:nvPr/>
        </p:nvSpPr>
        <p:spPr>
          <a:xfrm>
            <a:off x="8817467" y="3043192"/>
            <a:ext cx="2769082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균등물이고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권리소진여부는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권리범위확인과 관련이 없기 때문에 기각판결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F345768B-BC37-450C-B1EB-8C673ED8FD10}"/>
              </a:ext>
            </a:extLst>
          </p:cNvPr>
          <p:cNvSpPr/>
          <p:nvPr/>
        </p:nvSpPr>
        <p:spPr>
          <a:xfrm>
            <a:off x="10124638" y="1698980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AB3EE128-6890-4D2F-AFEA-667831B7AF63}"/>
              </a:ext>
            </a:extLst>
          </p:cNvPr>
          <p:cNvCxnSpPr>
            <a:cxnSpLocks/>
            <a:stCxn id="119" idx="0"/>
            <a:endCxn id="120" idx="4"/>
          </p:cNvCxnSpPr>
          <p:nvPr/>
        </p:nvCxnSpPr>
        <p:spPr>
          <a:xfrm flipH="1" flipV="1">
            <a:off x="10202007" y="1860318"/>
            <a:ext cx="1" cy="11828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121FAB3D-B4B0-413F-BB43-4FE1BA29C6A0}"/>
              </a:ext>
            </a:extLst>
          </p:cNvPr>
          <p:cNvSpPr/>
          <p:nvPr/>
        </p:nvSpPr>
        <p:spPr>
          <a:xfrm>
            <a:off x="6386972" y="3603393"/>
            <a:ext cx="2547492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2010. 12. 9.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2010</a:t>
            </a:r>
            <a:r>
              <a:rPr lang="ko-KR" altLang="en-US" sz="1200" dirty="0"/>
              <a:t>후</a:t>
            </a:r>
            <a:r>
              <a:rPr lang="en-US" altLang="ko-KR" sz="1200" dirty="0"/>
              <a:t>289</a:t>
            </a:r>
            <a:endParaRPr lang="ko-KR" altLang="en-US" sz="1200" dirty="0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69FC02C0-F3F4-4B74-8747-D484B8541DBC}"/>
              </a:ext>
            </a:extLst>
          </p:cNvPr>
          <p:cNvSpPr/>
          <p:nvPr/>
        </p:nvSpPr>
        <p:spPr>
          <a:xfrm>
            <a:off x="3229850" y="3605279"/>
            <a:ext cx="296197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특허법원 </a:t>
            </a:r>
            <a:r>
              <a:rPr lang="en-US" altLang="ko-KR" sz="1200" dirty="0"/>
              <a:t>2009. 12. 18.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2008</a:t>
            </a:r>
            <a:r>
              <a:rPr lang="ko-KR" altLang="en-US" sz="1200" dirty="0"/>
              <a:t>허</a:t>
            </a:r>
            <a:r>
              <a:rPr lang="en-US" altLang="ko-KR" sz="1200" dirty="0"/>
              <a:t>13299</a:t>
            </a:r>
            <a:endParaRPr lang="ko-KR" altLang="en-US" sz="1200" dirty="0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17CE0C80-F8DE-4E82-9631-D262D7366DBC}"/>
              </a:ext>
            </a:extLst>
          </p:cNvPr>
          <p:cNvSpPr/>
          <p:nvPr/>
        </p:nvSpPr>
        <p:spPr>
          <a:xfrm>
            <a:off x="181849" y="3880392"/>
            <a:ext cx="6013997" cy="286232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/>
              <a:t>[1] </a:t>
            </a:r>
            <a:r>
              <a:rPr lang="ko-KR" altLang="en-US" sz="1000" dirty="0"/>
              <a:t>명칭이 ‘혈분 사료 </a:t>
            </a:r>
            <a:r>
              <a:rPr lang="ko-KR" altLang="en-US" sz="1000" dirty="0" err="1"/>
              <a:t>제조방법’인</a:t>
            </a:r>
            <a:r>
              <a:rPr lang="ko-KR" altLang="en-US" sz="1000" dirty="0"/>
              <a:t> 확인대상발명은</a:t>
            </a:r>
            <a:r>
              <a:rPr lang="en-US" altLang="ko-KR" sz="1000" dirty="0"/>
              <a:t>, </a:t>
            </a:r>
            <a:r>
              <a:rPr lang="ko-KR" altLang="en-US" sz="1000" dirty="0"/>
              <a:t>명칭이 ‘유기성 폐기물을 순간 </a:t>
            </a:r>
            <a:r>
              <a:rPr lang="ko-KR" altLang="en-US" sz="1000" dirty="0" err="1"/>
              <a:t>고온처리하여</a:t>
            </a:r>
            <a:r>
              <a:rPr lang="ko-KR" altLang="en-US" sz="1000" dirty="0"/>
              <a:t> 사료를 제조하는 </a:t>
            </a:r>
            <a:r>
              <a:rPr lang="ko-KR" altLang="en-US" sz="1000" dirty="0" err="1"/>
              <a:t>방법’인</a:t>
            </a:r>
            <a:r>
              <a:rPr lang="ko-KR" altLang="en-US" sz="1000" dirty="0"/>
              <a:t> 특허발명의 청구항 </a:t>
            </a:r>
            <a:r>
              <a:rPr lang="en-US" altLang="ko-KR" sz="1000" dirty="0"/>
              <a:t>1, 2</a:t>
            </a:r>
            <a:r>
              <a:rPr lang="ko-KR" altLang="en-US" sz="1000" dirty="0"/>
              <a:t>와 그 </a:t>
            </a:r>
            <a:r>
              <a:rPr lang="ko-KR" altLang="en-US" sz="1000" dirty="0" err="1"/>
              <a:t>임펠라의</a:t>
            </a:r>
            <a:r>
              <a:rPr lang="ko-KR" altLang="en-US" sz="1000" dirty="0"/>
              <a:t> 회전속도에서 다소 차이가 있으나</a:t>
            </a:r>
            <a:r>
              <a:rPr lang="en-US" altLang="ko-KR" sz="1000" dirty="0"/>
              <a:t>, </a:t>
            </a:r>
            <a:r>
              <a:rPr lang="ko-KR" altLang="en-US" sz="1000" dirty="0"/>
              <a:t>그 차이에도 불구하고 위 </a:t>
            </a:r>
            <a:r>
              <a:rPr lang="ko-KR" altLang="en-US" sz="1000" dirty="0" err="1"/>
              <a:t>발명들에서</a:t>
            </a:r>
            <a:r>
              <a:rPr lang="ko-KR" altLang="en-US" sz="1000" dirty="0"/>
              <a:t> 과제의 해결원리가 동일하고</a:t>
            </a:r>
            <a:r>
              <a:rPr lang="en-US" altLang="ko-KR" sz="1000" dirty="0"/>
              <a:t>, </a:t>
            </a:r>
            <a:r>
              <a:rPr lang="ko-KR" altLang="en-US" sz="1000" dirty="0"/>
              <a:t>그 회전속도를 치환하더라도 위 청구항 </a:t>
            </a:r>
            <a:r>
              <a:rPr lang="en-US" altLang="ko-KR" sz="1000" dirty="0"/>
              <a:t>1, 2</a:t>
            </a:r>
            <a:r>
              <a:rPr lang="ko-KR" altLang="en-US" sz="1000" dirty="0"/>
              <a:t>에서와 같은 목적을 달성할 수 있고 실질적으로 동일한 작용효과를 나타내며</a:t>
            </a:r>
            <a:r>
              <a:rPr lang="en-US" altLang="ko-KR" sz="1000" dirty="0"/>
              <a:t>, </a:t>
            </a:r>
            <a:r>
              <a:rPr lang="ko-KR" altLang="en-US" sz="1000" dirty="0"/>
              <a:t>그와 같이 치환하는 것이 그 기술분야에서 통상의 지식을 가진 사람이라면 누구나 용이하게 생각해 낼 수 있는 정도로 자명하여</a:t>
            </a:r>
            <a:r>
              <a:rPr lang="en-US" altLang="ko-KR" sz="1000" dirty="0"/>
              <a:t>, </a:t>
            </a:r>
            <a:r>
              <a:rPr lang="ko-KR" altLang="en-US" sz="1000" dirty="0"/>
              <a:t>전체적으로 위 청구항 </a:t>
            </a:r>
            <a:r>
              <a:rPr lang="en-US" altLang="ko-KR" sz="1000" dirty="0"/>
              <a:t>1, 2</a:t>
            </a:r>
            <a:r>
              <a:rPr lang="ko-KR" altLang="en-US" sz="1000" dirty="0"/>
              <a:t>와 기술적 구성이 균등한 범위 내에 있으므로</a:t>
            </a:r>
            <a:r>
              <a:rPr lang="en-US" altLang="ko-KR" sz="1000" dirty="0"/>
              <a:t>, </a:t>
            </a:r>
            <a:r>
              <a:rPr lang="ko-KR" altLang="en-US" sz="1000" dirty="0"/>
              <a:t>특허발명의 권리범위에 속한다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[2] </a:t>
            </a:r>
            <a:r>
              <a:rPr lang="ko-KR" altLang="en-US" sz="1000" dirty="0"/>
              <a:t>물건의 발명 또는 물건을 생산하는 방법의 발명에 대한 특허권자 또는 그 특허권자로부터 허락을 받은 </a:t>
            </a:r>
            <a:r>
              <a:rPr lang="ko-KR" altLang="en-US" sz="1000" dirty="0" err="1"/>
              <a:t>실시권자가</a:t>
            </a:r>
            <a:r>
              <a:rPr lang="ko-KR" altLang="en-US" sz="1000" dirty="0"/>
              <a:t> 우리나라에서 특허물건 또는 특허방법에 의해 생산한 물건을 양도한 경우에는 당해 물건에 관해서는 특허권이 이미 그 목적을 달성하였으므로 소진된다</a:t>
            </a:r>
            <a:r>
              <a:rPr lang="en-US" altLang="ko-KR" sz="1000" dirty="0"/>
              <a:t>. </a:t>
            </a:r>
            <a:r>
              <a:rPr lang="ko-KR" altLang="en-US" sz="1000" dirty="0"/>
              <a:t>그리고 방법의 발명에 대한 특허권자가 우리나라에서 그 방법의 실시에만 사용하는 물건을 양도한 경우에도 양수인 또는 </a:t>
            </a:r>
            <a:r>
              <a:rPr lang="ko-KR" altLang="en-US" sz="1000" dirty="0" err="1"/>
              <a:t>전득자가</a:t>
            </a:r>
            <a:r>
              <a:rPr lang="ko-KR" altLang="en-US" sz="1000" dirty="0"/>
              <a:t> 그 물건을 이용하여 해당 방법발명을 실시하는 것과 관련하여서는 특허권이 소진되며</a:t>
            </a:r>
            <a:r>
              <a:rPr lang="en-US" altLang="ko-KR" sz="1000" dirty="0"/>
              <a:t>, </a:t>
            </a:r>
            <a:r>
              <a:rPr lang="ko-KR" altLang="en-US" sz="1000" dirty="0"/>
              <a:t>위에서 본 특허권 소진의 근거에 비추어 볼 때 </a:t>
            </a:r>
            <a:r>
              <a:rPr lang="ko-KR" altLang="en-US" sz="1000" dirty="0">
                <a:solidFill>
                  <a:srgbClr val="FF0000"/>
                </a:solidFill>
              </a:rPr>
              <a:t>물건의 양도가 계약에 의한 </a:t>
            </a:r>
            <a:r>
              <a:rPr lang="ko-KR" altLang="en-US" sz="1000" dirty="0" err="1">
                <a:solidFill>
                  <a:srgbClr val="FF0000"/>
                </a:solidFill>
              </a:rPr>
              <a:t>경우뿐만</a:t>
            </a:r>
            <a:r>
              <a:rPr lang="ko-KR" altLang="en-US" sz="1000" dirty="0">
                <a:solidFill>
                  <a:srgbClr val="FF0000"/>
                </a:solidFill>
              </a:rPr>
              <a:t> 아니라 경매절차에 의한 경우에도 특별한 사정이 없는 한 특허권 소진의 법리는 적용된다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[3] </a:t>
            </a:r>
            <a:r>
              <a:rPr lang="ko-KR" altLang="en-US" sz="1000" dirty="0"/>
              <a:t>방법의 발명에 대한 특허권이 공유인 경우에 있어서는</a:t>
            </a:r>
            <a:r>
              <a:rPr lang="en-US" altLang="ko-KR" sz="1000" dirty="0"/>
              <a:t>, </a:t>
            </a:r>
            <a:r>
              <a:rPr lang="ko-KR" altLang="en-US" sz="1000" dirty="0"/>
              <a:t>우리나라에서 그 방법의 실시에만 사용되는 물건이 양도되었다고 하더라도</a:t>
            </a:r>
            <a:r>
              <a:rPr lang="en-US" altLang="ko-KR" sz="1000" dirty="0"/>
              <a:t>, </a:t>
            </a:r>
            <a:r>
              <a:rPr lang="ko-KR" altLang="en-US" sz="1000" dirty="0"/>
              <a:t>그 물건이 공유자 중 일부의 소유이고 그 소유자가 아닌 다른 공유자가 그 물건의 양도에 대해서 동의를 한 바가 없다면</a:t>
            </a:r>
            <a:r>
              <a:rPr lang="en-US" altLang="ko-KR" sz="1000" dirty="0"/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양수인 또는 </a:t>
            </a:r>
            <a:r>
              <a:rPr lang="ko-KR" altLang="en-US" sz="1000" dirty="0" err="1">
                <a:solidFill>
                  <a:srgbClr val="FF0000"/>
                </a:solidFill>
              </a:rPr>
              <a:t>전득자가</a:t>
            </a:r>
            <a:r>
              <a:rPr lang="ko-KR" altLang="en-US" sz="1000" dirty="0">
                <a:solidFill>
                  <a:srgbClr val="FF0000"/>
                </a:solidFill>
              </a:rPr>
              <a:t> 그 물건을 이용하여 해당 방법발명을 실시하는 것과 관련하여서 특허권이 소진되지 않는다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AFB9BF30-A99E-4F2D-B627-E58D6382A86D}"/>
              </a:ext>
            </a:extLst>
          </p:cNvPr>
          <p:cNvSpPr/>
          <p:nvPr/>
        </p:nvSpPr>
        <p:spPr>
          <a:xfrm>
            <a:off x="6382489" y="3880392"/>
            <a:ext cx="5452954" cy="163121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/>
              <a:t>[1] </a:t>
            </a:r>
            <a:r>
              <a:rPr lang="ko-KR" altLang="en-US" sz="1000" dirty="0"/>
              <a:t>특허권의 적극적 권리범위 확인심판은 특허발명의 보호범위를 기초로 하여 심판청구인이 확인대상발명에 대하여 특허권의 효력이 미치는가를 확인하는 권리확정을 목적으로 한 것이므로</a:t>
            </a:r>
            <a:r>
              <a:rPr lang="en-US" altLang="ko-KR" sz="1000" dirty="0"/>
              <a:t>, </a:t>
            </a:r>
            <a:r>
              <a:rPr lang="ko-KR" altLang="en-US" sz="1000" dirty="0"/>
              <a:t>설령 확인대상발명의 실시와 관련된 특정한 물건과의 관계에서 특허권이 소진되었다 하더라도 그와 같은 사정은 특허권 침해소송에서 항변으로 주장함은 별론으로 하고 확인대상발명이 특허권의 권리범위에 속한다는 확인을 구하는 것과는 아무런 관련이 없다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[2] </a:t>
            </a:r>
            <a:r>
              <a:rPr lang="ko-KR" altLang="en-US" sz="1000" dirty="0"/>
              <a:t>명칭을 ‘유기성 폐기물을 순간 </a:t>
            </a:r>
            <a:r>
              <a:rPr lang="ko-KR" altLang="en-US" sz="1000" dirty="0" err="1"/>
              <a:t>고온처리하여</a:t>
            </a:r>
            <a:r>
              <a:rPr lang="ko-KR" altLang="en-US" sz="1000" dirty="0"/>
              <a:t> 사료를 제조하는 </a:t>
            </a:r>
            <a:r>
              <a:rPr lang="ko-KR" altLang="en-US" sz="1000" dirty="0" err="1"/>
              <a:t>방법’으로</a:t>
            </a:r>
            <a:r>
              <a:rPr lang="ko-KR" altLang="en-US" sz="1000" dirty="0"/>
              <a:t> 하는 특허발명 특허청구범위 제</a:t>
            </a:r>
            <a:r>
              <a:rPr lang="en-US" altLang="ko-KR" sz="1000" dirty="0"/>
              <a:t>1, 2</a:t>
            </a:r>
            <a:r>
              <a:rPr lang="ko-KR" altLang="en-US" sz="1000" dirty="0"/>
              <a:t>항에 대한 특허권의 공유자 중 </a:t>
            </a:r>
            <a:r>
              <a:rPr lang="en-US" altLang="ko-KR" sz="1000" dirty="0"/>
              <a:t>1</a:t>
            </a:r>
            <a:r>
              <a:rPr lang="ko-KR" altLang="en-US" sz="1000" dirty="0"/>
              <a:t>인의 소유였던 사료제조설비가 甲에게 양도된 사안에서</a:t>
            </a:r>
            <a:r>
              <a:rPr lang="en-US" altLang="ko-KR" sz="1000" dirty="0"/>
              <a:t>, </a:t>
            </a:r>
            <a:r>
              <a:rPr lang="ko-KR" altLang="en-US" sz="1000" dirty="0"/>
              <a:t>甲이 위 설비를 이용하여 확인대상발명을 실시하는 것과 관련하여 확인대상발명이 그 권리범위에 속한다는 확인을 구하는 것과 위 특허권이 소진되었는지 여부는 아무런 관련이 없다</a:t>
            </a:r>
            <a:r>
              <a:rPr lang="en-US" altLang="ko-KR" sz="1000" dirty="0"/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A9D1F465-23A4-453F-8707-F6ED25613985}"/>
              </a:ext>
            </a:extLst>
          </p:cNvPr>
          <p:cNvCxnSpPr>
            <a:cxnSpLocks/>
            <a:stCxn id="73" idx="0"/>
            <a:endCxn id="64" idx="2"/>
          </p:cNvCxnSpPr>
          <p:nvPr/>
        </p:nvCxnSpPr>
        <p:spPr>
          <a:xfrm flipV="1">
            <a:off x="3929161" y="2510754"/>
            <a:ext cx="0" cy="161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BBAA78F2-A121-40B1-89AC-693451FBD316}"/>
              </a:ext>
            </a:extLst>
          </p:cNvPr>
          <p:cNvCxnSpPr>
            <a:stCxn id="113" idx="1"/>
            <a:endCxn id="126" idx="3"/>
          </p:cNvCxnSpPr>
          <p:nvPr/>
        </p:nvCxnSpPr>
        <p:spPr>
          <a:xfrm rot="10800000" flipV="1">
            <a:off x="6191821" y="3274025"/>
            <a:ext cx="162709" cy="4697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연결선: 꺾임 137">
            <a:extLst>
              <a:ext uri="{FF2B5EF4-FFF2-40B4-BE49-F238E27FC236}">
                <a16:creationId xmlns:a16="http://schemas.microsoft.com/office/drawing/2014/main" id="{78414585-310E-48B7-A734-DE2A3366F2FB}"/>
              </a:ext>
            </a:extLst>
          </p:cNvPr>
          <p:cNvCxnSpPr>
            <a:stCxn id="119" idx="2"/>
            <a:endCxn id="125" idx="3"/>
          </p:cNvCxnSpPr>
          <p:nvPr/>
        </p:nvCxnSpPr>
        <p:spPr>
          <a:xfrm rot="5400000">
            <a:off x="9449718" y="2989603"/>
            <a:ext cx="237036" cy="126754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말풍선: 모서리가 둥근 사각형 138">
            <a:extLst>
              <a:ext uri="{FF2B5EF4-FFF2-40B4-BE49-F238E27FC236}">
                <a16:creationId xmlns:a16="http://schemas.microsoft.com/office/drawing/2014/main" id="{E77BF664-46A4-4416-A23E-F16BC7FF9E39}"/>
              </a:ext>
            </a:extLst>
          </p:cNvPr>
          <p:cNvSpPr/>
          <p:nvPr/>
        </p:nvSpPr>
        <p:spPr>
          <a:xfrm>
            <a:off x="6557197" y="5670387"/>
            <a:ext cx="5452954" cy="332924"/>
          </a:xfrm>
          <a:prstGeom prst="wedgeRoundRectCallout">
            <a:avLst>
              <a:gd name="adj1" fmla="val -57903"/>
              <a:gd name="adj2" fmla="val -3770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1) </a:t>
            </a:r>
            <a:r>
              <a:rPr lang="ko-KR" altLang="en-US" sz="1200" dirty="0">
                <a:solidFill>
                  <a:schemeClr val="tx1"/>
                </a:solidFill>
              </a:rPr>
              <a:t>양수자 및 </a:t>
            </a:r>
            <a:r>
              <a:rPr lang="ko-KR" altLang="en-US" sz="1200" dirty="0" err="1">
                <a:solidFill>
                  <a:schemeClr val="tx1"/>
                </a:solidFill>
              </a:rPr>
              <a:t>전득자의</a:t>
            </a:r>
            <a:r>
              <a:rPr lang="ko-KR" altLang="en-US" sz="1200" dirty="0">
                <a:solidFill>
                  <a:schemeClr val="tx1"/>
                </a:solidFill>
              </a:rPr>
              <a:t> 보호</a:t>
            </a:r>
            <a:r>
              <a:rPr lang="en-US" altLang="ko-KR" sz="1200" dirty="0">
                <a:solidFill>
                  <a:schemeClr val="tx1"/>
                </a:solidFill>
              </a:rPr>
              <a:t>, 2), </a:t>
            </a:r>
            <a:r>
              <a:rPr lang="ko-KR" altLang="en-US" sz="1200" dirty="0">
                <a:solidFill>
                  <a:schemeClr val="tx1"/>
                </a:solidFill>
              </a:rPr>
              <a:t>유통 과정의 활성화</a:t>
            </a:r>
            <a:r>
              <a:rPr lang="en-US" altLang="ko-KR" sz="1200" dirty="0">
                <a:solidFill>
                  <a:schemeClr val="tx1"/>
                </a:solidFill>
              </a:rPr>
              <a:t>, 3) </a:t>
            </a:r>
            <a:r>
              <a:rPr lang="ko-KR" altLang="en-US" sz="1200" dirty="0">
                <a:solidFill>
                  <a:schemeClr val="tx1"/>
                </a:solidFill>
              </a:rPr>
              <a:t>특허권자의 이중 이득 불필요</a:t>
            </a:r>
          </a:p>
        </p:txBody>
      </p:sp>
      <p:sp>
        <p:nvSpPr>
          <p:cNvPr id="140" name="말풍선: 모서리가 둥근 사각형 139">
            <a:extLst>
              <a:ext uri="{FF2B5EF4-FFF2-40B4-BE49-F238E27FC236}">
                <a16:creationId xmlns:a16="http://schemas.microsoft.com/office/drawing/2014/main" id="{9CD8E41F-E746-4BFE-A002-2C21002A580A}"/>
              </a:ext>
            </a:extLst>
          </p:cNvPr>
          <p:cNvSpPr/>
          <p:nvPr/>
        </p:nvSpPr>
        <p:spPr>
          <a:xfrm>
            <a:off x="6557197" y="6097880"/>
            <a:ext cx="5452954" cy="475448"/>
          </a:xfrm>
          <a:prstGeom prst="wedgeRoundRectCallout">
            <a:avLst>
              <a:gd name="adj1" fmla="val -57903"/>
              <a:gd name="adj2" fmla="val -3770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제조설비의 양도가 제</a:t>
            </a:r>
            <a:r>
              <a:rPr lang="en-US" altLang="ko-KR" sz="1200" dirty="0">
                <a:solidFill>
                  <a:schemeClr val="tx1"/>
                </a:solidFill>
              </a:rPr>
              <a:t>99</a:t>
            </a:r>
            <a:r>
              <a:rPr lang="ko-KR" altLang="en-US" sz="1200" dirty="0">
                <a:solidFill>
                  <a:schemeClr val="tx1"/>
                </a:solidFill>
              </a:rPr>
              <a:t>조제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항에 의한 방법발명의 실시가 아닐 뿐만 아니라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만약 소진된다면 제</a:t>
            </a:r>
            <a:r>
              <a:rPr lang="en-US" altLang="ko-KR" sz="1200" dirty="0">
                <a:solidFill>
                  <a:schemeClr val="tx1"/>
                </a:solidFill>
              </a:rPr>
              <a:t>99</a:t>
            </a:r>
            <a:r>
              <a:rPr lang="ko-KR" altLang="en-US" sz="1200" dirty="0">
                <a:solidFill>
                  <a:schemeClr val="tx1"/>
                </a:solidFill>
              </a:rPr>
              <a:t>조제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r>
              <a:rPr lang="ko-KR" altLang="en-US" sz="1200" dirty="0">
                <a:solidFill>
                  <a:schemeClr val="tx1"/>
                </a:solidFill>
              </a:rPr>
              <a:t>항을 무력화하는 결과를 초래함</a:t>
            </a:r>
          </a:p>
        </p:txBody>
      </p:sp>
    </p:spTree>
    <p:extLst>
      <p:ext uri="{BB962C8B-B14F-4D97-AF65-F5344CB8AC3E}">
        <p14:creationId xmlns:p14="http://schemas.microsoft.com/office/powerpoint/2010/main" val="733380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실시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침해</a:t>
            </a:r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214984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「실시행위의 독립성」이란 각각의 </a:t>
            </a:r>
            <a:r>
              <a:rPr lang="ko-KR" altLang="en-US" sz="1400" dirty="0">
                <a:highlight>
                  <a:srgbClr val="FFFF00"/>
                </a:highlight>
              </a:rPr>
              <a:t>실시행위는 서로 독립적이므로 침해 여부 역시 각각 독립적으로 판단하여야 한다는 것</a:t>
            </a:r>
            <a:r>
              <a:rPr lang="ko-KR" altLang="en-US" sz="1400" dirty="0">
                <a:solidFill>
                  <a:schemeClr val="tx2"/>
                </a:solidFill>
              </a:rPr>
              <a:t>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 err="1">
                <a:solidFill>
                  <a:schemeClr val="tx2"/>
                </a:solidFill>
              </a:rPr>
              <a:t>호에서</a:t>
            </a:r>
            <a:r>
              <a:rPr lang="ko-KR" altLang="en-US" sz="1400" dirty="0">
                <a:solidFill>
                  <a:schemeClr val="tx2"/>
                </a:solidFill>
              </a:rPr>
              <a:t> 규정한 각각의 실시행위는 특허권의 효력상 독립적이며 어느 하나의 실시행위는 다른 실시행위에 영향을 미치지 아니하기 때문에 한 단계의 실시행위가 적법하다고 하여 다른 단계의 행위까지도 적법하게 되는 것은 아니다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예컨대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甲이 위법하게 특허발명을 생산한 경우에는 그것을 판매하지 않더라도 특허권의 침해가 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乙이 침해자인 甲으로부터 특허발명을 선의로 적법하게 구입하였다고 하더라도 乙이 특허발명을 사용 또는 판매하는 경우에는 독립적인 별개의 실시행위에 해당되므로 특허권의 효력은 여전히 거기에까지 미치게 되어 별개의 특허권의 침해가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65125" y="2481789"/>
            <a:ext cx="800100" cy="7905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실시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5125" y="4783674"/>
            <a:ext cx="800100" cy="79057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침해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성립요건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1440391" y="2340512"/>
            <a:ext cx="800100" cy="5365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물건발명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440391" y="3043253"/>
            <a:ext cx="800100" cy="2361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방법발명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440391" y="3430334"/>
            <a:ext cx="800100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제법발명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440391" y="4493162"/>
            <a:ext cx="1429810" cy="2905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 존속 중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440391" y="4879452"/>
            <a:ext cx="1429810" cy="299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권원 없는 자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440391" y="5283467"/>
            <a:ext cx="1429810" cy="2896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업으로서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440391" y="5681397"/>
            <a:ext cx="1429810" cy="5549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보호범위에 속하는 발명 실시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240492" y="2352980"/>
            <a:ext cx="346604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그 물건을 </a:t>
            </a:r>
            <a:r>
              <a:rPr lang="ko-KR" altLang="en-US" sz="1000" dirty="0" err="1"/>
              <a:t>생산ㆍ사용ㆍ양도ㆍ대여ㆍ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000" dirty="0"/>
              <a:t> 또는 수입하거나 그 물건의 양도 또는 대여의 청약</a:t>
            </a:r>
            <a:r>
              <a:rPr lang="en-US" altLang="ko-KR" sz="1000" dirty="0"/>
              <a:t>(</a:t>
            </a:r>
            <a:r>
              <a:rPr lang="ko-KR" altLang="en-US" sz="1000" dirty="0"/>
              <a:t>양도 또는 대여를 위한 전시를 포함한다</a:t>
            </a:r>
            <a:r>
              <a:rPr lang="en-US" altLang="ko-KR" sz="1000" dirty="0"/>
              <a:t>. </a:t>
            </a:r>
            <a:r>
              <a:rPr lang="ko-KR" altLang="en-US" sz="1000" dirty="0"/>
              <a:t>이하 같다</a:t>
            </a:r>
            <a:r>
              <a:rPr lang="en-US" altLang="ko-KR" sz="1000" dirty="0"/>
              <a:t>)</a:t>
            </a:r>
            <a:r>
              <a:rPr lang="ko-KR" altLang="en-US" sz="1000" dirty="0"/>
              <a:t>을 하는 행위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240491" y="3043253"/>
            <a:ext cx="40671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그 방법을 사용하는 행위</a:t>
            </a:r>
            <a:r>
              <a:rPr lang="ko-KR" altLang="en-US" sz="1000" dirty="0">
                <a:solidFill>
                  <a:srgbClr val="FF0000"/>
                </a:solidFill>
              </a:rPr>
              <a:t> 또는 그 사용을 청약하는 행위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2240492" y="3430334"/>
            <a:ext cx="360997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그 방법을 사용하는 행위</a:t>
            </a:r>
            <a:r>
              <a:rPr lang="ko-KR" altLang="en-US" sz="1000" dirty="0">
                <a:solidFill>
                  <a:srgbClr val="FF0000"/>
                </a:solidFill>
              </a:rPr>
              <a:t> 또는 그 사용을 청약하는 행위</a:t>
            </a:r>
            <a:r>
              <a:rPr lang="ko-KR" altLang="en-US" sz="1000" dirty="0"/>
              <a:t> 외에 그 방법에 의하여 생산한 물건을 </a:t>
            </a:r>
            <a:r>
              <a:rPr lang="ko-KR" altLang="en-US" sz="1000" dirty="0" err="1"/>
              <a:t>사용ㆍ양도ㆍ대여ㆍ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000" dirty="0"/>
              <a:t> 또는 수입하거나 그 물건의 양도 또는 대여의 청약을 하는 행위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2878651" y="4877275"/>
            <a:ext cx="308186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- </a:t>
            </a:r>
            <a:r>
              <a:rPr lang="ko-KR" altLang="en-US" sz="1000" dirty="0"/>
              <a:t>정당한 권원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실시권</a:t>
            </a:r>
            <a:r>
              <a:rPr lang="en-US" altLang="ko-KR" sz="1000" dirty="0"/>
              <a:t>, </a:t>
            </a:r>
            <a:r>
              <a:rPr lang="ko-KR" altLang="en-US" sz="1000" dirty="0"/>
              <a:t>권리소진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2878651" y="5283467"/>
            <a:ext cx="308186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- </a:t>
            </a:r>
            <a:r>
              <a:rPr lang="ko-KR" altLang="en-US" sz="1000" dirty="0"/>
              <a:t>개인적</a:t>
            </a:r>
            <a:r>
              <a:rPr lang="en-US" altLang="ko-KR" sz="1000" dirty="0"/>
              <a:t>, </a:t>
            </a:r>
            <a:r>
              <a:rPr lang="ko-KR" altLang="en-US" sz="1000" dirty="0"/>
              <a:t>가정적 실시를 제외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878651" y="5682347"/>
            <a:ext cx="316738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63" indent="-93663"/>
            <a:r>
              <a:rPr lang="en-US" altLang="ko-KR" sz="1000" dirty="0"/>
              <a:t>- </a:t>
            </a:r>
            <a:r>
              <a:rPr lang="ko-KR" altLang="en-US" sz="1000" dirty="0"/>
              <a:t>특허발명 실시 ○ </a:t>
            </a:r>
            <a:r>
              <a:rPr lang="en-US" altLang="ko-KR" sz="1000" dirty="0"/>
              <a:t>&amp; </a:t>
            </a:r>
            <a:r>
              <a:rPr lang="ko-KR" altLang="en-US" sz="1000" dirty="0"/>
              <a:t>법률 제한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96, 81</a:t>
            </a:r>
            <a:r>
              <a:rPr lang="ko-KR" altLang="en-US" sz="1000" dirty="0"/>
              <a:t>의</a:t>
            </a:r>
            <a:r>
              <a:rPr lang="en-US" altLang="ko-KR" sz="1000" dirty="0"/>
              <a:t>3</a:t>
            </a:r>
            <a:r>
              <a:rPr lang="ko-KR" altLang="en-US" sz="1000" dirty="0"/>
              <a:t>④</a:t>
            </a:r>
            <a:r>
              <a:rPr lang="en-US" altLang="ko-KR" sz="1000" dirty="0"/>
              <a:t>, 181) </a:t>
            </a:r>
            <a:r>
              <a:rPr lang="ko-KR" altLang="en-US" sz="1000" dirty="0"/>
              <a:t>에 해당하지 않을 것</a:t>
            </a:r>
            <a:endParaRPr lang="en-US" altLang="ko-KR" sz="1000" dirty="0"/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특허발명 실시 </a:t>
            </a:r>
            <a:r>
              <a:rPr lang="en-US" altLang="ko-KR" sz="1000" dirty="0"/>
              <a:t>× &amp; </a:t>
            </a:r>
            <a:r>
              <a:rPr lang="ko-KR" altLang="en-US" sz="1000" dirty="0"/>
              <a:t>법률 확장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127)</a:t>
            </a:r>
            <a:r>
              <a:rPr lang="ko-KR" altLang="en-US" sz="1000" dirty="0"/>
              <a:t>에 해당할 것</a:t>
            </a:r>
          </a:p>
        </p:txBody>
      </p:sp>
      <p:cxnSp>
        <p:nvCxnSpPr>
          <p:cNvPr id="8" name="꺾인 연결선 7"/>
          <p:cNvCxnSpPr>
            <a:stCxn id="20" idx="3"/>
            <a:endCxn id="22" idx="1"/>
          </p:cNvCxnSpPr>
          <p:nvPr/>
        </p:nvCxnSpPr>
        <p:spPr>
          <a:xfrm flipV="1">
            <a:off x="1165225" y="2608794"/>
            <a:ext cx="275166" cy="2682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20" idx="3"/>
            <a:endCxn id="24" idx="1"/>
          </p:cNvCxnSpPr>
          <p:nvPr/>
        </p:nvCxnSpPr>
        <p:spPr>
          <a:xfrm>
            <a:off x="1165225" y="2877077"/>
            <a:ext cx="275166" cy="8302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20" idx="3"/>
            <a:endCxn id="23" idx="1"/>
          </p:cNvCxnSpPr>
          <p:nvPr/>
        </p:nvCxnSpPr>
        <p:spPr>
          <a:xfrm>
            <a:off x="1165225" y="2877077"/>
            <a:ext cx="275166" cy="2842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21" idx="3"/>
            <a:endCxn id="25" idx="1"/>
          </p:cNvCxnSpPr>
          <p:nvPr/>
        </p:nvCxnSpPr>
        <p:spPr>
          <a:xfrm flipV="1">
            <a:off x="1165225" y="4638418"/>
            <a:ext cx="275166" cy="5405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21" idx="3"/>
            <a:endCxn id="35" idx="1"/>
          </p:cNvCxnSpPr>
          <p:nvPr/>
        </p:nvCxnSpPr>
        <p:spPr>
          <a:xfrm>
            <a:off x="1165225" y="5178962"/>
            <a:ext cx="275166" cy="7799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21" idx="3"/>
            <a:endCxn id="26" idx="1"/>
          </p:cNvCxnSpPr>
          <p:nvPr/>
        </p:nvCxnSpPr>
        <p:spPr>
          <a:xfrm flipV="1">
            <a:off x="1165225" y="5029207"/>
            <a:ext cx="275166" cy="1497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21" idx="3"/>
            <a:endCxn id="30" idx="1"/>
          </p:cNvCxnSpPr>
          <p:nvPr/>
        </p:nvCxnSpPr>
        <p:spPr>
          <a:xfrm>
            <a:off x="1165225" y="5178962"/>
            <a:ext cx="275166" cy="2493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H="1" flipV="1">
            <a:off x="6066766" y="2481789"/>
            <a:ext cx="1" cy="409998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643957"/>
              </p:ext>
            </p:extLst>
          </p:nvPr>
        </p:nvGraphicFramePr>
        <p:xfrm>
          <a:off x="6231466" y="4326467"/>
          <a:ext cx="5655734" cy="233399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93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88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주체</a:t>
                      </a:r>
                      <a:endParaRPr lang="ko-KR" altLang="en-US" sz="105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행 위</a:t>
                      </a:r>
                      <a:endParaRPr lang="ko-KR" altLang="en-US" sz="105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실시여부</a:t>
                      </a:r>
                      <a:endParaRPr lang="ko-KR" altLang="en-US" sz="105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침해여부</a:t>
                      </a:r>
                      <a:endParaRPr lang="ko-KR" altLang="en-US" sz="105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5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乙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생산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판매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실시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실시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침해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침해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5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丙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구입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사용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</a:rPr>
                        <a:t>비실시</a:t>
                      </a:r>
                      <a:endParaRPr lang="ko-KR" altLang="en-US" sz="105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실시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</a:rPr>
                        <a:t>비침해</a:t>
                      </a:r>
                      <a:endParaRPr lang="ko-KR" altLang="en-US" sz="105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</a:rPr>
                        <a:t>비침해</a:t>
                      </a:r>
                      <a:r>
                        <a:rPr lang="en-US" altLang="ko-KR" sz="1050" dirty="0">
                          <a:effectLst/>
                        </a:rPr>
                        <a:t>(∵</a:t>
                      </a:r>
                      <a:r>
                        <a:rPr lang="ko-KR" altLang="en-US" sz="1050" dirty="0">
                          <a:effectLst/>
                        </a:rPr>
                        <a:t>업이 아님</a:t>
                      </a:r>
                      <a:r>
                        <a:rPr lang="en-US" altLang="ko-KR" sz="1050" dirty="0">
                          <a:effectLst/>
                        </a:rPr>
                        <a:t>)</a:t>
                      </a:r>
                      <a:endParaRPr lang="en-US" altLang="ko-KR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8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丁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사용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실시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</a:rPr>
                        <a:t>비침해</a:t>
                      </a:r>
                      <a:r>
                        <a:rPr lang="en-US" altLang="ko-KR" sz="1050" dirty="0">
                          <a:effectLst/>
                        </a:rPr>
                        <a:t>(∵</a:t>
                      </a:r>
                      <a:r>
                        <a:rPr lang="ko-KR" altLang="en-US" sz="1050" dirty="0">
                          <a:effectLst/>
                        </a:rPr>
                        <a:t>권리소진</a:t>
                      </a:r>
                      <a:r>
                        <a:rPr lang="en-US" altLang="ko-KR" sz="1050" dirty="0">
                          <a:effectLst/>
                        </a:rPr>
                        <a:t>)</a:t>
                      </a:r>
                      <a:endParaRPr lang="en-US" altLang="ko-KR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5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戊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사용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생산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실시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실시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</a:rPr>
                        <a:t>비침해</a:t>
                      </a:r>
                      <a:r>
                        <a:rPr lang="en-US" altLang="ko-KR" sz="1050" dirty="0">
                          <a:effectLst/>
                        </a:rPr>
                        <a:t>(∵</a:t>
                      </a:r>
                      <a:r>
                        <a:rPr lang="ko-KR" altLang="en-US" sz="1050" dirty="0">
                          <a:effectLst/>
                        </a:rPr>
                        <a:t>권리소진</a:t>
                      </a:r>
                      <a:r>
                        <a:rPr lang="en-US" altLang="ko-KR" sz="1050" dirty="0">
                          <a:effectLst/>
                        </a:rPr>
                        <a:t>)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침해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9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己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 </a:t>
                      </a:r>
                      <a:r>
                        <a:rPr lang="ko-KR" altLang="en-US" sz="1050" dirty="0">
                          <a:effectLst/>
                        </a:rPr>
                        <a:t>생산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비실시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침해</a:t>
                      </a:r>
                      <a:r>
                        <a:rPr lang="en-US" altLang="ko-KR" sz="1050" dirty="0">
                          <a:effectLst/>
                        </a:rPr>
                        <a:t>(∵</a:t>
                      </a:r>
                      <a:r>
                        <a:rPr lang="ko-KR" altLang="en-US" sz="1050" dirty="0">
                          <a:effectLst/>
                        </a:rPr>
                        <a:t>간접침해</a:t>
                      </a:r>
                      <a:r>
                        <a:rPr lang="en-US" altLang="ko-KR" sz="1050" dirty="0">
                          <a:effectLst/>
                        </a:rPr>
                        <a:t>)</a:t>
                      </a:r>
                      <a:endParaRPr lang="en-US" altLang="ko-KR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7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비고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 gridSpan="3">
                  <a:txBody>
                    <a:bodyPr/>
                    <a:lstStyle/>
                    <a:p>
                      <a:pPr marL="35560" marR="3556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각각의 </a:t>
                      </a:r>
                      <a:r>
                        <a:rPr lang="ko-KR" altLang="en-US" sz="1050" dirty="0" err="1">
                          <a:effectLst/>
                        </a:rPr>
                        <a:t>실시행위별로</a:t>
                      </a:r>
                      <a:r>
                        <a:rPr lang="ko-KR" altLang="en-US" sz="1050" dirty="0">
                          <a:effectLst/>
                        </a:rPr>
                        <a:t> 침해인지 여부를 판단</a:t>
                      </a:r>
                      <a:r>
                        <a:rPr lang="en-US" altLang="ko-KR" sz="1050" dirty="0">
                          <a:effectLst/>
                        </a:rPr>
                        <a:t>(</a:t>
                      </a:r>
                      <a:r>
                        <a:rPr lang="ko-KR" altLang="en-US" sz="1050" dirty="0">
                          <a:effectLst/>
                        </a:rPr>
                        <a:t>실시행위의 독립성</a:t>
                      </a:r>
                      <a:r>
                        <a:rPr lang="en-US" altLang="ko-KR" sz="1050" dirty="0">
                          <a:effectLst/>
                        </a:rPr>
                        <a:t>)</a:t>
                      </a:r>
                      <a:endParaRPr lang="en-US" altLang="ko-KR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6" name="직사각형 65"/>
          <p:cNvSpPr/>
          <p:nvPr/>
        </p:nvSpPr>
        <p:spPr>
          <a:xfrm>
            <a:off x="7374499" y="2363251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甲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7374499" y="3069842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丁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7374499" y="3772657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戊</a:t>
            </a:r>
          </a:p>
        </p:txBody>
      </p:sp>
      <p:cxnSp>
        <p:nvCxnSpPr>
          <p:cNvPr id="70" name="직선 화살표 연결선 69"/>
          <p:cNvCxnSpPr>
            <a:stCxn id="66" idx="2"/>
            <a:endCxn id="67" idx="0"/>
          </p:cNvCxnSpPr>
          <p:nvPr/>
        </p:nvCxnSpPr>
        <p:spPr>
          <a:xfrm>
            <a:off x="7564999" y="2712864"/>
            <a:ext cx="0" cy="35697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67" idx="2"/>
            <a:endCxn id="68" idx="0"/>
          </p:cNvCxnSpPr>
          <p:nvPr/>
        </p:nvCxnSpPr>
        <p:spPr>
          <a:xfrm>
            <a:off x="7564999" y="3419455"/>
            <a:ext cx="0" cy="35320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7755498" y="2363251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생산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7755498" y="3069229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7755498" y="3772656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사용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생산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6900366" y="3423044"/>
            <a:ext cx="664634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6900366" y="2720229"/>
            <a:ext cx="664634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9575814" y="2363251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9575814" y="3069842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丙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9575814" y="3772657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己</a:t>
            </a:r>
          </a:p>
        </p:txBody>
      </p:sp>
      <p:cxnSp>
        <p:nvCxnSpPr>
          <p:cNvPr id="91" name="직선 화살표 연결선 90"/>
          <p:cNvCxnSpPr>
            <a:stCxn id="88" idx="2"/>
            <a:endCxn id="89" idx="0"/>
          </p:cNvCxnSpPr>
          <p:nvPr/>
        </p:nvCxnSpPr>
        <p:spPr>
          <a:xfrm>
            <a:off x="9766314" y="2712864"/>
            <a:ext cx="0" cy="35697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9956813" y="2363251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생산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9956813" y="3069229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tx1"/>
                </a:solidFill>
              </a:rPr>
              <a:t>구입후</a:t>
            </a:r>
            <a:r>
              <a:rPr lang="ko-KR" altLang="en-US" sz="1200" dirty="0">
                <a:solidFill>
                  <a:schemeClr val="tx1"/>
                </a:solidFill>
              </a:rPr>
              <a:t> 집에서 </a:t>
            </a:r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9956813" y="3772656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생산에만 사용하는 </a:t>
            </a:r>
            <a:r>
              <a:rPr lang="en-US" altLang="ko-KR" sz="1200" dirty="0">
                <a:solidFill>
                  <a:schemeClr val="tx1"/>
                </a:solidFill>
              </a:rPr>
              <a:t>b </a:t>
            </a:r>
            <a:r>
              <a:rPr lang="ko-KR" altLang="en-US" sz="1200" dirty="0">
                <a:solidFill>
                  <a:schemeClr val="tx1"/>
                </a:solidFill>
              </a:rPr>
              <a:t>생산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9101681" y="2720229"/>
            <a:ext cx="664634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98" name="모서리가 둥근 사각형 설명선 97"/>
          <p:cNvSpPr/>
          <p:nvPr/>
        </p:nvSpPr>
        <p:spPr>
          <a:xfrm>
            <a:off x="6155267" y="2363251"/>
            <a:ext cx="973665" cy="266728"/>
          </a:xfrm>
          <a:prstGeom prst="wedgeRoundRectCallout">
            <a:avLst>
              <a:gd name="adj1" fmla="val 71341"/>
              <a:gd name="adj2" fmla="val 5363"/>
              <a:gd name="adj3" fmla="val 16667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특허권자</a:t>
            </a:r>
            <a:endParaRPr lang="ko-KR" altLang="en-US" sz="1400" dirty="0"/>
          </a:p>
        </p:txBody>
      </p:sp>
      <p:sp>
        <p:nvSpPr>
          <p:cNvPr id="99" name="모서리가 둥근 사각형 설명선 98"/>
          <p:cNvSpPr/>
          <p:nvPr/>
        </p:nvSpPr>
        <p:spPr>
          <a:xfrm>
            <a:off x="10164233" y="2097574"/>
            <a:ext cx="1646767" cy="266728"/>
          </a:xfrm>
          <a:prstGeom prst="wedgeRoundRectCallout">
            <a:avLst>
              <a:gd name="adj1" fmla="val -59957"/>
              <a:gd name="adj2" fmla="val 56152"/>
              <a:gd name="adj3" fmla="val 16667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정당한 </a:t>
            </a:r>
            <a:r>
              <a:rPr lang="ko-KR" altLang="en-US" sz="1400" dirty="0" err="1"/>
              <a:t>권원</a:t>
            </a:r>
            <a:r>
              <a:rPr lang="ko-KR" altLang="en-US" sz="1400" dirty="0"/>
              <a:t> 없는 자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258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실시행위의 독립성이 적용되는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695950" y="3601175"/>
            <a:ext cx="1343522" cy="8356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0533" name="AutoShape 5"/>
          <p:cNvSpPr>
            <a:spLocks noChangeArrowheads="1"/>
          </p:cNvSpPr>
          <p:nvPr/>
        </p:nvSpPr>
        <p:spPr bwMode="auto">
          <a:xfrm>
            <a:off x="2594471" y="2156066"/>
            <a:ext cx="706967" cy="397878"/>
          </a:xfrm>
          <a:prstGeom prst="roundRect">
            <a:avLst>
              <a:gd name="adj" fmla="val 49614"/>
            </a:avLst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甲</a:t>
            </a:r>
          </a:p>
        </p:txBody>
      </p:sp>
      <p:sp>
        <p:nvSpPr>
          <p:cNvPr id="2070534" name="Text Box 6"/>
          <p:cNvSpPr txBox="1">
            <a:spLocks noChangeArrowheads="1"/>
          </p:cNvSpPr>
          <p:nvPr/>
        </p:nvSpPr>
        <p:spPr bwMode="auto">
          <a:xfrm>
            <a:off x="2177488" y="1837079"/>
            <a:ext cx="1540933" cy="299943"/>
          </a:xfrm>
          <a:prstGeom prst="rect">
            <a:avLst/>
          </a:prstGeom>
          <a:noFill/>
          <a:ln w="38100" cmpd="dbl" algn="ctr">
            <a:noFill/>
            <a:miter lim="800000"/>
            <a:headEnd/>
            <a:tailEnd/>
          </a:ln>
          <a:effectLst/>
        </p:spPr>
        <p:txBody>
          <a:bodyPr lIns="90000" tIns="46800" rIns="90000" bIns="46800" anchor="ctr" anchorCtr="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dirty="0" err="1">
                <a:solidFill>
                  <a:srgbClr val="4D4D4D"/>
                </a:solidFill>
                <a:latin typeface="+mn-ea"/>
              </a:rPr>
              <a:t>특허권자</a:t>
            </a:r>
            <a:endParaRPr lang="ko-KR" altLang="en-US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070535" name="AutoShape 7"/>
          <p:cNvSpPr>
            <a:spLocks noChangeArrowheads="1"/>
          </p:cNvSpPr>
          <p:nvPr/>
        </p:nvSpPr>
        <p:spPr bwMode="auto">
          <a:xfrm>
            <a:off x="5765238" y="2156066"/>
            <a:ext cx="706967" cy="397878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乙</a:t>
            </a:r>
          </a:p>
        </p:txBody>
      </p:sp>
      <p:sp>
        <p:nvSpPr>
          <p:cNvPr id="2070536" name="Text Box 8"/>
          <p:cNvSpPr txBox="1">
            <a:spLocks noChangeArrowheads="1"/>
          </p:cNvSpPr>
          <p:nvPr/>
        </p:nvSpPr>
        <p:spPr bwMode="auto">
          <a:xfrm>
            <a:off x="5075205" y="1863231"/>
            <a:ext cx="2089151" cy="299943"/>
          </a:xfrm>
          <a:prstGeom prst="rect">
            <a:avLst/>
          </a:prstGeom>
          <a:noFill/>
          <a:ln w="38100" cmpd="dbl" algn="ctr">
            <a:noFill/>
            <a:miter lim="800000"/>
            <a:headEnd/>
            <a:tailEnd/>
          </a:ln>
          <a:effectLst/>
        </p:spPr>
        <p:txBody>
          <a:bodyPr lIns="90000" tIns="46800" rIns="90000" bIns="46800" anchor="ctr" anchorCtr="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400">
                <a:solidFill>
                  <a:srgbClr val="4D4D4D"/>
                </a:solidFill>
                <a:latin typeface="+mn-ea"/>
              </a:rPr>
              <a:t>SET MAKER</a:t>
            </a:r>
          </a:p>
        </p:txBody>
      </p:sp>
      <p:sp>
        <p:nvSpPr>
          <p:cNvPr id="2070537" name="AutoShape 9"/>
          <p:cNvSpPr>
            <a:spLocks noChangeArrowheads="1"/>
          </p:cNvSpPr>
          <p:nvPr/>
        </p:nvSpPr>
        <p:spPr bwMode="auto">
          <a:xfrm>
            <a:off x="8908489" y="2156066"/>
            <a:ext cx="706967" cy="397878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丙</a:t>
            </a:r>
          </a:p>
        </p:txBody>
      </p:sp>
      <p:sp>
        <p:nvSpPr>
          <p:cNvPr id="2070538" name="Text Box 10"/>
          <p:cNvSpPr txBox="1">
            <a:spLocks noChangeArrowheads="1"/>
          </p:cNvSpPr>
          <p:nvPr/>
        </p:nvSpPr>
        <p:spPr bwMode="auto">
          <a:xfrm>
            <a:off x="8491504" y="1854014"/>
            <a:ext cx="1540933" cy="299943"/>
          </a:xfrm>
          <a:prstGeom prst="rect">
            <a:avLst/>
          </a:prstGeom>
          <a:noFill/>
          <a:ln w="38100" cmpd="dbl" algn="ctr">
            <a:noFill/>
            <a:miter lim="800000"/>
            <a:headEnd/>
            <a:tailEnd/>
          </a:ln>
          <a:effectLst/>
        </p:spPr>
        <p:txBody>
          <a:bodyPr lIns="90000" tIns="46800" rIns="90000" bIns="46800" anchor="ctr" anchorCtr="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dirty="0">
                <a:solidFill>
                  <a:srgbClr val="4D4D4D"/>
                </a:solidFill>
                <a:latin typeface="+mn-ea"/>
              </a:rPr>
              <a:t>납품업자</a:t>
            </a:r>
          </a:p>
        </p:txBody>
      </p:sp>
      <p:cxnSp>
        <p:nvCxnSpPr>
          <p:cNvPr id="2070546" name="AutoShape 18"/>
          <p:cNvCxnSpPr>
            <a:cxnSpLocks noChangeShapeType="1"/>
            <a:stCxn id="43" idx="2"/>
          </p:cNvCxnSpPr>
          <p:nvPr/>
        </p:nvCxnSpPr>
        <p:spPr bwMode="auto">
          <a:xfrm flipH="1">
            <a:off x="6144123" y="3262644"/>
            <a:ext cx="2943719" cy="0"/>
          </a:xfrm>
          <a:prstGeom prst="straightConnector1">
            <a:avLst/>
          </a:prstGeom>
          <a:noFill/>
          <a:ln w="12700">
            <a:solidFill>
              <a:srgbClr val="292929"/>
            </a:solidFill>
            <a:round/>
            <a:headEnd/>
            <a:tailEnd type="triangle" w="med" len="med"/>
          </a:ln>
          <a:effectLst/>
        </p:spPr>
      </p:cxnSp>
      <p:sp>
        <p:nvSpPr>
          <p:cNvPr id="2070547" name="Text Box 19"/>
          <p:cNvSpPr txBox="1">
            <a:spLocks noChangeArrowheads="1"/>
          </p:cNvSpPr>
          <p:nvPr/>
        </p:nvSpPr>
        <p:spPr bwMode="auto">
          <a:xfrm>
            <a:off x="7039472" y="3262644"/>
            <a:ext cx="1443567" cy="27015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비침해보증계약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2947955" y="2553943"/>
            <a:ext cx="6316133" cy="3941443"/>
            <a:chOff x="2947955" y="2031416"/>
            <a:chExt cx="6316133" cy="4310117"/>
          </a:xfrm>
        </p:grpSpPr>
        <p:cxnSp>
          <p:nvCxnSpPr>
            <p:cNvPr id="2070548" name="AutoShape 20"/>
            <p:cNvCxnSpPr>
              <a:cxnSpLocks noChangeShapeType="1"/>
              <a:stCxn id="2070533" idx="2"/>
            </p:cNvCxnSpPr>
            <p:nvPr/>
          </p:nvCxnSpPr>
          <p:spPr bwMode="auto">
            <a:xfrm>
              <a:off x="2947955" y="2031416"/>
              <a:ext cx="0" cy="4297790"/>
            </a:xfrm>
            <a:prstGeom prst="straightConnector1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</p:spPr>
        </p:cxnSp>
        <p:cxnSp>
          <p:nvCxnSpPr>
            <p:cNvPr id="2070549" name="AutoShape 21"/>
            <p:cNvCxnSpPr>
              <a:cxnSpLocks noChangeShapeType="1"/>
            </p:cNvCxnSpPr>
            <p:nvPr/>
          </p:nvCxnSpPr>
          <p:spPr bwMode="auto">
            <a:xfrm>
              <a:off x="6120837" y="2031416"/>
              <a:ext cx="0" cy="4297790"/>
            </a:xfrm>
            <a:prstGeom prst="straightConnector1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</p:spPr>
        </p:cxnSp>
        <p:cxnSp>
          <p:nvCxnSpPr>
            <p:cNvPr id="2070550" name="AutoShape 22"/>
            <p:cNvCxnSpPr>
              <a:cxnSpLocks noChangeShapeType="1"/>
              <a:stCxn id="2070537" idx="2"/>
            </p:cNvCxnSpPr>
            <p:nvPr/>
          </p:nvCxnSpPr>
          <p:spPr bwMode="auto">
            <a:xfrm>
              <a:off x="9261973" y="2031416"/>
              <a:ext cx="2115" cy="4310117"/>
            </a:xfrm>
            <a:prstGeom prst="straightConnector1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</p:spPr>
        </p:cxnSp>
      </p:grpSp>
      <p:sp>
        <p:nvSpPr>
          <p:cNvPr id="2070551" name="AutoShape 23"/>
          <p:cNvSpPr>
            <a:spLocks noChangeArrowheads="1"/>
          </p:cNvSpPr>
          <p:nvPr/>
        </p:nvSpPr>
        <p:spPr bwMode="auto">
          <a:xfrm>
            <a:off x="2969124" y="4617065"/>
            <a:ext cx="3126876" cy="485441"/>
          </a:xfrm>
          <a:prstGeom prst="rightArrow">
            <a:avLst>
              <a:gd name="adj1" fmla="val 61333"/>
              <a:gd name="adj2" fmla="val 67222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solidFill>
                  <a:srgbClr val="4D4D4D"/>
                </a:solidFill>
                <a:latin typeface="+mn-ea"/>
              </a:rPr>
              <a:t>침해금지 </a:t>
            </a:r>
            <a:r>
              <a:rPr lang="en-US" altLang="ko-KR" sz="1200" dirty="0">
                <a:solidFill>
                  <a:srgbClr val="4D4D4D"/>
                </a:solidFill>
                <a:latin typeface="+mn-ea"/>
              </a:rPr>
              <a:t>&amp; </a:t>
            </a:r>
            <a:r>
              <a:rPr lang="ko-KR" altLang="en-US" sz="1200" dirty="0">
                <a:solidFill>
                  <a:srgbClr val="4D4D4D"/>
                </a:solidFill>
                <a:latin typeface="+mn-ea"/>
              </a:rPr>
              <a:t>손해배상청구</a:t>
            </a:r>
          </a:p>
        </p:txBody>
      </p:sp>
      <p:sp>
        <p:nvSpPr>
          <p:cNvPr id="2070553" name="AutoShape 25"/>
          <p:cNvSpPr>
            <a:spLocks noChangeArrowheads="1"/>
          </p:cNvSpPr>
          <p:nvPr/>
        </p:nvSpPr>
        <p:spPr bwMode="auto">
          <a:xfrm>
            <a:off x="6129305" y="5473766"/>
            <a:ext cx="3111500" cy="485441"/>
          </a:xfrm>
          <a:prstGeom prst="rightArrow">
            <a:avLst>
              <a:gd name="adj1" fmla="val 61333"/>
              <a:gd name="adj2" fmla="val 6667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ko-KR" altLang="en-US" sz="1200">
                <a:solidFill>
                  <a:srgbClr val="4D4D4D"/>
                </a:solidFill>
                <a:latin typeface="+mn-ea"/>
              </a:rPr>
              <a:t>구상권행사 </a:t>
            </a:r>
            <a:r>
              <a:rPr lang="en-US" altLang="ko-KR" sz="1200">
                <a:solidFill>
                  <a:srgbClr val="4D4D4D"/>
                </a:solidFill>
                <a:latin typeface="+mn-ea"/>
              </a:rPr>
              <a:t>(</a:t>
            </a:r>
            <a:r>
              <a:rPr lang="ko-KR" altLang="en-US" sz="1200">
                <a:solidFill>
                  <a:srgbClr val="4D4D4D"/>
                </a:solidFill>
                <a:latin typeface="+mn-ea"/>
              </a:rPr>
              <a:t>계약근거</a:t>
            </a:r>
            <a:r>
              <a:rPr lang="en-US" altLang="ko-KR" sz="1200">
                <a:solidFill>
                  <a:srgbClr val="4D4D4D"/>
                </a:solidFill>
                <a:latin typeface="+mn-ea"/>
              </a:rPr>
              <a:t>)</a:t>
            </a:r>
          </a:p>
        </p:txBody>
      </p:sp>
      <p:sp>
        <p:nvSpPr>
          <p:cNvPr id="41" name="Oval 11"/>
          <p:cNvSpPr>
            <a:spLocks noChangeArrowheads="1"/>
          </p:cNvSpPr>
          <p:nvPr/>
        </p:nvSpPr>
        <p:spPr bwMode="auto">
          <a:xfrm>
            <a:off x="2771708" y="2713990"/>
            <a:ext cx="352492" cy="331254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a</a:t>
            </a:r>
          </a:p>
        </p:txBody>
      </p:sp>
      <p:sp>
        <p:nvSpPr>
          <p:cNvPr id="43" name="Oval 11"/>
          <p:cNvSpPr>
            <a:spLocks noChangeArrowheads="1"/>
          </p:cNvSpPr>
          <p:nvPr/>
        </p:nvSpPr>
        <p:spPr bwMode="auto">
          <a:xfrm>
            <a:off x="9087842" y="3097017"/>
            <a:ext cx="352492" cy="331254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+mn-ea"/>
              </a:rPr>
              <a:t>a</a:t>
            </a:r>
          </a:p>
        </p:txBody>
      </p:sp>
      <p:sp>
        <p:nvSpPr>
          <p:cNvPr id="44" name="Text Box 19"/>
          <p:cNvSpPr txBox="1">
            <a:spLocks noChangeArrowheads="1"/>
          </p:cNvSpPr>
          <p:nvPr/>
        </p:nvSpPr>
        <p:spPr bwMode="auto">
          <a:xfrm>
            <a:off x="9490572" y="3143951"/>
            <a:ext cx="1443567" cy="27015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dirty="0">
                <a:solidFill>
                  <a:srgbClr val="4D4D4D"/>
                </a:solidFill>
                <a:latin typeface="+mn-ea"/>
              </a:rPr>
              <a:t>생산</a:t>
            </a: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auto">
          <a:xfrm>
            <a:off x="7039472" y="2997637"/>
            <a:ext cx="1443567" cy="27015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200" dirty="0">
                <a:solidFill>
                  <a:srgbClr val="4D4D4D"/>
                </a:solidFill>
                <a:latin typeface="+mn-ea"/>
              </a:rPr>
              <a:t>납품</a:t>
            </a:r>
            <a:r>
              <a:rPr lang="en-US" altLang="ko-KR" sz="1200" dirty="0">
                <a:solidFill>
                  <a:srgbClr val="4D4D4D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rgbClr val="4D4D4D"/>
                </a:solidFill>
                <a:latin typeface="+mn-ea"/>
              </a:rPr>
              <a:t>양도</a:t>
            </a:r>
            <a:r>
              <a:rPr lang="en-US" altLang="ko-KR" sz="1200" dirty="0">
                <a:solidFill>
                  <a:srgbClr val="4D4D4D"/>
                </a:solidFill>
                <a:latin typeface="+mn-ea"/>
              </a:rPr>
              <a:t>)</a:t>
            </a:r>
            <a:endParaRPr lang="ko-KR" altLang="en-US" sz="12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48" name="Oval 11"/>
          <p:cNvSpPr>
            <a:spLocks noChangeArrowheads="1"/>
          </p:cNvSpPr>
          <p:nvPr/>
        </p:nvSpPr>
        <p:spPr bwMode="auto">
          <a:xfrm>
            <a:off x="5944591" y="3699209"/>
            <a:ext cx="352492" cy="331254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a</a:t>
            </a:r>
          </a:p>
        </p:txBody>
      </p:sp>
      <p:sp>
        <p:nvSpPr>
          <p:cNvPr id="49" name="Oval 11"/>
          <p:cNvSpPr>
            <a:spLocks noChangeArrowheads="1"/>
          </p:cNvSpPr>
          <p:nvPr/>
        </p:nvSpPr>
        <p:spPr bwMode="auto">
          <a:xfrm>
            <a:off x="5944591" y="4030463"/>
            <a:ext cx="352492" cy="331254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8031" y="3693257"/>
            <a:ext cx="633507" cy="625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SET </a:t>
            </a:r>
          </a:p>
          <a:p>
            <a:pPr algn="ctr"/>
            <a:r>
              <a:rPr lang="ko-KR" altLang="en-US" dirty="0"/>
              <a:t>생산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423" y="1195401"/>
            <a:ext cx="522450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dirty="0" err="1"/>
              <a:t>특허권자는</a:t>
            </a:r>
            <a:r>
              <a:rPr lang="ko-KR" altLang="en-US" sz="2000" dirty="0"/>
              <a:t> 왜 </a:t>
            </a:r>
            <a:r>
              <a:rPr lang="en-US" altLang="ko-KR" sz="2000" dirty="0"/>
              <a:t>SET MAKER</a:t>
            </a:r>
            <a:r>
              <a:rPr lang="ko-KR" altLang="en-US" sz="2000" dirty="0"/>
              <a:t>를 공격하는 것일까</a:t>
            </a:r>
            <a:r>
              <a:rPr lang="en-US" altLang="ko-KR" sz="2000" dirty="0"/>
              <a:t>?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D5402-CB69-24C3-912D-CA7C589F74C8}"/>
              </a:ext>
            </a:extLst>
          </p:cNvPr>
          <p:cNvSpPr txBox="1"/>
          <p:nvPr/>
        </p:nvSpPr>
        <p:spPr>
          <a:xfrm>
            <a:off x="5963051" y="1003832"/>
            <a:ext cx="2056973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- 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손해배상액의 결정</a:t>
            </a:r>
            <a:endParaRPr lang="en-US" altLang="ko-K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- 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침해금지의 영향력</a:t>
            </a:r>
          </a:p>
        </p:txBody>
      </p:sp>
    </p:spTree>
    <p:extLst>
      <p:ext uri="{BB962C8B-B14F-4D97-AF65-F5344CB8AC3E}">
        <p14:creationId xmlns:p14="http://schemas.microsoft.com/office/powerpoint/2010/main" val="365759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양쪽 모서리가 둥근 사각형 108"/>
          <p:cNvSpPr/>
          <p:nvPr/>
        </p:nvSpPr>
        <p:spPr>
          <a:xfrm>
            <a:off x="8551302" y="5181873"/>
            <a:ext cx="1629660" cy="395343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" name="직사각형 8"/>
          <p:cNvSpPr/>
          <p:nvPr/>
        </p:nvSpPr>
        <p:spPr>
          <a:xfrm>
            <a:off x="719674" y="2743177"/>
            <a:ext cx="1405467" cy="13790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76" y="976902"/>
            <a:ext cx="5882658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각각의 실시행위별로 특허권의 침해인지를 판단하므로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연구 또는 시험을 위한 실시는 침해가 아니나 그 결과 제작된 것을 업으로서 연구 또는 시험 이외의 것에 실시했을 때는 특허권의 침해가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들면 물건을 생산하는 방법에 관한 특허발명을 시험하여 생산된 물건을 타인에게 양도하는 것은 특허권의 침해가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그러나 </a:t>
            </a:r>
            <a:r>
              <a:rPr lang="ko-KR" altLang="en-US" sz="1400" dirty="0">
                <a:solidFill>
                  <a:srgbClr val="FF0000"/>
                </a:solidFill>
              </a:rPr>
              <a:t>물건제조장치에 관한 특허발명을 시험하여 생산된 물건을 타인에게 양도하는 것은 물건의 양도가 물건제조장치의 실시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法 </a:t>
            </a:r>
            <a:r>
              <a:rPr lang="en-US" altLang="ko-KR" sz="1400" dirty="0" err="1">
                <a:solidFill>
                  <a:srgbClr val="FF0000"/>
                </a:solidFill>
              </a:rPr>
              <a:t>2Ⅲ</a:t>
            </a:r>
            <a:r>
              <a:rPr lang="ko-KR" altLang="en-US" sz="1400" dirty="0">
                <a:solidFill>
                  <a:srgbClr val="FF0000"/>
                </a:solidFill>
              </a:rPr>
              <a:t>가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가 아니므로 </a:t>
            </a:r>
            <a:r>
              <a:rPr lang="ko-KR" altLang="en-US" sz="1400" dirty="0">
                <a:solidFill>
                  <a:schemeClr val="tx2"/>
                </a:solidFill>
              </a:rPr>
              <a:t>특허권의 침해가 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55" name="직선 연결선 54"/>
          <p:cNvCxnSpPr/>
          <p:nvPr/>
        </p:nvCxnSpPr>
        <p:spPr>
          <a:xfrm flipH="1" flipV="1">
            <a:off x="6066767" y="976902"/>
            <a:ext cx="1" cy="56048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872113" y="3271384"/>
            <a:ext cx="1066768" cy="349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제조방법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4148740" y="3271384"/>
            <a:ext cx="1066768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cxnSp>
        <p:nvCxnSpPr>
          <p:cNvPr id="6" name="직선 연결선 5"/>
          <p:cNvCxnSpPr>
            <a:stCxn id="58" idx="3"/>
            <a:endCxn id="65" idx="1"/>
          </p:cNvCxnSpPr>
          <p:nvPr/>
        </p:nvCxnSpPr>
        <p:spPr>
          <a:xfrm>
            <a:off x="1938881" y="3446191"/>
            <a:ext cx="220985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2341085" y="3045963"/>
            <a:ext cx="1612867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</a:rPr>
              <a:t>사용</a:t>
            </a:r>
            <a:endParaRPr lang="en-US" altLang="ko-KR" sz="12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∵ 시험을 위해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872113" y="3694667"/>
            <a:ext cx="1066768" cy="349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제조장치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4148740" y="3694667"/>
            <a:ext cx="1066768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cxnSp>
        <p:nvCxnSpPr>
          <p:cNvPr id="74" name="직선 연결선 73"/>
          <p:cNvCxnSpPr>
            <a:stCxn id="72" idx="3"/>
            <a:endCxn id="73" idx="1"/>
          </p:cNvCxnSpPr>
          <p:nvPr/>
        </p:nvCxnSpPr>
        <p:spPr>
          <a:xfrm>
            <a:off x="1938881" y="3869474"/>
            <a:ext cx="220985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2341085" y="3884129"/>
            <a:ext cx="1612867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</a:rPr>
              <a:t>사용</a:t>
            </a:r>
            <a:endParaRPr lang="en-US" altLang="ko-KR" sz="12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∵ 시험을 위해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3860" y="281210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특허발명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362821"/>
              </p:ext>
            </p:extLst>
          </p:nvPr>
        </p:nvGraphicFramePr>
        <p:xfrm>
          <a:off x="254000" y="4542336"/>
          <a:ext cx="5596467" cy="135255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55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0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특허발명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3</a:t>
                      </a:r>
                      <a:r>
                        <a:rPr lang="ko-KR" altLang="en-US" sz="1100" kern="1200" dirty="0"/>
                        <a:t>자의 실시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침해 여부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비고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A </a:t>
                      </a:r>
                      <a:r>
                        <a:rPr lang="ko-KR" altLang="en-US" sz="1100" kern="1200" dirty="0"/>
                        <a:t>제조방법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方</a:t>
                      </a:r>
                      <a:r>
                        <a:rPr lang="en-US" altLang="ko-KR" sz="1100" kern="1200" dirty="0"/>
                        <a:t>1)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A </a:t>
                      </a:r>
                      <a:r>
                        <a:rPr lang="ko-KR" altLang="en-US" sz="1100" kern="1200" dirty="0"/>
                        <a:t>제조방법 사용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∵ 시험을 위해</a:t>
                      </a:r>
                      <a:r>
                        <a:rPr lang="en-US" altLang="ko-KR" sz="1100" kern="1200" dirty="0"/>
                        <a:t>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/>
                        <a:t>×</a:t>
                      </a:r>
                      <a:endParaRPr 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96</a:t>
                      </a:r>
                      <a:r>
                        <a:rPr lang="ko-KR" altLang="en-US" sz="1100" kern="1200" dirty="0"/>
                        <a:t>조제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 err="1"/>
                        <a:t>항제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/>
                        <a:t>호 해당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제조방법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方</a:t>
                      </a:r>
                      <a:r>
                        <a:rPr lang="en-US" altLang="ko-KR" sz="1100" kern="1200" dirty="0"/>
                        <a:t>1)</a:t>
                      </a:r>
                      <a:r>
                        <a:rPr lang="ko-KR" altLang="en-US" sz="1100" kern="1200" dirty="0"/>
                        <a:t>의 사용에 의하여 생산된 </a:t>
                      </a:r>
                      <a:r>
                        <a:rPr lang="en-US" altLang="ko-KR" sz="1100" kern="1200" dirty="0"/>
                        <a:t>A </a:t>
                      </a:r>
                      <a:r>
                        <a:rPr lang="ko-KR" altLang="en-US" sz="1100" kern="1200" dirty="0"/>
                        <a:t>판매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2</a:t>
                      </a:r>
                      <a:r>
                        <a:rPr lang="ko-KR" altLang="en-US" sz="1100" kern="1200" dirty="0"/>
                        <a:t>조제</a:t>
                      </a:r>
                      <a:r>
                        <a:rPr lang="en-US" altLang="ko-KR" sz="1100" kern="1200" dirty="0"/>
                        <a:t>3</a:t>
                      </a:r>
                      <a:r>
                        <a:rPr lang="ko-KR" altLang="en-US" sz="1100" kern="1200" dirty="0"/>
                        <a:t>호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다</a:t>
                      </a:r>
                      <a:r>
                        <a:rPr lang="en-US" altLang="ko-KR" sz="1100" kern="1200" dirty="0"/>
                        <a:t>)</a:t>
                      </a:r>
                      <a:r>
                        <a:rPr lang="ko-KR" altLang="en-US" sz="1100" kern="1200" dirty="0"/>
                        <a:t>목의 실시에 해당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실시행위의 독립성</a:t>
                      </a:r>
                      <a:r>
                        <a:rPr lang="en-US" altLang="ko-KR" sz="1100" kern="1200" dirty="0"/>
                        <a:t>)*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/>
                        <a:t>A </a:t>
                      </a:r>
                      <a:r>
                        <a:rPr lang="ko-KR" altLang="en-US" sz="1100" kern="1200"/>
                        <a:t>제조장치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/>
                        <a:t>(</a:t>
                      </a:r>
                      <a:r>
                        <a:rPr lang="ko-KR" altLang="en-US" sz="1100" kern="1200"/>
                        <a:t>裝</a:t>
                      </a:r>
                      <a:r>
                        <a:rPr lang="en-US" altLang="ko-KR" sz="1100" kern="1200"/>
                        <a:t>1)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/>
                        <a:t>A </a:t>
                      </a:r>
                      <a:r>
                        <a:rPr lang="ko-KR" altLang="en-US" sz="1100" kern="1200"/>
                        <a:t>제조장치 사용</a:t>
                      </a:r>
                      <a:r>
                        <a:rPr lang="en-US" altLang="ko-KR" sz="1100" kern="1200"/>
                        <a:t>(</a:t>
                      </a:r>
                      <a:r>
                        <a:rPr lang="ko-KR" altLang="en-US" sz="1100" kern="1200"/>
                        <a:t>∵ 시험을 위해</a:t>
                      </a:r>
                      <a:r>
                        <a:rPr lang="en-US" altLang="ko-KR" sz="1100" kern="1200"/>
                        <a:t>)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96</a:t>
                      </a:r>
                      <a:r>
                        <a:rPr lang="ko-KR" altLang="en-US" sz="1100" kern="1200" dirty="0"/>
                        <a:t>조제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 err="1"/>
                        <a:t>항제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/>
                        <a:t>호 해당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제조장치</a:t>
                      </a:r>
                      <a:r>
                        <a:rPr lang="en-US" altLang="ko-KR" sz="1100" kern="1200"/>
                        <a:t>(</a:t>
                      </a:r>
                      <a:r>
                        <a:rPr lang="ko-KR" altLang="en-US" sz="1100" kern="1200"/>
                        <a:t>裝</a:t>
                      </a:r>
                      <a:r>
                        <a:rPr lang="en-US" altLang="ko-KR" sz="1100" kern="1200"/>
                        <a:t>1)</a:t>
                      </a:r>
                      <a:r>
                        <a:rPr lang="ko-KR" altLang="en-US" sz="1100" kern="1200"/>
                        <a:t>의 사용에 의하여 생산된 </a:t>
                      </a:r>
                      <a:r>
                        <a:rPr lang="en-US" altLang="ko-KR" sz="1100" kern="1200"/>
                        <a:t>A </a:t>
                      </a:r>
                      <a:r>
                        <a:rPr lang="ko-KR" altLang="en-US" sz="1100" kern="1200"/>
                        <a:t>판매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2</a:t>
                      </a:r>
                      <a:r>
                        <a:rPr lang="ko-KR" altLang="en-US" sz="1100" kern="1200" dirty="0"/>
                        <a:t>조제</a:t>
                      </a:r>
                      <a:r>
                        <a:rPr lang="en-US" altLang="ko-KR" sz="1100" kern="1200" dirty="0"/>
                        <a:t>3</a:t>
                      </a:r>
                      <a:r>
                        <a:rPr lang="ko-KR" altLang="en-US" sz="1100" kern="1200" dirty="0"/>
                        <a:t>호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가</a:t>
                      </a:r>
                      <a:r>
                        <a:rPr lang="en-US" altLang="ko-KR" sz="1100" kern="1200" dirty="0"/>
                        <a:t>)</a:t>
                      </a:r>
                      <a:r>
                        <a:rPr lang="ko-KR" altLang="en-US" sz="1100" kern="1200" dirty="0"/>
                        <a:t>목의 실시에 해당하지 아니함</a:t>
                      </a:r>
                      <a:r>
                        <a:rPr lang="en-US" altLang="ko-KR" sz="1100" kern="1200" dirty="0"/>
                        <a:t>**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타원 12"/>
          <p:cNvSpPr/>
          <p:nvPr/>
        </p:nvSpPr>
        <p:spPr>
          <a:xfrm>
            <a:off x="2341085" y="2726243"/>
            <a:ext cx="2755847" cy="160869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3562025" y="2743176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실시행위의 독립성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177800" y="5934370"/>
            <a:ext cx="5715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63" indent="-93663"/>
            <a:r>
              <a:rPr lang="en-US" altLang="ko-KR" sz="1000" dirty="0"/>
              <a:t>* A </a:t>
            </a:r>
            <a:r>
              <a:rPr lang="ko-KR" altLang="en-US" sz="1000" dirty="0"/>
              <a:t>제조방법의 실시</a:t>
            </a:r>
            <a:r>
              <a:rPr lang="en-US" altLang="ko-KR" sz="1000" dirty="0"/>
              <a:t>: </a:t>
            </a:r>
            <a:r>
              <a:rPr lang="ko-KR" altLang="en-US" sz="1000" dirty="0"/>
              <a:t>제조방법을 사용하는 행위 외에 그 방법에 의하여 </a:t>
            </a:r>
            <a:r>
              <a:rPr lang="ko-KR" altLang="en-US" sz="1000" dirty="0">
                <a:solidFill>
                  <a:srgbClr val="FF0000"/>
                </a:solidFill>
              </a:rPr>
              <a:t>생산한 물건</a:t>
            </a:r>
            <a:r>
              <a:rPr lang="en-US" altLang="ko-KR" sz="1000" dirty="0">
                <a:solidFill>
                  <a:srgbClr val="FF0000"/>
                </a:solidFill>
              </a:rPr>
              <a:t>(A)</a:t>
            </a:r>
            <a:r>
              <a:rPr lang="ko-KR" altLang="en-US" sz="1000" dirty="0"/>
              <a:t>을 </a:t>
            </a:r>
            <a:r>
              <a:rPr lang="ko-KR" altLang="en-US" sz="1000" dirty="0" err="1"/>
              <a:t>사용ㆍ양도ㆍ대여</a:t>
            </a:r>
            <a:r>
              <a:rPr lang="ko-KR" altLang="en-US" sz="1000" dirty="0"/>
              <a:t> </a:t>
            </a:r>
            <a:r>
              <a:rPr lang="ko-KR" altLang="en-US" sz="1000" dirty="0" err="1"/>
              <a:t>ㆍ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lang="ko-KR" altLang="en-US" sz="1000" dirty="0"/>
              <a:t>또는 수입하거나 그 물건의 양도 또는 대여의 청약을 하는 행위</a:t>
            </a:r>
            <a:endParaRPr lang="en-US" altLang="ko-KR" sz="1000" dirty="0"/>
          </a:p>
          <a:p>
            <a:pPr marL="93663" indent="-93663"/>
            <a:r>
              <a:rPr lang="en-US" altLang="ko-KR" sz="1000" dirty="0"/>
              <a:t>* A </a:t>
            </a:r>
            <a:r>
              <a:rPr lang="ko-KR" altLang="en-US" sz="1000" dirty="0"/>
              <a:t>제조장치의 실시</a:t>
            </a:r>
            <a:r>
              <a:rPr lang="en-US" altLang="ko-KR" sz="1000" dirty="0"/>
              <a:t>: </a:t>
            </a:r>
            <a:r>
              <a:rPr lang="ko-KR" altLang="en-US" sz="1000" dirty="0"/>
              <a:t>제조장치를 </a:t>
            </a:r>
            <a:r>
              <a:rPr lang="ko-KR" altLang="en-US" sz="1000" dirty="0" err="1"/>
              <a:t>생산ㆍ</a:t>
            </a:r>
            <a:r>
              <a:rPr lang="ko-KR" altLang="en-US" sz="1000" dirty="0" err="1">
                <a:solidFill>
                  <a:srgbClr val="FF0000"/>
                </a:solidFill>
              </a:rPr>
              <a:t>사용</a:t>
            </a:r>
            <a:r>
              <a:rPr lang="en-US" altLang="ko-KR" sz="1000" dirty="0">
                <a:solidFill>
                  <a:srgbClr val="FF0000"/>
                </a:solidFill>
              </a:rPr>
              <a:t>(A </a:t>
            </a:r>
            <a:r>
              <a:rPr lang="ko-KR" altLang="en-US" sz="1000" dirty="0">
                <a:solidFill>
                  <a:srgbClr val="FF0000"/>
                </a:solidFill>
              </a:rPr>
              <a:t>생산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 err="1"/>
              <a:t>ㆍ양도ㆍ대여ㆍ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000" dirty="0"/>
              <a:t> 또는 수입하거나 그 물건의 양도 또는 대여의 청약</a:t>
            </a:r>
            <a:r>
              <a:rPr lang="en-US" altLang="ko-KR" sz="1000" dirty="0"/>
              <a:t>(</a:t>
            </a:r>
            <a:r>
              <a:rPr lang="ko-KR" altLang="en-US" sz="1000" dirty="0"/>
              <a:t>양도 또는 대여를 위한 전시를 포함한다</a:t>
            </a:r>
            <a:r>
              <a:rPr lang="en-US" altLang="ko-KR" sz="1000" dirty="0"/>
              <a:t>. </a:t>
            </a:r>
            <a:r>
              <a:rPr lang="ko-KR" altLang="en-US" sz="1000" dirty="0"/>
              <a:t>이하 같다</a:t>
            </a:r>
            <a:r>
              <a:rPr lang="en-US" altLang="ko-KR" sz="1000" dirty="0"/>
              <a:t>)</a:t>
            </a:r>
            <a:r>
              <a:rPr lang="ko-KR" altLang="en-US" sz="1000" dirty="0"/>
              <a:t>을 하는 행위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07743" y="976902"/>
            <a:ext cx="5882658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기존에 논란이 되었던 부분은 특허발명인 의약품의 존속기간이 만료된 후 상업화할 목적으로 특허권의 존속기간 중 약사법의 허가를 얻기 위한 시험을 한 경우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통상적으로 시험결과를 얻어내기 위해서는 </a:t>
            </a:r>
            <a:r>
              <a:rPr lang="en-US" altLang="ko-KR" sz="1400" dirty="0">
                <a:solidFill>
                  <a:schemeClr val="tx2"/>
                </a:solidFill>
              </a:rPr>
              <a:t>2~3</a:t>
            </a:r>
            <a:r>
              <a:rPr lang="ko-KR" altLang="en-US" sz="1400" dirty="0">
                <a:solidFill>
                  <a:schemeClr val="tx2"/>
                </a:solidFill>
              </a:rPr>
              <a:t>년의 시간이 소요됨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특허권의 침해가 되는지 여부이다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이에 대하여 판례는 연구 또는 시험을 하기 위한 특허발명의 실시에 해당하기 때문에 침해가 아니라고 판시하였다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허가를 얻기 위한 시험이 침해가 된다면 의약품의 존속기간이 만료된 후에도 시험결과를 얻어내기까지 특허권자를 부당하게 보호</a:t>
            </a:r>
            <a:r>
              <a:rPr lang="ko-KR" altLang="en-US" sz="1400" dirty="0">
                <a:solidFill>
                  <a:schemeClr val="tx2"/>
                </a:solidFill>
              </a:rPr>
              <a:t>하는 결과가 되므로 제</a:t>
            </a:r>
            <a:r>
              <a:rPr lang="en-US" altLang="ko-KR" sz="1400" dirty="0">
                <a:solidFill>
                  <a:schemeClr val="tx2"/>
                </a:solidFill>
              </a:rPr>
              <a:t>96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호에 해당하여 침해가 아니라고 하였다</a:t>
            </a:r>
            <a:r>
              <a:rPr lang="en-US" altLang="ko-KR" sz="1400" dirty="0">
                <a:solidFill>
                  <a:schemeClr val="tx2"/>
                </a:solidFill>
              </a:rPr>
              <a:t>. 2010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월 </a:t>
            </a:r>
            <a:r>
              <a:rPr lang="en-US" altLang="ko-KR" sz="1400" dirty="0">
                <a:solidFill>
                  <a:schemeClr val="tx2"/>
                </a:solidFill>
              </a:rPr>
              <a:t>27</a:t>
            </a:r>
            <a:r>
              <a:rPr lang="ko-KR" altLang="en-US" sz="1400" dirty="0">
                <a:solidFill>
                  <a:schemeClr val="tx2"/>
                </a:solidFill>
              </a:rPr>
              <a:t>일 개정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법률 제</a:t>
            </a:r>
            <a:r>
              <a:rPr lang="en-US" altLang="ko-KR" sz="1400" dirty="0">
                <a:solidFill>
                  <a:schemeClr val="tx2"/>
                </a:solidFill>
              </a:rPr>
              <a:t>9985</a:t>
            </a:r>
            <a:r>
              <a:rPr lang="ko-KR" altLang="en-US" sz="1400" dirty="0">
                <a:solidFill>
                  <a:schemeClr val="tx2"/>
                </a:solidFill>
              </a:rPr>
              <a:t>호</a:t>
            </a:r>
            <a:r>
              <a:rPr lang="en-US" altLang="ko-KR" sz="1400" dirty="0">
                <a:solidFill>
                  <a:schemeClr val="tx2"/>
                </a:solidFill>
              </a:rPr>
              <a:t>, 2010. 7. 28. </a:t>
            </a:r>
            <a:r>
              <a:rPr lang="ko-KR" altLang="en-US" sz="1400" dirty="0">
                <a:solidFill>
                  <a:schemeClr val="tx2"/>
                </a:solidFill>
              </a:rPr>
              <a:t>시행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된 특허법에서는 제</a:t>
            </a:r>
            <a:r>
              <a:rPr lang="en-US" altLang="ko-KR" sz="1400" dirty="0">
                <a:solidFill>
                  <a:schemeClr val="tx2"/>
                </a:solidFill>
              </a:rPr>
              <a:t>96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호의 연구 또는 시험을 하기 위한 특허발명의 실시에 “「</a:t>
            </a:r>
            <a:r>
              <a:rPr lang="ko-KR" altLang="en-US" sz="1400" dirty="0" err="1">
                <a:solidFill>
                  <a:schemeClr val="tx2"/>
                </a:solidFill>
              </a:rPr>
              <a:t>약사법」에</a:t>
            </a:r>
            <a:r>
              <a:rPr lang="ko-KR" altLang="en-US" sz="1400" dirty="0">
                <a:solidFill>
                  <a:schemeClr val="tx2"/>
                </a:solidFill>
              </a:rPr>
              <a:t> 따른 의약품의 </a:t>
            </a:r>
            <a:r>
              <a:rPr lang="ko-KR" altLang="en-US" sz="1400" dirty="0" err="1">
                <a:solidFill>
                  <a:schemeClr val="tx2"/>
                </a:solidFill>
              </a:rPr>
              <a:t>품목허가ㆍ품목신고</a:t>
            </a:r>
            <a:r>
              <a:rPr lang="ko-KR" altLang="en-US" sz="1400" dirty="0">
                <a:solidFill>
                  <a:schemeClr val="tx2"/>
                </a:solidFill>
              </a:rPr>
              <a:t> 및 「</a:t>
            </a:r>
            <a:r>
              <a:rPr lang="ko-KR" altLang="en-US" sz="1400" dirty="0" err="1">
                <a:solidFill>
                  <a:schemeClr val="tx2"/>
                </a:solidFill>
              </a:rPr>
              <a:t>농약관리법」에</a:t>
            </a:r>
            <a:r>
              <a:rPr lang="ko-KR" altLang="en-US" sz="1400" dirty="0">
                <a:solidFill>
                  <a:schemeClr val="tx2"/>
                </a:solidFill>
              </a:rPr>
              <a:t> 따른 농약의 등록을 위한 연구 또는 시험을 포함한다</a:t>
            </a:r>
            <a:r>
              <a:rPr lang="en-US" altLang="ko-KR" sz="1400" dirty="0">
                <a:solidFill>
                  <a:schemeClr val="tx2"/>
                </a:solidFill>
              </a:rPr>
              <a:t>.”</a:t>
            </a:r>
            <a:r>
              <a:rPr lang="ko-KR" altLang="en-US" sz="1400" dirty="0">
                <a:solidFill>
                  <a:schemeClr val="tx2"/>
                </a:solidFill>
              </a:rPr>
              <a:t>라고 하여 이를 명확히 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82" name="직선 연결선 81"/>
          <p:cNvCxnSpPr/>
          <p:nvPr/>
        </p:nvCxnSpPr>
        <p:spPr>
          <a:xfrm>
            <a:off x="6840966" y="5169518"/>
            <a:ext cx="5037767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6342951" y="4963706"/>
            <a:ext cx="823208" cy="4228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甲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7457001" y="4963706"/>
            <a:ext cx="823208" cy="4228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9769358" y="4963706"/>
            <a:ext cx="823208" cy="4228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존속기간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만료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8832748" y="5577215"/>
            <a:ext cx="1066768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乙의 임상시험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6309348" y="3779339"/>
            <a:ext cx="5637124" cy="5555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/>
                </a:solidFill>
              </a:rPr>
              <a:t>乙이 약사법의 허가를 얻기 위한 임상시험을 한 경우 甲의 특허권의 침해인가</a:t>
            </a:r>
            <a:r>
              <a:rPr lang="en-US" altLang="ko-KR" sz="16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8" name="자유형 27"/>
          <p:cNvSpPr/>
          <p:nvPr/>
        </p:nvSpPr>
        <p:spPr>
          <a:xfrm>
            <a:off x="10210800" y="5376333"/>
            <a:ext cx="1651000" cy="643467"/>
          </a:xfrm>
          <a:custGeom>
            <a:avLst/>
            <a:gdLst>
              <a:gd name="connsiteX0" fmla="*/ 0 w 1651000"/>
              <a:gd name="connsiteY0" fmla="*/ 0 h 643467"/>
              <a:gd name="connsiteX1" fmla="*/ 0 w 1651000"/>
              <a:gd name="connsiteY1" fmla="*/ 643467 h 643467"/>
              <a:gd name="connsiteX2" fmla="*/ 1651000 w 1651000"/>
              <a:gd name="connsiteY2" fmla="*/ 643467 h 643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000" h="643467">
                <a:moveTo>
                  <a:pt x="0" y="0"/>
                </a:moveTo>
                <a:lnTo>
                  <a:pt x="0" y="643467"/>
                </a:lnTo>
                <a:lnTo>
                  <a:pt x="1651000" y="643467"/>
                </a:lnTo>
              </a:path>
            </a:pathLst>
          </a:custGeom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/>
          <p:cNvSpPr/>
          <p:nvPr/>
        </p:nvSpPr>
        <p:spPr>
          <a:xfrm>
            <a:off x="10502916" y="6019800"/>
            <a:ext cx="1066768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乙의 판매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6603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</a:p>
        </p:txBody>
      </p:sp>
      <p:cxnSp>
        <p:nvCxnSpPr>
          <p:cNvPr id="30" name="직선 연결선 29"/>
          <p:cNvCxnSpPr/>
          <p:nvPr/>
        </p:nvCxnSpPr>
        <p:spPr>
          <a:xfrm>
            <a:off x="0" y="214984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｢</a:t>
            </a:r>
            <a:r>
              <a:rPr lang="ko-KR" altLang="en-US" sz="1400" dirty="0">
                <a:solidFill>
                  <a:schemeClr val="tx2"/>
                </a:solidFill>
              </a:rPr>
              <a:t>국내</a:t>
            </a:r>
            <a:r>
              <a:rPr lang="en-US" altLang="ko-KR" sz="1400" dirty="0">
                <a:solidFill>
                  <a:schemeClr val="tx2"/>
                </a:solidFill>
              </a:rPr>
              <a:t>｣</a:t>
            </a:r>
            <a:r>
              <a:rPr lang="ko-KR" altLang="en-US" sz="1400" dirty="0">
                <a:solidFill>
                  <a:schemeClr val="tx2"/>
                </a:solidFill>
              </a:rPr>
              <a:t>란 영토뿐만 아니라 영해 및 영공 등을 포함하며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「국내를 통과하는데 불과한」이란 주유를 하거나 하역을 위하여 일시 정박하거나 착륙한 교통기관을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｢</a:t>
            </a:r>
            <a:r>
              <a:rPr lang="ko-KR" altLang="en-US" sz="1400" dirty="0" err="1">
                <a:solidFill>
                  <a:schemeClr val="tx2"/>
                </a:solidFill>
              </a:rPr>
              <a:t>기계ㆍ기구ㆍ장치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밖의 물건</a:t>
            </a:r>
            <a:r>
              <a:rPr lang="en-US" altLang="ko-KR" sz="1400" dirty="0">
                <a:solidFill>
                  <a:schemeClr val="tx2"/>
                </a:solidFill>
              </a:rPr>
              <a:t>｣</a:t>
            </a:r>
            <a:r>
              <a:rPr lang="ko-KR" altLang="en-US" sz="1400" dirty="0">
                <a:solidFill>
                  <a:schemeClr val="tx2"/>
                </a:solidFill>
              </a:rPr>
              <a:t>은 직접 항공기 등의 운행에 필요한 것뿐만 아니라 여객의 생활에 필요한 일체의 설비물도 포함하는 것으로 넓게 해석하는 것이 타당하다고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 물건 이외의 </a:t>
            </a:r>
            <a:r>
              <a:rPr lang="en-US" altLang="ko-KR" sz="1400" dirty="0">
                <a:solidFill>
                  <a:schemeClr val="tx2"/>
                </a:solidFill>
              </a:rPr>
              <a:t>｢</a:t>
            </a:r>
            <a:r>
              <a:rPr lang="ko-KR" altLang="en-US" sz="1400" dirty="0">
                <a:solidFill>
                  <a:schemeClr val="tx2"/>
                </a:solidFill>
              </a:rPr>
              <a:t>방법</a:t>
            </a:r>
            <a:r>
              <a:rPr lang="en-US" altLang="ko-KR" sz="1400" dirty="0">
                <a:solidFill>
                  <a:schemeClr val="tx2"/>
                </a:solidFill>
              </a:rPr>
              <a:t>｣</a:t>
            </a:r>
            <a:r>
              <a:rPr lang="ko-KR" altLang="en-US" sz="1400" dirty="0">
                <a:solidFill>
                  <a:schemeClr val="tx2"/>
                </a:solidFill>
              </a:rPr>
              <a:t>은 포함되지 아니함을 유의하여야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일시적 또는 우발적으로 </a:t>
            </a:r>
            <a:r>
              <a:rPr lang="ko-KR" altLang="en-US" sz="1400" dirty="0" err="1">
                <a:highlight>
                  <a:srgbClr val="FFFF00"/>
                </a:highlight>
              </a:rPr>
              <a:t>선박ㆍ항공기ㆍ차량</a:t>
            </a:r>
            <a:r>
              <a:rPr lang="ko-KR" altLang="en-US" sz="1400" dirty="0">
                <a:highlight>
                  <a:srgbClr val="FFFF00"/>
                </a:highlight>
              </a:rPr>
              <a:t> 또는 이들에서 사용하는 </a:t>
            </a:r>
            <a:r>
              <a:rPr lang="ko-KR" altLang="en-US" sz="1400" dirty="0" err="1">
                <a:highlight>
                  <a:srgbClr val="FFFF00"/>
                </a:highlight>
              </a:rPr>
              <a:t>기계ㆍ기구</a:t>
            </a:r>
            <a:r>
              <a:rPr lang="ko-KR" altLang="en-US" sz="1400" dirty="0">
                <a:highlight>
                  <a:srgbClr val="FFFF00"/>
                </a:highlight>
              </a:rPr>
              <a:t> 등을 육상에서 수리 등을 하는 경우에 수리장치 또는 방법이 특허에 해당되거나 선박 또는 항공기에 적재된 특허물이 수입을 목적으로 하는 경우</a:t>
            </a:r>
            <a:r>
              <a:rPr lang="ko-KR" altLang="en-US" sz="1400" dirty="0">
                <a:solidFill>
                  <a:schemeClr val="tx2"/>
                </a:solidFill>
              </a:rPr>
              <a:t>에는 이들에 대하여 특허권의 효력이 미친다는 것은 당연하다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" name="자유형 1"/>
          <p:cNvSpPr/>
          <p:nvPr/>
        </p:nvSpPr>
        <p:spPr>
          <a:xfrm>
            <a:off x="1693370" y="4106334"/>
            <a:ext cx="5909734" cy="1193800"/>
          </a:xfrm>
          <a:custGeom>
            <a:avLst/>
            <a:gdLst>
              <a:gd name="connsiteX0" fmla="*/ 0 w 5909734"/>
              <a:gd name="connsiteY0" fmla="*/ 16933 h 1193800"/>
              <a:gd name="connsiteX1" fmla="*/ 1176867 w 5909734"/>
              <a:gd name="connsiteY1" fmla="*/ 1193800 h 1193800"/>
              <a:gd name="connsiteX2" fmla="*/ 4715934 w 5909734"/>
              <a:gd name="connsiteY2" fmla="*/ 1193800 h 1193800"/>
              <a:gd name="connsiteX3" fmla="*/ 5909734 w 5909734"/>
              <a:gd name="connsiteY3" fmla="*/ 0 h 1193800"/>
              <a:gd name="connsiteX4" fmla="*/ 0 w 5909734"/>
              <a:gd name="connsiteY4" fmla="*/ 16933 h 119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9734" h="1193800">
                <a:moveTo>
                  <a:pt x="0" y="16933"/>
                </a:moveTo>
                <a:lnTo>
                  <a:pt x="1176867" y="1193800"/>
                </a:lnTo>
                <a:lnTo>
                  <a:pt x="4715934" y="1193800"/>
                </a:lnTo>
                <a:lnTo>
                  <a:pt x="5909734" y="0"/>
                </a:lnTo>
                <a:lnTo>
                  <a:pt x="0" y="16933"/>
                </a:ln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포인트가 5개인 별 4"/>
          <p:cNvSpPr/>
          <p:nvPr/>
        </p:nvSpPr>
        <p:spPr>
          <a:xfrm>
            <a:off x="2573902" y="4948767"/>
            <a:ext cx="660402" cy="567266"/>
          </a:xfrm>
          <a:prstGeom prst="star5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234524" y="5596462"/>
            <a:ext cx="13484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/>
              <a:t>프로펠러 사용</a:t>
            </a:r>
            <a:endParaRPr lang="en-US" altLang="ko-KR" sz="1600" dirty="0"/>
          </a:p>
          <a:p>
            <a:pPr algn="ctr"/>
            <a:r>
              <a:rPr lang="en-US" altLang="ko-KR" sz="1600" dirty="0"/>
              <a:t>(A)</a:t>
            </a:r>
            <a:endParaRPr lang="ko-KR" altLang="en-US" sz="1600" dirty="0"/>
          </a:p>
        </p:txBody>
      </p:sp>
      <p:sp>
        <p:nvSpPr>
          <p:cNvPr id="8" name="직사각형 7"/>
          <p:cNvSpPr/>
          <p:nvPr/>
        </p:nvSpPr>
        <p:spPr>
          <a:xfrm>
            <a:off x="3556036" y="4639733"/>
            <a:ext cx="2065867" cy="6180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대조 14"/>
          <p:cNvSpPr/>
          <p:nvPr/>
        </p:nvSpPr>
        <p:spPr>
          <a:xfrm rot="5400000">
            <a:off x="3903155" y="4576237"/>
            <a:ext cx="372533" cy="762000"/>
          </a:xfrm>
          <a:prstGeom prst="flowChartCollat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61262" y="4677828"/>
            <a:ext cx="1164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/>
              <a:t>자동차 수입</a:t>
            </a:r>
            <a:endParaRPr lang="en-US" altLang="ko-KR" sz="1600" dirty="0"/>
          </a:p>
          <a:p>
            <a:pPr algn="ctr"/>
            <a:r>
              <a:rPr lang="en-US" altLang="ko-KR" sz="1600" dirty="0"/>
              <a:t>(B)</a:t>
            </a:r>
            <a:endParaRPr lang="ko-KR" alt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4982118" y="5702300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컨테이너</a:t>
            </a:r>
          </a:p>
        </p:txBody>
      </p:sp>
      <p:cxnSp>
        <p:nvCxnSpPr>
          <p:cNvPr id="20" name="구부러진 연결선 19"/>
          <p:cNvCxnSpPr>
            <a:stCxn id="8" idx="2"/>
            <a:endCxn id="40" idx="0"/>
          </p:cNvCxnSpPr>
          <p:nvPr/>
        </p:nvCxnSpPr>
        <p:spPr>
          <a:xfrm rot="16200000" flipH="1">
            <a:off x="4793806" y="5052964"/>
            <a:ext cx="444500" cy="854172"/>
          </a:xfrm>
          <a:prstGeom prst="curved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자유형 20"/>
          <p:cNvSpPr/>
          <p:nvPr/>
        </p:nvSpPr>
        <p:spPr>
          <a:xfrm>
            <a:off x="7086638" y="4470399"/>
            <a:ext cx="3860800" cy="1896534"/>
          </a:xfrm>
          <a:custGeom>
            <a:avLst/>
            <a:gdLst>
              <a:gd name="connsiteX0" fmla="*/ 8467 w 3860800"/>
              <a:gd name="connsiteY0" fmla="*/ 1896534 h 1896534"/>
              <a:gd name="connsiteX1" fmla="*/ 0 w 3860800"/>
              <a:gd name="connsiteY1" fmla="*/ 1176867 h 1896534"/>
              <a:gd name="connsiteX2" fmla="*/ 8467 w 3860800"/>
              <a:gd name="connsiteY2" fmla="*/ 558800 h 1896534"/>
              <a:gd name="connsiteX3" fmla="*/ 25400 w 3860800"/>
              <a:gd name="connsiteY3" fmla="*/ 364067 h 1896534"/>
              <a:gd name="connsiteX4" fmla="*/ 42333 w 3860800"/>
              <a:gd name="connsiteY4" fmla="*/ 330200 h 1896534"/>
              <a:gd name="connsiteX5" fmla="*/ 50800 w 3860800"/>
              <a:gd name="connsiteY5" fmla="*/ 296334 h 1896534"/>
              <a:gd name="connsiteX6" fmla="*/ 67733 w 3860800"/>
              <a:gd name="connsiteY6" fmla="*/ 245534 h 1896534"/>
              <a:gd name="connsiteX7" fmla="*/ 93133 w 3860800"/>
              <a:gd name="connsiteY7" fmla="*/ 110067 h 1896534"/>
              <a:gd name="connsiteX8" fmla="*/ 127000 w 3860800"/>
              <a:gd name="connsiteY8" fmla="*/ 59267 h 1896534"/>
              <a:gd name="connsiteX9" fmla="*/ 135467 w 3860800"/>
              <a:gd name="connsiteY9" fmla="*/ 33867 h 1896534"/>
              <a:gd name="connsiteX10" fmla="*/ 169333 w 3860800"/>
              <a:gd name="connsiteY10" fmla="*/ 25400 h 1896534"/>
              <a:gd name="connsiteX11" fmla="*/ 330200 w 3860800"/>
              <a:gd name="connsiteY11" fmla="*/ 8467 h 1896534"/>
              <a:gd name="connsiteX12" fmla="*/ 745067 w 3860800"/>
              <a:gd name="connsiteY12" fmla="*/ 0 h 1896534"/>
              <a:gd name="connsiteX13" fmla="*/ 3014133 w 3860800"/>
              <a:gd name="connsiteY13" fmla="*/ 8467 h 1896534"/>
              <a:gd name="connsiteX14" fmla="*/ 3098800 w 3860800"/>
              <a:gd name="connsiteY14" fmla="*/ 16934 h 1896534"/>
              <a:gd name="connsiteX15" fmla="*/ 3403600 w 3860800"/>
              <a:gd name="connsiteY15" fmla="*/ 33867 h 1896534"/>
              <a:gd name="connsiteX16" fmla="*/ 3522133 w 3860800"/>
              <a:gd name="connsiteY16" fmla="*/ 84667 h 1896534"/>
              <a:gd name="connsiteX17" fmla="*/ 3556000 w 3860800"/>
              <a:gd name="connsiteY17" fmla="*/ 93134 h 1896534"/>
              <a:gd name="connsiteX18" fmla="*/ 3699933 w 3860800"/>
              <a:gd name="connsiteY18" fmla="*/ 110067 h 1896534"/>
              <a:gd name="connsiteX19" fmla="*/ 3801533 w 3860800"/>
              <a:gd name="connsiteY19" fmla="*/ 101600 h 1896534"/>
              <a:gd name="connsiteX20" fmla="*/ 3860800 w 3860800"/>
              <a:gd name="connsiteY20" fmla="*/ 84667 h 189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60800" h="1896534">
                <a:moveTo>
                  <a:pt x="8467" y="1896534"/>
                </a:moveTo>
                <a:cubicBezTo>
                  <a:pt x="5645" y="1656645"/>
                  <a:pt x="0" y="1416773"/>
                  <a:pt x="0" y="1176867"/>
                </a:cubicBezTo>
                <a:cubicBezTo>
                  <a:pt x="0" y="970825"/>
                  <a:pt x="3786" y="764788"/>
                  <a:pt x="8467" y="558800"/>
                </a:cubicBezTo>
                <a:cubicBezTo>
                  <a:pt x="8652" y="550671"/>
                  <a:pt x="16923" y="397975"/>
                  <a:pt x="25400" y="364067"/>
                </a:cubicBezTo>
                <a:cubicBezTo>
                  <a:pt x="28461" y="351822"/>
                  <a:pt x="37901" y="342018"/>
                  <a:pt x="42333" y="330200"/>
                </a:cubicBezTo>
                <a:cubicBezTo>
                  <a:pt x="46419" y="319305"/>
                  <a:pt x="47456" y="307479"/>
                  <a:pt x="50800" y="296334"/>
                </a:cubicBezTo>
                <a:cubicBezTo>
                  <a:pt x="55929" y="279238"/>
                  <a:pt x="62089" y="262467"/>
                  <a:pt x="67733" y="245534"/>
                </a:cubicBezTo>
                <a:cubicBezTo>
                  <a:pt x="70712" y="215744"/>
                  <a:pt x="71802" y="142063"/>
                  <a:pt x="93133" y="110067"/>
                </a:cubicBezTo>
                <a:cubicBezTo>
                  <a:pt x="104422" y="93134"/>
                  <a:pt x="120564" y="78574"/>
                  <a:pt x="127000" y="59267"/>
                </a:cubicBezTo>
                <a:cubicBezTo>
                  <a:pt x="129822" y="50800"/>
                  <a:pt x="128498" y="39442"/>
                  <a:pt x="135467" y="33867"/>
                </a:cubicBezTo>
                <a:cubicBezTo>
                  <a:pt x="144553" y="26598"/>
                  <a:pt x="158145" y="28597"/>
                  <a:pt x="169333" y="25400"/>
                </a:cubicBezTo>
                <a:cubicBezTo>
                  <a:pt x="246866" y="3248"/>
                  <a:pt x="139133" y="14346"/>
                  <a:pt x="330200" y="8467"/>
                </a:cubicBezTo>
                <a:cubicBezTo>
                  <a:pt x="468452" y="4213"/>
                  <a:pt x="606778" y="2822"/>
                  <a:pt x="745067" y="0"/>
                </a:cubicBezTo>
                <a:lnTo>
                  <a:pt x="3014133" y="8467"/>
                </a:lnTo>
                <a:cubicBezTo>
                  <a:pt x="3042495" y="8671"/>
                  <a:pt x="3070497" y="15088"/>
                  <a:pt x="3098800" y="16934"/>
                </a:cubicBezTo>
                <a:lnTo>
                  <a:pt x="3403600" y="33867"/>
                </a:lnTo>
                <a:cubicBezTo>
                  <a:pt x="3532944" y="70821"/>
                  <a:pt x="3391651" y="25356"/>
                  <a:pt x="3522133" y="84667"/>
                </a:cubicBezTo>
                <a:cubicBezTo>
                  <a:pt x="3532726" y="89482"/>
                  <a:pt x="3544641" y="90610"/>
                  <a:pt x="3556000" y="93134"/>
                </a:cubicBezTo>
                <a:cubicBezTo>
                  <a:pt x="3619546" y="107255"/>
                  <a:pt x="3612594" y="102788"/>
                  <a:pt x="3699933" y="110067"/>
                </a:cubicBezTo>
                <a:cubicBezTo>
                  <a:pt x="3733800" y="107245"/>
                  <a:pt x="3768011" y="107187"/>
                  <a:pt x="3801533" y="101600"/>
                </a:cubicBezTo>
                <a:cubicBezTo>
                  <a:pt x="3908486" y="83775"/>
                  <a:pt x="3826028" y="84667"/>
                  <a:pt x="3860800" y="84667"/>
                </a:cubicBez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6239969" y="3132667"/>
            <a:ext cx="2963334" cy="1312333"/>
          </a:xfrm>
          <a:custGeom>
            <a:avLst/>
            <a:gdLst>
              <a:gd name="connsiteX0" fmla="*/ 2963334 w 2963334"/>
              <a:gd name="connsiteY0" fmla="*/ 1312333 h 1312333"/>
              <a:gd name="connsiteX1" fmla="*/ 2963334 w 2963334"/>
              <a:gd name="connsiteY1" fmla="*/ 0 h 1312333"/>
              <a:gd name="connsiteX2" fmla="*/ 609600 w 2963334"/>
              <a:gd name="connsiteY2" fmla="*/ 0 h 1312333"/>
              <a:gd name="connsiteX3" fmla="*/ 0 w 2963334"/>
              <a:gd name="connsiteY3" fmla="*/ 948266 h 13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3334" h="1312333">
                <a:moveTo>
                  <a:pt x="2963334" y="1312333"/>
                </a:moveTo>
                <a:lnTo>
                  <a:pt x="2963334" y="0"/>
                </a:lnTo>
                <a:lnTo>
                  <a:pt x="609600" y="0"/>
                </a:lnTo>
                <a:lnTo>
                  <a:pt x="0" y="948266"/>
                </a:lnTo>
              </a:path>
            </a:pathLst>
          </a:custGeom>
          <a:ln w="5715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7260612" y="2590905"/>
            <a:ext cx="13484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수리장치 사용</a:t>
            </a:r>
            <a:endParaRPr lang="en-US" altLang="ko-KR" sz="1600" dirty="0"/>
          </a:p>
          <a:p>
            <a:pPr algn="ctr"/>
            <a:r>
              <a:rPr lang="en-US" altLang="ko-KR" sz="1600" dirty="0"/>
              <a:t>(C)</a:t>
            </a:r>
            <a:endParaRPr lang="ko-KR" alt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372534" y="2755949"/>
            <a:ext cx="120738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프로펠러</a:t>
            </a:r>
            <a:r>
              <a:rPr lang="en-US" altLang="ko-KR" sz="1600" dirty="0"/>
              <a:t>(A)</a:t>
            </a:r>
          </a:p>
          <a:p>
            <a:r>
              <a:rPr lang="ko-KR" altLang="en-US" sz="1600" dirty="0"/>
              <a:t>자동차</a:t>
            </a:r>
            <a:r>
              <a:rPr lang="en-US" altLang="ko-KR" sz="1600" dirty="0"/>
              <a:t>(B)</a:t>
            </a:r>
          </a:p>
          <a:p>
            <a:r>
              <a:rPr lang="ko-KR" altLang="en-US" sz="1600" dirty="0"/>
              <a:t>수리장치</a:t>
            </a:r>
            <a:r>
              <a:rPr lang="en-US" altLang="ko-KR" sz="1600" dirty="0"/>
              <a:t>(C)</a:t>
            </a:r>
            <a:endParaRPr lang="ko-KR" alt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515201" y="2421628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특허발명</a:t>
            </a:r>
          </a:p>
        </p:txBody>
      </p:sp>
      <p:sp>
        <p:nvSpPr>
          <p:cNvPr id="26" name="모서리가 둥근 사각형 설명선 25"/>
          <p:cNvSpPr/>
          <p:nvPr/>
        </p:nvSpPr>
        <p:spPr>
          <a:xfrm>
            <a:off x="1437248" y="6040854"/>
            <a:ext cx="868243" cy="326080"/>
          </a:xfrm>
          <a:prstGeom prst="wedgeRoundRectCallout">
            <a:avLst>
              <a:gd name="adj1" fmla="val 47320"/>
              <a:gd name="adj2" fmla="val -86184"/>
              <a:gd name="adj3" fmla="val 16667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비침해</a:t>
            </a:r>
            <a:endParaRPr lang="ko-KR" altLang="en-US" sz="1600" dirty="0"/>
          </a:p>
        </p:txBody>
      </p:sp>
      <p:sp>
        <p:nvSpPr>
          <p:cNvPr id="54" name="모서리가 둥근 사각형 설명선 53"/>
          <p:cNvSpPr/>
          <p:nvPr/>
        </p:nvSpPr>
        <p:spPr>
          <a:xfrm>
            <a:off x="4154848" y="4186654"/>
            <a:ext cx="868243" cy="326080"/>
          </a:xfrm>
          <a:prstGeom prst="wedgeRoundRectCallout">
            <a:avLst>
              <a:gd name="adj1" fmla="val 40494"/>
              <a:gd name="adj2" fmla="val 1215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침해</a:t>
            </a:r>
          </a:p>
        </p:txBody>
      </p:sp>
      <p:sp>
        <p:nvSpPr>
          <p:cNvPr id="56" name="모서리가 둥근 사각형 설명선 55"/>
          <p:cNvSpPr/>
          <p:nvPr/>
        </p:nvSpPr>
        <p:spPr>
          <a:xfrm>
            <a:off x="8709878" y="2340921"/>
            <a:ext cx="868243" cy="326080"/>
          </a:xfrm>
          <a:prstGeom prst="wedgeRoundRectCallout">
            <a:avLst>
              <a:gd name="adj1" fmla="val -67748"/>
              <a:gd name="adj2" fmla="val 4364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침해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116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특허권 하자에 의한 제한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314</a:t>
            </a:fld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519222" y="1457016"/>
            <a:ext cx="2954348" cy="360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권리의 유효성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3896275" y="1457016"/>
            <a:ext cx="2954348" cy="36004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원칙</a:t>
            </a:r>
            <a:r>
              <a:rPr lang="en-US" altLang="ko-KR" sz="1400" dirty="0"/>
              <a:t>: </a:t>
            </a:r>
            <a:r>
              <a:rPr lang="ko-KR" altLang="en-US" sz="1400" dirty="0"/>
              <a:t>권리범위 인정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896275" y="4158911"/>
            <a:ext cx="2954348" cy="36004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예외</a:t>
            </a:r>
            <a:r>
              <a:rPr lang="en-US" altLang="ko-KR" sz="1400" dirty="0"/>
              <a:t>: </a:t>
            </a:r>
            <a:r>
              <a:rPr lang="ko-KR" altLang="en-US" sz="1400" dirty="0"/>
              <a:t>권리범위 불인정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7501448" y="1457016"/>
            <a:ext cx="3657598" cy="3600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원칙</a:t>
            </a:r>
            <a:r>
              <a:rPr lang="en-US" altLang="ko-KR" sz="1400" dirty="0"/>
              <a:t>: </a:t>
            </a:r>
            <a:r>
              <a:rPr lang="ko-KR" altLang="en-US" sz="1400" dirty="0"/>
              <a:t>권리행사가능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7501448" y="4158911"/>
            <a:ext cx="3657598" cy="3600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예외</a:t>
            </a:r>
            <a:r>
              <a:rPr lang="en-US" altLang="ko-KR" sz="1400" dirty="0"/>
              <a:t>: </a:t>
            </a:r>
            <a:r>
              <a:rPr lang="ko-KR" altLang="en-US" sz="1400" dirty="0"/>
              <a:t>권리행사불가능</a:t>
            </a:r>
          </a:p>
        </p:txBody>
      </p:sp>
      <p:cxnSp>
        <p:nvCxnSpPr>
          <p:cNvPr id="31" name="직선 연결선 30"/>
          <p:cNvCxnSpPr>
            <a:endCxn id="21" idx="1"/>
          </p:cNvCxnSpPr>
          <p:nvPr/>
        </p:nvCxnSpPr>
        <p:spPr>
          <a:xfrm>
            <a:off x="3473572" y="1637036"/>
            <a:ext cx="42270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20" idx="3"/>
            <a:endCxn id="22" idx="1"/>
          </p:cNvCxnSpPr>
          <p:nvPr/>
        </p:nvCxnSpPr>
        <p:spPr>
          <a:xfrm>
            <a:off x="3473570" y="1637036"/>
            <a:ext cx="422705" cy="270189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stCxn id="21" idx="3"/>
            <a:endCxn id="30" idx="1"/>
          </p:cNvCxnSpPr>
          <p:nvPr/>
        </p:nvCxnSpPr>
        <p:spPr>
          <a:xfrm>
            <a:off x="6850623" y="1637036"/>
            <a:ext cx="650825" cy="270189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19222" y="1817057"/>
            <a:ext cx="2954351" cy="8975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ko-KR" altLang="en-US" sz="1200" dirty="0"/>
              <a:t>특허권의 하자가 있더라도 하자를 이유로 특허취소신청의 취소결정이나 무효심판의 </a:t>
            </a:r>
            <a:r>
              <a:rPr lang="ko-KR" altLang="en-US" sz="1200" dirty="0" err="1"/>
              <a:t>인용심결확정에</a:t>
            </a:r>
            <a:r>
              <a:rPr lang="ko-KR" altLang="en-US" sz="1200" dirty="0"/>
              <a:t> 의한 소멸되기 전까지는 권리가 유효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96274" y="4518952"/>
            <a:ext cx="2954351" cy="10156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 err="1"/>
              <a:t>신규성</a:t>
            </a:r>
            <a:r>
              <a:rPr lang="ko-KR" altLang="en-US" sz="1200" dirty="0"/>
              <a:t> 위반인데 착오로 등록된 경우</a:t>
            </a:r>
            <a:endParaRPr lang="en-US" altLang="ko-KR" sz="1200" dirty="0"/>
          </a:p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 err="1"/>
              <a:t>선출원</a:t>
            </a:r>
            <a:r>
              <a:rPr lang="ko-KR" altLang="en-US" sz="1200" dirty="0"/>
              <a:t> 위반인데 착오로 등록된 경우</a:t>
            </a:r>
            <a:endParaRPr lang="en-US" altLang="ko-KR" sz="1200" dirty="0"/>
          </a:p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/>
              <a:t>확대된 </a:t>
            </a:r>
            <a:r>
              <a:rPr lang="ko-KR" altLang="en-US" sz="1200" dirty="0" err="1"/>
              <a:t>선출원</a:t>
            </a:r>
            <a:r>
              <a:rPr lang="ko-KR" altLang="en-US" sz="1200" dirty="0"/>
              <a:t> 위반인데 착오로 등록된 경우</a:t>
            </a:r>
            <a:endParaRPr lang="en-US" altLang="ko-KR" sz="1200" dirty="0"/>
          </a:p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 err="1"/>
              <a:t>실시불가능한</a:t>
            </a:r>
            <a:r>
              <a:rPr lang="ko-KR" altLang="en-US" sz="1200" dirty="0"/>
              <a:t> 경우</a:t>
            </a:r>
            <a:endParaRPr lang="en-US" altLang="ko-KR" sz="1200" dirty="0"/>
          </a:p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/>
              <a:t>기술적 범위를 특정할 수 없는 경우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1446" y="1817057"/>
            <a:ext cx="3657602" cy="15696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/>
              <a:t>권리행사 후 취소결정이나 </a:t>
            </a:r>
            <a:r>
              <a:rPr lang="ko-KR" altLang="en-US" sz="1200" dirty="0" err="1"/>
              <a:t>무효심결의</a:t>
            </a:r>
            <a:r>
              <a:rPr lang="ko-KR" altLang="en-US" sz="1200" dirty="0"/>
              <a:t> 확정에 의하여 특허권이 소급하여 소멸한 경우</a:t>
            </a:r>
            <a:r>
              <a:rPr lang="en-US" altLang="ko-KR" sz="1200" dirty="0"/>
              <a:t>, </a:t>
            </a:r>
            <a:r>
              <a:rPr lang="ko-KR" altLang="en-US" sz="1200" dirty="0"/>
              <a:t>권리침해소송 등의 민사소송의 확정판결 혹은 </a:t>
            </a:r>
            <a:r>
              <a:rPr lang="ko-KR" altLang="en-US" sz="1200" dirty="0" err="1"/>
              <a:t>침해죄의</a:t>
            </a:r>
            <a:r>
              <a:rPr lang="ko-KR" altLang="en-US" sz="1200" dirty="0"/>
              <a:t> 확정판결에 대하여 재심의 소를 제기가능</a:t>
            </a:r>
            <a:endParaRPr lang="en-US" altLang="ko-KR" sz="1200" dirty="0"/>
          </a:p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/>
              <a:t>특허권자가 </a:t>
            </a:r>
            <a:r>
              <a:rPr lang="ko-KR" altLang="en-US" sz="1200" dirty="0" err="1"/>
              <a:t>무효심결의</a:t>
            </a:r>
            <a:r>
              <a:rPr lang="ko-KR" altLang="en-US" sz="1200" dirty="0"/>
              <a:t> 확정 전에 특허권을 행사하여 고의 또는 과실로 타인에게 손해를 입힌 경우 그 손해를 배상해야 하며</a:t>
            </a:r>
            <a:r>
              <a:rPr lang="en-US" altLang="ko-KR" sz="1200" dirty="0"/>
              <a:t>, </a:t>
            </a:r>
            <a:r>
              <a:rPr lang="ko-KR" altLang="en-US" sz="1200" dirty="0"/>
              <a:t>고의 또는 과실에 없더라도 부당이득은 반환해야 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1446" y="4518952"/>
            <a:ext cx="3657602" cy="10156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/>
              <a:t>특허발명에 대한 취소결정이나 </a:t>
            </a:r>
            <a:r>
              <a:rPr lang="ko-KR" altLang="en-US" sz="1200" dirty="0" err="1"/>
              <a:t>무효심결이</a:t>
            </a:r>
            <a:r>
              <a:rPr lang="ko-KR" altLang="en-US" sz="1200" dirty="0"/>
              <a:t> 확정되기 전이라고 하더라도 특허발명의 진보성이 부정되어 그 특허가 취소결정이나 무효로 될 것임이 명백한 경우에는 그 특허권에 기초한 침해금지 또는 손해배상 등의 청구는 특별한 사정이 없는 한 권리남용에 해당하여 불허</a:t>
            </a:r>
          </a:p>
        </p:txBody>
      </p:sp>
      <p:sp>
        <p:nvSpPr>
          <p:cNvPr id="41" name="타원 40"/>
          <p:cNvSpPr/>
          <p:nvPr/>
        </p:nvSpPr>
        <p:spPr>
          <a:xfrm>
            <a:off x="304800" y="1287830"/>
            <a:ext cx="347920" cy="349207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19222" y="5961911"/>
            <a:ext cx="10339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buFont typeface="Arial" charset="0"/>
              <a:buChar char="•"/>
            </a:pPr>
            <a:r>
              <a:rPr lang="ko-KR" altLang="en-US" sz="1200" dirty="0"/>
              <a:t>권리범위 불인정하는 것을 이유로 실시자가 항변하는 것은 </a:t>
            </a:r>
            <a:r>
              <a:rPr lang="ko-KR" altLang="en-US" sz="1200" dirty="0">
                <a:solidFill>
                  <a:srgbClr val="FF0000"/>
                </a:solidFill>
              </a:rPr>
              <a:t>특허권 하자의 항변</a:t>
            </a:r>
            <a:r>
              <a:rPr lang="en-US" altLang="ko-KR" sz="1200" dirty="0"/>
              <a:t>,</a:t>
            </a:r>
            <a:r>
              <a:rPr lang="ko-KR" altLang="en-US" sz="1200" dirty="0"/>
              <a:t> 권리행사불가능을 이유로 실시자가 항변하는 것은 </a:t>
            </a:r>
            <a:r>
              <a:rPr lang="ko-KR" altLang="en-US" sz="1200" dirty="0">
                <a:solidFill>
                  <a:srgbClr val="FF0000"/>
                </a:solidFill>
              </a:rPr>
              <a:t>권리남용의 항변</a:t>
            </a:r>
            <a:r>
              <a:rPr lang="ko-KR" altLang="en-US" sz="1200" dirty="0"/>
              <a:t>이라 함</a:t>
            </a:r>
            <a:endParaRPr lang="en-US" altLang="ko-KR" sz="1200" dirty="0"/>
          </a:p>
          <a:p>
            <a:pPr marL="90488" indent="-90488">
              <a:buFont typeface="Arial" charset="0"/>
              <a:buChar char="•"/>
            </a:pPr>
            <a:r>
              <a:rPr lang="ko-KR" altLang="en-US" sz="1200" dirty="0"/>
              <a:t>특허권 하자의 항변은 침해소송뿐만 아니라 권리범위확인심판에서 가능하나</a:t>
            </a:r>
            <a:r>
              <a:rPr lang="en-US" altLang="ko-KR" sz="1200" dirty="0"/>
              <a:t>, </a:t>
            </a:r>
            <a:r>
              <a:rPr lang="ko-KR" altLang="en-US" sz="1200" dirty="0"/>
              <a:t>권리남용의 항변은 침해소송에서만 가능함</a:t>
            </a:r>
            <a:endParaRPr lang="en-US" altLang="ko-KR" sz="1200" dirty="0"/>
          </a:p>
        </p:txBody>
      </p:sp>
      <p:sp>
        <p:nvSpPr>
          <p:cNvPr id="46" name="타원 45"/>
          <p:cNvSpPr/>
          <p:nvPr/>
        </p:nvSpPr>
        <p:spPr>
          <a:xfrm>
            <a:off x="3810000" y="3969036"/>
            <a:ext cx="347920" cy="349207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47" name="꺾인 연결선 46"/>
          <p:cNvCxnSpPr>
            <a:stCxn id="21" idx="3"/>
            <a:endCxn id="26" idx="1"/>
          </p:cNvCxnSpPr>
          <p:nvPr/>
        </p:nvCxnSpPr>
        <p:spPr>
          <a:xfrm>
            <a:off x="6850623" y="1637036"/>
            <a:ext cx="650825" cy="1270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/>
          <p:cNvSpPr/>
          <p:nvPr/>
        </p:nvSpPr>
        <p:spPr>
          <a:xfrm>
            <a:off x="7327488" y="1282412"/>
            <a:ext cx="347920" cy="349207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9" name="타원 48"/>
          <p:cNvSpPr/>
          <p:nvPr/>
        </p:nvSpPr>
        <p:spPr>
          <a:xfrm>
            <a:off x="7327488" y="3969035"/>
            <a:ext cx="347920" cy="349207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81997CC6-2A9C-4979-FFBB-786BD844DE42}"/>
              </a:ext>
            </a:extLst>
          </p:cNvPr>
          <p:cNvSpPr/>
          <p:nvPr/>
        </p:nvSpPr>
        <p:spPr>
          <a:xfrm>
            <a:off x="152400" y="2975441"/>
            <a:ext cx="3280711" cy="2206159"/>
          </a:xfrm>
          <a:prstGeom prst="wedgeRoundRectCallout">
            <a:avLst>
              <a:gd name="adj1" fmla="val -32667"/>
              <a:gd name="adj2" fmla="val -5848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</a:rPr>
              <a:t>행정처분의 공정력이 부정되어 당연무효가 되기 위해서는 그 하자가 법규의 중요한 부분을 위반한 </a:t>
            </a:r>
            <a:r>
              <a:rPr lang="ko-KR" altLang="en-US" sz="1050" dirty="0">
                <a:solidFill>
                  <a:srgbClr val="FF0000"/>
                </a:solidFill>
              </a:rPr>
              <a:t>중대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</a:rPr>
              <a:t>한 것으로서 객관적으로 </a:t>
            </a:r>
            <a:r>
              <a:rPr lang="ko-KR" altLang="en-US" sz="1050" dirty="0">
                <a:solidFill>
                  <a:srgbClr val="FF0000"/>
                </a:solidFill>
              </a:rPr>
              <a:t>명백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</a:rPr>
              <a:t>하여야 하나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지식재산처 심사관이 특허결정을 할 때에는 엄격한 선행기술의 조사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거절이유의 통지 등의 절차를 거쳐 특허출원에 대하여 거절이유를 발견할 수 없는 때에 한하여 이루어지는 점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특허무효사유 가운데는 신규성 또는 진보성 결여와 같이 단순한 사실확정의 문제에서 나아가 법적 평가의 성격을 지니는 것들이 적지 </a:t>
            </a:r>
            <a:r>
              <a:rPr lang="ko-KR" altLang="en-US" sz="1050" dirty="0" err="1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않은데다가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 대체로 그 판단이 반드시 자명하지는 아니한 점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</a:rPr>
              <a:t>등에 비추어 보면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</a:rPr>
              <a:t>특허법 소정의 특허무효사유는 원칙적으로 행정법상의 당연무효사유에 해당한다고 보기는 어렵고 단순한 취소사유에 불과하다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ko-KR" altLang="en-US" sz="105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679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특허발명이 공지기술과 동일한 경우 특허권의 효력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315</a:t>
            </a:fld>
            <a:endParaRPr lang="ko-KR" altLang="en-US"/>
          </a:p>
        </p:txBody>
      </p:sp>
      <p:cxnSp>
        <p:nvCxnSpPr>
          <p:cNvPr id="23" name="직선 연결선 22"/>
          <p:cNvCxnSpPr/>
          <p:nvPr/>
        </p:nvCxnSpPr>
        <p:spPr>
          <a:xfrm>
            <a:off x="752475" y="2378508"/>
            <a:ext cx="40142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/>
          <p:cNvSpPr/>
          <p:nvPr/>
        </p:nvSpPr>
        <p:spPr>
          <a:xfrm>
            <a:off x="1174640" y="229378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5" name="직사각형 24"/>
          <p:cNvSpPr/>
          <p:nvPr/>
        </p:nvSpPr>
        <p:spPr>
          <a:xfrm>
            <a:off x="743898" y="2578184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7" name="직선 연결선 26"/>
          <p:cNvCxnSpPr>
            <a:stCxn id="25" idx="0"/>
            <a:endCxn id="24" idx="4"/>
          </p:cNvCxnSpPr>
          <p:nvPr/>
        </p:nvCxnSpPr>
        <p:spPr>
          <a:xfrm flipV="1">
            <a:off x="1252009" y="2455119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/>
          <p:cNvSpPr/>
          <p:nvPr/>
        </p:nvSpPr>
        <p:spPr>
          <a:xfrm>
            <a:off x="4027907" y="229378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4" name="직사각형 33"/>
          <p:cNvSpPr/>
          <p:nvPr/>
        </p:nvSpPr>
        <p:spPr>
          <a:xfrm>
            <a:off x="3597165" y="2578184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35" name="직선 연결선 34"/>
          <p:cNvCxnSpPr>
            <a:stCxn id="34" idx="0"/>
            <a:endCxn id="32" idx="4"/>
          </p:cNvCxnSpPr>
          <p:nvPr/>
        </p:nvCxnSpPr>
        <p:spPr>
          <a:xfrm flipV="1">
            <a:off x="4105276" y="2455119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2122906" y="229378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3" name="직사각형 42"/>
          <p:cNvSpPr/>
          <p:nvPr/>
        </p:nvSpPr>
        <p:spPr>
          <a:xfrm>
            <a:off x="1692164" y="1773859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44" name="직선 연결선 43"/>
          <p:cNvCxnSpPr>
            <a:stCxn id="43" idx="2"/>
            <a:endCxn id="42" idx="0"/>
          </p:cNvCxnSpPr>
          <p:nvPr/>
        </p:nvCxnSpPr>
        <p:spPr>
          <a:xfrm>
            <a:off x="2200275" y="2156853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3139128" y="229378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1" name="직사각형 50"/>
          <p:cNvSpPr/>
          <p:nvPr/>
        </p:nvSpPr>
        <p:spPr>
          <a:xfrm>
            <a:off x="2708386" y="1773859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착오등록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52" name="직선 연결선 51"/>
          <p:cNvCxnSpPr>
            <a:stCxn id="51" idx="2"/>
            <a:endCxn id="50" idx="0"/>
          </p:cNvCxnSpPr>
          <p:nvPr/>
        </p:nvCxnSpPr>
        <p:spPr>
          <a:xfrm>
            <a:off x="3216497" y="2156853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433504" y="1483275"/>
            <a:ext cx="4241056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100" b="1" dirty="0"/>
              <a:t>(</a:t>
            </a:r>
            <a:r>
              <a:rPr lang="ko-KR" altLang="en-US" sz="1100" b="1" dirty="0"/>
              <a:t>유형</a:t>
            </a:r>
            <a:r>
              <a:rPr lang="en-US" altLang="ko-KR" sz="1100" b="1" dirty="0"/>
              <a:t>1)</a:t>
            </a:r>
            <a:r>
              <a:rPr lang="ko-KR" altLang="en-US" sz="1100" dirty="0"/>
              <a:t> 특허발명이 공지기술과 내재적 동일성</a:t>
            </a:r>
            <a:r>
              <a:rPr lang="en-US" altLang="ko-KR" sz="1100" dirty="0"/>
              <a:t>(</a:t>
            </a:r>
            <a:r>
              <a:rPr lang="ko-KR" altLang="en-US" sz="1100" dirty="0" err="1"/>
              <a:t>문언적</a:t>
            </a:r>
            <a:r>
              <a:rPr lang="ko-KR" altLang="en-US" sz="1100" dirty="0"/>
              <a:t> 동일</a:t>
            </a:r>
            <a:r>
              <a:rPr lang="en-US" altLang="ko-KR" sz="1100" dirty="0"/>
              <a:t>)</a:t>
            </a:r>
            <a:r>
              <a:rPr lang="ko-KR" altLang="en-US" sz="1100" dirty="0"/>
              <a:t>이 있는 경우</a:t>
            </a:r>
          </a:p>
        </p:txBody>
      </p:sp>
      <p:cxnSp>
        <p:nvCxnSpPr>
          <p:cNvPr id="79" name="직선 연결선 78"/>
          <p:cNvCxnSpPr/>
          <p:nvPr/>
        </p:nvCxnSpPr>
        <p:spPr>
          <a:xfrm flipH="1">
            <a:off x="336431" y="1403719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431800" y="1478608"/>
            <a:ext cx="4521200" cy="16117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" name="직선 연결선 112"/>
          <p:cNvCxnSpPr/>
          <p:nvPr/>
        </p:nvCxnSpPr>
        <p:spPr>
          <a:xfrm>
            <a:off x="752475" y="4190376"/>
            <a:ext cx="40142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타원 113"/>
          <p:cNvSpPr/>
          <p:nvPr/>
        </p:nvSpPr>
        <p:spPr>
          <a:xfrm>
            <a:off x="1174640" y="410564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15" name="직사각형 114"/>
          <p:cNvSpPr/>
          <p:nvPr/>
        </p:nvSpPr>
        <p:spPr>
          <a:xfrm>
            <a:off x="743898" y="4390052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a1+B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16" name="직선 연결선 115"/>
          <p:cNvCxnSpPr>
            <a:stCxn id="115" idx="0"/>
            <a:endCxn id="114" idx="4"/>
          </p:cNvCxnSpPr>
          <p:nvPr/>
        </p:nvCxnSpPr>
        <p:spPr>
          <a:xfrm flipV="1">
            <a:off x="1252009" y="4266987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타원 116"/>
          <p:cNvSpPr/>
          <p:nvPr/>
        </p:nvSpPr>
        <p:spPr>
          <a:xfrm>
            <a:off x="4188780" y="410564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18" name="직사각형 117"/>
          <p:cNvSpPr/>
          <p:nvPr/>
        </p:nvSpPr>
        <p:spPr>
          <a:xfrm>
            <a:off x="3758038" y="4390052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a2+B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19" name="직선 연결선 118"/>
          <p:cNvCxnSpPr>
            <a:stCxn id="118" idx="0"/>
            <a:endCxn id="117" idx="4"/>
          </p:cNvCxnSpPr>
          <p:nvPr/>
        </p:nvCxnSpPr>
        <p:spPr>
          <a:xfrm flipV="1">
            <a:off x="4266149" y="4266987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타원 119"/>
          <p:cNvSpPr/>
          <p:nvPr/>
        </p:nvSpPr>
        <p:spPr>
          <a:xfrm>
            <a:off x="1868896" y="410564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1" name="직사각형 120"/>
          <p:cNvSpPr/>
          <p:nvPr/>
        </p:nvSpPr>
        <p:spPr>
          <a:xfrm>
            <a:off x="1438154" y="3585727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22" name="직선 연결선 121"/>
          <p:cNvCxnSpPr>
            <a:stCxn id="121" idx="2"/>
            <a:endCxn id="120" idx="0"/>
          </p:cNvCxnSpPr>
          <p:nvPr/>
        </p:nvCxnSpPr>
        <p:spPr>
          <a:xfrm>
            <a:off x="1946265" y="3968721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타원 122"/>
          <p:cNvSpPr/>
          <p:nvPr/>
        </p:nvSpPr>
        <p:spPr>
          <a:xfrm>
            <a:off x="2885118" y="410564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4" name="직사각형 123"/>
          <p:cNvSpPr/>
          <p:nvPr/>
        </p:nvSpPr>
        <p:spPr>
          <a:xfrm>
            <a:off x="2454376" y="3585727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착오등록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125" name="직선 연결선 124"/>
          <p:cNvCxnSpPr>
            <a:stCxn id="124" idx="2"/>
            <a:endCxn id="123" idx="0"/>
          </p:cNvCxnSpPr>
          <p:nvPr/>
        </p:nvCxnSpPr>
        <p:spPr>
          <a:xfrm>
            <a:off x="2962487" y="3968721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/>
          <p:cNvSpPr/>
          <p:nvPr/>
        </p:nvSpPr>
        <p:spPr>
          <a:xfrm>
            <a:off x="433503" y="3252808"/>
            <a:ext cx="4241056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100" b="1" dirty="0"/>
              <a:t>(</a:t>
            </a:r>
            <a:r>
              <a:rPr lang="ko-KR" altLang="en-US" sz="1100" b="1" dirty="0"/>
              <a:t>유형</a:t>
            </a:r>
            <a:r>
              <a:rPr lang="en-US" altLang="ko-KR" sz="1100" b="1" dirty="0"/>
              <a:t>2)</a:t>
            </a:r>
            <a:r>
              <a:rPr lang="ko-KR" altLang="en-US" sz="1100" dirty="0"/>
              <a:t> 특허발명이 공지기술과 실질적 동일성이 있는 경우</a:t>
            </a:r>
          </a:p>
        </p:txBody>
      </p:sp>
      <p:cxnSp>
        <p:nvCxnSpPr>
          <p:cNvPr id="127" name="직선 연결선 126"/>
          <p:cNvCxnSpPr/>
          <p:nvPr/>
        </p:nvCxnSpPr>
        <p:spPr>
          <a:xfrm flipH="1">
            <a:off x="336431" y="3173252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/>
          <p:cNvSpPr/>
          <p:nvPr/>
        </p:nvSpPr>
        <p:spPr>
          <a:xfrm>
            <a:off x="431800" y="3248141"/>
            <a:ext cx="4521200" cy="16117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/>
          <p:cNvSpPr/>
          <p:nvPr/>
        </p:nvSpPr>
        <p:spPr>
          <a:xfrm>
            <a:off x="433503" y="5200147"/>
            <a:ext cx="4241056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100" b="1" dirty="0"/>
              <a:t>(</a:t>
            </a:r>
            <a:r>
              <a:rPr lang="ko-KR" altLang="en-US" sz="1100" b="1" dirty="0"/>
              <a:t>유형</a:t>
            </a:r>
            <a:r>
              <a:rPr lang="en-US" altLang="ko-KR" sz="1100" b="1" dirty="0"/>
              <a:t>3)</a:t>
            </a:r>
            <a:r>
              <a:rPr lang="ko-KR" altLang="en-US" sz="1100" dirty="0"/>
              <a:t> 특허발명의 구성요소 일부가 공지기술인 경우</a:t>
            </a:r>
          </a:p>
        </p:txBody>
      </p:sp>
      <p:cxnSp>
        <p:nvCxnSpPr>
          <p:cNvPr id="143" name="직선 연결선 142"/>
          <p:cNvCxnSpPr/>
          <p:nvPr/>
        </p:nvCxnSpPr>
        <p:spPr>
          <a:xfrm flipH="1">
            <a:off x="336431" y="5120591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/>
          <p:cNvSpPr/>
          <p:nvPr/>
        </p:nvSpPr>
        <p:spPr>
          <a:xfrm>
            <a:off x="431800" y="5195480"/>
            <a:ext cx="4521200" cy="16117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타원 144"/>
          <p:cNvSpPr/>
          <p:nvPr/>
        </p:nvSpPr>
        <p:spPr>
          <a:xfrm>
            <a:off x="3343593" y="410564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46" name="직사각형 145"/>
          <p:cNvSpPr/>
          <p:nvPr/>
        </p:nvSpPr>
        <p:spPr>
          <a:xfrm>
            <a:off x="2912851" y="4390052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a1+B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47" name="직선 연결선 146"/>
          <p:cNvCxnSpPr>
            <a:stCxn id="146" idx="0"/>
            <a:endCxn id="145" idx="4"/>
          </p:cNvCxnSpPr>
          <p:nvPr/>
        </p:nvCxnSpPr>
        <p:spPr>
          <a:xfrm flipV="1">
            <a:off x="3420962" y="4266987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3503" y="4868331"/>
            <a:ext cx="21387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* A</a:t>
            </a:r>
            <a:r>
              <a:rPr lang="ko-KR" altLang="en-US" sz="1100" dirty="0"/>
              <a:t>는 </a:t>
            </a:r>
            <a:r>
              <a:rPr lang="en-US" altLang="ko-KR" sz="1100" dirty="0"/>
              <a:t>a1</a:t>
            </a:r>
            <a:r>
              <a:rPr lang="ko-KR" altLang="en-US" sz="1100" dirty="0"/>
              <a:t>과 </a:t>
            </a:r>
            <a:r>
              <a:rPr lang="en-US" altLang="ko-KR" sz="1100" dirty="0"/>
              <a:t>a2</a:t>
            </a:r>
            <a:r>
              <a:rPr lang="ko-KR" altLang="en-US" sz="1100" dirty="0"/>
              <a:t>를 포괄하는 개념임</a:t>
            </a:r>
          </a:p>
        </p:txBody>
      </p:sp>
      <p:cxnSp>
        <p:nvCxnSpPr>
          <p:cNvPr id="148" name="직선 연결선 147"/>
          <p:cNvCxnSpPr/>
          <p:nvPr/>
        </p:nvCxnSpPr>
        <p:spPr>
          <a:xfrm>
            <a:off x="752475" y="6116581"/>
            <a:ext cx="40142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타원 148"/>
          <p:cNvSpPr/>
          <p:nvPr/>
        </p:nvSpPr>
        <p:spPr>
          <a:xfrm>
            <a:off x="1174640" y="60318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50" name="직사각형 149"/>
          <p:cNvSpPr/>
          <p:nvPr/>
        </p:nvSpPr>
        <p:spPr>
          <a:xfrm>
            <a:off x="743898" y="6316257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51" name="직선 연결선 150"/>
          <p:cNvCxnSpPr>
            <a:stCxn id="150" idx="0"/>
            <a:endCxn id="149" idx="4"/>
          </p:cNvCxnSpPr>
          <p:nvPr/>
        </p:nvCxnSpPr>
        <p:spPr>
          <a:xfrm flipV="1">
            <a:off x="1252009" y="6193192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타원 151"/>
          <p:cNvSpPr/>
          <p:nvPr/>
        </p:nvSpPr>
        <p:spPr>
          <a:xfrm>
            <a:off x="4188780" y="60318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53" name="직사각형 152"/>
          <p:cNvSpPr/>
          <p:nvPr/>
        </p:nvSpPr>
        <p:spPr>
          <a:xfrm>
            <a:off x="3758038" y="6316257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54" name="직선 연결선 153"/>
          <p:cNvCxnSpPr>
            <a:stCxn id="153" idx="0"/>
            <a:endCxn id="152" idx="4"/>
          </p:cNvCxnSpPr>
          <p:nvPr/>
        </p:nvCxnSpPr>
        <p:spPr>
          <a:xfrm flipV="1">
            <a:off x="4266149" y="6193192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타원 154"/>
          <p:cNvSpPr/>
          <p:nvPr/>
        </p:nvSpPr>
        <p:spPr>
          <a:xfrm>
            <a:off x="1868896" y="60318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56" name="직사각형 155"/>
          <p:cNvSpPr/>
          <p:nvPr/>
        </p:nvSpPr>
        <p:spPr>
          <a:xfrm>
            <a:off x="1438154" y="5511932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57" name="직선 연결선 156"/>
          <p:cNvCxnSpPr>
            <a:stCxn id="156" idx="2"/>
            <a:endCxn id="155" idx="0"/>
          </p:cNvCxnSpPr>
          <p:nvPr/>
        </p:nvCxnSpPr>
        <p:spPr>
          <a:xfrm>
            <a:off x="1946265" y="5894926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타원 157"/>
          <p:cNvSpPr/>
          <p:nvPr/>
        </p:nvSpPr>
        <p:spPr>
          <a:xfrm>
            <a:off x="2885118" y="60318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59" name="직사각형 158"/>
          <p:cNvSpPr/>
          <p:nvPr/>
        </p:nvSpPr>
        <p:spPr>
          <a:xfrm>
            <a:off x="2454376" y="5511932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60" name="직선 연결선 159"/>
          <p:cNvCxnSpPr>
            <a:stCxn id="159" idx="2"/>
            <a:endCxn id="158" idx="0"/>
          </p:cNvCxnSpPr>
          <p:nvPr/>
        </p:nvCxnSpPr>
        <p:spPr>
          <a:xfrm>
            <a:off x="2962487" y="5894926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타원 160"/>
          <p:cNvSpPr/>
          <p:nvPr/>
        </p:nvSpPr>
        <p:spPr>
          <a:xfrm>
            <a:off x="3343593" y="60318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62" name="직사각형 161"/>
          <p:cNvSpPr/>
          <p:nvPr/>
        </p:nvSpPr>
        <p:spPr>
          <a:xfrm>
            <a:off x="2912851" y="6316257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63" name="직선 연결선 162"/>
          <p:cNvCxnSpPr>
            <a:stCxn id="162" idx="0"/>
            <a:endCxn id="161" idx="4"/>
          </p:cNvCxnSpPr>
          <p:nvPr/>
        </p:nvCxnSpPr>
        <p:spPr>
          <a:xfrm flipV="1">
            <a:off x="3420962" y="6193192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0376" y="962710"/>
            <a:ext cx="1919550" cy="389513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rtlCol="0">
            <a:spAutoFit/>
          </a:bodyPr>
          <a:lstStyle/>
          <a:p>
            <a:r>
              <a:rPr lang="ko-KR" altLang="en-US" dirty="0"/>
              <a:t>특허요건의 판단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59154" y="962710"/>
            <a:ext cx="1451171" cy="389513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rtlCol="0">
            <a:spAutoFit/>
          </a:bodyPr>
          <a:lstStyle/>
          <a:p>
            <a:r>
              <a:rPr lang="ko-KR" altLang="en-US" dirty="0"/>
              <a:t>침해의 판단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046137" y="1479356"/>
            <a:ext cx="30903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공지 </a:t>
            </a:r>
            <a:r>
              <a:rPr lang="en-US" altLang="ko-KR" sz="1600" dirty="0"/>
              <a:t>A+B</a:t>
            </a:r>
            <a:r>
              <a:rPr lang="ko-KR" altLang="en-US" sz="1600" dirty="0"/>
              <a:t>와 출원된 발명 </a:t>
            </a:r>
            <a:r>
              <a:rPr lang="en-US" altLang="ko-KR" sz="1600" dirty="0"/>
              <a:t>A+B</a:t>
            </a:r>
            <a:r>
              <a:rPr lang="ko-KR" altLang="en-US" sz="1600" dirty="0"/>
              <a:t>는 동일하기 때문에 </a:t>
            </a:r>
            <a:r>
              <a:rPr lang="ko-KR" altLang="en-US" sz="1600" dirty="0" err="1"/>
              <a:t>신규성</a:t>
            </a:r>
            <a:r>
              <a:rPr lang="ko-KR" altLang="en-US" sz="1600" dirty="0"/>
              <a:t> 위반임에도 불구하고 착오로 등록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5046136" y="3198972"/>
            <a:ext cx="30903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공지 </a:t>
            </a:r>
            <a:r>
              <a:rPr lang="en-US" altLang="ko-KR" sz="1600" dirty="0"/>
              <a:t>a1+B</a:t>
            </a:r>
            <a:r>
              <a:rPr lang="ko-KR" altLang="en-US" sz="1600" dirty="0"/>
              <a:t>와 출원된 발명 </a:t>
            </a:r>
            <a:r>
              <a:rPr lang="en-US" altLang="ko-KR" sz="1600" dirty="0"/>
              <a:t>A+B</a:t>
            </a:r>
            <a:r>
              <a:rPr lang="ko-KR" altLang="en-US" sz="1600" dirty="0"/>
              <a:t>는 동일하기 때문에 </a:t>
            </a:r>
            <a:r>
              <a:rPr lang="ko-KR" altLang="en-US" sz="1600" dirty="0" err="1"/>
              <a:t>신규성</a:t>
            </a:r>
            <a:r>
              <a:rPr lang="ko-KR" altLang="en-US" sz="1600" dirty="0"/>
              <a:t> 위반임에도 불구하고 착오로 등록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5037670" y="5129941"/>
            <a:ext cx="30987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공지 </a:t>
            </a:r>
            <a:r>
              <a:rPr lang="en-US" altLang="ko-KR" sz="1600" dirty="0"/>
              <a:t>A</a:t>
            </a:r>
            <a:r>
              <a:rPr lang="ko-KR" altLang="en-US" sz="1600" dirty="0"/>
              <a:t>와 출원된 발명 </a:t>
            </a:r>
            <a:r>
              <a:rPr lang="en-US" altLang="ko-KR" sz="1600" dirty="0"/>
              <a:t>A+B</a:t>
            </a:r>
            <a:r>
              <a:rPr lang="ko-KR" altLang="en-US" sz="1600" dirty="0"/>
              <a:t>는 동일하지 않기 때문에 </a:t>
            </a:r>
            <a:r>
              <a:rPr lang="ko-KR" altLang="en-US" sz="1600" dirty="0" err="1"/>
              <a:t>신규성</a:t>
            </a:r>
            <a:r>
              <a:rPr lang="ko-KR" altLang="en-US" sz="1600" dirty="0"/>
              <a:t> 위반이 아니고</a:t>
            </a:r>
            <a:r>
              <a:rPr lang="en-US" altLang="ko-KR" sz="1600" dirty="0"/>
              <a:t>, </a:t>
            </a:r>
            <a:r>
              <a:rPr lang="ko-KR" altLang="en-US" sz="1600" dirty="0"/>
              <a:t>만약 </a:t>
            </a:r>
            <a:r>
              <a:rPr lang="en-US" altLang="ko-KR" sz="1600" dirty="0"/>
              <a:t>A+B</a:t>
            </a:r>
            <a:r>
              <a:rPr lang="ko-KR" altLang="en-US" sz="1600" dirty="0"/>
              <a:t>가 </a:t>
            </a:r>
            <a:r>
              <a:rPr lang="en-US" altLang="ko-KR" sz="1600" dirty="0"/>
              <a:t>A</a:t>
            </a:r>
            <a:r>
              <a:rPr lang="ko-KR" altLang="en-US" sz="1600" dirty="0"/>
              <a:t>로부터 용이하지 않다면 </a:t>
            </a:r>
            <a:r>
              <a:rPr lang="ko-KR" altLang="en-US" sz="1600" dirty="0" err="1"/>
              <a:t>등록가능함</a:t>
            </a:r>
            <a:r>
              <a:rPr lang="ko-KR" altLang="en-US" sz="1600" dirty="0"/>
              <a:t> </a:t>
            </a:r>
          </a:p>
        </p:txBody>
      </p:sp>
      <p:cxnSp>
        <p:nvCxnSpPr>
          <p:cNvPr id="166" name="직선 연결선 165"/>
          <p:cNvCxnSpPr/>
          <p:nvPr/>
        </p:nvCxnSpPr>
        <p:spPr>
          <a:xfrm>
            <a:off x="8255000" y="922870"/>
            <a:ext cx="0" cy="58843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/>
          <p:cNvCxnSpPr/>
          <p:nvPr/>
        </p:nvCxnSpPr>
        <p:spPr>
          <a:xfrm>
            <a:off x="5029203" y="922870"/>
            <a:ext cx="0" cy="58843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직사각형 167"/>
          <p:cNvSpPr/>
          <p:nvPr/>
        </p:nvSpPr>
        <p:spPr>
          <a:xfrm>
            <a:off x="8348137" y="1479356"/>
            <a:ext cx="34873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특허취소신청이나 특허무효심판과 관계없이 제</a:t>
            </a:r>
            <a:r>
              <a:rPr lang="en-US" altLang="ko-KR" sz="1600" dirty="0"/>
              <a:t>3</a:t>
            </a:r>
            <a:r>
              <a:rPr lang="ko-KR" altLang="en-US" sz="1600" dirty="0"/>
              <a:t>자의 </a:t>
            </a:r>
            <a:r>
              <a:rPr lang="en-US" altLang="ko-KR" sz="1600" dirty="0"/>
              <a:t>A+B </a:t>
            </a:r>
            <a:r>
              <a:rPr lang="ko-KR" altLang="en-US" sz="1600" dirty="0"/>
              <a:t>실시에 대해서 권리범위를 불인정 </a:t>
            </a:r>
          </a:p>
        </p:txBody>
      </p:sp>
      <p:sp>
        <p:nvSpPr>
          <p:cNvPr id="170" name="직사각형 169"/>
          <p:cNvSpPr/>
          <p:nvPr/>
        </p:nvSpPr>
        <p:spPr>
          <a:xfrm>
            <a:off x="8348137" y="3206188"/>
            <a:ext cx="348730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특허취소신청이나 특허무효심판과 관계없이 제</a:t>
            </a:r>
            <a:r>
              <a:rPr lang="en-US" altLang="ko-KR" sz="1600" dirty="0"/>
              <a:t>3</a:t>
            </a:r>
            <a:r>
              <a:rPr lang="ko-KR" altLang="en-US" sz="1600" dirty="0"/>
              <a:t>자의 </a:t>
            </a:r>
            <a:r>
              <a:rPr lang="en-US" altLang="ko-KR" sz="1600" dirty="0"/>
              <a:t>a1+B </a:t>
            </a:r>
            <a:r>
              <a:rPr lang="ko-KR" altLang="en-US" sz="1600" dirty="0"/>
              <a:t>실시에 대해서 권리범위를 불인정</a:t>
            </a:r>
            <a:r>
              <a:rPr lang="en-US" altLang="ko-KR" sz="1600" dirty="0"/>
              <a:t>. a2+B </a:t>
            </a:r>
            <a:r>
              <a:rPr lang="ko-KR" altLang="en-US" sz="1600" dirty="0"/>
              <a:t>실시에 대해서는 </a:t>
            </a:r>
            <a:r>
              <a:rPr lang="ko-KR" altLang="en-US" sz="1600" dirty="0">
                <a:solidFill>
                  <a:srgbClr val="FF0000"/>
                </a:solidFill>
              </a:rPr>
              <a:t>권리범위를 </a:t>
            </a:r>
            <a:r>
              <a:rPr lang="ko-KR" altLang="en-US" sz="1600" dirty="0" err="1">
                <a:solidFill>
                  <a:srgbClr val="FF0000"/>
                </a:solidFill>
              </a:rPr>
              <a:t>불인정하되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특허권자가 정정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심판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  <a:r>
              <a:rPr lang="ko-KR" altLang="en-US" sz="1600" dirty="0">
                <a:solidFill>
                  <a:srgbClr val="FF0000"/>
                </a:solidFill>
              </a:rPr>
              <a:t>청구를 통해 취소사유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무효사유를 극복한 경우에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>
                <a:solidFill>
                  <a:srgbClr val="FF0000"/>
                </a:solidFill>
              </a:rPr>
              <a:t>권리범위를 인정하는 것이 타당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8348137" y="5136588"/>
            <a:ext cx="34873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구성요소완비의 원칙에 따라 제</a:t>
            </a:r>
            <a:r>
              <a:rPr lang="en-US" altLang="ko-KR" sz="1600" dirty="0"/>
              <a:t>3</a:t>
            </a:r>
            <a:r>
              <a:rPr lang="ko-KR" altLang="en-US" sz="1600" dirty="0"/>
              <a:t>자의 </a:t>
            </a:r>
            <a:r>
              <a:rPr lang="en-US" altLang="ko-KR" sz="1600" dirty="0"/>
              <a:t>B </a:t>
            </a:r>
            <a:r>
              <a:rPr lang="ko-KR" altLang="en-US" sz="1600" dirty="0"/>
              <a:t>실시는 권리범위에 속하지 않으나</a:t>
            </a:r>
            <a:r>
              <a:rPr lang="en-US" altLang="ko-KR" sz="1600" dirty="0"/>
              <a:t>, A+B </a:t>
            </a:r>
            <a:r>
              <a:rPr lang="ko-KR" altLang="en-US" sz="1600" dirty="0"/>
              <a:t>실시는 권리범위에 속함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900113" y="962710"/>
            <a:ext cx="1222184" cy="389513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tIns="0" bIns="0" rtlCol="0">
            <a:spAutoFit/>
          </a:bodyPr>
          <a:lstStyle/>
          <a:p>
            <a:pPr algn="dist"/>
            <a:r>
              <a:rPr lang="ko-KR" altLang="en-US" dirty="0">
                <a:solidFill>
                  <a:schemeClr val="accent4"/>
                </a:solidFill>
              </a:rPr>
              <a:t>유        형</a:t>
            </a:r>
          </a:p>
        </p:txBody>
      </p:sp>
    </p:spTree>
    <p:extLst>
      <p:ext uri="{BB962C8B-B14F-4D97-AF65-F5344CB8AC3E}">
        <p14:creationId xmlns:p14="http://schemas.microsoft.com/office/powerpoint/2010/main" val="761006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FE51-D1BE-CFFA-9294-F732D92AA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71BBB0C-E38A-D865-2024-7F1EE43250A6}"/>
              </a:ext>
            </a:extLst>
          </p:cNvPr>
          <p:cNvCxnSpPr>
            <a:cxnSpLocks/>
          </p:cNvCxnSpPr>
          <p:nvPr/>
        </p:nvCxnSpPr>
        <p:spPr>
          <a:xfrm>
            <a:off x="286871" y="3636204"/>
            <a:ext cx="11320842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A963973-D300-97DD-B6F3-99542B0FBB27}"/>
              </a:ext>
            </a:extLst>
          </p:cNvPr>
          <p:cNvSpPr txBox="1"/>
          <p:nvPr/>
        </p:nvSpPr>
        <p:spPr>
          <a:xfrm>
            <a:off x="1333624" y="3067722"/>
            <a:ext cx="829074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accent4"/>
                </a:solidFill>
                <a:latin typeface="+mn-ea"/>
              </a:rPr>
              <a:t>2</a:t>
            </a:r>
            <a:endParaRPr lang="ko-KR" altLang="en-US" sz="120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DA9BBC-8F1C-21AF-1714-406A96F1CF38}"/>
              </a:ext>
            </a:extLst>
          </p:cNvPr>
          <p:cNvSpPr txBox="1"/>
          <p:nvPr/>
        </p:nvSpPr>
        <p:spPr>
          <a:xfrm>
            <a:off x="4916692" y="3897120"/>
            <a:ext cx="46038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실시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C707DB9-456F-E437-F2FE-F8413584E2AB}"/>
              </a:ext>
            </a:extLst>
          </p:cNvPr>
          <p:cNvSpPr/>
          <p:nvPr/>
        </p:nvSpPr>
        <p:spPr>
          <a:xfrm>
            <a:off x="1670791" y="3555535"/>
            <a:ext cx="154738" cy="16133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7879CB7-70A5-8BB3-D0C0-51956BF376FE}"/>
              </a:ext>
            </a:extLst>
          </p:cNvPr>
          <p:cNvCxnSpPr>
            <a:stCxn id="21" idx="2"/>
            <a:endCxn id="31" idx="0"/>
          </p:cNvCxnSpPr>
          <p:nvPr/>
        </p:nvCxnSpPr>
        <p:spPr>
          <a:xfrm flipH="1">
            <a:off x="1748160" y="3344721"/>
            <a:ext cx="1" cy="2108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5848AC9-EAFA-E9D6-941F-A479A609E1BA}"/>
              </a:ext>
            </a:extLst>
          </p:cNvPr>
          <p:cNvSpPr txBox="1"/>
          <p:nvPr/>
        </p:nvSpPr>
        <p:spPr>
          <a:xfrm>
            <a:off x="2409987" y="3067722"/>
            <a:ext cx="91921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특허출원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8F5B1B7D-A839-613D-7222-76E645DA8E42}"/>
              </a:ext>
            </a:extLst>
          </p:cNvPr>
          <p:cNvSpPr/>
          <p:nvPr/>
        </p:nvSpPr>
        <p:spPr>
          <a:xfrm>
            <a:off x="2792222" y="355553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EA69848-10E8-6829-1D66-E6AB1455DF18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 flipH="1">
            <a:off x="2869591" y="3344721"/>
            <a:ext cx="2" cy="2108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EC80E02-276F-957E-DD72-D5AA1331AC1B}"/>
              </a:ext>
            </a:extLst>
          </p:cNvPr>
          <p:cNvSpPr txBox="1"/>
          <p:nvPr/>
        </p:nvSpPr>
        <p:spPr>
          <a:xfrm>
            <a:off x="3788573" y="3067722"/>
            <a:ext cx="46038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등록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C080C55-C3A7-F6E0-F8DF-12D607085848}"/>
              </a:ext>
            </a:extLst>
          </p:cNvPr>
          <p:cNvSpPr/>
          <p:nvPr/>
        </p:nvSpPr>
        <p:spPr>
          <a:xfrm>
            <a:off x="3941395" y="355553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0ACFA23-F08A-98DF-92D3-9684C4AD573D}"/>
              </a:ext>
            </a:extLst>
          </p:cNvPr>
          <p:cNvCxnSpPr>
            <a:stCxn id="45" idx="2"/>
            <a:endCxn id="46" idx="0"/>
          </p:cNvCxnSpPr>
          <p:nvPr/>
        </p:nvCxnSpPr>
        <p:spPr>
          <a:xfrm>
            <a:off x="4018764" y="3344721"/>
            <a:ext cx="0" cy="2108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B511C078-99BD-03B3-802B-FE5F32BB9A7F}"/>
              </a:ext>
            </a:extLst>
          </p:cNvPr>
          <p:cNvSpPr/>
          <p:nvPr/>
        </p:nvSpPr>
        <p:spPr>
          <a:xfrm>
            <a:off x="5069514" y="3555535"/>
            <a:ext cx="154738" cy="16133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A4BF997-1D61-D47B-FB32-A0E168FA6927}"/>
              </a:ext>
            </a:extLst>
          </p:cNvPr>
          <p:cNvCxnSpPr>
            <a:stCxn id="28" idx="0"/>
            <a:endCxn id="48" idx="4"/>
          </p:cNvCxnSpPr>
          <p:nvPr/>
        </p:nvCxnSpPr>
        <p:spPr>
          <a:xfrm flipV="1">
            <a:off x="5146883" y="3716873"/>
            <a:ext cx="0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1F0BC0A-C712-7CF2-087F-25A499D21DE4}"/>
              </a:ext>
            </a:extLst>
          </p:cNvPr>
          <p:cNvSpPr txBox="1"/>
          <p:nvPr/>
        </p:nvSpPr>
        <p:spPr>
          <a:xfrm>
            <a:off x="9416723" y="3067722"/>
            <a:ext cx="736099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침해소송</a:t>
            </a:r>
            <a:endParaRPr lang="en-US" altLang="ko-KR" sz="120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7CC2FEF4-CAA1-1A8E-0BC2-C4D214D7DCEE}"/>
              </a:ext>
            </a:extLst>
          </p:cNvPr>
          <p:cNvSpPr/>
          <p:nvPr/>
        </p:nvSpPr>
        <p:spPr>
          <a:xfrm>
            <a:off x="9707400" y="355553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C3D1BC98-4A2C-9BE1-3E96-2E2F3A4146FC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 flipH="1">
            <a:off x="9784769" y="3344721"/>
            <a:ext cx="4" cy="2108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9">
            <a:extLst>
              <a:ext uri="{FF2B5EF4-FFF2-40B4-BE49-F238E27FC236}">
                <a16:creationId xmlns:a16="http://schemas.microsoft.com/office/drawing/2014/main" id="{6B465A78-9C01-75E9-7937-6CC59101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44263F4-262D-35F9-B032-D307C19F83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자유기술의 항변 개괄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87BB24-BBD3-0EFA-6CDD-1CF8361B7D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CEB84-A42D-7820-D500-5324B85AA312}"/>
              </a:ext>
            </a:extLst>
          </p:cNvPr>
          <p:cNvSpPr txBox="1"/>
          <p:nvPr/>
        </p:nvSpPr>
        <p:spPr>
          <a:xfrm>
            <a:off x="8461335" y="2743159"/>
            <a:ext cx="2646879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tx2"/>
                </a:solidFill>
                <a:latin typeface="+mn-ea"/>
              </a:rPr>
              <a:t>피고제품을 아이폰 </a:t>
            </a:r>
            <a:r>
              <a:rPr lang="en-US" altLang="ko-KR" sz="1050" dirty="0">
                <a:solidFill>
                  <a:schemeClr val="tx2"/>
                </a:solidFill>
                <a:latin typeface="+mn-ea"/>
              </a:rPr>
              <a:t>16</a:t>
            </a:r>
            <a:r>
              <a:rPr lang="ko-KR" altLang="en-US" sz="1050" dirty="0">
                <a:solidFill>
                  <a:schemeClr val="tx2"/>
                </a:solidFill>
                <a:latin typeface="+mn-ea"/>
              </a:rPr>
              <a:t>의 </a:t>
            </a:r>
            <a:r>
              <a:rPr lang="en-US" altLang="ko-KR" sz="1050" dirty="0" err="1">
                <a:solidFill>
                  <a:schemeClr val="tx2"/>
                </a:solidFill>
                <a:latin typeface="+mn-ea"/>
              </a:rPr>
              <a:t>a+b+c2+d</a:t>
            </a:r>
            <a:r>
              <a:rPr lang="ko-KR" altLang="en-US" sz="1050" dirty="0">
                <a:solidFill>
                  <a:schemeClr val="tx2"/>
                </a:solidFill>
                <a:latin typeface="+mn-ea"/>
              </a:rPr>
              <a:t>로 특정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32A0A1-0885-BF2E-975E-DB8EB1D77E47}"/>
              </a:ext>
            </a:extLst>
          </p:cNvPr>
          <p:cNvSpPr txBox="1"/>
          <p:nvPr/>
        </p:nvSpPr>
        <p:spPr>
          <a:xfrm>
            <a:off x="1204840" y="2591642"/>
            <a:ext cx="10743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err="1">
                <a:solidFill>
                  <a:schemeClr val="tx2"/>
                </a:solidFill>
              </a:rPr>
              <a:t>a+b+c1</a:t>
            </a:r>
            <a:r>
              <a:rPr lang="ko-KR" altLang="en-US" sz="1050" dirty="0">
                <a:solidFill>
                  <a:schemeClr val="tx2"/>
                </a:solidFill>
              </a:rPr>
              <a:t>로 된</a:t>
            </a:r>
            <a:endParaRPr lang="en-US" altLang="ko-KR" sz="1050" dirty="0">
              <a:solidFill>
                <a:schemeClr val="tx2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tx2"/>
                </a:solidFill>
              </a:rPr>
              <a:t>동영상 압축방법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62734C-3E59-1655-8156-CEBDB2610413}"/>
              </a:ext>
            </a:extLst>
          </p:cNvPr>
          <p:cNvSpPr txBox="1"/>
          <p:nvPr/>
        </p:nvSpPr>
        <p:spPr>
          <a:xfrm>
            <a:off x="2274948" y="2611142"/>
            <a:ext cx="12073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err="1">
                <a:solidFill>
                  <a:schemeClr val="tx2"/>
                </a:solidFill>
              </a:rPr>
              <a:t>a+b+c</a:t>
            </a:r>
            <a:r>
              <a:rPr lang="ko-KR" altLang="en-US" sz="1050" dirty="0">
                <a:solidFill>
                  <a:schemeClr val="tx2"/>
                </a:solidFill>
              </a:rPr>
              <a:t>를 포함하는</a:t>
            </a:r>
            <a:endParaRPr lang="en-US" altLang="ko-KR" sz="1050" dirty="0">
              <a:solidFill>
                <a:schemeClr val="tx2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tx2"/>
                </a:solidFill>
              </a:rPr>
              <a:t>동영상 압축방법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90009C-4DD8-726B-32AA-03B2CFF12C09}"/>
              </a:ext>
            </a:extLst>
          </p:cNvPr>
          <p:cNvSpPr txBox="1"/>
          <p:nvPr/>
        </p:nvSpPr>
        <p:spPr>
          <a:xfrm>
            <a:off x="3949059" y="4239551"/>
            <a:ext cx="24416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tx2"/>
                </a:solidFill>
              </a:rPr>
              <a:t>아이폰 </a:t>
            </a:r>
            <a:r>
              <a:rPr lang="en-US" altLang="ko-KR" sz="1050" dirty="0">
                <a:solidFill>
                  <a:schemeClr val="tx2"/>
                </a:solidFill>
              </a:rPr>
              <a:t>16</a:t>
            </a:r>
            <a:r>
              <a:rPr lang="ko-KR" altLang="en-US" sz="1050" dirty="0">
                <a:solidFill>
                  <a:schemeClr val="tx2"/>
                </a:solidFill>
              </a:rPr>
              <a:t>에서 </a:t>
            </a:r>
            <a:endParaRPr lang="en-US" altLang="ko-KR" sz="1050" dirty="0">
              <a:solidFill>
                <a:schemeClr val="tx2"/>
              </a:solidFill>
            </a:endParaRPr>
          </a:p>
          <a:p>
            <a:pPr algn="ctr"/>
            <a:r>
              <a:rPr lang="en-US" altLang="ko-KR" sz="1050" dirty="0" err="1">
                <a:solidFill>
                  <a:schemeClr val="tx2"/>
                </a:solidFill>
              </a:rPr>
              <a:t>a+b+c2+d+e</a:t>
            </a:r>
            <a:r>
              <a:rPr lang="ko-KR" altLang="en-US" sz="1050" dirty="0">
                <a:solidFill>
                  <a:schemeClr val="tx2"/>
                </a:solidFill>
              </a:rPr>
              <a:t>로 된 동영상 압축방법 사용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3F3330-B296-88AE-5CBD-01E87CF2F6AA}"/>
              </a:ext>
            </a:extLst>
          </p:cNvPr>
          <p:cNvSpPr txBox="1"/>
          <p:nvPr/>
        </p:nvSpPr>
        <p:spPr>
          <a:xfrm>
            <a:off x="3597498" y="2611142"/>
            <a:ext cx="90762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tx2"/>
                </a:solidFill>
              </a:rPr>
              <a:t>등록번호</a:t>
            </a:r>
            <a:endParaRPr lang="en-US" altLang="ko-KR" sz="1050" dirty="0">
              <a:solidFill>
                <a:schemeClr val="tx2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2"/>
                </a:solidFill>
              </a:rPr>
              <a:t>10-1234567</a:t>
            </a:r>
            <a:endParaRPr lang="ko-KR" altLang="en-US" sz="1050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54C249-0275-73E2-5B2A-03466F4CF7ED}"/>
              </a:ext>
            </a:extLst>
          </p:cNvPr>
          <p:cNvSpPr txBox="1"/>
          <p:nvPr/>
        </p:nvSpPr>
        <p:spPr>
          <a:xfrm>
            <a:off x="7906877" y="3812987"/>
            <a:ext cx="3899639" cy="16158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【</a:t>
            </a:r>
            <a:r>
              <a:rPr lang="ko-KR" altLang="en-US" sz="1100" dirty="0"/>
              <a:t>청구취지</a:t>
            </a:r>
            <a:r>
              <a:rPr lang="en-US" altLang="ko-KR" sz="1100" dirty="0"/>
              <a:t>】</a:t>
            </a:r>
          </a:p>
          <a:p>
            <a:r>
              <a:rPr lang="ko-KR" altLang="en-US" sz="1100" dirty="0"/>
              <a:t>피고제품 </a:t>
            </a:r>
            <a:r>
              <a:rPr lang="en-US" altLang="ko-KR" sz="1100" dirty="0"/>
              <a:t>＂</a:t>
            </a:r>
            <a:r>
              <a:rPr lang="ko-KR" altLang="en-US" sz="1100" dirty="0"/>
              <a:t>동영상 압축방법을 사용하는 </a:t>
            </a:r>
            <a:r>
              <a:rPr lang="ko-KR" altLang="en-US" sz="1100" dirty="0">
                <a:highlight>
                  <a:srgbClr val="FF00FF"/>
                </a:highlight>
              </a:rPr>
              <a:t>아이폰 </a:t>
            </a:r>
            <a:r>
              <a:rPr lang="en-US" altLang="ko-KR" sz="1100" dirty="0">
                <a:highlight>
                  <a:srgbClr val="FF00FF"/>
                </a:highlight>
              </a:rPr>
              <a:t>16</a:t>
            </a:r>
            <a:r>
              <a:rPr lang="en-US" altLang="ko-KR" sz="1100" dirty="0"/>
              <a:t>＂</a:t>
            </a:r>
            <a:r>
              <a:rPr lang="ko-KR" altLang="en-US" sz="1100" dirty="0"/>
              <a:t>은 특허등록 제</a:t>
            </a:r>
            <a:r>
              <a:rPr lang="en-US" altLang="ko-KR" sz="1100" dirty="0"/>
              <a:t>10-1234567</a:t>
            </a:r>
            <a:r>
              <a:rPr lang="ko-KR" altLang="en-US" sz="1100" dirty="0"/>
              <a:t>호의 침해이므로</a:t>
            </a:r>
            <a:r>
              <a:rPr lang="en-US" altLang="ko-KR" sz="1100" dirty="0"/>
              <a:t>, </a:t>
            </a:r>
            <a:r>
              <a:rPr lang="ko-KR" altLang="en-US" sz="1100" dirty="0"/>
              <a:t>그 실시를 금지한다</a:t>
            </a:r>
            <a:r>
              <a:rPr lang="en-US" altLang="ko-KR" sz="1100" dirty="0"/>
              <a:t>.”</a:t>
            </a:r>
          </a:p>
          <a:p>
            <a:endParaRPr lang="en-US" altLang="ko-KR" sz="1100" dirty="0"/>
          </a:p>
          <a:p>
            <a:r>
              <a:rPr lang="en-US" altLang="ko-KR" sz="1100" dirty="0"/>
              <a:t>【</a:t>
            </a:r>
            <a:r>
              <a:rPr lang="ko-KR" altLang="en-US" sz="1100" dirty="0"/>
              <a:t>청구원인</a:t>
            </a:r>
            <a:r>
              <a:rPr lang="en-US" altLang="ko-KR" sz="1100" dirty="0"/>
              <a:t>】</a:t>
            </a:r>
          </a:p>
          <a:p>
            <a:r>
              <a:rPr lang="en-US" altLang="ko-KR" sz="1100" dirty="0"/>
              <a:t>1. </a:t>
            </a:r>
            <a:r>
              <a:rPr lang="ko-KR" altLang="en-US" sz="1100" dirty="0"/>
              <a:t>이 사건 특허의 요지</a:t>
            </a:r>
            <a:r>
              <a:rPr lang="en-US" altLang="ko-KR" sz="1100" dirty="0"/>
              <a:t>(</a:t>
            </a:r>
            <a:r>
              <a:rPr lang="en-US" altLang="ko-KR" sz="1100" dirty="0" err="1"/>
              <a:t>a+b+c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2. </a:t>
            </a:r>
            <a:r>
              <a:rPr lang="ko-KR" altLang="en-US" sz="1100" dirty="0"/>
              <a:t>피고제품의 요지</a:t>
            </a:r>
            <a:r>
              <a:rPr lang="en-US" altLang="ko-KR" sz="1100" dirty="0"/>
              <a:t>(</a:t>
            </a:r>
            <a:r>
              <a:rPr lang="en-US" altLang="ko-KR" sz="1100" dirty="0" err="1">
                <a:highlight>
                  <a:srgbClr val="FF00FF"/>
                </a:highlight>
              </a:rPr>
              <a:t>a+b+c2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>
                <a:highlight>
                  <a:srgbClr val="808000"/>
                </a:highlight>
              </a:rPr>
              <a:t>3. </a:t>
            </a:r>
            <a:r>
              <a:rPr lang="ko-KR" altLang="en-US" sz="1100" dirty="0">
                <a:highlight>
                  <a:srgbClr val="808000"/>
                </a:highlight>
              </a:rPr>
              <a:t>침해인지 판단</a:t>
            </a:r>
            <a:r>
              <a:rPr lang="en-US" altLang="ko-KR" sz="1100" dirty="0">
                <a:highlight>
                  <a:srgbClr val="808000"/>
                </a:highlight>
              </a:rPr>
              <a:t> (</a:t>
            </a:r>
            <a:r>
              <a:rPr lang="ko-KR" altLang="en-US" sz="1100" dirty="0">
                <a:highlight>
                  <a:srgbClr val="808000"/>
                </a:highlight>
              </a:rPr>
              <a:t>특허발명과 피고제품의 대비</a:t>
            </a:r>
            <a:r>
              <a:rPr lang="en-US" altLang="ko-KR" sz="1100" dirty="0">
                <a:highlight>
                  <a:srgbClr val="808000"/>
                </a:highlight>
              </a:rPr>
              <a:t>)</a:t>
            </a:r>
          </a:p>
          <a:p>
            <a:r>
              <a:rPr lang="en-US" altLang="ko-KR" sz="1100" dirty="0"/>
              <a:t>4. </a:t>
            </a:r>
            <a:r>
              <a:rPr lang="ko-KR" altLang="en-US" sz="1100" dirty="0"/>
              <a:t>결론</a:t>
            </a:r>
            <a:endParaRPr lang="en-US" altLang="ko-KR" sz="1100" dirty="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BA254067-7865-6927-8E7E-7A195D8B3852}"/>
              </a:ext>
            </a:extLst>
          </p:cNvPr>
          <p:cNvCxnSpPr>
            <a:stCxn id="18" idx="3"/>
            <a:endCxn id="7" idx="1"/>
          </p:cNvCxnSpPr>
          <p:nvPr/>
        </p:nvCxnSpPr>
        <p:spPr>
          <a:xfrm flipV="1">
            <a:off x="6390753" y="2870117"/>
            <a:ext cx="2070582" cy="1577183"/>
          </a:xfrm>
          <a:prstGeom prst="bentConnector3">
            <a:avLst/>
          </a:prstGeom>
          <a:ln w="38100">
            <a:solidFill>
              <a:schemeClr val="accent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54FC369-E884-5731-82C2-876ACB3C153E}"/>
              </a:ext>
            </a:extLst>
          </p:cNvPr>
          <p:cNvSpPr txBox="1"/>
          <p:nvPr/>
        </p:nvSpPr>
        <p:spPr>
          <a:xfrm>
            <a:off x="6550200" y="3252636"/>
            <a:ext cx="174118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</a:rPr>
              <a:t>사실적 관점에서 동일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1098A877-091E-3405-4AC4-644D93D48B2C}"/>
              </a:ext>
            </a:extLst>
          </p:cNvPr>
          <p:cNvCxnSpPr>
            <a:cxnSpLocks/>
            <a:stCxn id="13" idx="0"/>
            <a:endCxn id="7" idx="3"/>
          </p:cNvCxnSpPr>
          <p:nvPr/>
        </p:nvCxnSpPr>
        <p:spPr>
          <a:xfrm rot="16200000" flipH="1">
            <a:off x="6285872" y="-1952224"/>
            <a:ext cx="278475" cy="9366207"/>
          </a:xfrm>
          <a:prstGeom prst="bentConnector4">
            <a:avLst>
              <a:gd name="adj1" fmla="val -246270"/>
              <a:gd name="adj2" fmla="val 102441"/>
            </a:avLst>
          </a:prstGeom>
          <a:ln w="381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DAD674B-6854-3B65-384F-6865CDD2F410}"/>
              </a:ext>
            </a:extLst>
          </p:cNvPr>
          <p:cNvSpPr txBox="1"/>
          <p:nvPr/>
        </p:nvSpPr>
        <p:spPr>
          <a:xfrm>
            <a:off x="286871" y="1364300"/>
            <a:ext cx="11519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피고 제품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(</a:t>
            </a:r>
            <a:r>
              <a:rPr lang="en-US" altLang="ko-KR" sz="1400" dirty="0" err="1">
                <a:highlight>
                  <a:srgbClr val="FFFF00"/>
                </a:highlight>
                <a:latin typeface="+mn-ea"/>
              </a:rPr>
              <a:t>a+b+c2+d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이 공지기술</a:t>
            </a:r>
            <a:r>
              <a:rPr lang="en-US" altLang="ko-KR" sz="1400" dirty="0">
                <a:latin typeface="+mn-ea"/>
              </a:rPr>
              <a:t>2(</a:t>
            </a:r>
            <a:r>
              <a:rPr lang="en-US" altLang="ko-KR" sz="1400" dirty="0" err="1">
                <a:latin typeface="+mn-ea"/>
              </a:rPr>
              <a:t>a+b+c1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와 동일하거나 통상의 기술자가 공지기술</a:t>
            </a:r>
            <a:r>
              <a:rPr lang="en-US" altLang="ko-KR" sz="1400" dirty="0">
                <a:latin typeface="+mn-ea"/>
              </a:rPr>
              <a:t>2(</a:t>
            </a:r>
            <a:r>
              <a:rPr lang="en-US" altLang="ko-KR" sz="1400" dirty="0" err="1">
                <a:latin typeface="+mn-ea"/>
              </a:rPr>
              <a:t>a+b+c1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로부터 용이하게 실시할 수 있어 자유기술영역</a:t>
            </a:r>
            <a:r>
              <a:rPr lang="en-US" altLang="ko-KR" sz="1400" dirty="0">
                <a:latin typeface="+mn-ea"/>
              </a:rPr>
              <a:t>(=</a:t>
            </a:r>
            <a:r>
              <a:rPr lang="ko-KR" altLang="en-US" sz="1400" dirty="0">
                <a:latin typeface="+mn-ea"/>
              </a:rPr>
              <a:t>공공영역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에 속하므로 </a:t>
            </a:r>
            <a:r>
              <a:rPr lang="ko-KR" altLang="en-US" sz="1400" dirty="0">
                <a:highlight>
                  <a:srgbClr val="00FFFF"/>
                </a:highlight>
                <a:latin typeface="+mn-ea"/>
              </a:rPr>
              <a:t>특허발명</a:t>
            </a:r>
            <a:r>
              <a:rPr lang="en-US" altLang="ko-KR" sz="1400" dirty="0">
                <a:highlight>
                  <a:srgbClr val="00FFFF"/>
                </a:highlight>
                <a:latin typeface="+mn-ea"/>
              </a:rPr>
              <a:t>(10-1234567)</a:t>
            </a:r>
            <a:r>
              <a:rPr lang="ko-KR" altLang="en-US" sz="1400" dirty="0">
                <a:highlight>
                  <a:srgbClr val="00FFFF"/>
                </a:highlight>
                <a:latin typeface="+mn-ea"/>
              </a:rPr>
              <a:t>과 대비할 필요도 없이</a:t>
            </a:r>
            <a:r>
              <a:rPr lang="ko-KR" altLang="en-US" sz="1400" dirty="0">
                <a:latin typeface="+mn-ea"/>
              </a:rPr>
              <a:t> 침해가 아니다</a:t>
            </a:r>
            <a:r>
              <a:rPr lang="en-US" altLang="ko-KR" sz="1400" dirty="0">
                <a:highlight>
                  <a:srgbClr val="C0C0C0"/>
                </a:highlight>
                <a:latin typeface="+mn-ea"/>
              </a:rPr>
              <a:t>(</a:t>
            </a:r>
            <a:r>
              <a:rPr lang="en-US" altLang="ko-KR" sz="1400" dirty="0">
                <a:highlight>
                  <a:srgbClr val="C0C0C0"/>
                </a:highlight>
              </a:rPr>
              <a:t>99</a:t>
            </a:r>
            <a:r>
              <a:rPr lang="ko-KR" altLang="en-US" sz="1400" dirty="0">
                <a:highlight>
                  <a:srgbClr val="C0C0C0"/>
                </a:highlight>
              </a:rPr>
              <a:t>후</a:t>
            </a:r>
            <a:r>
              <a:rPr lang="en-US" altLang="ko-KR" sz="1400" dirty="0">
                <a:highlight>
                  <a:srgbClr val="C0C0C0"/>
                </a:highlight>
              </a:rPr>
              <a:t>710)</a:t>
            </a:r>
            <a:r>
              <a:rPr lang="en-US" altLang="ko-KR" sz="1400" dirty="0">
                <a:latin typeface="+mn-ea"/>
              </a:rPr>
              <a:t>.</a:t>
            </a:r>
            <a:r>
              <a:rPr lang="ko-KR" altLang="en-US" sz="1400" dirty="0">
                <a:latin typeface="+mn-ea"/>
              </a:rPr>
              <a:t>  </a:t>
            </a:r>
          </a:p>
        </p:txBody>
      </p:sp>
      <p:sp>
        <p:nvSpPr>
          <p:cNvPr id="37" name="말풍선: 모서리가 둥근 사각형 36">
            <a:extLst>
              <a:ext uri="{FF2B5EF4-FFF2-40B4-BE49-F238E27FC236}">
                <a16:creationId xmlns:a16="http://schemas.microsoft.com/office/drawing/2014/main" id="{AAF07CAA-4E31-9882-B9E8-62134D1D514A}"/>
              </a:ext>
            </a:extLst>
          </p:cNvPr>
          <p:cNvSpPr/>
          <p:nvPr/>
        </p:nvSpPr>
        <p:spPr>
          <a:xfrm>
            <a:off x="1492911" y="1018077"/>
            <a:ext cx="4190713" cy="263104"/>
          </a:xfrm>
          <a:prstGeom prst="wedgeRoundRectCallout">
            <a:avLst>
              <a:gd name="adj1" fmla="val -41418"/>
              <a:gd name="adj2" fmla="val 83130"/>
              <a:gd name="adj3" fmla="val 16667"/>
            </a:avLst>
          </a:prstGeom>
          <a:solidFill>
            <a:schemeClr val="accent4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특허권자가 특정한 구성 전체</a:t>
            </a:r>
            <a:r>
              <a:rPr lang="en-US" altLang="ko-KR" sz="1200" dirty="0">
                <a:highlight>
                  <a:srgbClr val="C0C0C0"/>
                </a:highlight>
              </a:rPr>
              <a:t>(2008</a:t>
            </a:r>
            <a:r>
              <a:rPr lang="ko-KR" altLang="en-US" sz="1200" dirty="0">
                <a:highlight>
                  <a:srgbClr val="C0C0C0"/>
                </a:highlight>
              </a:rPr>
              <a:t>후</a:t>
            </a:r>
            <a:r>
              <a:rPr lang="en-US" altLang="ko-KR" sz="1200" dirty="0">
                <a:highlight>
                  <a:srgbClr val="C0C0C0"/>
                </a:highlight>
              </a:rPr>
              <a:t>64) - </a:t>
            </a:r>
            <a:r>
              <a:rPr lang="ko-KR" altLang="en-US" sz="1200" dirty="0">
                <a:highlight>
                  <a:srgbClr val="C0C0C0"/>
                </a:highlight>
              </a:rPr>
              <a:t>전체구성설</a:t>
            </a:r>
          </a:p>
        </p:txBody>
      </p:sp>
      <p:sp>
        <p:nvSpPr>
          <p:cNvPr id="38" name="말풍선: 모서리가 둥근 사각형 37">
            <a:extLst>
              <a:ext uri="{FF2B5EF4-FFF2-40B4-BE49-F238E27FC236}">
                <a16:creationId xmlns:a16="http://schemas.microsoft.com/office/drawing/2014/main" id="{E02C5329-536B-CB1D-3A41-C7889ADC9C96}"/>
              </a:ext>
            </a:extLst>
          </p:cNvPr>
          <p:cNvSpPr/>
          <p:nvPr/>
        </p:nvSpPr>
        <p:spPr>
          <a:xfrm>
            <a:off x="2946959" y="2059022"/>
            <a:ext cx="5149291" cy="234402"/>
          </a:xfrm>
          <a:prstGeom prst="wedgeRoundRectCallout">
            <a:avLst>
              <a:gd name="adj1" fmla="val -43715"/>
              <a:gd name="adj2" fmla="val -137131"/>
              <a:gd name="adj3" fmla="val 1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특허발명과 대비하여 </a:t>
            </a:r>
            <a:r>
              <a:rPr lang="ko-KR" altLang="en-US" sz="1200" dirty="0" err="1"/>
              <a:t>문언칭해</a:t>
            </a:r>
            <a:r>
              <a:rPr lang="en-US" altLang="ko-KR" sz="1200" dirty="0"/>
              <a:t>, </a:t>
            </a:r>
            <a:r>
              <a:rPr lang="ko-KR" altLang="en-US" sz="1200" dirty="0"/>
              <a:t>균등침해인지 상관없이 적용</a:t>
            </a:r>
            <a:r>
              <a:rPr lang="en-US" altLang="ko-KR" sz="1200" dirty="0">
                <a:highlight>
                  <a:srgbClr val="C0C0C0"/>
                </a:highlight>
              </a:rPr>
              <a:t>(2016</a:t>
            </a:r>
            <a:r>
              <a:rPr lang="ko-KR" altLang="en-US" sz="1200" dirty="0">
                <a:highlight>
                  <a:srgbClr val="C0C0C0"/>
                </a:highlight>
              </a:rPr>
              <a:t>후</a:t>
            </a:r>
            <a:r>
              <a:rPr lang="en-US" altLang="ko-KR" sz="1200" dirty="0">
                <a:highlight>
                  <a:srgbClr val="C0C0C0"/>
                </a:highlight>
              </a:rPr>
              <a:t>366)</a:t>
            </a:r>
            <a:endParaRPr lang="ko-KR" altLang="en-US" sz="1200" dirty="0">
              <a:highlight>
                <a:srgbClr val="C0C0C0"/>
              </a:highligh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464863-D2FA-968D-7B4C-68E5BAEC8CFA}"/>
              </a:ext>
            </a:extLst>
          </p:cNvPr>
          <p:cNvSpPr txBox="1"/>
          <p:nvPr/>
        </p:nvSpPr>
        <p:spPr>
          <a:xfrm>
            <a:off x="267783" y="3067722"/>
            <a:ext cx="829074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accent4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48EABE9C-0882-61A1-E683-3C36A8617BA6}"/>
              </a:ext>
            </a:extLst>
          </p:cNvPr>
          <p:cNvSpPr/>
          <p:nvPr/>
        </p:nvSpPr>
        <p:spPr>
          <a:xfrm>
            <a:off x="604950" y="3555535"/>
            <a:ext cx="154738" cy="16133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88AF467F-C738-26B9-33AF-E9B2855FA436}"/>
              </a:ext>
            </a:extLst>
          </p:cNvPr>
          <p:cNvCxnSpPr>
            <a:stCxn id="41" idx="2"/>
            <a:endCxn id="56" idx="0"/>
          </p:cNvCxnSpPr>
          <p:nvPr/>
        </p:nvCxnSpPr>
        <p:spPr>
          <a:xfrm flipH="1">
            <a:off x="682319" y="3344721"/>
            <a:ext cx="1" cy="2108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2241239-FCE8-FA96-F365-E84A0AD8D860}"/>
              </a:ext>
            </a:extLst>
          </p:cNvPr>
          <p:cNvSpPr txBox="1"/>
          <p:nvPr/>
        </p:nvSpPr>
        <p:spPr>
          <a:xfrm>
            <a:off x="138999" y="2591642"/>
            <a:ext cx="10743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err="1">
                <a:solidFill>
                  <a:schemeClr val="tx2"/>
                </a:solidFill>
              </a:rPr>
              <a:t>a+b+c</a:t>
            </a:r>
            <a:r>
              <a:rPr lang="ko-KR" altLang="en-US" sz="1050" dirty="0">
                <a:solidFill>
                  <a:schemeClr val="tx2"/>
                </a:solidFill>
              </a:rPr>
              <a:t>로 된</a:t>
            </a:r>
            <a:endParaRPr lang="en-US" altLang="ko-KR" sz="1050" dirty="0">
              <a:solidFill>
                <a:schemeClr val="tx2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tx2"/>
                </a:solidFill>
              </a:rPr>
              <a:t>동영상 압축방법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A67D86-812B-4EF5-0252-B6960E114425}"/>
              </a:ext>
            </a:extLst>
          </p:cNvPr>
          <p:cNvSpPr txBox="1"/>
          <p:nvPr/>
        </p:nvSpPr>
        <p:spPr>
          <a:xfrm>
            <a:off x="2409987" y="3908486"/>
            <a:ext cx="91921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accent4"/>
                </a:solidFill>
                <a:latin typeface="+mn-ea"/>
              </a:rPr>
              <a:t>30</a:t>
            </a:r>
            <a:r>
              <a:rPr lang="ko-KR" altLang="en-US" sz="1200" dirty="0" err="1">
                <a:solidFill>
                  <a:schemeClr val="accent4"/>
                </a:solidFill>
                <a:latin typeface="+mn-ea"/>
              </a:rPr>
              <a:t>조주장</a:t>
            </a:r>
            <a:endParaRPr lang="ko-KR" altLang="en-US" sz="1200" dirty="0">
              <a:solidFill>
                <a:schemeClr val="accent4"/>
              </a:solidFill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58E0138-FFE0-4EEB-33B9-B3DE5FD590FE}"/>
              </a:ext>
            </a:extLst>
          </p:cNvPr>
          <p:cNvCxnSpPr>
            <a:cxnSpLocks/>
            <a:stCxn id="43" idx="4"/>
            <a:endCxn id="64" idx="0"/>
          </p:cNvCxnSpPr>
          <p:nvPr/>
        </p:nvCxnSpPr>
        <p:spPr>
          <a:xfrm>
            <a:off x="2869591" y="3716873"/>
            <a:ext cx="2" cy="19161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880B9D57-8861-5B7A-EB2A-F7B8AE7F504C}"/>
              </a:ext>
            </a:extLst>
          </p:cNvPr>
          <p:cNvCxnSpPr>
            <a:stCxn id="56" idx="4"/>
            <a:endCxn id="64" idx="1"/>
          </p:cNvCxnSpPr>
          <p:nvPr/>
        </p:nvCxnSpPr>
        <p:spPr>
          <a:xfrm rot="16200000" flipH="1">
            <a:off x="1381097" y="3018095"/>
            <a:ext cx="330113" cy="1727668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116DA8A-C648-95F5-2B0B-982D7FB5AFA2}"/>
              </a:ext>
            </a:extLst>
          </p:cNvPr>
          <p:cNvSpPr txBox="1"/>
          <p:nvPr/>
        </p:nvSpPr>
        <p:spPr>
          <a:xfrm>
            <a:off x="257986" y="4345937"/>
            <a:ext cx="1904711" cy="591145"/>
          </a:xfrm>
          <a:prstGeom prst="roundRect">
            <a:avLst>
              <a:gd name="adj" fmla="val 3820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자유기술의 항변 불가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(</a:t>
            </a:r>
            <a:r>
              <a:rPr lang="en-US" altLang="ko-KR" sz="1200" dirty="0">
                <a:highlight>
                  <a:srgbClr val="C0C0C0"/>
                </a:highlight>
              </a:rPr>
              <a:t>2022</a:t>
            </a:r>
            <a:r>
              <a:rPr lang="ko-KR" altLang="en-US" sz="1200" dirty="0">
                <a:highlight>
                  <a:srgbClr val="C0C0C0"/>
                </a:highlight>
              </a:rPr>
              <a:t>후</a:t>
            </a:r>
            <a:r>
              <a:rPr lang="en-US" altLang="ko-KR" sz="1200" dirty="0">
                <a:highlight>
                  <a:srgbClr val="C0C0C0"/>
                </a:highlight>
              </a:rPr>
              <a:t>10012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)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86DDD92-76D0-55B1-7CA6-9E29F14F7857}"/>
              </a:ext>
            </a:extLst>
          </p:cNvPr>
          <p:cNvCxnSpPr/>
          <p:nvPr/>
        </p:nvCxnSpPr>
        <p:spPr>
          <a:xfrm flipV="1">
            <a:off x="453613" y="3344721"/>
            <a:ext cx="0" cy="100121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F6DBB94-EB3F-5636-A054-37C4F330C15B}"/>
              </a:ext>
            </a:extLst>
          </p:cNvPr>
          <p:cNvSpPr txBox="1"/>
          <p:nvPr/>
        </p:nvSpPr>
        <p:spPr>
          <a:xfrm>
            <a:off x="101061" y="5008044"/>
            <a:ext cx="5423439" cy="16158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228600" marR="0" indent="-228600" fontAlgn="base">
              <a:buAutoNum type="arabicPeriod"/>
            </a:pPr>
            <a:r>
              <a:rPr lang="ko-KR" altLang="en-US" sz="1100" dirty="0"/>
              <a:t>자유기술의 항변을 인정한다면 </a:t>
            </a:r>
            <a:r>
              <a:rPr lang="ko-KR" altLang="en-US" sz="1100" dirty="0" err="1"/>
              <a:t>공지예외적용주장을</a:t>
            </a:r>
            <a:r>
              <a:rPr lang="ko-KR" altLang="en-US" sz="1100" dirty="0"/>
              <a:t> 하여 등록된 특허는 실질적으로 권리행사를 할 수 없게 되어 </a:t>
            </a:r>
            <a:r>
              <a:rPr lang="ko-KR" altLang="en-US" sz="1100" dirty="0" err="1"/>
              <a:t>공지예외적용주장제도의</a:t>
            </a:r>
            <a:r>
              <a:rPr lang="ko-KR" altLang="en-US" sz="1100" dirty="0"/>
              <a:t> 취지를 </a:t>
            </a:r>
            <a:r>
              <a:rPr lang="ko-KR" altLang="en-US" sz="1100" dirty="0" err="1"/>
              <a:t>몰각시키고</a:t>
            </a:r>
            <a:r>
              <a:rPr lang="ko-KR" altLang="en-US" sz="1100" dirty="0"/>
              <a:t> 제도를 형해화</a:t>
            </a:r>
            <a:endParaRPr lang="en-US" altLang="ko-KR" sz="1100" dirty="0"/>
          </a:p>
          <a:p>
            <a:pPr marL="228600" marR="0" indent="-228600" fontAlgn="base">
              <a:buAutoNum type="arabicPeriod"/>
            </a:pPr>
            <a:r>
              <a:rPr lang="ko-KR" altLang="en-US" sz="1100" dirty="0"/>
              <a:t>자유기술의 항변은 애당초 특허를 받을 수 없는 공공영역에 대해서 권리범위를 인정하지 않겠다는 것인데</a:t>
            </a:r>
            <a:r>
              <a:rPr lang="en-US" altLang="ko-KR" sz="1100" dirty="0"/>
              <a:t>, </a:t>
            </a:r>
            <a:r>
              <a:rPr lang="ko-KR" altLang="en-US" sz="1100" dirty="0"/>
              <a:t>시기적</a:t>
            </a:r>
            <a:r>
              <a:rPr lang="en-US" altLang="ko-KR" sz="1100" dirty="0"/>
              <a:t>, </a:t>
            </a:r>
            <a:r>
              <a:rPr lang="ko-KR" altLang="en-US" sz="1100" dirty="0"/>
              <a:t>절차적 요건 등을 지키면서 </a:t>
            </a:r>
            <a:r>
              <a:rPr lang="ko-KR" altLang="en-US" sz="1100" dirty="0" err="1"/>
              <a:t>공지예외적용주장을</a:t>
            </a:r>
            <a:r>
              <a:rPr lang="ko-KR" altLang="en-US" sz="1100" dirty="0"/>
              <a:t> 하였다면 입법적 결단을 통해 공공영역이 </a:t>
            </a:r>
            <a:r>
              <a:rPr lang="ko-KR" altLang="en-US" sz="1100" dirty="0" err="1"/>
              <a:t>독점배타적인</a:t>
            </a:r>
            <a:r>
              <a:rPr lang="ko-KR" altLang="en-US" sz="1100" dirty="0"/>
              <a:t> 특허를 받을 수 있는 영역에 편입되어 더 이상 공공영역이 아님</a:t>
            </a:r>
            <a:endParaRPr lang="en-US" altLang="ko-KR" sz="1100" dirty="0"/>
          </a:p>
          <a:p>
            <a:pPr marL="228600" marR="0" indent="-228600" fontAlgn="base">
              <a:buAutoNum type="arabicPeriod"/>
            </a:pPr>
            <a:r>
              <a:rPr lang="ko-KR" altLang="en-US" sz="1100" dirty="0"/>
              <a:t>공지된 발명에 대하여 별다른 창작적 기여를 하지 않은 제</a:t>
            </a:r>
            <a:r>
              <a:rPr lang="en-US" altLang="ko-KR" sz="1100" dirty="0"/>
              <a:t>3</a:t>
            </a:r>
            <a:r>
              <a:rPr lang="ko-KR" altLang="en-US" sz="1100" dirty="0"/>
              <a:t>자에게 특허권자와의 형평을 도모하기 위하여 인정되는 선사용에 의한 통상실시권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103)</a:t>
            </a:r>
            <a:r>
              <a:rPr lang="ko-KR" altLang="en-US" sz="1100" dirty="0"/>
              <a:t>을 넘어서는 무상의 실시 권한을 부여하는 것은 온당치 않음</a:t>
            </a:r>
          </a:p>
        </p:txBody>
      </p: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40AE533A-4DAC-C1C7-D117-2938B5DA0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02242"/>
              </p:ext>
            </p:extLst>
          </p:nvPr>
        </p:nvGraphicFramePr>
        <p:xfrm>
          <a:off x="6116462" y="5605596"/>
          <a:ext cx="3300261" cy="9753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00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06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특허발명의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피고제품의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판단</a:t>
                      </a:r>
                      <a:r>
                        <a:rPr lang="en-US" altLang="ko-KR" sz="1000" b="1" dirty="0"/>
                        <a:t>(○/×/△) 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6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○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6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○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6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c2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△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F489ACF1-75A3-4468-A494-F8F7A8AC6FC9}"/>
              </a:ext>
            </a:extLst>
          </p:cNvPr>
          <p:cNvCxnSpPr>
            <a:cxnSpLocks/>
            <a:stCxn id="19" idx="3"/>
            <a:endCxn id="7" idx="0"/>
          </p:cNvCxnSpPr>
          <p:nvPr/>
        </p:nvCxnSpPr>
        <p:spPr>
          <a:xfrm flipV="1">
            <a:off x="4505119" y="2743159"/>
            <a:ext cx="5279656" cy="75732"/>
          </a:xfrm>
          <a:prstGeom prst="bentConnector4">
            <a:avLst>
              <a:gd name="adj1" fmla="val 37467"/>
              <a:gd name="adj2" fmla="val 437825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B21E3F1-FCFB-1277-7331-E6AC703595E6}"/>
              </a:ext>
            </a:extLst>
          </p:cNvPr>
          <p:cNvSpPr txBox="1"/>
          <p:nvPr/>
        </p:nvSpPr>
        <p:spPr>
          <a:xfrm>
            <a:off x="4695825" y="2653607"/>
            <a:ext cx="1694928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침해인지 판단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특허발명과 피고제품의 대비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EA0E28D3-8346-D381-DA21-9C1E2C7C8EE2}"/>
              </a:ext>
            </a:extLst>
          </p:cNvPr>
          <p:cNvCxnSpPr>
            <a:cxnSpLocks/>
            <a:stCxn id="84" idx="2"/>
            <a:endCxn id="77" idx="0"/>
          </p:cNvCxnSpPr>
          <p:nvPr/>
        </p:nvCxnSpPr>
        <p:spPr>
          <a:xfrm rot="16200000" flipH="1">
            <a:off x="5409778" y="3248782"/>
            <a:ext cx="2490324" cy="2223303"/>
          </a:xfrm>
          <a:prstGeom prst="bentConnector3">
            <a:avLst>
              <a:gd name="adj1" fmla="val 3737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말풍선: 모서리가 둥근 사각형 89">
            <a:extLst>
              <a:ext uri="{FF2B5EF4-FFF2-40B4-BE49-F238E27FC236}">
                <a16:creationId xmlns:a16="http://schemas.microsoft.com/office/drawing/2014/main" id="{6B760041-A908-9407-05A0-F3FB7827C5E4}"/>
              </a:ext>
            </a:extLst>
          </p:cNvPr>
          <p:cNvSpPr/>
          <p:nvPr/>
        </p:nvSpPr>
        <p:spPr>
          <a:xfrm>
            <a:off x="9707400" y="5493700"/>
            <a:ext cx="2138714" cy="804524"/>
          </a:xfrm>
          <a:prstGeom prst="wedgeRoundRectCallout">
            <a:avLst>
              <a:gd name="adj1" fmla="val -54367"/>
              <a:gd name="adj2" fmla="val -106390"/>
              <a:gd name="adj3" fmla="val 16667"/>
            </a:avLst>
          </a:prstGeom>
          <a:solidFill>
            <a:schemeClr val="accent2">
              <a:alpha val="3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특허발명과 대비하기 위하여 특허발명과 대응되는 구성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대응되지 않은 구성 </a:t>
            </a:r>
            <a:r>
              <a:rPr lang="en-US" altLang="ko-KR" sz="1000" dirty="0">
                <a:solidFill>
                  <a:schemeClr val="tx1"/>
                </a:solidFill>
              </a:rPr>
              <a:t>d</a:t>
            </a:r>
            <a:r>
              <a:rPr lang="ko-KR" altLang="en-US" sz="1000" dirty="0">
                <a:solidFill>
                  <a:schemeClr val="tx1"/>
                </a:solidFill>
              </a:rPr>
              <a:t>는 대비함에 있어서 영향 </a:t>
            </a:r>
            <a:r>
              <a:rPr lang="en-US" altLang="ko-KR" sz="1000" dirty="0">
                <a:solidFill>
                  <a:schemeClr val="tx1"/>
                </a:solidFill>
              </a:rPr>
              <a:t>X)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1" name="말풍선: 모서리가 둥근 사각형 90">
            <a:extLst>
              <a:ext uri="{FF2B5EF4-FFF2-40B4-BE49-F238E27FC236}">
                <a16:creationId xmlns:a16="http://schemas.microsoft.com/office/drawing/2014/main" id="{DC8E458E-6643-A6E4-7ABF-3BD9CF0B8A04}"/>
              </a:ext>
            </a:extLst>
          </p:cNvPr>
          <p:cNvSpPr/>
          <p:nvPr/>
        </p:nvSpPr>
        <p:spPr>
          <a:xfrm>
            <a:off x="9784769" y="4468871"/>
            <a:ext cx="2302456" cy="418281"/>
          </a:xfrm>
          <a:prstGeom prst="wedgeRoundRectCallout">
            <a:avLst>
              <a:gd name="adj1" fmla="val -11134"/>
              <a:gd name="adj2" fmla="val -114301"/>
              <a:gd name="adj3" fmla="val 16667"/>
            </a:avLst>
          </a:prstGeom>
          <a:solidFill>
            <a:schemeClr val="accent2">
              <a:alpha val="3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판결의 효력이 미치는 범위를 명확히 하기 위하여 다른 것과 구별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ED4F92F-1001-0742-56B4-31310BAAD720}"/>
              </a:ext>
            </a:extLst>
          </p:cNvPr>
          <p:cNvSpPr txBox="1"/>
          <p:nvPr/>
        </p:nvSpPr>
        <p:spPr>
          <a:xfrm>
            <a:off x="5986411" y="5348694"/>
            <a:ext cx="18261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청구항 </a:t>
            </a:r>
            <a:r>
              <a:rPr lang="ko-KR" altLang="en-US" sz="1100" dirty="0" err="1">
                <a:solidFill>
                  <a:srgbClr val="FF0000"/>
                </a:solidFill>
              </a:rPr>
              <a:t>대비표</a:t>
            </a:r>
            <a:r>
              <a:rPr lang="en-US" altLang="ko-KR" sz="1100" dirty="0">
                <a:solidFill>
                  <a:srgbClr val="FF0000"/>
                </a:solidFill>
              </a:rPr>
              <a:t>(Claim-chart)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3B6D9-2D4D-30F6-B689-5F69A6234C77}"/>
              </a:ext>
            </a:extLst>
          </p:cNvPr>
          <p:cNvSpPr txBox="1"/>
          <p:nvPr/>
        </p:nvSpPr>
        <p:spPr>
          <a:xfrm>
            <a:off x="3638093" y="787019"/>
            <a:ext cx="21710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/>
              <a:t>cf</a:t>
            </a:r>
            <a:r>
              <a:rPr lang="en-US" altLang="ko-KR" sz="1100" dirty="0"/>
              <a:t>) </a:t>
            </a:r>
            <a:r>
              <a:rPr lang="ko-KR" altLang="en-US" sz="1100" dirty="0"/>
              <a:t>대응구성설 </a:t>
            </a:r>
            <a:r>
              <a:rPr lang="en-US" altLang="ko-KR" sz="1100" dirty="0"/>
              <a:t>– a+ b+ </a:t>
            </a:r>
            <a:r>
              <a:rPr lang="en-US" altLang="ko-KR" sz="1100" dirty="0" err="1"/>
              <a:t>c2</a:t>
            </a:r>
            <a:r>
              <a:rPr lang="en-US" altLang="ko-KR" sz="1100" dirty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125929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429412" y="3247265"/>
            <a:ext cx="11233248" cy="176419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813455" y="4165117"/>
            <a:ext cx="1056117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60710" y="3426304"/>
            <a:ext cx="61908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a+b+c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2798" y="4426033"/>
            <a:ext cx="1077539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a+b+c2+d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545768"/>
              </p:ext>
            </p:extLst>
          </p:nvPr>
        </p:nvGraphicFramePr>
        <p:xfrm>
          <a:off x="429412" y="5154375"/>
          <a:ext cx="11233249" cy="15436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68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9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3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43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 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특허권 하자의 항변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무효의 항변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자유기술의 항변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3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판단대상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공지기술 </a:t>
                      </a:r>
                      <a:r>
                        <a:rPr lang="en-US" altLang="ko-KR" sz="1200" dirty="0">
                          <a:effectLst/>
                        </a:rPr>
                        <a:t>vs </a:t>
                      </a:r>
                      <a:r>
                        <a:rPr lang="ko-KR" altLang="en-US" sz="1200" dirty="0">
                          <a:effectLst/>
                        </a:rPr>
                        <a:t>특허발명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공지기술 </a:t>
                      </a:r>
                      <a:r>
                        <a:rPr lang="en-US" altLang="ko-KR" sz="1200" dirty="0">
                          <a:effectLst/>
                        </a:rPr>
                        <a:t>vs </a:t>
                      </a:r>
                      <a:r>
                        <a:rPr lang="ko-KR" altLang="en-US" sz="1200" dirty="0">
                          <a:effectLst/>
                        </a:rPr>
                        <a:t>확인대상발명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>
                          <a:latin typeface="+mn-ea"/>
                        </a:rPr>
                        <a:t>α-</a:t>
                      </a:r>
                      <a:r>
                        <a:rPr lang="ko-KR" altLang="en-US" sz="1200" dirty="0">
                          <a:latin typeface="+mn-ea"/>
                        </a:rPr>
                        <a:t>전체구성설</a:t>
                      </a:r>
                      <a:r>
                        <a:rPr lang="en-US" altLang="ko-KR" sz="1200" dirty="0">
                          <a:latin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3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적용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범위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동일성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인정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인정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용이성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부정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단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최근의 판례가 일정한 경우 권리행사를 제한함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인정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3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권리범위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부정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특허발명과 대비 필요성</a:t>
                      </a:r>
                      <a:r>
                        <a:rPr lang="en-US" altLang="ko-KR" sz="1200" dirty="0">
                          <a:effectLst/>
                        </a:rPr>
                        <a:t>×(</a:t>
                      </a:r>
                      <a:r>
                        <a:rPr lang="ko-KR" altLang="en-US" sz="1200" dirty="0">
                          <a:effectLst/>
                        </a:rPr>
                        <a:t>권리범위 언급</a:t>
                      </a:r>
                      <a:r>
                        <a:rPr lang="en-US" altLang="ko-KR" sz="1200" dirty="0">
                          <a:effectLst/>
                        </a:rPr>
                        <a:t>×) - </a:t>
                      </a:r>
                      <a:r>
                        <a:rPr lang="ko-KR" altLang="en-US" sz="1200" dirty="0">
                          <a:effectLst/>
                        </a:rPr>
                        <a:t>문언침해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균등침해 적용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타원 30"/>
          <p:cNvSpPr/>
          <p:nvPr/>
        </p:nvSpPr>
        <p:spPr>
          <a:xfrm>
            <a:off x="1392881" y="4084448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" name="직선 연결선 3"/>
          <p:cNvCxnSpPr>
            <a:stCxn id="21" idx="2"/>
            <a:endCxn id="31" idx="0"/>
          </p:cNvCxnSpPr>
          <p:nvPr/>
        </p:nvCxnSpPr>
        <p:spPr>
          <a:xfrm>
            <a:off x="1470250" y="3887969"/>
            <a:ext cx="0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603090" y="3426304"/>
            <a:ext cx="891591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a+b+c1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43" name="타원 42"/>
          <p:cNvSpPr/>
          <p:nvPr/>
        </p:nvSpPr>
        <p:spPr>
          <a:xfrm>
            <a:off x="2971515" y="408444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4" name="직선 연결선 43"/>
          <p:cNvCxnSpPr>
            <a:stCxn id="42" idx="2"/>
            <a:endCxn id="43" idx="0"/>
          </p:cNvCxnSpPr>
          <p:nvPr/>
        </p:nvCxnSpPr>
        <p:spPr>
          <a:xfrm flipH="1">
            <a:off x="3048884" y="3887969"/>
            <a:ext cx="2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477724" y="3426304"/>
            <a:ext cx="713657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a+b+c1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46" name="타원 45"/>
          <p:cNvSpPr/>
          <p:nvPr/>
        </p:nvSpPr>
        <p:spPr>
          <a:xfrm>
            <a:off x="4757183" y="408444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/>
          <p:cNvCxnSpPr>
            <a:stCxn id="45" idx="2"/>
            <a:endCxn id="46" idx="0"/>
          </p:cNvCxnSpPr>
          <p:nvPr/>
        </p:nvCxnSpPr>
        <p:spPr>
          <a:xfrm flipH="1">
            <a:off x="4834552" y="3887969"/>
            <a:ext cx="1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/>
          <p:cNvSpPr/>
          <p:nvPr/>
        </p:nvSpPr>
        <p:spPr>
          <a:xfrm>
            <a:off x="6674198" y="408444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/>
          <p:cNvCxnSpPr>
            <a:stCxn id="28" idx="0"/>
            <a:endCxn id="48" idx="4"/>
          </p:cNvCxnSpPr>
          <p:nvPr/>
        </p:nvCxnSpPr>
        <p:spPr>
          <a:xfrm flipH="1" flipV="1">
            <a:off x="6751567" y="4245786"/>
            <a:ext cx="1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557593" y="3426304"/>
            <a:ext cx="1782860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침해소송제기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확인대상발명</a:t>
            </a:r>
            <a:r>
              <a:rPr lang="en-US" altLang="ko-KR" sz="1200" dirty="0">
                <a:latin typeface="+mn-ea"/>
              </a:rPr>
              <a:t> α</a:t>
            </a:r>
            <a:r>
              <a:rPr lang="ko-KR" altLang="en-US" sz="1200" dirty="0">
                <a:latin typeface="+mn-ea"/>
              </a:rPr>
              <a:t>로 특정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sp>
        <p:nvSpPr>
          <p:cNvPr id="51" name="타원 50"/>
          <p:cNvSpPr/>
          <p:nvPr/>
        </p:nvSpPr>
        <p:spPr>
          <a:xfrm>
            <a:off x="8371651" y="408444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/>
          <p:cNvCxnSpPr>
            <a:stCxn id="50" idx="2"/>
            <a:endCxn id="51" idx="0"/>
          </p:cNvCxnSpPr>
          <p:nvPr/>
        </p:nvCxnSpPr>
        <p:spPr>
          <a:xfrm flipH="1">
            <a:off x="8449020" y="3887969"/>
            <a:ext cx="3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492167" y="4426033"/>
            <a:ext cx="95410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소송 中 항변</a:t>
            </a:r>
          </a:p>
        </p:txBody>
      </p:sp>
      <p:sp>
        <p:nvSpPr>
          <p:cNvPr id="54" name="타원 53"/>
          <p:cNvSpPr/>
          <p:nvPr/>
        </p:nvSpPr>
        <p:spPr>
          <a:xfrm>
            <a:off x="9891851" y="408444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5" name="직선 연결선 54"/>
          <p:cNvCxnSpPr>
            <a:stCxn id="53" idx="0"/>
            <a:endCxn id="54" idx="4"/>
          </p:cNvCxnSpPr>
          <p:nvPr/>
        </p:nvCxnSpPr>
        <p:spPr>
          <a:xfrm flipH="1" flipV="1">
            <a:off x="9969220" y="4245786"/>
            <a:ext cx="1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875" y="986046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400" dirty="0" err="1">
                <a:latin typeface="+mn-ea"/>
              </a:rPr>
              <a:t>특허권자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甲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가 제기한 특허권 침해소송에서 실시자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는 「</a:t>
            </a:r>
            <a:r>
              <a:rPr lang="en-US" altLang="ko-KR" sz="1400" dirty="0">
                <a:latin typeface="+mn-ea"/>
              </a:rPr>
              <a:t>ⅰ) </a:t>
            </a:r>
            <a:r>
              <a:rPr lang="ko-KR" altLang="en-US" sz="1400" dirty="0">
                <a:latin typeface="+mn-ea"/>
              </a:rPr>
              <a:t>특허권자의 등록발명 </a:t>
            </a:r>
            <a:r>
              <a:rPr lang="en-US" altLang="ko-KR" sz="1400" dirty="0">
                <a:latin typeface="+mn-ea"/>
              </a:rPr>
              <a:t>a+b+c1</a:t>
            </a:r>
            <a:r>
              <a:rPr lang="ko-KR" altLang="en-US" sz="1400" dirty="0">
                <a:latin typeface="+mn-ea"/>
              </a:rPr>
              <a:t>이 공지기술인 </a:t>
            </a:r>
            <a:r>
              <a:rPr lang="en-US" altLang="ko-KR" sz="1400" dirty="0" err="1">
                <a:latin typeface="+mn-ea"/>
              </a:rPr>
              <a:t>a+b+c</a:t>
            </a:r>
            <a:r>
              <a:rPr lang="ko-KR" altLang="en-US" sz="1400" dirty="0">
                <a:latin typeface="+mn-ea"/>
              </a:rPr>
              <a:t>와 동일하기 때문에 특허무효심판여부와 </a:t>
            </a:r>
            <a:r>
              <a:rPr lang="ko-KR" altLang="en-US" sz="1400" dirty="0" err="1">
                <a:latin typeface="+mn-ea"/>
              </a:rPr>
              <a:t>관련없이</a:t>
            </a:r>
            <a:r>
              <a:rPr lang="ko-KR" altLang="en-US" sz="1400" dirty="0">
                <a:latin typeface="+mn-ea"/>
              </a:rPr>
              <a:t> 특허권의 권리범위를 인정할 수 없어 침해가 아니다 또는 </a:t>
            </a:r>
            <a:r>
              <a:rPr lang="en-US" altLang="ko-KR" sz="1400" dirty="0">
                <a:latin typeface="+mn-ea"/>
              </a:rPr>
              <a:t>ⅱ) </a:t>
            </a:r>
            <a:r>
              <a:rPr lang="ko-KR" altLang="en-US" sz="1400" dirty="0">
                <a:latin typeface="+mn-ea"/>
              </a:rPr>
              <a:t>확인대상발명 </a:t>
            </a:r>
            <a:r>
              <a:rPr lang="en-US" altLang="ko-KR" sz="1400" dirty="0">
                <a:latin typeface="+mn-ea"/>
              </a:rPr>
              <a:t>α</a:t>
            </a:r>
            <a:r>
              <a:rPr lang="ko-KR" altLang="en-US" sz="1400" dirty="0">
                <a:latin typeface="+mn-ea"/>
              </a:rPr>
              <a:t>가 공지기술인 </a:t>
            </a:r>
            <a:r>
              <a:rPr lang="en-US" altLang="ko-KR" sz="1400" dirty="0" err="1">
                <a:latin typeface="+mn-ea"/>
              </a:rPr>
              <a:t>a+b+c</a:t>
            </a:r>
            <a:r>
              <a:rPr lang="ko-KR" altLang="en-US" sz="1400" dirty="0">
                <a:latin typeface="+mn-ea"/>
              </a:rPr>
              <a:t>와 동일하거나 </a:t>
            </a:r>
            <a:r>
              <a:rPr lang="en-US" altLang="ko-KR" sz="1400" dirty="0" err="1">
                <a:latin typeface="+mn-ea"/>
              </a:rPr>
              <a:t>a+b+c</a:t>
            </a:r>
            <a:r>
              <a:rPr lang="ko-KR" altLang="en-US" sz="1400" dirty="0">
                <a:latin typeface="+mn-ea"/>
              </a:rPr>
              <a:t>로부터 용이하게 실시할 수 있기 때문에 특허발명과는 대비할 </a:t>
            </a:r>
            <a:r>
              <a:rPr lang="ko-KR" altLang="en-US" sz="1400" dirty="0" err="1">
                <a:latin typeface="+mn-ea"/>
              </a:rPr>
              <a:t>필요없이</a:t>
            </a:r>
            <a:r>
              <a:rPr lang="ko-KR" altLang="en-US" sz="1400" dirty="0">
                <a:latin typeface="+mn-ea"/>
              </a:rPr>
              <a:t> 침해가 아니다</a:t>
            </a:r>
            <a:r>
              <a:rPr lang="en-US" altLang="ko-KR" sz="1400" dirty="0">
                <a:latin typeface="+mn-ea"/>
              </a:rPr>
              <a:t>.</a:t>
            </a:r>
            <a:r>
              <a:rPr lang="ko-KR" altLang="en-US" sz="1400" dirty="0">
                <a:latin typeface="+mn-ea"/>
              </a:rPr>
              <a:t>」 라고 항변할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강학상 전자를 특허권 하자의 항변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무효의 항변</a:t>
            </a:r>
            <a:r>
              <a:rPr lang="en-US" altLang="ko-KR" sz="1400" dirty="0">
                <a:latin typeface="+mn-ea"/>
              </a:rPr>
              <a:t>), </a:t>
            </a:r>
            <a:r>
              <a:rPr lang="ko-KR" altLang="en-US" sz="1400" dirty="0">
                <a:latin typeface="+mn-ea"/>
              </a:rPr>
              <a:t>후자를 자유기술의 항변이라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71450" indent="-171450">
              <a:buFontTx/>
              <a:buChar char="-"/>
            </a:pPr>
            <a:r>
              <a:rPr lang="ko-KR" altLang="en-US" sz="1400" dirty="0">
                <a:latin typeface="+mn-ea"/>
              </a:rPr>
              <a:t>한편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확인대상발명 </a:t>
            </a:r>
            <a:r>
              <a:rPr lang="en-US" altLang="ko-KR" sz="1400" dirty="0">
                <a:latin typeface="+mn-ea"/>
              </a:rPr>
              <a:t>α</a:t>
            </a:r>
            <a:r>
              <a:rPr lang="ko-KR" altLang="en-US" sz="1400" dirty="0">
                <a:latin typeface="+mn-ea"/>
              </a:rPr>
              <a:t>는 당해 특허발명과 서로 대비할 수 있을 만큼 구체적으로 특정되어야 하는 것인바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 특정을 위해서는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대상물의 구체적인 구성을 전부 기재할 필요는 없고 특허발명의 구성요소에 대응하는 부분의 구체적인 구성을 기재</a:t>
            </a:r>
            <a:r>
              <a:rPr lang="ko-KR" altLang="en-US" sz="1400" dirty="0">
                <a:latin typeface="+mn-ea"/>
              </a:rPr>
              <a:t>하면 되는 것이나 다만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 구체적인 구성의 기재는 특허발명의 구성요소와 대비하여 그 차이점을 판단함에 필요한 정도는 되어야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즉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highlight>
                  <a:srgbClr val="FFFF00"/>
                </a:highlight>
                <a:latin typeface="+mn-ea"/>
              </a:rPr>
              <a:t>특허권자는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 확인대상발명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α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를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a+b+c2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또는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a+b+c2+d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로 특정</a:t>
            </a:r>
            <a:r>
              <a:rPr lang="ko-KR" altLang="en-US" sz="1400" dirty="0">
                <a:latin typeface="+mn-ea"/>
              </a:rPr>
              <a:t>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다만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특허권자가 확인대상발명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α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를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a+b+c2+d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로 특정하는 것이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a+b+c2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로 특정하는 것보다 실시자의 자유기술의 항변을 어렵게 만들기 때문에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예를 들어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, a+b+c2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는 </a:t>
            </a:r>
            <a:r>
              <a:rPr lang="en-US" altLang="ko-KR" sz="1400" dirty="0" err="1">
                <a:highlight>
                  <a:srgbClr val="FFFF00"/>
                </a:highlight>
                <a:latin typeface="+mn-ea"/>
              </a:rPr>
              <a:t>a+b+c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로부터 용이하나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, a+b+c2+d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는 </a:t>
            </a:r>
            <a:r>
              <a:rPr lang="en-US" altLang="ko-KR" sz="1400" dirty="0" err="1">
                <a:highlight>
                  <a:srgbClr val="FFFF00"/>
                </a:highlight>
                <a:latin typeface="+mn-ea"/>
              </a:rPr>
              <a:t>a+b+c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로부터 용이하지 않은 경우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) </a:t>
            </a:r>
            <a:r>
              <a:rPr lang="ko-KR" altLang="en-US" sz="1400" dirty="0" err="1">
                <a:highlight>
                  <a:srgbClr val="FFFF00"/>
                </a:highlight>
                <a:latin typeface="+mn-ea"/>
              </a:rPr>
              <a:t>특허권자에게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 이익</a:t>
            </a:r>
            <a:r>
              <a:rPr lang="ko-KR" altLang="en-US" sz="1400" dirty="0">
                <a:latin typeface="+mn-ea"/>
              </a:rPr>
              <a:t>이 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cxnSp>
        <p:nvCxnSpPr>
          <p:cNvPr id="58" name="직선 연결선 57"/>
          <p:cNvCxnSpPr/>
          <p:nvPr/>
        </p:nvCxnSpPr>
        <p:spPr>
          <a:xfrm>
            <a:off x="0" y="281864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자유기술의 항변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317</a:t>
            </a:fld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C63BED9D-B00C-4D35-BBB5-01FE5DF44951}"/>
              </a:ext>
            </a:extLst>
          </p:cNvPr>
          <p:cNvCxnSpPr>
            <a:stCxn id="21" idx="0"/>
            <a:endCxn id="45" idx="0"/>
          </p:cNvCxnSpPr>
          <p:nvPr/>
        </p:nvCxnSpPr>
        <p:spPr>
          <a:xfrm rot="5400000" flipH="1" flipV="1">
            <a:off x="3152401" y="1744153"/>
            <a:ext cx="12700" cy="3364303"/>
          </a:xfrm>
          <a:prstGeom prst="bentConnector3">
            <a:avLst>
              <a:gd name="adj1" fmla="val 18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902024CC-4410-42C7-8210-DFBF7E66EE6D}"/>
              </a:ext>
            </a:extLst>
          </p:cNvPr>
          <p:cNvCxnSpPr>
            <a:cxnSpLocks/>
            <a:stCxn id="21" idx="1"/>
            <a:endCxn id="50" idx="1"/>
          </p:cNvCxnSpPr>
          <p:nvPr/>
        </p:nvCxnSpPr>
        <p:spPr>
          <a:xfrm rot="10800000" flipH="1">
            <a:off x="1160709" y="3657137"/>
            <a:ext cx="6396883" cy="12700"/>
          </a:xfrm>
          <a:prstGeom prst="bentConnector5">
            <a:avLst>
              <a:gd name="adj1" fmla="val -3574"/>
              <a:gd name="adj2" fmla="val 5552228"/>
              <a:gd name="adj3" fmla="val 76955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38614C5-2FD6-4B7B-B484-BBA2D3E97B0C}"/>
              </a:ext>
            </a:extLst>
          </p:cNvPr>
          <p:cNvSpPr txBox="1"/>
          <p:nvPr/>
        </p:nvSpPr>
        <p:spPr>
          <a:xfrm>
            <a:off x="1888247" y="3066637"/>
            <a:ext cx="23262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하자의 항변</a:t>
            </a:r>
            <a:r>
              <a:rPr lang="en-US" altLang="ko-KR" sz="1400" dirty="0"/>
              <a:t>, </a:t>
            </a:r>
            <a:r>
              <a:rPr lang="ko-KR" altLang="en-US" sz="1400" dirty="0"/>
              <a:t>권리남용의 항변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6A6BCC-ABC9-40EC-BD61-983AE4FC1AF7}"/>
              </a:ext>
            </a:extLst>
          </p:cNvPr>
          <p:cNvSpPr txBox="1"/>
          <p:nvPr/>
        </p:nvSpPr>
        <p:spPr>
          <a:xfrm>
            <a:off x="4517071" y="2832669"/>
            <a:ext cx="13676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자유기술의 항변</a:t>
            </a:r>
          </a:p>
        </p:txBody>
      </p:sp>
    </p:spTree>
    <p:extLst>
      <p:ext uri="{BB962C8B-B14F-4D97-AF65-F5344CB8AC3E}">
        <p14:creationId xmlns:p14="http://schemas.microsoft.com/office/powerpoint/2010/main" val="174632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429412" y="1226935"/>
            <a:ext cx="11233248" cy="220206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813455" y="2144788"/>
            <a:ext cx="1056117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13422" y="1405975"/>
            <a:ext cx="713657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a+b+c1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6724" y="2405704"/>
            <a:ext cx="1349688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a+b+c2+d*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sp>
        <p:nvSpPr>
          <p:cNvPr id="31" name="타원 30"/>
          <p:cNvSpPr/>
          <p:nvPr/>
        </p:nvSpPr>
        <p:spPr>
          <a:xfrm>
            <a:off x="1392881" y="2064119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" name="직선 연결선 3"/>
          <p:cNvCxnSpPr>
            <a:stCxn id="21" idx="2"/>
            <a:endCxn id="31" idx="0"/>
          </p:cNvCxnSpPr>
          <p:nvPr/>
        </p:nvCxnSpPr>
        <p:spPr>
          <a:xfrm flipH="1">
            <a:off x="1470250" y="1867640"/>
            <a:ext cx="1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603090" y="1405975"/>
            <a:ext cx="891591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a+b+c2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43" name="타원 42"/>
          <p:cNvSpPr/>
          <p:nvPr/>
        </p:nvSpPr>
        <p:spPr>
          <a:xfrm>
            <a:off x="2971515" y="2064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4" name="직선 연결선 43"/>
          <p:cNvCxnSpPr>
            <a:stCxn id="42" idx="2"/>
            <a:endCxn id="43" idx="0"/>
          </p:cNvCxnSpPr>
          <p:nvPr/>
        </p:nvCxnSpPr>
        <p:spPr>
          <a:xfrm flipH="1">
            <a:off x="3048884" y="1867640"/>
            <a:ext cx="2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477724" y="1405975"/>
            <a:ext cx="713658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a+b+c2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46" name="타원 45"/>
          <p:cNvSpPr/>
          <p:nvPr/>
        </p:nvSpPr>
        <p:spPr>
          <a:xfrm>
            <a:off x="4757183" y="2064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/>
          <p:cNvCxnSpPr>
            <a:stCxn id="45" idx="2"/>
            <a:endCxn id="46" idx="0"/>
          </p:cNvCxnSpPr>
          <p:nvPr/>
        </p:nvCxnSpPr>
        <p:spPr>
          <a:xfrm flipH="1">
            <a:off x="4834552" y="1867640"/>
            <a:ext cx="1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/>
          <p:cNvSpPr/>
          <p:nvPr/>
        </p:nvSpPr>
        <p:spPr>
          <a:xfrm>
            <a:off x="6674198" y="206411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/>
          <p:cNvCxnSpPr>
            <a:cxnSpLocks/>
            <a:stCxn id="28" idx="0"/>
            <a:endCxn id="48" idx="4"/>
          </p:cNvCxnSpPr>
          <p:nvPr/>
        </p:nvCxnSpPr>
        <p:spPr>
          <a:xfrm flipH="1" flipV="1">
            <a:off x="6751567" y="2225457"/>
            <a:ext cx="1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667552" y="1405975"/>
            <a:ext cx="245263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침해소송제기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권리범위확인심판청구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확인대상발명</a:t>
            </a:r>
            <a:r>
              <a:rPr lang="en-US" altLang="ko-KR" sz="1200" dirty="0">
                <a:latin typeface="+mn-ea"/>
              </a:rPr>
              <a:t> α</a:t>
            </a:r>
            <a:r>
              <a:rPr lang="ko-KR" altLang="en-US" sz="1200" dirty="0">
                <a:latin typeface="+mn-ea"/>
              </a:rPr>
              <a:t>로 특정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sp>
        <p:nvSpPr>
          <p:cNvPr id="51" name="타원 50"/>
          <p:cNvSpPr/>
          <p:nvPr/>
        </p:nvSpPr>
        <p:spPr>
          <a:xfrm>
            <a:off x="8816496" y="2064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/>
          <p:cNvCxnSpPr>
            <a:cxnSpLocks/>
            <a:stCxn id="50" idx="2"/>
            <a:endCxn id="51" idx="0"/>
          </p:cNvCxnSpPr>
          <p:nvPr/>
        </p:nvCxnSpPr>
        <p:spPr>
          <a:xfrm flipH="1">
            <a:off x="8893865" y="1867640"/>
            <a:ext cx="3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568928" y="2405704"/>
            <a:ext cx="46038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항변</a:t>
            </a:r>
          </a:p>
        </p:txBody>
      </p:sp>
      <p:sp>
        <p:nvSpPr>
          <p:cNvPr id="54" name="타원 53"/>
          <p:cNvSpPr/>
          <p:nvPr/>
        </p:nvSpPr>
        <p:spPr>
          <a:xfrm>
            <a:off x="10721749" y="206411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5" name="직선 연결선 54"/>
          <p:cNvCxnSpPr>
            <a:stCxn id="53" idx="0"/>
            <a:endCxn id="54" idx="4"/>
          </p:cNvCxnSpPr>
          <p:nvPr/>
        </p:nvCxnSpPr>
        <p:spPr>
          <a:xfrm flipH="1" flipV="1">
            <a:off x="10799118" y="2225457"/>
            <a:ext cx="1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자유기술의 항변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794A4D-4D3A-41FB-8F22-EE1ED82F5545}"/>
              </a:ext>
            </a:extLst>
          </p:cNvPr>
          <p:cNvSpPr txBox="1"/>
          <p:nvPr/>
        </p:nvSpPr>
        <p:spPr>
          <a:xfrm>
            <a:off x="555603" y="3065574"/>
            <a:ext cx="4934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* a+b+c1</a:t>
            </a:r>
            <a:r>
              <a:rPr lang="ko-KR" altLang="en-US" sz="1400" dirty="0">
                <a:latin typeface="+mn-ea"/>
              </a:rPr>
              <a:t>로부터 </a:t>
            </a:r>
            <a:r>
              <a:rPr lang="en-US" altLang="ko-KR" sz="1400" dirty="0">
                <a:latin typeface="+mn-ea"/>
              </a:rPr>
              <a:t>a+b+c2+d</a:t>
            </a:r>
            <a:r>
              <a:rPr lang="ko-KR" altLang="en-US" sz="1400" dirty="0">
                <a:latin typeface="+mn-ea"/>
              </a:rPr>
              <a:t>는 용이하지 않고</a:t>
            </a:r>
            <a:r>
              <a:rPr lang="en-US" altLang="ko-KR" sz="1400" dirty="0">
                <a:latin typeface="+mn-ea"/>
              </a:rPr>
              <a:t>, a+b+c2</a:t>
            </a:r>
            <a:r>
              <a:rPr lang="ko-KR" altLang="en-US" sz="1400" dirty="0">
                <a:latin typeface="+mn-ea"/>
              </a:rPr>
              <a:t>는 용이함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3A675EA-E53F-4567-A57F-84AE23954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464214"/>
              </p:ext>
            </p:extLst>
          </p:nvPr>
        </p:nvGraphicFramePr>
        <p:xfrm>
          <a:off x="429413" y="3689915"/>
          <a:ext cx="11233251" cy="211896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35655">
                  <a:extLst>
                    <a:ext uri="{9D8B030D-6E8A-4147-A177-3AD203B41FA5}">
                      <a16:colId xmlns:a16="http://schemas.microsoft.com/office/drawing/2014/main" val="2139666124"/>
                    </a:ext>
                  </a:extLst>
                </a:gridCol>
                <a:gridCol w="2449399">
                  <a:extLst>
                    <a:ext uri="{9D8B030D-6E8A-4147-A177-3AD203B41FA5}">
                      <a16:colId xmlns:a16="http://schemas.microsoft.com/office/drawing/2014/main" val="1555843567"/>
                    </a:ext>
                  </a:extLst>
                </a:gridCol>
                <a:gridCol w="2449399">
                  <a:extLst>
                    <a:ext uri="{9D8B030D-6E8A-4147-A177-3AD203B41FA5}">
                      <a16:colId xmlns:a16="http://schemas.microsoft.com/office/drawing/2014/main" val="2204792389"/>
                    </a:ext>
                  </a:extLst>
                </a:gridCol>
                <a:gridCol w="2449399">
                  <a:extLst>
                    <a:ext uri="{9D8B030D-6E8A-4147-A177-3AD203B41FA5}">
                      <a16:colId xmlns:a16="http://schemas.microsoft.com/office/drawing/2014/main" val="2353368581"/>
                    </a:ext>
                  </a:extLst>
                </a:gridCol>
                <a:gridCol w="2449399">
                  <a:extLst>
                    <a:ext uri="{9D8B030D-6E8A-4147-A177-3AD203B41FA5}">
                      <a16:colId xmlns:a16="http://schemas.microsoft.com/office/drawing/2014/main" val="193635068"/>
                    </a:ext>
                  </a:extLst>
                </a:gridCol>
              </a:tblGrid>
              <a:tr h="54338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확인대상발명</a:t>
                      </a:r>
                      <a:r>
                        <a:rPr lang="en-US" altLang="ko-KR" sz="1400" b="0" dirty="0"/>
                        <a:t>(α)</a:t>
                      </a:r>
                      <a:endParaRPr lang="ko-KR" altLang="en-US" sz="14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/>
                        <a:t>권리범위확인심판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침해소송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115506"/>
                  </a:ext>
                </a:extLst>
              </a:tr>
              <a:tr h="4888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자유기술의 항변</a:t>
                      </a:r>
                      <a:r>
                        <a:rPr lang="en-US" altLang="ko-KR" sz="1400" b="0" dirty="0"/>
                        <a:t>*</a:t>
                      </a:r>
                      <a:endParaRPr lang="ko-KR" altLang="en-US" sz="14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권리남용의 항변</a:t>
                      </a:r>
                      <a:r>
                        <a:rPr lang="en-US" altLang="ko-KR" sz="1400" b="0" dirty="0"/>
                        <a:t>**</a:t>
                      </a:r>
                      <a:endParaRPr lang="ko-KR" altLang="en-US" sz="14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자유기술의 항변</a:t>
                      </a:r>
                      <a:r>
                        <a:rPr lang="en-US" altLang="ko-KR" sz="1400" b="0" dirty="0"/>
                        <a:t>*</a:t>
                      </a:r>
                      <a:endParaRPr lang="ko-KR" altLang="en-US" sz="14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권리남용의 항변</a:t>
                      </a:r>
                      <a:r>
                        <a:rPr lang="en-US" altLang="ko-KR" sz="1400" b="0" dirty="0"/>
                        <a:t>**</a:t>
                      </a:r>
                      <a:endParaRPr lang="ko-KR" altLang="en-US" sz="14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36299"/>
                  </a:ext>
                </a:extLst>
              </a:tr>
              <a:tr h="543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a+b+c2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불인정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인정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830176"/>
                  </a:ext>
                </a:extLst>
              </a:tr>
              <a:tr h="543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a+b+c2+d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불인정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불인정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불인정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인정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4021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D00192B-0D3A-45F0-9E8F-666CB730B078}"/>
              </a:ext>
            </a:extLst>
          </p:cNvPr>
          <p:cNvSpPr/>
          <p:nvPr/>
        </p:nvSpPr>
        <p:spPr>
          <a:xfrm>
            <a:off x="429412" y="5948867"/>
            <a:ext cx="1110705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확인대상발명</a:t>
            </a:r>
            <a:r>
              <a:rPr lang="en-US" altLang="ko-KR" sz="1400" dirty="0">
                <a:solidFill>
                  <a:srgbClr val="FF0000"/>
                </a:solidFill>
              </a:rPr>
              <a:t>(α)</a:t>
            </a:r>
            <a:r>
              <a:rPr lang="ko-KR" altLang="en-US" sz="1400" dirty="0"/>
              <a:t>이 공지기술로부터 유사하기 때문에 권리범위에 속하지 않는다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** </a:t>
            </a:r>
            <a:r>
              <a:rPr lang="ko-KR" altLang="en-US" sz="1400" dirty="0">
                <a:solidFill>
                  <a:srgbClr val="FF0000"/>
                </a:solidFill>
              </a:rPr>
              <a:t>특허발명</a:t>
            </a:r>
            <a:r>
              <a:rPr lang="en-US" altLang="ko-KR" sz="1400" dirty="0">
                <a:solidFill>
                  <a:srgbClr val="FF0000"/>
                </a:solidFill>
              </a:rPr>
              <a:t>(a+b+c2)</a:t>
            </a:r>
            <a:r>
              <a:rPr lang="ko-KR" altLang="en-US" sz="1400" dirty="0"/>
              <a:t>이 공지기술로부터 용이함이 명백하고 특별한 사정이 없기 때문에 </a:t>
            </a:r>
            <a:r>
              <a:rPr lang="en-US" altLang="ko-KR" sz="1400" dirty="0"/>
              <a:t>(</a:t>
            </a:r>
            <a:r>
              <a:rPr lang="ko-KR" altLang="en-US" sz="1400" dirty="0"/>
              <a:t>권리범위에 속하더라도</a:t>
            </a:r>
            <a:r>
              <a:rPr lang="en-US" altLang="ko-KR" sz="1400" dirty="0"/>
              <a:t>) </a:t>
            </a:r>
            <a:r>
              <a:rPr lang="ko-KR" altLang="en-US" sz="1400" dirty="0"/>
              <a:t>권리남용으로서</a:t>
            </a:r>
            <a:r>
              <a:rPr lang="en-US" altLang="ko-KR" sz="1400" dirty="0"/>
              <a:t>, </a:t>
            </a:r>
            <a:r>
              <a:rPr lang="ko-KR" altLang="en-US" sz="1400" dirty="0"/>
              <a:t>침해가 아니다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  <p:cxnSp>
        <p:nvCxnSpPr>
          <p:cNvPr id="5" name="연결선: 구부러짐 4">
            <a:extLst>
              <a:ext uri="{FF2B5EF4-FFF2-40B4-BE49-F238E27FC236}">
                <a16:creationId xmlns:a16="http://schemas.microsoft.com/office/drawing/2014/main" id="{0D48A1EF-2658-40FF-8457-001B16EB22F3}"/>
              </a:ext>
            </a:extLst>
          </p:cNvPr>
          <p:cNvCxnSpPr>
            <a:stCxn id="31" idx="4"/>
            <a:endCxn id="46" idx="3"/>
          </p:cNvCxnSpPr>
          <p:nvPr/>
        </p:nvCxnSpPr>
        <p:spPr>
          <a:xfrm rot="5400000" flipH="1" flipV="1">
            <a:off x="3113233" y="558847"/>
            <a:ext cx="23627" cy="3309594"/>
          </a:xfrm>
          <a:prstGeom prst="curvedConnector3">
            <a:avLst>
              <a:gd name="adj1" fmla="val -967537"/>
            </a:avLst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18E69015-EB4E-42E3-AC8B-42C25BE6B111}"/>
              </a:ext>
            </a:extLst>
          </p:cNvPr>
          <p:cNvCxnSpPr>
            <a:cxnSpLocks/>
            <a:stCxn id="21" idx="0"/>
            <a:endCxn id="50" idx="0"/>
          </p:cNvCxnSpPr>
          <p:nvPr/>
        </p:nvCxnSpPr>
        <p:spPr>
          <a:xfrm rot="5400000" flipH="1" flipV="1">
            <a:off x="5182059" y="-2305833"/>
            <a:ext cx="12700" cy="7423617"/>
          </a:xfrm>
          <a:prstGeom prst="curvedConnector3">
            <a:avLst>
              <a:gd name="adj1" fmla="val 3788575"/>
            </a:avLst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965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319113" y="3305450"/>
            <a:ext cx="922047" cy="58477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4"/>
                </a:solidFill>
                <a:latin typeface="+mn-ea"/>
              </a:rPr>
              <a:t>권리남용</a:t>
            </a:r>
            <a:endParaRPr lang="en-US" altLang="ko-KR" sz="1600" dirty="0">
              <a:solidFill>
                <a:schemeClr val="accent4"/>
              </a:solidFill>
              <a:latin typeface="+mn-ea"/>
            </a:endParaRPr>
          </a:p>
          <a:p>
            <a:pPr algn="ctr"/>
            <a:r>
              <a:rPr lang="ko-KR" altLang="en-US" sz="1600" dirty="0">
                <a:solidFill>
                  <a:schemeClr val="accent4"/>
                </a:solidFill>
                <a:latin typeface="+mn-ea"/>
              </a:rPr>
              <a:t>제한</a:t>
            </a:r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권리남용의 제한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00B75-C1DE-40B2-9EE8-B0A1A71ECA8F}"/>
              </a:ext>
            </a:extLst>
          </p:cNvPr>
          <p:cNvSpPr txBox="1"/>
          <p:nvPr/>
        </p:nvSpPr>
        <p:spPr>
          <a:xfrm>
            <a:off x="1777041" y="1804482"/>
            <a:ext cx="129073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특허법 규정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A832B-20BC-4ECE-98F1-E3D9325C6B77}"/>
              </a:ext>
            </a:extLst>
          </p:cNvPr>
          <p:cNvSpPr txBox="1"/>
          <p:nvPr/>
        </p:nvSpPr>
        <p:spPr>
          <a:xfrm>
            <a:off x="1777041" y="3405800"/>
            <a:ext cx="129073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판례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868293-0334-4BB8-9BC6-EF7250C3BB0C}"/>
              </a:ext>
            </a:extLst>
          </p:cNvPr>
          <p:cNvSpPr txBox="1"/>
          <p:nvPr/>
        </p:nvSpPr>
        <p:spPr>
          <a:xfrm>
            <a:off x="1777041" y="5701506"/>
            <a:ext cx="129073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타법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FE522F-77BE-43F0-AAC1-929A7FDD7DB0}"/>
              </a:ext>
            </a:extLst>
          </p:cNvPr>
          <p:cNvSpPr txBox="1"/>
          <p:nvPr/>
        </p:nvSpPr>
        <p:spPr>
          <a:xfrm>
            <a:off x="3433312" y="1234663"/>
            <a:ext cx="2455654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실시의무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107</a:t>
            </a:r>
            <a:r>
              <a:rPr lang="ko-KR" altLang="en-US" sz="1400" dirty="0"/>
              <a:t>조</a:t>
            </a:r>
            <a:r>
              <a:rPr lang="en-US" altLang="ko-KR" sz="1400" dirty="0"/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93A701-81E9-45AB-B5EF-A3570949381D}"/>
              </a:ext>
            </a:extLst>
          </p:cNvPr>
          <p:cNvSpPr txBox="1"/>
          <p:nvPr/>
        </p:nvSpPr>
        <p:spPr>
          <a:xfrm>
            <a:off x="3433312" y="1681675"/>
            <a:ext cx="245565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실시협조의무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107</a:t>
            </a:r>
            <a:r>
              <a:rPr lang="ko-KR" altLang="en-US" sz="1400" dirty="0"/>
              <a:t>조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138</a:t>
            </a:r>
            <a:r>
              <a:rPr lang="ko-KR" altLang="en-US" sz="1400" dirty="0"/>
              <a:t>조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A8665CD2-1774-4016-8C3F-C52BE8E03F12}"/>
              </a:ext>
            </a:extLst>
          </p:cNvPr>
          <p:cNvCxnSpPr>
            <a:stCxn id="21" idx="3"/>
            <a:endCxn id="5" idx="1"/>
          </p:cNvCxnSpPr>
          <p:nvPr/>
        </p:nvCxnSpPr>
        <p:spPr>
          <a:xfrm flipV="1">
            <a:off x="1241160" y="1989148"/>
            <a:ext cx="535881" cy="16086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DD738C77-860D-4590-8942-D4469D436BD4}"/>
              </a:ext>
            </a:extLst>
          </p:cNvPr>
          <p:cNvCxnSpPr>
            <a:stCxn id="21" idx="3"/>
            <a:endCxn id="30" idx="1"/>
          </p:cNvCxnSpPr>
          <p:nvPr/>
        </p:nvCxnSpPr>
        <p:spPr>
          <a:xfrm>
            <a:off x="1241160" y="3597838"/>
            <a:ext cx="535881" cy="22883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8F8CE7FB-E046-46E6-B7C2-34A5F9394BA6}"/>
              </a:ext>
            </a:extLst>
          </p:cNvPr>
          <p:cNvCxnSpPr>
            <a:cxnSpLocks/>
            <a:stCxn id="21" idx="3"/>
            <a:endCxn id="29" idx="1"/>
          </p:cNvCxnSpPr>
          <p:nvPr/>
        </p:nvCxnSpPr>
        <p:spPr>
          <a:xfrm flipV="1">
            <a:off x="1241160" y="3590466"/>
            <a:ext cx="535881" cy="73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082FDAE-81D8-4EA4-8B72-EFE04C463B6D}"/>
              </a:ext>
            </a:extLst>
          </p:cNvPr>
          <p:cNvSpPr txBox="1"/>
          <p:nvPr/>
        </p:nvSpPr>
        <p:spPr>
          <a:xfrm>
            <a:off x="6096000" y="1234663"/>
            <a:ext cx="5791200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강제실시권 허락 인정 </a:t>
            </a:r>
            <a:r>
              <a:rPr lang="en-US" altLang="ko-KR" sz="1400" dirty="0"/>
              <a:t>+ </a:t>
            </a:r>
            <a:r>
              <a:rPr lang="ko-KR" altLang="en-US" sz="1400" dirty="0"/>
              <a:t>특허권 취소 불인정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116</a:t>
            </a:r>
            <a:r>
              <a:rPr lang="ko-KR" altLang="en-US" sz="1400" dirty="0"/>
              <a:t>조 삭제</a:t>
            </a:r>
            <a:r>
              <a:rPr lang="en-US" altLang="ko-KR" sz="1400" dirty="0"/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CC3818-E066-4B6A-9B1C-62D8F5D43D3C}"/>
              </a:ext>
            </a:extLst>
          </p:cNvPr>
          <p:cNvSpPr txBox="1"/>
          <p:nvPr/>
        </p:nvSpPr>
        <p:spPr>
          <a:xfrm>
            <a:off x="3433312" y="2562475"/>
            <a:ext cx="2455654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하자 있는 특허권에 의한 </a:t>
            </a:r>
            <a:endParaRPr lang="en-US" altLang="ko-KR" sz="1400" dirty="0"/>
          </a:p>
          <a:p>
            <a:pPr algn="ctr"/>
            <a:r>
              <a:rPr lang="ko-KR" altLang="en-US" sz="1400" dirty="0"/>
              <a:t>권리행사</a:t>
            </a:r>
            <a:endParaRPr lang="en-US" altLang="ko-KR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48A04F-23E6-4040-ABD7-16C960413756}"/>
              </a:ext>
            </a:extLst>
          </p:cNvPr>
          <p:cNvSpPr txBox="1"/>
          <p:nvPr/>
        </p:nvSpPr>
        <p:spPr>
          <a:xfrm>
            <a:off x="3433312" y="3225149"/>
            <a:ext cx="2455654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장기간 행사하지 않았던 특허권에 의한 권리행사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D71BEB-1AAB-48EF-B4B4-A70638D87150}"/>
              </a:ext>
            </a:extLst>
          </p:cNvPr>
          <p:cNvSpPr txBox="1"/>
          <p:nvPr/>
        </p:nvSpPr>
        <p:spPr>
          <a:xfrm>
            <a:off x="3433312" y="4176552"/>
            <a:ext cx="2455654" cy="7695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표준특허의 특허권자가 </a:t>
            </a:r>
            <a:r>
              <a:rPr lang="en-US" altLang="ko-KR" sz="1400" dirty="0"/>
              <a:t>FRAND </a:t>
            </a:r>
            <a:r>
              <a:rPr lang="ko-KR" altLang="en-US" sz="1400" dirty="0"/>
              <a:t>선언을 위반한 </a:t>
            </a:r>
            <a:endParaRPr lang="en-US" altLang="ko-KR" sz="1400" dirty="0"/>
          </a:p>
          <a:p>
            <a:pPr algn="ctr"/>
            <a:r>
              <a:rPr lang="ko-KR" altLang="en-US" sz="1400" dirty="0"/>
              <a:t>권리행사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B89DDC-975D-439C-B7E3-EB24CE17D9A4}"/>
              </a:ext>
            </a:extLst>
          </p:cNvPr>
          <p:cNvSpPr txBox="1"/>
          <p:nvPr/>
        </p:nvSpPr>
        <p:spPr>
          <a:xfrm>
            <a:off x="6096000" y="1698925"/>
            <a:ext cx="5791200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강제실시권 허락 인정</a:t>
            </a:r>
            <a:endParaRPr lang="en-US" altLang="ko-KR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37BF12-EC7F-4715-98F7-38A118E940A2}"/>
              </a:ext>
            </a:extLst>
          </p:cNvPr>
          <p:cNvSpPr txBox="1"/>
          <p:nvPr/>
        </p:nvSpPr>
        <p:spPr>
          <a:xfrm>
            <a:off x="6096000" y="2571101"/>
            <a:ext cx="5791200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1) </a:t>
            </a:r>
            <a:r>
              <a:rPr lang="ko-KR" altLang="en-US" sz="1400" dirty="0"/>
              <a:t>진보성 위반 </a:t>
            </a:r>
            <a:r>
              <a:rPr lang="en-US" altLang="ko-KR" sz="1400" dirty="0"/>
              <a:t>+ 2) </a:t>
            </a:r>
            <a:r>
              <a:rPr lang="ko-KR" altLang="en-US" sz="1400" dirty="0"/>
              <a:t>명백 </a:t>
            </a:r>
            <a:r>
              <a:rPr lang="en-US" altLang="ko-KR" sz="1400" dirty="0"/>
              <a:t>+ 3) </a:t>
            </a:r>
            <a:r>
              <a:rPr lang="ko-KR" altLang="en-US" sz="1400" dirty="0"/>
              <a:t>특별한 사정이 없을 것</a:t>
            </a:r>
            <a:endParaRPr lang="en-US" altLang="ko-KR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3327E6-A580-4480-A053-0B48A81D7B4A}"/>
              </a:ext>
            </a:extLst>
          </p:cNvPr>
          <p:cNvSpPr txBox="1"/>
          <p:nvPr/>
        </p:nvSpPr>
        <p:spPr>
          <a:xfrm>
            <a:off x="6096000" y="3222083"/>
            <a:ext cx="5791200" cy="116955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1) </a:t>
            </a:r>
            <a:r>
              <a:rPr lang="ko-KR" altLang="en-US" sz="1400" dirty="0"/>
              <a:t>권리자가 실제로 권리를 행사할 수 있는 기회가 있었음에도 불구하고 상당한 기간이 경과하도록 권리를 행사하지 아니할 것</a:t>
            </a:r>
            <a:r>
              <a:rPr lang="en-US" altLang="ko-KR" sz="1400" dirty="0"/>
              <a:t> + 2)</a:t>
            </a:r>
            <a:r>
              <a:rPr lang="ko-KR" altLang="en-US" sz="1400" dirty="0"/>
              <a:t> 상대방이 권리자가 권리를 행사하지 아니할 것으로 신뢰할 만한 정당한 기대를 가지게 될 것 </a:t>
            </a:r>
            <a:r>
              <a:rPr lang="en-US" altLang="ko-KR" sz="1400" dirty="0"/>
              <a:t>+ 3) </a:t>
            </a:r>
            <a:r>
              <a:rPr lang="ko-KR" altLang="en-US" sz="1400" dirty="0"/>
              <a:t>새삼스럽게 그 권리를 행사하는 것이 법질서 전체를 지배하는 신의성실의 원칙에 위반될 것</a:t>
            </a:r>
            <a:endParaRPr lang="en-US" altLang="ko-KR" sz="14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09A59E-60CB-4D83-896B-51B4922327BD}"/>
              </a:ext>
            </a:extLst>
          </p:cNvPr>
          <p:cNvSpPr/>
          <p:nvPr/>
        </p:nvSpPr>
        <p:spPr>
          <a:xfrm>
            <a:off x="6096000" y="4456542"/>
            <a:ext cx="5791200" cy="95410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1) </a:t>
            </a:r>
            <a:r>
              <a:rPr lang="ko-KR" altLang="en-US" sz="1400" dirty="0"/>
              <a:t>상대방에 대한 특허권의 행사가 특허제도의 목적이나 기능을 일탈하여 공정한 경쟁질서와 거래 질서를 어지럽히고 </a:t>
            </a:r>
            <a:r>
              <a:rPr lang="en-US" altLang="ko-KR" sz="1400" dirty="0"/>
              <a:t>2) </a:t>
            </a:r>
            <a:r>
              <a:rPr lang="ko-KR" altLang="en-US" sz="1400" dirty="0"/>
              <a:t>수요자 또는 상대방에 대한 관계에서 신의성실의 원칙에 위배되는 등 </a:t>
            </a:r>
            <a:r>
              <a:rPr lang="en-US" altLang="ko-KR" sz="1400" dirty="0"/>
              <a:t>3) </a:t>
            </a:r>
            <a:r>
              <a:rPr lang="ko-KR" altLang="en-US" sz="1400" dirty="0"/>
              <a:t>법적으로 보호받을 만한 가치가 없다고 인정될 것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BB3388-B47D-49B3-851D-A7180D33E27C}"/>
              </a:ext>
            </a:extLst>
          </p:cNvPr>
          <p:cNvSpPr txBox="1"/>
          <p:nvPr/>
        </p:nvSpPr>
        <p:spPr>
          <a:xfrm>
            <a:off x="3433312" y="5747672"/>
            <a:ext cx="245565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공정거래법 제</a:t>
            </a:r>
            <a:r>
              <a:rPr lang="en-US" altLang="ko-KR" sz="1400" dirty="0"/>
              <a:t>59</a:t>
            </a:r>
            <a:r>
              <a:rPr lang="ko-KR" altLang="en-US" sz="1400" dirty="0"/>
              <a:t>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646DA44-5A12-4DBA-B3A5-6A12983B16C3}"/>
              </a:ext>
            </a:extLst>
          </p:cNvPr>
          <p:cNvSpPr/>
          <p:nvPr/>
        </p:nvSpPr>
        <p:spPr>
          <a:xfrm>
            <a:off x="6076223" y="5752651"/>
            <a:ext cx="581097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이 법의 규정은 저작권법</a:t>
            </a:r>
            <a:r>
              <a:rPr lang="en-US" altLang="ko-KR" sz="1400" dirty="0"/>
              <a:t>, </a:t>
            </a:r>
            <a:r>
              <a:rPr lang="ko-KR" altLang="en-US" sz="1400" dirty="0"/>
              <a:t>특허법</a:t>
            </a:r>
            <a:r>
              <a:rPr lang="en-US" altLang="ko-KR" sz="1400" dirty="0"/>
              <a:t>, </a:t>
            </a:r>
            <a:r>
              <a:rPr lang="ko-KR" altLang="en-US" sz="1400" dirty="0"/>
              <a:t>실용신안법</a:t>
            </a:r>
            <a:r>
              <a:rPr lang="en-US" altLang="ko-KR" sz="1400" dirty="0"/>
              <a:t>, </a:t>
            </a:r>
            <a:r>
              <a:rPr lang="ko-KR" altLang="en-US" sz="1400" dirty="0"/>
              <a:t>디자인보호법 또는 상표법에 의한 권리의 정당한 행사라고 인정되는 행위에 대하여는 적용하지 아니한다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406E56D3-CCA3-4646-A490-E32B739BAAB8}"/>
              </a:ext>
            </a:extLst>
          </p:cNvPr>
          <p:cNvCxnSpPr>
            <a:stCxn id="5" idx="3"/>
            <a:endCxn id="32" idx="1"/>
          </p:cNvCxnSpPr>
          <p:nvPr/>
        </p:nvCxnSpPr>
        <p:spPr>
          <a:xfrm flipV="1">
            <a:off x="3067779" y="1388552"/>
            <a:ext cx="365533" cy="6005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43CAFE56-D257-4D01-8293-A563378F648D}"/>
              </a:ext>
            </a:extLst>
          </p:cNvPr>
          <p:cNvCxnSpPr>
            <a:stCxn id="5" idx="3"/>
            <a:endCxn id="33" idx="1"/>
          </p:cNvCxnSpPr>
          <p:nvPr/>
        </p:nvCxnSpPr>
        <p:spPr>
          <a:xfrm flipV="1">
            <a:off x="3067779" y="1943285"/>
            <a:ext cx="365533" cy="458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2BE40099-70BB-4EC4-9860-36BF816B5D1B}"/>
              </a:ext>
            </a:extLst>
          </p:cNvPr>
          <p:cNvCxnSpPr>
            <a:stCxn id="29" idx="3"/>
            <a:endCxn id="40" idx="1"/>
          </p:cNvCxnSpPr>
          <p:nvPr/>
        </p:nvCxnSpPr>
        <p:spPr>
          <a:xfrm flipV="1">
            <a:off x="3067779" y="2824085"/>
            <a:ext cx="365533" cy="76638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A37D53D4-865E-4A4C-BD6A-D97FB0D1A9E1}"/>
              </a:ext>
            </a:extLst>
          </p:cNvPr>
          <p:cNvCxnSpPr>
            <a:stCxn id="29" idx="3"/>
            <a:endCxn id="41" idx="1"/>
          </p:cNvCxnSpPr>
          <p:nvPr/>
        </p:nvCxnSpPr>
        <p:spPr>
          <a:xfrm>
            <a:off x="3067779" y="3590466"/>
            <a:ext cx="365533" cy="501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8CA55121-ED26-4747-A303-5594A38654F0}"/>
              </a:ext>
            </a:extLst>
          </p:cNvPr>
          <p:cNvCxnSpPr>
            <a:cxnSpLocks/>
            <a:stCxn id="29" idx="3"/>
            <a:endCxn id="56" idx="1"/>
          </p:cNvCxnSpPr>
          <p:nvPr/>
        </p:nvCxnSpPr>
        <p:spPr>
          <a:xfrm>
            <a:off x="3067779" y="3590466"/>
            <a:ext cx="365533" cy="9708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8C2F54C-4B28-4EBA-8CBB-D8C0123E2DF5}"/>
              </a:ext>
            </a:extLst>
          </p:cNvPr>
          <p:cNvCxnSpPr>
            <a:stCxn id="30" idx="3"/>
            <a:endCxn id="62" idx="1"/>
          </p:cNvCxnSpPr>
          <p:nvPr/>
        </p:nvCxnSpPr>
        <p:spPr>
          <a:xfrm>
            <a:off x="3067779" y="5886172"/>
            <a:ext cx="365533" cy="1538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70E5136-76B4-4B35-9B58-CC349AAD5DD8}"/>
              </a:ext>
            </a:extLst>
          </p:cNvPr>
          <p:cNvCxnSpPr>
            <a:stCxn id="32" idx="3"/>
            <a:endCxn id="39" idx="1"/>
          </p:cNvCxnSpPr>
          <p:nvPr/>
        </p:nvCxnSpPr>
        <p:spPr>
          <a:xfrm>
            <a:off x="5888966" y="1388552"/>
            <a:ext cx="20703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14FE3A1B-109E-4F9C-BB12-B403E95CDA8F}"/>
              </a:ext>
            </a:extLst>
          </p:cNvPr>
          <p:cNvCxnSpPr>
            <a:stCxn id="33" idx="3"/>
            <a:endCxn id="59" idx="1"/>
          </p:cNvCxnSpPr>
          <p:nvPr/>
        </p:nvCxnSpPr>
        <p:spPr>
          <a:xfrm flipV="1">
            <a:off x="5888966" y="1852814"/>
            <a:ext cx="207034" cy="904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9286A4FA-56BD-45DA-A529-C3EC7061C13F}"/>
              </a:ext>
            </a:extLst>
          </p:cNvPr>
          <p:cNvCxnSpPr>
            <a:stCxn id="40" idx="3"/>
            <a:endCxn id="60" idx="1"/>
          </p:cNvCxnSpPr>
          <p:nvPr/>
        </p:nvCxnSpPr>
        <p:spPr>
          <a:xfrm flipV="1">
            <a:off x="5888966" y="2724990"/>
            <a:ext cx="207034" cy="990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0AA2C297-B13C-4171-817E-8FD7FDE09608}"/>
              </a:ext>
            </a:extLst>
          </p:cNvPr>
          <p:cNvCxnSpPr>
            <a:stCxn id="41" idx="3"/>
            <a:endCxn id="61" idx="1"/>
          </p:cNvCxnSpPr>
          <p:nvPr/>
        </p:nvCxnSpPr>
        <p:spPr>
          <a:xfrm>
            <a:off x="5888966" y="3640648"/>
            <a:ext cx="207034" cy="1662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61F1966-6915-4B9E-94BE-A82E504A2FED}"/>
              </a:ext>
            </a:extLst>
          </p:cNvPr>
          <p:cNvCxnSpPr>
            <a:stCxn id="56" idx="3"/>
            <a:endCxn id="17" idx="1"/>
          </p:cNvCxnSpPr>
          <p:nvPr/>
        </p:nvCxnSpPr>
        <p:spPr>
          <a:xfrm>
            <a:off x="5888966" y="4561350"/>
            <a:ext cx="207034" cy="3722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E31CD6BC-BDAA-493E-BE3F-AD012A9F594B}"/>
              </a:ext>
            </a:extLst>
          </p:cNvPr>
          <p:cNvCxnSpPr>
            <a:stCxn id="62" idx="3"/>
            <a:endCxn id="20" idx="1"/>
          </p:cNvCxnSpPr>
          <p:nvPr/>
        </p:nvCxnSpPr>
        <p:spPr>
          <a:xfrm>
            <a:off x="5888966" y="5901561"/>
            <a:ext cx="187257" cy="1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565A6740-BC80-D896-6738-F0C761ADCB65}"/>
              </a:ext>
            </a:extLst>
          </p:cNvPr>
          <p:cNvSpPr/>
          <p:nvPr/>
        </p:nvSpPr>
        <p:spPr>
          <a:xfrm>
            <a:off x="780136" y="5062900"/>
            <a:ext cx="5221361" cy="599950"/>
          </a:xfrm>
          <a:prstGeom prst="wedgeRoundRectCallout">
            <a:avLst>
              <a:gd name="adj1" fmla="val -1686"/>
              <a:gd name="adj2" fmla="val -9639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자에게 실시권을 허락하는 것이 아니라 ‘</a:t>
            </a:r>
            <a:r>
              <a:rPr lang="en-US" altLang="ko-KR" sz="1200" dirty="0">
                <a:solidFill>
                  <a:schemeClr val="tx1"/>
                </a:solidFill>
              </a:rPr>
              <a:t>FRAND </a:t>
            </a:r>
            <a:r>
              <a:rPr lang="ko-KR" altLang="en-US" sz="1200" dirty="0">
                <a:solidFill>
                  <a:schemeClr val="tx1"/>
                </a:solidFill>
              </a:rPr>
              <a:t>조건에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실시권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허락’이라는</a:t>
            </a:r>
            <a:r>
              <a:rPr lang="ko-KR" altLang="en-US" sz="1200" dirty="0">
                <a:solidFill>
                  <a:schemeClr val="tx1"/>
                </a:solidFill>
              </a:rPr>
              <a:t> 제한을 수용하는 의사표시를 한 것에 불과 </a:t>
            </a:r>
            <a:r>
              <a:rPr lang="en-US" altLang="ko-KR" sz="1200" dirty="0">
                <a:solidFill>
                  <a:schemeClr val="tx1"/>
                </a:solidFill>
              </a:rPr>
              <a:t>/ </a:t>
            </a:r>
            <a:r>
              <a:rPr lang="ko-KR" altLang="en-US" sz="1200" dirty="0" err="1">
                <a:solidFill>
                  <a:schemeClr val="tx1"/>
                </a:solidFill>
              </a:rPr>
              <a:t>실시권</a:t>
            </a:r>
            <a:r>
              <a:rPr lang="ko-KR" altLang="en-US" sz="1200" dirty="0">
                <a:solidFill>
                  <a:schemeClr val="tx1"/>
                </a:solidFill>
              </a:rPr>
              <a:t> 허락 요청 없이 무단으로 실시하는 자에 대하여 침해금지를 구한다고 하여 권리남용에 해당하지 않음</a:t>
            </a:r>
          </a:p>
        </p:txBody>
      </p:sp>
    </p:spTree>
    <p:extLst>
      <p:ext uri="{BB962C8B-B14F-4D97-AF65-F5344CB8AC3E}">
        <p14:creationId xmlns:p14="http://schemas.microsoft.com/office/powerpoint/2010/main" val="2528837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주변한정주의 </a:t>
            </a:r>
            <a:r>
              <a:rPr lang="en-US" altLang="ko-KR" dirty="0"/>
              <a:t>vs </a:t>
            </a:r>
            <a:r>
              <a:rPr lang="ko-KR" altLang="en-US" dirty="0"/>
              <a:t>중심한정주의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136800"/>
              </p:ext>
            </p:extLst>
          </p:nvPr>
        </p:nvGraphicFramePr>
        <p:xfrm>
          <a:off x="499387" y="1083732"/>
          <a:ext cx="11065932" cy="470332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97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5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1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구 분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주변한정주의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중심한정주의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/>
                        <a:t>의 의</a:t>
                      </a:r>
                      <a:endParaRPr lang="ko-KR" altLang="en-US" sz="16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청구범위의 기재에 의해서 문언 그대로 해석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청구범위의 기재에서 발명의 핵심사상을 추출하여 확장 해석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판단의 용이성</a:t>
                      </a:r>
                      <a:endParaRPr lang="en-US" altLang="ko-KR" sz="16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법적 안정성</a:t>
                      </a:r>
                      <a:r>
                        <a:rPr lang="en-US" altLang="ko-KR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○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/>
                        <a:t>×</a:t>
                      </a:r>
                      <a:endParaRPr lang="en-US" sz="16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특허권자의 보호</a:t>
                      </a:r>
                      <a:endParaRPr lang="en-US" altLang="ko-KR" sz="16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구체적 타당성</a:t>
                      </a:r>
                      <a:r>
                        <a:rPr lang="en-US" altLang="ko-KR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/>
                        <a:t>×</a:t>
                      </a:r>
                      <a:endParaRPr 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/>
                        <a:t>○</a:t>
                      </a:r>
                      <a:endParaRPr lang="ko-KR" altLang="en-US" sz="16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27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/>
                        <a:t>판례 및 특허법의 태도</a:t>
                      </a:r>
                      <a:endParaRPr lang="ko-KR" altLang="en-US" sz="16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gridSpan="2">
                  <a:txBody>
                    <a:bodyPr/>
                    <a:lstStyle/>
                    <a:p>
                      <a:pPr marL="233363" marR="17780" indent="-233363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/>
                        <a:t>1.</a:t>
                      </a:r>
                      <a:r>
                        <a:rPr lang="en-US" altLang="ko-KR" sz="1600" kern="1200" baseline="0" dirty="0"/>
                        <a:t> </a:t>
                      </a:r>
                      <a:r>
                        <a:rPr lang="ko-KR" altLang="en-US" sz="1600" kern="1200" dirty="0"/>
                        <a:t>판례의 태도 </a:t>
                      </a:r>
                      <a:r>
                        <a:rPr lang="en-US" altLang="ko-KR" sz="1600" kern="1200" dirty="0"/>
                        <a:t>- 90</a:t>
                      </a:r>
                      <a:r>
                        <a:rPr lang="ko-KR" altLang="en-US" sz="1600" kern="1200" dirty="0"/>
                        <a:t>년대 초반까지 중심한정주의 입장에 있었으나 </a:t>
                      </a:r>
                      <a:r>
                        <a:rPr lang="en-US" altLang="ko-KR" sz="1600" kern="1200" dirty="0"/>
                        <a:t>90</a:t>
                      </a:r>
                      <a:r>
                        <a:rPr lang="ko-KR" altLang="en-US" sz="1600" kern="1200" dirty="0"/>
                        <a:t>년대 후반 이후 주변한정주의 입장으로 변화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/>
                        <a:t>2. </a:t>
                      </a:r>
                      <a:r>
                        <a:rPr lang="ko-KR" altLang="en-US" sz="1600" kern="1200" dirty="0"/>
                        <a:t>주변한정주의의 보완</a:t>
                      </a:r>
                      <a:r>
                        <a:rPr lang="en-US" altLang="ko-KR" sz="1600" kern="1200" dirty="0"/>
                        <a:t>(</a:t>
                      </a:r>
                      <a:r>
                        <a:rPr lang="ko-KR" altLang="en-US" sz="1600" kern="1200" dirty="0"/>
                        <a:t>특허권자의 보호</a:t>
                      </a:r>
                      <a:r>
                        <a:rPr lang="en-US" altLang="ko-KR" sz="1600" kern="1200" dirty="0"/>
                        <a:t>)</a:t>
                      </a:r>
                      <a:endParaRPr lang="ko-KR" altLang="en-US" sz="160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① </a:t>
                      </a:r>
                      <a:r>
                        <a:rPr lang="ko-KR" altLang="en-US" sz="1600" kern="1200" dirty="0" err="1"/>
                        <a:t>다항제</a:t>
                      </a:r>
                      <a:r>
                        <a:rPr lang="en-US" altLang="ko-KR" sz="1600" kern="1200" dirty="0"/>
                        <a:t>(</a:t>
                      </a:r>
                      <a:r>
                        <a:rPr lang="ko-KR" altLang="en-US" sz="1600" kern="1200" dirty="0"/>
                        <a:t>法 </a:t>
                      </a:r>
                      <a:r>
                        <a:rPr lang="en-US" altLang="ko-KR" sz="1600" kern="1200" dirty="0"/>
                        <a:t>42</a:t>
                      </a:r>
                      <a:r>
                        <a:rPr lang="ko-KR" altLang="en-US" sz="1600" kern="1200" dirty="0"/>
                        <a:t>④</a:t>
                      </a:r>
                      <a:r>
                        <a:rPr lang="en-US" altLang="ko-KR" sz="1600" kern="1200" dirty="0"/>
                        <a:t>)*</a:t>
                      </a:r>
                      <a:endParaRPr lang="ko-KR" altLang="en-US" sz="160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② 간접침해</a:t>
                      </a:r>
                      <a:r>
                        <a:rPr lang="en-US" altLang="ko-KR" sz="1600" kern="1200" dirty="0"/>
                        <a:t>(</a:t>
                      </a:r>
                      <a:r>
                        <a:rPr lang="ko-KR" altLang="en-US" sz="1600" kern="1200" dirty="0"/>
                        <a:t>法 </a:t>
                      </a:r>
                      <a:r>
                        <a:rPr lang="en-US" altLang="ko-KR" sz="1600" kern="1200" dirty="0"/>
                        <a:t>127)</a:t>
                      </a:r>
                      <a:endParaRPr lang="ko-KR" altLang="en-US" sz="160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③ </a:t>
                      </a:r>
                      <a:r>
                        <a:rPr lang="ko-KR" altLang="en-US" sz="1600" kern="1200" dirty="0" err="1"/>
                        <a:t>균등론</a:t>
                      </a:r>
                      <a:r>
                        <a:rPr lang="en-US" altLang="ko-KR" sz="1600" kern="1200" dirty="0"/>
                        <a:t>(</a:t>
                      </a:r>
                      <a:r>
                        <a:rPr lang="ko-KR" altLang="en-US" sz="1600" kern="1200" dirty="0"/>
                        <a:t>判例가 인정</a:t>
                      </a:r>
                      <a:r>
                        <a:rPr lang="en-US" altLang="ko-KR" sz="1600" kern="1200" dirty="0"/>
                        <a:t>)</a:t>
                      </a:r>
                      <a:endParaRPr lang="ko-KR" altLang="en-US" sz="160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④ 생략침해</a:t>
                      </a:r>
                      <a:r>
                        <a:rPr lang="en-US" altLang="ko-KR" sz="1600" kern="1200" dirty="0"/>
                        <a:t>, </a:t>
                      </a:r>
                      <a:r>
                        <a:rPr lang="ko-KR" altLang="en-US" sz="1600" kern="1200" dirty="0"/>
                        <a:t>불완전이용침해 이론</a:t>
                      </a:r>
                      <a:r>
                        <a:rPr lang="en-US" altLang="ko-KR" sz="1600" kern="1200" dirty="0"/>
                        <a:t>(</a:t>
                      </a:r>
                      <a:r>
                        <a:rPr lang="ko-KR" altLang="en-US" sz="1600" kern="1200" dirty="0"/>
                        <a:t>判例는 불인정</a:t>
                      </a:r>
                      <a:r>
                        <a:rPr lang="en-US" altLang="ko-KR" sz="1600" kern="1200" dirty="0"/>
                        <a:t>)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380997" y="5859279"/>
            <a:ext cx="111843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63" indent="-93663" fontAlgn="base"/>
            <a:r>
              <a:rPr lang="en-US" altLang="ko-KR" sz="1200" dirty="0"/>
              <a:t>*</a:t>
            </a:r>
            <a:r>
              <a:rPr lang="ko-KR" altLang="en-US" sz="1200" dirty="0" err="1"/>
              <a:t>다항제는</a:t>
            </a:r>
            <a:r>
              <a:rPr lang="ko-KR" altLang="en-US" sz="1200" dirty="0"/>
              <a:t> 청구범위에 하나의 청구항만을 적을 수 있는 </a:t>
            </a:r>
            <a:r>
              <a:rPr lang="ko-KR" altLang="en-US" sz="1200" dirty="0" err="1"/>
              <a:t>단항제</a:t>
            </a:r>
            <a:r>
              <a:rPr lang="en-US" altLang="ko-KR" sz="1200" dirty="0"/>
              <a:t>(</a:t>
            </a:r>
            <a:r>
              <a:rPr lang="ko-KR" altLang="en-US" sz="1200" dirty="0" err="1"/>
              <a:t>單項制</a:t>
            </a:r>
            <a:r>
              <a:rPr lang="en-US" altLang="ko-KR" sz="1200" dirty="0"/>
              <a:t>)</a:t>
            </a:r>
            <a:r>
              <a:rPr lang="ko-KR" altLang="en-US" sz="1200" dirty="0"/>
              <a:t>와 반대되는 개념으로서 보호범위의 해석원리로서 주변한정주의의 입장을 취할 때 발명의 다면적 보호를 위한 청구범위의 기재방법이라는 점에 그 의미가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우리 특허법은 종래</a:t>
            </a:r>
            <a:r>
              <a:rPr lang="en-US" altLang="ko-KR" sz="1200" dirty="0"/>
              <a:t>(1961</a:t>
            </a:r>
            <a:r>
              <a:rPr lang="ko-KR" altLang="en-US" sz="1200" dirty="0"/>
              <a:t>년 제정 특허법</a:t>
            </a:r>
            <a:r>
              <a:rPr lang="en-US" altLang="ko-KR" sz="1200" dirty="0"/>
              <a:t>)</a:t>
            </a:r>
            <a:r>
              <a:rPr lang="ko-KR" altLang="en-US" sz="1200" dirty="0"/>
              <a:t>에는 하나의 청구항만을 기재하도록 하는 </a:t>
            </a:r>
            <a:r>
              <a:rPr lang="ko-KR" altLang="en-US" sz="1200" dirty="0" err="1"/>
              <a:t>단항제를</a:t>
            </a:r>
            <a:r>
              <a:rPr lang="ko-KR" altLang="en-US" sz="1200" dirty="0"/>
              <a:t> 채택하고 있었으나</a:t>
            </a:r>
            <a:r>
              <a:rPr lang="en-US" altLang="ko-KR" sz="1200" dirty="0"/>
              <a:t>, 1980</a:t>
            </a:r>
            <a:r>
              <a:rPr lang="ko-KR" altLang="en-US" sz="1200" dirty="0"/>
              <a:t>년 법률 제</a:t>
            </a:r>
            <a:r>
              <a:rPr lang="en-US" altLang="ko-KR" sz="1200" dirty="0"/>
              <a:t>3325</a:t>
            </a:r>
            <a:r>
              <a:rPr lang="ko-KR" altLang="en-US" sz="1200" dirty="0"/>
              <a:t>호부터 </a:t>
            </a:r>
            <a:r>
              <a:rPr lang="ko-KR" altLang="en-US" sz="1200" dirty="0" err="1"/>
              <a:t>다항제를</a:t>
            </a:r>
            <a:r>
              <a:rPr lang="ko-KR" altLang="en-US" sz="1200" dirty="0"/>
              <a:t> 도입하였다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02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모서리가 둥근 직사각형 16"/>
          <p:cNvSpPr/>
          <p:nvPr/>
        </p:nvSpPr>
        <p:spPr bwMode="auto">
          <a:xfrm>
            <a:off x="7506055" y="2633691"/>
            <a:ext cx="2046329" cy="209971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 확인대상발명 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algn="ctr">
              <a:buFont typeface="Wingdings" pitchFamily="2" charset="2"/>
              <a:buNone/>
              <a:defRPr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특정</a:t>
            </a:r>
          </a:p>
        </p:txBody>
      </p:sp>
      <p:sp>
        <p:nvSpPr>
          <p:cNvPr id="23" name="오른쪽 화살표 22"/>
          <p:cNvSpPr/>
          <p:nvPr/>
        </p:nvSpPr>
        <p:spPr bwMode="auto">
          <a:xfrm>
            <a:off x="4390735" y="2940401"/>
            <a:ext cx="2936798" cy="655858"/>
          </a:xfrm>
          <a:prstGeom prst="rightArrow">
            <a:avLst>
              <a:gd name="adj1" fmla="val 74108"/>
              <a:gd name="adj2" fmla="val 29844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dirty="0">
                <a:solidFill>
                  <a:srgbClr val="1C1C1C"/>
                </a:solidFill>
                <a:latin typeface="+mn-ea"/>
              </a:rPr>
              <a:t>특허발명의 실시인지 판단</a:t>
            </a:r>
          </a:p>
        </p:txBody>
      </p:sp>
      <p:sp>
        <p:nvSpPr>
          <p:cNvPr id="25" name="왼쪽/오른쪽 화살표 24"/>
          <p:cNvSpPr/>
          <p:nvPr/>
        </p:nvSpPr>
        <p:spPr bwMode="auto">
          <a:xfrm>
            <a:off x="4390735" y="3727430"/>
            <a:ext cx="2936798" cy="655858"/>
          </a:xfrm>
          <a:prstGeom prst="leftRightArrow">
            <a:avLst>
              <a:gd name="adj1" fmla="val 7323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dirty="0">
                <a:solidFill>
                  <a:srgbClr val="1C1C1C"/>
                </a:solidFill>
                <a:latin typeface="+mn-ea"/>
              </a:rPr>
              <a:t>법률 제한</a:t>
            </a:r>
            <a:r>
              <a:rPr lang="en-US" altLang="ko-KR" dirty="0">
                <a:solidFill>
                  <a:srgbClr val="1C1C1C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1C1C1C"/>
                </a:solidFill>
                <a:latin typeface="+mn-ea"/>
              </a:rPr>
              <a:t>확장 고려</a:t>
            </a:r>
          </a:p>
        </p:txBody>
      </p:sp>
      <p:sp>
        <p:nvSpPr>
          <p:cNvPr id="26" name="모서리가 둥근 직사각형 25"/>
          <p:cNvSpPr/>
          <p:nvPr/>
        </p:nvSpPr>
        <p:spPr bwMode="auto">
          <a:xfrm>
            <a:off x="2255573" y="2633691"/>
            <a:ext cx="1868358" cy="209971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특허발명 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특정</a:t>
            </a:r>
          </a:p>
        </p:txBody>
      </p:sp>
      <p:sp>
        <p:nvSpPr>
          <p:cNvPr id="3" name="모서리가 둥근 사각형 설명선 2"/>
          <p:cNvSpPr/>
          <p:nvPr/>
        </p:nvSpPr>
        <p:spPr>
          <a:xfrm>
            <a:off x="579797" y="5381473"/>
            <a:ext cx="3544135" cy="1152128"/>
          </a:xfrm>
          <a:prstGeom prst="wedgeRoundRectCallout">
            <a:avLst>
              <a:gd name="adj1" fmla="val 17600"/>
              <a:gd name="adj2" fmla="val -105327"/>
              <a:gd name="adj3" fmla="val 16667"/>
            </a:avLst>
          </a:prstGeom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청구범위 중심의 원칙</a:t>
            </a:r>
            <a:endParaRPr lang="en-US" altLang="ko-KR" sz="1200" dirty="0"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발명의 설명 참작의 원칙</a:t>
            </a:r>
            <a:endParaRPr lang="en-US" altLang="ko-KR" sz="1200" dirty="0"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공지기술참작의 원칙</a:t>
            </a:r>
            <a:endParaRPr lang="en-US" altLang="ko-KR" sz="1200" dirty="0"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출원경과참작의 원칙</a:t>
            </a:r>
            <a:endParaRPr lang="en-US" altLang="ko-KR" sz="1200" dirty="0"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특허권하자참작의 원칙</a:t>
            </a:r>
          </a:p>
        </p:txBody>
      </p:sp>
      <p:sp>
        <p:nvSpPr>
          <p:cNvPr id="13" name="모서리가 둥근 사각형 설명선 12"/>
          <p:cNvSpPr/>
          <p:nvPr/>
        </p:nvSpPr>
        <p:spPr>
          <a:xfrm>
            <a:off x="5859137" y="1673060"/>
            <a:ext cx="5157206" cy="540060"/>
          </a:xfrm>
          <a:prstGeom prst="wedgeRoundRectCallout">
            <a:avLst>
              <a:gd name="adj1" fmla="val -11134"/>
              <a:gd name="adj2" fmla="val 86476"/>
              <a:gd name="adj3" fmla="val 16667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사회통념상 다른 것과 구별될 수 있을 정도로 특정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청구취지로서 특정</a:t>
            </a:r>
            <a:r>
              <a:rPr lang="en-US" altLang="ko-KR" sz="1200" dirty="0">
                <a:latin typeface="+mn-ea"/>
              </a:rPr>
              <a:t>), 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특허발명과 서로 대비할 수 있을 만큼 구체적으로 특정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청구원인으로서 특정</a:t>
            </a:r>
            <a:r>
              <a:rPr lang="en-US" altLang="ko-KR" sz="1200" dirty="0">
                <a:latin typeface="+mn-ea"/>
              </a:rPr>
              <a:t>)</a:t>
            </a:r>
          </a:p>
        </p:txBody>
      </p:sp>
      <p:sp>
        <p:nvSpPr>
          <p:cNvPr id="14" name="모서리가 둥근 사각형 설명선 13"/>
          <p:cNvSpPr/>
          <p:nvPr/>
        </p:nvSpPr>
        <p:spPr>
          <a:xfrm>
            <a:off x="750157" y="1859328"/>
            <a:ext cx="4879189" cy="540060"/>
          </a:xfrm>
          <a:prstGeom prst="wedgeRoundRectCallout">
            <a:avLst>
              <a:gd name="adj1" fmla="val 41553"/>
              <a:gd name="adj2" fmla="val 158787"/>
              <a:gd name="adj3" fmla="val 16667"/>
            </a:avLst>
          </a:prstGeom>
          <a:ln w="1270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구성요소완비의 원칙</a:t>
            </a:r>
            <a:r>
              <a:rPr lang="en-US" altLang="ko-KR" sz="1200" dirty="0">
                <a:latin typeface="+mn-ea"/>
              </a:rPr>
              <a:t>(All Elements Rule)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 err="1">
                <a:latin typeface="+mn-ea"/>
              </a:rPr>
              <a:t>균등론</a:t>
            </a:r>
            <a:r>
              <a:rPr lang="en-US" altLang="ko-KR" sz="1200" dirty="0">
                <a:latin typeface="+mn-ea"/>
              </a:rPr>
              <a:t>(Doctrine Of Equivalents)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5" name="모서리가 둥근 사각형 설명선 14"/>
          <p:cNvSpPr/>
          <p:nvPr/>
        </p:nvSpPr>
        <p:spPr>
          <a:xfrm>
            <a:off x="4390737" y="5093441"/>
            <a:ext cx="6810664" cy="1440160"/>
          </a:xfrm>
          <a:prstGeom prst="wedgeRoundRectCallout">
            <a:avLst>
              <a:gd name="adj1" fmla="val -31269"/>
              <a:gd name="adj2" fmla="val -104169"/>
              <a:gd name="adj3" fmla="val 16667"/>
            </a:avLst>
          </a:prstGeom>
          <a:ln w="12700"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법률의 제한</a:t>
            </a:r>
            <a:endParaRPr lang="en-US" altLang="ko-KR" sz="1200" dirty="0">
              <a:latin typeface="+mn-ea"/>
            </a:endParaRPr>
          </a:p>
          <a:p>
            <a:pPr marL="257175" lvl="1" indent="-171450">
              <a:buFont typeface="옥션고딕 M" pitchFamily="2" charset="-127"/>
              <a:buChar char="-"/>
            </a:pPr>
            <a:r>
              <a:rPr lang="ko-KR" altLang="en-US" sz="1200" dirty="0">
                <a:latin typeface="+mn-ea"/>
              </a:rPr>
              <a:t>특허권의 효력이 미치는 아니하는 범위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法 </a:t>
            </a:r>
            <a:r>
              <a:rPr lang="en-US" altLang="ko-KR" sz="1200" dirty="0">
                <a:latin typeface="+mn-ea"/>
              </a:rPr>
              <a:t>96)</a:t>
            </a:r>
          </a:p>
          <a:p>
            <a:pPr marL="257175" lvl="1" indent="-171450">
              <a:buFont typeface="옥션고딕 M" pitchFamily="2" charset="-127"/>
              <a:buChar char="-"/>
            </a:pPr>
            <a:r>
              <a:rPr lang="ko-KR" altLang="en-US" sz="1200" dirty="0">
                <a:latin typeface="+mn-ea"/>
              </a:rPr>
              <a:t>특허료의 추가납부 또는 보전에 의하여 회복한 특허출원과 특허권의 효력 제한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法 </a:t>
            </a:r>
            <a:r>
              <a:rPr lang="en-US" altLang="ko-KR" sz="1200" dirty="0">
                <a:latin typeface="+mn-ea"/>
              </a:rPr>
              <a:t>81</a:t>
            </a:r>
            <a:r>
              <a:rPr lang="ko-KR" altLang="en-US" sz="1200" dirty="0">
                <a:latin typeface="+mn-ea"/>
              </a:rPr>
              <a:t>의</a:t>
            </a:r>
            <a:r>
              <a:rPr lang="en-US" altLang="ko-KR" sz="1200" dirty="0">
                <a:latin typeface="+mn-ea"/>
              </a:rPr>
              <a:t>3④)</a:t>
            </a:r>
          </a:p>
          <a:p>
            <a:pPr marL="257175" lvl="1" indent="-171450">
              <a:buFont typeface="옥션고딕 M" pitchFamily="2" charset="-127"/>
              <a:buChar char="-"/>
            </a:pPr>
            <a:r>
              <a:rPr lang="ko-KR" altLang="en-US" sz="1200" dirty="0">
                <a:latin typeface="+mn-ea"/>
              </a:rPr>
              <a:t>재심에 의하여 회복한 특허권의 효력의 제한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法 </a:t>
            </a:r>
            <a:r>
              <a:rPr lang="en-US" altLang="ko-KR" sz="1200" dirty="0">
                <a:latin typeface="+mn-ea"/>
              </a:rPr>
              <a:t>181)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법률의 확장</a:t>
            </a:r>
            <a:endParaRPr lang="en-US" altLang="ko-KR" sz="1200" dirty="0">
              <a:latin typeface="+mn-ea"/>
            </a:endParaRPr>
          </a:p>
          <a:p>
            <a:pPr marL="266700" lvl="1" indent="-180975">
              <a:buFont typeface="옥션고딕 M" pitchFamily="2" charset="-127"/>
              <a:buChar char="-"/>
            </a:pPr>
            <a:r>
              <a:rPr lang="ko-KR" altLang="en-US" sz="1200" dirty="0">
                <a:latin typeface="+mn-ea"/>
              </a:rPr>
              <a:t>침해로 보는 행위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法 </a:t>
            </a:r>
            <a:r>
              <a:rPr lang="en-US" altLang="ko-KR" sz="1200" dirty="0">
                <a:latin typeface="+mn-ea"/>
              </a:rPr>
              <a:t>127)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보호범위 판단 일반</a:t>
            </a:r>
          </a:p>
        </p:txBody>
      </p:sp>
      <p:sp>
        <p:nvSpPr>
          <p:cNvPr id="19" name="타원 18"/>
          <p:cNvSpPr/>
          <p:nvPr/>
        </p:nvSpPr>
        <p:spPr>
          <a:xfrm>
            <a:off x="2836804" y="4557891"/>
            <a:ext cx="347920" cy="349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</a:rPr>
              <a:t>1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7954789" y="2459087"/>
            <a:ext cx="347920" cy="349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</a:rPr>
              <a:t>2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511214" y="4208684"/>
            <a:ext cx="347920" cy="349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</a:rPr>
              <a:t>4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5070947" y="2808294"/>
            <a:ext cx="347920" cy="349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</a:rPr>
              <a:t>3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321</a:t>
            </a:fld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C1C6DF0-8FAD-489C-8CAE-37AF35D28651}"/>
              </a:ext>
            </a:extLst>
          </p:cNvPr>
          <p:cNvSpPr/>
          <p:nvPr/>
        </p:nvSpPr>
        <p:spPr>
          <a:xfrm>
            <a:off x="1746614" y="1039415"/>
            <a:ext cx="347920" cy="349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</a:rPr>
              <a:t>0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4DCEFA-96B8-4881-A312-CE93ABAF22E0}"/>
              </a:ext>
            </a:extLst>
          </p:cNvPr>
          <p:cNvSpPr/>
          <p:nvPr/>
        </p:nvSpPr>
        <p:spPr>
          <a:xfrm>
            <a:off x="2094534" y="1039415"/>
            <a:ext cx="2329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dirty="0">
                <a:solidFill>
                  <a:srgbClr val="1C1C1C"/>
                </a:solidFill>
                <a:latin typeface="+mn-ea"/>
              </a:rPr>
              <a:t>자유실시기술인지 판단</a:t>
            </a:r>
          </a:p>
        </p:txBody>
      </p:sp>
    </p:spTree>
    <p:extLst>
      <p:ext uri="{BB962C8B-B14F-4D97-AF65-F5344CB8AC3E}">
        <p14:creationId xmlns:p14="http://schemas.microsoft.com/office/powerpoint/2010/main" val="78687474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특허발명의 특정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322</a:t>
            </a:fld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0" y="192970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특허발명의 보호범위는 청구범위에 적혀 있는 사항에 의하여 정하여진다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97). </a:t>
            </a:r>
            <a:r>
              <a:rPr lang="ko-KR" altLang="en-US" sz="1400" dirty="0">
                <a:solidFill>
                  <a:schemeClr val="tx2"/>
                </a:solidFill>
              </a:rPr>
              <a:t>이는 특허발명의 보호범위가 청구범위에 기재된 그대로 정해진다는 의미는 아니며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발명의 </a:t>
            </a:r>
            <a:r>
              <a:rPr lang="ko-KR" altLang="en-US" sz="1400" dirty="0" err="1">
                <a:solidFill>
                  <a:schemeClr val="tx2"/>
                </a:solidFill>
              </a:rPr>
              <a:t>설명ㆍ도면의</a:t>
            </a:r>
            <a:r>
              <a:rPr lang="ko-KR" altLang="en-US" sz="1400" dirty="0">
                <a:solidFill>
                  <a:schemeClr val="tx2"/>
                </a:solidFill>
              </a:rPr>
              <a:t> 참작과 함께 출원 당시의 기술수준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출원의 경과 및 특허권의 하자 등을 참작하여 해석된 청구범위가 특허발명의 보호범위결정의 기준이 된다는 의미이다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 특허발명을 특정할 때에는 청구범위 기준의 원칙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발명의 설명 참작의 원칙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공지기술 참작의 원칙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 경과 참작의 원칙 및 특허권 하자 참작의 원칙 등이 고려된다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5008"/>
              </p:ext>
            </p:extLst>
          </p:nvPr>
        </p:nvGraphicFramePr>
        <p:xfrm>
          <a:off x="330201" y="2122566"/>
          <a:ext cx="11489266" cy="435257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67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2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1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청구범위 기준 원칙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fontAlgn="base" latinLnBrk="1">
                        <a:buFontTx/>
                        <a:buChar char="-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발명의 설명에 적혀 있는 발명일지라도 청구범위에 포함되지 아니한 것은 특허발명의 보호범위에 속하지 않음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fontAlgn="base" latinLnBrk="1">
                        <a:buFontTx/>
                        <a:buChar char="-"/>
                      </a:pPr>
                      <a:r>
                        <a:rPr lang="ko-KR" altLang="en-US" sz="1100" kern="1200" dirty="0" err="1"/>
                        <a:t>청구항별로</a:t>
                      </a:r>
                      <a:r>
                        <a:rPr lang="ko-KR" altLang="en-US" sz="1100" kern="1200" dirty="0"/>
                        <a:t> 독립적으로 보호범위를 판단하고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하나의 청구항의 보호범위에 포함된다면 그 특허발명의 보호범위에 속함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91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발명의 설명 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참작 원칙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31750" indent="-17145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특별한 사정이 없는 한</a:t>
                      </a:r>
                      <a:r>
                        <a:rPr lang="ko-KR" altLang="en-US" sz="1100" kern="1200" dirty="0"/>
                        <a:t> 발명의 설명이나 도면 등에 의하여 청구범위를 제한하거나 확장하여 해석하는 것은 허용되지 않지만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청구범위에 적혀 있는 사항은 발명의 설명이나 도면 등을 참작하여야 그 기술적인 의미를 정확하게 이해할 수 있으므로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청구범위에 적혀 있는 사항의 해석은 그 문언의 일반적인 의미내용을 기초로 하면서도 발명의 설명 및 도면 등을 참작하여 그 문언에 의하여 표현하려는 기술적 의의를 고찰한 다음 객관적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합리적으로 하여야 한다</a:t>
                      </a:r>
                      <a:r>
                        <a:rPr lang="en-US" altLang="ko-KR" sz="1100" kern="1200" dirty="0"/>
                        <a:t>.</a:t>
                      </a:r>
                    </a:p>
                    <a:p>
                      <a:pPr marL="31750" marR="31750" indent="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1100" kern="1200" dirty="0"/>
                    </a:p>
                    <a:p>
                      <a:pPr marL="31750" marR="31750" indent="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100" kern="1200" dirty="0"/>
                        <a:t>* </a:t>
                      </a:r>
                      <a:r>
                        <a:rPr lang="ko-KR" altLang="en-US" sz="1100" kern="1200" dirty="0" err="1"/>
                        <a:t>제한해석되는</a:t>
                      </a:r>
                      <a:r>
                        <a:rPr lang="ko-KR" altLang="en-US" sz="1100" kern="1200" dirty="0"/>
                        <a:t> 특별한 사정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진실로 발명하지 않은 부분까지 보호범위를 인정하는 것은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자에게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</a:rPr>
                        <a:t>불측의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 손해를 줄 수 있음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) - </a:t>
                      </a:r>
                      <a:r>
                        <a:rPr lang="ko-KR" altLang="en-US" sz="1100" kern="1200" dirty="0">
                          <a:highlight>
                            <a:srgbClr val="FFFF00"/>
                          </a:highlight>
                        </a:rPr>
                        <a:t>기능적 표현으로 되어 있는 청구항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</a:endParaRPr>
                    </a:p>
                    <a:p>
                      <a:pPr marL="140970" marR="31750" indent="-14097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  ① 문언 그대로 해석하는 것이 명백히 불합리한 경우 </a:t>
                      </a:r>
                      <a:r>
                        <a:rPr lang="en-US" altLang="ko-KR" sz="1100" kern="1200" dirty="0"/>
                        <a:t>– </a:t>
                      </a:r>
                    </a:p>
                    <a:p>
                      <a:pPr marL="233363" marR="31750" indent="-233363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  </a:t>
                      </a:r>
                      <a:r>
                        <a:rPr lang="ko-KR" altLang="en-US" sz="1100" kern="1200" dirty="0"/>
                        <a:t>② 발명의 설명에 의하여 보충을 하더라도 기술적 범위를 확정할 수 없는 경우  발명의 설명 또는 도면에 의하여 뒷받침되는 범위내로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단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 발명의 설명에 의하더라도 구성요소 일부가 추상적이거나 불분명하여 도저히 그 발명 자체의 기술적 범위를 특정할 수 없으면 보호범위 불인정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  <a:p>
                      <a:pPr marL="140970" marR="31750" indent="-14097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Cf)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확장해석되는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사례는 아직 없음</a:t>
                      </a: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3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공지기술 참작 원칙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31750" indent="-17145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200" dirty="0"/>
                        <a:t>공지기술로부터 개량진보의 정도가 큰 발명의 보호범위는 넓게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개량진보의 정도가 작은 발명의 보호범위는 좁게 인정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산업발전촉진에 대한 기여력의 측정이며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균등범위에서 차이가 발생함</a:t>
                      </a:r>
                      <a:r>
                        <a:rPr lang="en-US" altLang="ko-KR" sz="1100" kern="1200" dirty="0"/>
                        <a:t>)</a:t>
                      </a:r>
                    </a:p>
                    <a:p>
                      <a:pPr marL="203200" marR="3175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특허발명이 공지기술과 비교하여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개량ㆍ진보되지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아니한 경우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즉 특허발명이 공지기술과 동일한 경우에는 보호범위를 인정할 수 없는데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이를 특히 공지기술제외의 원칙이라 함</a:t>
                      </a: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7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출원경과 참작 원칙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31750" indent="-17145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200" dirty="0"/>
                        <a:t>출원과정에서 확인대상발명의 치환된 구성요소가 청구범위로부터 의식적으로 제외되는 등 특단의 사정을 참작해야 함</a:t>
                      </a:r>
                      <a:r>
                        <a:rPr lang="en-US" altLang="ko-KR" sz="1100" kern="1200" dirty="0"/>
                        <a:t> </a:t>
                      </a:r>
                    </a:p>
                    <a:p>
                      <a:pPr marL="203200" marR="31750" indent="-17145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200" dirty="0" err="1"/>
                        <a:t>균등론의</a:t>
                      </a:r>
                      <a:r>
                        <a:rPr lang="ko-KR" altLang="en-US" sz="1100" kern="1200" dirty="0"/>
                        <a:t> 적용에 따른 청구범위의 확장해석을 억제하기 위한 이론으로 발전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7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특허권 하자 참작 원칙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31750" indent="-17145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200" dirty="0"/>
                        <a:t>특허발명의 일부 또는 전부가 출원 당시 공지여서 </a:t>
                      </a:r>
                      <a:r>
                        <a:rPr lang="ko-KR" altLang="en-US" sz="1100" kern="1200" dirty="0" err="1"/>
                        <a:t>신규성이</a:t>
                      </a:r>
                      <a:r>
                        <a:rPr lang="ko-KR" altLang="en-US" sz="1100" kern="1200" dirty="0"/>
                        <a:t> 없는 경우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선행특허와 동일하여 선출원주의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확대된 선출원에 위반된 경우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명세서의 기재불비 등으로 인하여 특허발명의 기술적 범위를 특정할 수 없는 경우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특허발명의 실시가 불가능한 경우는 권리범위를 불인정함</a:t>
                      </a:r>
                      <a:endParaRPr lang="en-US" altLang="ko-KR" sz="1100" kern="1200" dirty="0"/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97516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확인대상발명의 특정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323</a:t>
            </a:fld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0" y="298127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875" y="976902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확인대상발명이란</a:t>
            </a:r>
            <a:r>
              <a:rPr lang="ko-KR" altLang="en-US" sz="1400" dirty="0">
                <a:solidFill>
                  <a:schemeClr val="tx2"/>
                </a:solidFill>
              </a:rPr>
              <a:t> 권리범위확인심판에서 특허발명의 권리범위에 속하는지 여부의 판단대상이 되는 구체적인 실시형태를 말하며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침해소송에서는 대상 제품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피고 제품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피고 실시제품 등으로 표시된다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확인대상발명은 대상물을 주관적으로 가공하여 설명서 또는 도면에 의하여 기재하는데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사회통념상 다른 것과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구별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될 수 있을 정도로 구체적으로 특정되어야 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그리고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해당 특허발명과 서로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대비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할 수 있을 만큼 특정되어야 하는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것인바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그 특정을 위해서는 대상물의 구체적인 구성을 전부 적을 필요는 없고 특허발명의 구성요소에 </a:t>
            </a:r>
            <a:r>
              <a:rPr lang="ko-KR" altLang="en-US" sz="1400" dirty="0">
                <a:solidFill>
                  <a:srgbClr val="FF0000"/>
                </a:solidFill>
              </a:rPr>
              <a:t>대응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하는 부분의 구체적인 구성을 기재하면 되는 것이나 다만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그 구체적인 구성의 기재는 특허발명의 구성요소와 대비하여 그 차이점을 판단함에 필요한 정도는 되어야 한다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확인대상발명의 구성요소 </a:t>
            </a:r>
            <a:r>
              <a:rPr lang="ko-KR" altLang="en-US" sz="1400" dirty="0"/>
              <a:t>중 </a:t>
            </a:r>
            <a:r>
              <a:rPr lang="ko-KR" altLang="en-US" sz="1400" dirty="0">
                <a:highlight>
                  <a:srgbClr val="FFFF00"/>
                </a:highlight>
              </a:rPr>
              <a:t>특허발명의 구성요소에 대응하지 아니한 구성요소</a:t>
            </a:r>
            <a:r>
              <a:rPr lang="ko-KR" altLang="en-US" sz="1400" dirty="0">
                <a:solidFill>
                  <a:schemeClr val="tx2"/>
                </a:solidFill>
              </a:rPr>
              <a:t>는 특허발명과 </a:t>
            </a:r>
            <a:r>
              <a:rPr lang="ko-KR" altLang="en-US" sz="1400" dirty="0">
                <a:solidFill>
                  <a:srgbClr val="FF0000"/>
                </a:solidFill>
              </a:rPr>
              <a:t>대비</a:t>
            </a:r>
            <a:r>
              <a:rPr lang="ko-KR" altLang="en-US" sz="1400" dirty="0">
                <a:solidFill>
                  <a:schemeClr val="tx2"/>
                </a:solidFill>
              </a:rPr>
              <a:t>하여 </a:t>
            </a:r>
            <a:r>
              <a:rPr lang="ko-KR" altLang="en-US" sz="1400" dirty="0" err="1">
                <a:solidFill>
                  <a:schemeClr val="tx2"/>
                </a:solidFill>
              </a:rPr>
              <a:t>구성요소완비의</a:t>
            </a:r>
            <a:r>
              <a:rPr lang="ko-KR" altLang="en-US" sz="1400" dirty="0">
                <a:solidFill>
                  <a:schemeClr val="tx2"/>
                </a:solidFill>
              </a:rPr>
              <a:t> 원칙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균등론</a:t>
            </a:r>
            <a:r>
              <a:rPr lang="ko-KR" altLang="en-US" sz="1400" dirty="0">
                <a:solidFill>
                  <a:schemeClr val="tx2"/>
                </a:solidFill>
              </a:rPr>
              <a:t> 등에 의한 특허발명의 실시인지 판단함에 있어서 자유기술의 항변의 경우를 제외하고는 일반적으로 영향을 미치지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확인대상발명이 독립항의 권리범위에 속하지 아니하면 종속항에 대응되는 부분의 구성이 기재되어 있지 않거나 불명확한 부분이 있다고 하더라도 특정된 것으로 보고 종속항의 권리범위에 속하지 아니한다고 판단할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독립항의 권리범위가 인정되었을 때 </a:t>
            </a:r>
            <a:r>
              <a:rPr lang="ko-KR" altLang="en-US" sz="1400" dirty="0">
                <a:solidFill>
                  <a:schemeClr val="tx2"/>
                </a:solidFill>
              </a:rPr>
              <a:t>그 권리범위는 독립항을 구체화한 종속항의 권리범위보다 더 넓을 수밖에 없기 때문이다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752475" y="3321463"/>
            <a:ext cx="106521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870196" y="3944489"/>
            <a:ext cx="1424294" cy="56294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r>
              <a:rPr lang="ko-KR" altLang="en-US" sz="1200" dirty="0">
                <a:solidFill>
                  <a:schemeClr val="tx1"/>
                </a:solidFill>
              </a:rPr>
              <a:t>를 포함하는 자전거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3" name="직선 연결선 12"/>
          <p:cNvCxnSpPr>
            <a:stCxn id="12" idx="0"/>
            <a:endCxn id="15" idx="2"/>
          </p:cNvCxnSpPr>
          <p:nvPr/>
        </p:nvCxnSpPr>
        <p:spPr>
          <a:xfrm flipV="1">
            <a:off x="1582343" y="3446560"/>
            <a:ext cx="0" cy="4979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1007812" y="3196365"/>
            <a:ext cx="1149061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설정등록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094826" y="3944489"/>
            <a:ext cx="1424294" cy="56294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C1, D</a:t>
            </a:r>
            <a:r>
              <a:rPr lang="ko-KR" altLang="en-US" sz="1200" dirty="0">
                <a:solidFill>
                  <a:schemeClr val="tx1"/>
                </a:solidFill>
              </a:rPr>
              <a:t>를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포함하는 자전거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0" name="직선 연결선 19"/>
          <p:cNvCxnSpPr>
            <a:stCxn id="19" idx="0"/>
            <a:endCxn id="21" idx="2"/>
          </p:cNvCxnSpPr>
          <p:nvPr/>
        </p:nvCxnSpPr>
        <p:spPr>
          <a:xfrm flipV="1">
            <a:off x="3806973" y="3446560"/>
            <a:ext cx="0" cy="4979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3232442" y="3196365"/>
            <a:ext cx="1149061" cy="250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5229028" y="3944489"/>
            <a:ext cx="2120062" cy="56294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피고제품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확인대상발명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의 특정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C1 </a:t>
            </a:r>
            <a:r>
              <a:rPr lang="ko-KR" altLang="en-US" sz="1200" dirty="0">
                <a:solidFill>
                  <a:schemeClr val="tx1"/>
                </a:solidFill>
              </a:rPr>
              <a:t>또는 </a:t>
            </a:r>
            <a:r>
              <a:rPr lang="en-US" altLang="ko-KR" sz="1200" dirty="0">
                <a:solidFill>
                  <a:schemeClr val="tx1"/>
                </a:solidFill>
              </a:rPr>
              <a:t>A, B, C1, D</a:t>
            </a:r>
          </a:p>
        </p:txBody>
      </p:sp>
      <p:cxnSp>
        <p:nvCxnSpPr>
          <p:cNvPr id="23" name="직선 연결선 22"/>
          <p:cNvCxnSpPr>
            <a:stCxn id="22" idx="0"/>
            <a:endCxn id="24" idx="2"/>
          </p:cNvCxnSpPr>
          <p:nvPr/>
        </p:nvCxnSpPr>
        <p:spPr>
          <a:xfrm flipV="1">
            <a:off x="6289059" y="3446560"/>
            <a:ext cx="0" cy="4979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5714528" y="3196365"/>
            <a:ext cx="1149061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침해소송제기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95515"/>
              </p:ext>
            </p:extLst>
          </p:nvPr>
        </p:nvGraphicFramePr>
        <p:xfrm>
          <a:off x="752476" y="4905383"/>
          <a:ext cx="10575924" cy="168485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762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5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5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3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특허발명의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피고제품의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판단</a:t>
                      </a:r>
                      <a:r>
                        <a:rPr lang="en-US" altLang="ko-KR" sz="1200" b="1" dirty="0"/>
                        <a:t>(○/×/△) 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3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○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3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○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3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△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5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결 </a:t>
                      </a:r>
                      <a:r>
                        <a:rPr lang="ko-KR" altLang="en-US" sz="1200" b="1" dirty="0" err="1"/>
                        <a:t>론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△(</a:t>
                      </a:r>
                      <a:r>
                        <a:rPr lang="ko-KR" altLang="en-US" sz="1200" dirty="0"/>
                        <a:t>특허발명과 확인대상발명을 대비하여 특허발명에 대응되는 구성이 모두 동일하면 구성요소완비의 원칙을 적용하고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대응되는 구성의 일부에 차이가 있다면 </a:t>
                      </a:r>
                      <a:r>
                        <a:rPr lang="ko-KR" altLang="en-US" sz="1200" dirty="0" err="1"/>
                        <a:t>균등론의</a:t>
                      </a:r>
                      <a:r>
                        <a:rPr lang="ko-KR" altLang="en-US" sz="1200" dirty="0"/>
                        <a:t> 적용 여부를 검토하여 침해 여부를 판단한다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특허발명의 구성요소 중 일부라도 생략되어 있다면 </a:t>
                      </a:r>
                      <a:r>
                        <a:rPr lang="ko-KR" altLang="en-US" sz="1200" dirty="0" err="1"/>
                        <a:t>비침해이다</a:t>
                      </a:r>
                      <a:r>
                        <a:rPr lang="en-US" altLang="ko-KR" sz="1200" dirty="0"/>
                        <a:t>.)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" name="직선 화살표 연결선 2"/>
          <p:cNvCxnSpPr/>
          <p:nvPr/>
        </p:nvCxnSpPr>
        <p:spPr>
          <a:xfrm>
            <a:off x="3452501" y="5376106"/>
            <a:ext cx="1794617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3452501" y="5666663"/>
            <a:ext cx="1794617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3452501" y="5948674"/>
            <a:ext cx="1794617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00797" y="5076876"/>
            <a:ext cx="15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대응되는 구성요소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549" y="5783579"/>
            <a:ext cx="2438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차이점을 판단함에 필요한 정도</a:t>
            </a:r>
          </a:p>
        </p:txBody>
      </p:sp>
      <p:sp>
        <p:nvSpPr>
          <p:cNvPr id="7" name="타원 6"/>
          <p:cNvSpPr/>
          <p:nvPr/>
        </p:nvSpPr>
        <p:spPr>
          <a:xfrm>
            <a:off x="5826793" y="5723822"/>
            <a:ext cx="427289" cy="427289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7610475" y="3679325"/>
            <a:ext cx="4000500" cy="1055608"/>
          </a:xfrm>
          <a:prstGeom prst="wedgeRoundRectCallout">
            <a:avLst>
              <a:gd name="adj1" fmla="val -54881"/>
              <a:gd name="adj2" fmla="val -769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특정을 위한 소명방법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사회통념상 구별될 수 있을 정도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상품명</a:t>
            </a:r>
            <a:r>
              <a:rPr lang="en-US" altLang="ko-KR" sz="1100" dirty="0"/>
              <a:t>, </a:t>
            </a:r>
            <a:r>
              <a:rPr lang="ko-KR" altLang="en-US" sz="1100" dirty="0"/>
              <a:t>모델번호</a:t>
            </a:r>
            <a:r>
              <a:rPr lang="en-US" altLang="ko-KR" sz="1100" dirty="0"/>
              <a:t>, </a:t>
            </a:r>
            <a:r>
              <a:rPr lang="ko-KR" altLang="en-US" sz="1100" dirty="0"/>
              <a:t>형식번호에 의한 제품의 특정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현장사진</a:t>
            </a:r>
            <a:r>
              <a:rPr lang="en-US" altLang="ko-KR" sz="1100" dirty="0"/>
              <a:t>,  </a:t>
            </a:r>
            <a:r>
              <a:rPr lang="ko-KR" altLang="en-US" sz="1100" dirty="0"/>
              <a:t>제품카탈로그</a:t>
            </a:r>
            <a:r>
              <a:rPr lang="en-US" altLang="ko-KR" sz="1100" dirty="0"/>
              <a:t>, </a:t>
            </a:r>
            <a:r>
              <a:rPr lang="ko-KR" altLang="en-US" sz="1100" dirty="0"/>
              <a:t>전기제품에 내장된 회로도</a:t>
            </a:r>
            <a:r>
              <a:rPr lang="en-US" altLang="ko-KR" sz="1100" dirty="0"/>
              <a:t>,  </a:t>
            </a:r>
            <a:r>
              <a:rPr lang="ko-KR" altLang="en-US" sz="1100" dirty="0"/>
              <a:t>사양서 등에 의한 특정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자료제출명령 및 현장 검증에 의한 특정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06040853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특허발명의 실시인지 판단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59794" y="1896491"/>
            <a:ext cx="6298368" cy="3819477"/>
            <a:chOff x="1358900" y="1261466"/>
            <a:chExt cx="10177730" cy="3819477"/>
          </a:xfrm>
        </p:grpSpPr>
        <p:sp>
          <p:nvSpPr>
            <p:cNvPr id="7" name="AutoShape 2"/>
            <p:cNvSpPr>
              <a:spLocks noChangeArrowheads="1"/>
            </p:cNvSpPr>
            <p:nvPr/>
          </p:nvSpPr>
          <p:spPr bwMode="auto">
            <a:xfrm>
              <a:off x="2927351" y="2717156"/>
              <a:ext cx="2829983" cy="935037"/>
            </a:xfrm>
            <a:prstGeom prst="flowChartDecision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AER?</a:t>
              </a:r>
            </a:p>
            <a:p>
              <a:pPr algn="ctr">
                <a:defRPr/>
              </a:pP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</a:rPr>
                <a:t>문언침해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)</a:t>
              </a: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3599723" y="1261466"/>
              <a:ext cx="1344083" cy="71913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196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>
                  <a:solidFill>
                    <a:schemeClr val="tx1"/>
                  </a:solidFill>
                  <a:latin typeface="+mn-ea"/>
                </a:rPr>
                <a:t>침해</a:t>
              </a: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670300" y="4361806"/>
              <a:ext cx="1344084" cy="719137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>
                  <a:solidFill>
                    <a:schemeClr val="tx1"/>
                  </a:solidFill>
                  <a:latin typeface="+mn-ea"/>
                </a:rPr>
                <a:t>비침해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1358900" y="3291831"/>
              <a:ext cx="2048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200" b="0">
                  <a:solidFill>
                    <a:schemeClr val="tx1"/>
                  </a:solidFill>
                  <a:latin typeface="+mn-ea"/>
                </a:rPr>
                <a:t>구성요소의 부가</a:t>
              </a: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4464051" y="3653781"/>
              <a:ext cx="259291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200" b="0">
                  <a:solidFill>
                    <a:schemeClr val="tx1"/>
                  </a:solidFill>
                  <a:latin typeface="+mn-ea"/>
                </a:rPr>
                <a:t>구성요소의 삭제</a:t>
              </a:r>
            </a:p>
          </p:txBody>
        </p:sp>
        <p:sp>
          <p:nvSpPr>
            <p:cNvPr id="12" name="AutoShape 2"/>
            <p:cNvSpPr>
              <a:spLocks noChangeArrowheads="1"/>
            </p:cNvSpPr>
            <p:nvPr/>
          </p:nvSpPr>
          <p:spPr bwMode="auto">
            <a:xfrm>
              <a:off x="6915151" y="2717156"/>
              <a:ext cx="2829983" cy="935037"/>
            </a:xfrm>
            <a:prstGeom prst="flowChartDecision">
              <a:avLst/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DOE?</a:t>
              </a:r>
            </a:p>
            <a:p>
              <a:pPr algn="ctr">
                <a:defRPr/>
              </a:pP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</a:rPr>
                <a:t>균등침해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13" name="직선 화살표 연결선 36"/>
            <p:cNvCxnSpPr>
              <a:cxnSpLocks noChangeShapeType="1"/>
              <a:stCxn id="7" idx="2"/>
              <a:endCxn id="9" idx="0"/>
            </p:cNvCxnSpPr>
            <p:nvPr/>
          </p:nvCxnSpPr>
          <p:spPr bwMode="auto">
            <a:xfrm flipH="1">
              <a:off x="4342342" y="3652193"/>
              <a:ext cx="1" cy="709613"/>
            </a:xfrm>
            <a:prstGeom prst="straightConnector1">
              <a:avLst/>
            </a:prstGeom>
            <a:noFill/>
            <a:ln w="9525">
              <a:solidFill>
                <a:srgbClr val="5F5F5F"/>
              </a:solidFill>
              <a:round/>
              <a:headEnd type="none" w="med" len="med"/>
              <a:tailEnd type="triangle" w="med" len="med"/>
            </a:ln>
          </p:spPr>
        </p:cxn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5486400" y="2788593"/>
              <a:ext cx="205105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200" b="0" dirty="0">
                  <a:solidFill>
                    <a:schemeClr val="tx1"/>
                  </a:solidFill>
                  <a:latin typeface="+mn-ea"/>
                </a:rPr>
                <a:t>구성요소의 변경</a:t>
              </a:r>
            </a:p>
          </p:txBody>
        </p:sp>
        <p:cxnSp>
          <p:nvCxnSpPr>
            <p:cNvPr id="15" name="Shape 41"/>
            <p:cNvCxnSpPr>
              <a:cxnSpLocks noChangeShapeType="1"/>
              <a:stCxn id="12" idx="2"/>
              <a:endCxn id="9" idx="3"/>
            </p:cNvCxnSpPr>
            <p:nvPr/>
          </p:nvCxnSpPr>
          <p:spPr bwMode="auto">
            <a:xfrm rot="5400000">
              <a:off x="6137673" y="2528905"/>
              <a:ext cx="1069182" cy="3315759"/>
            </a:xfrm>
            <a:prstGeom prst="bentConnector2">
              <a:avLst/>
            </a:prstGeom>
            <a:noFill/>
            <a:ln w="9525">
              <a:solidFill>
                <a:srgbClr val="5F5F5F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꺾인 연결선 43"/>
            <p:cNvCxnSpPr>
              <a:cxnSpLocks noChangeShapeType="1"/>
              <a:stCxn id="12" idx="3"/>
              <a:endCxn id="8" idx="3"/>
            </p:cNvCxnSpPr>
            <p:nvPr/>
          </p:nvCxnSpPr>
          <p:spPr bwMode="auto">
            <a:xfrm flipH="1" flipV="1">
              <a:off x="4943805" y="1621036"/>
              <a:ext cx="4801328" cy="1563639"/>
            </a:xfrm>
            <a:prstGeom prst="bentConnector3">
              <a:avLst>
                <a:gd name="adj1" fmla="val -23426"/>
              </a:avLst>
            </a:prstGeom>
            <a:noFill/>
            <a:ln w="9525">
              <a:solidFill>
                <a:srgbClr val="5F5F5F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직선 화살표 연결선 45"/>
            <p:cNvCxnSpPr>
              <a:cxnSpLocks noChangeShapeType="1"/>
              <a:stCxn id="7" idx="3"/>
              <a:endCxn id="12" idx="1"/>
            </p:cNvCxnSpPr>
            <p:nvPr/>
          </p:nvCxnSpPr>
          <p:spPr bwMode="auto">
            <a:xfrm>
              <a:off x="5757334" y="3185467"/>
              <a:ext cx="1157817" cy="1588"/>
            </a:xfrm>
            <a:prstGeom prst="straightConnector1">
              <a:avLst/>
            </a:prstGeom>
            <a:noFill/>
            <a:ln w="9525">
              <a:solidFill>
                <a:srgbClr val="5F5F5F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꺾인 연결선 47"/>
            <p:cNvCxnSpPr>
              <a:cxnSpLocks noChangeShapeType="1"/>
              <a:stCxn id="7" idx="1"/>
              <a:endCxn id="8" idx="1"/>
            </p:cNvCxnSpPr>
            <p:nvPr/>
          </p:nvCxnSpPr>
          <p:spPr bwMode="auto">
            <a:xfrm rot="10800000" flipH="1">
              <a:off x="2927350" y="1621037"/>
              <a:ext cx="672372" cy="1563639"/>
            </a:xfrm>
            <a:prstGeom prst="bentConnector3">
              <a:avLst>
                <a:gd name="adj1" fmla="val -244312"/>
              </a:avLst>
            </a:prstGeom>
            <a:noFill/>
            <a:ln w="9525">
              <a:solidFill>
                <a:srgbClr val="5F5F5F"/>
              </a:solidFill>
              <a:round/>
              <a:headEnd type="none" w="med" len="med"/>
              <a:tailEnd type="triangle" w="med" len="med"/>
            </a:ln>
          </p:spPr>
        </p:cxn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6096000" y="4360218"/>
              <a:ext cx="2048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200" b="0" dirty="0" err="1">
                  <a:solidFill>
                    <a:schemeClr val="tx1"/>
                  </a:solidFill>
                  <a:latin typeface="+mn-ea"/>
                </a:rPr>
                <a:t>균등범위</a:t>
              </a:r>
              <a:r>
                <a:rPr lang="ko-KR" altLang="en-US" sz="1200" b="0" dirty="0">
                  <a:solidFill>
                    <a:schemeClr val="tx1"/>
                  </a:solidFill>
                  <a:latin typeface="+mn-ea"/>
                </a:rPr>
                <a:t> 外</a:t>
              </a:r>
            </a:p>
          </p:txBody>
        </p:sp>
        <p:sp>
          <p:nvSpPr>
            <p:cNvPr id="24" name="Text Box 8"/>
            <p:cNvSpPr txBox="1">
              <a:spLocks noChangeArrowheads="1"/>
            </p:cNvSpPr>
            <p:nvPr/>
          </p:nvSpPr>
          <p:spPr bwMode="auto">
            <a:xfrm>
              <a:off x="9487697" y="2769573"/>
              <a:ext cx="2048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200" b="0" dirty="0">
                  <a:solidFill>
                    <a:schemeClr val="tx1"/>
                  </a:solidFill>
                  <a:latin typeface="+mn-ea"/>
                </a:rPr>
                <a:t>균등범위 內</a:t>
              </a: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6925733" y="1580536"/>
            <a:ext cx="4876800" cy="397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dirty="0">
                <a:latin typeface="+mn-ea"/>
              </a:rPr>
              <a:t>* </a:t>
            </a:r>
            <a:r>
              <a:rPr lang="ko-KR" altLang="en-US" b="1" dirty="0">
                <a:latin typeface="+mn-ea"/>
              </a:rPr>
              <a:t>누가 특허를 침해 하였는가</a:t>
            </a:r>
            <a:r>
              <a:rPr lang="en-US" altLang="ko-KR" b="1" dirty="0">
                <a:latin typeface="+mn-ea"/>
              </a:rPr>
              <a:t>?  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6756402" y="947892"/>
            <a:ext cx="0" cy="5505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7027333" y="2291159"/>
            <a:ext cx="4275667" cy="144655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0" lvl="1">
              <a:lnSpc>
                <a:spcPct val="110000"/>
              </a:lnSpc>
              <a:defRPr/>
            </a:pP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 err="1">
                <a:latin typeface="+mn-ea"/>
              </a:rPr>
              <a:t>청구항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1]  a, b, c, d</a:t>
            </a:r>
            <a:r>
              <a:rPr lang="ko-KR" altLang="en-US" sz="1600" dirty="0">
                <a:latin typeface="+mn-ea"/>
              </a:rPr>
              <a:t>를 포함하는 재봉틀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0" lvl="1">
              <a:lnSpc>
                <a:spcPct val="110000"/>
              </a:lnSpc>
              <a:defRPr/>
            </a:pPr>
            <a:endParaRPr lang="en-US" altLang="ko-KR" sz="1600" dirty="0">
              <a:latin typeface="+mn-ea"/>
            </a:endParaRPr>
          </a:p>
          <a:p>
            <a:pPr marL="271463" lvl="1" indent="-177800">
              <a:lnSpc>
                <a:spcPct val="110000"/>
              </a:lnSpc>
              <a:buFontTx/>
              <a:buChar char="-"/>
              <a:defRPr/>
            </a:pPr>
            <a:r>
              <a:rPr lang="ko-KR" altLang="en-US" sz="1600" dirty="0">
                <a:latin typeface="+mn-ea"/>
              </a:rPr>
              <a:t>삼순이 </a:t>
            </a:r>
            <a:r>
              <a:rPr lang="en-US" altLang="ko-KR" sz="1600" dirty="0">
                <a:latin typeface="+mn-ea"/>
              </a:rPr>
              <a:t>: a, b, c </a:t>
            </a:r>
            <a:r>
              <a:rPr lang="ko-KR" altLang="en-US" sz="1600" dirty="0">
                <a:latin typeface="+mn-ea"/>
              </a:rPr>
              <a:t>로 구성된 재봉틀</a:t>
            </a:r>
            <a:r>
              <a:rPr lang="en-US" altLang="ko-KR" sz="1600" dirty="0">
                <a:latin typeface="+mn-ea"/>
              </a:rPr>
              <a:t>?</a:t>
            </a:r>
          </a:p>
          <a:p>
            <a:pPr marL="271463" lvl="1" indent="-177800">
              <a:lnSpc>
                <a:spcPct val="110000"/>
              </a:lnSpc>
              <a:buFontTx/>
              <a:buChar char="-"/>
              <a:defRPr/>
            </a:pPr>
            <a:r>
              <a:rPr lang="ko-KR" altLang="en-US" sz="1600" dirty="0" err="1">
                <a:latin typeface="+mn-ea"/>
              </a:rPr>
              <a:t>향단이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: a, b, c, d, e </a:t>
            </a:r>
            <a:r>
              <a:rPr lang="ko-KR" altLang="en-US" sz="1600" dirty="0">
                <a:latin typeface="+mn-ea"/>
              </a:rPr>
              <a:t>로 구성된 재봉틀</a:t>
            </a:r>
            <a:r>
              <a:rPr lang="en-US" altLang="ko-KR" sz="1600" dirty="0">
                <a:latin typeface="+mn-ea"/>
              </a:rPr>
              <a:t>?</a:t>
            </a:r>
          </a:p>
          <a:p>
            <a:pPr marL="271463" lvl="1" indent="-177800">
              <a:lnSpc>
                <a:spcPct val="110000"/>
              </a:lnSpc>
              <a:buFontTx/>
              <a:buChar char="-"/>
              <a:defRPr/>
            </a:pPr>
            <a:r>
              <a:rPr lang="ko-KR" altLang="en-US" sz="1600" dirty="0">
                <a:latin typeface="+mn-ea"/>
              </a:rPr>
              <a:t>간난이 </a:t>
            </a:r>
            <a:r>
              <a:rPr lang="en-US" altLang="ko-KR" sz="1600" dirty="0">
                <a:latin typeface="+mn-ea"/>
              </a:rPr>
              <a:t>: a, b, c, f</a:t>
            </a:r>
            <a:r>
              <a:rPr lang="ko-KR" altLang="en-US" sz="1600" dirty="0">
                <a:latin typeface="+mn-ea"/>
              </a:rPr>
              <a:t>로 구성된 재봉틀</a:t>
            </a:r>
            <a:r>
              <a:rPr lang="en-US" altLang="ko-KR" sz="1600" dirty="0">
                <a:latin typeface="+mn-ea"/>
              </a:rPr>
              <a:t>?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43853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325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All Elements Rule </a:t>
            </a:r>
            <a:r>
              <a:rPr lang="ko-KR" altLang="en-US" dirty="0"/>
              <a:t>적용의 구체적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49340" y="1035725"/>
            <a:ext cx="5082117" cy="35283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latin typeface="+mn-ea"/>
              </a:rPr>
              <a:t>청구항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1. 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받침대와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받침대의 일단에 결합되어 있는 등받이와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 하부에 연결되어 상기 받침대를 지지하는 </a:t>
            </a:r>
            <a:r>
              <a:rPr lang="en-US" altLang="ko-KR" sz="1600" dirty="0">
                <a:latin typeface="+mn-ea"/>
              </a:rPr>
              <a:t>4</a:t>
            </a:r>
            <a:r>
              <a:rPr lang="ko-KR" altLang="en-US" sz="1600" dirty="0">
                <a:latin typeface="+mn-ea"/>
              </a:rPr>
              <a:t>개의 다리와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 및 상기 등받이에 결합되어 있는 팔걸이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포함하는 의자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</p:txBody>
      </p:sp>
      <p:pic>
        <p:nvPicPr>
          <p:cNvPr id="5" name="Picture 5" descr="317_130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3331190" y="5140181"/>
            <a:ext cx="1651000" cy="1238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6" name="Picture 3" descr="20060524191814_5_2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A5877C"/>
              </a:clrFrom>
              <a:clrTo>
                <a:srgbClr val="A5877C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8336383" y="4333979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B68_130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grayscl/>
          </a:blip>
          <a:srcRect/>
          <a:stretch>
            <a:fillRect/>
          </a:stretch>
        </p:blipFill>
        <p:spPr bwMode="auto">
          <a:xfrm>
            <a:off x="8336383" y="2460729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 bwMode="auto">
          <a:xfrm>
            <a:off x="642892" y="4636125"/>
            <a:ext cx="5088565" cy="18002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2643" y="4638459"/>
            <a:ext cx="1629805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1. My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2642" y="1047351"/>
            <a:ext cx="1509644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2. My patent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6434988" y="1035725"/>
            <a:ext cx="5088565" cy="53285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4740" y="1047351"/>
            <a:ext cx="1900713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3. Other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3" name="Picture 5" descr="317_130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4579329" y="1107733"/>
            <a:ext cx="1074936" cy="806202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0C040CF4-EB84-4A94-A840-FC81C1C322CD}"/>
              </a:ext>
            </a:extLst>
          </p:cNvPr>
          <p:cNvCxnSpPr>
            <a:stCxn id="9" idx="1"/>
            <a:endCxn id="10" idx="1"/>
          </p:cNvCxnSpPr>
          <p:nvPr/>
        </p:nvCxnSpPr>
        <p:spPr>
          <a:xfrm rot="10800000">
            <a:off x="652643" y="1232017"/>
            <a:ext cx="1" cy="3591108"/>
          </a:xfrm>
          <a:prstGeom prst="bentConnector3">
            <a:avLst>
              <a:gd name="adj1" fmla="val 228601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448B5D00-12E2-428E-B5FD-7A1C317354E1}"/>
              </a:ext>
            </a:extLst>
          </p:cNvPr>
          <p:cNvCxnSpPr>
            <a:endCxn id="12" idx="0"/>
          </p:cNvCxnSpPr>
          <p:nvPr/>
        </p:nvCxnSpPr>
        <p:spPr>
          <a:xfrm flipV="1">
            <a:off x="2162286" y="1047351"/>
            <a:ext cx="5232811" cy="203479"/>
          </a:xfrm>
          <a:prstGeom prst="bentConnector4">
            <a:avLst>
              <a:gd name="adj1" fmla="val 40919"/>
              <a:gd name="adj2" fmla="val 212346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6699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649340" y="1035725"/>
            <a:ext cx="5082117" cy="35283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latin typeface="+mn-ea"/>
              </a:rPr>
              <a:t>청구항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1. 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받침대와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받침대의 일단에 결합되어 있는 등받이와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 하부에 연결되어 상기 받침대를 지지하는 </a:t>
            </a:r>
            <a:r>
              <a:rPr lang="en-US" altLang="ko-KR" sz="1600" dirty="0">
                <a:latin typeface="+mn-ea"/>
              </a:rPr>
              <a:t>4</a:t>
            </a:r>
            <a:r>
              <a:rPr lang="ko-KR" altLang="en-US" sz="1600" dirty="0">
                <a:latin typeface="+mn-ea"/>
              </a:rPr>
              <a:t>개의 다리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포함하는 의자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326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All Elements Rule </a:t>
            </a:r>
            <a:r>
              <a:rPr lang="ko-KR" altLang="en-US" dirty="0"/>
              <a:t>적용의 구체적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pic>
        <p:nvPicPr>
          <p:cNvPr id="4" name="Picture 3" descr="20060524191814_3_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6B5548"/>
              </a:clrFrom>
              <a:clrTo>
                <a:srgbClr val="6B5548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6898107" y="4653059"/>
            <a:ext cx="1651000" cy="1238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6" name="Picture 5" descr="20060524191814_4_2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73584D"/>
              </a:clrFrom>
              <a:clrTo>
                <a:srgbClr val="73584D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8085667" y="2132780"/>
            <a:ext cx="1031699" cy="1316037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7" name="Picture 4" descr="20060524191814_5_2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A6887D"/>
              </a:clrFrom>
              <a:clrTo>
                <a:srgbClr val="A6887D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4348516" y="1196675"/>
            <a:ext cx="1362968" cy="1022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317_130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>
            <a:grayscl/>
          </a:blip>
          <a:srcRect/>
          <a:stretch>
            <a:fillRect/>
          </a:stretch>
        </p:blipFill>
        <p:spPr bwMode="auto">
          <a:xfrm>
            <a:off x="3356591" y="5157115"/>
            <a:ext cx="1651000" cy="1238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42892" y="4636125"/>
            <a:ext cx="1629805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1. My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4210" y="1044826"/>
            <a:ext cx="1509644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2. My patent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Picture 4" descr="B68_130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>
            <a:grayscl/>
          </a:blip>
          <a:srcRect/>
          <a:stretch>
            <a:fillRect/>
          </a:stretch>
        </p:blipFill>
        <p:spPr bwMode="auto">
          <a:xfrm>
            <a:off x="9586406" y="3644947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6434988" y="1035725"/>
            <a:ext cx="1900713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3. Other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642892" y="4636125"/>
            <a:ext cx="5088565" cy="18002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434988" y="1035725"/>
            <a:ext cx="5088565" cy="53285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106BF5A-3749-406F-9977-90A1FD4C6C42}"/>
              </a:ext>
            </a:extLst>
          </p:cNvPr>
          <p:cNvCxnSpPr>
            <a:cxnSpLocks/>
            <a:stCxn id="10" idx="1"/>
            <a:endCxn id="11" idx="1"/>
          </p:cNvCxnSpPr>
          <p:nvPr/>
        </p:nvCxnSpPr>
        <p:spPr>
          <a:xfrm rot="10800000" flipH="1">
            <a:off x="642892" y="1229493"/>
            <a:ext cx="11318" cy="3591299"/>
          </a:xfrm>
          <a:prstGeom prst="bentConnector3">
            <a:avLst>
              <a:gd name="adj1" fmla="val -2019791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0C456FF3-0AA1-4853-B74A-3D9A074DE0F4}"/>
              </a:ext>
            </a:extLst>
          </p:cNvPr>
          <p:cNvCxnSpPr>
            <a:stCxn id="11" idx="3"/>
            <a:endCxn id="14" idx="0"/>
          </p:cNvCxnSpPr>
          <p:nvPr/>
        </p:nvCxnSpPr>
        <p:spPr>
          <a:xfrm flipV="1">
            <a:off x="2163854" y="1035725"/>
            <a:ext cx="5221491" cy="193767"/>
          </a:xfrm>
          <a:prstGeom prst="bentConnector4">
            <a:avLst>
              <a:gd name="adj1" fmla="val 40900"/>
              <a:gd name="adj2" fmla="val 217977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717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649340" y="1035725"/>
            <a:ext cx="5082117" cy="35283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latin typeface="+mn-ea"/>
              </a:rPr>
              <a:t>청구항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1. 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받침대와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 하부에 연결되어 상기 받침대를 지지하는 </a:t>
            </a:r>
            <a:r>
              <a:rPr lang="en-US" altLang="ko-KR" sz="1600" dirty="0">
                <a:latin typeface="+mn-ea"/>
              </a:rPr>
              <a:t>4</a:t>
            </a:r>
            <a:r>
              <a:rPr lang="ko-KR" altLang="en-US" sz="1600" dirty="0">
                <a:latin typeface="+mn-ea"/>
              </a:rPr>
              <a:t>개의 다리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포함하는 의자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All Elements Rule </a:t>
            </a:r>
            <a:r>
              <a:rPr lang="ko-KR" altLang="en-US" dirty="0"/>
              <a:t>적용의 구체적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pic>
        <p:nvPicPr>
          <p:cNvPr id="4" name="Picture 3" descr="20060524191814_3_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65574E"/>
              </a:clrFrom>
              <a:clrTo>
                <a:srgbClr val="65574E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4294171" y="1188208"/>
            <a:ext cx="1362968" cy="87821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5" name="Picture 6" descr="20060808171144_1_2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379" y="4644592"/>
            <a:ext cx="1648884" cy="1316038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6" name="Picture 4" descr="718C_130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grayscl/>
          </a:blip>
          <a:srcRect/>
          <a:stretch>
            <a:fillRect/>
          </a:stretch>
        </p:blipFill>
        <p:spPr bwMode="auto">
          <a:xfrm>
            <a:off x="6480197" y="3636480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 descr="B04_130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>
            <a:grayscl/>
          </a:blip>
          <a:srcRect/>
          <a:stretch>
            <a:fillRect/>
          </a:stretch>
        </p:blipFill>
        <p:spPr bwMode="auto">
          <a:xfrm>
            <a:off x="9648549" y="2988408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 descr="317_130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>
            <a:grayscl/>
          </a:blip>
          <a:srcRect/>
          <a:stretch>
            <a:fillRect/>
          </a:stretch>
        </p:blipFill>
        <p:spPr bwMode="auto">
          <a:xfrm>
            <a:off x="3373525" y="5148648"/>
            <a:ext cx="1651000" cy="1238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658839" y="4636125"/>
            <a:ext cx="1629805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1. My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518" y="1044351"/>
            <a:ext cx="1509644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2. My patent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5694" y="1047192"/>
            <a:ext cx="1900713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3. Other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5" name="Picture 5" descr="20060524191814_4_2">
            <a:hlinkClick r:id="rId12"/>
          </p:cNvPr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72574C"/>
              </a:clrFrom>
              <a:clrTo>
                <a:srgbClr val="72574C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8051800" y="1908289"/>
            <a:ext cx="1092200" cy="1316037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7" name="직사각형 16"/>
          <p:cNvSpPr/>
          <p:nvPr/>
        </p:nvSpPr>
        <p:spPr bwMode="auto">
          <a:xfrm>
            <a:off x="642892" y="4636125"/>
            <a:ext cx="5088565" cy="18002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6434988" y="1035725"/>
            <a:ext cx="5088565" cy="53285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6D5BA194-9812-4E6A-8D9F-1F7D279E9076}"/>
              </a:ext>
            </a:extLst>
          </p:cNvPr>
          <p:cNvCxnSpPr>
            <a:cxnSpLocks/>
            <a:stCxn id="11" idx="1"/>
            <a:endCxn id="12" idx="1"/>
          </p:cNvCxnSpPr>
          <p:nvPr/>
        </p:nvCxnSpPr>
        <p:spPr>
          <a:xfrm rot="10800000">
            <a:off x="651519" y="1229017"/>
            <a:ext cx="7321" cy="3591774"/>
          </a:xfrm>
          <a:prstGeom prst="bentConnector3">
            <a:avLst>
              <a:gd name="adj1" fmla="val 3222524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F0D08AC-8F8D-485B-8825-4344D9966893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 flipV="1">
            <a:off x="2161162" y="1047192"/>
            <a:ext cx="5234889" cy="181825"/>
          </a:xfrm>
          <a:prstGeom prst="bentConnector4">
            <a:avLst>
              <a:gd name="adj1" fmla="val 40923"/>
              <a:gd name="adj2" fmla="val 227288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5765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649340" y="1035725"/>
            <a:ext cx="5082117" cy="35283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latin typeface="+mn-ea"/>
              </a:rPr>
              <a:t>청구항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1. </a:t>
            </a:r>
          </a:p>
          <a:p>
            <a:pPr marL="457200" lvl="1" indent="0">
              <a:buNone/>
            </a:pPr>
            <a:r>
              <a:rPr lang="ko-KR" altLang="en-US" sz="1600" dirty="0">
                <a:latin typeface="+mn-ea"/>
              </a:rPr>
              <a:t>받침대와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None/>
            </a:pPr>
            <a:r>
              <a:rPr lang="ko-KR" altLang="en-US" sz="1600" dirty="0">
                <a:latin typeface="+mn-ea"/>
              </a:rPr>
              <a:t>상기 받침대에 결합되어 상기 받침대를 지지하는 복수의 다리</a:t>
            </a:r>
          </a:p>
          <a:p>
            <a:pPr marL="457200" lvl="1" indent="0">
              <a:buNone/>
            </a:pP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포함하는 의자</a:t>
            </a:r>
            <a:r>
              <a:rPr lang="en-US" altLang="ko-KR" sz="1600" dirty="0">
                <a:latin typeface="+mn-ea"/>
              </a:rPr>
              <a:t>.</a:t>
            </a:r>
          </a:p>
          <a:p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All Elements Rule </a:t>
            </a:r>
            <a:r>
              <a:rPr lang="ko-KR" altLang="en-US" dirty="0"/>
              <a:t>적용의 구체적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pic>
        <p:nvPicPr>
          <p:cNvPr id="4" name="Picture 5" descr="20060705124333_9_0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7508040" y="2069238"/>
            <a:ext cx="1534583" cy="1379538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5" name="Picture 3" descr="20060524191814_4_2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70554A"/>
              </a:clrFrom>
              <a:clrTo>
                <a:srgbClr val="70554A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4405254" y="1216768"/>
            <a:ext cx="1292180" cy="103118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6" name="Picture 4" descr="718C_130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grayscl/>
          </a:blip>
          <a:srcRect/>
          <a:stretch>
            <a:fillRect/>
          </a:stretch>
        </p:blipFill>
        <p:spPr bwMode="auto">
          <a:xfrm>
            <a:off x="6828358" y="4152906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317_130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>
            <a:grayscl/>
          </a:blip>
          <a:srcRect/>
          <a:stretch>
            <a:fillRect/>
          </a:stretch>
        </p:blipFill>
        <p:spPr bwMode="auto">
          <a:xfrm>
            <a:off x="3381992" y="5165582"/>
            <a:ext cx="1651000" cy="1238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51518" y="4639121"/>
            <a:ext cx="1629805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1. My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687" y="1046874"/>
            <a:ext cx="1509644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2. My patent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Picture 6" descr="20060808171144_1_2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180115" y="4661526"/>
            <a:ext cx="1648884" cy="1316038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13" name="Picture 5" descr="B04_130">
            <a:hlinkClick r:id="rId12"/>
          </p:cNvPr>
          <p:cNvPicPr>
            <a:picLocks noChangeAspect="1" noChangeArrowheads="1"/>
          </p:cNvPicPr>
          <p:nvPr/>
        </p:nvPicPr>
        <p:blipFill>
          <a:blip r:embed="rId13" cstate="print">
            <a:grayscl/>
          </a:blip>
          <a:srcRect/>
          <a:stretch>
            <a:fillRect/>
          </a:stretch>
        </p:blipFill>
        <p:spPr bwMode="auto">
          <a:xfrm>
            <a:off x="9716285" y="3005342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6444421" y="1046874"/>
            <a:ext cx="1900713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3. Other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42892" y="4636125"/>
            <a:ext cx="5088565" cy="18002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6434988" y="1035725"/>
            <a:ext cx="5088565" cy="53285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A05E34B4-A6C5-4FA6-AED4-B315CFAAA36E}"/>
              </a:ext>
            </a:extLst>
          </p:cNvPr>
          <p:cNvCxnSpPr>
            <a:stCxn id="10" idx="1"/>
            <a:endCxn id="11" idx="1"/>
          </p:cNvCxnSpPr>
          <p:nvPr/>
        </p:nvCxnSpPr>
        <p:spPr>
          <a:xfrm rot="10800000" flipH="1">
            <a:off x="651517" y="1231541"/>
            <a:ext cx="169" cy="3592247"/>
          </a:xfrm>
          <a:prstGeom prst="bentConnector3">
            <a:avLst>
              <a:gd name="adj1" fmla="val -135266272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E50E006-C4AA-44CE-B2A1-5C6E71D24D3D}"/>
              </a:ext>
            </a:extLst>
          </p:cNvPr>
          <p:cNvCxnSpPr>
            <a:cxnSpLocks/>
            <a:stCxn id="11" idx="3"/>
            <a:endCxn id="15" idx="0"/>
          </p:cNvCxnSpPr>
          <p:nvPr/>
        </p:nvCxnSpPr>
        <p:spPr>
          <a:xfrm flipV="1">
            <a:off x="2161331" y="1046874"/>
            <a:ext cx="5233447" cy="184666"/>
          </a:xfrm>
          <a:prstGeom prst="bentConnector4">
            <a:avLst>
              <a:gd name="adj1" fmla="val 40920"/>
              <a:gd name="adj2" fmla="val 223791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662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329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All Elements Rule </a:t>
            </a:r>
            <a:r>
              <a:rPr lang="ko-KR" altLang="en-US" dirty="0"/>
              <a:t>적용의 구체적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441102"/>
              </p:ext>
            </p:extLst>
          </p:nvPr>
        </p:nvGraphicFramePr>
        <p:xfrm>
          <a:off x="190500" y="1111260"/>
          <a:ext cx="11715832" cy="536080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221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833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All Elements Rule</a:t>
                      </a:r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5543">
                <a:tc>
                  <a:txBody>
                    <a:bodyPr/>
                    <a:lstStyle/>
                    <a:p>
                      <a:pPr marL="0" lvl="1" indent="0" eaLnBrk="1" hangingPunct="1"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dirty="0"/>
                        <a:t>받침대와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marL="0" lvl="1" indent="0" eaLnBrk="1" hangingPunct="1"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dirty="0"/>
                        <a:t>상기 받침대의 일단에 결합되어 있는 등받이와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marL="0" lvl="1" indent="0" eaLnBrk="1" hangingPunct="1"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dirty="0"/>
                        <a:t>상기 받침대 하부에 연결되어 상기 받침대를 지지하는 </a:t>
                      </a:r>
                      <a:r>
                        <a:rPr lang="en-US" altLang="ko-KR" sz="1000" dirty="0"/>
                        <a:t>4</a:t>
                      </a:r>
                      <a:r>
                        <a:rPr lang="ko-KR" altLang="en-US" sz="1000" dirty="0"/>
                        <a:t>개의 다리와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marL="0" lvl="1" indent="0" eaLnBrk="1" hangingPunct="1"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dirty="0"/>
                        <a:t>상기 받침대 및 상기 등받이에 결합되어 있는 </a:t>
                      </a:r>
                      <a:r>
                        <a:rPr lang="ko-KR" altLang="en-US" sz="1000" u="none" dirty="0"/>
                        <a:t>팔걸이</a:t>
                      </a:r>
                      <a:endParaRPr lang="en-US" altLang="ko-KR" sz="1000" u="none" dirty="0"/>
                    </a:p>
                    <a:p>
                      <a:pPr marL="0" lvl="1" indent="0" eaLnBrk="1" hangingPunct="1"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dirty="0" err="1"/>
                        <a:t>를</a:t>
                      </a:r>
                      <a:r>
                        <a:rPr lang="ko-KR" altLang="en-US" sz="1000" dirty="0"/>
                        <a:t> 포함하는 의자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7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받침대와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latinLnBrk="1"/>
                      <a:r>
                        <a:rPr lang="ko-KR" altLang="en-US" sz="1000" dirty="0"/>
                        <a:t>상기 받침대의 일단에 결합되어 있는 등받이와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latinLnBrk="1"/>
                      <a:r>
                        <a:rPr lang="ko-KR" altLang="en-US" sz="1000" dirty="0"/>
                        <a:t>상기 받침대 하부에 연결되어 상기 받침대를 지지하는 </a:t>
                      </a:r>
                      <a:r>
                        <a:rPr lang="en-US" altLang="ko-KR" sz="1000" dirty="0"/>
                        <a:t>4</a:t>
                      </a:r>
                      <a:r>
                        <a:rPr lang="ko-KR" altLang="en-US" sz="1000" dirty="0"/>
                        <a:t>개의 다리</a:t>
                      </a:r>
                    </a:p>
                    <a:p>
                      <a:pPr latinLnBrk="1"/>
                      <a:r>
                        <a:rPr lang="ko-KR" altLang="en-US" sz="1000" dirty="0" err="1"/>
                        <a:t>를</a:t>
                      </a:r>
                      <a:r>
                        <a:rPr lang="ko-KR" altLang="en-US" sz="1000" dirty="0"/>
                        <a:t> 포함하는 의자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5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받침대와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latinLnBrk="1"/>
                      <a:r>
                        <a:rPr lang="ko-KR" altLang="en-US" sz="1000" dirty="0"/>
                        <a:t>상기 받침대 하부에 연결되어 상기 받침대를 지지하는 </a:t>
                      </a:r>
                      <a:r>
                        <a:rPr lang="en-US" altLang="ko-KR" sz="1000" dirty="0"/>
                        <a:t>4</a:t>
                      </a:r>
                      <a:r>
                        <a:rPr lang="ko-KR" altLang="en-US" sz="1000" dirty="0"/>
                        <a:t>개의 다리</a:t>
                      </a:r>
                    </a:p>
                    <a:p>
                      <a:pPr latinLnBrk="1"/>
                      <a:r>
                        <a:rPr lang="ko-KR" altLang="en-US" sz="1000" dirty="0" err="1"/>
                        <a:t>를</a:t>
                      </a:r>
                      <a:r>
                        <a:rPr lang="ko-KR" altLang="en-US" sz="1000" dirty="0"/>
                        <a:t> 포함하는 의자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5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받침대와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latinLnBrk="1"/>
                      <a:r>
                        <a:rPr lang="ko-KR" altLang="en-US" sz="1000" dirty="0"/>
                        <a:t>상기 받침대에 결합되어 상기 받침대를 지지하는 복수의 다리</a:t>
                      </a:r>
                    </a:p>
                    <a:p>
                      <a:pPr latinLnBrk="1"/>
                      <a:r>
                        <a:rPr lang="ko-KR" altLang="en-US" sz="1000" dirty="0" err="1"/>
                        <a:t>를</a:t>
                      </a:r>
                      <a:r>
                        <a:rPr lang="ko-KR" altLang="en-US" sz="1000" dirty="0"/>
                        <a:t> 포함하는 의자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Picture 5" descr="317_130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2476501" y="1149361"/>
            <a:ext cx="952500" cy="809625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21" name="Picture 3" descr="20060524191814_5_2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A5877C"/>
              </a:clrFrom>
              <a:clrTo>
                <a:srgbClr val="A5877C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3536951" y="1158886"/>
            <a:ext cx="9525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4" descr="B68_130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grayscl/>
          </a:blip>
          <a:srcRect/>
          <a:stretch>
            <a:fillRect/>
          </a:stretch>
        </p:blipFill>
        <p:spPr bwMode="auto">
          <a:xfrm>
            <a:off x="5615518" y="1162060"/>
            <a:ext cx="908049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3" descr="20060524191814_3_2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6A5345"/>
              </a:clrFrom>
              <a:clrTo>
                <a:srgbClr val="6A5345">
                  <a:alpha val="0"/>
                </a:srgbClr>
              </a:clrTo>
            </a:clrChange>
            <a:grayscl/>
          </a:blip>
          <a:srcRect l="14172" r="14960" b="22047"/>
          <a:stretch>
            <a:fillRect/>
          </a:stretch>
        </p:blipFill>
        <p:spPr bwMode="auto">
          <a:xfrm>
            <a:off x="4597401" y="1143011"/>
            <a:ext cx="773247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5" descr="20060524191814_4_2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6E584A"/>
              </a:clrFrom>
              <a:clrTo>
                <a:srgbClr val="6E584A">
                  <a:alpha val="0"/>
                </a:srgbClr>
              </a:clrTo>
            </a:clrChange>
            <a:grayscl/>
          </a:blip>
          <a:srcRect l="17308" r="13461"/>
          <a:stretch>
            <a:fillRect/>
          </a:stretch>
        </p:blipFill>
        <p:spPr bwMode="auto">
          <a:xfrm>
            <a:off x="6916686" y="1149361"/>
            <a:ext cx="528295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5" descr="B04_130">
            <a:hlinkClick r:id="rId12"/>
          </p:cNvPr>
          <p:cNvPicPr>
            <a:picLocks noChangeAspect="1" noChangeArrowheads="1"/>
          </p:cNvPicPr>
          <p:nvPr/>
        </p:nvPicPr>
        <p:blipFill>
          <a:blip r:embed="rId13" cstate="print">
            <a:grayscl/>
          </a:blip>
          <a:srcRect/>
          <a:stretch>
            <a:fillRect/>
          </a:stretch>
        </p:blipFill>
        <p:spPr bwMode="auto">
          <a:xfrm>
            <a:off x="7727951" y="1149361"/>
            <a:ext cx="975783" cy="80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4" descr="718C_130">
            <a:hlinkClick r:id="rId14"/>
          </p:cNvPr>
          <p:cNvPicPr>
            <a:picLocks noChangeAspect="1" noChangeArrowheads="1"/>
          </p:cNvPicPr>
          <p:nvPr/>
        </p:nvPicPr>
        <p:blipFill>
          <a:blip r:embed="rId15" cstate="print">
            <a:grayscl/>
          </a:blip>
          <a:srcRect/>
          <a:stretch>
            <a:fillRect/>
          </a:stretch>
        </p:blipFill>
        <p:spPr bwMode="auto">
          <a:xfrm>
            <a:off x="8779933" y="1149361"/>
            <a:ext cx="973667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6" descr="20060808171144_1_2">
            <a:hlinkClick r:id="rId16"/>
          </p:cNvPr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9836152" y="1154123"/>
            <a:ext cx="984249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5" descr="20060705124333_9_0">
            <a:hlinkClick r:id="rId18"/>
          </p:cNvPr>
          <p:cNvPicPr>
            <a:picLocks noChangeAspect="1" noChangeArrowheads="1"/>
          </p:cNvPicPr>
          <p:nvPr/>
        </p:nvPicPr>
        <p:blipFill>
          <a:blip r:embed="rId19" cstate="print">
            <a:grayscl/>
          </a:blip>
          <a:srcRect/>
          <a:stretch>
            <a:fillRect/>
          </a:stretch>
        </p:blipFill>
        <p:spPr bwMode="auto">
          <a:xfrm>
            <a:off x="10953751" y="1154123"/>
            <a:ext cx="874183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2984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330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  <a:latin typeface="+mj-ea"/>
              </a:rPr>
              <a:t>다기재</a:t>
            </a:r>
            <a:r>
              <a:rPr lang="ko-KR" altLang="en-US" dirty="0">
                <a:solidFill>
                  <a:srgbClr val="525252"/>
                </a:solidFill>
                <a:latin typeface="+mj-ea"/>
              </a:rPr>
              <a:t> </a:t>
            </a:r>
            <a:r>
              <a:rPr lang="ko-KR" altLang="en-US" dirty="0" err="1">
                <a:solidFill>
                  <a:srgbClr val="525252"/>
                </a:solidFill>
                <a:latin typeface="+mj-ea"/>
              </a:rPr>
              <a:t>협범위의</a:t>
            </a:r>
            <a:r>
              <a:rPr lang="ko-KR" altLang="en-US" dirty="0">
                <a:solidFill>
                  <a:srgbClr val="525252"/>
                </a:solidFill>
                <a:latin typeface="+mj-ea"/>
              </a:rPr>
              <a:t> 원칙</a:t>
            </a:r>
            <a:r>
              <a:rPr lang="en-US" altLang="ko-KR" dirty="0">
                <a:solidFill>
                  <a:srgbClr val="525252"/>
                </a:solidFill>
                <a:latin typeface="+mj-ea"/>
              </a:rPr>
              <a:t>(</a:t>
            </a:r>
            <a:r>
              <a:rPr lang="ko-KR" altLang="en-US" dirty="0" err="1">
                <a:solidFill>
                  <a:srgbClr val="525252"/>
                </a:solidFill>
                <a:latin typeface="+mj-ea"/>
              </a:rPr>
              <a:t>소기재</a:t>
            </a:r>
            <a:r>
              <a:rPr lang="ko-KR" altLang="en-US" dirty="0">
                <a:solidFill>
                  <a:srgbClr val="525252"/>
                </a:solidFill>
                <a:latin typeface="+mj-ea"/>
              </a:rPr>
              <a:t> 광범위의 원칙</a:t>
            </a:r>
            <a:r>
              <a:rPr lang="en-US" altLang="ko-KR" dirty="0">
                <a:solidFill>
                  <a:srgbClr val="525252"/>
                </a:solidFill>
                <a:latin typeface="+mj-ea"/>
              </a:rPr>
              <a:t>)</a:t>
            </a:r>
            <a:endParaRPr lang="ko-KR" altLang="en-US" dirty="0">
              <a:solidFill>
                <a:srgbClr val="525252"/>
              </a:solidFill>
              <a:latin typeface="+mj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149789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highlight>
                  <a:srgbClr val="FFFF00"/>
                </a:highlight>
                <a:latin typeface="+mn-ea"/>
              </a:rPr>
              <a:t>청구항에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 구성요소를 많이 기재하면 등록가능성이 높아지지만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상대적으로 권리범위는 좁아지게 된다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따라서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등록가능성을 만족할 정도의 구성요소만을 기재하는 것이 가장 바람직하다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작성시 한정사항을 최소화하는 것도 중요하지만 그 보다 더 중요한 것은 구성요소가 생략 불가능한 필수요소인지에 대한 판단이다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 rot="10800000">
            <a:off x="6523580" y="2537173"/>
            <a:ext cx="2743200" cy="1524000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rot="10800000"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163227" y="25371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553627" y="25371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772827" y="30197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2163227" y="35023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772827" y="35023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3382427" y="35023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553627" y="35023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2163227" y="3003500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ko-KR" altLang="en-US" sz="1050">
              <a:latin typeface="+mn-ea"/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 flipH="1">
            <a:off x="1553628" y="3019773"/>
            <a:ext cx="632884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ko-KR" altLang="en-US" sz="1050">
              <a:latin typeface="+mn-ea"/>
            </a:endParaRP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1553627" y="3019773"/>
            <a:ext cx="0" cy="609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ko-KR" altLang="en-US" sz="1050">
              <a:latin typeface="+mn-ea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>
            <a:off x="6946914" y="3007073"/>
            <a:ext cx="1896533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ko-KR" altLang="en-US" sz="1050">
              <a:latin typeface="+mn-ea"/>
            </a:endParaRPr>
          </a:p>
        </p:txBody>
      </p:sp>
      <p:sp>
        <p:nvSpPr>
          <p:cNvPr id="18" name="Line 21"/>
          <p:cNvSpPr>
            <a:spLocks noChangeShapeType="1"/>
          </p:cNvSpPr>
          <p:nvPr/>
        </p:nvSpPr>
        <p:spPr bwMode="auto">
          <a:xfrm>
            <a:off x="7404113" y="3489673"/>
            <a:ext cx="10160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ko-KR" altLang="en-US" sz="1050">
              <a:latin typeface="+mn-ea"/>
            </a:endParaRP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4110560" y="2613374"/>
            <a:ext cx="1380067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A </a:t>
            </a:r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4093627" y="3108674"/>
            <a:ext cx="1320800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B</a:t>
            </a: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4093627" y="3603974"/>
            <a:ext cx="1397000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C </a:t>
            </a: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9182113" y="2613374"/>
            <a:ext cx="1416051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A </a:t>
            </a:r>
          </a:p>
        </p:txBody>
      </p:sp>
      <p:sp>
        <p:nvSpPr>
          <p:cNvPr id="23" name="Text Box 26"/>
          <p:cNvSpPr txBox="1">
            <a:spLocks noChangeArrowheads="1"/>
          </p:cNvSpPr>
          <p:nvPr/>
        </p:nvSpPr>
        <p:spPr bwMode="auto">
          <a:xfrm>
            <a:off x="9182113" y="3138837"/>
            <a:ext cx="1320800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B</a:t>
            </a: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9165180" y="3603974"/>
            <a:ext cx="1432984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C</a:t>
            </a:r>
          </a:p>
        </p:txBody>
      </p:sp>
      <p:sp>
        <p:nvSpPr>
          <p:cNvPr id="25" name="AutoShape 28"/>
          <p:cNvSpPr>
            <a:spLocks noChangeArrowheads="1"/>
          </p:cNvSpPr>
          <p:nvPr/>
        </p:nvSpPr>
        <p:spPr bwMode="auto">
          <a:xfrm>
            <a:off x="5465227" y="3032473"/>
            <a:ext cx="609600" cy="457200"/>
          </a:xfrm>
          <a:prstGeom prst="rightArrow">
            <a:avLst>
              <a:gd name="adj1" fmla="val 70834"/>
              <a:gd name="adj2" fmla="val 37500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" name="Text Box 29"/>
          <p:cNvSpPr txBox="1">
            <a:spLocks noChangeArrowheads="1"/>
          </p:cNvSpPr>
          <p:nvPr/>
        </p:nvSpPr>
        <p:spPr bwMode="auto">
          <a:xfrm>
            <a:off x="1553627" y="4471068"/>
            <a:ext cx="7721600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A : 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서울시 서초구</a:t>
            </a:r>
          </a:p>
          <a:p>
            <a:pPr defTabSz="762000" latinLnBrk="0">
              <a:spcBef>
                <a:spcPct val="50000"/>
              </a:spcBef>
            </a:pP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B : 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서울시 서초구 서초대로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32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길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9-15</a:t>
            </a:r>
            <a:endParaRPr lang="ko-KR" altLang="en-US" sz="1400" b="0" dirty="0">
              <a:solidFill>
                <a:srgbClr val="000066"/>
              </a:solidFill>
              <a:latin typeface="+mn-ea"/>
            </a:endParaRPr>
          </a:p>
          <a:p>
            <a:pPr defTabSz="762000" latinLnBrk="0">
              <a:spcBef>
                <a:spcPct val="50000"/>
              </a:spcBef>
            </a:pP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C : 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서울시 서초구 서초대로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32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길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9-15, </a:t>
            </a:r>
            <a:r>
              <a:rPr lang="ko-KR" altLang="en-US" sz="1400" b="0" dirty="0" err="1">
                <a:solidFill>
                  <a:srgbClr val="000066"/>
                </a:solidFill>
                <a:latin typeface="+mn-ea"/>
              </a:rPr>
              <a:t>거영빌딩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(2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층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)</a:t>
            </a:r>
            <a:endParaRPr lang="ko-KR" altLang="en-US" sz="1400" b="0" dirty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1553627" y="2058916"/>
            <a:ext cx="2286000" cy="34607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400" dirty="0">
                <a:solidFill>
                  <a:schemeClr val="bg1"/>
                </a:solidFill>
                <a:latin typeface="+mn-ea"/>
                <a:cs typeface="Arial" charset="0"/>
              </a:rPr>
              <a:t>Element </a:t>
            </a:r>
            <a:r>
              <a:rPr lang="ko-KR" altLang="en-US" sz="1400" dirty="0">
                <a:solidFill>
                  <a:schemeClr val="bg1"/>
                </a:solidFill>
                <a:latin typeface="+mn-ea"/>
                <a:cs typeface="Arial" charset="0"/>
              </a:rPr>
              <a:t>수</a:t>
            </a:r>
            <a:endParaRPr lang="en-US" altLang="ko-KR" sz="1400" dirty="0">
              <a:solidFill>
                <a:schemeClr val="bg1"/>
              </a:solidFill>
              <a:latin typeface="+mn-ea"/>
              <a:cs typeface="Arial" charset="0"/>
            </a:endParaRP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6815680" y="2058916"/>
            <a:ext cx="2286000" cy="34607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1400" dirty="0">
                <a:solidFill>
                  <a:schemeClr val="bg1"/>
                </a:solidFill>
                <a:latin typeface="+mn-ea"/>
                <a:cs typeface="Arial" charset="0"/>
              </a:rPr>
              <a:t>청구범위 </a:t>
            </a:r>
            <a:r>
              <a:rPr lang="ko-KR" altLang="en-US" sz="1400" dirty="0" err="1">
                <a:solidFill>
                  <a:schemeClr val="bg1"/>
                </a:solidFill>
                <a:latin typeface="+mn-ea"/>
                <a:cs typeface="Arial" charset="0"/>
              </a:rPr>
              <a:t>광협</a:t>
            </a:r>
            <a:endParaRPr lang="en-US" altLang="ko-KR" sz="1400" dirty="0">
              <a:solidFill>
                <a:schemeClr val="bg1"/>
              </a:solidFill>
              <a:latin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079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9165B72-F6DE-1749-DF8E-B0D1D2C88FC4}"/>
              </a:ext>
            </a:extLst>
          </p:cNvPr>
          <p:cNvGrpSpPr/>
          <p:nvPr/>
        </p:nvGrpSpPr>
        <p:grpSpPr>
          <a:xfrm>
            <a:off x="5180495" y="3405090"/>
            <a:ext cx="6361550" cy="842464"/>
            <a:chOff x="5180495" y="2510672"/>
            <a:chExt cx="6361550" cy="1243826"/>
          </a:xfrm>
        </p:grpSpPr>
        <p:sp>
          <p:nvSpPr>
            <p:cNvPr id="28" name="자유형 27"/>
            <p:cNvSpPr/>
            <p:nvPr/>
          </p:nvSpPr>
          <p:spPr>
            <a:xfrm>
              <a:off x="6527801" y="2510672"/>
              <a:ext cx="5014244" cy="1243826"/>
            </a:xfrm>
            <a:custGeom>
              <a:avLst/>
              <a:gdLst>
                <a:gd name="connsiteX0" fmla="*/ 207308 w 1243825"/>
                <a:gd name="connsiteY0" fmla="*/ 0 h 4668332"/>
                <a:gd name="connsiteX1" fmla="*/ 1036517 w 1243825"/>
                <a:gd name="connsiteY1" fmla="*/ 0 h 4668332"/>
                <a:gd name="connsiteX2" fmla="*/ 1243825 w 1243825"/>
                <a:gd name="connsiteY2" fmla="*/ 207308 h 4668332"/>
                <a:gd name="connsiteX3" fmla="*/ 1243825 w 1243825"/>
                <a:gd name="connsiteY3" fmla="*/ 4668332 h 4668332"/>
                <a:gd name="connsiteX4" fmla="*/ 1243825 w 1243825"/>
                <a:gd name="connsiteY4" fmla="*/ 4668332 h 4668332"/>
                <a:gd name="connsiteX5" fmla="*/ 0 w 1243825"/>
                <a:gd name="connsiteY5" fmla="*/ 4668332 h 4668332"/>
                <a:gd name="connsiteX6" fmla="*/ 0 w 1243825"/>
                <a:gd name="connsiteY6" fmla="*/ 4668332 h 4668332"/>
                <a:gd name="connsiteX7" fmla="*/ 0 w 1243825"/>
                <a:gd name="connsiteY7" fmla="*/ 207308 h 4668332"/>
                <a:gd name="connsiteX8" fmla="*/ 207308 w 1243825"/>
                <a:gd name="connsiteY8" fmla="*/ 0 h 466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825" h="4668332">
                  <a:moveTo>
                    <a:pt x="1243825" y="778071"/>
                  </a:moveTo>
                  <a:lnTo>
                    <a:pt x="1243825" y="3890261"/>
                  </a:lnTo>
                  <a:cubicBezTo>
                    <a:pt x="1243825" y="4319977"/>
                    <a:pt x="1219095" y="4668330"/>
                    <a:pt x="1188590" y="4668330"/>
                  </a:cubicBezTo>
                  <a:lnTo>
                    <a:pt x="0" y="4668330"/>
                  </a:lnTo>
                  <a:lnTo>
                    <a:pt x="0" y="4668330"/>
                  </a:lnTo>
                  <a:lnTo>
                    <a:pt x="0" y="2"/>
                  </a:lnTo>
                  <a:lnTo>
                    <a:pt x="0" y="2"/>
                  </a:lnTo>
                  <a:lnTo>
                    <a:pt x="1188590" y="2"/>
                  </a:lnTo>
                  <a:cubicBezTo>
                    <a:pt x="1219095" y="2"/>
                    <a:pt x="1243825" y="348355"/>
                    <a:pt x="1243825" y="778071"/>
                  </a:cubicBezTo>
                  <a:close/>
                </a:path>
              </a:pathLst>
            </a:cu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84544" rIns="308369" bIns="184545" numCol="1" spcCol="1270" anchor="ctr" anchorCtr="0">
              <a:noAutofit/>
            </a:bodyPr>
            <a:lstStyle/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특허 등록될 수 있도록</a:t>
              </a:r>
              <a:endParaRPr lang="ko-KR" altLang="en-US" sz="1200" kern="1200" dirty="0">
                <a:latin typeface="+mn-ea"/>
                <a:ea typeface="+mn-ea"/>
              </a:endParaRP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특히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공지기술과 구별되게 구성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효과상 차이 기재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(</a:t>
              </a:r>
              <a:r>
                <a:rPr kumimoji="0" lang="ko-KR" altLang="en-US" sz="1200" b="0" kern="1200" dirty="0" err="1">
                  <a:latin typeface="+mn-ea"/>
                  <a:ea typeface="+mn-ea"/>
                </a:rPr>
                <a:t>신규성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진보성 고려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29" name="자유형 28"/>
            <p:cNvSpPr/>
            <p:nvPr/>
          </p:nvSpPr>
          <p:spPr>
            <a:xfrm>
              <a:off x="5180495" y="2510672"/>
              <a:ext cx="1499705" cy="1243826"/>
            </a:xfrm>
            <a:custGeom>
              <a:avLst/>
              <a:gdLst>
                <a:gd name="connsiteX0" fmla="*/ 0 w 1693216"/>
                <a:gd name="connsiteY0" fmla="*/ 259136 h 1554782"/>
                <a:gd name="connsiteX1" fmla="*/ 259136 w 1693216"/>
                <a:gd name="connsiteY1" fmla="*/ 0 h 1554782"/>
                <a:gd name="connsiteX2" fmla="*/ 1434080 w 1693216"/>
                <a:gd name="connsiteY2" fmla="*/ 0 h 1554782"/>
                <a:gd name="connsiteX3" fmla="*/ 1693216 w 1693216"/>
                <a:gd name="connsiteY3" fmla="*/ 259136 h 1554782"/>
                <a:gd name="connsiteX4" fmla="*/ 1693216 w 1693216"/>
                <a:gd name="connsiteY4" fmla="*/ 1295646 h 1554782"/>
                <a:gd name="connsiteX5" fmla="*/ 1434080 w 1693216"/>
                <a:gd name="connsiteY5" fmla="*/ 1554782 h 1554782"/>
                <a:gd name="connsiteX6" fmla="*/ 259136 w 1693216"/>
                <a:gd name="connsiteY6" fmla="*/ 1554782 h 1554782"/>
                <a:gd name="connsiteX7" fmla="*/ 0 w 1693216"/>
                <a:gd name="connsiteY7" fmla="*/ 1295646 h 1554782"/>
                <a:gd name="connsiteX8" fmla="*/ 0 w 1693216"/>
                <a:gd name="connsiteY8" fmla="*/ 259136 h 1554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216" h="1554782">
                  <a:moveTo>
                    <a:pt x="0" y="259136"/>
                  </a:moveTo>
                  <a:cubicBezTo>
                    <a:pt x="0" y="116019"/>
                    <a:pt x="116019" y="0"/>
                    <a:pt x="259136" y="0"/>
                  </a:cubicBezTo>
                  <a:lnTo>
                    <a:pt x="1434080" y="0"/>
                  </a:lnTo>
                  <a:cubicBezTo>
                    <a:pt x="1577197" y="0"/>
                    <a:pt x="1693216" y="116019"/>
                    <a:pt x="1693216" y="259136"/>
                  </a:cubicBezTo>
                  <a:lnTo>
                    <a:pt x="1693216" y="1295646"/>
                  </a:lnTo>
                  <a:cubicBezTo>
                    <a:pt x="1693216" y="1438763"/>
                    <a:pt x="1577197" y="1554782"/>
                    <a:pt x="1434080" y="1554782"/>
                  </a:cubicBezTo>
                  <a:lnTo>
                    <a:pt x="259136" y="1554782"/>
                  </a:lnTo>
                  <a:cubicBezTo>
                    <a:pt x="116019" y="1554782"/>
                    <a:pt x="0" y="1438763"/>
                    <a:pt x="0" y="1295646"/>
                  </a:cubicBezTo>
                  <a:lnTo>
                    <a:pt x="0" y="259136"/>
                  </a:lnTo>
                  <a:close/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098" tIns="113998" rIns="152098" bIns="113998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공지기술과 </a:t>
              </a:r>
              <a:endParaRPr kumimoji="0" lang="en-US" altLang="ko-KR" b="0" kern="1200" dirty="0">
                <a:latin typeface="+mn-ea"/>
                <a:ea typeface="+mn-ea"/>
              </a:endParaRPr>
            </a:p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구별되게</a:t>
              </a:r>
              <a:endParaRPr lang="ko-KR" altLang="en-US" kern="1200" dirty="0">
                <a:latin typeface="+mn-ea"/>
                <a:ea typeface="+mn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D1D104-A063-8FC9-6113-D2352D6D5477}"/>
              </a:ext>
            </a:extLst>
          </p:cNvPr>
          <p:cNvGrpSpPr/>
          <p:nvPr/>
        </p:nvGrpSpPr>
        <p:grpSpPr>
          <a:xfrm>
            <a:off x="5180495" y="4511564"/>
            <a:ext cx="6361550" cy="1045781"/>
            <a:chOff x="5180495" y="3945966"/>
            <a:chExt cx="6361550" cy="1243826"/>
          </a:xfrm>
        </p:grpSpPr>
        <p:sp>
          <p:nvSpPr>
            <p:cNvPr id="30" name="자유형 29"/>
            <p:cNvSpPr/>
            <p:nvPr/>
          </p:nvSpPr>
          <p:spPr>
            <a:xfrm>
              <a:off x="6527801" y="3945966"/>
              <a:ext cx="5014244" cy="1243826"/>
            </a:xfrm>
            <a:custGeom>
              <a:avLst/>
              <a:gdLst>
                <a:gd name="connsiteX0" fmla="*/ 207308 w 1243825"/>
                <a:gd name="connsiteY0" fmla="*/ 0 h 4668332"/>
                <a:gd name="connsiteX1" fmla="*/ 1036517 w 1243825"/>
                <a:gd name="connsiteY1" fmla="*/ 0 h 4668332"/>
                <a:gd name="connsiteX2" fmla="*/ 1243825 w 1243825"/>
                <a:gd name="connsiteY2" fmla="*/ 207308 h 4668332"/>
                <a:gd name="connsiteX3" fmla="*/ 1243825 w 1243825"/>
                <a:gd name="connsiteY3" fmla="*/ 4668332 h 4668332"/>
                <a:gd name="connsiteX4" fmla="*/ 1243825 w 1243825"/>
                <a:gd name="connsiteY4" fmla="*/ 4668332 h 4668332"/>
                <a:gd name="connsiteX5" fmla="*/ 0 w 1243825"/>
                <a:gd name="connsiteY5" fmla="*/ 4668332 h 4668332"/>
                <a:gd name="connsiteX6" fmla="*/ 0 w 1243825"/>
                <a:gd name="connsiteY6" fmla="*/ 4668332 h 4668332"/>
                <a:gd name="connsiteX7" fmla="*/ 0 w 1243825"/>
                <a:gd name="connsiteY7" fmla="*/ 207308 h 4668332"/>
                <a:gd name="connsiteX8" fmla="*/ 207308 w 1243825"/>
                <a:gd name="connsiteY8" fmla="*/ 0 h 466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825" h="4668332">
                  <a:moveTo>
                    <a:pt x="1243825" y="778071"/>
                  </a:moveTo>
                  <a:lnTo>
                    <a:pt x="1243825" y="3890261"/>
                  </a:lnTo>
                  <a:cubicBezTo>
                    <a:pt x="1243825" y="4319977"/>
                    <a:pt x="1219095" y="4668330"/>
                    <a:pt x="1188590" y="4668330"/>
                  </a:cubicBezTo>
                  <a:lnTo>
                    <a:pt x="0" y="4668330"/>
                  </a:lnTo>
                  <a:lnTo>
                    <a:pt x="0" y="4668330"/>
                  </a:lnTo>
                  <a:lnTo>
                    <a:pt x="0" y="2"/>
                  </a:lnTo>
                  <a:lnTo>
                    <a:pt x="0" y="2"/>
                  </a:lnTo>
                  <a:lnTo>
                    <a:pt x="1188590" y="2"/>
                  </a:lnTo>
                  <a:cubicBezTo>
                    <a:pt x="1219095" y="2"/>
                    <a:pt x="1243825" y="348355"/>
                    <a:pt x="1243825" y="778071"/>
                  </a:cubicBezTo>
                  <a:close/>
                </a:path>
              </a:pathLst>
            </a:custGeom>
          </p:spPr>
          <p:style>
            <a:ln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84545" rIns="308369" bIns="184544" numCol="1" spcCol="1270" anchor="ctr" anchorCtr="0">
              <a:noAutofit/>
            </a:bodyPr>
            <a:lstStyle/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구성요소 적게</a:t>
              </a:r>
              <a:endParaRPr lang="ko-KR" altLang="en-US" sz="1200" kern="1200" dirty="0">
                <a:latin typeface="+mn-ea"/>
                <a:ea typeface="+mn-ea"/>
              </a:endParaRP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청구범위 용어 포괄적</a:t>
              </a: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불필요한 제한 금지</a:t>
              </a: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단계적인 청구범위로 작성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(</a:t>
              </a:r>
              <a:r>
                <a:rPr kumimoji="0" lang="ko-KR" altLang="en-US" sz="1200" b="0" kern="1200" dirty="0" err="1">
                  <a:latin typeface="+mn-ea"/>
                  <a:ea typeface="+mn-ea"/>
                </a:rPr>
                <a:t>독립항은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 포괄적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 err="1">
                  <a:latin typeface="+mn-ea"/>
                  <a:ea typeface="+mn-ea"/>
                </a:rPr>
                <a:t>종속항은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 구체적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)</a:t>
              </a: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발명의 개념 확장</a:t>
              </a:r>
              <a:endParaRPr kumimoji="0" lang="en-US" altLang="ko-KR" sz="1200" b="0" kern="1200" dirty="0">
                <a:latin typeface="+mn-ea"/>
                <a:ea typeface="+mn-ea"/>
              </a:endParaRPr>
            </a:p>
          </p:txBody>
        </p:sp>
        <p:sp>
          <p:nvSpPr>
            <p:cNvPr id="31" name="자유형 30"/>
            <p:cNvSpPr/>
            <p:nvPr/>
          </p:nvSpPr>
          <p:spPr>
            <a:xfrm>
              <a:off x="5180495" y="3945966"/>
              <a:ext cx="1499705" cy="1243826"/>
            </a:xfrm>
            <a:custGeom>
              <a:avLst/>
              <a:gdLst>
                <a:gd name="connsiteX0" fmla="*/ 0 w 1693216"/>
                <a:gd name="connsiteY0" fmla="*/ 259136 h 1554782"/>
                <a:gd name="connsiteX1" fmla="*/ 259136 w 1693216"/>
                <a:gd name="connsiteY1" fmla="*/ 0 h 1554782"/>
                <a:gd name="connsiteX2" fmla="*/ 1434080 w 1693216"/>
                <a:gd name="connsiteY2" fmla="*/ 0 h 1554782"/>
                <a:gd name="connsiteX3" fmla="*/ 1693216 w 1693216"/>
                <a:gd name="connsiteY3" fmla="*/ 259136 h 1554782"/>
                <a:gd name="connsiteX4" fmla="*/ 1693216 w 1693216"/>
                <a:gd name="connsiteY4" fmla="*/ 1295646 h 1554782"/>
                <a:gd name="connsiteX5" fmla="*/ 1434080 w 1693216"/>
                <a:gd name="connsiteY5" fmla="*/ 1554782 h 1554782"/>
                <a:gd name="connsiteX6" fmla="*/ 259136 w 1693216"/>
                <a:gd name="connsiteY6" fmla="*/ 1554782 h 1554782"/>
                <a:gd name="connsiteX7" fmla="*/ 0 w 1693216"/>
                <a:gd name="connsiteY7" fmla="*/ 1295646 h 1554782"/>
                <a:gd name="connsiteX8" fmla="*/ 0 w 1693216"/>
                <a:gd name="connsiteY8" fmla="*/ 259136 h 1554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216" h="1554782">
                  <a:moveTo>
                    <a:pt x="0" y="259136"/>
                  </a:moveTo>
                  <a:cubicBezTo>
                    <a:pt x="0" y="116019"/>
                    <a:pt x="116019" y="0"/>
                    <a:pt x="259136" y="0"/>
                  </a:cubicBezTo>
                  <a:lnTo>
                    <a:pt x="1434080" y="0"/>
                  </a:lnTo>
                  <a:cubicBezTo>
                    <a:pt x="1577197" y="0"/>
                    <a:pt x="1693216" y="116019"/>
                    <a:pt x="1693216" y="259136"/>
                  </a:cubicBezTo>
                  <a:lnTo>
                    <a:pt x="1693216" y="1295646"/>
                  </a:lnTo>
                  <a:cubicBezTo>
                    <a:pt x="1693216" y="1438763"/>
                    <a:pt x="1577197" y="1554782"/>
                    <a:pt x="1434080" y="1554782"/>
                  </a:cubicBezTo>
                  <a:lnTo>
                    <a:pt x="259136" y="1554782"/>
                  </a:lnTo>
                  <a:cubicBezTo>
                    <a:pt x="116019" y="1554782"/>
                    <a:pt x="0" y="1438763"/>
                    <a:pt x="0" y="1295646"/>
                  </a:cubicBezTo>
                  <a:lnTo>
                    <a:pt x="0" y="259136"/>
                  </a:lnTo>
                  <a:close/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098" tIns="113998" rIns="152098" bIns="113998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권리범위 </a:t>
              </a:r>
              <a:endParaRPr kumimoji="0" lang="en-US" altLang="ko-KR" b="0" kern="1200" dirty="0">
                <a:latin typeface="+mn-ea"/>
                <a:ea typeface="+mn-ea"/>
              </a:endParaRPr>
            </a:p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포괄적으로</a:t>
              </a:r>
              <a:endParaRPr lang="ko-KR" altLang="en-US" kern="1200" dirty="0">
                <a:latin typeface="+mn-ea"/>
                <a:ea typeface="+mn-ea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DDB9EFF-AA78-53D5-2487-42D866B82F43}"/>
              </a:ext>
            </a:extLst>
          </p:cNvPr>
          <p:cNvGrpSpPr/>
          <p:nvPr/>
        </p:nvGrpSpPr>
        <p:grpSpPr>
          <a:xfrm>
            <a:off x="5180495" y="5687275"/>
            <a:ext cx="6361550" cy="919884"/>
            <a:chOff x="5180495" y="5363333"/>
            <a:chExt cx="6361550" cy="1243826"/>
          </a:xfrm>
        </p:grpSpPr>
        <p:sp>
          <p:nvSpPr>
            <p:cNvPr id="32" name="자유형 31"/>
            <p:cNvSpPr/>
            <p:nvPr/>
          </p:nvSpPr>
          <p:spPr>
            <a:xfrm>
              <a:off x="6527801" y="5363333"/>
              <a:ext cx="5014244" cy="1243826"/>
            </a:xfrm>
            <a:custGeom>
              <a:avLst/>
              <a:gdLst>
                <a:gd name="connsiteX0" fmla="*/ 207308 w 1243825"/>
                <a:gd name="connsiteY0" fmla="*/ 0 h 4668332"/>
                <a:gd name="connsiteX1" fmla="*/ 1036517 w 1243825"/>
                <a:gd name="connsiteY1" fmla="*/ 0 h 4668332"/>
                <a:gd name="connsiteX2" fmla="*/ 1243825 w 1243825"/>
                <a:gd name="connsiteY2" fmla="*/ 207308 h 4668332"/>
                <a:gd name="connsiteX3" fmla="*/ 1243825 w 1243825"/>
                <a:gd name="connsiteY3" fmla="*/ 4668332 h 4668332"/>
                <a:gd name="connsiteX4" fmla="*/ 1243825 w 1243825"/>
                <a:gd name="connsiteY4" fmla="*/ 4668332 h 4668332"/>
                <a:gd name="connsiteX5" fmla="*/ 0 w 1243825"/>
                <a:gd name="connsiteY5" fmla="*/ 4668332 h 4668332"/>
                <a:gd name="connsiteX6" fmla="*/ 0 w 1243825"/>
                <a:gd name="connsiteY6" fmla="*/ 4668332 h 4668332"/>
                <a:gd name="connsiteX7" fmla="*/ 0 w 1243825"/>
                <a:gd name="connsiteY7" fmla="*/ 207308 h 4668332"/>
                <a:gd name="connsiteX8" fmla="*/ 207308 w 1243825"/>
                <a:gd name="connsiteY8" fmla="*/ 0 h 466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825" h="4668332">
                  <a:moveTo>
                    <a:pt x="1243825" y="778071"/>
                  </a:moveTo>
                  <a:lnTo>
                    <a:pt x="1243825" y="3890261"/>
                  </a:lnTo>
                  <a:cubicBezTo>
                    <a:pt x="1243825" y="4319977"/>
                    <a:pt x="1219095" y="4668330"/>
                    <a:pt x="1188590" y="4668330"/>
                  </a:cubicBezTo>
                  <a:lnTo>
                    <a:pt x="0" y="4668330"/>
                  </a:lnTo>
                  <a:lnTo>
                    <a:pt x="0" y="4668330"/>
                  </a:lnTo>
                  <a:lnTo>
                    <a:pt x="0" y="2"/>
                  </a:lnTo>
                  <a:lnTo>
                    <a:pt x="0" y="2"/>
                  </a:lnTo>
                  <a:lnTo>
                    <a:pt x="1188590" y="2"/>
                  </a:lnTo>
                  <a:cubicBezTo>
                    <a:pt x="1219095" y="2"/>
                    <a:pt x="1243825" y="348355"/>
                    <a:pt x="1243825" y="778071"/>
                  </a:cubicBez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84545" rIns="308369" bIns="184544" numCol="1" spcCol="1270" anchor="ctr" anchorCtr="0">
              <a:noAutofit/>
            </a:bodyPr>
            <a:lstStyle/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침해증명 고려</a:t>
              </a:r>
              <a:endParaRPr lang="ko-KR" altLang="en-US" sz="1200" kern="1200" dirty="0">
                <a:latin typeface="+mn-ea"/>
                <a:ea typeface="+mn-ea"/>
              </a:endParaRP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가능하면 물건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/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물질발명으로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(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제조방법도 함께 청구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)</a:t>
              </a: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누구에게 권리 행사할 지 고려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(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생산업자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조립업자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사용업자 등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)</a:t>
              </a: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요소기술 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vs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전체기술 모두 청구</a:t>
              </a: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5180495" y="5363333"/>
              <a:ext cx="1499705" cy="1243826"/>
            </a:xfrm>
            <a:custGeom>
              <a:avLst/>
              <a:gdLst>
                <a:gd name="connsiteX0" fmla="*/ 0 w 1693216"/>
                <a:gd name="connsiteY0" fmla="*/ 259136 h 1554782"/>
                <a:gd name="connsiteX1" fmla="*/ 259136 w 1693216"/>
                <a:gd name="connsiteY1" fmla="*/ 0 h 1554782"/>
                <a:gd name="connsiteX2" fmla="*/ 1434080 w 1693216"/>
                <a:gd name="connsiteY2" fmla="*/ 0 h 1554782"/>
                <a:gd name="connsiteX3" fmla="*/ 1693216 w 1693216"/>
                <a:gd name="connsiteY3" fmla="*/ 259136 h 1554782"/>
                <a:gd name="connsiteX4" fmla="*/ 1693216 w 1693216"/>
                <a:gd name="connsiteY4" fmla="*/ 1295646 h 1554782"/>
                <a:gd name="connsiteX5" fmla="*/ 1434080 w 1693216"/>
                <a:gd name="connsiteY5" fmla="*/ 1554782 h 1554782"/>
                <a:gd name="connsiteX6" fmla="*/ 259136 w 1693216"/>
                <a:gd name="connsiteY6" fmla="*/ 1554782 h 1554782"/>
                <a:gd name="connsiteX7" fmla="*/ 0 w 1693216"/>
                <a:gd name="connsiteY7" fmla="*/ 1295646 h 1554782"/>
                <a:gd name="connsiteX8" fmla="*/ 0 w 1693216"/>
                <a:gd name="connsiteY8" fmla="*/ 259136 h 1554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216" h="1554782">
                  <a:moveTo>
                    <a:pt x="0" y="259136"/>
                  </a:moveTo>
                  <a:cubicBezTo>
                    <a:pt x="0" y="116019"/>
                    <a:pt x="116019" y="0"/>
                    <a:pt x="259136" y="0"/>
                  </a:cubicBezTo>
                  <a:lnTo>
                    <a:pt x="1434080" y="0"/>
                  </a:lnTo>
                  <a:cubicBezTo>
                    <a:pt x="1577197" y="0"/>
                    <a:pt x="1693216" y="116019"/>
                    <a:pt x="1693216" y="259136"/>
                  </a:cubicBezTo>
                  <a:lnTo>
                    <a:pt x="1693216" y="1295646"/>
                  </a:lnTo>
                  <a:cubicBezTo>
                    <a:pt x="1693216" y="1438763"/>
                    <a:pt x="1577197" y="1554782"/>
                    <a:pt x="1434080" y="1554782"/>
                  </a:cubicBezTo>
                  <a:lnTo>
                    <a:pt x="259136" y="1554782"/>
                  </a:lnTo>
                  <a:cubicBezTo>
                    <a:pt x="116019" y="1554782"/>
                    <a:pt x="0" y="1438763"/>
                    <a:pt x="0" y="1295646"/>
                  </a:cubicBezTo>
                  <a:lnTo>
                    <a:pt x="0" y="259136"/>
                  </a:lnTo>
                  <a:close/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098" tIns="113998" rIns="152098" bIns="113998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권리행사가 </a:t>
              </a:r>
              <a:endParaRPr kumimoji="0" lang="en-US" altLang="ko-KR" b="0" kern="1200" dirty="0">
                <a:latin typeface="+mn-ea"/>
                <a:ea typeface="+mn-ea"/>
              </a:endParaRPr>
            </a:p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용이하도록</a:t>
              </a:r>
              <a:endParaRPr lang="ko-KR" altLang="en-US" kern="1200" dirty="0">
                <a:latin typeface="+mn-ea"/>
                <a:ea typeface="+mn-ea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040919" y="3507723"/>
            <a:ext cx="1244719" cy="77902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tIns="0" bIns="0" rtlCol="0" anchor="ctr">
            <a:spAutoFit/>
          </a:bodyPr>
          <a:lstStyle/>
          <a:p>
            <a:pPr algn="ctr"/>
            <a:r>
              <a:rPr lang="ko-KR" altLang="en-US" dirty="0"/>
              <a:t>특허요건</a:t>
            </a:r>
            <a:endParaRPr lang="en-US" altLang="ko-KR" dirty="0"/>
          </a:p>
          <a:p>
            <a:pPr algn="ctr"/>
            <a:r>
              <a:rPr lang="ko-KR" altLang="en-US" dirty="0"/>
              <a:t>만족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0919" y="4916032"/>
            <a:ext cx="1244719" cy="779026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tIns="0" bIns="0" rtlCol="0">
            <a:spAutoFit/>
          </a:bodyPr>
          <a:lstStyle/>
          <a:p>
            <a:pPr algn="ctr"/>
            <a:r>
              <a:rPr lang="ko-KR" altLang="en-US" dirty="0"/>
              <a:t>권리행사</a:t>
            </a:r>
            <a:endParaRPr lang="en-US" altLang="ko-KR" dirty="0"/>
          </a:p>
          <a:p>
            <a:pPr algn="ctr"/>
            <a:r>
              <a:rPr lang="ko-KR" altLang="en-US" dirty="0"/>
              <a:t>가능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청구범위의 작성방향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97935" y="3962884"/>
            <a:ext cx="914400" cy="914400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청구</a:t>
            </a:r>
            <a:endParaRPr lang="en-US" altLang="ko-KR" dirty="0"/>
          </a:p>
          <a:p>
            <a:pPr algn="ctr"/>
            <a:r>
              <a:rPr lang="ko-KR" altLang="en-US" dirty="0"/>
              <a:t>범위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1854207" y="3440037"/>
            <a:ext cx="91440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권리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요구서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854207" y="4849734"/>
            <a:ext cx="91440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권리서</a:t>
            </a:r>
          </a:p>
        </p:txBody>
      </p:sp>
      <p:cxnSp>
        <p:nvCxnSpPr>
          <p:cNvPr id="8" name="꺾인 연결선 7"/>
          <p:cNvCxnSpPr>
            <a:cxnSpLocks/>
            <a:stCxn id="6" idx="3"/>
            <a:endCxn id="22" idx="1"/>
          </p:cNvCxnSpPr>
          <p:nvPr/>
        </p:nvCxnSpPr>
        <p:spPr>
          <a:xfrm flipV="1">
            <a:off x="1312335" y="3897237"/>
            <a:ext cx="541872" cy="5228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6" idx="3"/>
            <a:endCxn id="23" idx="1"/>
          </p:cNvCxnSpPr>
          <p:nvPr/>
        </p:nvCxnSpPr>
        <p:spPr>
          <a:xfrm>
            <a:off x="1312335" y="4420084"/>
            <a:ext cx="541872" cy="886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22" idx="3"/>
            <a:endCxn id="16" idx="1"/>
          </p:cNvCxnSpPr>
          <p:nvPr/>
        </p:nvCxnSpPr>
        <p:spPr>
          <a:xfrm flipV="1">
            <a:off x="2768607" y="3897236"/>
            <a:ext cx="272312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23" idx="3"/>
            <a:endCxn id="17" idx="1"/>
          </p:cNvCxnSpPr>
          <p:nvPr/>
        </p:nvCxnSpPr>
        <p:spPr>
          <a:xfrm flipV="1">
            <a:off x="2768607" y="5305545"/>
            <a:ext cx="272312" cy="138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</p:cNvCxnSpPr>
          <p:nvPr/>
        </p:nvCxnSpPr>
        <p:spPr>
          <a:xfrm flipV="1">
            <a:off x="4285638" y="4993341"/>
            <a:ext cx="894857" cy="3122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cxnSpLocks/>
            <a:stCxn id="17" idx="3"/>
          </p:cNvCxnSpPr>
          <p:nvPr/>
        </p:nvCxnSpPr>
        <p:spPr>
          <a:xfrm>
            <a:off x="4285638" y="5305545"/>
            <a:ext cx="894857" cy="7790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331</a:t>
            </a:fld>
            <a:endParaRPr lang="ko-KR" altLang="en-US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E7711BC3-1C44-7633-E940-0A230A426A72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285638" y="3897236"/>
            <a:ext cx="894857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3095AB7-ACBE-EBEB-3164-E159D20C9EB7}"/>
              </a:ext>
            </a:extLst>
          </p:cNvPr>
          <p:cNvCxnSpPr/>
          <p:nvPr/>
        </p:nvCxnSpPr>
        <p:spPr>
          <a:xfrm>
            <a:off x="134471" y="3155580"/>
            <a:ext cx="1187823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사각형: 둥근 위쪽 모서리 36">
            <a:extLst>
              <a:ext uri="{FF2B5EF4-FFF2-40B4-BE49-F238E27FC236}">
                <a16:creationId xmlns:a16="http://schemas.microsoft.com/office/drawing/2014/main" id="{2ABD2162-5B63-7D50-FE4A-3FCB7235DDD1}"/>
              </a:ext>
            </a:extLst>
          </p:cNvPr>
          <p:cNvSpPr/>
          <p:nvPr/>
        </p:nvSpPr>
        <p:spPr>
          <a:xfrm rot="10800000">
            <a:off x="7167348" y="2072193"/>
            <a:ext cx="1882588" cy="448235"/>
          </a:xfrm>
          <a:prstGeom prst="round2SameRect">
            <a:avLst>
              <a:gd name="adj1" fmla="val 50000"/>
              <a:gd name="adj2" fmla="val 0"/>
            </a:avLst>
          </a:prstGeom>
          <a:pattFill prst="ltHorz">
            <a:fgClr>
              <a:schemeClr val="accent6"/>
            </a:fgClr>
            <a:bgClr>
              <a:schemeClr val="bg1"/>
            </a:bgClr>
          </a:patt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위쪽 모서리 37">
            <a:extLst>
              <a:ext uri="{FF2B5EF4-FFF2-40B4-BE49-F238E27FC236}">
                <a16:creationId xmlns:a16="http://schemas.microsoft.com/office/drawing/2014/main" id="{E49FCDF8-FEDD-F04A-6E52-A6CA15208CCB}"/>
              </a:ext>
            </a:extLst>
          </p:cNvPr>
          <p:cNvSpPr/>
          <p:nvPr/>
        </p:nvSpPr>
        <p:spPr>
          <a:xfrm>
            <a:off x="4698627" y="1426364"/>
            <a:ext cx="1882588" cy="448235"/>
          </a:xfrm>
          <a:prstGeom prst="round2SameRect">
            <a:avLst>
              <a:gd name="adj1" fmla="val 50000"/>
              <a:gd name="adj2" fmla="val 0"/>
            </a:avLst>
          </a:prstGeom>
          <a:pattFill prst="pct25">
            <a:fgClr>
              <a:schemeClr val="accent2"/>
            </a:fgClr>
            <a:bgClr>
              <a:schemeClr val="bg1"/>
            </a:bgClr>
          </a:patt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오른쪽 화살표 26">
            <a:extLst>
              <a:ext uri="{FF2B5EF4-FFF2-40B4-BE49-F238E27FC236}">
                <a16:creationId xmlns:a16="http://schemas.microsoft.com/office/drawing/2014/main" id="{A0D6238D-30A5-3900-D665-533B409131D3}"/>
              </a:ext>
            </a:extLst>
          </p:cNvPr>
          <p:cNvSpPr/>
          <p:nvPr/>
        </p:nvSpPr>
        <p:spPr bwMode="auto">
          <a:xfrm>
            <a:off x="654425" y="1800298"/>
            <a:ext cx="10703858" cy="333378"/>
          </a:xfrm>
          <a:prstGeom prst="rightArrow">
            <a:avLst>
              <a:gd name="adj1" fmla="val 61198"/>
              <a:gd name="adj2" fmla="val 75558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endParaRPr lang="ko-KR" altLang="en-US" sz="1400" dirty="0">
              <a:solidFill>
                <a:srgbClr val="1C1C1C"/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7A28ACA-31B6-8669-EE20-716A97176ECE}"/>
              </a:ext>
            </a:extLst>
          </p:cNvPr>
          <p:cNvSpPr/>
          <p:nvPr/>
        </p:nvSpPr>
        <p:spPr>
          <a:xfrm>
            <a:off x="1442791" y="1736276"/>
            <a:ext cx="1322296" cy="448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공지기술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1A671C-F1C9-5606-6DFA-266176151DCD}"/>
              </a:ext>
            </a:extLst>
          </p:cNvPr>
          <p:cNvSpPr/>
          <p:nvPr/>
        </p:nvSpPr>
        <p:spPr>
          <a:xfrm>
            <a:off x="3770845" y="1736276"/>
            <a:ext cx="1322296" cy="4482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BC6D32C-F72A-8F52-0D29-DCE7D22DA870}"/>
              </a:ext>
            </a:extLst>
          </p:cNvPr>
          <p:cNvSpPr/>
          <p:nvPr/>
        </p:nvSpPr>
        <p:spPr>
          <a:xfrm>
            <a:off x="6228229" y="1736276"/>
            <a:ext cx="1322296" cy="44823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특허등록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EBE447E-9FA8-14DE-DFC6-70AE4C782A95}"/>
              </a:ext>
            </a:extLst>
          </p:cNvPr>
          <p:cNvSpPr/>
          <p:nvPr/>
        </p:nvSpPr>
        <p:spPr>
          <a:xfrm>
            <a:off x="8727141" y="1736276"/>
            <a:ext cx="1322296" cy="44823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 err="1"/>
              <a:t>자실시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2F106E-B709-DF0C-B5A5-E138D3759E91}"/>
              </a:ext>
            </a:extLst>
          </p:cNvPr>
          <p:cNvSpPr txBox="1"/>
          <p:nvPr/>
        </p:nvSpPr>
        <p:spPr>
          <a:xfrm>
            <a:off x="4204716" y="860494"/>
            <a:ext cx="2924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공지기술과 차별성을 확보하기 위하여</a:t>
            </a:r>
            <a:endParaRPr lang="en-US" altLang="ko-KR" sz="1400" dirty="0"/>
          </a:p>
          <a:p>
            <a:pPr algn="ctr"/>
            <a:r>
              <a:rPr lang="ko-KR" altLang="en-US" sz="1400" dirty="0"/>
              <a:t>구성요소를 많이 기재하는 것이 유리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51920C-8F58-94D8-00E0-01C3C88BFD2B}"/>
              </a:ext>
            </a:extLst>
          </p:cNvPr>
          <p:cNvSpPr txBox="1"/>
          <p:nvPr/>
        </p:nvSpPr>
        <p:spPr>
          <a:xfrm>
            <a:off x="6736305" y="2578570"/>
            <a:ext cx="2811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침해 주장을 하기 위하여</a:t>
            </a:r>
            <a:endParaRPr lang="en-US" altLang="ko-KR" sz="1400" dirty="0"/>
          </a:p>
          <a:p>
            <a:pPr algn="ctr"/>
            <a:r>
              <a:rPr lang="ko-KR" altLang="en-US" sz="1400" dirty="0"/>
              <a:t>구성요소를 적게 기재하는 것이 유리</a:t>
            </a:r>
          </a:p>
        </p:txBody>
      </p:sp>
    </p:spTree>
    <p:extLst>
      <p:ext uri="{BB962C8B-B14F-4D97-AF65-F5344CB8AC3E}">
        <p14:creationId xmlns:p14="http://schemas.microsoft.com/office/powerpoint/2010/main" val="175183344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종속항의 필요성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332</a:t>
            </a:fld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300" dirty="0"/>
              <a:t>청구범위의 청구항은 상호 독립되어 있기 때문에 </a:t>
            </a:r>
            <a:r>
              <a:rPr lang="ko-KR" altLang="en-US" sz="1300" dirty="0" err="1"/>
              <a:t>독립항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종속항</a:t>
            </a:r>
            <a:r>
              <a:rPr lang="ko-KR" altLang="en-US" sz="1300" dirty="0"/>
              <a:t> 상관없이 </a:t>
            </a:r>
            <a:r>
              <a:rPr lang="ko-KR" altLang="en-US" sz="1300" dirty="0" err="1"/>
              <a:t>청구항별로</a:t>
            </a:r>
            <a:r>
              <a:rPr lang="ko-KR" altLang="en-US" sz="1300" dirty="0"/>
              <a:t> 특허요건을 판단하고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등륵후에는</a:t>
            </a:r>
            <a:r>
              <a:rPr lang="ko-KR" altLang="en-US" sz="1300" dirty="0"/>
              <a:t> </a:t>
            </a:r>
            <a:r>
              <a:rPr lang="ko-KR" altLang="en-US" sz="1300" dirty="0" err="1"/>
              <a:t>청구항별로</a:t>
            </a:r>
            <a:r>
              <a:rPr lang="ko-KR" altLang="en-US" sz="1300" dirty="0"/>
              <a:t> 침해여부를 판단하는 것이 원칙이다</a:t>
            </a:r>
            <a:r>
              <a:rPr lang="en-US" altLang="ko-KR" sz="1300" dirty="0"/>
              <a:t>. </a:t>
            </a:r>
            <a:r>
              <a:rPr lang="ko-KR" altLang="en-US" sz="1300" dirty="0"/>
              <a:t>그러나 종속항의 보호범위는 독립항을 한정하거나 부가하여 구체화한 청구항이기 때문에 독립항의 보호범위보다 상대적으로 좁다</a:t>
            </a:r>
            <a:r>
              <a:rPr lang="en-US" altLang="ko-KR" sz="1300" dirty="0"/>
              <a:t>. </a:t>
            </a:r>
            <a:r>
              <a:rPr lang="ko-KR" altLang="en-US" sz="1300" dirty="0"/>
              <a:t>따라서 독립항이 특허요건판단에 있어서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위반이 아니면</a:t>
            </a:r>
            <a:r>
              <a:rPr lang="en-US" altLang="ko-KR" sz="1300" dirty="0"/>
              <a:t>, </a:t>
            </a:r>
            <a:r>
              <a:rPr lang="ko-KR" altLang="en-US" sz="1300" dirty="0"/>
              <a:t>종속항도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위반이 아니다</a:t>
            </a:r>
            <a:r>
              <a:rPr lang="en-US" altLang="ko-KR" sz="1300" dirty="0"/>
              <a:t>. </a:t>
            </a:r>
            <a:r>
              <a:rPr lang="ko-KR" altLang="en-US" sz="1300" dirty="0" err="1"/>
              <a:t>등록후</a:t>
            </a:r>
            <a:r>
              <a:rPr lang="ko-KR" altLang="en-US" sz="1300" dirty="0"/>
              <a:t> 침해여부판단에 있어서도 독립항의 침해가 아니면 종속항의 침해도 되지 아니한다</a:t>
            </a:r>
            <a:r>
              <a:rPr lang="en-US" altLang="ko-KR" sz="1300" dirty="0"/>
              <a:t>(</a:t>
            </a:r>
            <a:r>
              <a:rPr lang="ko-KR" altLang="en-US" sz="1300" dirty="0"/>
              <a:t>물론 독립항의 보호범위가 인정되지 아니하고</a:t>
            </a:r>
            <a:r>
              <a:rPr lang="en-US" altLang="ko-KR" sz="1300" dirty="0"/>
              <a:t>, </a:t>
            </a:r>
            <a:r>
              <a:rPr lang="ko-KR" altLang="en-US" sz="1300" dirty="0"/>
              <a:t>종속항의 보호범위만 인정되면 독립항의 침해가 아닐지라도 종속항의 침해가 될 수도 있다</a:t>
            </a:r>
            <a:r>
              <a:rPr lang="en-US" altLang="ko-KR" sz="1300" dirty="0"/>
              <a:t>). </a:t>
            </a:r>
            <a:r>
              <a:rPr lang="ko-KR" altLang="en-US" sz="1300" dirty="0"/>
              <a:t>이와 같은 논리라면 표면적으로 살펴보면 종속항의 존재 의의가 없는 것으로 보일 수도 있다</a:t>
            </a:r>
            <a:r>
              <a:rPr lang="en-US" altLang="ko-KR" sz="1300" dirty="0"/>
              <a:t>. </a:t>
            </a:r>
            <a:r>
              <a:rPr lang="ko-KR" altLang="en-US" sz="1300" dirty="0"/>
              <a:t>종속항의 가장 중요한 존재 의의는 </a:t>
            </a:r>
            <a:r>
              <a:rPr lang="ko-KR" altLang="en-US" sz="1300" dirty="0">
                <a:highlight>
                  <a:srgbClr val="FFFF00"/>
                </a:highlight>
              </a:rPr>
              <a:t>등록 후 특허의 취소나 무효 가능성을 대비</a:t>
            </a:r>
            <a:r>
              <a:rPr lang="ko-KR" altLang="en-US" sz="1300" dirty="0"/>
              <a:t>할 수 있다는 것이다</a:t>
            </a:r>
            <a:r>
              <a:rPr lang="en-US" altLang="ko-KR" sz="1300" dirty="0"/>
              <a:t>. </a:t>
            </a:r>
            <a:r>
              <a:rPr lang="ko-KR" altLang="en-US" sz="1300" dirty="0"/>
              <a:t>제</a:t>
            </a:r>
            <a:r>
              <a:rPr lang="en-US" altLang="ko-KR" sz="1300" dirty="0"/>
              <a:t>3</a:t>
            </a:r>
            <a:r>
              <a:rPr lang="ko-KR" altLang="en-US" sz="1300" dirty="0"/>
              <a:t>자가 실시하는 발명이 독립항과 그 종속항의 침해인 경우 독립항이 특허취소신청에 의하여 취소나 특허무효심판에 의하여 무효가 되더라도 종속항이 있다면 권리행사를 할 수 있게 된다</a:t>
            </a:r>
            <a:r>
              <a:rPr lang="en-US" altLang="ko-KR" sz="1300" dirty="0"/>
              <a:t>. </a:t>
            </a:r>
            <a:r>
              <a:rPr lang="ko-KR" altLang="en-US" sz="1300" dirty="0"/>
              <a:t>종속항에 의하여 권리행사를 하기 위해서는 종속항에는 독립항을 한정하거나 부가하여 구체화해서 </a:t>
            </a:r>
            <a:r>
              <a:rPr lang="ko-KR" altLang="en-US" sz="1300" dirty="0">
                <a:highlight>
                  <a:srgbClr val="FFFF00"/>
                </a:highlight>
              </a:rPr>
              <a:t>별개의 새로운 발명이라고 부를 수 있는 정도의 구성요소</a:t>
            </a:r>
            <a:r>
              <a:rPr lang="ko-KR" altLang="en-US" sz="1300" dirty="0"/>
              <a:t>를 적어야 한다</a:t>
            </a:r>
            <a:r>
              <a:rPr lang="en-US" altLang="ko-KR" sz="1300" dirty="0"/>
              <a:t>. </a:t>
            </a:r>
            <a:r>
              <a:rPr lang="ko-KR" altLang="en-US" sz="1300" dirty="0"/>
              <a:t>즉</a:t>
            </a:r>
            <a:r>
              <a:rPr lang="en-US" altLang="ko-KR" sz="1300" dirty="0"/>
              <a:t>, </a:t>
            </a:r>
            <a:r>
              <a:rPr lang="ko-KR" altLang="en-US" sz="1300" dirty="0"/>
              <a:t>심사관이 독립항의 구성요소와 결합하였을 때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등의 특허요건 위반이 아니라고 판단할 만한 구성요소를 종속항에 적어야 한다</a:t>
            </a:r>
            <a:r>
              <a:rPr lang="en-US" altLang="ko-KR" sz="1300" dirty="0"/>
              <a:t>. </a:t>
            </a:r>
            <a:r>
              <a:rPr lang="ko-KR" altLang="en-US" sz="1300" dirty="0"/>
              <a:t>그렇지 아니한 경우 </a:t>
            </a:r>
            <a:r>
              <a:rPr lang="ko-KR" altLang="en-US" sz="1300" dirty="0">
                <a:solidFill>
                  <a:srgbClr val="FF0000"/>
                </a:solidFill>
              </a:rPr>
              <a:t>독립항의 특허요건 위반이 있으면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종속항도 같이 특허요건 위반이 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r>
              <a:rPr lang="ko-KR" altLang="en-US" sz="1300" dirty="0">
                <a:solidFill>
                  <a:srgbClr val="FF0000"/>
                </a:solidFill>
              </a:rPr>
              <a:t>이와 같은 종속항을 적는 것은 출원인에게 </a:t>
            </a:r>
            <a:r>
              <a:rPr lang="ko-KR" altLang="en-US" sz="1300" dirty="0" err="1">
                <a:solidFill>
                  <a:srgbClr val="FF0000"/>
                </a:solidFill>
              </a:rPr>
              <a:t>심사청구료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특허료 등 청구항 수에 따라 달라지는 비용 부담만 가중시키는 결과를 초래한다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endParaRPr lang="ko-KR" altLang="en-US" sz="1300" dirty="0">
              <a:solidFill>
                <a:srgbClr val="FF0000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287887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111853" y="3046066"/>
            <a:ext cx="8424936" cy="3657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/>
          <p:cNvCxnSpPr/>
          <p:nvPr/>
        </p:nvCxnSpPr>
        <p:spPr>
          <a:xfrm>
            <a:off x="399885" y="4048381"/>
            <a:ext cx="7920880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903941" y="395132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/>
          <p:cNvSpPr/>
          <p:nvPr/>
        </p:nvSpPr>
        <p:spPr>
          <a:xfrm>
            <a:off x="2992173" y="3951322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/>
          <p:cNvSpPr/>
          <p:nvPr/>
        </p:nvSpPr>
        <p:spPr>
          <a:xfrm>
            <a:off x="5044401" y="3951322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/>
          <p:cNvSpPr/>
          <p:nvPr/>
        </p:nvSpPr>
        <p:spPr>
          <a:xfrm>
            <a:off x="5800486" y="3951322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2862849" y="3610497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86" name="TextBox 85"/>
          <p:cNvSpPr txBox="1"/>
          <p:nvPr/>
        </p:nvSpPr>
        <p:spPr>
          <a:xfrm>
            <a:off x="4864381" y="3610496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등록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59496" y="3627366"/>
            <a:ext cx="898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 실시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350737" y="4258569"/>
            <a:ext cx="1080120" cy="17641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폐달을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</a:p>
        </p:txBody>
      </p:sp>
      <p:sp>
        <p:nvSpPr>
          <p:cNvPr id="89" name="타원 88"/>
          <p:cNvSpPr/>
          <p:nvPr/>
        </p:nvSpPr>
        <p:spPr>
          <a:xfrm>
            <a:off x="4276661" y="3951322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4144301" y="361049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22165" y="3616021"/>
            <a:ext cx="64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공지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92" name="타원 91"/>
          <p:cNvSpPr/>
          <p:nvPr/>
        </p:nvSpPr>
        <p:spPr>
          <a:xfrm>
            <a:off x="1826533" y="395132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3740029" y="4258569"/>
            <a:ext cx="1368152" cy="176419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폐달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ko-KR" altLang="en-US" sz="1000" dirty="0" err="1">
                <a:solidFill>
                  <a:schemeClr val="tx1"/>
                </a:solidFill>
              </a:rPr>
              <a:t>라이트를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안장을 더 포함하는 자전거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기어를 더 포함하는 자전거</a:t>
            </a:r>
            <a:r>
              <a:rPr lang="en-US" altLang="ko-KR" sz="1000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3747" y="3627366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97" name="타원 96"/>
          <p:cNvSpPr/>
          <p:nvPr/>
        </p:nvSpPr>
        <p:spPr>
          <a:xfrm>
            <a:off x="6772593" y="3951322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6304541" y="3610496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</a:rPr>
              <a:t>침해소송제기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1480005" y="4258569"/>
            <a:ext cx="1080120" cy="17641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안장을 포함하는 자전거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2607393" y="4258569"/>
            <a:ext cx="1080120" cy="17641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ko-KR" altLang="en-US" sz="1000" dirty="0" err="1">
                <a:solidFill>
                  <a:schemeClr val="tx1"/>
                </a:solidFill>
              </a:rPr>
              <a:t>라이트를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5368437" y="4258569"/>
            <a:ext cx="1080120" cy="17641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폐달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라이트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안장 및 기어를 포함하는 자전거</a:t>
            </a:r>
          </a:p>
        </p:txBody>
      </p:sp>
      <p:sp>
        <p:nvSpPr>
          <p:cNvPr id="102" name="타원 101"/>
          <p:cNvSpPr/>
          <p:nvPr/>
        </p:nvSpPr>
        <p:spPr>
          <a:xfrm>
            <a:off x="7535689" y="395132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/>
          <p:cNvSpPr txBox="1"/>
          <p:nvPr/>
        </p:nvSpPr>
        <p:spPr>
          <a:xfrm>
            <a:off x="7036061" y="4212476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</a:rPr>
              <a:t>무효심판청구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3910" y="3432134"/>
            <a:ext cx="1156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심사관 </a:t>
            </a:r>
            <a:r>
              <a:rPr lang="en-US" altLang="ko-KR" sz="1000" dirty="0">
                <a:solidFill>
                  <a:srgbClr val="FF0000"/>
                </a:solidFill>
              </a:rPr>
              <a:t>SEARCH)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407997" y="3432134"/>
            <a:ext cx="1156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심사관 </a:t>
            </a:r>
            <a:r>
              <a:rPr lang="en-US" altLang="ko-KR" sz="1000" dirty="0">
                <a:solidFill>
                  <a:srgbClr val="FF0000"/>
                </a:solidFill>
              </a:rPr>
              <a:t>SEARCH)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565492" y="3432134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accent4"/>
                </a:solidFill>
              </a:rPr>
              <a:t>(</a:t>
            </a:r>
            <a:r>
              <a:rPr lang="ko-KR" altLang="en-US" sz="1000" dirty="0">
                <a:solidFill>
                  <a:schemeClr val="accent4"/>
                </a:solidFill>
              </a:rPr>
              <a:t>제</a:t>
            </a:r>
            <a:r>
              <a:rPr lang="en-US" altLang="ko-KR" sz="1000" dirty="0">
                <a:solidFill>
                  <a:schemeClr val="accent4"/>
                </a:solidFill>
              </a:rPr>
              <a:t>3</a:t>
            </a:r>
            <a:r>
              <a:rPr lang="ko-KR" altLang="en-US" sz="1000" dirty="0">
                <a:solidFill>
                  <a:schemeClr val="accent4"/>
                </a:solidFill>
              </a:rPr>
              <a:t>자 </a:t>
            </a:r>
            <a:r>
              <a:rPr lang="en-US" altLang="ko-KR" sz="1000" dirty="0">
                <a:solidFill>
                  <a:schemeClr val="accent4"/>
                </a:solidFill>
              </a:rPr>
              <a:t>SEARCH)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581581" y="5136851"/>
            <a:ext cx="1883199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just">
              <a:defRPr/>
            </a:pPr>
            <a:r>
              <a:rPr lang="ko-KR" altLang="en-US" sz="2400" b="1" dirty="0" err="1">
                <a:solidFill>
                  <a:srgbClr val="FF0000"/>
                </a:solidFill>
                <a:cs typeface="맑은 고딕"/>
              </a:rPr>
              <a:t>청구항</a:t>
            </a:r>
            <a:r>
              <a:rPr lang="en-US" altLang="ko-KR" sz="2400" b="1" dirty="0">
                <a:solidFill>
                  <a:srgbClr val="FF0000"/>
                </a:solidFill>
                <a:cs typeface="맑은 고딕"/>
              </a:rPr>
              <a:t> 2, 3</a:t>
            </a:r>
            <a:r>
              <a:rPr lang="ko-KR" altLang="en-US" sz="2400" b="1" dirty="0">
                <a:solidFill>
                  <a:srgbClr val="FF0000"/>
                </a:solidFill>
                <a:cs typeface="맑은 고딕"/>
              </a:rPr>
              <a:t>의 가치</a:t>
            </a:r>
            <a:r>
              <a:rPr lang="en-US" altLang="ko-KR" sz="2400" b="1" dirty="0">
                <a:solidFill>
                  <a:srgbClr val="FF0000"/>
                </a:solidFill>
                <a:cs typeface="맑은 고딕"/>
              </a:rPr>
              <a:t>?</a:t>
            </a:r>
            <a:endParaRPr lang="ko-KR" altLang="en-US" sz="2400" b="1" dirty="0">
              <a:solidFill>
                <a:srgbClr val="FF0000"/>
              </a:solidFill>
              <a:cs typeface="맑은 고딕"/>
            </a:endParaRPr>
          </a:p>
        </p:txBody>
      </p:sp>
      <p:graphicFrame>
        <p:nvGraphicFramePr>
          <p:cNvPr id="108" name="표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89693"/>
              </p:ext>
            </p:extLst>
          </p:nvPr>
        </p:nvGraphicFramePr>
        <p:xfrm>
          <a:off x="8675198" y="3026456"/>
          <a:ext cx="3347522" cy="36728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6754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출원발명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심사</a:t>
                      </a:r>
                      <a:endParaRPr lang="en-US" altLang="ko-KR" sz="700" b="1" dirty="0"/>
                    </a:p>
                    <a:p>
                      <a:pPr latinLnBrk="1"/>
                      <a:r>
                        <a:rPr lang="en-US" altLang="ko-KR" sz="700" b="1" dirty="0"/>
                        <a:t>(1&amp;2)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심판</a:t>
                      </a:r>
                      <a:endParaRPr lang="en-US" altLang="ko-KR" sz="700" b="1" dirty="0"/>
                    </a:p>
                    <a:p>
                      <a:pPr latinLnBrk="1"/>
                      <a:r>
                        <a:rPr lang="en-US" altLang="ko-KR" sz="700" b="1" dirty="0"/>
                        <a:t>(1&amp;2&amp;3)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67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en-US" altLang="ko-KR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</a:rPr>
                        <a:t>O</a:t>
                      </a:r>
                      <a:endParaRPr lang="ko-KR" altLang="en-US" sz="7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667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</a:rPr>
                        <a:t>O</a:t>
                      </a:r>
                      <a:endParaRPr lang="ko-KR" altLang="en-US" sz="7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안장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4667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기어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680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균등론의</a:t>
            </a:r>
            <a:r>
              <a:rPr lang="ko-KR" altLang="en-US" dirty="0">
                <a:solidFill>
                  <a:srgbClr val="525252"/>
                </a:solidFill>
              </a:rPr>
              <a:t> 적용요건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333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62322" y="3566860"/>
            <a:ext cx="1092198" cy="914400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균등론</a:t>
            </a:r>
            <a:endParaRPr lang="en-US" altLang="ko-KR" dirty="0"/>
          </a:p>
          <a:p>
            <a:pPr algn="ctr"/>
            <a:r>
              <a:rPr lang="ko-KR" altLang="en-US" dirty="0"/>
              <a:t>적용요건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953514" y="2694798"/>
            <a:ext cx="1439332" cy="45720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적극적 요건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특허권자</a:t>
            </a:r>
            <a:r>
              <a:rPr lang="ko-KR" altLang="en-US" sz="1200" dirty="0">
                <a:solidFill>
                  <a:schemeClr val="tx1"/>
                </a:solidFill>
              </a:rPr>
              <a:t> 주장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953514" y="4955394"/>
            <a:ext cx="1439332" cy="45720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소극적 요건</a:t>
            </a:r>
            <a:endParaRPr lang="en-US" altLang="ko-KR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실시자</a:t>
            </a:r>
            <a:r>
              <a:rPr lang="ko-KR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항변</a:t>
            </a:r>
            <a:r>
              <a:rPr lang="en-US" altLang="ko-KR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)</a:t>
            </a:r>
            <a:endParaRPr lang="ko-KR" alt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" name="꺾인 연결선 2"/>
          <p:cNvCxnSpPr>
            <a:stCxn id="6" idx="3"/>
            <a:endCxn id="7" idx="1"/>
          </p:cNvCxnSpPr>
          <p:nvPr/>
        </p:nvCxnSpPr>
        <p:spPr>
          <a:xfrm flipV="1">
            <a:off x="1554520" y="2923398"/>
            <a:ext cx="398994" cy="11006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6" idx="3"/>
            <a:endCxn id="8" idx="1"/>
          </p:cNvCxnSpPr>
          <p:nvPr/>
        </p:nvCxnSpPr>
        <p:spPr>
          <a:xfrm>
            <a:off x="1554520" y="4024060"/>
            <a:ext cx="398994" cy="11599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3719871" y="1573687"/>
            <a:ext cx="3488265" cy="5088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과제의 </a:t>
            </a:r>
            <a:r>
              <a:rPr lang="ko-KR" altLang="en-US" sz="1400" dirty="0" err="1">
                <a:solidFill>
                  <a:schemeClr val="tx1"/>
                </a:solidFill>
              </a:rPr>
              <a:t>해결원리가</a:t>
            </a:r>
            <a:r>
              <a:rPr lang="ko-KR" altLang="en-US" sz="1400" dirty="0">
                <a:solidFill>
                  <a:schemeClr val="tx1"/>
                </a:solidFill>
              </a:rPr>
              <a:t> 동일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719871" y="2718236"/>
            <a:ext cx="3488265" cy="5088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변경가능성이 있을 것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작용효과가 실질적 동일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719871" y="3748283"/>
            <a:ext cx="3488265" cy="5088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변경용이성이 있을 것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침해시를</a:t>
            </a:r>
            <a:r>
              <a:rPr lang="ko-KR" altLang="en-US" sz="1200" dirty="0">
                <a:solidFill>
                  <a:schemeClr val="tx1"/>
                </a:solidFill>
              </a:rPr>
              <a:t> 기준으로 판단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719871" y="4837100"/>
            <a:ext cx="3488265" cy="508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확인대상발명이 공지기술이 아닐 것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자유기술의 항변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719871" y="5830258"/>
            <a:ext cx="3488265" cy="508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의식적으로 제외된 것이 아닐 것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출원경과참작의 항변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0134" y="980467"/>
            <a:ext cx="1151466" cy="4906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특허발명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(A+B)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226734" y="980467"/>
            <a:ext cx="1481665" cy="4906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확인대상발명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(A+B1)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71600" y="980467"/>
            <a:ext cx="855134" cy="490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vs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22" name="꺾인 연결선 21"/>
          <p:cNvCxnSpPr>
            <a:stCxn id="7" idx="3"/>
            <a:endCxn id="12" idx="1"/>
          </p:cNvCxnSpPr>
          <p:nvPr/>
        </p:nvCxnSpPr>
        <p:spPr>
          <a:xfrm flipV="1">
            <a:off x="3392846" y="1828112"/>
            <a:ext cx="327025" cy="10952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7" idx="3"/>
            <a:endCxn id="14" idx="1"/>
          </p:cNvCxnSpPr>
          <p:nvPr/>
        </p:nvCxnSpPr>
        <p:spPr>
          <a:xfrm>
            <a:off x="3392846" y="2923398"/>
            <a:ext cx="327025" cy="10793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7" idx="3"/>
            <a:endCxn id="13" idx="1"/>
          </p:cNvCxnSpPr>
          <p:nvPr/>
        </p:nvCxnSpPr>
        <p:spPr>
          <a:xfrm>
            <a:off x="3392846" y="2923398"/>
            <a:ext cx="327025" cy="492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8" idx="3"/>
            <a:endCxn id="16" idx="1"/>
          </p:cNvCxnSpPr>
          <p:nvPr/>
        </p:nvCxnSpPr>
        <p:spPr>
          <a:xfrm flipV="1">
            <a:off x="3392846" y="5091525"/>
            <a:ext cx="327025" cy="924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8" idx="3"/>
            <a:endCxn id="17" idx="1"/>
          </p:cNvCxnSpPr>
          <p:nvPr/>
        </p:nvCxnSpPr>
        <p:spPr>
          <a:xfrm>
            <a:off x="3392846" y="5183994"/>
            <a:ext cx="327025" cy="9006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19871" y="5345950"/>
            <a:ext cx="349807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A+B1</a:t>
            </a:r>
            <a:r>
              <a:rPr lang="ko-KR" altLang="en-US" sz="1200" b="1" dirty="0">
                <a:solidFill>
                  <a:srgbClr val="FF0000"/>
                </a:solidFill>
              </a:rPr>
              <a:t>이 공지기술과 동일하거나 공지기술로부터 용이하지 않을 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9871" y="6341794"/>
            <a:ext cx="349807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A+B</a:t>
            </a:r>
            <a:r>
              <a:rPr lang="ko-KR" altLang="en-US" sz="1200" b="1" dirty="0">
                <a:solidFill>
                  <a:srgbClr val="FF0000"/>
                </a:solidFill>
              </a:rPr>
              <a:t> 출원절차를 통하여  </a:t>
            </a:r>
            <a:r>
              <a:rPr lang="en-US" altLang="ko-KR" sz="1200" b="1" dirty="0">
                <a:solidFill>
                  <a:srgbClr val="FF0000"/>
                </a:solidFill>
              </a:rPr>
              <a:t>A+B1</a:t>
            </a:r>
            <a:r>
              <a:rPr lang="ko-KR" altLang="en-US" sz="1200" b="1" dirty="0">
                <a:solidFill>
                  <a:srgbClr val="FF0000"/>
                </a:solidFill>
              </a:rPr>
              <a:t>이 의식적으로 제외된 것이 아닐 것</a:t>
            </a:r>
          </a:p>
        </p:txBody>
      </p:sp>
      <p:sp>
        <p:nvSpPr>
          <p:cNvPr id="36" name="모서리가 둥근 사각형 설명선 35"/>
          <p:cNvSpPr/>
          <p:nvPr/>
        </p:nvSpPr>
        <p:spPr>
          <a:xfrm>
            <a:off x="7535161" y="966197"/>
            <a:ext cx="4345733" cy="1328023"/>
          </a:xfrm>
          <a:prstGeom prst="wedgeRoundRectCallout">
            <a:avLst>
              <a:gd name="adj1" fmla="val -57043"/>
              <a:gd name="adj2" fmla="val 28825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과제의 </a:t>
            </a:r>
            <a:r>
              <a:rPr lang="ko-KR" altLang="en-US" sz="1200" dirty="0" err="1">
                <a:solidFill>
                  <a:srgbClr val="FF0000"/>
                </a:solidFill>
              </a:rPr>
              <a:t>해결원리가</a:t>
            </a:r>
            <a:r>
              <a:rPr lang="ko-KR" altLang="en-US" sz="1200" dirty="0">
                <a:solidFill>
                  <a:srgbClr val="FF0000"/>
                </a:solidFill>
              </a:rPr>
              <a:t> 동일한 지 여부를 가릴 때에는 </a:t>
            </a:r>
            <a:r>
              <a:rPr lang="ko-KR" altLang="en-US" sz="1200" dirty="0" err="1"/>
              <a:t>청구범위에</a:t>
            </a:r>
            <a:r>
              <a:rPr lang="ko-KR" altLang="en-US" sz="1200" dirty="0"/>
              <a:t> 기재된 구성의 일부를 형식적으로 추출할 것이 아니라 명세서의 발명의 설명의 기재와 출원 당시의 </a:t>
            </a:r>
            <a:r>
              <a:rPr lang="ko-KR" altLang="en-US" sz="1200" dirty="0" err="1"/>
              <a:t>공지기술</a:t>
            </a:r>
            <a:r>
              <a:rPr lang="ko-KR" altLang="en-US" sz="1200" dirty="0"/>
              <a:t> 등을 참작하여 </a:t>
            </a:r>
            <a:r>
              <a:rPr lang="ko-KR" altLang="en-US" sz="1200" dirty="0" err="1"/>
              <a:t>선행기술과</a:t>
            </a:r>
            <a:r>
              <a:rPr lang="ko-KR" altLang="en-US" sz="1200" dirty="0"/>
              <a:t> 대비하여 볼 때 </a:t>
            </a:r>
            <a:r>
              <a:rPr lang="ko-KR" altLang="en-US" sz="1200" dirty="0" err="1"/>
              <a:t>특허발명에</a:t>
            </a:r>
            <a:r>
              <a:rPr lang="ko-KR" altLang="en-US" sz="1200" dirty="0"/>
              <a:t> 특유한 </a:t>
            </a:r>
            <a:r>
              <a:rPr lang="ko-KR" altLang="en-US" sz="1200" dirty="0" err="1"/>
              <a:t>해결수단이</a:t>
            </a:r>
            <a:r>
              <a:rPr lang="ko-KR" altLang="en-US" sz="1200" dirty="0"/>
              <a:t> 기초하고 있는 </a:t>
            </a:r>
            <a:r>
              <a:rPr lang="ko-KR" altLang="en-US" sz="1200" dirty="0" err="1">
                <a:solidFill>
                  <a:srgbClr val="FF0000"/>
                </a:solidFill>
              </a:rPr>
              <a:t>기술사상의</a:t>
            </a:r>
            <a:r>
              <a:rPr lang="ko-KR" altLang="en-US" sz="1200" dirty="0">
                <a:solidFill>
                  <a:srgbClr val="FF0000"/>
                </a:solidFill>
              </a:rPr>
              <a:t> 핵심이</a:t>
            </a:r>
            <a:r>
              <a:rPr lang="ko-KR" altLang="en-US" sz="1200" dirty="0"/>
              <a:t> 무엇인가를 실질적으로 탐구하여 판단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2014. 7. 24.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2013</a:t>
            </a:r>
            <a:r>
              <a:rPr lang="ko-KR" altLang="en-US" sz="1200" dirty="0"/>
              <a:t>다</a:t>
            </a:r>
            <a:r>
              <a:rPr lang="en-US" altLang="ko-KR" sz="1200" dirty="0"/>
              <a:t>14361)</a:t>
            </a:r>
            <a:endParaRPr lang="ko-KR" alt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719871" y="2034707"/>
            <a:ext cx="349807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</a:t>
            </a:r>
            <a:r>
              <a:rPr lang="ko-KR" altLang="en-US" sz="1200" b="1" dirty="0">
                <a:solidFill>
                  <a:srgbClr val="FF0000"/>
                </a:solidFill>
              </a:rPr>
              <a:t>와 </a:t>
            </a:r>
            <a:r>
              <a:rPr lang="en-US" altLang="ko-KR" sz="1200" b="1" dirty="0">
                <a:solidFill>
                  <a:srgbClr val="FF0000"/>
                </a:solidFill>
              </a:rPr>
              <a:t>B1</a:t>
            </a:r>
            <a:r>
              <a:rPr lang="ko-KR" altLang="en-US" sz="1200" b="1" dirty="0">
                <a:solidFill>
                  <a:srgbClr val="FF0000"/>
                </a:solidFill>
              </a:rPr>
              <a:t>의 변경된 부분이 있더라도 과제의 </a:t>
            </a:r>
            <a:r>
              <a:rPr lang="ko-KR" altLang="en-US" sz="1200" b="1" dirty="0" err="1">
                <a:solidFill>
                  <a:srgbClr val="FF0000"/>
                </a:solidFill>
              </a:rPr>
              <a:t>해결원리가</a:t>
            </a:r>
            <a:r>
              <a:rPr lang="ko-KR" altLang="en-US" sz="1200" b="1" dirty="0">
                <a:solidFill>
                  <a:srgbClr val="FF0000"/>
                </a:solidFill>
              </a:rPr>
              <a:t> 동일할 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19871" y="3224611"/>
            <a:ext cx="349807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</a:t>
            </a:r>
            <a:r>
              <a:rPr lang="ko-KR" altLang="en-US" sz="1200" b="1" dirty="0">
                <a:solidFill>
                  <a:srgbClr val="FF0000"/>
                </a:solidFill>
              </a:rPr>
              <a:t>와 </a:t>
            </a:r>
            <a:r>
              <a:rPr lang="en-US" altLang="ko-KR" sz="1200" b="1" dirty="0">
                <a:solidFill>
                  <a:srgbClr val="FF0000"/>
                </a:solidFill>
              </a:rPr>
              <a:t>B1</a:t>
            </a:r>
            <a:r>
              <a:rPr lang="ko-KR" altLang="en-US" sz="1200" b="1" dirty="0">
                <a:solidFill>
                  <a:srgbClr val="FF0000"/>
                </a:solidFill>
              </a:rPr>
              <a:t>이 작용효과가 실질적 동일한 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19871" y="4335220"/>
            <a:ext cx="349807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</a:t>
            </a:r>
            <a:r>
              <a:rPr lang="ko-KR" altLang="en-US" sz="1200" b="1" dirty="0">
                <a:solidFill>
                  <a:srgbClr val="FF0000"/>
                </a:solidFill>
              </a:rPr>
              <a:t>로부터 </a:t>
            </a:r>
            <a:r>
              <a:rPr lang="en-US" altLang="ko-KR" sz="1200" b="1" dirty="0">
                <a:solidFill>
                  <a:srgbClr val="FF0000"/>
                </a:solidFill>
              </a:rPr>
              <a:t>B1</a:t>
            </a:r>
            <a:r>
              <a:rPr lang="ko-KR" altLang="en-US" sz="1200" b="1" dirty="0">
                <a:solidFill>
                  <a:srgbClr val="FF0000"/>
                </a:solidFill>
              </a:rPr>
              <a:t>를 쉽게 변경할 수 있을 것</a:t>
            </a:r>
          </a:p>
        </p:txBody>
      </p:sp>
      <p:sp>
        <p:nvSpPr>
          <p:cNvPr id="31" name="모서리가 둥근 사각형 설명선 35">
            <a:extLst>
              <a:ext uri="{FF2B5EF4-FFF2-40B4-BE49-F238E27FC236}">
                <a16:creationId xmlns:a16="http://schemas.microsoft.com/office/drawing/2014/main" id="{2389E7A8-0254-4325-BD2D-160C07890E64}"/>
              </a:ext>
            </a:extLst>
          </p:cNvPr>
          <p:cNvSpPr/>
          <p:nvPr/>
        </p:nvSpPr>
        <p:spPr>
          <a:xfrm>
            <a:off x="7535161" y="2387569"/>
            <a:ext cx="4345733" cy="3188479"/>
          </a:xfrm>
          <a:prstGeom prst="wedgeRoundRectCallout">
            <a:avLst>
              <a:gd name="adj1" fmla="val -57400"/>
              <a:gd name="adj2" fmla="val -33962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ko-KR" altLang="en-US" sz="1200" dirty="0"/>
              <a:t>작용효과가 실질적으로 동일한지 여부는 </a:t>
            </a:r>
            <a:r>
              <a:rPr lang="ko-KR" altLang="en-US" sz="1200" dirty="0">
                <a:solidFill>
                  <a:srgbClr val="FF0000"/>
                </a:solidFill>
              </a:rPr>
              <a:t>선행기술에서 해결되지 않았던 기술과제로서 특허발명이 해결한 과제를 침해제품 등도 해결하는지를 중심으로 판단</a:t>
            </a:r>
            <a:r>
              <a:rPr lang="ko-KR" altLang="en-US" sz="1200" dirty="0"/>
              <a:t>하여야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발명의 설명의 기재와 출원 당시의 공지기술 등을 참작하여 파악되는 </a:t>
            </a:r>
            <a:r>
              <a:rPr lang="ko-KR" altLang="en-US" sz="1200" dirty="0">
                <a:solidFill>
                  <a:srgbClr val="FF0000"/>
                </a:solidFill>
              </a:rPr>
              <a:t>특허발명에 특유한 해결수단이 기초하고 있는 기술사상의 핵심이 침해제품 등에서도 구현되어 있다면 작용효과가 실질적으로 동일</a:t>
            </a:r>
            <a:r>
              <a:rPr lang="ko-KR" altLang="en-US" sz="1200" dirty="0"/>
              <a:t>하다고 보는 것이 원칙이다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그러나 위와 같은 기술사상의 핵심이 특허발명의 출원 당시에 이미 공지되었거나 그와 다름없는 것에 불과한 경우에는 이러한 기술사상의 핵심이 특허발명에 특유하다고 볼 수 없고</a:t>
            </a:r>
            <a:r>
              <a:rPr lang="en-US" altLang="ko-KR" sz="1200" dirty="0"/>
              <a:t>, </a:t>
            </a:r>
            <a:r>
              <a:rPr lang="ko-KR" altLang="en-US" sz="1200" dirty="0"/>
              <a:t>특허발명이 선행기술에서 해결되지 않았던 기술과제를 해결하였다고 말할 수도 없다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때에는 </a:t>
            </a:r>
            <a:r>
              <a:rPr lang="ko-KR" altLang="en-US" sz="1200" dirty="0">
                <a:solidFill>
                  <a:srgbClr val="FF0000"/>
                </a:solidFill>
              </a:rPr>
              <a:t>특허발명의 기술사상의 핵심이 침해제품 등에서 구현되어 있는지를 가지고 작용효과가 실질적으로 동일한지 여부를 판단할 수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균등 여부가 문제되는 구성요소의 개별적 기능이나 역할 등을 비교하여 판단</a:t>
            </a:r>
            <a:r>
              <a:rPr lang="ko-KR" altLang="en-US" sz="1200" dirty="0"/>
              <a:t>하여야 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2019. 1. 31.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2018</a:t>
            </a:r>
            <a:r>
              <a:rPr lang="ko-KR" altLang="en-US" sz="1200" dirty="0"/>
              <a:t>다</a:t>
            </a:r>
            <a:r>
              <a:rPr lang="en-US" altLang="ko-KR" sz="1200" dirty="0"/>
              <a:t>267252).</a:t>
            </a:r>
            <a:endParaRPr lang="ko-KR" altLang="en-US" sz="12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3A11580-544F-473D-B4EC-225920DB4670}"/>
              </a:ext>
            </a:extLst>
          </p:cNvPr>
          <p:cNvSpPr/>
          <p:nvPr/>
        </p:nvSpPr>
        <p:spPr>
          <a:xfrm>
            <a:off x="3635203" y="2387569"/>
            <a:ext cx="2073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chemeClr val="accent4"/>
                </a:solidFill>
              </a:rPr>
              <a:t>(invention as a whole)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B4823C7-4A4C-44E9-AF87-2422B4288820}"/>
              </a:ext>
            </a:extLst>
          </p:cNvPr>
          <p:cNvSpPr/>
          <p:nvPr/>
        </p:nvSpPr>
        <p:spPr>
          <a:xfrm>
            <a:off x="3635203" y="3422442"/>
            <a:ext cx="3930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chemeClr val="accent4"/>
                </a:solidFill>
              </a:rPr>
              <a:t>(invention as a whole vs individual element)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82D7359-F6BF-4E40-BF5F-E2DE35E324AB}"/>
              </a:ext>
            </a:extLst>
          </p:cNvPr>
          <p:cNvSpPr/>
          <p:nvPr/>
        </p:nvSpPr>
        <p:spPr>
          <a:xfrm>
            <a:off x="3635203" y="4491410"/>
            <a:ext cx="18822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chemeClr val="accent4"/>
                </a:solidFill>
              </a:rPr>
              <a:t>(individual element)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F8B0C3E-50A4-4AB9-9237-C60795F799B7}"/>
              </a:ext>
            </a:extLst>
          </p:cNvPr>
          <p:cNvSpPr/>
          <p:nvPr/>
        </p:nvSpPr>
        <p:spPr>
          <a:xfrm>
            <a:off x="3803684" y="1358161"/>
            <a:ext cx="975350" cy="307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구성</a:t>
            </a:r>
            <a:r>
              <a:rPr lang="en-US" altLang="ko-KR" sz="1400" dirty="0"/>
              <a:t>(</a:t>
            </a:r>
            <a:r>
              <a:rPr lang="ko-KR" altLang="en-US" sz="1400" dirty="0"/>
              <a:t>전체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0FC12A4-B9F1-403A-A91F-8F97EE13B7A8}"/>
              </a:ext>
            </a:extLst>
          </p:cNvPr>
          <p:cNvSpPr/>
          <p:nvPr/>
        </p:nvSpPr>
        <p:spPr>
          <a:xfrm>
            <a:off x="6441571" y="2510857"/>
            <a:ext cx="672861" cy="307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효과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B35C810-18CD-4DF9-9634-EE436F56A83A}"/>
              </a:ext>
            </a:extLst>
          </p:cNvPr>
          <p:cNvSpPr/>
          <p:nvPr/>
        </p:nvSpPr>
        <p:spPr>
          <a:xfrm>
            <a:off x="6196802" y="4075593"/>
            <a:ext cx="975350" cy="307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구성</a:t>
            </a:r>
            <a:r>
              <a:rPr lang="en-US" altLang="ko-KR" sz="1400" dirty="0"/>
              <a:t>(</a:t>
            </a:r>
            <a:r>
              <a:rPr lang="ko-KR" altLang="en-US" sz="1400" dirty="0"/>
              <a:t>요소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811D8-47BC-4476-8FD9-DA0465AB16D1}"/>
              </a:ext>
            </a:extLst>
          </p:cNvPr>
          <p:cNvSpPr txBox="1"/>
          <p:nvPr/>
        </p:nvSpPr>
        <p:spPr>
          <a:xfrm>
            <a:off x="2164066" y="4120395"/>
            <a:ext cx="1018227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특별사정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5313A93-F157-4D3A-9EB9-CFC43EC68B2F}"/>
              </a:ext>
            </a:extLst>
          </p:cNvPr>
          <p:cNvCxnSpPr>
            <a:stCxn id="11" idx="2"/>
            <a:endCxn id="8" idx="0"/>
          </p:cNvCxnSpPr>
          <p:nvPr/>
        </p:nvCxnSpPr>
        <p:spPr>
          <a:xfrm>
            <a:off x="2673180" y="4489727"/>
            <a:ext cx="0" cy="46566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B262A9-A66E-AA6F-BAE7-4AFB0D45A418}"/>
              </a:ext>
            </a:extLst>
          </p:cNvPr>
          <p:cNvSpPr txBox="1"/>
          <p:nvPr/>
        </p:nvSpPr>
        <p:spPr>
          <a:xfrm>
            <a:off x="7575549" y="5830258"/>
            <a:ext cx="1102286" cy="4308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기술사상의 핵심 </a:t>
            </a:r>
            <a:endParaRPr lang="en-US" altLang="ko-KR" sz="1100" dirty="0"/>
          </a:p>
          <a:p>
            <a:pPr algn="ctr"/>
            <a:r>
              <a:rPr lang="ko-KR" altLang="en-US" sz="1100" dirty="0"/>
              <a:t>공지여부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CDB05-2965-F675-39AC-25081255BB61}"/>
              </a:ext>
            </a:extLst>
          </p:cNvPr>
          <p:cNvSpPr txBox="1"/>
          <p:nvPr/>
        </p:nvSpPr>
        <p:spPr>
          <a:xfrm>
            <a:off x="9072655" y="5718808"/>
            <a:ext cx="289788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100" dirty="0">
                <a:highlight>
                  <a:srgbClr val="FFFF00"/>
                </a:highlight>
              </a:rPr>
              <a:t>(</a:t>
            </a:r>
            <a:r>
              <a:rPr lang="ko-KR" altLang="en-US" sz="1100" dirty="0">
                <a:highlight>
                  <a:srgbClr val="FFFF00"/>
                </a:highlight>
              </a:rPr>
              <a:t>발명 전체 판단</a:t>
            </a:r>
            <a:r>
              <a:rPr lang="en-US" altLang="ko-KR" sz="1100" dirty="0">
                <a:highlight>
                  <a:srgbClr val="FFFF00"/>
                </a:highlight>
              </a:rPr>
              <a:t>)</a:t>
            </a:r>
            <a:r>
              <a:rPr lang="en-US" altLang="ko-KR" sz="1100" dirty="0"/>
              <a:t> </a:t>
            </a:r>
            <a:r>
              <a:rPr lang="ko-KR" altLang="en-US" sz="1100" dirty="0"/>
              <a:t>실질적으로 작용 효과 동일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Yoon가변 윤명조 320_TT" panose="02020603020101020101" pitchFamily="18" charset="-127"/>
                <a:ea typeface="Yoon가변 윤명조 320_TT" panose="02020603020101020101" pitchFamily="18" charset="-127"/>
              </a:rPr>
              <a:t>○</a:t>
            </a:r>
            <a:endParaRPr lang="ko-KR" altLang="en-US" sz="1600" kern="0" spc="0" dirty="0">
              <a:solidFill>
                <a:srgbClr val="000000"/>
              </a:solidFill>
              <a:effectLst/>
              <a:latin typeface="Yoon가변 윤명조 320_TT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066D9A-A0FD-EF9C-2274-CFE2052C65E5}"/>
              </a:ext>
            </a:extLst>
          </p:cNvPr>
          <p:cNvSpPr txBox="1"/>
          <p:nvPr/>
        </p:nvSpPr>
        <p:spPr>
          <a:xfrm>
            <a:off x="9072655" y="6239153"/>
            <a:ext cx="2897886" cy="33855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100" dirty="0">
                <a:highlight>
                  <a:srgbClr val="00FFFF"/>
                </a:highlight>
              </a:rPr>
              <a:t>(</a:t>
            </a:r>
            <a:r>
              <a:rPr lang="ko-KR" altLang="en-US" sz="1100" dirty="0">
                <a:highlight>
                  <a:srgbClr val="00FFFF"/>
                </a:highlight>
              </a:rPr>
              <a:t>구성요소 판단</a:t>
            </a:r>
            <a:r>
              <a:rPr lang="en-US" altLang="ko-KR" sz="1100" dirty="0">
                <a:highlight>
                  <a:srgbClr val="00FFFF"/>
                </a:highlight>
              </a:rPr>
              <a:t>)</a:t>
            </a:r>
            <a:r>
              <a:rPr lang="en-US" altLang="ko-KR" sz="1100" dirty="0"/>
              <a:t> </a:t>
            </a:r>
            <a:r>
              <a:rPr lang="ko-KR" altLang="en-US" sz="1100" dirty="0"/>
              <a:t>실질적으로 작용 효과 동일</a:t>
            </a:r>
            <a:r>
              <a:rPr lang="ko-KR" altLang="en-US" sz="1100" kern="0" spc="0" dirty="0">
                <a:solidFill>
                  <a:srgbClr val="000000"/>
                </a:solidFill>
                <a:effectLst/>
                <a:latin typeface="Yoon가변 윤명조 320_TT" panose="02020603020101020101" pitchFamily="18" charset="-127"/>
                <a:ea typeface="Yoon가변 윤명조 320_TT" panose="02020603020101020101" pitchFamily="18" charset="-127"/>
              </a:rPr>
              <a:t>△</a:t>
            </a:r>
            <a:endParaRPr lang="ko-KR" altLang="en-US" sz="1100" dirty="0"/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27EAAEC2-3212-E612-F239-0780CA93C2F4}"/>
              </a:ext>
            </a:extLst>
          </p:cNvPr>
          <p:cNvCxnSpPr>
            <a:stCxn id="15" idx="3"/>
            <a:endCxn id="23" idx="1"/>
          </p:cNvCxnSpPr>
          <p:nvPr/>
        </p:nvCxnSpPr>
        <p:spPr>
          <a:xfrm flipV="1">
            <a:off x="8677835" y="5888085"/>
            <a:ext cx="394820" cy="15761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13FCA2C8-9F9A-9E46-12E4-21EF7730DB5F}"/>
              </a:ext>
            </a:extLst>
          </p:cNvPr>
          <p:cNvCxnSpPr>
            <a:stCxn id="15" idx="3"/>
            <a:endCxn id="25" idx="1"/>
          </p:cNvCxnSpPr>
          <p:nvPr/>
        </p:nvCxnSpPr>
        <p:spPr>
          <a:xfrm>
            <a:off x="8677835" y="6045702"/>
            <a:ext cx="394820" cy="3627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617BB38-F094-ADFD-5873-2A383F13337A}"/>
              </a:ext>
            </a:extLst>
          </p:cNvPr>
          <p:cNvSpPr txBox="1"/>
          <p:nvPr/>
        </p:nvSpPr>
        <p:spPr>
          <a:xfrm>
            <a:off x="8698587" y="5607494"/>
            <a:ext cx="49920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EB004C-338A-CAE9-0F95-521FAAF5BE5E}"/>
              </a:ext>
            </a:extLst>
          </p:cNvPr>
          <p:cNvSpPr txBox="1"/>
          <p:nvPr/>
        </p:nvSpPr>
        <p:spPr>
          <a:xfrm>
            <a:off x="8698587" y="6434863"/>
            <a:ext cx="49920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838329613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BD282-6DB4-4B29-8D7C-87A88930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D1676A-F890-42D2-B914-6CB0570ABE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과제의 해결원리가 동일할 것의 판단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E1D961-A774-4683-961E-C3264CBA0412}"/>
              </a:ext>
            </a:extLst>
          </p:cNvPr>
          <p:cNvSpPr/>
          <p:nvPr/>
        </p:nvSpPr>
        <p:spPr>
          <a:xfrm>
            <a:off x="4155412" y="1817344"/>
            <a:ext cx="2680815" cy="417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</a:rPr>
              <a:t> A + B + C</a:t>
            </a:r>
            <a:endParaRPr lang="ko-KR" alt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FF4077-9838-44C7-8132-C20BCA721794}"/>
              </a:ext>
            </a:extLst>
          </p:cNvPr>
          <p:cNvSpPr/>
          <p:nvPr/>
        </p:nvSpPr>
        <p:spPr>
          <a:xfrm>
            <a:off x="7803499" y="1817344"/>
            <a:ext cx="2892725" cy="417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</a:rPr>
              <a:t>A + B1 + C1</a:t>
            </a:r>
            <a:endParaRPr lang="ko-KR" alt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A5AF0B-42E6-4A26-8F53-332E019F4FBD}"/>
              </a:ext>
            </a:extLst>
          </p:cNvPr>
          <p:cNvSpPr/>
          <p:nvPr/>
        </p:nvSpPr>
        <p:spPr>
          <a:xfrm>
            <a:off x="6948366" y="1817344"/>
            <a:ext cx="855134" cy="4172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tx1"/>
                </a:solidFill>
              </a:rPr>
              <a:t>vs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408A2CE-4C6D-4243-B251-36D8988F3695}"/>
              </a:ext>
            </a:extLst>
          </p:cNvPr>
          <p:cNvSpPr/>
          <p:nvPr/>
        </p:nvSpPr>
        <p:spPr>
          <a:xfrm>
            <a:off x="1744276" y="2528895"/>
            <a:ext cx="2454518" cy="31410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accent4"/>
                </a:solidFill>
              </a:rPr>
              <a:t>invention as a whole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9ECF34-DED7-41AB-AB76-3751A825C3AB}"/>
              </a:ext>
            </a:extLst>
          </p:cNvPr>
          <p:cNvSpPr/>
          <p:nvPr/>
        </p:nvSpPr>
        <p:spPr>
          <a:xfrm>
            <a:off x="1744275" y="1140813"/>
            <a:ext cx="2454517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4"/>
                </a:solidFill>
              </a:rPr>
              <a:t>individual element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83E74E3-DD1D-4AC2-A54D-BFAFCDA5D677}"/>
              </a:ext>
            </a:extLst>
          </p:cNvPr>
          <p:cNvCxnSpPr>
            <a:cxnSpLocks/>
          </p:cNvCxnSpPr>
          <p:nvPr/>
        </p:nvCxnSpPr>
        <p:spPr>
          <a:xfrm>
            <a:off x="4519714" y="2271307"/>
            <a:ext cx="215660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E7CC2A-9447-4A57-9CF5-6190209237C2}"/>
              </a:ext>
            </a:extLst>
          </p:cNvPr>
          <p:cNvSpPr txBox="1"/>
          <p:nvPr/>
        </p:nvSpPr>
        <p:spPr>
          <a:xfrm>
            <a:off x="5036048" y="2696632"/>
            <a:ext cx="91723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ko-KR" altLang="en-US" sz="1200" dirty="0"/>
              <a:t>기술사상의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핵심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1EC78A5-3B92-414F-9823-3BD777B7C713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492905" y="2271307"/>
            <a:ext cx="1763" cy="42532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147C859-6B4F-4FB7-A877-3E0249D59457}"/>
              </a:ext>
            </a:extLst>
          </p:cNvPr>
          <p:cNvCxnSpPr>
            <a:cxnSpLocks/>
          </p:cNvCxnSpPr>
          <p:nvPr/>
        </p:nvCxnSpPr>
        <p:spPr>
          <a:xfrm>
            <a:off x="7978907" y="2271307"/>
            <a:ext cx="252753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31F2F42-A3C6-48D2-8D77-5775A27E13A4}"/>
              </a:ext>
            </a:extLst>
          </p:cNvPr>
          <p:cNvCxnSpPr>
            <a:cxnSpLocks/>
            <a:stCxn id="12" idx="3"/>
            <a:endCxn id="5" idx="2"/>
          </p:cNvCxnSpPr>
          <p:nvPr/>
        </p:nvCxnSpPr>
        <p:spPr>
          <a:xfrm flipV="1">
            <a:off x="5953287" y="2234627"/>
            <a:ext cx="3296575" cy="64667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9987812-0E30-4DEF-B422-EB0A66D8EA75}"/>
              </a:ext>
            </a:extLst>
          </p:cNvPr>
          <p:cNvSpPr txBox="1"/>
          <p:nvPr/>
        </p:nvSpPr>
        <p:spPr>
          <a:xfrm>
            <a:off x="5518553" y="2337313"/>
            <a:ext cx="125226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추출</a:t>
            </a:r>
            <a:r>
              <a:rPr lang="en-US" altLang="ko-KR" sz="1200" dirty="0">
                <a:highlight>
                  <a:srgbClr val="FFFF00"/>
                </a:highlight>
              </a:rPr>
              <a:t>(</a:t>
            </a:r>
            <a:r>
              <a:rPr lang="ko-KR" altLang="en-US" sz="1200" dirty="0">
                <a:highlight>
                  <a:srgbClr val="FFFF00"/>
                </a:highlight>
              </a:rPr>
              <a:t>상위개념화</a:t>
            </a:r>
            <a:r>
              <a:rPr lang="en-US" altLang="ko-KR" sz="1200" dirty="0">
                <a:highlight>
                  <a:srgbClr val="FFFF00"/>
                </a:highlight>
              </a:rPr>
              <a:t>)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A42830-3E99-468F-B1B6-8EFCCCFE670F}"/>
              </a:ext>
            </a:extLst>
          </p:cNvPr>
          <p:cNvSpPr txBox="1"/>
          <p:nvPr/>
        </p:nvSpPr>
        <p:spPr>
          <a:xfrm>
            <a:off x="7354048" y="2616865"/>
            <a:ext cx="537328" cy="23557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포함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9268BB5-3557-4C91-ADDF-9B4DE17C1AF0}"/>
              </a:ext>
            </a:extLst>
          </p:cNvPr>
          <p:cNvCxnSpPr/>
          <p:nvPr/>
        </p:nvCxnSpPr>
        <p:spPr>
          <a:xfrm>
            <a:off x="5382356" y="1761156"/>
            <a:ext cx="37626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CDA9FA2-0B67-4102-9CFD-E7A8CF59016D}"/>
              </a:ext>
            </a:extLst>
          </p:cNvPr>
          <p:cNvSpPr txBox="1"/>
          <p:nvPr/>
        </p:nvSpPr>
        <p:spPr>
          <a:xfrm>
            <a:off x="5111867" y="1236511"/>
            <a:ext cx="91723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tIns="0" bIns="0" rtlCol="0">
            <a:spAutoFit/>
          </a:bodyPr>
          <a:lstStyle/>
          <a:p>
            <a:pPr algn="ctr"/>
            <a:r>
              <a:rPr lang="ko-KR" altLang="en-US" sz="1200" dirty="0"/>
              <a:t>기술사상의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핵심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E7D4001-62D4-4343-A658-3BD47F984154}"/>
              </a:ext>
            </a:extLst>
          </p:cNvPr>
          <p:cNvCxnSpPr>
            <a:endCxn id="27" idx="2"/>
          </p:cNvCxnSpPr>
          <p:nvPr/>
        </p:nvCxnSpPr>
        <p:spPr>
          <a:xfrm flipV="1">
            <a:off x="5570486" y="1605843"/>
            <a:ext cx="1" cy="15531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F695AD41-0E97-4367-B90C-579C9C44D8E7}"/>
              </a:ext>
            </a:extLst>
          </p:cNvPr>
          <p:cNvCxnSpPr>
            <a:cxnSpLocks/>
            <a:stCxn id="27" idx="3"/>
            <a:endCxn id="35" idx="0"/>
          </p:cNvCxnSpPr>
          <p:nvPr/>
        </p:nvCxnSpPr>
        <p:spPr>
          <a:xfrm>
            <a:off x="6029106" y="1421177"/>
            <a:ext cx="3100199" cy="30813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EA96801-1BA0-468B-83AA-BDA74B785543}"/>
              </a:ext>
            </a:extLst>
          </p:cNvPr>
          <p:cNvCxnSpPr>
            <a:cxnSpLocks/>
          </p:cNvCxnSpPr>
          <p:nvPr/>
        </p:nvCxnSpPr>
        <p:spPr>
          <a:xfrm>
            <a:off x="8873598" y="1761156"/>
            <a:ext cx="5114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B3422E59-12D5-43FD-8C3B-529BD10AD35A}"/>
              </a:ext>
            </a:extLst>
          </p:cNvPr>
          <p:cNvSpPr/>
          <p:nvPr/>
        </p:nvSpPr>
        <p:spPr>
          <a:xfrm>
            <a:off x="9090486" y="1729308"/>
            <a:ext cx="77638" cy="6602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C6A6F77-FA95-435F-A3EB-93A95CBD55D7}"/>
              </a:ext>
            </a:extLst>
          </p:cNvPr>
          <p:cNvCxnSpPr/>
          <p:nvPr/>
        </p:nvCxnSpPr>
        <p:spPr>
          <a:xfrm>
            <a:off x="6228176" y="1761156"/>
            <a:ext cx="37626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6DA66D0-283F-4A44-A9CB-9BE8D5B3F2F7}"/>
              </a:ext>
            </a:extLst>
          </p:cNvPr>
          <p:cNvSpPr txBox="1"/>
          <p:nvPr/>
        </p:nvSpPr>
        <p:spPr>
          <a:xfrm>
            <a:off x="5977787" y="755868"/>
            <a:ext cx="91723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tIns="0" bIns="0" rtlCol="0">
            <a:spAutoFit/>
          </a:bodyPr>
          <a:lstStyle/>
          <a:p>
            <a:pPr algn="ctr"/>
            <a:r>
              <a:rPr lang="ko-KR" altLang="en-US" sz="1200" dirty="0"/>
              <a:t>기술사상의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핵심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D57C3E6-CCA4-4B82-A46F-C850CBCCACCB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6436407" y="1125200"/>
            <a:ext cx="0" cy="6359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9479122-1E98-445B-AB32-DEEC04D46CBB}"/>
              </a:ext>
            </a:extLst>
          </p:cNvPr>
          <p:cNvCxnSpPr>
            <a:cxnSpLocks/>
          </p:cNvCxnSpPr>
          <p:nvPr/>
        </p:nvCxnSpPr>
        <p:spPr>
          <a:xfrm>
            <a:off x="9956407" y="1761156"/>
            <a:ext cx="5114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DF71CCB4-8012-438E-B32B-A9ABDD81F93C}"/>
              </a:ext>
            </a:extLst>
          </p:cNvPr>
          <p:cNvSpPr/>
          <p:nvPr/>
        </p:nvSpPr>
        <p:spPr>
          <a:xfrm>
            <a:off x="10173295" y="1729308"/>
            <a:ext cx="77638" cy="6602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50898BEC-72BD-4AD3-8921-AA664A31C9FC}"/>
              </a:ext>
            </a:extLst>
          </p:cNvPr>
          <p:cNvCxnSpPr>
            <a:stCxn id="39" idx="3"/>
            <a:endCxn id="46" idx="0"/>
          </p:cNvCxnSpPr>
          <p:nvPr/>
        </p:nvCxnSpPr>
        <p:spPr>
          <a:xfrm>
            <a:off x="6895026" y="940534"/>
            <a:ext cx="3317088" cy="78877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FC9945D-72FE-4D84-BFDD-D1C9BB687117}"/>
              </a:ext>
            </a:extLst>
          </p:cNvPr>
          <p:cNvCxnSpPr/>
          <p:nvPr/>
        </p:nvCxnSpPr>
        <p:spPr>
          <a:xfrm>
            <a:off x="0" y="319296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74DA387-EDBF-4F26-9AE5-DE973B706671}"/>
              </a:ext>
            </a:extLst>
          </p:cNvPr>
          <p:cNvCxnSpPr>
            <a:cxnSpLocks/>
          </p:cNvCxnSpPr>
          <p:nvPr/>
        </p:nvCxnSpPr>
        <p:spPr>
          <a:xfrm>
            <a:off x="1547914" y="3857034"/>
            <a:ext cx="532278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FC94E9C-E199-4E10-ADE4-AD97B4127093}"/>
              </a:ext>
            </a:extLst>
          </p:cNvPr>
          <p:cNvSpPr txBox="1"/>
          <p:nvPr/>
        </p:nvSpPr>
        <p:spPr>
          <a:xfrm>
            <a:off x="742165" y="3566527"/>
            <a:ext cx="788999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사상</a:t>
            </a:r>
            <a:endParaRPr lang="en-US" altLang="ko-KR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추상적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5BADE8EA-CE74-424B-B21B-0DCF7BE2C9EF}"/>
              </a:ext>
            </a:extLst>
          </p:cNvPr>
          <p:cNvSpPr/>
          <p:nvPr/>
        </p:nvSpPr>
        <p:spPr>
          <a:xfrm>
            <a:off x="1563244" y="4616407"/>
            <a:ext cx="196254" cy="19618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</a:t>
            </a:r>
            <a:endParaRPr lang="ko-KR" alt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32CB8D89-24F9-4822-8504-A588EDDD5206}"/>
              </a:ext>
            </a:extLst>
          </p:cNvPr>
          <p:cNvSpPr/>
          <p:nvPr/>
        </p:nvSpPr>
        <p:spPr>
          <a:xfrm>
            <a:off x="3126181" y="4616407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CD8D8B6C-2FE5-4236-9325-00219CC37419}"/>
              </a:ext>
            </a:extLst>
          </p:cNvPr>
          <p:cNvSpPr/>
          <p:nvPr/>
        </p:nvSpPr>
        <p:spPr>
          <a:xfrm>
            <a:off x="3126181" y="4875097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4A8D9BC-2A52-4D0E-9F95-0BCA33430E05}"/>
              </a:ext>
            </a:extLst>
          </p:cNvPr>
          <p:cNvSpPr/>
          <p:nvPr/>
        </p:nvSpPr>
        <p:spPr>
          <a:xfrm>
            <a:off x="4676407" y="4616407"/>
            <a:ext cx="196254" cy="19618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  <a:endParaRPr lang="ko-KR" alt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44D52CF0-2570-4219-B143-4708639E68A8}"/>
              </a:ext>
            </a:extLst>
          </p:cNvPr>
          <p:cNvSpPr/>
          <p:nvPr/>
        </p:nvSpPr>
        <p:spPr>
          <a:xfrm>
            <a:off x="4676407" y="4875097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B8388A53-2351-42EA-ABF5-11CB52EF4D51}"/>
              </a:ext>
            </a:extLst>
          </p:cNvPr>
          <p:cNvSpPr/>
          <p:nvPr/>
        </p:nvSpPr>
        <p:spPr>
          <a:xfrm>
            <a:off x="6557091" y="4616407"/>
            <a:ext cx="196254" cy="19618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547E1B9-FD74-4D4F-9088-35124329E35E}"/>
              </a:ext>
            </a:extLst>
          </p:cNvPr>
          <p:cNvSpPr/>
          <p:nvPr/>
        </p:nvSpPr>
        <p:spPr>
          <a:xfrm>
            <a:off x="6557091" y="4875097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342947D0-770C-4A44-AAB6-E3EA72892A4D}"/>
              </a:ext>
            </a:extLst>
          </p:cNvPr>
          <p:cNvSpPr/>
          <p:nvPr/>
        </p:nvSpPr>
        <p:spPr>
          <a:xfrm>
            <a:off x="4676407" y="5136614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2C4C55E1-3907-42B8-AC2D-FB43510F62B5}"/>
              </a:ext>
            </a:extLst>
          </p:cNvPr>
          <p:cNvSpPr/>
          <p:nvPr/>
        </p:nvSpPr>
        <p:spPr>
          <a:xfrm>
            <a:off x="4676407" y="5402356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6523B457-ABB8-44EE-8F4A-E9C6BA6B466F}"/>
              </a:ext>
            </a:extLst>
          </p:cNvPr>
          <p:cNvSpPr/>
          <p:nvPr/>
        </p:nvSpPr>
        <p:spPr>
          <a:xfrm>
            <a:off x="6557091" y="5126736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3050AF93-90B6-469D-9D2F-0DDB8E050EBE}"/>
              </a:ext>
            </a:extLst>
          </p:cNvPr>
          <p:cNvSpPr/>
          <p:nvPr/>
        </p:nvSpPr>
        <p:spPr>
          <a:xfrm>
            <a:off x="6557091" y="5392477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B2C6A636-AA10-4265-A144-F22D32A14766}"/>
              </a:ext>
            </a:extLst>
          </p:cNvPr>
          <p:cNvSpPr/>
          <p:nvPr/>
        </p:nvSpPr>
        <p:spPr>
          <a:xfrm>
            <a:off x="6557091" y="5683244"/>
            <a:ext cx="196254" cy="19618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2F1FB8BD-6BF1-4839-A714-E7747B4BE477}"/>
              </a:ext>
            </a:extLst>
          </p:cNvPr>
          <p:cNvSpPr/>
          <p:nvPr/>
        </p:nvSpPr>
        <p:spPr>
          <a:xfrm>
            <a:off x="6557091" y="5941934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F6FAEE08-66A6-4C1E-A007-C007BA5700EF}"/>
              </a:ext>
            </a:extLst>
          </p:cNvPr>
          <p:cNvSpPr/>
          <p:nvPr/>
        </p:nvSpPr>
        <p:spPr>
          <a:xfrm>
            <a:off x="6557091" y="6193573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6977C56-CAFC-4021-9B55-EC2A96154239}"/>
              </a:ext>
            </a:extLst>
          </p:cNvPr>
          <p:cNvSpPr/>
          <p:nvPr/>
        </p:nvSpPr>
        <p:spPr>
          <a:xfrm>
            <a:off x="6557091" y="6459314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0DF74135-B6C0-4D1F-8986-ACE5D2D4CF55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1759498" y="4714502"/>
            <a:ext cx="1366683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EB0244E2-9CE3-4C4B-9FAF-2C821997E8FA}"/>
              </a:ext>
            </a:extLst>
          </p:cNvPr>
          <p:cNvCxnSpPr>
            <a:stCxn id="56" idx="6"/>
            <a:endCxn id="58" idx="2"/>
          </p:cNvCxnSpPr>
          <p:nvPr/>
        </p:nvCxnSpPr>
        <p:spPr>
          <a:xfrm>
            <a:off x="1759498" y="4714502"/>
            <a:ext cx="1366683" cy="2586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9CE93995-6832-4837-9C66-FD8EB25A6D0B}"/>
              </a:ext>
            </a:extLst>
          </p:cNvPr>
          <p:cNvCxnSpPr>
            <a:stCxn id="57" idx="6"/>
            <a:endCxn id="59" idx="2"/>
          </p:cNvCxnSpPr>
          <p:nvPr/>
        </p:nvCxnSpPr>
        <p:spPr>
          <a:xfrm>
            <a:off x="3322435" y="4714502"/>
            <a:ext cx="1353972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5238094A-6734-4526-852B-CBDC5737910E}"/>
              </a:ext>
            </a:extLst>
          </p:cNvPr>
          <p:cNvCxnSpPr>
            <a:stCxn id="57" idx="6"/>
            <a:endCxn id="60" idx="2"/>
          </p:cNvCxnSpPr>
          <p:nvPr/>
        </p:nvCxnSpPr>
        <p:spPr>
          <a:xfrm>
            <a:off x="3322435" y="4714502"/>
            <a:ext cx="1353972" cy="2586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2EC9A48B-51BC-442D-8D38-0D25A802EB1E}"/>
              </a:ext>
            </a:extLst>
          </p:cNvPr>
          <p:cNvCxnSpPr>
            <a:stCxn id="58" idx="6"/>
            <a:endCxn id="63" idx="2"/>
          </p:cNvCxnSpPr>
          <p:nvPr/>
        </p:nvCxnSpPr>
        <p:spPr>
          <a:xfrm>
            <a:off x="3322435" y="4973192"/>
            <a:ext cx="1353972" cy="261517"/>
          </a:xfrm>
          <a:prstGeom prst="bentConnector3">
            <a:avLst>
              <a:gd name="adj1" fmla="val 380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74B53530-52DE-488F-A85D-31E1AEE89162}"/>
              </a:ext>
            </a:extLst>
          </p:cNvPr>
          <p:cNvCxnSpPr>
            <a:stCxn id="58" idx="6"/>
            <a:endCxn id="64" idx="2"/>
          </p:cNvCxnSpPr>
          <p:nvPr/>
        </p:nvCxnSpPr>
        <p:spPr>
          <a:xfrm>
            <a:off x="3322435" y="4973192"/>
            <a:ext cx="1353972" cy="527259"/>
          </a:xfrm>
          <a:prstGeom prst="bentConnector3">
            <a:avLst>
              <a:gd name="adj1" fmla="val 380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E274B664-0BDD-4943-8A71-0EE3E319233D}"/>
              </a:ext>
            </a:extLst>
          </p:cNvPr>
          <p:cNvCxnSpPr>
            <a:stCxn id="59" idx="6"/>
            <a:endCxn id="61" idx="2"/>
          </p:cNvCxnSpPr>
          <p:nvPr/>
        </p:nvCxnSpPr>
        <p:spPr>
          <a:xfrm>
            <a:off x="4872661" y="4714502"/>
            <a:ext cx="1684430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93AF7F39-A803-40F5-B78C-F161878B4B31}"/>
              </a:ext>
            </a:extLst>
          </p:cNvPr>
          <p:cNvCxnSpPr>
            <a:stCxn id="59" idx="6"/>
            <a:endCxn id="62" idx="2"/>
          </p:cNvCxnSpPr>
          <p:nvPr/>
        </p:nvCxnSpPr>
        <p:spPr>
          <a:xfrm>
            <a:off x="4872661" y="4714502"/>
            <a:ext cx="1684430" cy="2586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C1A12389-238E-4BD1-9144-9FCDFA5EC1EB}"/>
              </a:ext>
            </a:extLst>
          </p:cNvPr>
          <p:cNvCxnSpPr>
            <a:stCxn id="60" idx="6"/>
            <a:endCxn id="65" idx="2"/>
          </p:cNvCxnSpPr>
          <p:nvPr/>
        </p:nvCxnSpPr>
        <p:spPr>
          <a:xfrm>
            <a:off x="4872661" y="4973192"/>
            <a:ext cx="1684430" cy="251639"/>
          </a:xfrm>
          <a:prstGeom prst="bentConnector3">
            <a:avLst>
              <a:gd name="adj1" fmla="val 4378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11F29B98-B61C-4964-A6D4-C48325C8F1F4}"/>
              </a:ext>
            </a:extLst>
          </p:cNvPr>
          <p:cNvCxnSpPr>
            <a:stCxn id="60" idx="6"/>
            <a:endCxn id="66" idx="2"/>
          </p:cNvCxnSpPr>
          <p:nvPr/>
        </p:nvCxnSpPr>
        <p:spPr>
          <a:xfrm>
            <a:off x="4872661" y="4973192"/>
            <a:ext cx="1684430" cy="517380"/>
          </a:xfrm>
          <a:prstGeom prst="bentConnector3">
            <a:avLst>
              <a:gd name="adj1" fmla="val 4378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BBF8E595-EE05-4460-9FE4-C2837310DB27}"/>
              </a:ext>
            </a:extLst>
          </p:cNvPr>
          <p:cNvCxnSpPr>
            <a:stCxn id="63" idx="6"/>
            <a:endCxn id="71" idx="2"/>
          </p:cNvCxnSpPr>
          <p:nvPr/>
        </p:nvCxnSpPr>
        <p:spPr>
          <a:xfrm>
            <a:off x="4872661" y="5234709"/>
            <a:ext cx="1684430" cy="546630"/>
          </a:xfrm>
          <a:prstGeom prst="bentConnector3">
            <a:avLst>
              <a:gd name="adj1" fmla="val 3416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D9D2B1D5-29B7-426F-8E0B-4E4E351B7F34}"/>
              </a:ext>
            </a:extLst>
          </p:cNvPr>
          <p:cNvCxnSpPr>
            <a:stCxn id="63" idx="6"/>
            <a:endCxn id="72" idx="2"/>
          </p:cNvCxnSpPr>
          <p:nvPr/>
        </p:nvCxnSpPr>
        <p:spPr>
          <a:xfrm>
            <a:off x="4872661" y="5234709"/>
            <a:ext cx="1684430" cy="805320"/>
          </a:xfrm>
          <a:prstGeom prst="bentConnector3">
            <a:avLst>
              <a:gd name="adj1" fmla="val 3416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3D85C5F6-C59C-4610-95B8-96EE2211683E}"/>
              </a:ext>
            </a:extLst>
          </p:cNvPr>
          <p:cNvCxnSpPr>
            <a:stCxn id="64" idx="6"/>
            <a:endCxn id="73" idx="2"/>
          </p:cNvCxnSpPr>
          <p:nvPr/>
        </p:nvCxnSpPr>
        <p:spPr>
          <a:xfrm>
            <a:off x="4872661" y="5500451"/>
            <a:ext cx="1684430" cy="791217"/>
          </a:xfrm>
          <a:prstGeom prst="bentConnector3">
            <a:avLst>
              <a:gd name="adj1" fmla="val 2466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6D93675A-17D6-44B9-9ED0-00F7C258DBD0}"/>
              </a:ext>
            </a:extLst>
          </p:cNvPr>
          <p:cNvCxnSpPr>
            <a:stCxn id="64" idx="6"/>
            <a:endCxn id="74" idx="2"/>
          </p:cNvCxnSpPr>
          <p:nvPr/>
        </p:nvCxnSpPr>
        <p:spPr>
          <a:xfrm>
            <a:off x="4872661" y="5500451"/>
            <a:ext cx="1684430" cy="1056958"/>
          </a:xfrm>
          <a:prstGeom prst="bentConnector3">
            <a:avLst>
              <a:gd name="adj1" fmla="val 2466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화살표: 왼쪽 115">
            <a:extLst>
              <a:ext uri="{FF2B5EF4-FFF2-40B4-BE49-F238E27FC236}">
                <a16:creationId xmlns:a16="http://schemas.microsoft.com/office/drawing/2014/main" id="{32829C73-F900-4751-8110-C07CC215C664}"/>
              </a:ext>
            </a:extLst>
          </p:cNvPr>
          <p:cNvSpPr/>
          <p:nvPr/>
        </p:nvSpPr>
        <p:spPr>
          <a:xfrm>
            <a:off x="1661371" y="3256300"/>
            <a:ext cx="5061428" cy="516944"/>
          </a:xfrm>
          <a:prstGeom prst="leftArrow">
            <a:avLst>
              <a:gd name="adj1" fmla="val 79481"/>
              <a:gd name="adj2" fmla="val 4263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내적 증거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명세서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大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화살표: 오른쪽 116">
            <a:extLst>
              <a:ext uri="{FF2B5EF4-FFF2-40B4-BE49-F238E27FC236}">
                <a16:creationId xmlns:a16="http://schemas.microsoft.com/office/drawing/2014/main" id="{C60943A4-928A-4F03-984D-6A5BA63AFBB1}"/>
              </a:ext>
            </a:extLst>
          </p:cNvPr>
          <p:cNvSpPr/>
          <p:nvPr/>
        </p:nvSpPr>
        <p:spPr>
          <a:xfrm>
            <a:off x="1661371" y="3920534"/>
            <a:ext cx="3069534" cy="586457"/>
          </a:xfrm>
          <a:prstGeom prst="rightArrow">
            <a:avLst>
              <a:gd name="adj1" fmla="val 80318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외적 증거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공지기술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小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EFC63E3-3886-4A20-8CF8-30AD7DD76538}"/>
              </a:ext>
            </a:extLst>
          </p:cNvPr>
          <p:cNvSpPr txBox="1"/>
          <p:nvPr/>
        </p:nvSpPr>
        <p:spPr>
          <a:xfrm>
            <a:off x="6945775" y="4485609"/>
            <a:ext cx="5068425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특허발명</a:t>
            </a:r>
            <a:r>
              <a:rPr lang="en-US" altLang="ko-KR" sz="1600" dirty="0">
                <a:solidFill>
                  <a:srgbClr val="FF0000"/>
                </a:solidFill>
              </a:rPr>
              <a:t>(3)</a:t>
            </a:r>
            <a:r>
              <a:rPr lang="ko-KR" altLang="en-US" sz="1600" dirty="0">
                <a:solidFill>
                  <a:srgbClr val="FF0000"/>
                </a:solidFill>
              </a:rPr>
              <a:t>의 기술사상의 핵심이 </a:t>
            </a:r>
            <a:r>
              <a:rPr lang="en-US" altLang="ko-KR" sz="1600" dirty="0">
                <a:solidFill>
                  <a:srgbClr val="FF0000"/>
                </a:solidFill>
              </a:rPr>
              <a:t>1</a:t>
            </a:r>
            <a:r>
              <a:rPr lang="ko-KR" altLang="en-US" sz="1600" dirty="0">
                <a:solidFill>
                  <a:srgbClr val="FF0000"/>
                </a:solidFill>
              </a:rPr>
              <a:t>번으로 파악되는 경우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ko-KR" altLang="en-US" sz="1600" dirty="0">
                <a:solidFill>
                  <a:srgbClr val="FF0000"/>
                </a:solidFill>
              </a:rPr>
              <a:t>피고제품</a:t>
            </a:r>
            <a:r>
              <a:rPr lang="en-US" altLang="ko-KR" sz="1600" dirty="0">
                <a:solidFill>
                  <a:srgbClr val="FF0000"/>
                </a:solidFill>
              </a:rPr>
              <a:t>(4)</a:t>
            </a:r>
            <a:r>
              <a:rPr lang="ko-KR" altLang="en-US" sz="1600" dirty="0">
                <a:solidFill>
                  <a:srgbClr val="FF0000"/>
                </a:solidFill>
              </a:rPr>
              <a:t>은 과제의 해결원리가 동일한 반면</a:t>
            </a:r>
            <a:r>
              <a:rPr lang="en-US" altLang="ko-KR" sz="1600" dirty="0">
                <a:solidFill>
                  <a:srgbClr val="FF0000"/>
                </a:solidFill>
              </a:rPr>
              <a:t>,</a:t>
            </a:r>
          </a:p>
          <a:p>
            <a:r>
              <a:rPr lang="ko-KR" altLang="en-US" sz="1600" dirty="0">
                <a:solidFill>
                  <a:srgbClr val="FF0000"/>
                </a:solidFill>
              </a:rPr>
              <a:t>특허발명</a:t>
            </a:r>
            <a:r>
              <a:rPr lang="en-US" altLang="ko-KR" sz="1600" dirty="0">
                <a:solidFill>
                  <a:srgbClr val="FF0000"/>
                </a:solidFill>
              </a:rPr>
              <a:t>(3)</a:t>
            </a:r>
            <a:r>
              <a:rPr lang="ko-KR" altLang="en-US" sz="1600" dirty="0">
                <a:solidFill>
                  <a:srgbClr val="FF0000"/>
                </a:solidFill>
              </a:rPr>
              <a:t>의 기술사항의 핵심이 </a:t>
            </a:r>
            <a:r>
              <a:rPr lang="en-US" altLang="ko-KR" sz="1600" dirty="0">
                <a:solidFill>
                  <a:srgbClr val="FF0000"/>
                </a:solidFill>
              </a:rPr>
              <a:t>2</a:t>
            </a:r>
            <a:r>
              <a:rPr lang="ko-KR" altLang="en-US" sz="1600" dirty="0">
                <a:solidFill>
                  <a:srgbClr val="FF0000"/>
                </a:solidFill>
              </a:rPr>
              <a:t>번으로 파악되는 경우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ko-KR" altLang="en-US" sz="1600" dirty="0">
                <a:solidFill>
                  <a:srgbClr val="FF0000"/>
                </a:solidFill>
              </a:rPr>
              <a:t>피고제품</a:t>
            </a:r>
            <a:r>
              <a:rPr lang="en-US" altLang="ko-KR" sz="1600" dirty="0">
                <a:solidFill>
                  <a:srgbClr val="FF0000"/>
                </a:solidFill>
              </a:rPr>
              <a:t>(4)</a:t>
            </a:r>
            <a:r>
              <a:rPr lang="ko-KR" altLang="en-US" sz="1600" dirty="0">
                <a:solidFill>
                  <a:srgbClr val="FF0000"/>
                </a:solidFill>
              </a:rPr>
              <a:t>은 과제의 해결원리가 동일하지 않음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6995C1B-F1C5-4ECB-98D4-759118B5B60C}"/>
              </a:ext>
            </a:extLst>
          </p:cNvPr>
          <p:cNvSpPr txBox="1"/>
          <p:nvPr/>
        </p:nvSpPr>
        <p:spPr>
          <a:xfrm>
            <a:off x="563766" y="5637369"/>
            <a:ext cx="1581103" cy="681038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기술사상의 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핵심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2DCF0-A9C6-4EBC-822D-6BA290267E2F}"/>
              </a:ext>
            </a:extLst>
          </p:cNvPr>
          <p:cNvSpPr txBox="1"/>
          <p:nvPr/>
        </p:nvSpPr>
        <p:spPr>
          <a:xfrm>
            <a:off x="6887450" y="3566527"/>
            <a:ext cx="788999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기술</a:t>
            </a:r>
            <a:endParaRPr lang="en-US" altLang="ko-KR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구체적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AA8DC480-8980-987E-67FA-5B37658F2BD9}"/>
              </a:ext>
            </a:extLst>
          </p:cNvPr>
          <p:cNvSpPr txBox="1">
            <a:spLocks/>
          </p:cNvSpPr>
          <p:nvPr/>
        </p:nvSpPr>
        <p:spPr>
          <a:xfrm>
            <a:off x="11125200" y="0"/>
            <a:ext cx="1066800" cy="7445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3600" b="1" kern="1200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75FC6C-1516-4DC4-8C58-3090F7D4F003}" type="slidenum">
              <a:rPr lang="ko-KR" altLang="en-US" smtClean="0"/>
              <a:pPr/>
              <a:t>334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02793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_x440835080" descr="EMB000042081dc3">
            <a:extLst>
              <a:ext uri="{FF2B5EF4-FFF2-40B4-BE49-F238E27FC236}">
                <a16:creationId xmlns:a16="http://schemas.microsoft.com/office/drawing/2014/main" id="{312419BF-16C0-48E9-8FDC-33538105A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24" y="4289969"/>
            <a:ext cx="2211388" cy="21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균등론</a:t>
            </a:r>
            <a:r>
              <a:rPr lang="ko-KR" altLang="en-US" dirty="0"/>
              <a:t> 적용 </a:t>
            </a:r>
            <a:r>
              <a:rPr lang="en-US" altLang="ko-KR" dirty="0"/>
              <a:t>CASE: </a:t>
            </a:r>
            <a:r>
              <a:rPr lang="en-US" altLang="ko-KR" sz="2000" dirty="0"/>
              <a:t>1</a:t>
            </a:r>
            <a:r>
              <a:rPr lang="ko-KR" altLang="en-US" sz="2000" dirty="0"/>
              <a:t>차 </a:t>
            </a:r>
            <a:r>
              <a:rPr lang="ko-KR" altLang="en-US" sz="2000" dirty="0" err="1"/>
              <a:t>구이김</a:t>
            </a:r>
            <a:r>
              <a:rPr lang="ko-KR" altLang="en-US" sz="2000" dirty="0"/>
              <a:t> 절단 및 수납장치 사건</a:t>
            </a:r>
            <a:r>
              <a:rPr lang="en-US" altLang="ko-KR" sz="2000" dirty="0"/>
              <a:t>(2013</a:t>
            </a:r>
            <a:r>
              <a:rPr lang="ko-KR" altLang="en-US" sz="2000" dirty="0"/>
              <a:t>다</a:t>
            </a:r>
            <a:r>
              <a:rPr lang="en-US" altLang="ko-KR" sz="2000" dirty="0"/>
              <a:t>14361)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335</a:t>
            </a:fld>
            <a:endParaRPr lang="ko-KR" altLang="en-US"/>
          </a:p>
        </p:txBody>
      </p:sp>
      <p:sp>
        <p:nvSpPr>
          <p:cNvPr id="20" name="모서리가 둥근 직사각형 30">
            <a:extLst>
              <a:ext uri="{FF2B5EF4-FFF2-40B4-BE49-F238E27FC236}">
                <a16:creationId xmlns:a16="http://schemas.microsoft.com/office/drawing/2014/main" id="{AE73B341-45E3-4DD9-96F6-7EE2630C588C}"/>
              </a:ext>
            </a:extLst>
          </p:cNvPr>
          <p:cNvSpPr/>
          <p:nvPr/>
        </p:nvSpPr>
        <p:spPr>
          <a:xfrm>
            <a:off x="314368" y="1044214"/>
            <a:ext cx="1517032" cy="2721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특허발명</a:t>
            </a:r>
          </a:p>
        </p:txBody>
      </p:sp>
      <p:pic>
        <p:nvPicPr>
          <p:cNvPr id="1031" name="_x440831160" descr="EMB000042081dc1">
            <a:extLst>
              <a:ext uri="{FF2B5EF4-FFF2-40B4-BE49-F238E27FC236}">
                <a16:creationId xmlns:a16="http://schemas.microsoft.com/office/drawing/2014/main" id="{7E6C97A2-4B4E-4896-A8BC-799E6A910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24" y="1494881"/>
            <a:ext cx="2211388" cy="159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_x440832840" descr="EMB000042081dc2">
            <a:extLst>
              <a:ext uri="{FF2B5EF4-FFF2-40B4-BE49-F238E27FC236}">
                <a16:creationId xmlns:a16="http://schemas.microsoft.com/office/drawing/2014/main" id="{5247787C-231F-4C5B-A4C0-D60A43928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100" y="1820156"/>
            <a:ext cx="2049212" cy="159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모서리가 둥근 직사각형 30">
            <a:extLst>
              <a:ext uri="{FF2B5EF4-FFF2-40B4-BE49-F238E27FC236}">
                <a16:creationId xmlns:a16="http://schemas.microsoft.com/office/drawing/2014/main" id="{AF28E306-26BA-45B7-B2FF-6B6D1C271F73}"/>
              </a:ext>
            </a:extLst>
          </p:cNvPr>
          <p:cNvSpPr/>
          <p:nvPr/>
        </p:nvSpPr>
        <p:spPr>
          <a:xfrm>
            <a:off x="314368" y="3769270"/>
            <a:ext cx="1517032" cy="2721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확인대상발명</a:t>
            </a:r>
          </a:p>
        </p:txBody>
      </p:sp>
      <p:pic>
        <p:nvPicPr>
          <p:cNvPr id="1035" name="_x440834200" descr="EMB000042081dc4">
            <a:extLst>
              <a:ext uri="{FF2B5EF4-FFF2-40B4-BE49-F238E27FC236}">
                <a16:creationId xmlns:a16="http://schemas.microsoft.com/office/drawing/2014/main" id="{FDC095B2-F3C2-44F5-9706-6697938B6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011" y="4289969"/>
            <a:ext cx="2574759" cy="249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F7009E-FDE0-40EE-89F3-A9D6CD905823}"/>
              </a:ext>
            </a:extLst>
          </p:cNvPr>
          <p:cNvCxnSpPr/>
          <p:nvPr/>
        </p:nvCxnSpPr>
        <p:spPr>
          <a:xfrm>
            <a:off x="4671400" y="923109"/>
            <a:ext cx="0" cy="586583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5F8453-A1B9-495D-9A85-4B8F610FAD7C}"/>
              </a:ext>
            </a:extLst>
          </p:cNvPr>
          <p:cNvSpPr/>
          <p:nvPr/>
        </p:nvSpPr>
        <p:spPr>
          <a:xfrm>
            <a:off x="4752489" y="914400"/>
            <a:ext cx="7190885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(1) </a:t>
            </a:r>
            <a:r>
              <a:rPr lang="ko-KR" altLang="en-US" sz="1200" dirty="0"/>
              <a:t>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 중 원심 판시 구성 </a:t>
            </a:r>
            <a:r>
              <a:rPr lang="en-US" altLang="ko-KR" sz="1200" dirty="0"/>
              <a:t>7</a:t>
            </a:r>
            <a:r>
              <a:rPr lang="ko-KR" altLang="en-US" sz="1200" dirty="0"/>
              <a:t>은 ‘</a:t>
            </a:r>
            <a:r>
              <a:rPr lang="ko-KR" altLang="en-US" sz="1200" dirty="0">
                <a:solidFill>
                  <a:srgbClr val="FF0000"/>
                </a:solidFill>
              </a:rPr>
              <a:t>가이드케이스의 하부에 고정 배치되고 아래로 갈수록 그 두께가 선형적으로 넓어지는 격자형의 </a:t>
            </a:r>
            <a:r>
              <a:rPr lang="ko-KR" altLang="en-US" sz="1200" dirty="0" err="1">
                <a:solidFill>
                  <a:srgbClr val="FF0000"/>
                </a:solidFill>
              </a:rPr>
              <a:t>절단날</a:t>
            </a:r>
            <a:r>
              <a:rPr lang="en-US" altLang="ko-KR" sz="1200" dirty="0">
                <a:solidFill>
                  <a:srgbClr val="FF0000"/>
                </a:solidFill>
              </a:rPr>
              <a:t>(80)</a:t>
            </a:r>
            <a:r>
              <a:rPr lang="en-US" altLang="ko-KR" sz="1200" dirty="0"/>
              <a:t>’</a:t>
            </a:r>
            <a:r>
              <a:rPr lang="ko-KR" altLang="en-US" sz="1200" dirty="0"/>
              <a:t>로서</a:t>
            </a:r>
            <a:r>
              <a:rPr lang="en-US" altLang="ko-KR" sz="1200" dirty="0"/>
              <a:t>, </a:t>
            </a:r>
            <a:r>
              <a:rPr lang="ko-KR" altLang="en-US" sz="1200" dirty="0"/>
              <a:t>이는 가이드케이스의 하부에 고정 배치되고 아래로 갈수록 그 두께가 선형적으로 넓어지는 ‘격자형 </a:t>
            </a:r>
            <a:r>
              <a:rPr lang="ko-KR" altLang="en-US" sz="1200" dirty="0" err="1"/>
              <a:t>부재’와</a:t>
            </a:r>
            <a:r>
              <a:rPr lang="ko-KR" altLang="en-US" sz="1200" dirty="0"/>
              <a:t> 그러한 격자형 부재와 같은 위치에 고정 배치되는 ‘격자형 </a:t>
            </a:r>
            <a:r>
              <a:rPr lang="ko-KR" altLang="en-US" sz="1200" dirty="0" err="1"/>
              <a:t>칼날’이</a:t>
            </a:r>
            <a:r>
              <a:rPr lang="ko-KR" altLang="en-US" sz="1200" dirty="0"/>
              <a:t> 일체로 형성된 것이다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(2) </a:t>
            </a:r>
            <a:r>
              <a:rPr lang="ko-KR" altLang="en-US" sz="1200" dirty="0"/>
              <a:t>그런데 피고 실시제품은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‘격자형 부재’ 구성처럼 </a:t>
            </a:r>
            <a:r>
              <a:rPr lang="ko-KR" altLang="en-US" sz="1200" dirty="0">
                <a:solidFill>
                  <a:srgbClr val="FF0000"/>
                </a:solidFill>
              </a:rPr>
              <a:t>가이드케이스의 하부에 고정 배치되고 아래로 갈수록 그 두께가 선형적으로 넓어지는 경사면을 구비한 ‘격자형 박스</a:t>
            </a:r>
            <a:r>
              <a:rPr lang="en-US" altLang="ko-KR" sz="1200" dirty="0">
                <a:solidFill>
                  <a:srgbClr val="FF0000"/>
                </a:solidFill>
              </a:rPr>
              <a:t>(185)</a:t>
            </a:r>
            <a:r>
              <a:rPr lang="en-US" altLang="ko-KR" sz="1200" dirty="0"/>
              <a:t>’ </a:t>
            </a:r>
            <a:r>
              <a:rPr lang="ko-KR" altLang="en-US" sz="1200" dirty="0"/>
              <a:t>구성을 그대로 가지되</a:t>
            </a:r>
            <a:r>
              <a:rPr lang="en-US" altLang="ko-KR" sz="1200" dirty="0"/>
              <a:t>, </a:t>
            </a:r>
            <a:r>
              <a:rPr lang="ko-KR" altLang="en-US" sz="1200" dirty="0"/>
              <a:t>다만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</a:t>
            </a:r>
            <a:r>
              <a:rPr lang="ko-KR" altLang="en-US" sz="1200" dirty="0">
                <a:solidFill>
                  <a:srgbClr val="FF0000"/>
                </a:solidFill>
              </a:rPr>
              <a:t>발명의 ‘격자형 </a:t>
            </a:r>
            <a:r>
              <a:rPr lang="ko-KR" altLang="en-US" sz="1200" dirty="0" err="1">
                <a:solidFill>
                  <a:srgbClr val="FF0000"/>
                </a:solidFill>
              </a:rPr>
              <a:t>칼날’구성을</a:t>
            </a:r>
            <a:r>
              <a:rPr lang="ko-KR" altLang="en-US" sz="1200" dirty="0">
                <a:solidFill>
                  <a:srgbClr val="FF0000"/>
                </a:solidFill>
              </a:rPr>
              <a:t> 상하로 이동되는 절단용 실린더에 연동하고 각 </a:t>
            </a:r>
            <a:r>
              <a:rPr lang="ko-KR" altLang="en-US" sz="1200" dirty="0" err="1">
                <a:solidFill>
                  <a:srgbClr val="FF0000"/>
                </a:solidFill>
              </a:rPr>
              <a:t>가압절판에</a:t>
            </a:r>
            <a:r>
              <a:rPr lang="ko-KR" altLang="en-US" sz="1200" dirty="0">
                <a:solidFill>
                  <a:srgbClr val="FF0000"/>
                </a:solidFill>
              </a:rPr>
              <a:t> 인접하여 수직으로 형성되는 ‘격자형 </a:t>
            </a:r>
            <a:r>
              <a:rPr lang="ko-KR" altLang="en-US" sz="1200" dirty="0" err="1">
                <a:solidFill>
                  <a:srgbClr val="FF0000"/>
                </a:solidFill>
              </a:rPr>
              <a:t>절단날</a:t>
            </a:r>
            <a:r>
              <a:rPr lang="en-US" altLang="ko-KR" sz="1200" dirty="0">
                <a:solidFill>
                  <a:srgbClr val="FF0000"/>
                </a:solidFill>
              </a:rPr>
              <a:t>(180)</a:t>
            </a:r>
            <a:r>
              <a:rPr lang="en-US" altLang="ko-KR" sz="1200" dirty="0"/>
              <a:t>’ </a:t>
            </a:r>
            <a:r>
              <a:rPr lang="ko-KR" altLang="en-US" sz="1200" dirty="0"/>
              <a:t>구성으로 변경한 것이다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(3) </a:t>
            </a:r>
            <a:r>
              <a:rPr lang="ko-KR" altLang="en-US" sz="1200" dirty="0"/>
              <a:t>따라서</a:t>
            </a:r>
            <a:r>
              <a:rPr lang="en-US" altLang="ko-KR" sz="1200" dirty="0"/>
              <a:t>, ‘</a:t>
            </a:r>
            <a:r>
              <a:rPr lang="ko-KR" altLang="en-US" sz="1200" dirty="0"/>
              <a:t>격자형 </a:t>
            </a:r>
            <a:r>
              <a:rPr lang="ko-KR" altLang="en-US" sz="1200" dirty="0" err="1"/>
              <a:t>부재’와</a:t>
            </a:r>
            <a:r>
              <a:rPr lang="ko-KR" altLang="en-US" sz="1200" dirty="0"/>
              <a:t> 일체로 형성되어 가이드케이스의 하부에 고정 배치되는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‘격자형 </a:t>
            </a:r>
            <a:r>
              <a:rPr lang="ko-KR" altLang="en-US" sz="1200" dirty="0" err="1"/>
              <a:t>칼날’과</a:t>
            </a:r>
            <a:r>
              <a:rPr lang="ko-KR" altLang="en-US" sz="1200" dirty="0"/>
              <a:t> 달리</a:t>
            </a:r>
            <a:r>
              <a:rPr lang="en-US" altLang="ko-KR" sz="1200" dirty="0"/>
              <a:t>, </a:t>
            </a:r>
            <a:r>
              <a:rPr lang="ko-KR" altLang="en-US" sz="1200" dirty="0"/>
              <a:t>피고 실시제품은 ‘격자형 </a:t>
            </a:r>
            <a:r>
              <a:rPr lang="ko-KR" altLang="en-US" sz="1200" dirty="0" err="1"/>
              <a:t>절단날’이</a:t>
            </a:r>
            <a:r>
              <a:rPr lang="ko-KR" altLang="en-US" sz="1200" dirty="0"/>
              <a:t> ‘</a:t>
            </a:r>
            <a:r>
              <a:rPr lang="ko-KR" altLang="en-US" sz="1200" dirty="0" err="1"/>
              <a:t>격자형박스’와</a:t>
            </a:r>
            <a:r>
              <a:rPr lang="ko-KR" altLang="en-US" sz="1200" dirty="0"/>
              <a:t> 분리되어 상하로 이동되도록 가이드케이스의 위쪽에 별도로 배치되는 점에서 차이가 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en-US" altLang="ko-KR" sz="1200" dirty="0"/>
              <a:t>(4) ‘</a:t>
            </a:r>
            <a:r>
              <a:rPr lang="ko-KR" altLang="en-US" sz="1200" dirty="0"/>
              <a:t>종래에는 포장용기들의 각 수납공간 사이의 간격만큼 절단된 각각의 적층 김들의 사이를 벌려 놓는 구조를 제시하지 못했지만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위 적층 김들을 누르는 </a:t>
            </a:r>
            <a:r>
              <a:rPr lang="ko-KR" altLang="en-US" sz="1200" dirty="0" err="1">
                <a:solidFill>
                  <a:srgbClr val="FF0000"/>
                </a:solidFill>
              </a:rPr>
              <a:t>가압절판들이</a:t>
            </a:r>
            <a:r>
              <a:rPr lang="ko-KR" altLang="en-US" sz="1200" dirty="0">
                <a:solidFill>
                  <a:srgbClr val="FF0000"/>
                </a:solidFill>
              </a:rPr>
              <a:t> 격자형 절단날의 외측 경사면을 따라 서로 사이가 벌어지도록 유도함으로써 수납공정까지 자동화할 수 있다</a:t>
            </a:r>
            <a:r>
              <a:rPr lang="ko-KR" altLang="en-US" sz="1200" dirty="0"/>
              <a:t>’는 취지가 이 사건 특허발명의 명세서에 기재되어 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(5) </a:t>
            </a:r>
            <a:r>
              <a:rPr lang="ko-KR" altLang="en-US" sz="1200" dirty="0"/>
              <a:t>이러한 명세서의 기재와 출원 당시 공지기술 등을 종합하여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발명에 </a:t>
            </a:r>
            <a:r>
              <a:rPr lang="ko-KR" altLang="en-US" sz="1200" dirty="0">
                <a:solidFill>
                  <a:srgbClr val="FF0000"/>
                </a:solidFill>
              </a:rPr>
              <a:t>특유한 해결수단이 기초하고 있는 기술사상의 핵심은 ‘절단된 각각의 적층 김들이 하강하면서 가이드케이스의 하부에 고정 배치되는 격자형 부재의 외측 경사면을 따라 서로 사이가 벌어지도록 </a:t>
            </a:r>
            <a:r>
              <a:rPr lang="ko-KR" altLang="en-US" sz="1200" dirty="0" err="1">
                <a:solidFill>
                  <a:srgbClr val="FF0000"/>
                </a:solidFill>
              </a:rPr>
              <a:t>유도</a:t>
            </a:r>
            <a:r>
              <a:rPr lang="ko-KR" altLang="en-US" sz="1200" dirty="0" err="1"/>
              <a:t>’하는</a:t>
            </a:r>
            <a:r>
              <a:rPr lang="ko-KR" altLang="en-US" sz="1200" dirty="0"/>
              <a:t> 데에 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그런데 피고 실시제품도 경사면을 구비한 ‘격자형 박스’ 구성에 의해 ‘절단된 각각의 적층 김들이 하강하면서 가이드케이스의 하부에 고정 배치되는 격자형 박스의 외측 경사면을 따라 서로 사이가 벌어지도록 </a:t>
            </a:r>
            <a:r>
              <a:rPr lang="ko-KR" altLang="en-US" sz="1200" dirty="0" err="1"/>
              <a:t>유도’할</a:t>
            </a:r>
            <a:r>
              <a:rPr lang="ko-KR" altLang="en-US" sz="1200" dirty="0"/>
              <a:t> 수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피고 실시제품은 위와 같은 구성의 변경에도 불구하고 해결수단이 기초하고 있는 기술사상의 핵심에서 이 사건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발명과 차이가 없으므로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과제의 해결원리가 동일하다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endParaRPr lang="en-US" altLang="ko-KR" sz="1200" dirty="0"/>
          </a:p>
          <a:p>
            <a:r>
              <a:rPr lang="en-US" altLang="ko-KR" sz="1200" dirty="0"/>
              <a:t>(6) </a:t>
            </a:r>
            <a:r>
              <a:rPr lang="ko-KR" altLang="en-US" sz="1200" dirty="0"/>
              <a:t>그리고 피고 실시제품은 위와 같은 구성의 변경에 의하더라도 ‘절단된 각각의 적층 김들이 포장용기 내에 정확히 위치하도록 사이를 벌려 놓아 </a:t>
            </a:r>
            <a:r>
              <a:rPr lang="ko-KR" altLang="en-US" sz="1200" dirty="0">
                <a:solidFill>
                  <a:srgbClr val="FF0000"/>
                </a:solidFill>
              </a:rPr>
              <a:t>수납공정까지 </a:t>
            </a:r>
            <a:r>
              <a:rPr lang="ko-KR" altLang="en-US" sz="1200" dirty="0" err="1">
                <a:solidFill>
                  <a:srgbClr val="FF0000"/>
                </a:solidFill>
              </a:rPr>
              <a:t>자동화</a:t>
            </a:r>
            <a:r>
              <a:rPr lang="ko-KR" altLang="en-US" sz="1200" dirty="0" err="1"/>
              <a:t>’한다는</a:t>
            </a:r>
            <a:r>
              <a:rPr lang="ko-KR" altLang="en-US" sz="1200" dirty="0"/>
              <a:t> 점에서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</a:t>
            </a:r>
            <a:r>
              <a:rPr lang="ko-KR" altLang="en-US" sz="1200" dirty="0" err="1"/>
              <a:t>발명에서와</a:t>
            </a:r>
            <a:r>
              <a:rPr lang="ko-KR" altLang="en-US" sz="1200" dirty="0"/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실질적으로 동일한 작용효과</a:t>
            </a:r>
            <a:r>
              <a:rPr lang="ko-KR" altLang="en-US" sz="1200" dirty="0"/>
              <a:t>를 나타낸다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(7) </a:t>
            </a:r>
            <a:r>
              <a:rPr lang="ko-KR" altLang="en-US" sz="1200" dirty="0"/>
              <a:t>나아가 피고 실시제품처럼 상부에 배치된 칼날이 상하 이동하면서 하부에 고정된 물체를 절단하도록 하는 것은 </a:t>
            </a:r>
            <a:r>
              <a:rPr lang="ko-KR" altLang="en-US" sz="1200" dirty="0">
                <a:solidFill>
                  <a:srgbClr val="FF0000"/>
                </a:solidFill>
              </a:rPr>
              <a:t>그 기술분야에서 관용적으로 채택되는 기술수단에 불과</a:t>
            </a:r>
            <a:r>
              <a:rPr lang="ko-KR" altLang="en-US" sz="1200" dirty="0"/>
              <a:t>하므로</a:t>
            </a:r>
            <a:r>
              <a:rPr lang="en-US" altLang="ko-KR" sz="1200" dirty="0"/>
              <a:t>, </a:t>
            </a:r>
            <a:r>
              <a:rPr lang="ko-KR" altLang="en-US" sz="1200" dirty="0"/>
              <a:t>통상의 기술자라면 누구나 쉽게 그와 같은 구성의 변경을 생각해 낼 수 있다고 볼 수 있다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(8) </a:t>
            </a:r>
            <a:r>
              <a:rPr lang="ko-KR" altLang="en-US" sz="1200" dirty="0"/>
              <a:t>비록 피고 실시제품에서 ‘격자형 </a:t>
            </a:r>
            <a:r>
              <a:rPr lang="ko-KR" altLang="en-US" sz="1200" dirty="0" err="1"/>
              <a:t>절단날’이</a:t>
            </a:r>
            <a:r>
              <a:rPr lang="ko-KR" altLang="en-US" sz="1200" dirty="0"/>
              <a:t> 상하로 이동하기 위해 구조가 다소 복잡해지고 ‘</a:t>
            </a:r>
            <a:r>
              <a:rPr lang="ko-KR" altLang="en-US" sz="1200" dirty="0" err="1"/>
              <a:t>가압절판’과의</a:t>
            </a:r>
            <a:r>
              <a:rPr lang="ko-KR" altLang="en-US" sz="1200" dirty="0"/>
              <a:t> 관계에서 구체적인 절단방식이 달라지는 등의 차이가 생긴다고 하더라도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이는 앞서 </a:t>
            </a:r>
            <a:r>
              <a:rPr lang="ko-KR" altLang="en-US" sz="1200" dirty="0">
                <a:solidFill>
                  <a:srgbClr val="FF0000"/>
                </a:solidFill>
              </a:rPr>
              <a:t>본 기술사상의 핵심과 관련 없는 관용적 기술수단을 채택함에 따른 부수적인 것에 불과</a:t>
            </a:r>
            <a:r>
              <a:rPr lang="ko-KR" altLang="en-US" sz="1200" dirty="0"/>
              <a:t>하다고 보이므로 이러한 차이를 들어 실질적인 작용효과에 차이가 있다고 볼 수 없다</a:t>
            </a:r>
            <a:r>
              <a:rPr lang="en-US" altLang="ko-KR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8794775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균등론</a:t>
            </a:r>
            <a:r>
              <a:rPr lang="ko-KR" altLang="en-US" dirty="0"/>
              <a:t> 적용 </a:t>
            </a:r>
            <a:r>
              <a:rPr lang="en-US" altLang="ko-KR" dirty="0"/>
              <a:t>CASE: </a:t>
            </a:r>
            <a:r>
              <a:rPr lang="en-US" altLang="ko-KR" sz="2000" dirty="0"/>
              <a:t>2</a:t>
            </a:r>
            <a:r>
              <a:rPr lang="ko-KR" altLang="en-US" sz="2000" dirty="0"/>
              <a:t>차 </a:t>
            </a:r>
            <a:r>
              <a:rPr lang="ko-KR" altLang="en-US" sz="2000" dirty="0" err="1"/>
              <a:t>구이김</a:t>
            </a:r>
            <a:r>
              <a:rPr lang="ko-KR" altLang="en-US" sz="2000" dirty="0"/>
              <a:t> 절단 및 수납장치 사건</a:t>
            </a:r>
            <a:r>
              <a:rPr lang="en-US" altLang="ko-KR" sz="2000" dirty="0"/>
              <a:t>(2016</a:t>
            </a:r>
            <a:r>
              <a:rPr lang="ko-KR" altLang="en-US" sz="2000" dirty="0"/>
              <a:t>마</a:t>
            </a:r>
            <a:r>
              <a:rPr lang="en-US" altLang="ko-KR" sz="2000" dirty="0"/>
              <a:t>5698)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336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D5B99FE-2039-4829-9A1D-E1296B4A9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032093"/>
              </p:ext>
            </p:extLst>
          </p:nvPr>
        </p:nvGraphicFramePr>
        <p:xfrm>
          <a:off x="403224" y="1053779"/>
          <a:ext cx="11255376" cy="562927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68363">
                  <a:extLst>
                    <a:ext uri="{9D8B030D-6E8A-4147-A177-3AD203B41FA5}">
                      <a16:colId xmlns:a16="http://schemas.microsoft.com/office/drawing/2014/main" val="583779324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1953530234"/>
                    </a:ext>
                  </a:extLst>
                </a:gridCol>
                <a:gridCol w="7029450">
                  <a:extLst>
                    <a:ext uri="{9D8B030D-6E8A-4147-A177-3AD203B41FA5}">
                      <a16:colId xmlns:a16="http://schemas.microsoft.com/office/drawing/2014/main" val="3725399194"/>
                    </a:ext>
                  </a:extLst>
                </a:gridCol>
              </a:tblGrid>
              <a:tr h="555792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특허발명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확인대상발명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064409"/>
                  </a:ext>
                </a:extLst>
              </a:tr>
              <a:tr h="2536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구성</a:t>
                      </a:r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725918"/>
                  </a:ext>
                </a:extLst>
              </a:tr>
              <a:tr h="2536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구성</a:t>
                      </a:r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571486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F6DF429-CE5D-4E51-9FC2-2458D6DC4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99" y="4352470"/>
            <a:ext cx="3117676" cy="20483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EC61C0-530B-44FD-AA45-4E2CE7278A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0092"/>
          <a:stretch/>
        </p:blipFill>
        <p:spPr>
          <a:xfrm>
            <a:off x="6058257" y="4391441"/>
            <a:ext cx="4151851" cy="20483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D0A1A6-C28A-49E0-85AD-A4EB59A34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8533" y="1729579"/>
            <a:ext cx="2570548" cy="226703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FF595B7-11A6-4E47-9DCD-5BAA683B910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43"/>
          <a:stretch/>
        </p:blipFill>
        <p:spPr>
          <a:xfrm>
            <a:off x="4692449" y="1687621"/>
            <a:ext cx="2122689" cy="20483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6D8275E-60DB-45A2-8E65-90A6F0D8C0B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876" r="3083"/>
          <a:stretch/>
        </p:blipFill>
        <p:spPr>
          <a:xfrm>
            <a:off x="6900863" y="1792415"/>
            <a:ext cx="2243138" cy="20483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4F27013-58F5-4A0D-98B8-8E5CEA7A4E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5438" y="2004218"/>
            <a:ext cx="2433527" cy="171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93679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균등론</a:t>
            </a:r>
            <a:r>
              <a:rPr lang="ko-KR" altLang="en-US" dirty="0"/>
              <a:t> 적용 </a:t>
            </a:r>
            <a:r>
              <a:rPr lang="en-US" altLang="ko-KR" dirty="0"/>
              <a:t>CASE: </a:t>
            </a:r>
            <a:r>
              <a:rPr lang="en-US" altLang="ko-KR" sz="2000" dirty="0"/>
              <a:t>2</a:t>
            </a:r>
            <a:r>
              <a:rPr lang="ko-KR" altLang="en-US" sz="2000" dirty="0"/>
              <a:t>차 </a:t>
            </a:r>
            <a:r>
              <a:rPr lang="ko-KR" altLang="en-US" sz="2000" dirty="0" err="1"/>
              <a:t>구이김</a:t>
            </a:r>
            <a:r>
              <a:rPr lang="ko-KR" altLang="en-US" sz="2000" dirty="0"/>
              <a:t> 절단 및 수납장치 사건</a:t>
            </a:r>
            <a:r>
              <a:rPr lang="en-US" altLang="ko-KR" sz="2000" dirty="0"/>
              <a:t>(2016</a:t>
            </a:r>
            <a:r>
              <a:rPr lang="ko-KR" altLang="en-US" sz="2000" dirty="0"/>
              <a:t>마</a:t>
            </a:r>
            <a:r>
              <a:rPr lang="en-US" altLang="ko-KR" sz="2000" dirty="0"/>
              <a:t>5698)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337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E7F95F-8B51-4C72-BF92-D428868C8E17}"/>
              </a:ext>
            </a:extLst>
          </p:cNvPr>
          <p:cNvSpPr/>
          <p:nvPr/>
        </p:nvSpPr>
        <p:spPr>
          <a:xfrm>
            <a:off x="285749" y="914400"/>
            <a:ext cx="11657625" cy="614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50" b="1" dirty="0"/>
              <a:t>(1) </a:t>
            </a:r>
            <a:r>
              <a:rPr lang="ko-KR" altLang="en-US" sz="1150" b="1" dirty="0"/>
              <a:t>과제 해결원리의 동일성 여부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(invention as a whole)</a:t>
            </a:r>
            <a:endParaRPr lang="ko-KR" altLang="en-US" sz="115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가</a:t>
            </a:r>
            <a:r>
              <a:rPr lang="en-US" altLang="ko-KR" sz="1150" dirty="0"/>
              <a:t>) </a:t>
            </a:r>
            <a:r>
              <a:rPr lang="ko-KR" altLang="en-US" sz="1150" dirty="0"/>
              <a:t>채무자의 원심 판시 이 사건 실시제품에는 이 사건 특허발명의 청구범위 제</a:t>
            </a:r>
            <a:r>
              <a:rPr lang="en-US" altLang="ko-KR" sz="1150" dirty="0"/>
              <a:t>1</a:t>
            </a:r>
            <a:r>
              <a:rPr lang="ko-KR" altLang="en-US" sz="1150" dirty="0"/>
              <a:t>항</a:t>
            </a:r>
            <a:r>
              <a:rPr lang="en-US" altLang="ko-KR" sz="1150" dirty="0"/>
              <a:t>(</a:t>
            </a:r>
            <a:r>
              <a:rPr lang="ko-KR" altLang="en-US" sz="1150" dirty="0"/>
              <a:t>이하 ‘이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</a:t>
            </a:r>
            <a:r>
              <a:rPr lang="ko-KR" altLang="en-US" sz="1150" dirty="0" err="1"/>
              <a:t>발명’이라고</a:t>
            </a:r>
            <a:r>
              <a:rPr lang="ko-KR" altLang="en-US" sz="1150" dirty="0"/>
              <a:t> 한다</a:t>
            </a:r>
            <a:r>
              <a:rPr lang="en-US" altLang="ko-KR" sz="1150" dirty="0"/>
              <a:t>)</a:t>
            </a:r>
            <a:r>
              <a:rPr lang="ko-KR" altLang="en-US" sz="1150" dirty="0"/>
              <a:t>의 구성 </a:t>
            </a:r>
            <a:r>
              <a:rPr lang="en-US" altLang="ko-KR" sz="1150" dirty="0"/>
              <a:t>6</a:t>
            </a:r>
            <a:r>
              <a:rPr lang="ko-KR" altLang="en-US" sz="1150" dirty="0"/>
              <a:t>과 구성 </a:t>
            </a:r>
            <a:r>
              <a:rPr lang="en-US" altLang="ko-KR" sz="1150" dirty="0"/>
              <a:t>7</a:t>
            </a:r>
            <a:r>
              <a:rPr lang="ko-KR" altLang="en-US" sz="1150" dirty="0"/>
              <a:t>을 제외한 나머지 구성들인 ① 구성 </a:t>
            </a:r>
            <a:r>
              <a:rPr lang="en-US" altLang="ko-KR" sz="1150" dirty="0"/>
              <a:t>1(</a:t>
            </a:r>
            <a:r>
              <a:rPr lang="ko-KR" altLang="en-US" sz="1150" dirty="0"/>
              <a:t>프레임</a:t>
            </a:r>
            <a:r>
              <a:rPr lang="en-US" altLang="ko-KR" sz="1150" dirty="0"/>
              <a:t>), ② </a:t>
            </a:r>
            <a:r>
              <a:rPr lang="ko-KR" altLang="en-US" sz="1150" dirty="0"/>
              <a:t>구성 </a:t>
            </a:r>
            <a:r>
              <a:rPr lang="en-US" altLang="ko-KR" sz="1150" dirty="0"/>
              <a:t>2(</a:t>
            </a:r>
            <a:r>
              <a:rPr lang="ko-KR" altLang="en-US" sz="1150" dirty="0"/>
              <a:t>절단용 </a:t>
            </a:r>
            <a:r>
              <a:rPr lang="ko-KR" altLang="en-US" sz="1150" dirty="0" err="1"/>
              <a:t>실런더유닛</a:t>
            </a:r>
            <a:r>
              <a:rPr lang="en-US" altLang="ko-KR" sz="1150" dirty="0"/>
              <a:t>), ③ </a:t>
            </a:r>
            <a:r>
              <a:rPr lang="ko-KR" altLang="en-US" sz="1150" dirty="0"/>
              <a:t>구성 </a:t>
            </a:r>
            <a:r>
              <a:rPr lang="en-US" altLang="ko-KR" sz="1150" dirty="0"/>
              <a:t>3(</a:t>
            </a:r>
            <a:r>
              <a:rPr lang="ko-KR" altLang="en-US" sz="1150" dirty="0" err="1"/>
              <a:t>승강판</a:t>
            </a:r>
            <a:r>
              <a:rPr lang="en-US" altLang="ko-KR" sz="1150" dirty="0"/>
              <a:t>), ④ </a:t>
            </a:r>
            <a:r>
              <a:rPr lang="ko-KR" altLang="en-US" sz="1150" dirty="0"/>
              <a:t>구성 </a:t>
            </a:r>
            <a:r>
              <a:rPr lang="en-US" altLang="ko-KR" sz="1150" dirty="0"/>
              <a:t>4(</a:t>
            </a:r>
            <a:r>
              <a:rPr lang="ko-KR" altLang="en-US" sz="1150" dirty="0" err="1"/>
              <a:t>가압절판</a:t>
            </a:r>
            <a:r>
              <a:rPr lang="en-US" altLang="ko-KR" sz="1150" dirty="0"/>
              <a:t>), ⑤ </a:t>
            </a:r>
            <a:r>
              <a:rPr lang="ko-KR" altLang="en-US" sz="1150" dirty="0"/>
              <a:t>구성 </a:t>
            </a:r>
            <a:r>
              <a:rPr lang="en-US" altLang="ko-KR" sz="1150" dirty="0"/>
              <a:t>5(</a:t>
            </a:r>
            <a:r>
              <a:rPr lang="ko-KR" altLang="en-US" sz="1150" dirty="0" err="1"/>
              <a:t>가압봉</a:t>
            </a:r>
            <a:r>
              <a:rPr lang="en-US" altLang="ko-KR" sz="1150" dirty="0"/>
              <a:t>), ⑥ </a:t>
            </a:r>
            <a:r>
              <a:rPr lang="ko-KR" altLang="en-US" sz="1150" dirty="0"/>
              <a:t>구성 </a:t>
            </a:r>
            <a:r>
              <a:rPr lang="en-US" altLang="ko-KR" sz="1150" dirty="0"/>
              <a:t>8(</a:t>
            </a:r>
            <a:r>
              <a:rPr lang="ko-KR" altLang="en-US" sz="1150" dirty="0"/>
              <a:t>포장용기 </a:t>
            </a:r>
            <a:r>
              <a:rPr lang="ko-KR" altLang="en-US" sz="1150" dirty="0" err="1"/>
              <a:t>이송유닛</a:t>
            </a:r>
            <a:r>
              <a:rPr lang="en-US" altLang="ko-KR" sz="1150" dirty="0"/>
              <a:t>)</a:t>
            </a:r>
            <a:r>
              <a:rPr lang="ko-KR" altLang="en-US" sz="1150" dirty="0"/>
              <a:t>과 동일한 구성들이 포함되어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나</a:t>
            </a:r>
            <a:r>
              <a:rPr lang="en-US" altLang="ko-KR" sz="1150" dirty="0"/>
              <a:t>) </a:t>
            </a:r>
            <a:r>
              <a:rPr lang="ko-KR" altLang="en-US" sz="1150" dirty="0"/>
              <a:t>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발명의 구성 </a:t>
            </a:r>
            <a:r>
              <a:rPr lang="en-US" altLang="ko-KR" sz="1150" dirty="0"/>
              <a:t>6</a:t>
            </a:r>
            <a:r>
              <a:rPr lang="ko-KR" altLang="en-US" sz="1150" dirty="0"/>
              <a:t>은 ‘적층 </a:t>
            </a:r>
            <a:r>
              <a:rPr lang="ko-KR" altLang="en-US" sz="1150" dirty="0" err="1"/>
              <a:t>구이김을</a:t>
            </a:r>
            <a:r>
              <a:rPr lang="ko-KR" altLang="en-US" sz="1150" dirty="0"/>
              <a:t> 내부로 수용하기 위한 투입구가 </a:t>
            </a:r>
            <a:r>
              <a:rPr lang="ko-KR" altLang="en-US" sz="1150" dirty="0" err="1"/>
              <a:t>일측에</a:t>
            </a:r>
            <a:r>
              <a:rPr lang="ko-KR" altLang="en-US" sz="1150" dirty="0"/>
              <a:t> 형성되고 그 내측에는 투입 중인 </a:t>
            </a:r>
            <a:r>
              <a:rPr lang="ko-KR" altLang="en-US" sz="1150" dirty="0" err="1"/>
              <a:t>구이김을</a:t>
            </a:r>
            <a:r>
              <a:rPr lang="ko-KR" altLang="en-US" sz="1150" dirty="0"/>
              <a:t> 정확한 절단위치까지 이송하기 위한 </a:t>
            </a:r>
            <a:r>
              <a:rPr lang="ko-KR" altLang="en-US" sz="1150" dirty="0" err="1"/>
              <a:t>인입작동유닛이</a:t>
            </a:r>
            <a:r>
              <a:rPr lang="ko-KR" altLang="en-US" sz="1150" dirty="0"/>
              <a:t> 구비되어 상기 </a:t>
            </a:r>
            <a:r>
              <a:rPr lang="ko-KR" altLang="en-US" sz="1150" dirty="0" err="1"/>
              <a:t>구이김을</a:t>
            </a:r>
            <a:r>
              <a:rPr lang="ko-KR" altLang="en-US" sz="1150" dirty="0"/>
              <a:t> 내부로 자동 </a:t>
            </a:r>
            <a:r>
              <a:rPr lang="ko-KR" altLang="en-US" sz="1150" dirty="0" err="1"/>
              <a:t>인입할</a:t>
            </a:r>
            <a:r>
              <a:rPr lang="ko-KR" altLang="en-US" sz="1150" dirty="0"/>
              <a:t> 수 있게 함과 아울러 </a:t>
            </a:r>
            <a:r>
              <a:rPr lang="ko-KR" altLang="en-US" sz="1150" dirty="0">
                <a:solidFill>
                  <a:srgbClr val="FF0000"/>
                </a:solidFill>
              </a:rPr>
              <a:t>상기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가압절판의</a:t>
            </a:r>
            <a:r>
              <a:rPr lang="ko-KR" altLang="en-US" sz="1150" dirty="0">
                <a:solidFill>
                  <a:srgbClr val="FF0000"/>
                </a:solidFill>
              </a:rPr>
              <a:t> 승강 작동을 안정적으로 안내해주는 </a:t>
            </a:r>
            <a:r>
              <a:rPr lang="ko-KR" altLang="en-US" sz="1150" dirty="0" err="1">
                <a:solidFill>
                  <a:srgbClr val="FF0000"/>
                </a:solidFill>
              </a:rPr>
              <a:t>가이드케이스</a:t>
            </a:r>
            <a:r>
              <a:rPr lang="ko-KR" altLang="en-US" sz="1150" dirty="0" err="1"/>
              <a:t>’이다</a:t>
            </a:r>
            <a:r>
              <a:rPr lang="en-US" altLang="ko-KR" sz="1150" dirty="0"/>
              <a:t>. </a:t>
            </a:r>
            <a:r>
              <a:rPr lang="ko-KR" altLang="en-US" sz="1150" dirty="0"/>
              <a:t>이 사건 실시제품은 “</a:t>
            </a:r>
            <a:r>
              <a:rPr lang="ko-KR" altLang="en-US" sz="1150" dirty="0" err="1"/>
              <a:t>구이김을</a:t>
            </a:r>
            <a:r>
              <a:rPr lang="ko-KR" altLang="en-US" sz="1150" dirty="0"/>
              <a:t> 이송하는 </a:t>
            </a:r>
            <a:r>
              <a:rPr lang="ko-KR" altLang="en-US" sz="1150" dirty="0" err="1"/>
              <a:t>인입작동유닛이</a:t>
            </a:r>
            <a:r>
              <a:rPr lang="ko-KR" altLang="en-US" sz="1150" dirty="0"/>
              <a:t> 구비되는 한편</a:t>
            </a:r>
            <a:r>
              <a:rPr lang="en-US" altLang="ko-KR" sz="1150" dirty="0"/>
              <a:t>, </a:t>
            </a:r>
            <a:r>
              <a:rPr lang="ko-KR" altLang="en-US" sz="1150" dirty="0" err="1"/>
              <a:t>구이김이</a:t>
            </a:r>
            <a:r>
              <a:rPr lang="ko-KR" altLang="en-US" sz="1150" dirty="0"/>
              <a:t> 투입되는 곳에 </a:t>
            </a:r>
            <a:r>
              <a:rPr lang="ko-KR" altLang="en-US" sz="1150" dirty="0">
                <a:solidFill>
                  <a:srgbClr val="FF0000"/>
                </a:solidFill>
              </a:rPr>
              <a:t>회동이 가능한 </a:t>
            </a:r>
            <a:r>
              <a:rPr lang="ko-KR" altLang="en-US" sz="1150" dirty="0" err="1">
                <a:solidFill>
                  <a:srgbClr val="FF0000"/>
                </a:solidFill>
              </a:rPr>
              <a:t>회동푸셔가</a:t>
            </a:r>
            <a:r>
              <a:rPr lang="ko-KR" altLang="en-US" sz="1150" dirty="0">
                <a:solidFill>
                  <a:srgbClr val="FF0000"/>
                </a:solidFill>
              </a:rPr>
              <a:t> 형성되고 그 맞은편에는 </a:t>
            </a:r>
            <a:r>
              <a:rPr lang="en-US" altLang="ko-KR" sz="1150" dirty="0">
                <a:solidFill>
                  <a:srgbClr val="FF0000"/>
                </a:solidFill>
              </a:rPr>
              <a:t>4</a:t>
            </a:r>
            <a:r>
              <a:rPr lang="ko-KR" altLang="en-US" sz="1150" dirty="0">
                <a:solidFill>
                  <a:srgbClr val="FF0000"/>
                </a:solidFill>
              </a:rPr>
              <a:t>개의 </a:t>
            </a:r>
            <a:r>
              <a:rPr lang="ko-KR" altLang="en-US" sz="1150" dirty="0" err="1">
                <a:solidFill>
                  <a:srgbClr val="FF0000"/>
                </a:solidFill>
              </a:rPr>
              <a:t>수직봉</a:t>
            </a:r>
            <a:r>
              <a:rPr lang="ko-KR" altLang="en-US" sz="1150" dirty="0">
                <a:solidFill>
                  <a:srgbClr val="FF0000"/>
                </a:solidFill>
              </a:rPr>
              <a:t> 형상의 </a:t>
            </a:r>
            <a:r>
              <a:rPr lang="ko-KR" altLang="en-US" sz="1150" dirty="0" err="1">
                <a:solidFill>
                  <a:srgbClr val="FF0000"/>
                </a:solidFill>
              </a:rPr>
              <a:t>스토퍼가</a:t>
            </a:r>
            <a:r>
              <a:rPr lang="ko-KR" altLang="en-US" sz="1150" dirty="0">
                <a:solidFill>
                  <a:srgbClr val="FF0000"/>
                </a:solidFill>
              </a:rPr>
              <a:t> 설치</a:t>
            </a:r>
            <a:r>
              <a:rPr lang="ko-KR" altLang="en-US" sz="1150" dirty="0"/>
              <a:t>되며</a:t>
            </a:r>
            <a:r>
              <a:rPr lang="en-US" altLang="ko-KR" sz="1150" dirty="0"/>
              <a:t>, </a:t>
            </a:r>
            <a:r>
              <a:rPr lang="ko-KR" altLang="en-US" sz="1150" dirty="0"/>
              <a:t>위쪽 변의 길이가 아래쪽 변의 길이보다 짧은 사다리꼴 형상의 </a:t>
            </a:r>
            <a:r>
              <a:rPr lang="ko-KR" altLang="en-US" sz="1150" dirty="0" err="1"/>
              <a:t>가압절판이</a:t>
            </a:r>
            <a:r>
              <a:rPr lang="ko-KR" altLang="en-US" sz="1150" dirty="0"/>
              <a:t> </a:t>
            </a:r>
            <a:r>
              <a:rPr lang="ko-KR" altLang="en-US" sz="1150" dirty="0" err="1"/>
              <a:t>상사점</a:t>
            </a:r>
            <a:r>
              <a:rPr lang="en-US" altLang="ko-KR" sz="1150" dirty="0"/>
              <a:t>(</a:t>
            </a:r>
            <a:r>
              <a:rPr lang="ko-KR" altLang="en-US" sz="1150" dirty="0" err="1"/>
              <a:t>상사점</a:t>
            </a:r>
            <a:r>
              <a:rPr lang="en-US" altLang="ko-KR" sz="1150" dirty="0"/>
              <a:t>: </a:t>
            </a:r>
            <a:r>
              <a:rPr lang="ko-KR" altLang="en-US" sz="1150" dirty="0"/>
              <a:t>왕복운동의 상승행정 중 가장 높은 위치</a:t>
            </a:r>
            <a:r>
              <a:rPr lang="en-US" altLang="ko-KR" sz="1150" dirty="0"/>
              <a:t>)</a:t>
            </a:r>
            <a:r>
              <a:rPr lang="ko-KR" altLang="en-US" sz="1150" dirty="0"/>
              <a:t>에서 중간판 내측에 형성된 </a:t>
            </a:r>
            <a:r>
              <a:rPr lang="ko-KR" altLang="en-US" sz="1150" dirty="0">
                <a:solidFill>
                  <a:srgbClr val="FF0000"/>
                </a:solidFill>
              </a:rPr>
              <a:t>사각케이스 형상의 중공</a:t>
            </a:r>
            <a:r>
              <a:rPr lang="ko-KR" altLang="en-US" sz="1150" dirty="0"/>
              <a:t>에 끼워져 모이게 되는 기술 구성”</a:t>
            </a:r>
            <a:r>
              <a:rPr lang="en-US" altLang="ko-KR" sz="1150" dirty="0"/>
              <a:t>(</a:t>
            </a:r>
            <a:r>
              <a:rPr lang="ko-KR" altLang="en-US" sz="1150" dirty="0"/>
              <a:t>이하 ‘구성 </a:t>
            </a:r>
            <a:r>
              <a:rPr lang="en-US" altLang="ko-KR" sz="1150" dirty="0"/>
              <a:t>6 </a:t>
            </a:r>
            <a:r>
              <a:rPr lang="ko-KR" altLang="en-US" sz="1150" dirty="0" err="1"/>
              <a:t>대응구성’이라</a:t>
            </a:r>
            <a:r>
              <a:rPr lang="ko-KR" altLang="en-US" sz="1150" dirty="0"/>
              <a:t> 한다</a:t>
            </a:r>
            <a:r>
              <a:rPr lang="en-US" altLang="ko-KR" sz="1150" dirty="0"/>
              <a:t>)</a:t>
            </a:r>
            <a:r>
              <a:rPr lang="ko-KR" altLang="en-US" sz="1150" dirty="0"/>
              <a:t>을 포함하고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다</a:t>
            </a:r>
            <a:r>
              <a:rPr lang="en-US" altLang="ko-KR" sz="1150" dirty="0"/>
              <a:t>) </a:t>
            </a:r>
            <a:r>
              <a:rPr lang="ko-KR" altLang="en-US" sz="1150" dirty="0"/>
              <a:t>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발명의 구성 </a:t>
            </a:r>
            <a:r>
              <a:rPr lang="en-US" altLang="ko-KR" sz="1150" dirty="0"/>
              <a:t>7</a:t>
            </a:r>
            <a:r>
              <a:rPr lang="ko-KR" altLang="en-US" sz="1150" dirty="0"/>
              <a:t>은 ‘</a:t>
            </a:r>
            <a:r>
              <a:rPr lang="ko-KR" altLang="en-US" sz="1150" dirty="0">
                <a:solidFill>
                  <a:srgbClr val="FF0000"/>
                </a:solidFill>
              </a:rPr>
              <a:t>가이드케이스의 하부에 고정 배치되고 아래로 갈수록 그 두께가 선형적으로 넓어지는 격자형의 </a:t>
            </a:r>
            <a:r>
              <a:rPr lang="ko-KR" altLang="en-US" sz="1150" dirty="0" err="1">
                <a:solidFill>
                  <a:srgbClr val="FF0000"/>
                </a:solidFill>
              </a:rPr>
              <a:t>절단날</a:t>
            </a:r>
            <a:r>
              <a:rPr lang="ko-KR" altLang="en-US" sz="1150" dirty="0" err="1"/>
              <a:t>’이다</a:t>
            </a:r>
            <a:r>
              <a:rPr lang="en-US" altLang="ko-KR" sz="1150" dirty="0"/>
              <a:t>. </a:t>
            </a:r>
            <a:r>
              <a:rPr lang="ko-KR" altLang="en-US" sz="1150" dirty="0"/>
              <a:t>이 사건 실시제품은 “</a:t>
            </a:r>
            <a:r>
              <a:rPr lang="ko-KR" altLang="en-US" sz="1150" dirty="0">
                <a:solidFill>
                  <a:srgbClr val="FF0000"/>
                </a:solidFill>
              </a:rPr>
              <a:t>김의 절단위치 하부에 고정 배치되고 아래로 갈수록 그 두께가 선형적으로 넓어지는 경사면을 구비한 ‘격자형 </a:t>
            </a:r>
            <a:r>
              <a:rPr lang="ko-KR" altLang="en-US" sz="1150" dirty="0" err="1">
                <a:solidFill>
                  <a:srgbClr val="FF0000"/>
                </a:solidFill>
              </a:rPr>
              <a:t>박스’와</a:t>
            </a:r>
            <a:r>
              <a:rPr lang="en-US" altLang="ko-KR" sz="1150" dirty="0">
                <a:solidFill>
                  <a:srgbClr val="FF0000"/>
                </a:solidFill>
              </a:rPr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상하로 이동되는 절단용 실린더에 연동하고 각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가압절판에</a:t>
            </a:r>
            <a:r>
              <a:rPr lang="ko-KR" altLang="en-US" sz="1150" dirty="0">
                <a:solidFill>
                  <a:srgbClr val="FF0000"/>
                </a:solidFill>
              </a:rPr>
              <a:t> 인접하여 수직으로 형성되는 ‘격자형 </a:t>
            </a:r>
            <a:r>
              <a:rPr lang="ko-KR" altLang="en-US" sz="1150" dirty="0" err="1">
                <a:solidFill>
                  <a:srgbClr val="FF0000"/>
                </a:solidFill>
              </a:rPr>
              <a:t>절단날</a:t>
            </a:r>
            <a:r>
              <a:rPr lang="ko-KR" altLang="en-US" sz="1150" dirty="0" err="1"/>
              <a:t>’의</a:t>
            </a:r>
            <a:r>
              <a:rPr lang="ko-KR" altLang="en-US" sz="1150" dirty="0"/>
              <a:t> 기술 구성”</a:t>
            </a:r>
            <a:r>
              <a:rPr lang="en-US" altLang="ko-KR" sz="1150" dirty="0"/>
              <a:t>(</a:t>
            </a:r>
            <a:r>
              <a:rPr lang="ko-KR" altLang="en-US" sz="1150" dirty="0"/>
              <a:t>이하 ‘구성 </a:t>
            </a:r>
            <a:r>
              <a:rPr lang="en-US" altLang="ko-KR" sz="1150" dirty="0"/>
              <a:t>7 </a:t>
            </a:r>
            <a:r>
              <a:rPr lang="ko-KR" altLang="en-US" sz="1150" dirty="0" err="1"/>
              <a:t>대응구성’이라</a:t>
            </a:r>
            <a:r>
              <a:rPr lang="ko-KR" altLang="en-US" sz="1150" dirty="0"/>
              <a:t> 한다</a:t>
            </a:r>
            <a:r>
              <a:rPr lang="en-US" altLang="ko-KR" sz="1150" dirty="0"/>
              <a:t>)</a:t>
            </a:r>
            <a:r>
              <a:rPr lang="ko-KR" altLang="en-US" sz="1150" dirty="0"/>
              <a:t>을 포함하고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라</a:t>
            </a:r>
            <a:r>
              <a:rPr lang="en-US" altLang="ko-KR" sz="1150" dirty="0"/>
              <a:t>) </a:t>
            </a:r>
            <a:r>
              <a:rPr lang="ko-KR" altLang="en-US" sz="1150" dirty="0"/>
              <a:t>이 사건 특허발명의 설명에는 ‘</a:t>
            </a:r>
            <a:r>
              <a:rPr lang="ko-KR" altLang="en-US" sz="1150" dirty="0">
                <a:solidFill>
                  <a:srgbClr val="FF0000"/>
                </a:solidFill>
              </a:rPr>
              <a:t>종래에는 포장용기들의 각 수납공간 사이의 간격만큼 절단된 각각의 적층 김들의 사이를 벌려 놓는 구조를 제시하지 못했지만</a:t>
            </a:r>
            <a:r>
              <a:rPr lang="en-US" altLang="ko-KR" sz="1150" dirty="0">
                <a:solidFill>
                  <a:srgbClr val="FF0000"/>
                </a:solidFill>
              </a:rPr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위 적층 김들을 누르는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가압절판들이</a:t>
            </a:r>
            <a:r>
              <a:rPr lang="ko-KR" altLang="en-US" sz="1150" dirty="0">
                <a:solidFill>
                  <a:srgbClr val="FF0000"/>
                </a:solidFill>
              </a:rPr>
              <a:t> 격자형 절단날의 외측 경사면을 따라 서로 사이가 벌어지도록 유도함으로써 수납공정까지 자동화할 수 있다</a:t>
            </a:r>
            <a:r>
              <a:rPr lang="ko-KR" altLang="en-US" sz="1150" dirty="0"/>
              <a:t>’는 취지가 기재되어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마</a:t>
            </a:r>
            <a:r>
              <a:rPr lang="en-US" altLang="ko-KR" sz="1150" dirty="0"/>
              <a:t>) </a:t>
            </a:r>
            <a:r>
              <a:rPr lang="ko-KR" altLang="en-US" sz="1150" dirty="0"/>
              <a:t>이러한 발명의 설명의 기재를 통하여 파악되는 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발명에</a:t>
            </a:r>
            <a:r>
              <a:rPr lang="ko-KR" altLang="en-US" sz="1150" dirty="0">
                <a:solidFill>
                  <a:srgbClr val="FF0000"/>
                </a:solidFill>
              </a:rPr>
              <a:t> 특유한 해결수단이 기초하고 있는 기술사상의 핵심은 ‘절단된 각각의 적층 김들이 하강하면서 가이드케이스의 하부에 고정 배치되는 격자형 부품의 외측 경사면을 따라 서로 사이가 벌어지도록 </a:t>
            </a:r>
            <a:r>
              <a:rPr lang="ko-KR" altLang="en-US" sz="1150" dirty="0" err="1">
                <a:solidFill>
                  <a:srgbClr val="FF0000"/>
                </a:solidFill>
              </a:rPr>
              <a:t>유도</a:t>
            </a:r>
            <a:r>
              <a:rPr lang="ko-KR" altLang="en-US" sz="1150" dirty="0" err="1"/>
              <a:t>’하는</a:t>
            </a:r>
            <a:r>
              <a:rPr lang="ko-KR" altLang="en-US" sz="1150" dirty="0"/>
              <a:t> 데에 있다</a:t>
            </a:r>
            <a:r>
              <a:rPr lang="en-US" altLang="ko-KR" sz="1150" dirty="0"/>
              <a:t>. </a:t>
            </a:r>
            <a:r>
              <a:rPr lang="ko-KR" altLang="en-US" sz="1150" dirty="0"/>
              <a:t>원심 판시 선출원고안은 이 사건 특허발명의 출원 당시에 공지된 기술이 아니고</a:t>
            </a:r>
            <a:r>
              <a:rPr lang="en-US" altLang="ko-KR" sz="1150" dirty="0"/>
              <a:t>, </a:t>
            </a:r>
            <a:r>
              <a:rPr lang="ko-KR" altLang="en-US" sz="1150" dirty="0"/>
              <a:t>그 밖에 </a:t>
            </a:r>
            <a:r>
              <a:rPr lang="ko-KR" altLang="en-US" sz="1150" dirty="0">
                <a:solidFill>
                  <a:srgbClr val="FF0000"/>
                </a:solidFill>
              </a:rPr>
              <a:t>위와 같은 기술사상의 핵심이 이 사건 특허발명의 출원 당시에 공지되었다고 볼 만한 사정은 보이지 않는다</a:t>
            </a:r>
            <a:r>
              <a:rPr lang="en-US" altLang="ko-KR" sz="1150" dirty="0">
                <a:solidFill>
                  <a:srgbClr val="FF0000"/>
                </a:solidFill>
              </a:rPr>
              <a:t>.</a:t>
            </a:r>
            <a:r>
              <a:rPr lang="en-US" altLang="ko-KR" sz="1150" dirty="0"/>
              <a:t> </a:t>
            </a:r>
            <a:r>
              <a:rPr lang="ko-KR" altLang="en-US" sz="1150" dirty="0"/>
              <a:t>그리고 발명의 설명에 </a:t>
            </a:r>
            <a:r>
              <a:rPr lang="ko-KR" altLang="en-US" sz="1150" dirty="0">
                <a:solidFill>
                  <a:srgbClr val="FF0000"/>
                </a:solidFill>
              </a:rPr>
              <a:t>구성 </a:t>
            </a:r>
            <a:r>
              <a:rPr lang="en-US" altLang="ko-KR" sz="1150" dirty="0">
                <a:solidFill>
                  <a:srgbClr val="FF0000"/>
                </a:solidFill>
              </a:rPr>
              <a:t>6 </a:t>
            </a:r>
            <a:r>
              <a:rPr lang="ko-KR" altLang="en-US" sz="1150" dirty="0">
                <a:solidFill>
                  <a:srgbClr val="FF0000"/>
                </a:solidFill>
              </a:rPr>
              <a:t>가이드케이스가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가압절판의</a:t>
            </a:r>
            <a:r>
              <a:rPr lang="ko-KR" altLang="en-US" sz="1150" dirty="0">
                <a:solidFill>
                  <a:srgbClr val="FF0000"/>
                </a:solidFill>
              </a:rPr>
              <a:t> 승강작동을 안정적으로 안내한다고 기재되어 있으나</a:t>
            </a:r>
            <a:r>
              <a:rPr lang="en-US" altLang="ko-KR" sz="1150" dirty="0">
                <a:solidFill>
                  <a:srgbClr val="FF0000"/>
                </a:solidFill>
              </a:rPr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이러한 기능은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가압절판의</a:t>
            </a:r>
            <a:r>
              <a:rPr lang="ko-KR" altLang="en-US" sz="1150" dirty="0">
                <a:solidFill>
                  <a:srgbClr val="FF0000"/>
                </a:solidFill>
              </a:rPr>
              <a:t> 승강작동을 안정적으로 안내하는 것을 통해 앞서 본 이 사건 제</a:t>
            </a:r>
            <a:r>
              <a:rPr lang="en-US" altLang="ko-KR" sz="1150" dirty="0">
                <a:solidFill>
                  <a:srgbClr val="FF0000"/>
                </a:solidFill>
              </a:rPr>
              <a:t>1</a:t>
            </a:r>
            <a:r>
              <a:rPr lang="ko-KR" altLang="en-US" sz="1150" dirty="0">
                <a:solidFill>
                  <a:srgbClr val="FF0000"/>
                </a:solidFill>
              </a:rPr>
              <a:t>항 발명의 기술사상의 핵심을 구현하는 데 기여하는 정도에 그칠 뿐 이 사건 제</a:t>
            </a:r>
            <a:r>
              <a:rPr lang="en-US" altLang="ko-KR" sz="1150" dirty="0">
                <a:solidFill>
                  <a:srgbClr val="FF0000"/>
                </a:solidFill>
              </a:rPr>
              <a:t>1</a:t>
            </a:r>
            <a:r>
              <a:rPr lang="ko-KR" altLang="en-US" sz="1150" dirty="0">
                <a:solidFill>
                  <a:srgbClr val="FF0000"/>
                </a:solidFill>
              </a:rPr>
              <a:t>항 발명에 특유한 해결수단이 기초하고 있는 기술사상의 핵심으로 파악할 수는 없다</a:t>
            </a:r>
            <a:r>
              <a:rPr lang="en-US" altLang="ko-KR" sz="115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바</a:t>
            </a:r>
            <a:r>
              <a:rPr lang="en-US" altLang="ko-KR" sz="1150" dirty="0"/>
              <a:t>) </a:t>
            </a:r>
            <a:r>
              <a:rPr lang="ko-KR" altLang="en-US" sz="1150" dirty="0"/>
              <a:t>이 사건 </a:t>
            </a:r>
            <a:r>
              <a:rPr lang="ko-KR" altLang="en-US" sz="1150" dirty="0">
                <a:solidFill>
                  <a:srgbClr val="FF0000"/>
                </a:solidFill>
              </a:rPr>
              <a:t>실시제품도 경사면을 구비한 ‘격자형 박스’ 구성에 의해 ‘절단된 각각의 적층 김들이 하강하면서 격자형 박스의 외측 경사면을 따라 서로 사이가 벌어지도록 </a:t>
            </a:r>
            <a:r>
              <a:rPr lang="ko-KR" altLang="en-US" sz="1150" dirty="0" err="1">
                <a:solidFill>
                  <a:srgbClr val="FF0000"/>
                </a:solidFill>
              </a:rPr>
              <a:t>유도’</a:t>
            </a:r>
            <a:r>
              <a:rPr lang="ko-KR" altLang="en-US" sz="1150" dirty="0" err="1"/>
              <a:t>하고</a:t>
            </a:r>
            <a:r>
              <a:rPr lang="ko-KR" altLang="en-US" sz="1150" dirty="0"/>
              <a:t>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사</a:t>
            </a:r>
            <a:r>
              <a:rPr lang="en-US" altLang="ko-KR" sz="1150" dirty="0"/>
              <a:t>) </a:t>
            </a:r>
            <a:r>
              <a:rPr lang="ko-KR" altLang="en-US" sz="1150" dirty="0"/>
              <a:t>따라서 이 사건 실시제품은 위와 같은 구성의 차이에도 불구하고 기술사상의 핵심에서 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발명과 같으므로 과제 해결원리가 동일하다</a:t>
            </a:r>
            <a:r>
              <a:rPr lang="en-US" altLang="ko-KR" sz="1150" dirty="0"/>
              <a:t>.</a:t>
            </a:r>
          </a:p>
          <a:p>
            <a:r>
              <a:rPr lang="en-US" altLang="ko-KR" sz="1150" b="1" dirty="0"/>
              <a:t>(2) </a:t>
            </a:r>
            <a:r>
              <a:rPr lang="ko-KR" altLang="en-US" sz="1150" b="1" dirty="0"/>
              <a:t>작용효과의 동일 여부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(invention as a whole vs individual element)</a:t>
            </a:r>
            <a:endParaRPr lang="ko-KR" altLang="en-US" sz="115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ko-KR" altLang="en-US" sz="1150" dirty="0"/>
              <a:t> 이 사건 실시제품은 구성 </a:t>
            </a:r>
            <a:r>
              <a:rPr lang="en-US" altLang="ko-KR" sz="1150" dirty="0"/>
              <a:t>7</a:t>
            </a:r>
            <a:r>
              <a:rPr lang="ko-KR" altLang="en-US" sz="1150" dirty="0"/>
              <a:t>이 구성 </a:t>
            </a:r>
            <a:r>
              <a:rPr lang="en-US" altLang="ko-KR" sz="1150" dirty="0"/>
              <a:t>7 </a:t>
            </a:r>
            <a:r>
              <a:rPr lang="ko-KR" altLang="en-US" sz="1150" dirty="0"/>
              <a:t>대응구성으로 변경되었더라도 </a:t>
            </a:r>
            <a:r>
              <a:rPr lang="ko-KR" altLang="en-US" sz="1150" dirty="0">
                <a:solidFill>
                  <a:srgbClr val="FF0000"/>
                </a:solidFill>
              </a:rPr>
              <a:t>‘절단된 각각의 적층 김들이 포장용기 내에 정확히 위치하도록 사이를 벌려 놓아 수납공정까지 </a:t>
            </a:r>
            <a:r>
              <a:rPr lang="ko-KR" altLang="en-US" sz="1150" dirty="0" err="1">
                <a:solidFill>
                  <a:srgbClr val="FF0000"/>
                </a:solidFill>
              </a:rPr>
              <a:t>자동화’</a:t>
            </a:r>
            <a:r>
              <a:rPr lang="ko-KR" altLang="en-US" sz="1150" dirty="0" err="1"/>
              <a:t>한다는</a:t>
            </a:r>
            <a:r>
              <a:rPr lang="ko-KR" altLang="en-US" sz="1150" dirty="0"/>
              <a:t> 점에서 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발명의 </a:t>
            </a:r>
            <a:r>
              <a:rPr lang="ko-KR" altLang="en-US" sz="1150" dirty="0">
                <a:solidFill>
                  <a:srgbClr val="FF0000"/>
                </a:solidFill>
              </a:rPr>
              <a:t>기술사상의 핵심을 구현할 수 있는 정도로 실질적으로 동일한 작용효과</a:t>
            </a:r>
            <a:r>
              <a:rPr lang="ko-KR" altLang="en-US" sz="1150" dirty="0"/>
              <a:t>를 나타낸다</a:t>
            </a:r>
            <a:r>
              <a:rPr lang="en-US" altLang="ko-KR" sz="1150" dirty="0"/>
              <a:t>. </a:t>
            </a:r>
            <a:r>
              <a:rPr lang="ko-KR" altLang="en-US" sz="1150" dirty="0">
                <a:solidFill>
                  <a:srgbClr val="FF0000"/>
                </a:solidFill>
              </a:rPr>
              <a:t>구성 </a:t>
            </a:r>
            <a:r>
              <a:rPr lang="en-US" altLang="ko-KR" sz="1150" dirty="0">
                <a:solidFill>
                  <a:srgbClr val="FF0000"/>
                </a:solidFill>
              </a:rPr>
              <a:t>6 </a:t>
            </a:r>
            <a:r>
              <a:rPr lang="ko-KR" altLang="en-US" sz="1150" dirty="0">
                <a:solidFill>
                  <a:srgbClr val="FF0000"/>
                </a:solidFill>
              </a:rPr>
              <a:t>대응구성이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가압절판을</a:t>
            </a:r>
            <a:r>
              <a:rPr lang="ko-KR" altLang="en-US" sz="1150" dirty="0">
                <a:solidFill>
                  <a:srgbClr val="FF0000"/>
                </a:solidFill>
              </a:rPr>
              <a:t> 안내하는 효과가 구성 </a:t>
            </a:r>
            <a:r>
              <a:rPr lang="en-US" altLang="ko-KR" sz="1150" dirty="0">
                <a:solidFill>
                  <a:srgbClr val="FF0000"/>
                </a:solidFill>
              </a:rPr>
              <a:t>6 </a:t>
            </a:r>
            <a:r>
              <a:rPr lang="ko-KR" altLang="en-US" sz="1150" dirty="0">
                <a:solidFill>
                  <a:srgbClr val="FF0000"/>
                </a:solidFill>
              </a:rPr>
              <a:t>가이드케이스 구성보다 떨어진다고 해도 이 사건 실시제품에서 구성 </a:t>
            </a:r>
            <a:r>
              <a:rPr lang="en-US" altLang="ko-KR" sz="1150" dirty="0">
                <a:solidFill>
                  <a:srgbClr val="FF0000"/>
                </a:solidFill>
              </a:rPr>
              <a:t>6</a:t>
            </a:r>
            <a:r>
              <a:rPr lang="ko-KR" altLang="en-US" sz="1150" dirty="0">
                <a:solidFill>
                  <a:srgbClr val="FF0000"/>
                </a:solidFill>
              </a:rPr>
              <a:t>이 결여되었다고 볼 정도는 아니고</a:t>
            </a:r>
            <a:r>
              <a:rPr lang="en-US" altLang="ko-KR" sz="1150" dirty="0">
                <a:solidFill>
                  <a:srgbClr val="FF0000"/>
                </a:solidFill>
              </a:rPr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이로 인하여 이 사건 실시제품이 이 사건 제</a:t>
            </a:r>
            <a:r>
              <a:rPr lang="en-US" altLang="ko-KR" sz="1150" dirty="0">
                <a:solidFill>
                  <a:srgbClr val="FF0000"/>
                </a:solidFill>
              </a:rPr>
              <a:t>1</a:t>
            </a:r>
            <a:r>
              <a:rPr lang="ko-KR" altLang="en-US" sz="1150" dirty="0">
                <a:solidFill>
                  <a:srgbClr val="FF0000"/>
                </a:solidFill>
              </a:rPr>
              <a:t>항 발명의 기술사상의 핵심을 구현하지 못한다고 볼 수는 없어 구성 </a:t>
            </a:r>
            <a:r>
              <a:rPr lang="en-US" altLang="ko-KR" sz="1150" dirty="0">
                <a:solidFill>
                  <a:srgbClr val="FF0000"/>
                </a:solidFill>
              </a:rPr>
              <a:t>6</a:t>
            </a:r>
            <a:r>
              <a:rPr lang="ko-KR" altLang="en-US" sz="1150" dirty="0">
                <a:solidFill>
                  <a:srgbClr val="FF0000"/>
                </a:solidFill>
              </a:rPr>
              <a:t>과 그 효과는 실질적으로 동일하다고 볼 수 있다</a:t>
            </a:r>
            <a:r>
              <a:rPr lang="en-US" altLang="ko-KR" sz="115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150" b="1" dirty="0"/>
              <a:t>(3) </a:t>
            </a:r>
            <a:r>
              <a:rPr lang="ko-KR" altLang="en-US" sz="1150" b="1" dirty="0"/>
              <a:t>구성 변경의 용이성 여부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(individual element)</a:t>
            </a:r>
            <a:endParaRPr lang="ko-KR" altLang="en-US" sz="115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ko-KR" altLang="en-US" sz="1150" dirty="0"/>
              <a:t>상부에 배치된 칼날이 상하 이동하면서 하부에 고정된 물체를 절단하도록 하는 것은 이 사건 특허발명의 기술분야에서 관용적으로 채택되는 기술수단에 불과하다</a:t>
            </a:r>
            <a:r>
              <a:rPr lang="en-US" altLang="ko-KR" sz="1150" dirty="0"/>
              <a:t>. </a:t>
            </a:r>
            <a:r>
              <a:rPr lang="ko-KR" altLang="en-US" sz="1150" dirty="0"/>
              <a:t>따라서 구성 </a:t>
            </a:r>
            <a:r>
              <a:rPr lang="en-US" altLang="ko-KR" sz="1150" dirty="0"/>
              <a:t>7</a:t>
            </a:r>
            <a:r>
              <a:rPr lang="ko-KR" altLang="en-US" sz="1150" dirty="0"/>
              <a:t>을 구성 </a:t>
            </a:r>
            <a:r>
              <a:rPr lang="en-US" altLang="ko-KR" sz="1150" dirty="0"/>
              <a:t>7 </a:t>
            </a:r>
            <a:r>
              <a:rPr lang="ko-KR" altLang="en-US" sz="1150" dirty="0"/>
              <a:t>대응구성과 같이 ‘격자형 </a:t>
            </a:r>
            <a:r>
              <a:rPr lang="ko-KR" altLang="en-US" sz="1150" dirty="0" err="1"/>
              <a:t>절단날’이</a:t>
            </a:r>
            <a:r>
              <a:rPr lang="ko-KR" altLang="en-US" sz="1150" dirty="0"/>
              <a:t> ‘격자형 </a:t>
            </a:r>
            <a:r>
              <a:rPr lang="ko-KR" altLang="en-US" sz="1150" dirty="0" err="1"/>
              <a:t>박스’와</a:t>
            </a:r>
            <a:r>
              <a:rPr lang="ko-KR" altLang="en-US" sz="1150" dirty="0"/>
              <a:t> 분리되어 상하로 이동되도록 각 </a:t>
            </a:r>
            <a:r>
              <a:rPr lang="ko-KR" altLang="en-US" sz="1150" dirty="0" err="1"/>
              <a:t>가압절판에</a:t>
            </a:r>
            <a:r>
              <a:rPr lang="ko-KR" altLang="en-US" sz="1150" dirty="0"/>
              <a:t> 인접한 위쪽에 별도로 배치하는 구성으로 변경하는 것은 통상의 기술자라면 누구나 쉽게 생각해 낼 수 있다고 볼 수 있다</a:t>
            </a:r>
            <a:r>
              <a:rPr lang="en-US" altLang="ko-KR" sz="1150" dirty="0"/>
              <a:t>. </a:t>
            </a:r>
            <a:r>
              <a:rPr lang="ko-KR" altLang="en-US" sz="1150" dirty="0"/>
              <a:t>그리고 상자 형태의 구성 </a:t>
            </a:r>
            <a:r>
              <a:rPr lang="en-US" altLang="ko-KR" sz="1150" dirty="0"/>
              <a:t>6</a:t>
            </a:r>
            <a:r>
              <a:rPr lang="ko-KR" altLang="en-US" sz="1150" dirty="0"/>
              <a:t>을 그 중 두 면을 제거한 ‘</a:t>
            </a:r>
            <a:r>
              <a:rPr lang="ko-KR" altLang="en-US" sz="1150" dirty="0" err="1"/>
              <a:t>회동푸셔와</a:t>
            </a:r>
            <a:r>
              <a:rPr lang="ko-KR" altLang="en-US" sz="1150" dirty="0"/>
              <a:t> </a:t>
            </a:r>
            <a:r>
              <a:rPr lang="ko-KR" altLang="en-US" sz="1150" dirty="0" err="1"/>
              <a:t>스토퍼’를</a:t>
            </a:r>
            <a:r>
              <a:rPr lang="ko-KR" altLang="en-US" sz="1150" dirty="0"/>
              <a:t> 두고 그 위쪽에 ‘사각케이스 형상의 중공이 그 내측에 형성된 </a:t>
            </a:r>
            <a:r>
              <a:rPr lang="ko-KR" altLang="en-US" sz="1150" dirty="0" err="1"/>
              <a:t>중간판’을</a:t>
            </a:r>
            <a:r>
              <a:rPr lang="ko-KR" altLang="en-US" sz="1150" dirty="0"/>
              <a:t> 별도로 배치하는 구성 </a:t>
            </a:r>
            <a:r>
              <a:rPr lang="en-US" altLang="ko-KR" sz="1150" dirty="0"/>
              <a:t>6 </a:t>
            </a:r>
            <a:r>
              <a:rPr lang="ko-KR" altLang="en-US" sz="1150" dirty="0"/>
              <a:t>대응구성으로 변경하는 것도</a:t>
            </a:r>
            <a:r>
              <a:rPr lang="en-US" altLang="ko-KR" sz="1150" dirty="0"/>
              <a:t>, </a:t>
            </a:r>
            <a:r>
              <a:rPr lang="ko-KR" altLang="en-US" sz="1150" dirty="0"/>
              <a:t>부품의 형태나 배치 관계 등을 고려하여 통상의 기술자가 별다른 기술적인 노력 없이 쉽게 생각해 낼 수 있을 것으로 볼 수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b="1" dirty="0"/>
              <a:t>(4) </a:t>
            </a:r>
            <a:r>
              <a:rPr lang="ko-KR" altLang="en-US" sz="1150" b="1" dirty="0"/>
              <a:t>의식적 제외 여부</a:t>
            </a:r>
          </a:p>
          <a:p>
            <a:r>
              <a:rPr lang="ko-KR" altLang="en-US" sz="1150" dirty="0"/>
              <a:t>출원인이 출원 시에 균등 여부가 문제 되는 침해 제품 등의 구성을 용이하게 생각해 낼 수 있었음에도 그것을 청구범위에 기재하지 않은 경우라도</a:t>
            </a:r>
            <a:r>
              <a:rPr lang="en-US" altLang="ko-KR" sz="1150" dirty="0"/>
              <a:t>, </a:t>
            </a:r>
            <a:r>
              <a:rPr lang="ko-KR" altLang="en-US" sz="1150" dirty="0" err="1"/>
              <a:t>그것만을</a:t>
            </a:r>
            <a:r>
              <a:rPr lang="ko-KR" altLang="en-US" sz="1150" dirty="0"/>
              <a:t> 이유로 위 구성요소가 특허발명의 출원절차에 있어서 청구범위로부터 의식적으로 제외된 것에 해당하는 등의 특별한 사정이 존재한다고 할 수는 없다</a:t>
            </a:r>
            <a:r>
              <a:rPr lang="en-US" altLang="ko-KR" sz="11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2773613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균등론</a:t>
            </a:r>
            <a:r>
              <a:rPr lang="ko-KR" altLang="en-US" dirty="0"/>
              <a:t> 적용 </a:t>
            </a:r>
            <a:r>
              <a:rPr lang="en-US" altLang="ko-KR" dirty="0"/>
              <a:t>CASE: </a:t>
            </a:r>
            <a:r>
              <a:rPr lang="ko-KR" altLang="en-US" sz="2000" dirty="0"/>
              <a:t>양방향 가압 장치 사건</a:t>
            </a:r>
            <a:r>
              <a:rPr lang="en-US" altLang="ko-KR" sz="2000" dirty="0"/>
              <a:t>(2018</a:t>
            </a:r>
            <a:r>
              <a:rPr lang="ko-KR" altLang="en-US" sz="2000" dirty="0"/>
              <a:t>다</a:t>
            </a:r>
            <a:r>
              <a:rPr lang="en-US" altLang="ko-KR" sz="2000" dirty="0"/>
              <a:t>267252)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338</a:t>
            </a:fld>
            <a:endParaRPr lang="ko-KR" altLang="en-US"/>
          </a:p>
        </p:txBody>
      </p:sp>
      <p:sp>
        <p:nvSpPr>
          <p:cNvPr id="20" name="모서리가 둥근 직사각형 30">
            <a:extLst>
              <a:ext uri="{FF2B5EF4-FFF2-40B4-BE49-F238E27FC236}">
                <a16:creationId xmlns:a16="http://schemas.microsoft.com/office/drawing/2014/main" id="{AE73B341-45E3-4DD9-96F6-7EE2630C588C}"/>
              </a:ext>
            </a:extLst>
          </p:cNvPr>
          <p:cNvSpPr/>
          <p:nvPr/>
        </p:nvSpPr>
        <p:spPr>
          <a:xfrm>
            <a:off x="314368" y="1044214"/>
            <a:ext cx="1517032" cy="2721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특허발명</a:t>
            </a:r>
          </a:p>
        </p:txBody>
      </p:sp>
      <p:sp>
        <p:nvSpPr>
          <p:cNvPr id="24" name="모서리가 둥근 직사각형 30">
            <a:extLst>
              <a:ext uri="{FF2B5EF4-FFF2-40B4-BE49-F238E27FC236}">
                <a16:creationId xmlns:a16="http://schemas.microsoft.com/office/drawing/2014/main" id="{AF28E306-26BA-45B7-B2FF-6B6D1C271F73}"/>
              </a:ext>
            </a:extLst>
          </p:cNvPr>
          <p:cNvSpPr/>
          <p:nvPr/>
        </p:nvSpPr>
        <p:spPr>
          <a:xfrm>
            <a:off x="314368" y="5508531"/>
            <a:ext cx="1517032" cy="2721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확인대상발명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F7009E-FDE0-40EE-89F3-A9D6CD905823}"/>
              </a:ext>
            </a:extLst>
          </p:cNvPr>
          <p:cNvCxnSpPr/>
          <p:nvPr/>
        </p:nvCxnSpPr>
        <p:spPr>
          <a:xfrm>
            <a:off x="5585800" y="923109"/>
            <a:ext cx="0" cy="586583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5F8453-A1B9-495D-9A85-4B8F610FAD7C}"/>
              </a:ext>
            </a:extLst>
          </p:cNvPr>
          <p:cNvSpPr/>
          <p:nvPr/>
        </p:nvSpPr>
        <p:spPr>
          <a:xfrm>
            <a:off x="5776111" y="914400"/>
            <a:ext cx="616726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arenBoth"/>
            </a:pPr>
            <a:r>
              <a:rPr lang="ko-KR" altLang="en-US" sz="1200" dirty="0"/>
              <a:t>이 사건 특허발명</a:t>
            </a:r>
            <a:r>
              <a:rPr lang="en-US" altLang="ko-KR" sz="1200" dirty="0"/>
              <a:t>(</a:t>
            </a:r>
            <a:r>
              <a:rPr lang="ko-KR" altLang="en-US" sz="1200" dirty="0"/>
              <a:t>특허등록번호 생략</a:t>
            </a:r>
            <a:r>
              <a:rPr lang="en-US" altLang="ko-KR" sz="1200" dirty="0"/>
              <a:t>)</a:t>
            </a:r>
            <a:r>
              <a:rPr lang="ko-KR" altLang="en-US" sz="1200" dirty="0"/>
              <a:t>은 ‘</a:t>
            </a:r>
            <a:r>
              <a:rPr lang="ko-KR" altLang="en-US" sz="1200" dirty="0">
                <a:solidFill>
                  <a:srgbClr val="FF0000"/>
                </a:solidFill>
              </a:rPr>
              <a:t>직접 </a:t>
            </a:r>
            <a:r>
              <a:rPr lang="ko-KR" altLang="en-US" sz="1200" dirty="0" err="1">
                <a:solidFill>
                  <a:srgbClr val="FF0000"/>
                </a:solidFill>
              </a:rPr>
              <a:t>가압식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용탕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단조장치</a:t>
            </a:r>
            <a:r>
              <a:rPr lang="ko-KR" altLang="en-US" sz="1200" dirty="0" err="1"/>
              <a:t>’라는</a:t>
            </a:r>
            <a:r>
              <a:rPr lang="ko-KR" altLang="en-US" sz="1200" dirty="0"/>
              <a:t> 명칭의 발명이다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arenBoth"/>
            </a:pPr>
            <a:endParaRPr lang="en-US" altLang="ko-KR" sz="1200" dirty="0"/>
          </a:p>
          <a:p>
            <a:r>
              <a:rPr lang="en-US" altLang="ko-KR" sz="1200" dirty="0"/>
              <a:t>(2) </a:t>
            </a:r>
            <a:r>
              <a:rPr lang="ko-KR" altLang="en-US" sz="1200" dirty="0"/>
              <a:t>회생채무자 주식회사 알로드가 실시하고 있는 원심 판시 피고 제품에는 이 사건 특허발명의 특허청구범위 제</a:t>
            </a:r>
            <a:r>
              <a:rPr lang="en-US" altLang="ko-KR" sz="1200" dirty="0"/>
              <a:t>1</a:t>
            </a:r>
            <a:r>
              <a:rPr lang="ko-KR" altLang="en-US" sz="1200" dirty="0"/>
              <a:t>항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</a:t>
            </a:r>
            <a:r>
              <a:rPr lang="ko-KR" altLang="en-US" sz="1200" dirty="0" err="1"/>
              <a:t>발명’이라고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의 ‘</a:t>
            </a:r>
            <a:r>
              <a:rPr lang="ko-KR" altLang="en-US" sz="1200" dirty="0">
                <a:solidFill>
                  <a:srgbClr val="FF0000"/>
                </a:solidFill>
              </a:rPr>
              <a:t>사이드 홀더에 있는 보온용 전기 가열장치</a:t>
            </a:r>
            <a:r>
              <a:rPr lang="en-US" altLang="ko-KR" sz="1200" dirty="0"/>
              <a:t>(</a:t>
            </a:r>
            <a:r>
              <a:rPr lang="ko-KR" altLang="en-US" sz="1200" dirty="0"/>
              <a:t>원심 판시 구성 </a:t>
            </a:r>
            <a:r>
              <a:rPr lang="en-US" altLang="ko-KR" sz="1200" dirty="0"/>
              <a:t>5-5)’</a:t>
            </a:r>
            <a:r>
              <a:rPr lang="ko-KR" altLang="en-US" sz="1200" dirty="0"/>
              <a:t>를 제외한 모든 구성들이 포함되어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(3) </a:t>
            </a:r>
            <a:r>
              <a:rPr lang="ko-KR" altLang="en-US" sz="1200" dirty="0"/>
              <a:t>피고 제품은 위 ‘</a:t>
            </a:r>
            <a:r>
              <a:rPr lang="ko-KR" altLang="en-US" sz="1200" dirty="0">
                <a:solidFill>
                  <a:srgbClr val="FF0000"/>
                </a:solidFill>
              </a:rPr>
              <a:t>보온용 전기 가열장치</a:t>
            </a:r>
            <a:r>
              <a:rPr lang="ko-KR" altLang="en-US" sz="1200" dirty="0"/>
              <a:t>’ 대신 사이드 </a:t>
            </a:r>
            <a:r>
              <a:rPr lang="ko-KR" altLang="en-US" sz="1200" dirty="0" err="1"/>
              <a:t>케이싱</a:t>
            </a:r>
            <a:r>
              <a:rPr lang="ko-KR" altLang="en-US" sz="1200" dirty="0"/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외부</a:t>
            </a:r>
            <a:r>
              <a:rPr lang="ko-KR" altLang="en-US" sz="1200" dirty="0"/>
              <a:t>에 ‘</a:t>
            </a:r>
            <a:r>
              <a:rPr lang="ko-KR" altLang="en-US" sz="1200" dirty="0">
                <a:solidFill>
                  <a:srgbClr val="FF0000"/>
                </a:solidFill>
              </a:rPr>
              <a:t>가스 </a:t>
            </a:r>
            <a:r>
              <a:rPr lang="ko-KR" altLang="en-US" sz="1200" dirty="0" err="1">
                <a:solidFill>
                  <a:srgbClr val="FF0000"/>
                </a:solidFill>
              </a:rPr>
              <a:t>가열장치</a:t>
            </a:r>
            <a:r>
              <a:rPr lang="ko-KR" altLang="en-US" sz="1200" dirty="0" err="1"/>
              <a:t>’를</a:t>
            </a:r>
            <a:r>
              <a:rPr lang="ko-KR" altLang="en-US" sz="1200" dirty="0"/>
              <a:t> 두고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(4) </a:t>
            </a:r>
            <a:r>
              <a:rPr lang="ko-KR" altLang="en-US" sz="1200" dirty="0"/>
              <a:t>이 사건 특허발명의 발명의 상세한 설명에는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발명과 관련하여</a:t>
            </a:r>
            <a:r>
              <a:rPr lang="en-US" altLang="ko-KR" sz="1200" dirty="0"/>
              <a:t>, ‘</a:t>
            </a:r>
            <a:r>
              <a:rPr lang="ko-KR" altLang="en-US" sz="1200" dirty="0"/>
              <a:t>본 발명의 직접 </a:t>
            </a:r>
            <a:r>
              <a:rPr lang="ko-KR" altLang="en-US" sz="1200" dirty="0" err="1"/>
              <a:t>가압식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용탕</a:t>
            </a:r>
            <a:r>
              <a:rPr lang="ko-KR" altLang="en-US" sz="1200" dirty="0"/>
              <a:t> 단조공정은 </a:t>
            </a:r>
            <a:r>
              <a:rPr lang="ko-KR" altLang="en-US" sz="1200" dirty="0">
                <a:solidFill>
                  <a:srgbClr val="FF0000"/>
                </a:solidFill>
              </a:rPr>
              <a:t>상부 금형이 하강하여 하부 금형에 주입된 </a:t>
            </a:r>
            <a:r>
              <a:rPr lang="ko-KR" altLang="en-US" sz="1200" dirty="0" err="1">
                <a:solidFill>
                  <a:srgbClr val="FF0000"/>
                </a:solidFill>
              </a:rPr>
              <a:t>용탕</a:t>
            </a:r>
            <a:r>
              <a:rPr lang="ko-KR" altLang="en-US" sz="1200" dirty="0">
                <a:solidFill>
                  <a:srgbClr val="FF0000"/>
                </a:solidFill>
              </a:rPr>
              <a:t> 전체 표면에 걸쳐 직접 강압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예비성형 및 </a:t>
            </a:r>
            <a:r>
              <a:rPr lang="ko-KR" altLang="en-US" sz="1200" dirty="0" err="1">
                <a:solidFill>
                  <a:srgbClr val="FF0000"/>
                </a:solidFill>
              </a:rPr>
              <a:t>고압단조하고</a:t>
            </a:r>
            <a:r>
              <a:rPr lang="ko-KR" altLang="en-US" sz="1200" dirty="0">
                <a:solidFill>
                  <a:srgbClr val="FF0000"/>
                </a:solidFill>
              </a:rPr>
              <a:t> 재차 하부 금형에 의해 고압으로 가압함으로써 단순히 금형 온도에 크게 의존하는 종래 간접방식에 비해 단조효과가 월등히 우수</a:t>
            </a:r>
            <a:r>
              <a:rPr lang="ko-KR" altLang="en-US" sz="1200" dirty="0"/>
              <a:t>할 뿐만 아니라</a:t>
            </a:r>
            <a:r>
              <a:rPr lang="en-US" altLang="ko-KR" sz="1200" dirty="0"/>
              <a:t>, </a:t>
            </a:r>
            <a:r>
              <a:rPr lang="ko-KR" altLang="en-US" sz="1200" dirty="0"/>
              <a:t>응고에 따른 국부적인 체적변화에 대응하는 노크 아웃 실린더가 하부에 장착되어 고압으로 작동하기 때문에 그 단조효과를 더해 </a:t>
            </a:r>
            <a:r>
              <a:rPr lang="ko-KR" altLang="en-US" sz="1200" dirty="0" err="1"/>
              <a:t>주며’라고</a:t>
            </a:r>
            <a:r>
              <a:rPr lang="ko-KR" altLang="en-US" sz="1200" dirty="0"/>
              <a:t> 기재되어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(5) </a:t>
            </a:r>
            <a:r>
              <a:rPr lang="ko-KR" altLang="en-US" sz="1200" dirty="0"/>
              <a:t>그러나 위와 같이 발명의 상세한 설명에서 파악되는 ‘</a:t>
            </a:r>
            <a:r>
              <a:rPr lang="ko-KR" altLang="en-US" sz="1200" dirty="0">
                <a:solidFill>
                  <a:srgbClr val="FF0000"/>
                </a:solidFill>
              </a:rPr>
              <a:t>상</a:t>
            </a:r>
            <a:r>
              <a:rPr lang="en-US" altLang="ko-KR" sz="1200" dirty="0">
                <a:solidFill>
                  <a:srgbClr val="FF0000"/>
                </a:solidFill>
              </a:rPr>
              <a:t>·</a:t>
            </a:r>
            <a:r>
              <a:rPr lang="ko-KR" altLang="en-US" sz="1200" dirty="0">
                <a:solidFill>
                  <a:srgbClr val="FF0000"/>
                </a:solidFill>
              </a:rPr>
              <a:t>하부 양방향에서 가압하여 단조효과를 </a:t>
            </a:r>
            <a:r>
              <a:rPr lang="ko-KR" altLang="en-US" sz="1200" dirty="0" err="1">
                <a:solidFill>
                  <a:srgbClr val="FF0000"/>
                </a:solidFill>
              </a:rPr>
              <a:t>향상시킨다</a:t>
            </a:r>
            <a:r>
              <a:rPr lang="ko-KR" altLang="en-US" sz="1200" dirty="0" err="1"/>
              <a:t>’는</a:t>
            </a:r>
            <a:r>
              <a:rPr lang="ko-KR" altLang="en-US" sz="1200" dirty="0"/>
              <a:t> 기술사상은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출원 당시에 공지된 을 제</a:t>
            </a:r>
            <a:r>
              <a:rPr lang="en-US" altLang="ko-KR" sz="1200" dirty="0"/>
              <a:t>7</a:t>
            </a:r>
            <a:r>
              <a:rPr lang="ko-KR" altLang="en-US" sz="1200" dirty="0" err="1"/>
              <a:t>호증에</a:t>
            </a:r>
            <a:r>
              <a:rPr lang="ko-KR" altLang="en-US" sz="1200" dirty="0"/>
              <a:t> 나타나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(6) </a:t>
            </a:r>
            <a:r>
              <a:rPr lang="ko-KR" altLang="en-US" sz="1200" dirty="0"/>
              <a:t>위 ‘</a:t>
            </a:r>
            <a:r>
              <a:rPr lang="ko-KR" altLang="en-US" sz="1200" dirty="0">
                <a:solidFill>
                  <a:srgbClr val="FF0000"/>
                </a:solidFill>
              </a:rPr>
              <a:t>상</a:t>
            </a:r>
            <a:r>
              <a:rPr lang="en-US" altLang="ko-KR" sz="1200" dirty="0">
                <a:solidFill>
                  <a:srgbClr val="FF0000"/>
                </a:solidFill>
              </a:rPr>
              <a:t>·</a:t>
            </a:r>
            <a:r>
              <a:rPr lang="ko-KR" altLang="en-US" sz="1200" dirty="0">
                <a:solidFill>
                  <a:srgbClr val="FF0000"/>
                </a:solidFill>
              </a:rPr>
              <a:t>하부 양방향에서 가압하여 단조효과를 </a:t>
            </a:r>
            <a:r>
              <a:rPr lang="ko-KR" altLang="en-US" sz="1200" dirty="0" err="1">
                <a:solidFill>
                  <a:srgbClr val="FF0000"/>
                </a:solidFill>
              </a:rPr>
              <a:t>향상시킨다’는</a:t>
            </a:r>
            <a:r>
              <a:rPr lang="ko-KR" altLang="en-US" sz="1200" dirty="0">
                <a:solidFill>
                  <a:srgbClr val="FF0000"/>
                </a:solidFill>
              </a:rPr>
              <a:t> 기술사상이 특허발명에 특유하다고 볼 수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이 사건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발명이 선행기술에서 해결되지 않았던 기술과제를 해결하였다고 말할 수도 없으므로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작용효과가 실질적으로 동일한지 여부는 위 기술사상을 구현하는지를 기준으로 삼을 수는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이 사건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발명의 ‘보온용 전기 </a:t>
            </a:r>
            <a:r>
              <a:rPr lang="ko-KR" altLang="en-US" sz="1200" dirty="0" err="1">
                <a:solidFill>
                  <a:srgbClr val="FF0000"/>
                </a:solidFill>
              </a:rPr>
              <a:t>가열장치’와</a:t>
            </a:r>
            <a:r>
              <a:rPr lang="ko-KR" altLang="en-US" sz="1200" dirty="0">
                <a:solidFill>
                  <a:srgbClr val="FF0000"/>
                </a:solidFill>
              </a:rPr>
              <a:t> 피고 제품의 ‘가스 </a:t>
            </a:r>
            <a:r>
              <a:rPr lang="ko-KR" altLang="en-US" sz="1200" dirty="0" err="1">
                <a:solidFill>
                  <a:srgbClr val="FF0000"/>
                </a:solidFill>
              </a:rPr>
              <a:t>가열장치’의</a:t>
            </a:r>
            <a:r>
              <a:rPr lang="ko-KR" altLang="en-US" sz="1200" dirty="0">
                <a:solidFill>
                  <a:srgbClr val="FF0000"/>
                </a:solidFill>
              </a:rPr>
              <a:t> 개별적인 기능이나 역할 등을 비교하여 결정하여야 한다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위 두 구성은 금형의 온도를 조절하는 기능이나 </a:t>
            </a:r>
            <a:r>
              <a:rPr lang="ko-KR" altLang="en-US" sz="1200" dirty="0" err="1">
                <a:solidFill>
                  <a:srgbClr val="FF0000"/>
                </a:solidFill>
              </a:rPr>
              <a:t>착탈</a:t>
            </a:r>
            <a:r>
              <a:rPr lang="ko-KR" altLang="en-US" sz="1200" dirty="0">
                <a:solidFill>
                  <a:srgbClr val="FF0000"/>
                </a:solidFill>
              </a:rPr>
              <a:t> 여부 등에서 차이가 나므로 그 실질적 작용효과가 동일하다고 볼 수 없다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(7) </a:t>
            </a:r>
            <a:r>
              <a:rPr lang="ko-KR" altLang="en-US" sz="1200" dirty="0"/>
              <a:t>따라서 피고 제품은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‘보온용 전기 </a:t>
            </a:r>
            <a:r>
              <a:rPr lang="ko-KR" altLang="en-US" sz="1200" dirty="0" err="1"/>
              <a:t>가열장치’와</a:t>
            </a:r>
            <a:r>
              <a:rPr lang="ko-KR" altLang="en-US" sz="1200" dirty="0"/>
              <a:t> 균등한 요소를 포함하고 있지 않으므로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발명을 침해한다고 할 수 없다</a:t>
            </a:r>
            <a:r>
              <a:rPr lang="en-US" altLang="ko-KR" sz="1200" dirty="0"/>
              <a:t>. </a:t>
            </a:r>
            <a:r>
              <a:rPr lang="ko-KR" altLang="en-US" sz="1200" dirty="0"/>
              <a:t>원심의 이유 설시에 부적절한 점이 있으나</a:t>
            </a:r>
            <a:r>
              <a:rPr lang="en-US" altLang="ko-KR" sz="1200" dirty="0"/>
              <a:t>, </a:t>
            </a:r>
            <a:r>
              <a:rPr lang="ko-KR" altLang="en-US" sz="1200" dirty="0"/>
              <a:t>피고 제품이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발명을 침해하지 않는다고 본 원심의 결론에 상고이유 주장과 같이 특허발명의 균등침해에 관한 법리를 오해하는 등으로 판결 결과에 영향을 미친 잘못이 없다</a:t>
            </a:r>
            <a:r>
              <a:rPr lang="en-US" altLang="ko-KR" sz="12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0378C8-4DDA-4D10-8228-C65D11472BC8}"/>
              </a:ext>
            </a:extLst>
          </p:cNvPr>
          <p:cNvSpPr txBox="1"/>
          <p:nvPr/>
        </p:nvSpPr>
        <p:spPr>
          <a:xfrm>
            <a:off x="142507" y="1349469"/>
            <a:ext cx="5325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자동차 알루미늄 </a:t>
            </a:r>
            <a:r>
              <a:rPr lang="ko-KR" altLang="en-US" sz="1200" dirty="0" err="1"/>
              <a:t>휠을</a:t>
            </a:r>
            <a:r>
              <a:rPr lang="ko-KR" altLang="en-US" sz="1200" dirty="0"/>
              <a:t> 만들기 위해</a:t>
            </a:r>
            <a:r>
              <a:rPr lang="en-US" altLang="ko-KR" sz="1200" dirty="0"/>
              <a:t>) </a:t>
            </a:r>
            <a:r>
              <a:rPr lang="ko-KR" altLang="en-US" sz="1200" dirty="0"/>
              <a:t>상금형과 하금형으로 </a:t>
            </a:r>
            <a:r>
              <a:rPr lang="ko-KR" altLang="en-US" sz="1200" dirty="0" err="1"/>
              <a:t>용탕</a:t>
            </a:r>
            <a:r>
              <a:rPr lang="en-US" altLang="ko-KR" sz="1200" dirty="0"/>
              <a:t>(</a:t>
            </a:r>
            <a:r>
              <a:rPr lang="ko-KR" altLang="en-US" sz="1200" dirty="0"/>
              <a:t>붉은 색</a:t>
            </a:r>
            <a:r>
              <a:rPr lang="en-US" altLang="ko-KR" sz="1200" dirty="0"/>
              <a:t>)</a:t>
            </a:r>
            <a:r>
              <a:rPr lang="ko-KR" altLang="en-US" sz="1200" dirty="0"/>
              <a:t>을 가압하는 장치이다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9E6F7BC-1FA8-4182-8EDD-19C17DB36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7" y="1780356"/>
            <a:ext cx="5252982" cy="36464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0CAA3D-1A18-4659-A981-B6054037F122}"/>
              </a:ext>
            </a:extLst>
          </p:cNvPr>
          <p:cNvSpPr txBox="1"/>
          <p:nvPr/>
        </p:nvSpPr>
        <p:spPr>
          <a:xfrm>
            <a:off x="142318" y="5862353"/>
            <a:ext cx="53257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0" i="0" u="none" strike="noStrike" baseline="0" dirty="0">
                <a:latin typeface="SandSm"/>
              </a:rPr>
              <a:t>침해제품도 위와 같은 가압 방식을 구현하는 기본적인 구성은 갖추고 있다</a:t>
            </a:r>
            <a:r>
              <a:rPr lang="en-US" altLang="ko-KR" sz="1200" b="0" i="0" u="none" strike="noStrike" baseline="0" dirty="0">
                <a:latin typeface="SandSm"/>
              </a:rPr>
              <a:t>.</a:t>
            </a:r>
          </a:p>
          <a:p>
            <a:pPr algn="l"/>
            <a:r>
              <a:rPr lang="ko-KR" altLang="en-US" sz="1200" b="0" i="0" u="none" strike="noStrike" baseline="0" dirty="0">
                <a:latin typeface="SandSm"/>
              </a:rPr>
              <a:t>다만 피고 제품은 ‘보온용 </a:t>
            </a:r>
            <a:r>
              <a:rPr lang="ko-KR" altLang="en-US" sz="1200" b="0" i="0" u="none" strike="noStrike" baseline="0" dirty="0" err="1">
                <a:latin typeface="SandSm"/>
              </a:rPr>
              <a:t>전기가열장치’를</a:t>
            </a:r>
            <a:r>
              <a:rPr lang="ko-KR" altLang="en-US" sz="1200" b="0" i="0" u="none" strike="noStrike" baseline="0" dirty="0">
                <a:latin typeface="SandSm"/>
              </a:rPr>
              <a:t> 갖는 </a:t>
            </a:r>
            <a:r>
              <a:rPr lang="ko-KR" altLang="en-US" sz="1200" b="0" i="0" u="none" strike="noStrike" baseline="0" dirty="0" err="1">
                <a:latin typeface="SandSm"/>
              </a:rPr>
              <a:t>사이드홀더</a:t>
            </a:r>
            <a:r>
              <a:rPr lang="ko-KR" altLang="en-US" sz="1200" b="0" i="0" u="none" strike="noStrike" baseline="0" dirty="0">
                <a:latin typeface="SandSm"/>
              </a:rPr>
              <a:t> 구성 대신</a:t>
            </a:r>
            <a:r>
              <a:rPr lang="en-US" altLang="ko-KR" sz="1200" b="0" i="0" u="none" strike="noStrike" baseline="0" dirty="0">
                <a:latin typeface="SandSm"/>
              </a:rPr>
              <a:t>, </a:t>
            </a:r>
            <a:r>
              <a:rPr lang="ko-KR" altLang="en-US" sz="1200" b="0" i="0" u="none" strike="noStrike" baseline="0" dirty="0" err="1">
                <a:latin typeface="SandSm"/>
              </a:rPr>
              <a:t>사이드홀더</a:t>
            </a:r>
            <a:r>
              <a:rPr lang="en-US" altLang="ko-KR" sz="1200" b="0" i="0" u="none" strike="noStrike" baseline="0" dirty="0">
                <a:latin typeface="SandSm"/>
              </a:rPr>
              <a:t>(= </a:t>
            </a:r>
            <a:r>
              <a:rPr lang="ko-KR" altLang="en-US" sz="1200" b="0" i="0" u="none" strike="noStrike" baseline="0" dirty="0">
                <a:latin typeface="SandSm"/>
              </a:rPr>
              <a:t>사이드 </a:t>
            </a:r>
            <a:r>
              <a:rPr lang="ko-KR" altLang="en-US" sz="1200" b="0" i="0" u="none" strike="noStrike" baseline="0" dirty="0" err="1">
                <a:latin typeface="SandSm"/>
              </a:rPr>
              <a:t>케이싱</a:t>
            </a:r>
            <a:r>
              <a:rPr lang="en-US" altLang="ko-KR" sz="1200" b="0" i="0" u="none" strike="noStrike" baseline="0" dirty="0">
                <a:latin typeface="SandSm"/>
              </a:rPr>
              <a:t>)</a:t>
            </a:r>
            <a:r>
              <a:rPr lang="ko-KR" altLang="en-US" sz="1200" b="0" i="0" u="none" strike="noStrike" baseline="0" dirty="0">
                <a:latin typeface="SandSm"/>
              </a:rPr>
              <a:t>의 외부에서 ‘가스 </a:t>
            </a:r>
            <a:r>
              <a:rPr lang="ko-KR" altLang="en-US" sz="1200" b="0" i="0" u="none" strike="noStrike" baseline="0" dirty="0" err="1">
                <a:latin typeface="SandSm"/>
              </a:rPr>
              <a:t>가열장치’를</a:t>
            </a:r>
            <a:r>
              <a:rPr lang="ko-KR" altLang="en-US" sz="1200" b="0" i="0" u="none" strike="noStrike" baseline="0" dirty="0">
                <a:latin typeface="SandSm"/>
              </a:rPr>
              <a:t> 이용하여 가압한다는 점에서만 차이가 난다</a:t>
            </a:r>
            <a:r>
              <a:rPr lang="en-US" altLang="ko-KR" sz="1200" b="0" i="0" u="none" strike="noStrike" baseline="0" dirty="0">
                <a:latin typeface="SandSm"/>
              </a:rPr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10004626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525252"/>
                </a:solidFill>
              </a:rPr>
              <a:t>균등론</a:t>
            </a:r>
            <a:r>
              <a:rPr lang="ko-KR" altLang="en-US" dirty="0">
                <a:solidFill>
                  <a:srgbClr val="525252"/>
                </a:solidFill>
              </a:rPr>
              <a:t> 적용의</a:t>
            </a:r>
            <a:r>
              <a:rPr lang="en-US" altLang="ko-KR" dirty="0">
                <a:solidFill>
                  <a:srgbClr val="525252"/>
                </a:solidFill>
              </a:rPr>
              <a:t> </a:t>
            </a:r>
            <a:r>
              <a:rPr lang="ko-KR" altLang="en-US" dirty="0">
                <a:solidFill>
                  <a:srgbClr val="525252"/>
                </a:solidFill>
              </a:rPr>
              <a:t>구체적인 형태</a:t>
            </a:r>
            <a:r>
              <a:rPr lang="en-US" altLang="ko-KR" dirty="0">
                <a:solidFill>
                  <a:srgbClr val="525252"/>
                </a:solidFill>
              </a:rPr>
              <a:t>*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339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1E5285-6FEB-45A7-8080-E7CD81C41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30054"/>
              </p:ext>
            </p:extLst>
          </p:nvPr>
        </p:nvGraphicFramePr>
        <p:xfrm>
          <a:off x="771525" y="1245480"/>
          <a:ext cx="10887075" cy="4912433"/>
        </p:xfrm>
        <a:graphic>
          <a:graphicData uri="http://schemas.openxmlformats.org/drawingml/2006/table">
            <a:tbl>
              <a:tblPr/>
              <a:tblGrid>
                <a:gridCol w="942975">
                  <a:extLst>
                    <a:ext uri="{9D8B030D-6E8A-4147-A177-3AD203B41FA5}">
                      <a16:colId xmlns:a16="http://schemas.microsoft.com/office/drawing/2014/main" val="1216149691"/>
                    </a:ext>
                  </a:extLst>
                </a:gridCol>
                <a:gridCol w="5297073">
                  <a:extLst>
                    <a:ext uri="{9D8B030D-6E8A-4147-A177-3AD203B41FA5}">
                      <a16:colId xmlns:a16="http://schemas.microsoft.com/office/drawing/2014/main" val="2075396199"/>
                    </a:ext>
                  </a:extLst>
                </a:gridCol>
                <a:gridCol w="4647027">
                  <a:extLst>
                    <a:ext uri="{9D8B030D-6E8A-4147-A177-3AD203B41FA5}">
                      <a16:colId xmlns:a16="http://schemas.microsoft.com/office/drawing/2014/main" val="2376493507"/>
                    </a:ext>
                  </a:extLst>
                </a:gridCol>
              </a:tblGrid>
              <a:tr h="35486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기술사상의 핵심이 공지되지 아니한 경우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기술사상의 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핵심이 공지된 경우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636474"/>
                  </a:ext>
                </a:extLst>
              </a:tr>
              <a:tr h="20644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본질적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구성의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차이가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있는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선행기술과 비교하여 정해지는 특허발명의 실질적 가치를 기준으로 구성에서 과제해결원리가 어느 정도 상위개념화가 가능함</a:t>
                      </a:r>
                      <a:endParaRPr lang="en-US" altLang="ko-KR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(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균등범위가 넓어짐</a:t>
                      </a: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과제해결원리가 동일하다면</a:t>
                      </a: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이러한 해결원리를 </a:t>
                      </a:r>
                      <a:r>
                        <a:rPr lang="ko-KR" altLang="en-US" sz="16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구현하는지의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관점에서 효과가 동일한지를 판단하므로 제</a:t>
                      </a: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요건도 만족되기 쉬움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과제해결원리가 청구범위의 구성에 근접한 것으로 파악되어야 함</a:t>
                      </a:r>
                    </a:p>
                    <a:p>
                      <a:pPr marL="30480" marR="0" indent="-304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(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균등범위가 </a:t>
                      </a:r>
                      <a:r>
                        <a:rPr lang="ko-KR" altLang="en-US" sz="16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좁아짐</a:t>
                      </a: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260202"/>
                  </a:ext>
                </a:extLst>
              </a:tr>
              <a:tr h="24930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비본질적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구성의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차이가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있는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0480" marR="0" indent="-304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본질적 구성이 공통되므로 과제해결원리가 같음</a:t>
                      </a:r>
                    </a:p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해결원리를 </a:t>
                      </a:r>
                      <a:r>
                        <a:rPr lang="ko-KR" altLang="en-US" sz="16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구현하는지의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관점에서 효과가 동일한지를 판단하므로 제</a:t>
                      </a: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요건도 만족되기 쉬움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0480" marR="0" indent="-304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0480" marR="0" indent="-304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0480" marR="0" indent="-304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본질적 구성이 공통되므로 과제해결원리가 같음</a:t>
                      </a:r>
                    </a:p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그러나 특허발명이 선행기술에서 해결되지 않았던 기술 과제를 해결하였다고 할 수 없으므로 차이나는 구성의 기능이나 역할을 비교하여 양자의 작용효과가 동일하지 않다고 볼 수 있음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48059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61A1715E-2870-45F4-8F18-090AF4E6F493}"/>
              </a:ext>
            </a:extLst>
          </p:cNvPr>
          <p:cNvSpPr/>
          <p:nvPr/>
        </p:nvSpPr>
        <p:spPr>
          <a:xfrm>
            <a:off x="1758934" y="1701279"/>
            <a:ext cx="4700326" cy="338554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r>
              <a:rPr lang="en-US" altLang="ko-KR" sz="1600" dirty="0"/>
              <a:t>2</a:t>
            </a:r>
            <a:r>
              <a:rPr lang="ko-KR" altLang="en-US" sz="1600" dirty="0"/>
              <a:t>차 </a:t>
            </a:r>
            <a:r>
              <a:rPr lang="ko-KR" altLang="en-US" sz="1600" dirty="0" err="1"/>
              <a:t>구이김</a:t>
            </a:r>
            <a:r>
              <a:rPr lang="ko-KR" altLang="en-US" sz="1600" dirty="0"/>
              <a:t> 절단 및 수납장치 사건</a:t>
            </a:r>
            <a:r>
              <a:rPr lang="en-US" altLang="ko-KR" sz="1600" dirty="0"/>
              <a:t>(2016</a:t>
            </a:r>
            <a:r>
              <a:rPr lang="ko-KR" altLang="en-US" sz="1600" dirty="0"/>
              <a:t>마</a:t>
            </a:r>
            <a:r>
              <a:rPr lang="en-US" altLang="ko-KR" sz="1600" dirty="0"/>
              <a:t>5698): </a:t>
            </a:r>
            <a:r>
              <a:rPr lang="ko-KR" altLang="en-US" sz="1600" dirty="0"/>
              <a:t>긍정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88BE97-C5BE-4F9B-A28F-B4DEFAA64D3B}"/>
              </a:ext>
            </a:extLst>
          </p:cNvPr>
          <p:cNvSpPr/>
          <p:nvPr/>
        </p:nvSpPr>
        <p:spPr>
          <a:xfrm>
            <a:off x="1758934" y="3769935"/>
            <a:ext cx="4700326" cy="338554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r>
              <a:rPr lang="en-US" altLang="ko-KR" sz="1600" dirty="0"/>
              <a:t>2</a:t>
            </a:r>
            <a:r>
              <a:rPr lang="ko-KR" altLang="en-US" sz="1600" dirty="0"/>
              <a:t>차 </a:t>
            </a:r>
            <a:r>
              <a:rPr lang="ko-KR" altLang="en-US" sz="1600" dirty="0" err="1"/>
              <a:t>구이김</a:t>
            </a:r>
            <a:r>
              <a:rPr lang="ko-KR" altLang="en-US" sz="1600" dirty="0"/>
              <a:t> 절단 및 수납장치 사건</a:t>
            </a:r>
            <a:r>
              <a:rPr lang="en-US" altLang="ko-KR" sz="1600" dirty="0"/>
              <a:t>(2016</a:t>
            </a:r>
            <a:r>
              <a:rPr lang="ko-KR" altLang="en-US" sz="1600" dirty="0"/>
              <a:t>마</a:t>
            </a:r>
            <a:r>
              <a:rPr lang="en-US" altLang="ko-KR" sz="1600" dirty="0"/>
              <a:t>5698): </a:t>
            </a:r>
            <a:r>
              <a:rPr lang="ko-KR" altLang="en-US" sz="1600" dirty="0"/>
              <a:t>긍정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C1A5B2-75BA-428A-B3BC-0C0D5298D396}"/>
              </a:ext>
            </a:extLst>
          </p:cNvPr>
          <p:cNvSpPr/>
          <p:nvPr/>
        </p:nvSpPr>
        <p:spPr>
          <a:xfrm>
            <a:off x="7146869" y="3769935"/>
            <a:ext cx="3961341" cy="338554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양방향 가압 장치 사건</a:t>
            </a:r>
            <a:r>
              <a:rPr lang="en-US" altLang="ko-KR" sz="1600" dirty="0">
                <a:solidFill>
                  <a:schemeClr val="bg1"/>
                </a:solidFill>
              </a:rPr>
              <a:t>(2018</a:t>
            </a:r>
            <a:r>
              <a:rPr lang="ko-KR" altLang="en-US" sz="1600" dirty="0">
                <a:solidFill>
                  <a:schemeClr val="bg1"/>
                </a:solidFill>
              </a:rPr>
              <a:t>다</a:t>
            </a:r>
            <a:r>
              <a:rPr lang="en-US" altLang="ko-KR" sz="1600" dirty="0">
                <a:solidFill>
                  <a:schemeClr val="bg1"/>
                </a:solidFill>
              </a:rPr>
              <a:t>267252): </a:t>
            </a:r>
            <a:r>
              <a:rPr lang="ko-KR" altLang="en-US" sz="1600" dirty="0">
                <a:solidFill>
                  <a:schemeClr val="bg1"/>
                </a:solidFill>
              </a:rPr>
              <a:t>부정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CCA78B-EDA5-44A9-A84C-7C4F963AB8F3}"/>
              </a:ext>
            </a:extLst>
          </p:cNvPr>
          <p:cNvSpPr/>
          <p:nvPr/>
        </p:nvSpPr>
        <p:spPr>
          <a:xfrm>
            <a:off x="771525" y="6267156"/>
            <a:ext cx="9744075" cy="31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2570" indent="-242570" algn="just" fontAlgn="base">
              <a:lnSpc>
                <a:spcPct val="130000"/>
              </a:lnSpc>
              <a:tabLst>
                <a:tab pos="186690" algn="l"/>
                <a:tab pos="321310" algn="l"/>
                <a:tab pos="186690" algn="l"/>
                <a:tab pos="321310" algn="l"/>
              </a:tabLst>
            </a:pPr>
            <a:r>
              <a:rPr lang="en-US" altLang="ko-KR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* </a:t>
            </a:r>
            <a:r>
              <a:rPr lang="ko-KR" altLang="en-US" sz="1200" kern="0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구민승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“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 균등침해의 제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1, 2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요건</a:t>
            </a:r>
            <a:r>
              <a:rPr lang="ko-KR" altLang="en-US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”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사법 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48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호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사법발전재단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2019 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여름호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97-99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F06FE9-BA11-424F-B584-C049979F7E55}"/>
              </a:ext>
            </a:extLst>
          </p:cNvPr>
          <p:cNvSpPr/>
          <p:nvPr/>
        </p:nvSpPr>
        <p:spPr>
          <a:xfrm>
            <a:off x="7146869" y="4146039"/>
            <a:ext cx="3302507" cy="3385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LED </a:t>
            </a:r>
            <a:r>
              <a:rPr lang="ko-KR" altLang="en-US" sz="1600" dirty="0" err="1">
                <a:solidFill>
                  <a:schemeClr val="bg1"/>
                </a:solidFill>
              </a:rPr>
              <a:t>등기구</a:t>
            </a:r>
            <a:r>
              <a:rPr lang="ko-KR" altLang="en-US" sz="1600" dirty="0">
                <a:solidFill>
                  <a:schemeClr val="bg1"/>
                </a:solidFill>
              </a:rPr>
              <a:t> 사건</a:t>
            </a:r>
            <a:r>
              <a:rPr lang="en-US" altLang="ko-KR" sz="1600" dirty="0">
                <a:solidFill>
                  <a:schemeClr val="bg1"/>
                </a:solidFill>
              </a:rPr>
              <a:t>(2014</a:t>
            </a:r>
            <a:r>
              <a:rPr lang="ko-KR" altLang="en-US" sz="1600" dirty="0">
                <a:solidFill>
                  <a:schemeClr val="bg1"/>
                </a:solidFill>
              </a:rPr>
              <a:t>후</a:t>
            </a:r>
            <a:r>
              <a:rPr lang="en-US" altLang="ko-KR" sz="1600" dirty="0">
                <a:solidFill>
                  <a:schemeClr val="bg1"/>
                </a:solidFill>
              </a:rPr>
              <a:t>2788): </a:t>
            </a:r>
            <a:r>
              <a:rPr lang="ko-KR" altLang="en-US" sz="1600" dirty="0">
                <a:solidFill>
                  <a:schemeClr val="bg1"/>
                </a:solidFill>
              </a:rPr>
              <a:t>긍정</a:t>
            </a:r>
          </a:p>
        </p:txBody>
      </p:sp>
      <p:sp>
        <p:nvSpPr>
          <p:cNvPr id="11" name="원형: 비어 있음 10">
            <a:extLst>
              <a:ext uri="{FF2B5EF4-FFF2-40B4-BE49-F238E27FC236}">
                <a16:creationId xmlns:a16="http://schemas.microsoft.com/office/drawing/2014/main" id="{DE8A882F-F42A-45EC-9091-64AA087AA3E1}"/>
              </a:ext>
            </a:extLst>
          </p:cNvPr>
          <p:cNvSpPr/>
          <p:nvPr/>
        </p:nvSpPr>
        <p:spPr>
          <a:xfrm>
            <a:off x="3074126" y="4355790"/>
            <a:ext cx="1645920" cy="1601862"/>
          </a:xfrm>
          <a:prstGeom prst="donut">
            <a:avLst>
              <a:gd name="adj" fmla="val 15654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2297B2D9-9775-4C7E-AE12-C02D75B93D75}"/>
              </a:ext>
            </a:extLst>
          </p:cNvPr>
          <p:cNvSpPr/>
          <p:nvPr/>
        </p:nvSpPr>
        <p:spPr>
          <a:xfrm>
            <a:off x="7972373" y="1550127"/>
            <a:ext cx="2173114" cy="2094736"/>
          </a:xfrm>
          <a:prstGeom prst="mathMultiply">
            <a:avLst>
              <a:gd name="adj1" fmla="val 1280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20A00921-6FFE-433F-8035-4B093322A4D1}"/>
              </a:ext>
            </a:extLst>
          </p:cNvPr>
          <p:cNvSpPr/>
          <p:nvPr/>
        </p:nvSpPr>
        <p:spPr>
          <a:xfrm>
            <a:off x="7972373" y="4273885"/>
            <a:ext cx="2173114" cy="2094736"/>
          </a:xfrm>
          <a:prstGeom prst="mathMultiply">
            <a:avLst>
              <a:gd name="adj1" fmla="val 1280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4B17A073-63B8-4E39-8D89-ED04F7248702}"/>
              </a:ext>
            </a:extLst>
          </p:cNvPr>
          <p:cNvSpPr/>
          <p:nvPr/>
        </p:nvSpPr>
        <p:spPr>
          <a:xfrm>
            <a:off x="3281945" y="2088569"/>
            <a:ext cx="1654304" cy="1320603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D5BD2F37-0623-4CF1-8237-592E31ED2313}"/>
              </a:ext>
            </a:extLst>
          </p:cNvPr>
          <p:cNvSpPr/>
          <p:nvPr/>
        </p:nvSpPr>
        <p:spPr>
          <a:xfrm>
            <a:off x="3498148" y="2406705"/>
            <a:ext cx="1221898" cy="953824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12AA01-5FCE-02A3-1BF6-A447DBC93EC6}"/>
              </a:ext>
            </a:extLst>
          </p:cNvPr>
          <p:cNvSpPr/>
          <p:nvPr/>
        </p:nvSpPr>
        <p:spPr>
          <a:xfrm>
            <a:off x="7146869" y="1701279"/>
            <a:ext cx="4216219" cy="338554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경구 투여용 약제학적 제제</a:t>
            </a:r>
            <a:r>
              <a:rPr lang="en-US" altLang="ko-KR" sz="1600" dirty="0">
                <a:solidFill>
                  <a:schemeClr val="bg1"/>
                </a:solidFill>
              </a:rPr>
              <a:t>(2022</a:t>
            </a:r>
            <a:r>
              <a:rPr lang="ko-KR" altLang="en-US" sz="1600" dirty="0">
                <a:solidFill>
                  <a:schemeClr val="bg1"/>
                </a:solidFill>
              </a:rPr>
              <a:t>후</a:t>
            </a:r>
            <a:r>
              <a:rPr lang="en-US" altLang="ko-KR" sz="1600" dirty="0">
                <a:solidFill>
                  <a:schemeClr val="bg1"/>
                </a:solidFill>
              </a:rPr>
              <a:t>10746): </a:t>
            </a:r>
            <a:r>
              <a:rPr lang="ko-KR" altLang="en-US" sz="1600" dirty="0">
                <a:solidFill>
                  <a:schemeClr val="bg1"/>
                </a:solidFill>
              </a:rPr>
              <a:t>부정</a:t>
            </a:r>
          </a:p>
        </p:txBody>
      </p:sp>
    </p:spTree>
    <p:extLst>
      <p:ext uri="{BB962C8B-B14F-4D97-AF65-F5344CB8AC3E}">
        <p14:creationId xmlns:p14="http://schemas.microsoft.com/office/powerpoint/2010/main" val="1121977733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7CFEA-37AC-DCCB-9584-1502F905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61C31CA-22F2-27C8-3ECE-29AD6083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610510-9918-91EB-2296-FE35EFC25D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균등론</a:t>
            </a:r>
            <a:r>
              <a:rPr lang="ko-KR" altLang="en-US" sz="2400" dirty="0"/>
              <a:t> 적용 </a:t>
            </a:r>
            <a:r>
              <a:rPr lang="en-US" altLang="ko-KR" sz="2400" dirty="0"/>
              <a:t>CASE: </a:t>
            </a:r>
            <a:r>
              <a:rPr lang="ko-KR" altLang="en-US" sz="1600" dirty="0"/>
              <a:t>세정수단 포함 정수기 사건</a:t>
            </a:r>
            <a:r>
              <a:rPr lang="en-US" altLang="ko-KR" sz="1600" dirty="0"/>
              <a:t>(</a:t>
            </a:r>
            <a:r>
              <a:rPr lang="ko-KR" altLang="en-US" sz="1600" dirty="0"/>
              <a:t>대법원 </a:t>
            </a:r>
            <a:r>
              <a:rPr lang="en-US" altLang="ko-KR" sz="1600" dirty="0"/>
              <a:t>2025. 7. 17.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2023</a:t>
            </a:r>
            <a:r>
              <a:rPr lang="ko-KR" altLang="en-US" sz="1600" dirty="0"/>
              <a:t>후</a:t>
            </a:r>
            <a:r>
              <a:rPr lang="en-US" altLang="ko-KR" sz="1600" dirty="0"/>
              <a:t>11340)</a:t>
            </a:r>
            <a:endParaRPr lang="ko-KR" altLang="en-US" sz="16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1A49E15-770A-A724-A533-6E3F736BA48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340</a:t>
            </a:fld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7AF4A8-189C-4902-DEFA-2E02E077DCC1}"/>
              </a:ext>
            </a:extLst>
          </p:cNvPr>
          <p:cNvSpPr/>
          <p:nvPr/>
        </p:nvSpPr>
        <p:spPr>
          <a:xfrm>
            <a:off x="72320" y="1328496"/>
            <a:ext cx="6535452" cy="5435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1)  </a:t>
            </a:r>
            <a:r>
              <a:rPr lang="ko-KR" altLang="en-US" sz="1000" dirty="0"/>
              <a:t>원고</a:t>
            </a:r>
            <a:r>
              <a:rPr lang="en-US" altLang="ko-KR" sz="1000" b="1" dirty="0">
                <a:solidFill>
                  <a:schemeClr val="accent1"/>
                </a:solidFill>
              </a:rPr>
              <a:t>(</a:t>
            </a:r>
            <a:r>
              <a:rPr lang="ko-KR" altLang="en-US" sz="1000" b="1" dirty="0">
                <a:solidFill>
                  <a:schemeClr val="accent1"/>
                </a:solidFill>
              </a:rPr>
              <a:t>청</a:t>
            </a:r>
            <a:r>
              <a:rPr lang="en-US" altLang="ko-KR" sz="1000" b="1" dirty="0">
                <a:solidFill>
                  <a:schemeClr val="accent1"/>
                </a:solidFill>
              </a:rPr>
              <a:t>O</a:t>
            </a:r>
            <a:r>
              <a:rPr lang="ko-KR" altLang="en-US" sz="1000" b="1" dirty="0" err="1">
                <a:solidFill>
                  <a:schemeClr val="accent1"/>
                </a:solidFill>
              </a:rPr>
              <a:t>나이스</a:t>
            </a:r>
            <a:r>
              <a:rPr lang="en-US" altLang="ko-KR" sz="1000" b="1" dirty="0">
                <a:solidFill>
                  <a:schemeClr val="accent1"/>
                </a:solidFill>
              </a:rPr>
              <a:t>)</a:t>
            </a:r>
            <a:r>
              <a:rPr lang="ko-KR" altLang="en-US" sz="1000" dirty="0"/>
              <a:t>의 이 사건 특허발명의 명칭은 </a:t>
            </a:r>
            <a:r>
              <a:rPr lang="ko-KR" altLang="en-US" sz="1000" dirty="0">
                <a:solidFill>
                  <a:srgbClr val="FF0000"/>
                </a:solidFill>
              </a:rPr>
              <a:t>‘자가세정 가능한 </a:t>
            </a:r>
            <a:r>
              <a:rPr lang="ko-KR" altLang="en-US" sz="1000" dirty="0" err="1">
                <a:solidFill>
                  <a:srgbClr val="FF0000"/>
                </a:solidFill>
              </a:rPr>
              <a:t>정수기’</a:t>
            </a:r>
            <a:r>
              <a:rPr lang="ko-KR" altLang="en-US" sz="1000" dirty="0" err="1"/>
              <a:t>이다</a:t>
            </a:r>
            <a:r>
              <a:rPr lang="en-US" altLang="ko-KR" sz="1000" dirty="0"/>
              <a:t>. </a:t>
            </a:r>
            <a:r>
              <a:rPr lang="ko-KR" altLang="en-US" sz="1000" dirty="0"/>
              <a:t>이 사건 특허발명의 </a:t>
            </a:r>
            <a:r>
              <a:rPr lang="ko-KR" altLang="en-US" sz="1000" dirty="0" err="1"/>
              <a:t>출원인인</a:t>
            </a:r>
            <a:r>
              <a:rPr lang="ko-KR" altLang="en-US" sz="1000" dirty="0"/>
              <a:t> 원고는</a:t>
            </a:r>
            <a:r>
              <a:rPr lang="en-US" altLang="ko-KR" sz="1000" dirty="0"/>
              <a:t>, </a:t>
            </a:r>
            <a:r>
              <a:rPr lang="ko-KR" altLang="en-US" sz="1000" dirty="0"/>
              <a:t>자신이 </a:t>
            </a:r>
            <a:r>
              <a:rPr lang="ko-KR" altLang="en-US" sz="1000" dirty="0" err="1"/>
              <a:t>원출원한</a:t>
            </a:r>
            <a:r>
              <a:rPr lang="ko-KR" altLang="en-US" sz="1000" dirty="0"/>
              <a:t> 발명</a:t>
            </a:r>
            <a:r>
              <a:rPr lang="en-US" altLang="ko-KR" sz="1000" dirty="0"/>
              <a:t>[</a:t>
            </a:r>
            <a:r>
              <a:rPr lang="ko-KR" altLang="en-US" sz="1000" dirty="0"/>
              <a:t>출원일 </a:t>
            </a:r>
            <a:r>
              <a:rPr lang="en-US" altLang="ko-KR" sz="1000" dirty="0"/>
              <a:t>2009. 2. 3., (</a:t>
            </a:r>
            <a:r>
              <a:rPr lang="ko-KR" altLang="en-US" sz="1000" dirty="0"/>
              <a:t>출원번호 </a:t>
            </a:r>
            <a:r>
              <a:rPr lang="en-US" altLang="ko-KR" sz="1000" dirty="0"/>
              <a:t>1 </a:t>
            </a:r>
            <a:r>
              <a:rPr lang="ko-KR" altLang="en-US" sz="1000" dirty="0"/>
              <a:t>생략</a:t>
            </a:r>
            <a:r>
              <a:rPr lang="en-US" altLang="ko-KR" sz="1000" dirty="0"/>
              <a:t>], </a:t>
            </a:r>
            <a:r>
              <a:rPr lang="ko-KR" altLang="en-US" sz="1000" dirty="0"/>
              <a:t>이하 ‘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발명’이라</a:t>
            </a:r>
            <a:r>
              <a:rPr lang="ko-KR" altLang="en-US" sz="1000" dirty="0"/>
              <a:t> 한다</a:t>
            </a:r>
            <a:r>
              <a:rPr lang="en-US" altLang="ko-KR" sz="1000" dirty="0"/>
              <a:t>]</a:t>
            </a:r>
            <a:r>
              <a:rPr lang="ko-KR" altLang="en-US" sz="1000" dirty="0"/>
              <a:t>의 출원서에 최초로 첨부된 명세서 또는 도면에 기재된 사항의 범위에서 그 일부를 분할출원하고</a:t>
            </a:r>
            <a:r>
              <a:rPr lang="en-US" altLang="ko-KR" sz="1000" dirty="0"/>
              <a:t>[</a:t>
            </a:r>
            <a:r>
              <a:rPr lang="ko-KR" altLang="en-US" sz="1000" dirty="0"/>
              <a:t>출원일 </a:t>
            </a:r>
            <a:r>
              <a:rPr lang="en-US" altLang="ko-KR" sz="1000" dirty="0"/>
              <a:t>2010. 10. 28., (</a:t>
            </a:r>
            <a:r>
              <a:rPr lang="ko-KR" altLang="en-US" sz="1000" dirty="0"/>
              <a:t>출원번호 </a:t>
            </a:r>
            <a:r>
              <a:rPr lang="en-US" altLang="ko-KR" sz="1000" dirty="0"/>
              <a:t>2 </a:t>
            </a:r>
            <a:r>
              <a:rPr lang="ko-KR" altLang="en-US" sz="1000" dirty="0"/>
              <a:t>생략</a:t>
            </a:r>
            <a:r>
              <a:rPr lang="en-US" altLang="ko-KR" sz="1000" dirty="0"/>
              <a:t>), </a:t>
            </a:r>
            <a:r>
              <a:rPr lang="ko-KR" altLang="en-US" sz="1000" dirty="0"/>
              <a:t>이하 ‘</a:t>
            </a:r>
            <a:r>
              <a:rPr lang="en-US" altLang="ko-KR" sz="1000" dirty="0"/>
              <a:t>1</a:t>
            </a:r>
            <a:r>
              <a:rPr lang="ko-KR" altLang="en-US" sz="1000" dirty="0"/>
              <a:t>세대 분할출원 </a:t>
            </a:r>
            <a:r>
              <a:rPr lang="ko-KR" altLang="en-US" sz="1000" dirty="0" err="1"/>
              <a:t>발명’이라</a:t>
            </a:r>
            <a:r>
              <a:rPr lang="ko-KR" altLang="en-US" sz="1000" dirty="0"/>
              <a:t> 한다</a:t>
            </a:r>
            <a:r>
              <a:rPr lang="en-US" altLang="ko-KR" sz="1000" dirty="0"/>
              <a:t>], 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세대 분할출원 발명의 출원서에 최초로 첨부된 명세서 또는 도면에 기재된 사항의 범위에서 그 일부를 다시 </a:t>
            </a:r>
            <a:r>
              <a:rPr lang="ko-KR" altLang="en-US" sz="1000" dirty="0" err="1">
                <a:solidFill>
                  <a:srgbClr val="FF0000"/>
                </a:solidFill>
              </a:rPr>
              <a:t>분할출원하여</a:t>
            </a:r>
            <a:r>
              <a:rPr lang="en-US" altLang="ko-KR" sz="1000" dirty="0">
                <a:solidFill>
                  <a:srgbClr val="FF0000"/>
                </a:solidFill>
              </a:rPr>
              <a:t>[</a:t>
            </a:r>
            <a:r>
              <a:rPr lang="ko-KR" altLang="en-US" sz="1000" dirty="0">
                <a:solidFill>
                  <a:srgbClr val="FF0000"/>
                </a:solidFill>
              </a:rPr>
              <a:t>출원일 </a:t>
            </a:r>
            <a:r>
              <a:rPr lang="en-US" altLang="ko-KR" sz="1000" dirty="0">
                <a:solidFill>
                  <a:srgbClr val="FF0000"/>
                </a:solidFill>
              </a:rPr>
              <a:t>2011. 4. 4., (</a:t>
            </a:r>
            <a:r>
              <a:rPr lang="ko-KR" altLang="en-US" sz="1000" dirty="0">
                <a:solidFill>
                  <a:srgbClr val="FF0000"/>
                </a:solidFill>
              </a:rPr>
              <a:t>출원번호 </a:t>
            </a:r>
            <a:r>
              <a:rPr lang="en-US" altLang="ko-KR" sz="1000" dirty="0">
                <a:solidFill>
                  <a:srgbClr val="FF0000"/>
                </a:solidFill>
              </a:rPr>
              <a:t>3 </a:t>
            </a:r>
            <a:r>
              <a:rPr lang="ko-KR" altLang="en-US" sz="1000" dirty="0">
                <a:solidFill>
                  <a:srgbClr val="FF0000"/>
                </a:solidFill>
              </a:rPr>
              <a:t>생략</a:t>
            </a:r>
            <a:r>
              <a:rPr lang="en-US" altLang="ko-KR" sz="1000" dirty="0">
                <a:solidFill>
                  <a:srgbClr val="FF0000"/>
                </a:solidFill>
              </a:rPr>
              <a:t>)], </a:t>
            </a:r>
            <a:r>
              <a:rPr lang="ko-KR" altLang="en-US" sz="1000" dirty="0">
                <a:solidFill>
                  <a:srgbClr val="FF0000"/>
                </a:solidFill>
              </a:rPr>
              <a:t>이 사건 특허발명으로 특허등록을 받았다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2)  </a:t>
            </a:r>
            <a:r>
              <a:rPr lang="ko-KR" altLang="en-US" sz="1000" dirty="0"/>
              <a:t>이 사건 특허발명의 청구범위 제</a:t>
            </a:r>
            <a:r>
              <a:rPr lang="en-US" altLang="ko-KR" sz="1000" dirty="0"/>
              <a:t>1</a:t>
            </a:r>
            <a:r>
              <a:rPr lang="ko-KR" altLang="en-US" sz="1000" dirty="0"/>
              <a:t>항에는 ‘여과부에서 여과된 물을 이용하여 저장탱크를 세정할 수 있도록 저장탱크에 연결되며</a:t>
            </a:r>
            <a:r>
              <a:rPr lang="en-US" altLang="ko-KR" sz="1000" dirty="0"/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세정수단</a:t>
            </a:r>
            <a:r>
              <a:rPr lang="ko-KR" altLang="en-US" sz="1000" dirty="0"/>
              <a:t>을 구비하는 </a:t>
            </a:r>
            <a:r>
              <a:rPr lang="ko-KR" altLang="en-US" sz="1000" dirty="0" err="1"/>
              <a:t>세정부’라는</a:t>
            </a:r>
            <a:r>
              <a:rPr lang="ko-KR" altLang="en-US" sz="1000" dirty="0"/>
              <a:t> 사항이 적혀 있다</a:t>
            </a:r>
            <a:r>
              <a:rPr lang="en-US" altLang="ko-KR" sz="1000" dirty="0"/>
              <a:t>(</a:t>
            </a:r>
            <a:r>
              <a:rPr lang="ko-KR" altLang="en-US" sz="1000" dirty="0"/>
              <a:t>구성요소 </a:t>
            </a:r>
            <a:r>
              <a:rPr lang="en-US" altLang="ko-KR" sz="1000" dirty="0"/>
              <a:t>3). </a:t>
            </a:r>
            <a:r>
              <a:rPr lang="ko-KR" altLang="en-US" sz="1000" dirty="0"/>
              <a:t>그 청구범위에 ‘</a:t>
            </a:r>
            <a:r>
              <a:rPr lang="ko-KR" altLang="en-US" sz="1000" dirty="0" err="1"/>
              <a:t>세정수단’의</a:t>
            </a:r>
            <a:r>
              <a:rPr lang="ko-KR" altLang="en-US" sz="1000" dirty="0"/>
              <a:t> 구체적인 기술적 구성은 적혀 있지 않다</a:t>
            </a:r>
            <a:r>
              <a:rPr lang="en-US" altLang="ko-KR" sz="1000" dirty="0"/>
              <a:t>.</a:t>
            </a:r>
            <a:endParaRPr lang="ko-KR" altLang="en-US" sz="1000" dirty="0"/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3)  </a:t>
            </a:r>
            <a:r>
              <a:rPr lang="ko-KR" altLang="en-US" sz="1000" dirty="0"/>
              <a:t>이 사건 특허발명 명세서의 발명에 관한 </a:t>
            </a:r>
            <a:r>
              <a:rPr lang="ko-KR" altLang="en-US" sz="1000" dirty="0">
                <a:solidFill>
                  <a:srgbClr val="FF0000"/>
                </a:solidFill>
              </a:rPr>
              <a:t>설명에는 ‘세정수단은 세정물질 또는 살균물질을 희석시켜 저장탱크에 공급할 수 있다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세정수단에 유입된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여과부에서 여과되는 물에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세정수단에 포함된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세정물질 또는 살균물질</a:t>
            </a:r>
            <a:r>
              <a:rPr lang="ko-KR" altLang="en-US" sz="1000" dirty="0">
                <a:solidFill>
                  <a:srgbClr val="FF0000"/>
                </a:solidFill>
              </a:rPr>
              <a:t>이 희석된다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세정물질 또는 살균물질이 희석된 여과된 물이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저장탱크에 공급되면서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저장탱크가 세정 또는 살균된다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r>
              <a:rPr lang="ko-KR" altLang="en-US" sz="1000" dirty="0"/>
              <a:t>는 내용이 있다</a:t>
            </a:r>
            <a:r>
              <a:rPr lang="en-US" altLang="ko-KR" sz="1000" dirty="0"/>
              <a:t>.</a:t>
            </a:r>
            <a:endParaRPr lang="ko-KR" altLang="en-US" sz="1000" dirty="0"/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4)  </a:t>
            </a:r>
            <a:r>
              <a:rPr lang="ko-KR" altLang="en-US" sz="1000" dirty="0"/>
              <a:t>한편 원고는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발명의 출원 과정에서 </a:t>
            </a:r>
            <a:r>
              <a:rPr lang="en-US" altLang="ko-KR" sz="1000" dirty="0"/>
              <a:t>2011. 1. 5. </a:t>
            </a:r>
            <a:r>
              <a:rPr lang="ko-KR" altLang="en-US" sz="1000" dirty="0"/>
              <a:t>지식재산처 심사관으로부터 ‘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발명의 청구범위 제</a:t>
            </a:r>
            <a:r>
              <a:rPr lang="en-US" altLang="ko-KR" sz="1000" dirty="0"/>
              <a:t>1</a:t>
            </a:r>
            <a:r>
              <a:rPr lang="ko-KR" altLang="en-US" sz="1000" dirty="0"/>
              <a:t>항은 선행기술 문헌에 기재된 정수기 및 정수기 저수조 세척방법</a:t>
            </a:r>
            <a:r>
              <a:rPr lang="en-US" altLang="ko-KR" sz="1000" dirty="0"/>
              <a:t>(</a:t>
            </a:r>
            <a:r>
              <a:rPr lang="ko-KR" altLang="en-US" sz="1000" dirty="0"/>
              <a:t>이하 ‘비교대상 </a:t>
            </a:r>
            <a:r>
              <a:rPr lang="ko-KR" altLang="en-US" sz="1000" dirty="0" err="1"/>
              <a:t>발명’이라</a:t>
            </a:r>
            <a:r>
              <a:rPr lang="ko-KR" altLang="en-US" sz="1000" dirty="0"/>
              <a:t> 한다</a:t>
            </a:r>
            <a:r>
              <a:rPr lang="en-US" altLang="ko-KR" sz="1000" dirty="0"/>
              <a:t>)</a:t>
            </a:r>
            <a:r>
              <a:rPr lang="ko-KR" altLang="en-US" sz="1000" dirty="0"/>
              <a:t>과 실질적으로 동일하다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제</a:t>
            </a:r>
            <a:r>
              <a:rPr lang="en-US" altLang="ko-KR" sz="1000" dirty="0"/>
              <a:t>2</a:t>
            </a:r>
            <a:r>
              <a:rPr lang="ko-KR" altLang="en-US" sz="1000" dirty="0"/>
              <a:t>항부터 제</a:t>
            </a:r>
            <a:r>
              <a:rPr lang="en-US" altLang="ko-KR" sz="1000" dirty="0"/>
              <a:t>21</a:t>
            </a:r>
            <a:r>
              <a:rPr lang="ko-KR" altLang="en-US" sz="1000" dirty="0"/>
              <a:t>항의 발명도 마찬가지이다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발명은 특허를 받을 수 없다</a:t>
            </a:r>
            <a:r>
              <a:rPr lang="en-US" altLang="ko-KR" sz="1000" dirty="0"/>
              <a:t>.’</a:t>
            </a:r>
            <a:r>
              <a:rPr lang="ko-KR" altLang="en-US" sz="1000" dirty="0"/>
              <a:t>는 거절이유를 </a:t>
            </a:r>
            <a:r>
              <a:rPr lang="ko-KR" altLang="en-US" sz="1000" dirty="0" err="1"/>
              <a:t>통지받았다</a:t>
            </a:r>
            <a:r>
              <a:rPr lang="en-US" altLang="ko-KR" sz="1000" dirty="0"/>
              <a:t>.</a:t>
            </a:r>
            <a:endParaRPr lang="ko-KR" altLang="en-US" sz="1000" dirty="0"/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5)  </a:t>
            </a:r>
            <a:r>
              <a:rPr lang="ko-KR" altLang="en-US" sz="1000" dirty="0"/>
              <a:t>그러자 원고는 </a:t>
            </a:r>
            <a:r>
              <a:rPr lang="en-US" altLang="ko-KR" sz="1000" dirty="0"/>
              <a:t>2011. 3. 7. </a:t>
            </a:r>
            <a:r>
              <a:rPr lang="ko-KR" altLang="en-US" sz="1000" dirty="0"/>
              <a:t>지식재산처 심사관에게 </a:t>
            </a:r>
            <a:r>
              <a:rPr lang="ko-KR" altLang="en-US" sz="1000" dirty="0">
                <a:solidFill>
                  <a:srgbClr val="FF0000"/>
                </a:solidFill>
              </a:rPr>
              <a:t>‘</a:t>
            </a:r>
            <a:r>
              <a:rPr lang="ko-KR" altLang="en-US" sz="1000" dirty="0" err="1">
                <a:solidFill>
                  <a:srgbClr val="FF0000"/>
                </a:solidFill>
              </a:rPr>
              <a:t>원출원</a:t>
            </a:r>
            <a:r>
              <a:rPr lang="ko-KR" altLang="en-US" sz="1000" dirty="0">
                <a:solidFill>
                  <a:srgbClr val="FF0000"/>
                </a:solidFill>
              </a:rPr>
              <a:t>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 발명의 세정수단은 그 내부에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세정물질 또는 살균물질을 </a:t>
            </a:r>
            <a:r>
              <a:rPr lang="ko-KR" altLang="en-US" sz="1000" dirty="0">
                <a:solidFill>
                  <a:srgbClr val="FF0000"/>
                </a:solidFill>
              </a:rPr>
              <a:t>포함하고 있어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세정</a:t>
            </a:r>
            <a:r>
              <a:rPr lang="en-US" altLang="ko-KR" sz="1000" dirty="0">
                <a:solidFill>
                  <a:srgbClr val="FF0000"/>
                </a:solidFill>
              </a:rPr>
              <a:t>․</a:t>
            </a:r>
            <a:r>
              <a:rPr lang="ko-KR" altLang="en-US" sz="1000" dirty="0">
                <a:solidFill>
                  <a:srgbClr val="FF0000"/>
                </a:solidFill>
              </a:rPr>
              <a:t>살균을 위한 시간이 극히 짧고 별도의 전력이 소모되지 않는다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반면 비교대상 발명은 살균물질을 미리 포함하지 않아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세척을 위해서는 전기분해에 의하여 살균물질을 새롭게 생성</a:t>
            </a:r>
            <a:r>
              <a:rPr lang="ko-KR" altLang="en-US" sz="1000" dirty="0">
                <a:solidFill>
                  <a:srgbClr val="FF0000"/>
                </a:solidFill>
              </a:rPr>
              <a:t>해야 하는데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전기분해에 많은 시간이 소요되고 전력도 소모된다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/>
              <a:t>이처럼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발명과 비교대상 발명은 구성과 효과에 차이가 있어</a:t>
            </a:r>
            <a:r>
              <a:rPr lang="en-US" altLang="ko-KR" sz="1000" dirty="0"/>
              <a:t>, </a:t>
            </a:r>
            <a:r>
              <a:rPr lang="ko-KR" altLang="en-US" sz="1000" dirty="0"/>
              <a:t>실질적으로 동일하지 않다</a:t>
            </a:r>
            <a:r>
              <a:rPr lang="en-US" altLang="ko-KR" sz="1000" dirty="0"/>
              <a:t>.’</a:t>
            </a:r>
            <a:r>
              <a:rPr lang="ko-KR" altLang="en-US" sz="1000" dirty="0"/>
              <a:t>는 의견을 제출하였다</a:t>
            </a:r>
            <a:r>
              <a:rPr lang="en-US" altLang="ko-KR" sz="1000" dirty="0"/>
              <a:t>. </a:t>
            </a:r>
            <a:r>
              <a:rPr lang="ko-KR" altLang="en-US" sz="1000" dirty="0"/>
              <a:t>그러면서 원고는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제</a:t>
            </a:r>
            <a:r>
              <a:rPr lang="en-US" altLang="ko-KR" sz="1000" dirty="0"/>
              <a:t>1</a:t>
            </a:r>
            <a:r>
              <a:rPr lang="ko-KR" altLang="en-US" sz="1000" dirty="0"/>
              <a:t>항 </a:t>
            </a:r>
            <a:r>
              <a:rPr lang="ko-KR" altLang="en-US" sz="1000" dirty="0">
                <a:solidFill>
                  <a:srgbClr val="FF0000"/>
                </a:solidFill>
              </a:rPr>
              <a:t>발명의 세정수단을 ‘세정물질 또는 살균물질을 내부에 포함하고 있는 필터 또는 세정살균제 </a:t>
            </a:r>
            <a:r>
              <a:rPr lang="ko-KR" altLang="en-US" sz="1000" dirty="0" err="1">
                <a:solidFill>
                  <a:srgbClr val="FF0000"/>
                </a:solidFill>
              </a:rPr>
              <a:t>도징시스템을</a:t>
            </a:r>
            <a:r>
              <a:rPr lang="ko-KR" altLang="en-US" sz="1000" dirty="0">
                <a:solidFill>
                  <a:srgbClr val="FF0000"/>
                </a:solidFill>
              </a:rPr>
              <a:t> 포함하여 구성되는 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세정수단’으로</a:t>
            </a:r>
            <a:r>
              <a:rPr lang="ko-KR" altLang="en-US" sz="1000" dirty="0">
                <a:solidFill>
                  <a:srgbClr val="FF0000"/>
                </a:solidFill>
              </a:rPr>
              <a:t> 한정</a:t>
            </a:r>
            <a:r>
              <a:rPr lang="ko-KR" altLang="en-US" sz="1000" dirty="0"/>
              <a:t>하는 등으로 </a:t>
            </a:r>
            <a:r>
              <a:rPr lang="ko-KR" altLang="en-US" sz="1000" u="sng" dirty="0" err="1"/>
              <a:t>원출원</a:t>
            </a:r>
            <a:r>
              <a:rPr lang="ko-KR" altLang="en-US" sz="1000" u="sng" dirty="0"/>
              <a:t> 발명</a:t>
            </a:r>
            <a:r>
              <a:rPr lang="ko-KR" altLang="en-US" sz="1000" dirty="0"/>
              <a:t>의 청구범위 등을 보정하였다</a:t>
            </a:r>
            <a:r>
              <a:rPr lang="en-US" altLang="ko-KR" sz="1000" dirty="0"/>
              <a:t>. </a:t>
            </a:r>
            <a:endParaRPr lang="ko-KR" altLang="en-US" sz="1000" dirty="0"/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6)  </a:t>
            </a:r>
            <a:r>
              <a:rPr lang="ko-KR" altLang="en-US" sz="1000" dirty="0"/>
              <a:t>원고는 위와 같이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발명을 보정한 이후인 </a:t>
            </a:r>
            <a:r>
              <a:rPr lang="en-US" altLang="ko-KR" sz="1000" dirty="0"/>
              <a:t>2011. 4. 4. </a:t>
            </a:r>
            <a:r>
              <a:rPr lang="ko-KR" altLang="en-US" sz="1000" dirty="0"/>
              <a:t>이 사건 특허발명을 출원하여 특허로 </a:t>
            </a:r>
            <a:r>
              <a:rPr lang="ko-KR" altLang="en-US" sz="1000" dirty="0" err="1"/>
              <a:t>등록받았다</a:t>
            </a:r>
            <a:r>
              <a:rPr lang="en-US" altLang="ko-KR" sz="1000" dirty="0"/>
              <a:t>.</a:t>
            </a:r>
            <a:endParaRPr lang="ko-KR" altLang="en-US" sz="1000" dirty="0"/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7)  </a:t>
            </a:r>
            <a:r>
              <a:rPr lang="ko-KR" altLang="en-US" sz="1000" dirty="0"/>
              <a:t>피고</a:t>
            </a:r>
            <a:r>
              <a:rPr lang="en-US" altLang="ko-KR" sz="1000" b="1" dirty="0">
                <a:solidFill>
                  <a:schemeClr val="accent1"/>
                </a:solidFill>
              </a:rPr>
              <a:t>(</a:t>
            </a:r>
            <a:r>
              <a:rPr lang="ko-KR" altLang="en-US" sz="1000" b="1" dirty="0">
                <a:solidFill>
                  <a:schemeClr val="accent1"/>
                </a:solidFill>
              </a:rPr>
              <a:t>코</a:t>
            </a:r>
            <a:r>
              <a:rPr lang="en-US" altLang="ko-KR" sz="1000" b="1" dirty="0">
                <a:solidFill>
                  <a:schemeClr val="accent1"/>
                </a:solidFill>
              </a:rPr>
              <a:t>O</a:t>
            </a:r>
            <a:r>
              <a:rPr lang="ko-KR" altLang="en-US" sz="1000" b="1" dirty="0">
                <a:solidFill>
                  <a:schemeClr val="accent1"/>
                </a:solidFill>
              </a:rPr>
              <a:t>이</a:t>
            </a:r>
            <a:r>
              <a:rPr lang="en-US" altLang="ko-KR" sz="1000" b="1" dirty="0">
                <a:solidFill>
                  <a:schemeClr val="accent1"/>
                </a:solidFill>
              </a:rPr>
              <a:t>)</a:t>
            </a:r>
            <a:r>
              <a:rPr lang="ko-KR" altLang="en-US" sz="1000" dirty="0"/>
              <a:t>는</a:t>
            </a:r>
            <a:r>
              <a:rPr lang="en-US" altLang="ko-KR" sz="1000" dirty="0"/>
              <a:t>, </a:t>
            </a:r>
            <a:r>
              <a:rPr lang="ko-KR" altLang="en-US" sz="1000" dirty="0"/>
              <a:t>원고의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발명과 이를 인용하는 </a:t>
            </a:r>
            <a:r>
              <a:rPr lang="ko-KR" altLang="en-US" sz="1000" dirty="0" err="1"/>
              <a:t>종속항</a:t>
            </a:r>
            <a:r>
              <a:rPr lang="ko-KR" altLang="en-US" sz="1000" dirty="0"/>
              <a:t> 발명인 이 사건 제</a:t>
            </a:r>
            <a:r>
              <a:rPr lang="en-US" altLang="ko-KR" sz="1000" dirty="0"/>
              <a:t>10</a:t>
            </a:r>
            <a:r>
              <a:rPr lang="ko-KR" altLang="en-US" sz="1000" dirty="0"/>
              <a:t>항 발명의 보호범위를 확인하기 위하여 특허심판원에 원고를 상대로</a:t>
            </a:r>
            <a:r>
              <a:rPr lang="en-US" altLang="ko-KR" sz="1000" dirty="0"/>
              <a:t>, </a:t>
            </a:r>
            <a:r>
              <a:rPr lang="ko-KR" altLang="en-US" sz="1000" dirty="0"/>
              <a:t>확인대상 발명이 제</a:t>
            </a:r>
            <a:r>
              <a:rPr lang="en-US" altLang="ko-KR" sz="1000" dirty="0"/>
              <a:t>1</a:t>
            </a:r>
            <a:r>
              <a:rPr lang="ko-KR" altLang="en-US" sz="1000" dirty="0"/>
              <a:t>항</a:t>
            </a:r>
            <a:r>
              <a:rPr lang="en-US" altLang="ko-KR" sz="1000" dirty="0"/>
              <a:t>, </a:t>
            </a:r>
            <a:r>
              <a:rPr lang="ko-KR" altLang="en-US" sz="1000" dirty="0"/>
              <a:t>제</a:t>
            </a:r>
            <a:r>
              <a:rPr lang="en-US" altLang="ko-KR" sz="1000" dirty="0"/>
              <a:t>10</a:t>
            </a:r>
            <a:r>
              <a:rPr lang="ko-KR" altLang="en-US" sz="1000" dirty="0"/>
              <a:t>항 발명 특허권의 권리범위에 속하지 않는다는 확인을 구하는 소극적 권리범위 확인심판을 청구하였다</a:t>
            </a:r>
            <a:r>
              <a:rPr lang="en-US" altLang="ko-KR" sz="1000" dirty="0"/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확인대상발명의 설명서에는 ‘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확인대상 발명은 여과된 물을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전기분해하여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전기분해수를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생성하는 전극 살균기를 포함한다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전극 살균기는 세정물질 또는 살균물질을 포함하고 있지 않고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물을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전기분해함으로써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전기분해수를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생성한다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000" dirty="0">
                <a:solidFill>
                  <a:srgbClr val="FF0000"/>
                </a:solidFill>
              </a:rPr>
              <a:t>’</a:t>
            </a:r>
            <a:r>
              <a:rPr lang="ko-KR" altLang="en-US" sz="1000" dirty="0">
                <a:solidFill>
                  <a:srgbClr val="FF0000"/>
                </a:solidFill>
              </a:rPr>
              <a:t>는 내용 등이 기재되어 있다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확인대상 발명의 도면에는 전극 살균기 구성이 도시되어 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" name="모서리가 둥근 직사각형 30">
            <a:extLst>
              <a:ext uri="{FF2B5EF4-FFF2-40B4-BE49-F238E27FC236}">
                <a16:creationId xmlns:a16="http://schemas.microsoft.com/office/drawing/2014/main" id="{2EB66FB3-9973-2BB7-B1C9-5A4042205645}"/>
              </a:ext>
            </a:extLst>
          </p:cNvPr>
          <p:cNvSpPr/>
          <p:nvPr/>
        </p:nvSpPr>
        <p:spPr>
          <a:xfrm>
            <a:off x="72320" y="1004447"/>
            <a:ext cx="895868" cy="2721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사실관계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2FC4D45-26AE-9523-DC85-1C39F7B44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152" y="1004447"/>
            <a:ext cx="4770466" cy="5519999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42E7296-5ADB-B750-BA3B-74CBD375B57E}"/>
              </a:ext>
            </a:extLst>
          </p:cNvPr>
          <p:cNvSpPr/>
          <p:nvPr/>
        </p:nvSpPr>
        <p:spPr>
          <a:xfrm>
            <a:off x="7010152" y="2187388"/>
            <a:ext cx="4770466" cy="12416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B8EBA51-256E-82B3-159A-F32E981F21C1}"/>
              </a:ext>
            </a:extLst>
          </p:cNvPr>
          <p:cNvCxnSpPr>
            <a:cxnSpLocks/>
          </p:cNvCxnSpPr>
          <p:nvPr/>
        </p:nvCxnSpPr>
        <p:spPr>
          <a:xfrm>
            <a:off x="6607772" y="1004447"/>
            <a:ext cx="0" cy="571011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BAEAA86-AF7C-83BA-A15E-342254DC240E}"/>
              </a:ext>
            </a:extLst>
          </p:cNvPr>
          <p:cNvSpPr/>
          <p:nvPr/>
        </p:nvSpPr>
        <p:spPr>
          <a:xfrm>
            <a:off x="8265210" y="2617695"/>
            <a:ext cx="726390" cy="1972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5903721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1881-C777-5973-076F-808E4345C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DF8529-3411-08A2-1727-4DEA5CB48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5265E5-7613-1644-0825-A037B6EC9D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균등론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 적용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CASE: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세정수단 포함 정수기 사건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대법원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2025. 7. 17.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선고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2023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후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11340)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ix모던명조 B" panose="02020603020101020101" pitchFamily="18" charset="-127"/>
              <a:ea typeface="Rix모던명조 B" panose="02020603020101020101" pitchFamily="18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5A0299-62CF-CE79-7E74-EF241DA6FFF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341</a:t>
            </a:fld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39D3FBE-493C-5E71-76A6-F2A66E11298B}"/>
              </a:ext>
            </a:extLst>
          </p:cNvPr>
          <p:cNvCxnSpPr>
            <a:cxnSpLocks/>
          </p:cNvCxnSpPr>
          <p:nvPr/>
        </p:nvCxnSpPr>
        <p:spPr>
          <a:xfrm>
            <a:off x="5572211" y="905437"/>
            <a:ext cx="0" cy="586291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7449DA1-4B6F-771C-991D-70F8C8CBC22D}"/>
              </a:ext>
            </a:extLst>
          </p:cNvPr>
          <p:cNvSpPr txBox="1"/>
          <p:nvPr/>
        </p:nvSpPr>
        <p:spPr>
          <a:xfrm>
            <a:off x="36945" y="955604"/>
            <a:ext cx="5490170" cy="19277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20000"/>
              </a:lnSpc>
              <a:buNone/>
              <a:tabLst>
                <a:tab pos="114300" algn="l"/>
                <a:tab pos="408940" algn="l"/>
                <a:tab pos="624840" algn="l"/>
                <a:tab pos="4561840" algn="r"/>
                <a:tab pos="114300" algn="l"/>
                <a:tab pos="408940" algn="l"/>
                <a:tab pos="624840" algn="l"/>
                <a:tab pos="4561840" algn="r"/>
              </a:tabLst>
            </a:pPr>
            <a:r>
              <a:rPr lang="en-US" altLang="ko-KR" sz="1000" b="1" kern="0" spc="-40" dirty="0"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(</a:t>
            </a:r>
            <a:r>
              <a:rPr lang="ko-KR" altLang="en-US" sz="1000" b="1" kern="0" spc="-40" dirty="0"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청구범위의 제한해석</a:t>
            </a:r>
            <a:r>
              <a:rPr lang="en-US" altLang="ko-KR" sz="1000" b="1" kern="0" spc="-40" dirty="0"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)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특허발명의 보호범위는 청구범위에 적혀 있는 사항에 따라 정해지고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발명에 관한 설명이나 도면 등으로 보호범위를 제한하거나 확장하는 것은 원칙적으로 허용되지 않는다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그런데 청구범위에 적혀 있는 사항이 통상적인 구조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방법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물질 등이 아니라 기능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효과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성질 등의 이른바 기능적 표현으로 되어 있어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그 용어의 기재만으로 기술적 구성의 구체적인 내용을 알 수 없는 경우에는</a:t>
            </a:r>
            <a:r>
              <a:rPr lang="en-US" altLang="ko-KR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그 특허권의 침해 판단이나 권리범위 확인이 문제되는 국면에서 청구범위를 문언 그대로 해석하면 명세서의 다른 기재에 비추어 보아 명백히 불합리할 때가 있다</a:t>
            </a:r>
            <a:r>
              <a:rPr lang="en-US" altLang="ko-KR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청구범위에 문언적으로 포함된다고 해석되는 것 중 일부가 발명에 관한 설명의 기재에 의하여 뒷받침되지 않거나</a:t>
            </a:r>
            <a:r>
              <a:rPr lang="en-US" altLang="ko-KR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출원인이 그중 일부를 특허권의 권리범위에서 의식적으로 제외하고 있다고 보이는 경우 등이 이에 해당한다</a:t>
            </a:r>
            <a:r>
              <a:rPr lang="en-US" altLang="ko-KR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이러한 경우에는 출원된 기술사상의 내용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명세서의 다른 기재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출원인의 의사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제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3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자에 대한 법적 안정성을 두루 참작하여 특허권의 권리범위를 제한 해석할 수 있다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).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이는 독립항과 그 종속항의 권리범위가 동일하게 된다고 하여도 마찬가지이다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endParaRPr lang="ko-KR" altLang="en-US" sz="1000" kern="0" spc="-3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AE0789-0D0A-BC46-E839-42F93AD878BF}"/>
              </a:ext>
            </a:extLst>
          </p:cNvPr>
          <p:cNvSpPr/>
          <p:nvPr/>
        </p:nvSpPr>
        <p:spPr>
          <a:xfrm>
            <a:off x="36943" y="2904754"/>
            <a:ext cx="553526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 fontAlgn="base"/>
            <a:r>
              <a:rPr lang="en-US" altLang="ko-KR" sz="1000" dirty="0"/>
              <a:t>1) 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 청구범위에 적혀 있는 </a:t>
            </a:r>
            <a:r>
              <a:rPr lang="ko-KR" altLang="en-US" sz="1000" dirty="0">
                <a:solidFill>
                  <a:srgbClr val="FF0000"/>
                </a:solidFill>
              </a:rPr>
              <a:t>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세정수단’이라는</a:t>
            </a:r>
            <a:r>
              <a:rPr lang="ko-KR" altLang="en-US" sz="1000" dirty="0">
                <a:solidFill>
                  <a:srgbClr val="FF0000"/>
                </a:solidFill>
              </a:rPr>
              <a:t> 용어는 ‘세정 기능을 하는 </a:t>
            </a:r>
            <a:r>
              <a:rPr lang="ko-KR" altLang="en-US" sz="1000" dirty="0" err="1">
                <a:solidFill>
                  <a:srgbClr val="FF0000"/>
                </a:solidFill>
              </a:rPr>
              <a:t>수단’이라는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기능적 표현으로서 그 용어 자체만으로는 기술적 구성의 구체적인 내용을 알 수 없다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.</a:t>
            </a:r>
          </a:p>
          <a:p>
            <a:pPr marL="179388" indent="-179388" fontAlgn="base"/>
            <a:r>
              <a:rPr lang="en-US" altLang="ko-KR" sz="1000" dirty="0"/>
              <a:t>2)  </a:t>
            </a:r>
            <a:r>
              <a:rPr lang="ko-KR" altLang="en-US" sz="1000" dirty="0">
                <a:solidFill>
                  <a:srgbClr val="FF0000"/>
                </a:solidFill>
              </a:rPr>
              <a:t>특허발명 명세서의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발명에 관한 설명</a:t>
            </a:r>
            <a:r>
              <a:rPr lang="ko-KR" altLang="en-US" sz="1000" dirty="0">
                <a:solidFill>
                  <a:srgbClr val="FF0000"/>
                </a:solidFill>
              </a:rPr>
              <a:t>에</a:t>
            </a:r>
            <a:r>
              <a:rPr lang="ko-KR" altLang="en-US" sz="1000" dirty="0"/>
              <a:t>는 ‘</a:t>
            </a:r>
            <a:r>
              <a:rPr lang="ko-KR" altLang="en-US" sz="1000" dirty="0" err="1"/>
              <a:t>세정수단’에</a:t>
            </a:r>
            <a:r>
              <a:rPr lang="ko-KR" altLang="en-US" sz="1000" dirty="0"/>
              <a:t> 대한 설명으로 ‘여과부에서 여과된 물에 세정물질 또는 살균물질을 희석한 것을 가지고 저장탱크를 세정하는 </a:t>
            </a:r>
            <a:r>
              <a:rPr lang="ko-KR" altLang="en-US" sz="1000" dirty="0" err="1"/>
              <a:t>수단’이라는</a:t>
            </a:r>
            <a:r>
              <a:rPr lang="ko-KR" altLang="en-US" sz="1000" dirty="0"/>
              <a:t> 내용이 기재되어 있다</a:t>
            </a:r>
            <a:r>
              <a:rPr lang="en-US" altLang="ko-KR" sz="1000" dirty="0"/>
              <a:t>. </a:t>
            </a:r>
            <a:r>
              <a:rPr lang="ko-KR" altLang="en-US" sz="1000" dirty="0"/>
              <a:t>그러나 이러한 내용 외에 ‘전기분해 방식으로 살균물질을 생성하여 세정하는 </a:t>
            </a:r>
            <a:r>
              <a:rPr lang="ko-KR" altLang="en-US" sz="1000" dirty="0" err="1"/>
              <a:t>수단’에</a:t>
            </a:r>
            <a:r>
              <a:rPr lang="ko-KR" altLang="en-US" sz="1000" dirty="0"/>
              <a:t> 관한 내용은 기재되어 있지 않고</a:t>
            </a:r>
            <a:r>
              <a:rPr lang="en-US" altLang="ko-KR" sz="1000" dirty="0"/>
              <a:t>, </a:t>
            </a:r>
            <a:r>
              <a:rPr lang="en-US" altLang="ko-KR" sz="1000" dirty="0">
                <a:solidFill>
                  <a:srgbClr val="FF0000"/>
                </a:solidFill>
              </a:rPr>
              <a:t>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세정수단’의</a:t>
            </a:r>
            <a:r>
              <a:rPr lang="ko-KR" altLang="en-US" sz="1000" dirty="0">
                <a:solidFill>
                  <a:srgbClr val="FF0000"/>
                </a:solidFill>
              </a:rPr>
              <a:t> 구성을 구체적으로 개시하거나 시사하는 내용도 나타나 있지 않다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</a:p>
          <a:p>
            <a:pPr marL="179388" indent="-179388" fontAlgn="base"/>
            <a:r>
              <a:rPr lang="en-US" altLang="ko-KR" sz="1000" dirty="0"/>
              <a:t>3)  </a:t>
            </a:r>
            <a:r>
              <a:rPr lang="ko-KR" altLang="en-US" sz="1000" dirty="0"/>
              <a:t>원고는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발명의 출원 과정에서 거절이유를 극복하기 위해</a:t>
            </a:r>
            <a:r>
              <a:rPr lang="en-US" altLang="ko-KR" sz="1000" dirty="0"/>
              <a:t>, </a:t>
            </a:r>
            <a:r>
              <a:rPr lang="ko-KR" altLang="en-US" sz="1000" dirty="0" err="1">
                <a:solidFill>
                  <a:srgbClr val="FF0000"/>
                </a:solidFill>
              </a:rPr>
              <a:t>원출원</a:t>
            </a:r>
            <a:r>
              <a:rPr lang="ko-KR" altLang="en-US" sz="1000" dirty="0">
                <a:solidFill>
                  <a:srgbClr val="FF0000"/>
                </a:solidFill>
              </a:rPr>
              <a:t>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 발명의 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세정수단’에는</a:t>
            </a:r>
            <a:r>
              <a:rPr lang="ko-KR" altLang="en-US" sz="1000" dirty="0">
                <a:solidFill>
                  <a:srgbClr val="FF0000"/>
                </a:solidFill>
              </a:rPr>
              <a:t> ‘전기분해 방식으로 살균물질을 생성하여 세정하는 </a:t>
            </a:r>
            <a:r>
              <a:rPr lang="ko-KR" altLang="en-US" sz="1000" dirty="0" err="1">
                <a:solidFill>
                  <a:srgbClr val="FF0000"/>
                </a:solidFill>
              </a:rPr>
              <a:t>수단’이</a:t>
            </a:r>
            <a:r>
              <a:rPr lang="ko-KR" altLang="en-US" sz="1000" dirty="0">
                <a:solidFill>
                  <a:srgbClr val="FF0000"/>
                </a:solidFill>
              </a:rPr>
              <a:t> 포함되지 않는다는 취지의 의견을 제출</a:t>
            </a:r>
            <a:r>
              <a:rPr lang="ko-KR" altLang="en-US" sz="1000" dirty="0"/>
              <a:t>하였다</a:t>
            </a:r>
            <a:r>
              <a:rPr lang="en-US" altLang="ko-KR" sz="1000" dirty="0"/>
              <a:t>. </a:t>
            </a:r>
            <a:r>
              <a:rPr lang="ko-KR" altLang="en-US" sz="1000" dirty="0" err="1">
                <a:solidFill>
                  <a:srgbClr val="FF0000"/>
                </a:solidFill>
              </a:rPr>
              <a:t>원출원</a:t>
            </a:r>
            <a:r>
              <a:rPr lang="ko-KR" altLang="en-US" sz="1000" dirty="0">
                <a:solidFill>
                  <a:srgbClr val="FF0000"/>
                </a:solidFill>
              </a:rPr>
              <a:t> 발명과 이 사건 특허발명의 출원인은 모두 원고로 동일</a:t>
            </a:r>
            <a:r>
              <a:rPr lang="ko-KR" altLang="en-US" sz="1000" dirty="0"/>
              <a:t>하다</a:t>
            </a:r>
            <a:r>
              <a:rPr lang="en-US" altLang="ko-KR" sz="1000" dirty="0"/>
              <a:t>. </a:t>
            </a:r>
            <a:r>
              <a:rPr lang="ko-KR" altLang="en-US" sz="1000" dirty="0"/>
              <a:t>이 사건 특허발명은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발명을 기초로 하는 </a:t>
            </a:r>
            <a:r>
              <a:rPr lang="en-US" altLang="ko-KR" sz="1000" dirty="0"/>
              <a:t>1</a:t>
            </a:r>
            <a:r>
              <a:rPr lang="ko-KR" altLang="en-US" sz="1000" dirty="0"/>
              <a:t>세대 분할출원 발명으로부터 </a:t>
            </a:r>
            <a:r>
              <a:rPr lang="ko-KR" altLang="en-US" sz="1000" dirty="0" err="1"/>
              <a:t>분할출원된</a:t>
            </a:r>
            <a:r>
              <a:rPr lang="ko-KR" altLang="en-US" sz="1000" dirty="0"/>
              <a:t> 발명으로서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발명의 출원서에 최초로 첨부된 명세서 또는 도면에 기재된 사항의 범위 내에 있는 발명이다</a:t>
            </a:r>
            <a:r>
              <a:rPr lang="en-US" altLang="ko-KR" sz="1000" dirty="0"/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원고는 </a:t>
            </a:r>
            <a:r>
              <a:rPr lang="ko-KR" altLang="en-US" sz="1000" dirty="0" err="1">
                <a:solidFill>
                  <a:srgbClr val="FF0000"/>
                </a:solidFill>
              </a:rPr>
              <a:t>원출원</a:t>
            </a:r>
            <a:r>
              <a:rPr lang="ko-KR" altLang="en-US" sz="1000" dirty="0">
                <a:solidFill>
                  <a:srgbClr val="FF0000"/>
                </a:solidFill>
              </a:rPr>
              <a:t> 발명에 관한 위와 같은 의견제출 이후에 이 사건 특허발명을 출원하였다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r>
              <a:rPr lang="en-US" altLang="ko-KR" sz="1000" dirty="0"/>
              <a:t> </a:t>
            </a:r>
            <a:r>
              <a:rPr lang="ko-KR" altLang="en-US" sz="1000" dirty="0"/>
              <a:t>이러한 사정을 고려하면</a:t>
            </a:r>
            <a:r>
              <a:rPr lang="en-US" altLang="ko-KR" sz="1000" dirty="0"/>
              <a:t>,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원출원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발명에 대한 출원경과는 그 후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분할출원된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이 사건 특허발명의 청구범위를 해석할 때에도 참작할 수 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r>
              <a:rPr lang="en-US" altLang="ko-KR" sz="1000" dirty="0"/>
              <a:t> </a:t>
            </a:r>
            <a:r>
              <a:rPr lang="ko-KR" altLang="en-US" sz="1000" dirty="0"/>
              <a:t>이를 참작하면</a:t>
            </a:r>
            <a:r>
              <a:rPr lang="en-US" altLang="ko-KR" sz="1000" dirty="0"/>
              <a:t>, </a:t>
            </a:r>
            <a:r>
              <a:rPr lang="ko-KR" altLang="en-US" sz="1000" dirty="0"/>
              <a:t>원고는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 ‘세정수단’ 중 ‘전기분해 방식으로 살균물질을 생성하여 세정하는 </a:t>
            </a:r>
            <a:r>
              <a:rPr lang="ko-KR" altLang="en-US" sz="1000" dirty="0" err="1"/>
              <a:t>수단’을</a:t>
            </a:r>
            <a:r>
              <a:rPr lang="ko-KR" altLang="en-US" sz="1000" dirty="0"/>
              <a:t> 의식적으로 제외하였다고 보인다</a:t>
            </a:r>
            <a:r>
              <a:rPr lang="en-US" altLang="ko-KR" sz="1000" dirty="0"/>
              <a:t>. </a:t>
            </a:r>
          </a:p>
          <a:p>
            <a:pPr marL="179388" indent="-179388" fontAlgn="base"/>
            <a:r>
              <a:rPr lang="en-US" altLang="ko-KR" sz="1000" dirty="0"/>
              <a:t>4)  </a:t>
            </a:r>
            <a:r>
              <a:rPr lang="ko-KR" altLang="en-US" sz="1000" dirty="0"/>
              <a:t>따라서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 </a:t>
            </a:r>
            <a:r>
              <a:rPr lang="ko-KR" altLang="en-US" sz="1000" dirty="0">
                <a:solidFill>
                  <a:srgbClr val="FF0000"/>
                </a:solidFill>
              </a:rPr>
              <a:t>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세정수단’에</a:t>
            </a:r>
            <a:r>
              <a:rPr lang="ko-KR" altLang="en-US" sz="1000" dirty="0">
                <a:solidFill>
                  <a:srgbClr val="FF0000"/>
                </a:solidFill>
              </a:rPr>
              <a:t> 문언적으로 포함된다고 해석되는 것 중 ‘전기분해 방식으로 살균물질을 생성하여 세정하는 </a:t>
            </a:r>
            <a:r>
              <a:rPr lang="ko-KR" altLang="en-US" sz="1000" dirty="0" err="1">
                <a:solidFill>
                  <a:srgbClr val="FF0000"/>
                </a:solidFill>
              </a:rPr>
              <a:t>수단’은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발명에 관한 설명의 기재에 의하여 뒷받침되지 않고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출원인인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원고가 특허권의 권리범위에서 의식적으로 제외한 부분에도 해당한다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그러므로 그 ‘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세정수단’을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문언 그대로 해석하는 것은 명백히 불합리하다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.</a:t>
            </a:r>
          </a:p>
          <a:p>
            <a:pPr marL="179388" indent="-179388" fontAlgn="base"/>
            <a:r>
              <a:rPr lang="en-US" altLang="ko-KR" sz="1000" dirty="0"/>
              <a:t>5)  </a:t>
            </a:r>
            <a:r>
              <a:rPr lang="ko-KR" altLang="en-US" sz="1000" dirty="0">
                <a:solidFill>
                  <a:srgbClr val="FF0000"/>
                </a:solidFill>
              </a:rPr>
              <a:t>결국 출원된 기술사상의 내용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발명에 관한 설명의 기재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출원인의 의사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자에 대한 법적 안정성을 두루 참작</a:t>
            </a:r>
            <a:r>
              <a:rPr lang="ko-KR" altLang="en-US" sz="1000" dirty="0"/>
              <a:t>하면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</a:t>
            </a:r>
            <a:r>
              <a:rPr lang="ko-KR" altLang="en-US" sz="1000" dirty="0">
                <a:solidFill>
                  <a:srgbClr val="FF0000"/>
                </a:solidFill>
              </a:rPr>
              <a:t>발명의 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세정수단’은</a:t>
            </a:r>
            <a:r>
              <a:rPr lang="ko-KR" altLang="en-US" sz="1000" dirty="0">
                <a:solidFill>
                  <a:srgbClr val="FF0000"/>
                </a:solidFill>
              </a:rPr>
              <a:t> ‘세정물질 또는 살균물질을 내부에 포함하고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그 세정물질 또는 살균물질을 여과부에서 여과된 물에 희석하여 저장탱크에 공급함으로써 저장탱크를 세정하기 위한 </a:t>
            </a:r>
            <a:r>
              <a:rPr lang="ko-KR" altLang="en-US" sz="1000" dirty="0" err="1">
                <a:solidFill>
                  <a:srgbClr val="FF0000"/>
                </a:solidFill>
              </a:rPr>
              <a:t>수단’으로</a:t>
            </a:r>
            <a:r>
              <a:rPr lang="ko-KR" altLang="en-US" sz="1000" dirty="0">
                <a:solidFill>
                  <a:srgbClr val="FF0000"/>
                </a:solidFill>
              </a:rPr>
              <a:t> 해석</a:t>
            </a:r>
            <a:r>
              <a:rPr lang="ko-KR" altLang="en-US" sz="1000" dirty="0"/>
              <a:t>하는 것이 타당하다</a:t>
            </a:r>
            <a:r>
              <a:rPr lang="en-US" altLang="ko-KR" sz="1000" dirty="0"/>
              <a:t>. </a:t>
            </a:r>
            <a:r>
              <a:rPr lang="ko-KR" altLang="en-US" sz="1000" dirty="0"/>
              <a:t>이 사건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 발명 특허권의 권리범위가 이 사건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 발명의 구성 중 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세정수단’을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구체적으로 한정한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종속항인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이 사건 제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5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항 발명 특허권이나 그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종속항인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이 사건 제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6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항 발명 특허권의 권리범위와 실질적으로 동일하게 된다고 하여도 마찬가지이다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1B615-050D-82E2-3421-74200140E53E}"/>
              </a:ext>
            </a:extLst>
          </p:cNvPr>
          <p:cNvSpPr txBox="1"/>
          <p:nvPr/>
        </p:nvSpPr>
        <p:spPr>
          <a:xfrm>
            <a:off x="5626001" y="973541"/>
            <a:ext cx="6439682" cy="1743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20000"/>
              </a:lnSpc>
              <a:buNone/>
              <a:tabLst>
                <a:tab pos="114300" algn="l"/>
                <a:tab pos="408940" algn="l"/>
                <a:tab pos="624840" algn="l"/>
                <a:tab pos="4561840" algn="r"/>
                <a:tab pos="114300" algn="l"/>
                <a:tab pos="408940" algn="l"/>
                <a:tab pos="624840" algn="l"/>
                <a:tab pos="4561840" algn="r"/>
              </a:tabLst>
            </a:pPr>
            <a:r>
              <a:rPr lang="en-US" altLang="ko-KR" sz="1000" b="1" kern="0" spc="-40" dirty="0"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(</a:t>
            </a:r>
            <a:r>
              <a:rPr lang="ko-KR" altLang="en-US" sz="1000" b="1" kern="0" spc="-40" dirty="0">
                <a:uFill>
                  <a:solidFill>
                    <a:srgbClr val="000000"/>
                  </a:solidFill>
                </a:uFill>
                <a:latin typeface="+mn-ea"/>
              </a:rPr>
              <a:t>균등론의 적용</a:t>
            </a:r>
            <a:r>
              <a:rPr lang="en-US" altLang="ko-KR" sz="1000" b="1" kern="0" spc="-40" dirty="0"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)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확인대상 발명과 특허발명의 ‘과제 해결원리가 </a:t>
            </a:r>
            <a:r>
              <a:rPr lang="ko-KR" altLang="en-US" sz="1000" kern="0" spc="-4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동일’한지를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 가릴 때에는 청구범위에 기재된 구성의 일부를 형식적으로 추출할 것이 아니라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명세서에 적힌 발명에 관한 설명의 기재와 출원 당시의 공지기술 등을 참작하여 선행기술과 대비하여 볼 때 특허발명에 특유한 해결수단이 기초하고 있는 기술사상의 핵심이 무엇인가를 실질적으로 탐구하여 판단하여야 한다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특허법이 보호하려는 특허발명의 실질적 가치는 선행기술에서 해결되지 않았던 기술과제를 특허발명이 해결하여 기술발전에 기여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하였다는 데에 있으므로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확인대상 발명의 변경된 구성요소가 특허발명의 대응되는 구성요소와 균등한지를 판단할 때에도 특허발명에 특유한 과제 해결원리를 고려하는 것이다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그리고 특허발명의 과제 해결원리를 파악할 때 발명에 관한 설명의 </a:t>
            </a:r>
            <a:r>
              <a:rPr lang="ko-KR" altLang="en-US" sz="1000" kern="0" spc="-4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기재뿐만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 아니라 출원 당시의 공지기술 등까지 참작하는 것은 전체 선행기술과의 관계에서 특허발명이 기술발전에 기여한 정도에 따라 특허발명의 실질적 가치를 객관적으로 파악하여 그에 합당한 보호를 하기 위한 것이다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따라서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이러한 선행기술을 참작하여 특허발명이 기술발전에 기여한 정도에 따라 특허발명의 과제 해결원리를 얼마나 넓게 또는 좁게 파악할지 결정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하여야 한다</a:t>
            </a:r>
            <a:endParaRPr lang="ko-KR" altLang="en-US" sz="1000" kern="0" spc="-3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9CBCD5-11D3-3E74-6F59-6E197642956D}"/>
              </a:ext>
            </a:extLst>
          </p:cNvPr>
          <p:cNvSpPr/>
          <p:nvPr/>
        </p:nvSpPr>
        <p:spPr>
          <a:xfrm>
            <a:off x="5626001" y="2726549"/>
            <a:ext cx="646737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 fontAlgn="base"/>
            <a:r>
              <a:rPr lang="en-US" altLang="ko-KR" sz="1000" dirty="0"/>
              <a:t>1) 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</a:t>
            </a:r>
            <a:r>
              <a:rPr lang="ko-KR" altLang="en-US" sz="1000" dirty="0">
                <a:solidFill>
                  <a:srgbClr val="FF0000"/>
                </a:solidFill>
              </a:rPr>
              <a:t> 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세정수단’은</a:t>
            </a:r>
            <a:r>
              <a:rPr lang="ko-KR" altLang="en-US" sz="1000" dirty="0">
                <a:solidFill>
                  <a:srgbClr val="FF0000"/>
                </a:solidFill>
              </a:rPr>
              <a:t> ‘세정물질 또는 살균물질을 내부에 포함하고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그 세정물질 또는 살균물질을 여과부에서 여과된 물에 희석하여 저장탱크에 공급함으로써 저장탱크를 세정하기 위한 </a:t>
            </a:r>
            <a:r>
              <a:rPr lang="ko-KR" altLang="en-US" sz="1000" dirty="0" err="1">
                <a:solidFill>
                  <a:srgbClr val="FF0000"/>
                </a:solidFill>
              </a:rPr>
              <a:t>수단</a:t>
            </a:r>
            <a:r>
              <a:rPr lang="ko-KR" altLang="en-US" sz="1000" dirty="0" err="1"/>
              <a:t>’이다</a:t>
            </a:r>
            <a:r>
              <a:rPr lang="en-US" altLang="ko-KR" sz="1000" dirty="0"/>
              <a:t>. </a:t>
            </a:r>
            <a:r>
              <a:rPr lang="ko-KR" altLang="en-US" sz="1000" dirty="0"/>
              <a:t>이에 대응하는 확인대상 발명의 구성요소는 </a:t>
            </a:r>
            <a:r>
              <a:rPr lang="ko-KR" altLang="en-US" sz="1000" dirty="0">
                <a:solidFill>
                  <a:srgbClr val="FF0000"/>
                </a:solidFill>
              </a:rPr>
              <a:t>‘여과부에서 여과된 물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 err="1">
                <a:solidFill>
                  <a:srgbClr val="FF0000"/>
                </a:solidFill>
              </a:rPr>
              <a:t>선카본필터만</a:t>
            </a:r>
            <a:r>
              <a:rPr lang="ko-KR" altLang="en-US" sz="1000" dirty="0">
                <a:solidFill>
                  <a:srgbClr val="FF0000"/>
                </a:solidFill>
              </a:rPr>
              <a:t> 통과한 것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>
                <a:solidFill>
                  <a:srgbClr val="FF0000"/>
                </a:solidFill>
              </a:rPr>
              <a:t>을 </a:t>
            </a:r>
            <a:r>
              <a:rPr lang="ko-KR" altLang="en-US" sz="1000" dirty="0" err="1">
                <a:solidFill>
                  <a:srgbClr val="FF0000"/>
                </a:solidFill>
              </a:rPr>
              <a:t>전기분해하여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</a:rPr>
              <a:t>전기분해수를</a:t>
            </a:r>
            <a:r>
              <a:rPr lang="ko-KR" altLang="en-US" sz="1000" dirty="0">
                <a:solidFill>
                  <a:srgbClr val="FF0000"/>
                </a:solidFill>
              </a:rPr>
              <a:t> 생성하는 전극 살균기로서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전극 살균기에서 생성된 전기분해수로 유로와 정수탱크를 살균하는 </a:t>
            </a:r>
            <a:r>
              <a:rPr lang="ko-KR" altLang="en-US" sz="1000" dirty="0" err="1">
                <a:solidFill>
                  <a:srgbClr val="FF0000"/>
                </a:solidFill>
              </a:rPr>
              <a:t>것’</a:t>
            </a:r>
            <a:r>
              <a:rPr lang="ko-KR" altLang="en-US" sz="1000" dirty="0" err="1"/>
              <a:t>으로</a:t>
            </a:r>
            <a:r>
              <a:rPr lang="ko-KR" altLang="en-US" sz="1000" dirty="0"/>
              <a:t>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 ‘</a:t>
            </a:r>
            <a:r>
              <a:rPr lang="ko-KR" altLang="en-US" sz="1000" dirty="0" err="1"/>
              <a:t>세정수단’과</a:t>
            </a:r>
            <a:r>
              <a:rPr lang="ko-KR" altLang="en-US" sz="1000" dirty="0"/>
              <a:t> 차이가 있다</a:t>
            </a:r>
            <a:r>
              <a:rPr lang="en-US" altLang="ko-KR" sz="1000" dirty="0"/>
              <a:t>.</a:t>
            </a:r>
          </a:p>
          <a:p>
            <a:pPr marL="179388" indent="-179388" fontAlgn="base"/>
            <a:r>
              <a:rPr lang="en-US" altLang="ko-KR" sz="1000" dirty="0"/>
              <a:t>2)  </a:t>
            </a:r>
            <a:r>
              <a:rPr lang="ko-KR" altLang="en-US" sz="1000" dirty="0">
                <a:solidFill>
                  <a:srgbClr val="FF0000"/>
                </a:solidFill>
              </a:rPr>
              <a:t>특허발명 명세서의 발명에 관한 설명</a:t>
            </a:r>
            <a:r>
              <a:rPr lang="ko-KR" altLang="en-US" sz="1000" dirty="0"/>
              <a:t>에 따르면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발명이 해결하려는 과제는 </a:t>
            </a:r>
            <a:r>
              <a:rPr lang="ko-KR" altLang="en-US" sz="1000" dirty="0">
                <a:solidFill>
                  <a:srgbClr val="FF0000"/>
                </a:solidFill>
              </a:rPr>
              <a:t>정수기의 저장탱크를 정수기에서 분리할 필요 없이 자가 세정</a:t>
            </a:r>
            <a:r>
              <a:rPr lang="ko-KR" altLang="en-US" sz="1000" dirty="0"/>
              <a:t>할 수 있도록 하는 것이다</a:t>
            </a:r>
            <a:r>
              <a:rPr lang="en-US" altLang="ko-KR" sz="1000" dirty="0"/>
              <a:t>. </a:t>
            </a:r>
            <a:r>
              <a:rPr lang="ko-KR" altLang="en-US" sz="1000" dirty="0"/>
              <a:t>이를 위해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발명은</a:t>
            </a:r>
            <a:r>
              <a:rPr lang="en-US" altLang="ko-KR" sz="1000" dirty="0"/>
              <a:t>, </a:t>
            </a:r>
            <a:r>
              <a:rPr lang="ko-KR" altLang="en-US" sz="1000" dirty="0"/>
              <a:t>자가 세정을 위해 정수기의 여과부에서 여과되는 물을 사용하되</a:t>
            </a:r>
            <a:r>
              <a:rPr lang="en-US" altLang="ko-KR" sz="1000" dirty="0"/>
              <a:t>, </a:t>
            </a:r>
            <a:r>
              <a:rPr lang="ko-KR" altLang="en-US" sz="1000" dirty="0"/>
              <a:t>여과부에 구비된 다수 개의 필터 중 일부 필터만을 통과하여 여과된 물</a:t>
            </a:r>
            <a:r>
              <a:rPr lang="en-US" altLang="ko-KR" sz="1000" dirty="0"/>
              <a:t>[</a:t>
            </a:r>
            <a:r>
              <a:rPr lang="ko-KR" altLang="en-US" sz="1000" dirty="0" err="1"/>
              <a:t>알오</a:t>
            </a:r>
            <a:r>
              <a:rPr lang="en-US" altLang="ko-KR" sz="1000" dirty="0"/>
              <a:t>(RO)</a:t>
            </a:r>
            <a:r>
              <a:rPr lang="ko-KR" altLang="en-US" sz="1000" dirty="0" err="1"/>
              <a:t>멤브레인</a:t>
            </a:r>
            <a:r>
              <a:rPr lang="ko-KR" altLang="en-US" sz="1000" dirty="0"/>
              <a:t> 필터 등은 통과하지 않는다</a:t>
            </a:r>
            <a:r>
              <a:rPr lang="en-US" altLang="ko-KR" sz="1000" dirty="0"/>
              <a:t>]</a:t>
            </a:r>
            <a:r>
              <a:rPr lang="ko-KR" altLang="en-US" sz="1000" dirty="0"/>
              <a:t>을 사용하고</a:t>
            </a:r>
            <a:r>
              <a:rPr lang="en-US" altLang="ko-KR" sz="1000" dirty="0"/>
              <a:t>, </a:t>
            </a:r>
            <a:r>
              <a:rPr lang="ko-KR" altLang="en-US" sz="1000" dirty="0"/>
              <a:t>세정수단에 포함된 세정물질 또는 살균물질을 그와 같이 여과된 물에 희석시켜 저장탱크에 공급하는 해결수단을 채택하고 있다</a:t>
            </a:r>
            <a:r>
              <a:rPr lang="en-US" altLang="ko-KR" sz="1000" dirty="0"/>
              <a:t>.</a:t>
            </a:r>
          </a:p>
          <a:p>
            <a:pPr marL="179388" indent="-179388" fontAlgn="base"/>
            <a:r>
              <a:rPr lang="en-US" altLang="ko-KR" sz="1000" dirty="0"/>
              <a:t>3)  </a:t>
            </a:r>
            <a:r>
              <a:rPr lang="ko-KR" altLang="en-US" sz="1000" dirty="0"/>
              <a:t>그런데 이 사건 </a:t>
            </a:r>
            <a:r>
              <a:rPr lang="ko-KR" altLang="en-US" sz="1000" dirty="0">
                <a:solidFill>
                  <a:srgbClr val="FF0000"/>
                </a:solidFill>
              </a:rPr>
              <a:t>특허발명의 출원 당시 공지된 선행기술 문헌</a:t>
            </a:r>
            <a:r>
              <a:rPr lang="ko-KR" altLang="en-US" sz="1000" dirty="0"/>
              <a:t>에는</a:t>
            </a:r>
            <a:r>
              <a:rPr lang="en-US" altLang="ko-KR" sz="1000" dirty="0"/>
              <a:t>, </a:t>
            </a:r>
            <a:r>
              <a:rPr lang="ko-KR" altLang="en-US" sz="1000" dirty="0"/>
              <a:t>정수기의 </a:t>
            </a:r>
            <a:r>
              <a:rPr lang="ko-KR" altLang="en-US" sz="1000" dirty="0">
                <a:solidFill>
                  <a:srgbClr val="FF0000"/>
                </a:solidFill>
              </a:rPr>
              <a:t>여과부에서 여과되는 물을 활용</a:t>
            </a:r>
            <a:r>
              <a:rPr lang="ko-KR" altLang="en-US" sz="1000" dirty="0"/>
              <a:t>하여 저수조를 자동으로 살균 또는 소독하는 기술</a:t>
            </a:r>
            <a:r>
              <a:rPr lang="en-US" altLang="ko-KR" sz="1000" dirty="0"/>
              <a:t>, </a:t>
            </a:r>
            <a:r>
              <a:rPr lang="ko-KR" altLang="en-US" sz="1000" dirty="0"/>
              <a:t>정수기의 수조 등을 소독하기 위해 염소수나 </a:t>
            </a:r>
            <a:r>
              <a:rPr lang="ko-KR" altLang="en-US" sz="1000" dirty="0" err="1"/>
              <a:t>살균수를</a:t>
            </a:r>
            <a:r>
              <a:rPr lang="ko-KR" altLang="en-US" sz="1000" dirty="0"/>
              <a:t> 생성할 때 </a:t>
            </a:r>
            <a:r>
              <a:rPr lang="ko-KR" altLang="en-US" sz="1000" dirty="0">
                <a:solidFill>
                  <a:srgbClr val="FF0000"/>
                </a:solidFill>
              </a:rPr>
              <a:t>살균장치에 공급되는 물은 일부의 필터만을 거치고 나머지 필터는 거치지 않도록 하여</a:t>
            </a:r>
            <a:r>
              <a:rPr lang="ko-KR" altLang="en-US" sz="1000" dirty="0"/>
              <a:t> 필터의 수명 단축을 방지하는 기술 등이 개시되어 있다</a:t>
            </a:r>
            <a:r>
              <a:rPr lang="en-US" altLang="ko-KR" sz="1000" dirty="0"/>
              <a:t>.</a:t>
            </a:r>
          </a:p>
          <a:p>
            <a:pPr marL="179388" indent="-179388" fontAlgn="base"/>
            <a:r>
              <a:rPr lang="en-US" altLang="ko-KR" sz="1000" dirty="0"/>
              <a:t>4)  </a:t>
            </a:r>
            <a:r>
              <a:rPr lang="ko-KR" altLang="en-US" sz="1000" dirty="0"/>
              <a:t>위와 같은 이 사건 </a:t>
            </a:r>
            <a:r>
              <a:rPr lang="ko-KR" altLang="en-US" sz="1000" dirty="0">
                <a:solidFill>
                  <a:srgbClr val="FF0000"/>
                </a:solidFill>
              </a:rPr>
              <a:t>특허발명의 명세서에 적힌 발명에 관한 설명의 기재와 출원 당시의 공지기술 등을 참작</a:t>
            </a:r>
            <a:r>
              <a:rPr lang="ko-KR" altLang="en-US" sz="1000" dirty="0"/>
              <a:t>하면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발명은 출원 당시 이미 공지된 ‘정수기의 여과부에서 여과되는 물을 정수기의 자가 세정에 사용하되</a:t>
            </a:r>
            <a:r>
              <a:rPr lang="en-US" altLang="ko-KR" sz="1000" dirty="0"/>
              <a:t>, </a:t>
            </a:r>
            <a:r>
              <a:rPr lang="ko-KR" altLang="en-US" sz="1000" dirty="0"/>
              <a:t>여과부에 구비된 필터 중 일부 필터만을 통과하여 여과된 물을 사용한다</a:t>
            </a:r>
            <a:r>
              <a:rPr lang="en-US" altLang="ko-KR" sz="1000" dirty="0"/>
              <a:t>.’</a:t>
            </a:r>
            <a:r>
              <a:rPr lang="ko-KR" altLang="en-US" sz="1000" dirty="0"/>
              <a:t>는 기술사상에다가 세정물질 또는 살균물질을 내부에 포함하는 ‘세정수단’ 구성을 결합한 것이어서 선행기술과의 관계에서 기술발전에 기여한 정도가 크다고 보기는 어렵다</a:t>
            </a:r>
            <a:r>
              <a:rPr lang="en-US" altLang="ko-KR" sz="1000" dirty="0"/>
              <a:t>. </a:t>
            </a:r>
            <a:r>
              <a:rPr lang="ko-KR" altLang="en-US" sz="1000" dirty="0"/>
              <a:t>따라서 이 사건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항 발명에 특유한 과제 해결원리는 청구범위 기재에 근접한 정도로 파악</a:t>
            </a:r>
            <a:r>
              <a:rPr lang="ko-KR" altLang="en-US" sz="1000" dirty="0"/>
              <a:t>하여야 한다</a:t>
            </a:r>
            <a:r>
              <a:rPr lang="en-US" altLang="ko-KR" sz="1000" dirty="0"/>
              <a:t>.</a:t>
            </a:r>
          </a:p>
          <a:p>
            <a:pPr marL="179388" indent="-179388" fontAlgn="base"/>
            <a:r>
              <a:rPr lang="en-US" altLang="ko-KR" sz="1000" dirty="0"/>
              <a:t>5)  </a:t>
            </a:r>
            <a:r>
              <a:rPr lang="ko-KR" altLang="en-US" sz="1000" dirty="0"/>
              <a:t>그런데 확인대상 발명은 </a:t>
            </a:r>
            <a:r>
              <a:rPr lang="ko-KR" altLang="en-US" sz="1000" dirty="0">
                <a:solidFill>
                  <a:srgbClr val="FF0000"/>
                </a:solidFill>
              </a:rPr>
              <a:t>여과부의 일부 필터를 통해 여과된 물로 전극 살균기를 통해 </a:t>
            </a:r>
            <a:r>
              <a:rPr lang="ko-KR" altLang="en-US" sz="1000" dirty="0" err="1">
                <a:solidFill>
                  <a:srgbClr val="FF0000"/>
                </a:solidFill>
              </a:rPr>
              <a:t>전기분해수를</a:t>
            </a:r>
            <a:r>
              <a:rPr lang="ko-KR" altLang="en-US" sz="1000" dirty="0">
                <a:solidFill>
                  <a:srgbClr val="FF0000"/>
                </a:solidFill>
              </a:rPr>
              <a:t> 생성하여 정수탱크를 자가 세정</a:t>
            </a:r>
            <a:r>
              <a:rPr lang="ko-KR" altLang="en-US" sz="1000" dirty="0"/>
              <a:t>하는 반면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발명은 </a:t>
            </a:r>
            <a:r>
              <a:rPr lang="ko-KR" altLang="en-US" sz="1000" dirty="0">
                <a:solidFill>
                  <a:srgbClr val="FF0000"/>
                </a:solidFill>
              </a:rPr>
              <a:t>여과부의 일부 필터를 통해 여과된 물에 세정물질 또는 살균물질을 희석하여 저장탱크를 자가 세정</a:t>
            </a:r>
            <a:r>
              <a:rPr lang="ko-KR" altLang="en-US" sz="1000" dirty="0"/>
              <a:t>하므로</a:t>
            </a:r>
            <a:r>
              <a:rPr lang="en-US" altLang="ko-KR" sz="1000" dirty="0"/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확인대상 발명은 이 사건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 발명과 과제 해결원리가 동일하다고 볼 수 없다</a:t>
            </a:r>
            <a:r>
              <a:rPr lang="en-US" altLang="ko-KR" sz="1000" dirty="0"/>
              <a:t>. </a:t>
            </a:r>
          </a:p>
          <a:p>
            <a:pPr marL="179388" indent="-179388" fontAlgn="base"/>
            <a:r>
              <a:rPr lang="en-US" altLang="ko-KR" sz="1000" dirty="0"/>
              <a:t>6)  </a:t>
            </a:r>
            <a:r>
              <a:rPr lang="ko-KR" altLang="en-US" sz="1000" dirty="0"/>
              <a:t>따라서 확인대상 발명은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 청구범위에 기재된 구성요소와 동일하거나 균등한 구성요소 및 그 구성요소들 사이의 유기적 결합관계를 그대로 포함하고 있지 않으므로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 특허권의 권리범위에 속하지 않고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발명을 인용하는 </a:t>
            </a:r>
            <a:r>
              <a:rPr lang="ko-KR" altLang="en-US" sz="1000" dirty="0" err="1"/>
              <a:t>종속항</a:t>
            </a:r>
            <a:r>
              <a:rPr lang="ko-KR" altLang="en-US" sz="1000" dirty="0"/>
              <a:t> 발명인 이 사건 제</a:t>
            </a:r>
            <a:r>
              <a:rPr lang="en-US" altLang="ko-KR" sz="1000" dirty="0"/>
              <a:t>10</a:t>
            </a:r>
            <a:r>
              <a:rPr lang="ko-KR" altLang="en-US" sz="1000" dirty="0"/>
              <a:t>항 발명 특허권의 권리범위에도 속하지 않는다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2970170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09C238A0-7356-46E4-911B-9818AEA8D9FD}"/>
              </a:ext>
            </a:extLst>
          </p:cNvPr>
          <p:cNvSpPr/>
          <p:nvPr/>
        </p:nvSpPr>
        <p:spPr>
          <a:xfrm>
            <a:off x="5641676" y="4140678"/>
            <a:ext cx="4899803" cy="5481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균등론의 변경용이성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진보성의 용이성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342</a:t>
            </a:fld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B928773-CCE8-442A-A290-4068F17C3F01}"/>
              </a:ext>
            </a:extLst>
          </p:cNvPr>
          <p:cNvSpPr/>
          <p:nvPr/>
        </p:nvSpPr>
        <p:spPr>
          <a:xfrm>
            <a:off x="1069619" y="1923689"/>
            <a:ext cx="3027872" cy="3027872"/>
          </a:xfrm>
          <a:prstGeom prst="ellipse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73B1037-77F6-4A62-8118-BB5BEEB4AB8A}"/>
              </a:ext>
            </a:extLst>
          </p:cNvPr>
          <p:cNvCxnSpPr>
            <a:cxnSpLocks/>
          </p:cNvCxnSpPr>
          <p:nvPr/>
        </p:nvCxnSpPr>
        <p:spPr>
          <a:xfrm>
            <a:off x="2583555" y="1250829"/>
            <a:ext cx="0" cy="3700732"/>
          </a:xfrm>
          <a:prstGeom prst="line">
            <a:avLst/>
          </a:prstGeom>
          <a:ln w="12700">
            <a:solidFill>
              <a:srgbClr val="FF0000"/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58A2B04-DA27-4195-A785-F5CBC2953282}"/>
              </a:ext>
            </a:extLst>
          </p:cNvPr>
          <p:cNvCxnSpPr>
            <a:cxnSpLocks/>
          </p:cNvCxnSpPr>
          <p:nvPr/>
        </p:nvCxnSpPr>
        <p:spPr>
          <a:xfrm flipH="1">
            <a:off x="448573" y="3437625"/>
            <a:ext cx="11084943" cy="0"/>
          </a:xfrm>
          <a:prstGeom prst="line">
            <a:avLst/>
          </a:prstGeom>
          <a:ln w="12700">
            <a:solidFill>
              <a:srgbClr val="FF0000"/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F2FA437D-159C-409C-AA30-6AF7525A71FA}"/>
              </a:ext>
            </a:extLst>
          </p:cNvPr>
          <p:cNvSpPr/>
          <p:nvPr/>
        </p:nvSpPr>
        <p:spPr>
          <a:xfrm>
            <a:off x="1259430" y="1932315"/>
            <a:ext cx="3027872" cy="3027872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2AEAB7D-4081-4B69-B3FD-C07A6138C71B}"/>
              </a:ext>
            </a:extLst>
          </p:cNvPr>
          <p:cNvCxnSpPr>
            <a:cxnSpLocks/>
          </p:cNvCxnSpPr>
          <p:nvPr/>
        </p:nvCxnSpPr>
        <p:spPr>
          <a:xfrm flipH="1">
            <a:off x="448573" y="4951561"/>
            <a:ext cx="1108494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DD2CDE5-D8E8-4E19-8A9A-00D5B74AC118}"/>
              </a:ext>
            </a:extLst>
          </p:cNvPr>
          <p:cNvCxnSpPr/>
          <p:nvPr/>
        </p:nvCxnSpPr>
        <p:spPr>
          <a:xfrm>
            <a:off x="5641676" y="4951561"/>
            <a:ext cx="489980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224E1A4-572E-4612-B23C-AE324ABFE707}"/>
              </a:ext>
            </a:extLst>
          </p:cNvPr>
          <p:cNvCxnSpPr/>
          <p:nvPr/>
        </p:nvCxnSpPr>
        <p:spPr>
          <a:xfrm>
            <a:off x="2583555" y="4960187"/>
            <a:ext cx="0" cy="12077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5AFCD7F-3F7F-4896-B490-89C5031B3993}"/>
              </a:ext>
            </a:extLst>
          </p:cNvPr>
          <p:cNvSpPr txBox="1"/>
          <p:nvPr/>
        </p:nvSpPr>
        <p:spPr>
          <a:xfrm>
            <a:off x="2625591" y="511946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동일성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304AF8D-E047-4F76-B026-FADE8F8E38F5}"/>
              </a:ext>
            </a:extLst>
          </p:cNvPr>
          <p:cNvCxnSpPr>
            <a:cxnSpLocks/>
          </p:cNvCxnSpPr>
          <p:nvPr/>
        </p:nvCxnSpPr>
        <p:spPr>
          <a:xfrm flipV="1">
            <a:off x="2583555" y="4123426"/>
            <a:ext cx="0" cy="828135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E417FED-9673-4AAA-9DCB-34D00D82E053}"/>
              </a:ext>
            </a:extLst>
          </p:cNvPr>
          <p:cNvSpPr txBox="1"/>
          <p:nvPr/>
        </p:nvSpPr>
        <p:spPr>
          <a:xfrm>
            <a:off x="2625591" y="4288929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용이성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9774442-13D4-44BC-88EC-198881BCD081}"/>
              </a:ext>
            </a:extLst>
          </p:cNvPr>
          <p:cNvCxnSpPr>
            <a:cxnSpLocks/>
          </p:cNvCxnSpPr>
          <p:nvPr/>
        </p:nvCxnSpPr>
        <p:spPr>
          <a:xfrm flipV="1">
            <a:off x="2583555" y="3446251"/>
            <a:ext cx="0" cy="685801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B83FF38-355B-414E-814D-72B1CC3A63E4}"/>
              </a:ext>
            </a:extLst>
          </p:cNvPr>
          <p:cNvSpPr txBox="1"/>
          <p:nvPr/>
        </p:nvSpPr>
        <p:spPr>
          <a:xfrm>
            <a:off x="2625591" y="364235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비용이성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200D327-1D59-4A22-A6F3-4E21375991D1}"/>
              </a:ext>
            </a:extLst>
          </p:cNvPr>
          <p:cNvCxnSpPr/>
          <p:nvPr/>
        </p:nvCxnSpPr>
        <p:spPr>
          <a:xfrm>
            <a:off x="8104463" y="4960187"/>
            <a:ext cx="0" cy="12077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41787C3-99AA-440B-BAAD-8D02D2B82270}"/>
              </a:ext>
            </a:extLst>
          </p:cNvPr>
          <p:cNvSpPr txBox="1"/>
          <p:nvPr/>
        </p:nvSpPr>
        <p:spPr>
          <a:xfrm>
            <a:off x="8146499" y="511946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동일성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C9C42008-FAB0-405D-B4DC-61E6B441396D}"/>
              </a:ext>
            </a:extLst>
          </p:cNvPr>
          <p:cNvCxnSpPr>
            <a:cxnSpLocks/>
          </p:cNvCxnSpPr>
          <p:nvPr/>
        </p:nvCxnSpPr>
        <p:spPr>
          <a:xfrm flipV="1">
            <a:off x="8104463" y="4123426"/>
            <a:ext cx="0" cy="828135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5788838-1118-41B6-9F2A-99D559B8995A}"/>
              </a:ext>
            </a:extLst>
          </p:cNvPr>
          <p:cNvSpPr txBox="1"/>
          <p:nvPr/>
        </p:nvSpPr>
        <p:spPr>
          <a:xfrm>
            <a:off x="8139485" y="447480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용이성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9E8F3DD-4556-4F9F-B3FE-DF5624872A87}"/>
              </a:ext>
            </a:extLst>
          </p:cNvPr>
          <p:cNvCxnSpPr>
            <a:cxnSpLocks/>
          </p:cNvCxnSpPr>
          <p:nvPr/>
        </p:nvCxnSpPr>
        <p:spPr>
          <a:xfrm flipV="1">
            <a:off x="8104463" y="3446251"/>
            <a:ext cx="0" cy="685801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A31AD99-4690-4F66-A6E4-ECE40AE974C8}"/>
              </a:ext>
            </a:extLst>
          </p:cNvPr>
          <p:cNvSpPr txBox="1"/>
          <p:nvPr/>
        </p:nvSpPr>
        <p:spPr>
          <a:xfrm>
            <a:off x="8146499" y="364235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비용이성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E1BC7325-4658-477D-95EB-25643563C16D}"/>
              </a:ext>
            </a:extLst>
          </p:cNvPr>
          <p:cNvSpPr/>
          <p:nvPr/>
        </p:nvSpPr>
        <p:spPr>
          <a:xfrm>
            <a:off x="5753834" y="4745239"/>
            <a:ext cx="4899803" cy="369332"/>
          </a:xfrm>
          <a:custGeom>
            <a:avLst/>
            <a:gdLst>
              <a:gd name="connsiteX0" fmla="*/ 0 w 4882551"/>
              <a:gd name="connsiteY0" fmla="*/ 41615 h 453091"/>
              <a:gd name="connsiteX1" fmla="*/ 2018581 w 4882551"/>
              <a:gd name="connsiteY1" fmla="*/ 32988 h 453091"/>
              <a:gd name="connsiteX2" fmla="*/ 2587925 w 4882551"/>
              <a:gd name="connsiteY2" fmla="*/ 403924 h 453091"/>
              <a:gd name="connsiteX3" fmla="*/ 4882551 w 4882551"/>
              <a:gd name="connsiteY3" fmla="*/ 438430 h 453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2551" h="453091">
                <a:moveTo>
                  <a:pt x="0" y="41615"/>
                </a:moveTo>
                <a:cubicBezTo>
                  <a:pt x="793630" y="7109"/>
                  <a:pt x="1587260" y="-27397"/>
                  <a:pt x="2018581" y="32988"/>
                </a:cubicBezTo>
                <a:cubicBezTo>
                  <a:pt x="2449902" y="93373"/>
                  <a:pt x="2110597" y="336350"/>
                  <a:pt x="2587925" y="403924"/>
                </a:cubicBezTo>
                <a:cubicBezTo>
                  <a:pt x="3065253" y="471498"/>
                  <a:pt x="3973902" y="454964"/>
                  <a:pt x="4882551" y="438430"/>
                </a:cubicBezTo>
              </a:path>
            </a:pathLst>
          </a:custGeom>
          <a:noFill/>
          <a:ln w="381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9A8D58D-5364-4F69-9FE5-86892D9C32F4}"/>
              </a:ext>
            </a:extLst>
          </p:cNvPr>
          <p:cNvCxnSpPr>
            <a:cxnSpLocks/>
          </p:cNvCxnSpPr>
          <p:nvPr/>
        </p:nvCxnSpPr>
        <p:spPr>
          <a:xfrm flipH="1">
            <a:off x="448573" y="4140678"/>
            <a:ext cx="1108494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말풍선: 모서리가 둥근 사각형 52">
            <a:extLst>
              <a:ext uri="{FF2B5EF4-FFF2-40B4-BE49-F238E27FC236}">
                <a16:creationId xmlns:a16="http://schemas.microsoft.com/office/drawing/2014/main" id="{ECCFE7AD-7DFE-4407-ACCA-AA20C483649B}"/>
              </a:ext>
            </a:extLst>
          </p:cNvPr>
          <p:cNvSpPr/>
          <p:nvPr/>
        </p:nvSpPr>
        <p:spPr>
          <a:xfrm>
            <a:off x="9501877" y="5521213"/>
            <a:ext cx="1906432" cy="474140"/>
          </a:xfrm>
          <a:prstGeom prst="wedgeRoundRectCallout">
            <a:avLst>
              <a:gd name="adj1" fmla="val -54769"/>
              <a:gd name="adj2" fmla="val -13105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단순한 균등수단의 전환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균등물의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치환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3B9926-2160-45CF-B632-D813138BAD4D}"/>
              </a:ext>
            </a:extLst>
          </p:cNvPr>
          <p:cNvSpPr txBox="1"/>
          <p:nvPr/>
        </p:nvSpPr>
        <p:spPr>
          <a:xfrm>
            <a:off x="5611427" y="4149305"/>
            <a:ext cx="2351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Gray Area(Public Domain)</a:t>
            </a:r>
            <a:endParaRPr lang="ko-KR" altLang="en-US" sz="1400" dirty="0"/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34523D2A-0F3F-4467-A2B3-E92B757FF33C}"/>
              </a:ext>
            </a:extLst>
          </p:cNvPr>
          <p:cNvSpPr/>
          <p:nvPr/>
        </p:nvSpPr>
        <p:spPr>
          <a:xfrm>
            <a:off x="5611427" y="2178156"/>
            <a:ext cx="3782739" cy="764989"/>
          </a:xfrm>
          <a:prstGeom prst="wedgeRoundRectCallout">
            <a:avLst>
              <a:gd name="adj1" fmla="val -30112"/>
              <a:gd name="adj2" fmla="val 200886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자가 출원하여 </a:t>
            </a:r>
            <a:r>
              <a:rPr lang="ko-KR" altLang="en-US" dirty="0" err="1">
                <a:solidFill>
                  <a:schemeClr val="tx1"/>
                </a:solidFill>
              </a:rPr>
              <a:t>등록받지</a:t>
            </a:r>
            <a:r>
              <a:rPr lang="ko-KR" altLang="en-US" dirty="0">
                <a:solidFill>
                  <a:schemeClr val="tx1"/>
                </a:solidFill>
              </a:rPr>
              <a:t> 못하지만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실시하면 침해가 되지 않는 영역</a:t>
            </a:r>
          </a:p>
        </p:txBody>
      </p:sp>
    </p:spTree>
    <p:extLst>
      <p:ext uri="{BB962C8B-B14F-4D97-AF65-F5344CB8AC3E}">
        <p14:creationId xmlns:p14="http://schemas.microsoft.com/office/powerpoint/2010/main" val="14607652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16979F2A-EC57-4BF1-BCF2-7F6924301FD2}"/>
              </a:ext>
            </a:extLst>
          </p:cNvPr>
          <p:cNvSpPr/>
          <p:nvPr/>
        </p:nvSpPr>
        <p:spPr>
          <a:xfrm>
            <a:off x="3538525" y="1546898"/>
            <a:ext cx="2453766" cy="67763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출원경과참작의 원칙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B48BB3-223A-4357-ABE2-B98DEBA7B296}"/>
              </a:ext>
            </a:extLst>
          </p:cNvPr>
          <p:cNvSpPr/>
          <p:nvPr/>
        </p:nvSpPr>
        <p:spPr>
          <a:xfrm>
            <a:off x="1084490" y="1546898"/>
            <a:ext cx="2453766" cy="677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09AEC-F64E-4003-8C1E-EB053CFF3275}"/>
              </a:ext>
            </a:extLst>
          </p:cNvPr>
          <p:cNvSpPr txBox="1"/>
          <p:nvPr/>
        </p:nvSpPr>
        <p:spPr>
          <a:xfrm>
            <a:off x="5696469" y="2414589"/>
            <a:ext cx="601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출원</a:t>
            </a:r>
            <a:endParaRPr lang="en-US" altLang="ko-KR" dirty="0"/>
          </a:p>
          <a:p>
            <a:pPr algn="ctr"/>
            <a:r>
              <a:rPr lang="en-US" altLang="ko-KR" dirty="0"/>
              <a:t>(A)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AF2997-F302-412B-A7BC-42B2B15DC838}"/>
              </a:ext>
            </a:extLst>
          </p:cNvPr>
          <p:cNvSpPr txBox="1"/>
          <p:nvPr/>
        </p:nvSpPr>
        <p:spPr>
          <a:xfrm>
            <a:off x="3101276" y="2424175"/>
            <a:ext cx="873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감축 등</a:t>
            </a:r>
            <a:endParaRPr lang="en-US" altLang="ko-KR" dirty="0"/>
          </a:p>
          <a:p>
            <a:pPr algn="ctr"/>
            <a:r>
              <a:rPr lang="en-US" altLang="ko-KR" dirty="0"/>
              <a:t>(a1)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124B153-4560-49AB-A1F1-16BAA7607EFE}"/>
              </a:ext>
            </a:extLst>
          </p:cNvPr>
          <p:cNvCxnSpPr>
            <a:cxnSpLocks/>
          </p:cNvCxnSpPr>
          <p:nvPr/>
        </p:nvCxnSpPr>
        <p:spPr>
          <a:xfrm flipH="1">
            <a:off x="3524766" y="1719540"/>
            <a:ext cx="13489" cy="67763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842306E-96B8-44EB-B14D-A21E72D0BC57}"/>
              </a:ext>
            </a:extLst>
          </p:cNvPr>
          <p:cNvCxnSpPr>
            <a:cxnSpLocks/>
          </p:cNvCxnSpPr>
          <p:nvPr/>
        </p:nvCxnSpPr>
        <p:spPr>
          <a:xfrm>
            <a:off x="5992021" y="1719540"/>
            <a:ext cx="0" cy="67763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6733253-7B34-4BE3-9A5B-089827B19052}"/>
              </a:ext>
            </a:extLst>
          </p:cNvPr>
          <p:cNvSpPr txBox="1"/>
          <p:nvPr/>
        </p:nvSpPr>
        <p:spPr>
          <a:xfrm>
            <a:off x="3668949" y="1654880"/>
            <a:ext cx="2323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accent2"/>
                </a:solidFill>
              </a:rPr>
              <a:t>a2: </a:t>
            </a:r>
            <a:r>
              <a:rPr lang="ko-KR" altLang="en-US" sz="2400" dirty="0">
                <a:solidFill>
                  <a:schemeClr val="accent2"/>
                </a:solidFill>
              </a:rPr>
              <a:t>의식적 제외</a:t>
            </a:r>
            <a:r>
              <a:rPr lang="en-US" altLang="ko-KR" sz="2400" dirty="0">
                <a:solidFill>
                  <a:schemeClr val="accent2"/>
                </a:solidFill>
              </a:rPr>
              <a:t>?</a:t>
            </a:r>
            <a:endParaRPr lang="ko-KR" altLang="en-US" sz="2400" dirty="0">
              <a:solidFill>
                <a:schemeClr val="accent2"/>
              </a:solidFill>
            </a:endParaRP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8DB5DCBA-750B-4757-AE59-D9DD39BA6714}"/>
              </a:ext>
            </a:extLst>
          </p:cNvPr>
          <p:cNvSpPr/>
          <p:nvPr/>
        </p:nvSpPr>
        <p:spPr>
          <a:xfrm>
            <a:off x="1807199" y="2599255"/>
            <a:ext cx="1254034" cy="1267879"/>
          </a:xfrm>
          <a:prstGeom prst="wedgeRoundRectCallout">
            <a:avLst>
              <a:gd name="adj1" fmla="val 64952"/>
              <a:gd name="adj2" fmla="val -4903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보정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의견서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분할출원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정정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F3CD83-9928-46CE-9B1F-D3884CAC549D}"/>
              </a:ext>
            </a:extLst>
          </p:cNvPr>
          <p:cNvSpPr txBox="1"/>
          <p:nvPr/>
        </p:nvSpPr>
        <p:spPr>
          <a:xfrm>
            <a:off x="6620445" y="1459605"/>
            <a:ext cx="1579278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엄격한 규준의 입장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F90E9A-0BE4-4F20-A057-E4FF3FF38745}"/>
              </a:ext>
            </a:extLst>
          </p:cNvPr>
          <p:cNvSpPr txBox="1"/>
          <p:nvPr/>
        </p:nvSpPr>
        <p:spPr>
          <a:xfrm>
            <a:off x="6620445" y="2013681"/>
            <a:ext cx="1579278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유연한 규준의 입장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B50E6E-709C-4AF8-ACC9-D22CED5362CB}"/>
              </a:ext>
            </a:extLst>
          </p:cNvPr>
          <p:cNvSpPr txBox="1"/>
          <p:nvPr/>
        </p:nvSpPr>
        <p:spPr>
          <a:xfrm>
            <a:off x="8315093" y="1459605"/>
            <a:ext cx="161614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a2</a:t>
            </a:r>
            <a:r>
              <a:rPr lang="ko-KR" altLang="en-US" sz="1400" dirty="0"/>
              <a:t>는</a:t>
            </a:r>
            <a:r>
              <a:rPr lang="en-US" altLang="ko-KR" sz="1400" dirty="0"/>
              <a:t> </a:t>
            </a:r>
            <a:r>
              <a:rPr lang="ko-KR" altLang="en-US" sz="1400" dirty="0"/>
              <a:t>의식적 제외됨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2D9A58-C0C9-4C3E-8FFB-E9D0186E5769}"/>
              </a:ext>
            </a:extLst>
          </p:cNvPr>
          <p:cNvSpPr txBox="1"/>
          <p:nvPr/>
        </p:nvSpPr>
        <p:spPr>
          <a:xfrm>
            <a:off x="8428309" y="2014761"/>
            <a:ext cx="508473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/>
              <a:t>미국</a:t>
            </a:r>
            <a:endParaRPr lang="ko-KR" altLang="en-US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B52EE1E-66AB-4420-88EC-432F3B7B6438}"/>
              </a:ext>
            </a:extLst>
          </p:cNvPr>
          <p:cNvSpPr txBox="1"/>
          <p:nvPr/>
        </p:nvSpPr>
        <p:spPr>
          <a:xfrm>
            <a:off x="8428309" y="2933220"/>
            <a:ext cx="508473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한국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A453C2B-EF9D-4F2A-9AA2-7C515FE937E6}"/>
              </a:ext>
            </a:extLst>
          </p:cNvPr>
          <p:cNvSpPr txBox="1"/>
          <p:nvPr/>
        </p:nvSpPr>
        <p:spPr>
          <a:xfrm>
            <a:off x="8982146" y="2014761"/>
            <a:ext cx="2556716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a2</a:t>
            </a:r>
            <a:r>
              <a:rPr lang="ko-KR" altLang="en-US" sz="1400" dirty="0"/>
              <a:t>는 의식적 제외되는 것으로 추정하되</a:t>
            </a:r>
            <a:r>
              <a:rPr lang="en-US" altLang="ko-KR" sz="1400" dirty="0"/>
              <a:t>, </a:t>
            </a:r>
            <a:r>
              <a:rPr lang="ko-KR" altLang="en-US" sz="1400" dirty="0"/>
              <a:t>특허권자의 증명에 의하여 </a:t>
            </a:r>
            <a:r>
              <a:rPr lang="ko-KR" altLang="en-US" sz="1400" dirty="0" err="1"/>
              <a:t>복멸가능</a:t>
            </a:r>
            <a:endParaRPr lang="ko-KR" altLang="en-US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518D9A-54B7-4449-A7F0-D1737A77A362}"/>
              </a:ext>
            </a:extLst>
          </p:cNvPr>
          <p:cNvSpPr txBox="1"/>
          <p:nvPr/>
        </p:nvSpPr>
        <p:spPr>
          <a:xfrm>
            <a:off x="8982146" y="2940921"/>
            <a:ext cx="2556716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a2</a:t>
            </a:r>
            <a:r>
              <a:rPr lang="ko-KR" altLang="en-US" sz="1400" dirty="0"/>
              <a:t>는 출원인이 이를 권리범위에서 제외하려는 의사가 존재하지 않으면 제외되지 않음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21A0D5B8-21E2-47F9-A11B-674AB4D25135}"/>
              </a:ext>
            </a:extLst>
          </p:cNvPr>
          <p:cNvCxnSpPr>
            <a:stCxn id="9" idx="3"/>
            <a:endCxn id="20" idx="1"/>
          </p:cNvCxnSpPr>
          <p:nvPr/>
        </p:nvCxnSpPr>
        <p:spPr>
          <a:xfrm flipV="1">
            <a:off x="5992021" y="1613494"/>
            <a:ext cx="628424" cy="2722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CCE0084-B3C0-4D83-AAB8-9836A6F465F3}"/>
              </a:ext>
            </a:extLst>
          </p:cNvPr>
          <p:cNvCxnSpPr>
            <a:stCxn id="9" idx="3"/>
            <a:endCxn id="54" idx="1"/>
          </p:cNvCxnSpPr>
          <p:nvPr/>
        </p:nvCxnSpPr>
        <p:spPr>
          <a:xfrm>
            <a:off x="5992021" y="1885713"/>
            <a:ext cx="628424" cy="2818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19DC1BC0-DB6B-4E6E-9D35-5DF2BC063AFC}"/>
              </a:ext>
            </a:extLst>
          </p:cNvPr>
          <p:cNvCxnSpPr>
            <a:stCxn id="54" idx="3"/>
            <a:endCxn id="75" idx="1"/>
          </p:cNvCxnSpPr>
          <p:nvPr/>
        </p:nvCxnSpPr>
        <p:spPr>
          <a:xfrm>
            <a:off x="8199723" y="2167570"/>
            <a:ext cx="228586" cy="10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E7AF94E3-1CAC-4A78-B5A8-011A0ACA4AFB}"/>
              </a:ext>
            </a:extLst>
          </p:cNvPr>
          <p:cNvCxnSpPr>
            <a:stCxn id="54" idx="3"/>
            <a:endCxn id="76" idx="1"/>
          </p:cNvCxnSpPr>
          <p:nvPr/>
        </p:nvCxnSpPr>
        <p:spPr>
          <a:xfrm>
            <a:off x="8199723" y="2167570"/>
            <a:ext cx="228586" cy="9195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9944478-583F-49C6-B3FD-10772FE7601C}"/>
              </a:ext>
            </a:extLst>
          </p:cNvPr>
          <p:cNvCxnSpPr/>
          <p:nvPr/>
        </p:nvCxnSpPr>
        <p:spPr>
          <a:xfrm>
            <a:off x="165463" y="3942425"/>
            <a:ext cx="1186978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0E3CC8C-4A74-41D1-A165-E0114F9859BA}"/>
              </a:ext>
            </a:extLst>
          </p:cNvPr>
          <p:cNvSpPr/>
          <p:nvPr/>
        </p:nvSpPr>
        <p:spPr>
          <a:xfrm>
            <a:off x="429412" y="4039354"/>
            <a:ext cx="11233248" cy="160263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E45680A-4EE0-40AE-B753-C9184E485606}"/>
              </a:ext>
            </a:extLst>
          </p:cNvPr>
          <p:cNvCxnSpPr/>
          <p:nvPr/>
        </p:nvCxnSpPr>
        <p:spPr>
          <a:xfrm>
            <a:off x="813455" y="4957206"/>
            <a:ext cx="1056117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79410679-0743-41CB-AFD3-1BC9BB35CBFC}"/>
              </a:ext>
            </a:extLst>
          </p:cNvPr>
          <p:cNvSpPr txBox="1"/>
          <p:nvPr/>
        </p:nvSpPr>
        <p:spPr>
          <a:xfrm>
            <a:off x="1288950" y="4218393"/>
            <a:ext cx="36260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6B2F95D-7736-43D7-A61D-C4EEF9836D04}"/>
              </a:ext>
            </a:extLst>
          </p:cNvPr>
          <p:cNvSpPr txBox="1"/>
          <p:nvPr/>
        </p:nvSpPr>
        <p:spPr>
          <a:xfrm>
            <a:off x="9092943" y="5218122"/>
            <a:ext cx="85632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2F579EA8-1D0E-4715-913D-36F9984EEA94}"/>
              </a:ext>
            </a:extLst>
          </p:cNvPr>
          <p:cNvSpPr/>
          <p:nvPr/>
        </p:nvSpPr>
        <p:spPr>
          <a:xfrm>
            <a:off x="1392881" y="4876537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176D137-08AB-425E-94DD-4C4F79CAB9FC}"/>
              </a:ext>
            </a:extLst>
          </p:cNvPr>
          <p:cNvCxnSpPr>
            <a:stCxn id="82" idx="2"/>
            <a:endCxn id="84" idx="0"/>
          </p:cNvCxnSpPr>
          <p:nvPr/>
        </p:nvCxnSpPr>
        <p:spPr>
          <a:xfrm>
            <a:off x="1470250" y="4495392"/>
            <a:ext cx="0" cy="3811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BF05EDD-07C5-45F6-A7F1-AF950866B5C1}"/>
              </a:ext>
            </a:extLst>
          </p:cNvPr>
          <p:cNvSpPr txBox="1"/>
          <p:nvPr/>
        </p:nvSpPr>
        <p:spPr>
          <a:xfrm>
            <a:off x="2106163" y="4218393"/>
            <a:ext cx="1885453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출원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 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의 실시예로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a1, a2, a3)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92916FB1-454E-402C-9F9B-0D3D8408CC58}"/>
              </a:ext>
            </a:extLst>
          </p:cNvPr>
          <p:cNvSpPr/>
          <p:nvPr/>
        </p:nvSpPr>
        <p:spPr>
          <a:xfrm>
            <a:off x="2971515" y="48765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DF9B4FD8-FF9C-448A-8FB9-24A6BB119E58}"/>
              </a:ext>
            </a:extLst>
          </p:cNvPr>
          <p:cNvCxnSpPr>
            <a:stCxn id="86" idx="2"/>
            <a:endCxn id="87" idx="0"/>
          </p:cNvCxnSpPr>
          <p:nvPr/>
        </p:nvCxnSpPr>
        <p:spPr>
          <a:xfrm flipH="1">
            <a:off x="3048884" y="4680058"/>
            <a:ext cx="6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902D1971-AF6B-4FA6-A993-8CCC8501C831}"/>
              </a:ext>
            </a:extLst>
          </p:cNvPr>
          <p:cNvSpPr txBox="1"/>
          <p:nvPr/>
        </p:nvSpPr>
        <p:spPr>
          <a:xfrm>
            <a:off x="4406390" y="4218393"/>
            <a:ext cx="85632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보정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a3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5134C8B5-623B-4B24-A72E-84E8059F3F92}"/>
              </a:ext>
            </a:extLst>
          </p:cNvPr>
          <p:cNvSpPr/>
          <p:nvPr/>
        </p:nvSpPr>
        <p:spPr>
          <a:xfrm>
            <a:off x="4757183" y="48765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EF7747D-4A45-47FF-A4AA-FCDDECB219CA}"/>
              </a:ext>
            </a:extLst>
          </p:cNvPr>
          <p:cNvCxnSpPr>
            <a:stCxn id="89" idx="2"/>
            <a:endCxn id="90" idx="0"/>
          </p:cNvCxnSpPr>
          <p:nvPr/>
        </p:nvCxnSpPr>
        <p:spPr>
          <a:xfrm flipH="1">
            <a:off x="4834552" y="4495392"/>
            <a:ext cx="1" cy="3811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4B52C445-CE51-4D16-9730-F5221D038ED9}"/>
              </a:ext>
            </a:extLst>
          </p:cNvPr>
          <p:cNvSpPr/>
          <p:nvPr/>
        </p:nvSpPr>
        <p:spPr>
          <a:xfrm>
            <a:off x="9443736" y="4876537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2E22B6D4-28E5-4FDC-B425-E97BB77D1BA9}"/>
              </a:ext>
            </a:extLst>
          </p:cNvPr>
          <p:cNvCxnSpPr>
            <a:stCxn id="83" idx="0"/>
            <a:endCxn id="92" idx="4"/>
          </p:cNvCxnSpPr>
          <p:nvPr/>
        </p:nvCxnSpPr>
        <p:spPr>
          <a:xfrm flipH="1" flipV="1">
            <a:off x="9521105" y="5037875"/>
            <a:ext cx="1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02DB669-8913-4B1F-9D56-167CC6978547}"/>
              </a:ext>
            </a:extLst>
          </p:cNvPr>
          <p:cNvSpPr txBox="1"/>
          <p:nvPr/>
        </p:nvSpPr>
        <p:spPr>
          <a:xfrm>
            <a:off x="6697583" y="4218393"/>
            <a:ext cx="85632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등록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a3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43FA6BD0-BF1B-4E68-9BC6-31B12CF6B650}"/>
              </a:ext>
            </a:extLst>
          </p:cNvPr>
          <p:cNvSpPr/>
          <p:nvPr/>
        </p:nvSpPr>
        <p:spPr>
          <a:xfrm>
            <a:off x="7048375" y="48765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2394CBC8-CECB-4F3E-9A59-0F4DB670695E}"/>
              </a:ext>
            </a:extLst>
          </p:cNvPr>
          <p:cNvCxnSpPr>
            <a:stCxn id="100" idx="2"/>
            <a:endCxn id="101" idx="0"/>
          </p:cNvCxnSpPr>
          <p:nvPr/>
        </p:nvCxnSpPr>
        <p:spPr>
          <a:xfrm flipH="1">
            <a:off x="7125744" y="4495392"/>
            <a:ext cx="2" cy="3811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695B8B30-E55E-47A3-938D-D790453B3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78364"/>
              </p:ext>
            </p:extLst>
          </p:nvPr>
        </p:nvGraphicFramePr>
        <p:xfrm>
          <a:off x="429412" y="5727815"/>
          <a:ext cx="11233248" cy="8890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18416392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5514275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087544309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039223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엄격한 규준의 입장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유연한 규준의 입장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미국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유연한 규준의 입장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한국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814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의식적 제외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a2</a:t>
                      </a:r>
                      <a:r>
                        <a:rPr lang="ko-KR" altLang="en-US" sz="1400" dirty="0"/>
                        <a:t>는 의식적 제외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a2</a:t>
                      </a:r>
                      <a:r>
                        <a:rPr lang="ko-KR" altLang="en-US" sz="1400" dirty="0"/>
                        <a:t>는 의식적 제외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특허권자가 추정 </a:t>
                      </a:r>
                      <a:r>
                        <a:rPr lang="ko-KR" altLang="en-US" sz="1400" dirty="0" err="1"/>
                        <a:t>복멸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a2</a:t>
                      </a:r>
                      <a:r>
                        <a:rPr lang="ko-KR" altLang="en-US" sz="1400" dirty="0"/>
                        <a:t>는 의식적 제외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ko-KR" altLang="en-US" sz="14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349097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B3A7F981-B8B0-4050-8D6C-87D51EDE42AB}"/>
              </a:ext>
            </a:extLst>
          </p:cNvPr>
          <p:cNvSpPr txBox="1"/>
          <p:nvPr/>
        </p:nvSpPr>
        <p:spPr>
          <a:xfrm>
            <a:off x="5598845" y="3309840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BEFORE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263D7A6-F8B1-4A04-ABF6-E19BDF7022AF}"/>
              </a:ext>
            </a:extLst>
          </p:cNvPr>
          <p:cNvCxnSpPr>
            <a:cxnSpLocks/>
            <a:stCxn id="44" idx="0"/>
            <a:endCxn id="6" idx="2"/>
          </p:cNvCxnSpPr>
          <p:nvPr/>
        </p:nvCxnSpPr>
        <p:spPr>
          <a:xfrm flipH="1" flipV="1">
            <a:off x="5997193" y="3060920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61AF0E5-55BB-4374-808D-0B5798BC8CB3}"/>
              </a:ext>
            </a:extLst>
          </p:cNvPr>
          <p:cNvSpPr txBox="1"/>
          <p:nvPr/>
        </p:nvSpPr>
        <p:spPr>
          <a:xfrm>
            <a:off x="3126253" y="3309840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AFTER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3DFE7E3-7CE4-4878-AF0A-99E4A721CB5B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3524601" y="3060920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B2C631AF-BECC-47A6-AC16-CB5B1370A81C}"/>
              </a:ext>
            </a:extLst>
          </p:cNvPr>
          <p:cNvSpPr/>
          <p:nvPr/>
        </p:nvSpPr>
        <p:spPr>
          <a:xfrm>
            <a:off x="3668950" y="787792"/>
            <a:ext cx="6407380" cy="612648"/>
          </a:xfrm>
          <a:prstGeom prst="wedgeRoundRectCallout">
            <a:avLst>
              <a:gd name="adj1" fmla="val -39711"/>
              <a:gd name="adj2" fmla="val 69817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청구범위의 변경인 경우 변경 전 권리범위에 대해서 </a:t>
            </a:r>
            <a:r>
              <a:rPr lang="ko-KR" altLang="en-US" sz="1400" dirty="0" err="1">
                <a:solidFill>
                  <a:schemeClr val="tx1"/>
                </a:solidFill>
              </a:rPr>
              <a:t>금반언의</a:t>
            </a:r>
            <a:r>
              <a:rPr lang="ko-KR" altLang="en-US" sz="1400" dirty="0">
                <a:solidFill>
                  <a:schemeClr val="tx1"/>
                </a:solidFill>
              </a:rPr>
              <a:t> 적용이 비교적 명확하나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400" dirty="0">
                <a:solidFill>
                  <a:schemeClr val="tx1"/>
                </a:solidFill>
              </a:rPr>
              <a:t>청구범위의 감축인 경우 변경 전 권리범위에 대해서 </a:t>
            </a:r>
            <a:r>
              <a:rPr lang="ko-KR" altLang="en-US" sz="1400" dirty="0" err="1">
                <a:solidFill>
                  <a:schemeClr val="tx1"/>
                </a:solidFill>
              </a:rPr>
              <a:t>금반언이</a:t>
            </a:r>
            <a:r>
              <a:rPr lang="ko-KR" altLang="en-US" sz="1400" dirty="0">
                <a:solidFill>
                  <a:schemeClr val="tx1"/>
                </a:solidFill>
              </a:rPr>
              <a:t> 적용되는지 문제임 </a:t>
            </a:r>
          </a:p>
        </p:txBody>
      </p:sp>
    </p:spTree>
    <p:extLst>
      <p:ext uri="{BB962C8B-B14F-4D97-AF65-F5344CB8AC3E}">
        <p14:creationId xmlns:p14="http://schemas.microsoft.com/office/powerpoint/2010/main" val="18399031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출원경과참작의 원칙</a:t>
            </a:r>
            <a:r>
              <a:rPr lang="en-US" altLang="ko-KR" dirty="0"/>
              <a:t>: </a:t>
            </a:r>
            <a:r>
              <a:rPr lang="ko-KR" altLang="en-US" dirty="0"/>
              <a:t>안락의자 사건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344</a:t>
            </a:fld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77875" y="1362569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지식재산처 심사관으로부터 실용신안공고 제</a:t>
            </a:r>
            <a:r>
              <a:rPr lang="en-US" altLang="ko-KR" sz="1400" dirty="0"/>
              <a:t>95-4971</a:t>
            </a:r>
            <a:r>
              <a:rPr lang="ko-KR" altLang="en-US" sz="1400" dirty="0"/>
              <a:t>호 고안 등에 의하여 통상의 기술자가 극히 용이하게 고안할 수 있다는 이유로 거절이유통지를 받고</a:t>
            </a:r>
            <a:r>
              <a:rPr lang="en-US" altLang="ko-KR" sz="1400" dirty="0"/>
              <a:t>, 1998. 7. 22. </a:t>
            </a:r>
            <a:r>
              <a:rPr lang="ko-KR" altLang="en-US" sz="1400" dirty="0"/>
              <a:t>의견서 및 </a:t>
            </a:r>
            <a:r>
              <a:rPr lang="ko-KR" altLang="en-US" sz="1400" dirty="0" err="1"/>
              <a:t>보정서를</a:t>
            </a:r>
            <a:r>
              <a:rPr lang="ko-KR" altLang="en-US" sz="1400" dirty="0"/>
              <a:t> 제출하면서 </a:t>
            </a:r>
            <a:r>
              <a:rPr lang="ko-KR" altLang="en-US" sz="1400" dirty="0">
                <a:highlight>
                  <a:srgbClr val="FFFF00"/>
                </a:highlight>
              </a:rPr>
              <a:t>인용발명에 저촉되는 부분을 공지의 기술로 하여 청구범위를 대폭 축소 한정한다고 주장함</a:t>
            </a:r>
            <a:r>
              <a:rPr lang="ko-KR" altLang="en-US" sz="1400" dirty="0"/>
              <a:t>과 아울러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1</a:t>
            </a:r>
            <a:r>
              <a:rPr lang="ko-KR" altLang="en-US" sz="1400" dirty="0"/>
              <a:t>항과 제</a:t>
            </a:r>
            <a:r>
              <a:rPr lang="en-US" altLang="ko-KR" sz="1400" dirty="0"/>
              <a:t>2</a:t>
            </a:r>
            <a:r>
              <a:rPr lang="ko-KR" altLang="en-US" sz="1400" dirty="0"/>
              <a:t>항을 결합하여 하나의 항으로 만들되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1</a:t>
            </a:r>
            <a:r>
              <a:rPr lang="ko-KR" altLang="en-US" sz="1400" dirty="0"/>
              <a:t>항에 있던 부분을 </a:t>
            </a:r>
            <a:r>
              <a:rPr lang="ko-KR" altLang="en-US" sz="1400" dirty="0" err="1"/>
              <a:t>전제부로</a:t>
            </a:r>
            <a:r>
              <a:rPr lang="ko-KR" altLang="en-US" sz="1400" dirty="0"/>
              <a:t> 기재하고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2</a:t>
            </a:r>
            <a:r>
              <a:rPr lang="ko-KR" altLang="en-US" sz="1400" dirty="0"/>
              <a:t>항에 있던 부분을 </a:t>
            </a:r>
            <a:r>
              <a:rPr lang="ko-KR" altLang="en-US" sz="1400" dirty="0" err="1"/>
              <a:t>특징부에</a:t>
            </a:r>
            <a:r>
              <a:rPr lang="ko-KR" altLang="en-US" sz="1400" dirty="0"/>
              <a:t> 기재하였는바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그렇다면 출원인 스스로 전제부의 기재사항인 「등받이와 보조받침을 직접 연결하여 연계동작을 하는 연결레버를 안내부가 안내하도록 하는 구성」을 공지의 기술로 한정한 것이라 하겠고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나아가 다시 </a:t>
            </a:r>
            <a:r>
              <a:rPr lang="ko-KR" altLang="en-US" sz="1400" dirty="0" err="1">
                <a:highlight>
                  <a:srgbClr val="FFFF00"/>
                </a:highlight>
              </a:rPr>
              <a:t>특징부에서</a:t>
            </a:r>
            <a:r>
              <a:rPr lang="ko-KR" altLang="en-US" sz="1400" dirty="0">
                <a:highlight>
                  <a:srgbClr val="FFFF00"/>
                </a:highlight>
              </a:rPr>
              <a:t> 위 </a:t>
            </a:r>
            <a:r>
              <a:rPr lang="ko-KR" altLang="en-US" sz="1400" b="1" dirty="0" err="1">
                <a:highlight>
                  <a:srgbClr val="FFFF00"/>
                </a:highlight>
              </a:rPr>
              <a:t>안내부를</a:t>
            </a:r>
            <a:r>
              <a:rPr lang="ko-KR" altLang="en-US" sz="1400" b="1" dirty="0">
                <a:highlight>
                  <a:srgbClr val="FFFF00"/>
                </a:highlight>
              </a:rPr>
              <a:t> 「한 쌍의 롤러」로 한정</a:t>
            </a:r>
            <a:r>
              <a:rPr lang="ko-KR" altLang="en-US" sz="1400" dirty="0">
                <a:highlight>
                  <a:srgbClr val="FFFF00"/>
                </a:highlight>
              </a:rPr>
              <a:t>한 것은 </a:t>
            </a:r>
            <a:r>
              <a:rPr lang="ko-KR" altLang="en-US" sz="1400" dirty="0" err="1">
                <a:highlight>
                  <a:srgbClr val="FFFF00"/>
                </a:highlight>
              </a:rPr>
              <a:t>출원인이</a:t>
            </a:r>
            <a:r>
              <a:rPr lang="ko-KR" altLang="en-US" sz="1400" dirty="0">
                <a:highlight>
                  <a:srgbClr val="FFFF00"/>
                </a:highlight>
              </a:rPr>
              <a:t> 이와 균등관계에 있는 구성에 대해서는 그 권리범위를 주장하지 않겠다는 취지로 볼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결국 </a:t>
            </a:r>
            <a:r>
              <a:rPr lang="ko-KR" altLang="en-US" sz="1400" dirty="0" err="1"/>
              <a:t>출원경과금반언의</a:t>
            </a:r>
            <a:r>
              <a:rPr lang="ko-KR" altLang="en-US" sz="1400" dirty="0"/>
              <a:t> 원칙상 등받이와 보조받침을 직접 연결하여 연계동작을 하는 연결레버를 안내부가 안내하도록 함에 있어서</a:t>
            </a:r>
            <a:r>
              <a:rPr lang="en-US" altLang="ko-KR" sz="1400" dirty="0"/>
              <a:t>, </a:t>
            </a:r>
            <a:r>
              <a:rPr lang="ko-KR" altLang="en-US" sz="1400" dirty="0"/>
              <a:t>그 </a:t>
            </a:r>
            <a:r>
              <a:rPr lang="ko-KR" altLang="en-US" sz="1400" dirty="0" err="1"/>
              <a:t>안내부를</a:t>
            </a:r>
            <a:r>
              <a:rPr lang="ko-KR" altLang="en-US" sz="1400" dirty="0"/>
              <a:t> </a:t>
            </a:r>
            <a:r>
              <a:rPr lang="en-US" altLang="ko-KR" sz="1400" dirty="0"/>
              <a:t>{</a:t>
            </a:r>
            <a:r>
              <a:rPr lang="ko-KR" altLang="en-US" sz="1400" dirty="0"/>
              <a:t>확인대상 고안과 같은</a:t>
            </a:r>
            <a:r>
              <a:rPr lang="en-US" altLang="ko-KR" sz="1400" dirty="0"/>
              <a:t>} </a:t>
            </a:r>
            <a:r>
              <a:rPr lang="ko-KR" altLang="en-US" sz="1400" dirty="0" err="1"/>
              <a:t>슬라이드관으로</a:t>
            </a:r>
            <a:r>
              <a:rPr lang="ko-KR" altLang="en-US" sz="1400" dirty="0"/>
              <a:t> 구성하는 것은 이 사건 등록고안의 </a:t>
            </a:r>
            <a:r>
              <a:rPr lang="ko-KR" altLang="en-US" sz="1400" dirty="0" err="1"/>
              <a:t>출원인이</a:t>
            </a:r>
            <a:r>
              <a:rPr lang="ko-KR" altLang="en-US" sz="1400" dirty="0"/>
              <a:t> 의식적으로 그 보호범위로부터 제외한 것으로 봄이 상당하여</a:t>
            </a:r>
            <a:r>
              <a:rPr lang="en-US" altLang="ko-KR" sz="1400" dirty="0"/>
              <a:t>, </a:t>
            </a:r>
            <a:r>
              <a:rPr lang="ko-KR" altLang="en-US" sz="1400" dirty="0"/>
              <a:t>확인대상 고안의 </a:t>
            </a:r>
            <a:r>
              <a:rPr lang="ko-KR" altLang="en-US" sz="1400" dirty="0" err="1"/>
              <a:t>슬라이드관은</a:t>
            </a:r>
            <a:r>
              <a:rPr lang="ko-KR" altLang="en-US" sz="1400" dirty="0"/>
              <a:t> 이 사건 등록고안 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롤러의 </a:t>
            </a:r>
            <a:r>
              <a:rPr lang="ko-KR" altLang="en-US" sz="1400" dirty="0" err="1"/>
              <a:t>균등론이</a:t>
            </a:r>
            <a:r>
              <a:rPr lang="ko-KR" altLang="en-US" sz="1400" dirty="0"/>
              <a:t> 될 수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69" name="직선 연결선 68"/>
          <p:cNvCxnSpPr/>
          <p:nvPr/>
        </p:nvCxnSpPr>
        <p:spPr>
          <a:xfrm>
            <a:off x="0" y="318502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4FF0869-CBDC-43D3-B938-20DD818F4ED7}"/>
              </a:ext>
            </a:extLst>
          </p:cNvPr>
          <p:cNvSpPr/>
          <p:nvPr/>
        </p:nvSpPr>
        <p:spPr>
          <a:xfrm>
            <a:off x="395535" y="3245223"/>
            <a:ext cx="11381597" cy="3399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039A30E-DFD5-4A0D-8D00-D86BAE958A29}"/>
              </a:ext>
            </a:extLst>
          </p:cNvPr>
          <p:cNvCxnSpPr/>
          <p:nvPr/>
        </p:nvCxnSpPr>
        <p:spPr>
          <a:xfrm>
            <a:off x="683568" y="3914419"/>
            <a:ext cx="10721032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A2B12965-996C-42AF-B35D-47F9EBD5F5E7}"/>
              </a:ext>
            </a:extLst>
          </p:cNvPr>
          <p:cNvSpPr/>
          <p:nvPr/>
        </p:nvSpPr>
        <p:spPr>
          <a:xfrm>
            <a:off x="1475656" y="3817360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0E459C9-0899-4343-9340-28FA46A2DF5B}"/>
              </a:ext>
            </a:extLst>
          </p:cNvPr>
          <p:cNvSpPr/>
          <p:nvPr/>
        </p:nvSpPr>
        <p:spPr>
          <a:xfrm>
            <a:off x="3963671" y="381736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9EED887-63DA-487A-BF16-30458C848ADB}"/>
              </a:ext>
            </a:extLst>
          </p:cNvPr>
          <p:cNvSpPr/>
          <p:nvPr/>
        </p:nvSpPr>
        <p:spPr>
          <a:xfrm>
            <a:off x="6487561" y="3817360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CEFBCBC-76D5-4A45-98C5-BB91EB245F0A}"/>
              </a:ext>
            </a:extLst>
          </p:cNvPr>
          <p:cNvSpPr/>
          <p:nvPr/>
        </p:nvSpPr>
        <p:spPr>
          <a:xfrm>
            <a:off x="7615602" y="3817360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00173E-8CF9-4073-BCE2-F345BDFCB43D}"/>
              </a:ext>
            </a:extLst>
          </p:cNvPr>
          <p:cNvSpPr txBox="1"/>
          <p:nvPr/>
        </p:nvSpPr>
        <p:spPr>
          <a:xfrm>
            <a:off x="1345462" y="349340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2E0B94-04A4-461F-899E-120C1A995D93}"/>
              </a:ext>
            </a:extLst>
          </p:cNvPr>
          <p:cNvSpPr txBox="1"/>
          <p:nvPr/>
        </p:nvSpPr>
        <p:spPr>
          <a:xfrm>
            <a:off x="3847299" y="3476535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보정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134AB-B966-4413-89EF-16C2CF7828BC}"/>
              </a:ext>
            </a:extLst>
          </p:cNvPr>
          <p:cNvSpPr txBox="1"/>
          <p:nvPr/>
        </p:nvSpPr>
        <p:spPr>
          <a:xfrm>
            <a:off x="6307541" y="3476534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등록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8B9F63-10B3-4E84-ABA6-CC576EC34363}"/>
              </a:ext>
            </a:extLst>
          </p:cNvPr>
          <p:cNvSpPr txBox="1"/>
          <p:nvPr/>
        </p:nvSpPr>
        <p:spPr>
          <a:xfrm>
            <a:off x="7274612" y="3493404"/>
            <a:ext cx="898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 실시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74BDD42-6A18-4DF5-B0FE-91883B022401}"/>
              </a:ext>
            </a:extLst>
          </p:cNvPr>
          <p:cNvSpPr/>
          <p:nvPr/>
        </p:nvSpPr>
        <p:spPr>
          <a:xfrm>
            <a:off x="899592" y="4124607"/>
            <a:ext cx="1368152" cy="24482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안내부가 안내하도록 하는 구성을 갖는 안락의자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상기 </a:t>
            </a:r>
            <a:r>
              <a:rPr lang="ko-KR" altLang="en-US" sz="1200" dirty="0" err="1">
                <a:solidFill>
                  <a:schemeClr val="tx1"/>
                </a:solidFill>
              </a:rPr>
              <a:t>안내부는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롤러인 안락의자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C7108CA-2429-4E15-A12F-3F26E7E5B387}"/>
              </a:ext>
            </a:extLst>
          </p:cNvPr>
          <p:cNvSpPr/>
          <p:nvPr/>
        </p:nvSpPr>
        <p:spPr>
          <a:xfrm>
            <a:off x="3423611" y="4124607"/>
            <a:ext cx="1368152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안내부가 안내하도록 하는 구성을 갖는 안락의자에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안내부는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롤러인 안락의자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3E7594A-4659-4924-87A3-13E6452068ED}"/>
              </a:ext>
            </a:extLst>
          </p:cNvPr>
          <p:cNvSpPr/>
          <p:nvPr/>
        </p:nvSpPr>
        <p:spPr>
          <a:xfrm>
            <a:off x="5641767" y="381736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78029D-AD41-430F-85AD-0249C69C8CA1}"/>
              </a:ext>
            </a:extLst>
          </p:cNvPr>
          <p:cNvSpPr txBox="1"/>
          <p:nvPr/>
        </p:nvSpPr>
        <p:spPr>
          <a:xfrm>
            <a:off x="5427181" y="3476535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의견서</a:t>
            </a:r>
            <a:endParaRPr lang="ko-KR" altLang="en-US" sz="12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EEDA84B-F286-45C5-9AA3-D08E7CCF7655}"/>
              </a:ext>
            </a:extLst>
          </p:cNvPr>
          <p:cNvSpPr/>
          <p:nvPr/>
        </p:nvSpPr>
        <p:spPr>
          <a:xfrm>
            <a:off x="5101707" y="4124607"/>
            <a:ext cx="1368152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항과 제</a:t>
            </a:r>
            <a:r>
              <a:rPr lang="en-US" altLang="ko-KR" sz="1200" dirty="0"/>
              <a:t>2</a:t>
            </a:r>
            <a:r>
              <a:rPr lang="ko-KR" altLang="en-US" sz="1200" dirty="0"/>
              <a:t>항을 결합하여 하나의 항으로 만들되 </a:t>
            </a:r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있던 부분을 </a:t>
            </a:r>
            <a:r>
              <a:rPr lang="ko-KR" altLang="en-US" sz="1200" dirty="0">
                <a:solidFill>
                  <a:srgbClr val="FF0000"/>
                </a:solidFill>
              </a:rPr>
              <a:t>공지기술로 한정하여 </a:t>
            </a:r>
            <a:r>
              <a:rPr lang="ko-KR" altLang="en-US" sz="1200" dirty="0" err="1">
                <a:solidFill>
                  <a:srgbClr val="FF0000"/>
                </a:solidFill>
              </a:rPr>
              <a:t>전제부로</a:t>
            </a:r>
            <a:r>
              <a:rPr lang="ko-KR" altLang="en-US" sz="1200" dirty="0">
                <a:solidFill>
                  <a:srgbClr val="FF0000"/>
                </a:solidFill>
              </a:rPr>
              <a:t> 기재</a:t>
            </a:r>
            <a:r>
              <a:rPr lang="ko-KR" altLang="en-US" sz="1200" dirty="0"/>
              <a:t>하고 </a:t>
            </a:r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있던 부분을 </a:t>
            </a:r>
            <a:r>
              <a:rPr lang="ko-KR" altLang="en-US" sz="1200" dirty="0" err="1"/>
              <a:t>특징부에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기재하였는</a:t>
            </a:r>
            <a:r>
              <a:rPr lang="ko-KR" altLang="en-US" sz="1200" dirty="0"/>
              <a:t> 바 재심사하여 </a:t>
            </a:r>
            <a:r>
              <a:rPr lang="ko-KR" altLang="en-US" sz="1200" dirty="0" err="1"/>
              <a:t>특허결정해달라</a:t>
            </a:r>
            <a:endParaRPr lang="ko-KR" altLang="en-US" sz="1200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E303D7A0-76B1-4B7A-B0F1-4A98B0DD42B9}"/>
              </a:ext>
            </a:extLst>
          </p:cNvPr>
          <p:cNvSpPr/>
          <p:nvPr/>
        </p:nvSpPr>
        <p:spPr>
          <a:xfrm>
            <a:off x="2693451" y="3817360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686780-3000-4CB6-9D4D-F5A91258A86A}"/>
              </a:ext>
            </a:extLst>
          </p:cNvPr>
          <p:cNvSpPr txBox="1"/>
          <p:nvPr/>
        </p:nvSpPr>
        <p:spPr>
          <a:xfrm>
            <a:off x="1743602" y="3382759"/>
            <a:ext cx="2090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OA</a:t>
            </a:r>
          </a:p>
          <a:p>
            <a:pPr algn="ctr"/>
            <a:r>
              <a:rPr lang="en-US" altLang="ko-KR" sz="1200" dirty="0"/>
              <a:t>(1</a:t>
            </a:r>
            <a:r>
              <a:rPr lang="ko-KR" altLang="en-US" sz="1200" dirty="0"/>
              <a:t>항이 진보성 위반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C4CC2A6-C973-43B6-8E2C-38D73049E715}"/>
              </a:ext>
            </a:extLst>
          </p:cNvPr>
          <p:cNvSpPr/>
          <p:nvPr/>
        </p:nvSpPr>
        <p:spPr>
          <a:xfrm>
            <a:off x="7039538" y="4124607"/>
            <a:ext cx="1368152" cy="24482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</a:t>
            </a:r>
            <a:r>
              <a:rPr lang="ko-KR" altLang="en-US" sz="1200" dirty="0" err="1">
                <a:solidFill>
                  <a:schemeClr val="tx1"/>
                </a:solidFill>
              </a:rPr>
              <a:t>슬라이드관으로</a:t>
            </a:r>
            <a:r>
              <a:rPr lang="ko-KR" altLang="en-US" sz="1200" dirty="0">
                <a:solidFill>
                  <a:schemeClr val="tx1"/>
                </a:solidFill>
              </a:rPr>
              <a:t> 구성된 안내부가 안내하도록 하는 구성을 갖는 안락의자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3" name="모서리가 둥근 직사각형 55">
            <a:extLst>
              <a:ext uri="{FF2B5EF4-FFF2-40B4-BE49-F238E27FC236}">
                <a16:creationId xmlns:a16="http://schemas.microsoft.com/office/drawing/2014/main" id="{C9AAD1A9-07E2-4726-8238-4013BD935FB9}"/>
              </a:ext>
            </a:extLst>
          </p:cNvPr>
          <p:cNvSpPr/>
          <p:nvPr/>
        </p:nvSpPr>
        <p:spPr bwMode="auto">
          <a:xfrm>
            <a:off x="257975" y="994095"/>
            <a:ext cx="6509882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2002. 6. 14.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2000</a:t>
            </a:r>
            <a:r>
              <a:rPr lang="ko-KR" altLang="en-US" sz="1400" dirty="0"/>
              <a:t>후</a:t>
            </a:r>
            <a:r>
              <a:rPr lang="en-US" altLang="ko-KR" sz="1400" dirty="0"/>
              <a:t>2712 </a:t>
            </a:r>
            <a:r>
              <a:rPr lang="ko-KR" altLang="en-US" sz="1400" dirty="0"/>
              <a:t>판결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/>
              <a:t>실</a:t>
            </a:r>
            <a:r>
              <a:rPr lang="en-US" altLang="ko-KR" sz="1400" dirty="0"/>
              <a:t>)】: </a:t>
            </a:r>
            <a:r>
              <a:rPr lang="ko-KR" altLang="en-US" sz="1400" dirty="0"/>
              <a:t>안락의자 사건</a:t>
            </a:r>
            <a:endParaRPr lang="en-US" altLang="ko-KR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B828DA-558E-40F8-BDCB-34B789188549}"/>
              </a:ext>
            </a:extLst>
          </p:cNvPr>
          <p:cNvSpPr txBox="1"/>
          <p:nvPr/>
        </p:nvSpPr>
        <p:spPr>
          <a:xfrm>
            <a:off x="10703520" y="5291559"/>
            <a:ext cx="788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출원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 err="1"/>
              <a:t>안내부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E7D862-DD5E-4326-92AF-25CBDC64C67D}"/>
              </a:ext>
            </a:extLst>
          </p:cNvPr>
          <p:cNvSpPr/>
          <p:nvPr/>
        </p:nvSpPr>
        <p:spPr>
          <a:xfrm>
            <a:off x="8864836" y="4879146"/>
            <a:ext cx="1018227" cy="3693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FB9D8CC-6956-4A09-B240-1D4445CE2BA3}"/>
              </a:ext>
            </a:extLst>
          </p:cNvPr>
          <p:cNvSpPr/>
          <p:nvPr/>
        </p:nvSpPr>
        <p:spPr>
          <a:xfrm>
            <a:off x="9883063" y="4879146"/>
            <a:ext cx="1204457" cy="36932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슬라이드관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F32904-58C2-4AA7-9EC1-DAA06FE7AF69}"/>
              </a:ext>
            </a:extLst>
          </p:cNvPr>
          <p:cNvSpPr txBox="1"/>
          <p:nvPr/>
        </p:nvSpPr>
        <p:spPr>
          <a:xfrm>
            <a:off x="9644077" y="5291559"/>
            <a:ext cx="5084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감축</a:t>
            </a:r>
            <a:endParaRPr lang="en-US" altLang="ko-KR" sz="1400" dirty="0"/>
          </a:p>
          <a:p>
            <a:pPr algn="ctr"/>
            <a:r>
              <a:rPr lang="ko-KR" altLang="en-US" sz="1400" dirty="0"/>
              <a:t>보정</a:t>
            </a:r>
            <a:endParaRPr lang="en-US" altLang="ko-KR" sz="1400" dirty="0"/>
          </a:p>
          <a:p>
            <a:pPr algn="ctr"/>
            <a:endParaRPr lang="ko-KR" altLang="en-US" sz="1400" dirty="0"/>
          </a:p>
        </p:txBody>
      </p:sp>
      <p:pic>
        <p:nvPicPr>
          <p:cNvPr id="1027" name="_x318566768" descr="EMB00002d2c0e36">
            <a:extLst>
              <a:ext uri="{FF2B5EF4-FFF2-40B4-BE49-F238E27FC236}">
                <a16:creationId xmlns:a16="http://schemas.microsoft.com/office/drawing/2014/main" id="{33FC9BCE-661E-4B55-9E7D-53498063A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" b="12747"/>
          <a:stretch>
            <a:fillRect/>
          </a:stretch>
        </p:blipFill>
        <p:spPr bwMode="auto">
          <a:xfrm>
            <a:off x="8251640" y="3126978"/>
            <a:ext cx="1465263" cy="1141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_x318565808" descr="EMB00002d2c0e37">
            <a:extLst>
              <a:ext uri="{FF2B5EF4-FFF2-40B4-BE49-F238E27FC236}">
                <a16:creationId xmlns:a16="http://schemas.microsoft.com/office/drawing/2014/main" id="{EB785A0E-1924-4053-AB3F-59191D31A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" b="16272"/>
          <a:stretch>
            <a:fillRect/>
          </a:stretch>
        </p:blipFill>
        <p:spPr bwMode="auto">
          <a:xfrm>
            <a:off x="9641828" y="3128446"/>
            <a:ext cx="1368425" cy="11382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_x318565248" descr="EMB00002d2c0e38">
            <a:extLst>
              <a:ext uri="{FF2B5EF4-FFF2-40B4-BE49-F238E27FC236}">
                <a16:creationId xmlns:a16="http://schemas.microsoft.com/office/drawing/2014/main" id="{77A66F19-B387-4A96-BF36-1BFC62625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" b="16331"/>
          <a:stretch>
            <a:fillRect/>
          </a:stretch>
        </p:blipFill>
        <p:spPr bwMode="auto">
          <a:xfrm>
            <a:off x="10900737" y="3125269"/>
            <a:ext cx="1135063" cy="1141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6C0917CB-13DA-4199-A86B-3158CC9F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695525-7EC0-4946-89E6-22076BA6A1EC}"/>
              </a:ext>
            </a:extLst>
          </p:cNvPr>
          <p:cNvSpPr txBox="1"/>
          <p:nvPr/>
        </p:nvSpPr>
        <p:spPr>
          <a:xfrm>
            <a:off x="8541671" y="4262609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롤러방식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FEAE47-84CA-4AEF-A178-A367B260AF82}"/>
              </a:ext>
            </a:extLst>
          </p:cNvPr>
          <p:cNvSpPr txBox="1"/>
          <p:nvPr/>
        </p:nvSpPr>
        <p:spPr>
          <a:xfrm>
            <a:off x="9721504" y="4262609"/>
            <a:ext cx="1156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슬라이딩방식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B029ED-B9FE-4548-9057-04331BF0107E}"/>
              </a:ext>
            </a:extLst>
          </p:cNvPr>
          <p:cNvSpPr txBox="1"/>
          <p:nvPr/>
        </p:nvSpPr>
        <p:spPr>
          <a:xfrm>
            <a:off x="10888923" y="4262609"/>
            <a:ext cx="1156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슬라이딩방식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F09771-1E4E-41E3-8990-EEF6410269A1}"/>
              </a:ext>
            </a:extLst>
          </p:cNvPr>
          <p:cNvSpPr txBox="1"/>
          <p:nvPr/>
        </p:nvSpPr>
        <p:spPr>
          <a:xfrm>
            <a:off x="10697059" y="6078031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BEFORE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71ADC94-4A94-4FF9-9872-8038D19C4B4C}"/>
              </a:ext>
            </a:extLst>
          </p:cNvPr>
          <p:cNvCxnSpPr>
            <a:cxnSpLocks/>
            <a:stCxn id="54" idx="0"/>
          </p:cNvCxnSpPr>
          <p:nvPr/>
        </p:nvCxnSpPr>
        <p:spPr>
          <a:xfrm flipH="1" flipV="1">
            <a:off x="11095407" y="5829111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1121E02-2AD7-4D51-8C13-4B98AB8A61E7}"/>
              </a:ext>
            </a:extLst>
          </p:cNvPr>
          <p:cNvSpPr txBox="1"/>
          <p:nvPr/>
        </p:nvSpPr>
        <p:spPr>
          <a:xfrm>
            <a:off x="9491281" y="6078031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AFTER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9B71ADB8-2646-4E14-B53D-DBBC9EC63A69}"/>
              </a:ext>
            </a:extLst>
          </p:cNvPr>
          <p:cNvCxnSpPr>
            <a:cxnSpLocks/>
            <a:stCxn id="56" idx="0"/>
          </p:cNvCxnSpPr>
          <p:nvPr/>
        </p:nvCxnSpPr>
        <p:spPr>
          <a:xfrm flipH="1" flipV="1">
            <a:off x="9889629" y="5829111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0380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6BFD754E-708D-47EA-A104-FFC3A53377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59" t="11771" r="5219" b="4289"/>
          <a:stretch/>
        </p:blipFill>
        <p:spPr>
          <a:xfrm rot="16200000">
            <a:off x="719925" y="5042679"/>
            <a:ext cx="1236277" cy="1499263"/>
          </a:xfrm>
          <a:prstGeom prst="ellipse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출원경과참작의 원칙</a:t>
            </a:r>
            <a:r>
              <a:rPr lang="en-US" altLang="ko-KR" dirty="0"/>
              <a:t>: </a:t>
            </a:r>
            <a:r>
              <a:rPr lang="ko-KR" altLang="en-US" dirty="0"/>
              <a:t>강판 포장용 받침대 사건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345</a:t>
            </a:fld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77875" y="1371530"/>
            <a:ext cx="120244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특허발명의 출원과정에서 어떤 구성이 청구범위에서 의식적으로 제외된 것인지 여부는 </a:t>
            </a:r>
            <a:r>
              <a:rPr lang="ko-KR" altLang="en-US" sz="1400" dirty="0" err="1"/>
              <a:t>명세서뿐만</a:t>
            </a:r>
            <a:r>
              <a:rPr lang="ko-KR" altLang="en-US" sz="1400" dirty="0"/>
              <a:t> 아니라 출원에서부터 </a:t>
            </a:r>
            <a:r>
              <a:rPr lang="ko-KR" altLang="en-US" sz="1400" dirty="0" err="1"/>
              <a:t>특허될</a:t>
            </a:r>
            <a:r>
              <a:rPr lang="ko-KR" altLang="en-US" sz="1400" dirty="0"/>
              <a:t> 때까지 지식재산처 심사관이 제시한 견해 및 출원인이 출원과정에서 제출한 보정서와 의견서 등에 나타난 출원인의 의도</a:t>
            </a:r>
            <a:r>
              <a:rPr lang="en-US" altLang="ko-KR" sz="1400" dirty="0"/>
              <a:t>, </a:t>
            </a:r>
            <a:r>
              <a:rPr lang="ko-KR" altLang="en-US" sz="1400" dirty="0"/>
              <a:t>보정이유 등을 참작하여 판단하여야 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2002. 9. 6.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2001</a:t>
            </a:r>
            <a:r>
              <a:rPr lang="ko-KR" altLang="en-US" sz="1400" dirty="0"/>
              <a:t>후</a:t>
            </a:r>
            <a:r>
              <a:rPr lang="en-US" altLang="ko-KR" sz="1400" dirty="0"/>
              <a:t>171 </a:t>
            </a:r>
            <a:r>
              <a:rPr lang="ko-KR" altLang="en-US" sz="1400" dirty="0"/>
              <a:t>판결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따라서 </a:t>
            </a:r>
            <a:r>
              <a:rPr lang="ko-KR" altLang="en-US" sz="1400" dirty="0">
                <a:highlight>
                  <a:srgbClr val="FFFF00"/>
                </a:highlight>
              </a:rPr>
              <a:t>출원과정에서 청구범위의 감축이 이루어졌다는 사정만으로 감축 전의 구성과 감축 후의 구성을 비교하여 그 사이에 존재하는 모든 구성이 청구범위에서 의식적으로 제외되었다고 단정할 것은 아니고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highlight>
                  <a:srgbClr val="FFFF00"/>
                </a:highlight>
              </a:rPr>
              <a:t>거절이유통지에</a:t>
            </a:r>
            <a:r>
              <a:rPr lang="ko-KR" altLang="en-US" sz="1400" dirty="0">
                <a:highlight>
                  <a:srgbClr val="FFFF00"/>
                </a:highlight>
              </a:rPr>
              <a:t> 제시된 선행기술을 회피하기 위한 의도로 그 선행기술에 나타난 구성을 배제하는 감축을 한 경우 등과 같이 보정이유를 포함하여 출원과정에 드러난 여러 사정을 종합하여 볼 때 출원인이 어떤 구성을 권리범위에서 제외하려는 의사가 존재한다고 볼 수 있을 때에 이를 인정할 수 있다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그리고 이러한 법리는 청구범위의 감축 없이 의견서 제출 등을 통한 의견진술이 있었던 경우에도 마찬가지로 적용된다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0" y="27923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039A30E-DFD5-4A0D-8D00-D86BAE958A29}"/>
              </a:ext>
            </a:extLst>
          </p:cNvPr>
          <p:cNvCxnSpPr/>
          <p:nvPr/>
        </p:nvCxnSpPr>
        <p:spPr>
          <a:xfrm>
            <a:off x="683568" y="3482165"/>
            <a:ext cx="10721032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A2B12965-996C-42AF-B35D-47F9EBD5F5E7}"/>
              </a:ext>
            </a:extLst>
          </p:cNvPr>
          <p:cNvSpPr/>
          <p:nvPr/>
        </p:nvSpPr>
        <p:spPr>
          <a:xfrm>
            <a:off x="1197604" y="3385106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0E459C9-0899-4343-9340-28FA46A2DF5B}"/>
              </a:ext>
            </a:extLst>
          </p:cNvPr>
          <p:cNvSpPr/>
          <p:nvPr/>
        </p:nvSpPr>
        <p:spPr>
          <a:xfrm>
            <a:off x="3153773" y="3385106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9EED887-63DA-487A-BF16-30458C848ADB}"/>
              </a:ext>
            </a:extLst>
          </p:cNvPr>
          <p:cNvSpPr/>
          <p:nvPr/>
        </p:nvSpPr>
        <p:spPr>
          <a:xfrm>
            <a:off x="5677663" y="3385106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CEFBCBC-76D5-4A45-98C5-BB91EB245F0A}"/>
              </a:ext>
            </a:extLst>
          </p:cNvPr>
          <p:cNvSpPr/>
          <p:nvPr/>
        </p:nvSpPr>
        <p:spPr>
          <a:xfrm>
            <a:off x="6622820" y="3385106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00173E-8CF9-4073-BCE2-F345BDFCB43D}"/>
              </a:ext>
            </a:extLst>
          </p:cNvPr>
          <p:cNvSpPr txBox="1"/>
          <p:nvPr/>
        </p:nvSpPr>
        <p:spPr>
          <a:xfrm>
            <a:off x="1067410" y="3061150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2E0B94-04A4-461F-899E-120C1A995D93}"/>
              </a:ext>
            </a:extLst>
          </p:cNvPr>
          <p:cNvSpPr txBox="1"/>
          <p:nvPr/>
        </p:nvSpPr>
        <p:spPr>
          <a:xfrm>
            <a:off x="3037401" y="3044281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보정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134AB-B966-4413-89EF-16C2CF7828BC}"/>
              </a:ext>
            </a:extLst>
          </p:cNvPr>
          <p:cNvSpPr txBox="1"/>
          <p:nvPr/>
        </p:nvSpPr>
        <p:spPr>
          <a:xfrm>
            <a:off x="5497643" y="3044280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등록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8B9F63-10B3-4E84-ABA6-CC576EC34363}"/>
              </a:ext>
            </a:extLst>
          </p:cNvPr>
          <p:cNvSpPr txBox="1"/>
          <p:nvPr/>
        </p:nvSpPr>
        <p:spPr>
          <a:xfrm>
            <a:off x="6281830" y="3061150"/>
            <a:ext cx="898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 실시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C7108CA-2429-4E15-A12F-3F26E7E5B387}"/>
              </a:ext>
            </a:extLst>
          </p:cNvPr>
          <p:cNvSpPr/>
          <p:nvPr/>
        </p:nvSpPr>
        <p:spPr>
          <a:xfrm>
            <a:off x="2104130" y="3692353"/>
            <a:ext cx="1549693" cy="134872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상부 받침대와 하부 받침대</a:t>
            </a:r>
            <a:r>
              <a:rPr lang="ko-KR" altLang="en-US" sz="1200" dirty="0">
                <a:solidFill>
                  <a:schemeClr val="tx1"/>
                </a:solidFill>
              </a:rPr>
              <a:t>의 하부면이 상부면보다 넓은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하광</a:t>
            </a:r>
            <a:r>
              <a:rPr lang="en-US" altLang="ko-KR" sz="1200" dirty="0">
                <a:solidFill>
                  <a:schemeClr val="tx1"/>
                </a:solidFill>
              </a:rPr>
              <a:t>) </a:t>
            </a:r>
            <a:r>
              <a:rPr lang="ko-KR" altLang="en-US" sz="1200" dirty="0">
                <a:solidFill>
                  <a:schemeClr val="tx1"/>
                </a:solidFill>
              </a:rPr>
              <a:t>속이 빈 사다리꼴의 단면모양의 강판 포장용 받침대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3E7594A-4659-4924-87A3-13E6452068ED}"/>
              </a:ext>
            </a:extLst>
          </p:cNvPr>
          <p:cNvSpPr/>
          <p:nvPr/>
        </p:nvSpPr>
        <p:spPr>
          <a:xfrm>
            <a:off x="4831869" y="3385106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78029D-AD41-430F-85AD-0249C69C8CA1}"/>
              </a:ext>
            </a:extLst>
          </p:cNvPr>
          <p:cNvSpPr txBox="1"/>
          <p:nvPr/>
        </p:nvSpPr>
        <p:spPr>
          <a:xfrm>
            <a:off x="4617283" y="3044281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의견서</a:t>
            </a:r>
            <a:endParaRPr lang="ko-KR" altLang="en-US" sz="12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EEDA84B-F286-45C5-9AA3-D08E7CCF7655}"/>
              </a:ext>
            </a:extLst>
          </p:cNvPr>
          <p:cNvSpPr/>
          <p:nvPr/>
        </p:nvSpPr>
        <p:spPr>
          <a:xfrm>
            <a:off x="3713610" y="3692353"/>
            <a:ext cx="1877735" cy="20391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/>
              <a:t>인용대상의 </a:t>
            </a:r>
            <a:r>
              <a:rPr lang="ko-KR" altLang="en-US" sz="1200" dirty="0">
                <a:solidFill>
                  <a:srgbClr val="FF0000"/>
                </a:solidFill>
              </a:rPr>
              <a:t>상부 받침대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홈부가</a:t>
            </a:r>
            <a:r>
              <a:rPr lang="ko-KR" altLang="en-US" sz="1200" dirty="0"/>
              <a:t> 형성된 부분이 아래로 향하면서 </a:t>
            </a:r>
            <a:r>
              <a:rPr lang="ko-KR" altLang="en-US" sz="1200" dirty="0" err="1"/>
              <a:t>하부받침대와</a:t>
            </a:r>
            <a:r>
              <a:rPr lang="ko-KR" altLang="en-US" sz="1200" dirty="0"/>
              <a:t> 결합되어 있는 반면에 이 사건 발명의 </a:t>
            </a:r>
            <a:r>
              <a:rPr lang="ko-KR" altLang="en-US" sz="1200" dirty="0">
                <a:solidFill>
                  <a:srgbClr val="FF0000"/>
                </a:solidFill>
              </a:rPr>
              <a:t>상부 받침대는 </a:t>
            </a:r>
            <a:r>
              <a:rPr lang="ko-KR" altLang="en-US" sz="1200" dirty="0" err="1">
                <a:solidFill>
                  <a:srgbClr val="FF0000"/>
                </a:solidFill>
              </a:rPr>
              <a:t>홈부가</a:t>
            </a:r>
            <a:r>
              <a:rPr lang="ko-KR" altLang="en-US" sz="1200" dirty="0">
                <a:solidFill>
                  <a:srgbClr val="FF0000"/>
                </a:solidFill>
              </a:rPr>
              <a:t> 형성된 부분이 상부에 형성</a:t>
            </a:r>
            <a:r>
              <a:rPr lang="ko-KR" altLang="en-US" sz="1200" dirty="0"/>
              <a:t>되어 있어 </a:t>
            </a:r>
            <a:r>
              <a:rPr lang="ko-KR" altLang="en-US" sz="1200" dirty="0" err="1"/>
              <a:t>하부받침대에</a:t>
            </a:r>
            <a:r>
              <a:rPr lang="ko-KR" altLang="en-US" sz="1200" dirty="0"/>
              <a:t> 용접될 때 그 접촉면을 넓혀 결합력을 </a:t>
            </a:r>
            <a:r>
              <a:rPr lang="ko-KR" altLang="en-US" sz="1200" dirty="0" err="1"/>
              <a:t>강화시킴으로써</a:t>
            </a:r>
            <a:r>
              <a:rPr lang="ko-KR" altLang="en-US" sz="1200" dirty="0"/>
              <a:t> 구조적인 안정감을 향상시키고 있다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E303D7A0-76B1-4B7A-B0F1-4A98B0DD42B9}"/>
              </a:ext>
            </a:extLst>
          </p:cNvPr>
          <p:cNvSpPr/>
          <p:nvPr/>
        </p:nvSpPr>
        <p:spPr>
          <a:xfrm>
            <a:off x="2319600" y="3385106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686780-3000-4CB6-9D4D-F5A91258A86A}"/>
              </a:ext>
            </a:extLst>
          </p:cNvPr>
          <p:cNvSpPr txBox="1"/>
          <p:nvPr/>
        </p:nvSpPr>
        <p:spPr>
          <a:xfrm>
            <a:off x="1375124" y="2950505"/>
            <a:ext cx="2090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OA</a:t>
            </a:r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진보성 위반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C4CC2A6-C973-43B6-8E2C-38D73049E715}"/>
              </a:ext>
            </a:extLst>
          </p:cNvPr>
          <p:cNvSpPr/>
          <p:nvPr/>
        </p:nvSpPr>
        <p:spPr>
          <a:xfrm>
            <a:off x="5677663" y="3692353"/>
            <a:ext cx="2620948" cy="80518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하부 받침대가 </a:t>
            </a:r>
            <a:r>
              <a:rPr lang="ko-KR" altLang="en-US" sz="1200" dirty="0" err="1">
                <a:solidFill>
                  <a:schemeClr val="tx1"/>
                </a:solidFill>
              </a:rPr>
              <a:t>상광의</a:t>
            </a:r>
            <a:r>
              <a:rPr lang="ko-KR" altLang="en-US" sz="1200" dirty="0">
                <a:solidFill>
                  <a:schemeClr val="tx1"/>
                </a:solidFill>
              </a:rPr>
              <a:t> 속이 빈 사다리꼴이고 상부 받침대가 </a:t>
            </a:r>
            <a:r>
              <a:rPr lang="ko-KR" altLang="en-US" sz="1200" dirty="0" err="1">
                <a:solidFill>
                  <a:schemeClr val="tx1"/>
                </a:solidFill>
              </a:rPr>
              <a:t>하광의</a:t>
            </a:r>
            <a:r>
              <a:rPr lang="ko-KR" altLang="en-US" sz="1200" dirty="0">
                <a:solidFill>
                  <a:schemeClr val="tx1"/>
                </a:solidFill>
              </a:rPr>
              <a:t> 속이 빈 사다리꼴이나 </a:t>
            </a:r>
            <a:r>
              <a:rPr lang="ko-KR" altLang="en-US" sz="1200" dirty="0" err="1">
                <a:solidFill>
                  <a:schemeClr val="tx1"/>
                </a:solidFill>
              </a:rPr>
              <a:t>홈부가</a:t>
            </a:r>
            <a:r>
              <a:rPr lang="ko-KR" altLang="en-US" sz="1200" dirty="0">
                <a:solidFill>
                  <a:schemeClr val="tx1"/>
                </a:solidFill>
              </a:rPr>
              <a:t> 형성된 부분이 하부에 위치한 강판 포장용 받침대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3" name="모서리가 둥근 직사각형 55">
            <a:extLst>
              <a:ext uri="{FF2B5EF4-FFF2-40B4-BE49-F238E27FC236}">
                <a16:creationId xmlns:a16="http://schemas.microsoft.com/office/drawing/2014/main" id="{C9AAD1A9-07E2-4726-8238-4013BD935FB9}"/>
              </a:ext>
            </a:extLst>
          </p:cNvPr>
          <p:cNvSpPr/>
          <p:nvPr/>
        </p:nvSpPr>
        <p:spPr bwMode="auto">
          <a:xfrm>
            <a:off x="351506" y="991165"/>
            <a:ext cx="6823375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2017. 4. 26.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2014</a:t>
            </a:r>
            <a:r>
              <a:rPr lang="ko-KR" altLang="en-US" sz="1400" dirty="0"/>
              <a:t>후</a:t>
            </a:r>
            <a:r>
              <a:rPr lang="en-US" altLang="ko-KR" sz="1400" dirty="0"/>
              <a:t>638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  <a:r>
              <a:rPr lang="ko-KR" altLang="en-US" sz="1400" dirty="0"/>
              <a:t>강판 포장용 받침대 사건</a:t>
            </a:r>
            <a:endParaRPr lang="en-US" altLang="ko-KR" sz="14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C0917CB-13DA-4199-A86B-3158CC9F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E11EB07-81BE-428B-A8FF-55DABE5FFF89}"/>
              </a:ext>
            </a:extLst>
          </p:cNvPr>
          <p:cNvSpPr/>
          <p:nvPr/>
        </p:nvSpPr>
        <p:spPr>
          <a:xfrm>
            <a:off x="621540" y="3693973"/>
            <a:ext cx="1368152" cy="7943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하부 받침대</a:t>
            </a:r>
            <a:r>
              <a:rPr lang="ko-KR" altLang="en-US" sz="1200" dirty="0">
                <a:solidFill>
                  <a:schemeClr val="tx1"/>
                </a:solidFill>
              </a:rPr>
              <a:t>의 단면 모양이 속이 빈 사다리꼴인 강판 포장용 받침대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FA75365-47C3-49A9-B257-F81CBFCA12D3}"/>
              </a:ext>
            </a:extLst>
          </p:cNvPr>
          <p:cNvSpPr/>
          <p:nvPr/>
        </p:nvSpPr>
        <p:spPr>
          <a:xfrm>
            <a:off x="7661362" y="3385106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5A3D9D-A7E1-4DAB-A917-4AE6630299D9}"/>
              </a:ext>
            </a:extLst>
          </p:cNvPr>
          <p:cNvSpPr txBox="1"/>
          <p:nvPr/>
        </p:nvSpPr>
        <p:spPr>
          <a:xfrm>
            <a:off x="7074179" y="2915406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적극적 권리범위확인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</a:p>
        </p:txBody>
      </p:sp>
      <p:pic>
        <p:nvPicPr>
          <p:cNvPr id="2049" name="_x318775456" descr="EMB00002d2c0e3a">
            <a:extLst>
              <a:ext uri="{FF2B5EF4-FFF2-40B4-BE49-F238E27FC236}">
                <a16:creationId xmlns:a16="http://schemas.microsoft.com/office/drawing/2014/main" id="{DB0EFFD0-3227-44F2-BB11-E77CBF8CC5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891" t="60938" r="34009" b="12828"/>
          <a:stretch/>
        </p:blipFill>
        <p:spPr bwMode="auto">
          <a:xfrm>
            <a:off x="7001371" y="4602632"/>
            <a:ext cx="1064159" cy="107085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타원 71">
            <a:extLst>
              <a:ext uri="{FF2B5EF4-FFF2-40B4-BE49-F238E27FC236}">
                <a16:creationId xmlns:a16="http://schemas.microsoft.com/office/drawing/2014/main" id="{A0867DD2-1C64-4E73-9271-24A305A2D255}"/>
              </a:ext>
            </a:extLst>
          </p:cNvPr>
          <p:cNvSpPr/>
          <p:nvPr/>
        </p:nvSpPr>
        <p:spPr>
          <a:xfrm>
            <a:off x="10026657" y="3385106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34E224-27BC-496F-A7B4-D65F7D411CA4}"/>
              </a:ext>
            </a:extLst>
          </p:cNvPr>
          <p:cNvSpPr txBox="1"/>
          <p:nvPr/>
        </p:nvSpPr>
        <p:spPr>
          <a:xfrm>
            <a:off x="9904478" y="3061150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판단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AD71168-D16D-4C7D-B047-9350348000C9}"/>
              </a:ext>
            </a:extLst>
          </p:cNvPr>
          <p:cNvSpPr/>
          <p:nvPr/>
        </p:nvSpPr>
        <p:spPr>
          <a:xfrm>
            <a:off x="8396281" y="3692352"/>
            <a:ext cx="3623380" cy="151537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보정</a:t>
            </a:r>
            <a:r>
              <a:rPr lang="en-US" altLang="ko-KR" sz="1200" dirty="0">
                <a:solidFill>
                  <a:srgbClr val="FF0000"/>
                </a:solidFill>
              </a:rPr>
              <a:t>-</a:t>
            </a:r>
            <a:r>
              <a:rPr lang="ko-KR" altLang="en-US" sz="1200" dirty="0">
                <a:solidFill>
                  <a:srgbClr val="FF0000"/>
                </a:solidFill>
              </a:rPr>
              <a:t>하부 받침대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chemeClr val="tx1"/>
                </a:solidFill>
              </a:rPr>
              <a:t>인용대상을 회피하기 위한 의도로 </a:t>
            </a:r>
            <a:r>
              <a:rPr lang="ko-KR" altLang="en-US" sz="1200" dirty="0" err="1">
                <a:solidFill>
                  <a:schemeClr val="tx1"/>
                </a:solidFill>
              </a:rPr>
              <a:t>상광</a:t>
            </a:r>
            <a:r>
              <a:rPr lang="ko-KR" altLang="en-US" sz="1200" dirty="0">
                <a:solidFill>
                  <a:schemeClr val="tx1"/>
                </a:solidFill>
              </a:rPr>
              <a:t> 모양을 배제한 것은 아니나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발명의 설명에 </a:t>
            </a:r>
            <a:r>
              <a:rPr lang="ko-KR" altLang="en-US" sz="1200" dirty="0" err="1">
                <a:solidFill>
                  <a:schemeClr val="tx1"/>
                </a:solidFill>
              </a:rPr>
              <a:t>하광</a:t>
            </a:r>
            <a:r>
              <a:rPr lang="ko-KR" altLang="en-US" sz="1200" dirty="0">
                <a:solidFill>
                  <a:schemeClr val="tx1"/>
                </a:solidFill>
              </a:rPr>
              <a:t> 단면 모양은 </a:t>
            </a:r>
            <a:r>
              <a:rPr lang="ko-KR" altLang="en-US" sz="1200" dirty="0" err="1">
                <a:solidFill>
                  <a:schemeClr val="tx1"/>
                </a:solidFill>
              </a:rPr>
              <a:t>하부받침대의</a:t>
            </a:r>
            <a:r>
              <a:rPr lang="ko-KR" altLang="en-US" sz="1200" dirty="0">
                <a:solidFill>
                  <a:schemeClr val="tx1"/>
                </a:solidFill>
              </a:rPr>
              <a:t> 지면과의 지지면적을 넓게 하여 구조적인 안정성을 얻을 수 있다고 기재되어 있어 애초에 하부 모양을 전제로 하고 있었던 점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보정은 청구범위를 이러한 발명의 설명에 부합하도록 한정한 점 등을 고려할 때 보정은 </a:t>
            </a:r>
            <a:r>
              <a:rPr lang="ko-KR" altLang="en-US" sz="1200" dirty="0" err="1">
                <a:solidFill>
                  <a:schemeClr val="tx1"/>
                </a:solidFill>
              </a:rPr>
              <a:t>상광</a:t>
            </a:r>
            <a:r>
              <a:rPr lang="ko-KR" altLang="en-US" sz="1200" dirty="0">
                <a:solidFill>
                  <a:schemeClr val="tx1"/>
                </a:solidFill>
              </a:rPr>
              <a:t> 단면모양의 구성을 배제하려는 의사가 존재함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94F6074-8C62-4FD2-A84D-37D29E9EFD01}"/>
              </a:ext>
            </a:extLst>
          </p:cNvPr>
          <p:cNvSpPr/>
          <p:nvPr/>
        </p:nvSpPr>
        <p:spPr>
          <a:xfrm>
            <a:off x="8396281" y="5273573"/>
            <a:ext cx="3623380" cy="127486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의견서</a:t>
            </a:r>
            <a:r>
              <a:rPr lang="en-US" altLang="ko-KR" sz="1200" dirty="0">
                <a:solidFill>
                  <a:srgbClr val="FF0000"/>
                </a:solidFill>
              </a:rPr>
              <a:t>-</a:t>
            </a:r>
            <a:r>
              <a:rPr lang="ko-KR" altLang="en-US" sz="1200" dirty="0">
                <a:solidFill>
                  <a:srgbClr val="FF0000"/>
                </a:solidFill>
              </a:rPr>
              <a:t>상부 받침대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chemeClr val="tx1"/>
                </a:solidFill>
              </a:rPr>
              <a:t>상부 받침대의 홈이 상부에 형성되어 하부 받침대와의 결합면적을 넓혀 결합력을 </a:t>
            </a:r>
            <a:r>
              <a:rPr lang="ko-KR" altLang="en-US" sz="1200" dirty="0" err="1">
                <a:solidFill>
                  <a:schemeClr val="tx1"/>
                </a:solidFill>
              </a:rPr>
              <a:t>강화시킨다는</a:t>
            </a:r>
            <a:r>
              <a:rPr lang="ko-KR" altLang="en-US" sz="1200" dirty="0">
                <a:solidFill>
                  <a:schemeClr val="tx1"/>
                </a:solidFill>
              </a:rPr>
              <a:t> 취지로 주장함으로써 </a:t>
            </a:r>
            <a:r>
              <a:rPr lang="ko-KR" altLang="en-US" sz="1200" dirty="0" err="1">
                <a:solidFill>
                  <a:schemeClr val="tx1"/>
                </a:solidFill>
              </a:rPr>
              <a:t>상부받침대의</a:t>
            </a:r>
            <a:r>
              <a:rPr lang="ko-KR" altLang="en-US" sz="1200" dirty="0">
                <a:solidFill>
                  <a:schemeClr val="tx1"/>
                </a:solidFill>
              </a:rPr>
              <a:t> 홈이 하부에 형성되어 있는 인용대상과 차별화하여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확인대상발명과 같은 ‘홈이 하부에 형성되어 있는’ </a:t>
            </a:r>
            <a:r>
              <a:rPr lang="ko-KR" altLang="en-US" sz="1200" dirty="0" err="1">
                <a:solidFill>
                  <a:schemeClr val="tx1"/>
                </a:solidFill>
              </a:rPr>
              <a:t>상부받침대</a:t>
            </a:r>
            <a:r>
              <a:rPr lang="ko-KR" altLang="en-US" sz="1200" dirty="0">
                <a:solidFill>
                  <a:schemeClr val="tx1"/>
                </a:solidFill>
              </a:rPr>
              <a:t> 구성 역시 이 사건 발명의 권리범위에서 제외함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3D345C94-61B2-4219-97B3-21508880E7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41" r="56692" b="70710"/>
          <a:stretch/>
        </p:blipFill>
        <p:spPr>
          <a:xfrm rot="16200000">
            <a:off x="5715202" y="4526484"/>
            <a:ext cx="1020153" cy="1211645"/>
          </a:xfrm>
          <a:prstGeom prst="ellipse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7D9997F-2CF6-4556-B3D4-1B988B2AA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88" t="67910" r="47743" b="5263"/>
          <a:stretch/>
        </p:blipFill>
        <p:spPr>
          <a:xfrm rot="16200000">
            <a:off x="5882667" y="5731428"/>
            <a:ext cx="849275" cy="1099800"/>
          </a:xfrm>
          <a:prstGeom prst="ellipse">
            <a:avLst/>
          </a:prstGeom>
        </p:spPr>
      </p:pic>
      <p:pic>
        <p:nvPicPr>
          <p:cNvPr id="51" name="_x318775456" descr="EMB00002d2c0e3a">
            <a:extLst>
              <a:ext uri="{FF2B5EF4-FFF2-40B4-BE49-F238E27FC236}">
                <a16:creationId xmlns:a16="http://schemas.microsoft.com/office/drawing/2014/main" id="{EF37A169-EB9C-4DA9-B8A8-5041B50DE0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787" t="42371" b="35235"/>
          <a:stretch/>
        </p:blipFill>
        <p:spPr bwMode="auto">
          <a:xfrm>
            <a:off x="6983550" y="5731509"/>
            <a:ext cx="1099799" cy="97445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순서도: 추출 6">
            <a:extLst>
              <a:ext uri="{FF2B5EF4-FFF2-40B4-BE49-F238E27FC236}">
                <a16:creationId xmlns:a16="http://schemas.microsoft.com/office/drawing/2014/main" id="{7DDA4EA7-9131-B477-E36A-63348819E3F4}"/>
              </a:ext>
            </a:extLst>
          </p:cNvPr>
          <p:cNvSpPr/>
          <p:nvPr/>
        </p:nvSpPr>
        <p:spPr>
          <a:xfrm rot="776181">
            <a:off x="1545421" y="5674131"/>
            <a:ext cx="620785" cy="766817"/>
          </a:xfrm>
          <a:prstGeom prst="flowChartExtra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9356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03BE-68C5-B3C8-EDF4-6F59899C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CB235E4-B865-AD92-2F04-987D96AB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213A7F-9FE8-A89C-5CE1-B0ECB24456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출원경과참작의 원칙</a:t>
            </a:r>
            <a:r>
              <a:rPr lang="en-US" altLang="ko-KR" dirty="0"/>
              <a:t>: </a:t>
            </a:r>
            <a:r>
              <a:rPr lang="ko-KR" altLang="en-US" dirty="0"/>
              <a:t>분할출원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57180E-848B-3F8C-85F7-3BA53894E3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346</a:t>
            </a:fld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0F80E5-A964-14DB-8A71-4BFE1DECF6BD}"/>
              </a:ext>
            </a:extLst>
          </p:cNvPr>
          <p:cNvSpPr txBox="1"/>
          <p:nvPr/>
        </p:nvSpPr>
        <p:spPr>
          <a:xfrm>
            <a:off x="77875" y="1306878"/>
            <a:ext cx="12024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특허출원인이</a:t>
            </a:r>
            <a:r>
              <a:rPr lang="ko-KR" altLang="en-US" sz="1200" dirty="0"/>
              <a:t> 심사관으로부터 </a:t>
            </a:r>
            <a:r>
              <a:rPr lang="ko-KR" altLang="en-US" sz="1200" dirty="0" err="1"/>
              <a:t>기재불비</a:t>
            </a:r>
            <a:r>
              <a:rPr lang="ko-KR" altLang="en-US" sz="1200" dirty="0"/>
              <a:t> 및 진보성 흠결을 이유로 한 </a:t>
            </a:r>
            <a:r>
              <a:rPr lang="ko-KR" altLang="en-US" sz="1200" dirty="0" err="1"/>
              <a:t>거절이유통지를</a:t>
            </a:r>
            <a:r>
              <a:rPr lang="ko-KR" altLang="en-US" sz="1200" dirty="0"/>
              <a:t> 받고서 거절결정을 피하기 위하여 원출원의 청구범위를 한정하는 보정을 하면서 </a:t>
            </a:r>
            <a:r>
              <a:rPr lang="ko-KR" altLang="en-US" sz="1200" dirty="0" err="1"/>
              <a:t>원출원발명</a:t>
            </a:r>
            <a:r>
              <a:rPr lang="ko-KR" altLang="en-US" sz="1200" dirty="0"/>
              <a:t> 중 일부를 별개의 발명으로 </a:t>
            </a:r>
            <a:r>
              <a:rPr lang="ko-KR" altLang="en-US" sz="1200" dirty="0" err="1"/>
              <a:t>분할출원한</a:t>
            </a:r>
            <a:r>
              <a:rPr lang="ko-KR" altLang="en-US" sz="1200" dirty="0"/>
              <a:t> 경우</a:t>
            </a:r>
            <a:r>
              <a:rPr lang="en-US" altLang="ko-KR" sz="1200" dirty="0"/>
              <a:t>, </a:t>
            </a:r>
            <a:r>
              <a:rPr lang="ko-KR" altLang="en-US" sz="1200" dirty="0"/>
              <a:t>이 </a:t>
            </a:r>
            <a:r>
              <a:rPr lang="ko-KR" altLang="en-US" sz="1200" dirty="0" err="1">
                <a:highlight>
                  <a:srgbClr val="FFFF00"/>
                </a:highlight>
              </a:rPr>
              <a:t>분할출원된</a:t>
            </a:r>
            <a:r>
              <a:rPr lang="ko-KR" altLang="en-US" sz="1200" dirty="0">
                <a:highlight>
                  <a:srgbClr val="FFFF00"/>
                </a:highlight>
              </a:rPr>
              <a:t> 발명은 특별한 사정이 없는 한 보정된 발명의 보호범위로부터 의식적으로 제외한 것이라고 보아야 한다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3BF216B-E546-9C5A-591D-7422C3BEDB51}"/>
              </a:ext>
            </a:extLst>
          </p:cNvPr>
          <p:cNvCxnSpPr>
            <a:cxnSpLocks/>
          </p:cNvCxnSpPr>
          <p:nvPr/>
        </p:nvCxnSpPr>
        <p:spPr>
          <a:xfrm>
            <a:off x="165463" y="1843986"/>
            <a:ext cx="8464087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55">
            <a:extLst>
              <a:ext uri="{FF2B5EF4-FFF2-40B4-BE49-F238E27FC236}">
                <a16:creationId xmlns:a16="http://schemas.microsoft.com/office/drawing/2014/main" id="{D6275C4E-4E2B-65A7-2AE5-CD6C4512AD83}"/>
              </a:ext>
            </a:extLst>
          </p:cNvPr>
          <p:cNvSpPr/>
          <p:nvPr/>
        </p:nvSpPr>
        <p:spPr bwMode="auto">
          <a:xfrm>
            <a:off x="351507" y="991165"/>
            <a:ext cx="5264202" cy="227906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2008. 4. 10.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2006</a:t>
            </a:r>
            <a:r>
              <a:rPr lang="ko-KR" altLang="en-US" sz="1400" dirty="0"/>
              <a:t>다</a:t>
            </a:r>
            <a:r>
              <a:rPr lang="en-US" altLang="ko-KR" sz="1400" dirty="0"/>
              <a:t>35308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특허권침해금지</a:t>
            </a:r>
            <a:r>
              <a:rPr lang="en-US" altLang="ko-KR" sz="1400" dirty="0"/>
              <a:t>】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4E12715-33DF-CA36-AA42-842DF9A0F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97881FA-58A5-7043-D571-E610A2A45A53}"/>
              </a:ext>
            </a:extLst>
          </p:cNvPr>
          <p:cNvCxnSpPr/>
          <p:nvPr/>
        </p:nvCxnSpPr>
        <p:spPr>
          <a:xfrm>
            <a:off x="165463" y="3748469"/>
            <a:ext cx="1186978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A9D6BAC-A077-241F-ABFF-8A0F291A1921}"/>
              </a:ext>
            </a:extLst>
          </p:cNvPr>
          <p:cNvCxnSpPr>
            <a:cxnSpLocks/>
          </p:cNvCxnSpPr>
          <p:nvPr/>
        </p:nvCxnSpPr>
        <p:spPr>
          <a:xfrm>
            <a:off x="813455" y="2116724"/>
            <a:ext cx="1108271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406D45-1DFB-99E3-A09C-44A880872999}"/>
              </a:ext>
            </a:extLst>
          </p:cNvPr>
          <p:cNvSpPr txBox="1"/>
          <p:nvPr/>
        </p:nvSpPr>
        <p:spPr>
          <a:xfrm>
            <a:off x="950336" y="1978224"/>
            <a:ext cx="1039830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특허출원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7C459AB-5FA4-F838-5846-E73A840BA631}"/>
              </a:ext>
            </a:extLst>
          </p:cNvPr>
          <p:cNvCxnSpPr>
            <a:cxnSpLocks/>
            <a:stCxn id="26" idx="0"/>
            <a:endCxn id="9" idx="2"/>
          </p:cNvCxnSpPr>
          <p:nvPr/>
        </p:nvCxnSpPr>
        <p:spPr>
          <a:xfrm flipV="1">
            <a:off x="1470249" y="2239834"/>
            <a:ext cx="2" cy="222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542B988-353E-081A-0644-3514D1DD60B1}"/>
              </a:ext>
            </a:extLst>
          </p:cNvPr>
          <p:cNvSpPr txBox="1"/>
          <p:nvPr/>
        </p:nvSpPr>
        <p:spPr>
          <a:xfrm>
            <a:off x="1178342" y="2462606"/>
            <a:ext cx="583814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C3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C5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E983C8-542F-A141-C164-2900D7C76C7B}"/>
              </a:ext>
            </a:extLst>
          </p:cNvPr>
          <p:cNvSpPr txBox="1"/>
          <p:nvPr/>
        </p:nvSpPr>
        <p:spPr>
          <a:xfrm>
            <a:off x="2315319" y="1978224"/>
            <a:ext cx="888916" cy="2769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OA(X)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81D0B4B-B7B2-757B-CF00-DBC6A825D9FA}"/>
              </a:ext>
            </a:extLst>
          </p:cNvPr>
          <p:cNvCxnSpPr>
            <a:cxnSpLocks/>
            <a:stCxn id="37" idx="0"/>
            <a:endCxn id="35" idx="2"/>
          </p:cNvCxnSpPr>
          <p:nvPr/>
        </p:nvCxnSpPr>
        <p:spPr>
          <a:xfrm flipH="1" flipV="1">
            <a:off x="2759777" y="2255222"/>
            <a:ext cx="2" cy="2073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11B0F3-0B70-03DB-A8D4-3E8E54A49205}"/>
              </a:ext>
            </a:extLst>
          </p:cNvPr>
          <p:cNvSpPr txBox="1"/>
          <p:nvPr/>
        </p:nvSpPr>
        <p:spPr>
          <a:xfrm>
            <a:off x="2098380" y="2462606"/>
            <a:ext cx="1322798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42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항제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호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29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항 위반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6AC349-1BD5-188F-8CF7-4DB31155CA0B}"/>
              </a:ext>
            </a:extLst>
          </p:cNvPr>
          <p:cNvSpPr txBox="1"/>
          <p:nvPr/>
        </p:nvSpPr>
        <p:spPr>
          <a:xfrm>
            <a:off x="3646785" y="1978224"/>
            <a:ext cx="84594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CEBF7140-1094-6709-EF9F-1AB021702749}"/>
              </a:ext>
            </a:extLst>
          </p:cNvPr>
          <p:cNvCxnSpPr>
            <a:cxnSpLocks/>
            <a:stCxn id="65" idx="0"/>
            <a:endCxn id="56" idx="2"/>
          </p:cNvCxnSpPr>
          <p:nvPr/>
        </p:nvCxnSpPr>
        <p:spPr>
          <a:xfrm flipV="1">
            <a:off x="4069756" y="2239834"/>
            <a:ext cx="2" cy="222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EF6CB68-0671-DA77-A7B0-3ED0CC86DD92}"/>
              </a:ext>
            </a:extLst>
          </p:cNvPr>
          <p:cNvSpPr txBox="1"/>
          <p:nvPr/>
        </p:nvSpPr>
        <p:spPr>
          <a:xfrm>
            <a:off x="3735369" y="2462606"/>
            <a:ext cx="668773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C3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marL="228600" indent="-228600" algn="ctr"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삭제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99FF3D-F6DD-02F1-A696-7C3C93EBEA85}"/>
              </a:ext>
            </a:extLst>
          </p:cNvPr>
          <p:cNvSpPr txBox="1"/>
          <p:nvPr/>
        </p:nvSpPr>
        <p:spPr>
          <a:xfrm>
            <a:off x="5002473" y="1978224"/>
            <a:ext cx="103983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분할출원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(Y)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E79AA8F-4C07-25CC-DF25-CFFE3D32C075}"/>
              </a:ext>
            </a:extLst>
          </p:cNvPr>
          <p:cNvCxnSpPr>
            <a:cxnSpLocks/>
            <a:stCxn id="71" idx="0"/>
            <a:endCxn id="67" idx="2"/>
          </p:cNvCxnSpPr>
          <p:nvPr/>
        </p:nvCxnSpPr>
        <p:spPr>
          <a:xfrm flipH="1" flipV="1">
            <a:off x="5522388" y="2239834"/>
            <a:ext cx="10175" cy="222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AF404D1-1458-D733-6EFD-55658D7A7F79}"/>
              </a:ext>
            </a:extLst>
          </p:cNvPr>
          <p:cNvSpPr txBox="1"/>
          <p:nvPr/>
        </p:nvSpPr>
        <p:spPr>
          <a:xfrm>
            <a:off x="5186955" y="2462606"/>
            <a:ext cx="691216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C5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3C2A960-19B7-5461-02B7-766DD52F05CC}"/>
              </a:ext>
            </a:extLst>
          </p:cNvPr>
          <p:cNvSpPr txBox="1"/>
          <p:nvPr/>
        </p:nvSpPr>
        <p:spPr>
          <a:xfrm>
            <a:off x="6541928" y="1978224"/>
            <a:ext cx="691208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C408BF48-9872-970C-4A1A-8342120F1F81}"/>
              </a:ext>
            </a:extLst>
          </p:cNvPr>
          <p:cNvCxnSpPr>
            <a:cxnSpLocks/>
            <a:stCxn id="79" idx="0"/>
            <a:endCxn id="77" idx="2"/>
          </p:cNvCxnSpPr>
          <p:nvPr/>
        </p:nvCxnSpPr>
        <p:spPr>
          <a:xfrm flipV="1">
            <a:off x="6887530" y="2239834"/>
            <a:ext cx="2" cy="222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7F779F6-6305-29CB-406C-ABC2671F3560}"/>
              </a:ext>
            </a:extLst>
          </p:cNvPr>
          <p:cNvSpPr txBox="1"/>
          <p:nvPr/>
        </p:nvSpPr>
        <p:spPr>
          <a:xfrm>
            <a:off x="6553143" y="2462606"/>
            <a:ext cx="668773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C3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marL="228600" indent="-228600" algn="ctr"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삭제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38E046D-42B3-9ADA-AD4C-212745C36D16}"/>
              </a:ext>
            </a:extLst>
          </p:cNvPr>
          <p:cNvSpPr txBox="1"/>
          <p:nvPr/>
        </p:nvSpPr>
        <p:spPr>
          <a:xfrm>
            <a:off x="7434845" y="1978224"/>
            <a:ext cx="103983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절차종료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(Y)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BA5979F-AE9B-C7BD-33E3-44CDD04A43B0}"/>
              </a:ext>
            </a:extLst>
          </p:cNvPr>
          <p:cNvSpPr txBox="1"/>
          <p:nvPr/>
        </p:nvSpPr>
        <p:spPr>
          <a:xfrm>
            <a:off x="8700083" y="1964804"/>
            <a:ext cx="949302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자 실시</a:t>
            </a:r>
            <a:endParaRPr lang="en-US" altLang="ko-KR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7F1C47F-11B6-859E-48A1-9E1B3C4ACE6F}"/>
              </a:ext>
            </a:extLst>
          </p:cNvPr>
          <p:cNvSpPr txBox="1"/>
          <p:nvPr/>
        </p:nvSpPr>
        <p:spPr>
          <a:xfrm>
            <a:off x="9890872" y="1978224"/>
            <a:ext cx="1093754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침해금지소송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AEADB34-AD39-E4E1-714A-D9D2CA7166FD}"/>
              </a:ext>
            </a:extLst>
          </p:cNvPr>
          <p:cNvSpPr txBox="1"/>
          <p:nvPr/>
        </p:nvSpPr>
        <p:spPr>
          <a:xfrm>
            <a:off x="165464" y="2965460"/>
            <a:ext cx="11730702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이 사건 특허발명</a:t>
            </a:r>
            <a:r>
              <a:rPr lang="en-US" altLang="ko-KR" sz="1000" dirty="0"/>
              <a:t>(</a:t>
            </a:r>
            <a:r>
              <a:rPr lang="ko-KR" altLang="en-US" sz="1000" dirty="0"/>
              <a:t>특허번호 제</a:t>
            </a:r>
            <a:r>
              <a:rPr lang="en-US" altLang="ko-KR" sz="1000" dirty="0"/>
              <a:t>361255</a:t>
            </a:r>
            <a:r>
              <a:rPr lang="ko-KR" altLang="en-US" sz="1000" dirty="0"/>
              <a:t>호</a:t>
            </a:r>
            <a:r>
              <a:rPr lang="en-US" altLang="ko-KR" sz="1000" dirty="0"/>
              <a:t>)</a:t>
            </a:r>
            <a:r>
              <a:rPr lang="ko-KR" altLang="en-US" sz="1000" dirty="0"/>
              <a:t>에 대한 출원과정에서 </a:t>
            </a:r>
            <a:r>
              <a:rPr lang="ko-KR" altLang="en-US" sz="1000" dirty="0">
                <a:highlight>
                  <a:srgbClr val="FFFF00"/>
                </a:highlight>
              </a:rPr>
              <a:t>지식재산처 심사관의 </a:t>
            </a:r>
            <a:r>
              <a:rPr lang="ko-KR" altLang="en-US" sz="1000" dirty="0" err="1">
                <a:highlight>
                  <a:srgbClr val="FFFF00"/>
                </a:highlight>
              </a:rPr>
              <a:t>거절이유통지의</a:t>
            </a:r>
            <a:r>
              <a:rPr lang="ko-KR" altLang="en-US" sz="1000" dirty="0">
                <a:highlight>
                  <a:srgbClr val="FFFF00"/>
                </a:highlight>
              </a:rPr>
              <a:t> 내용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원고의 이에 대응한 보정서와 의견서의 내용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원고가 이 사건 출원발명으로부터 이 사건 화합물을 제외한 나머지 화합물에 대한 부분을 분할출원을 한 경위</a:t>
            </a:r>
            <a:r>
              <a:rPr lang="ko-KR" altLang="en-US" sz="1000" dirty="0"/>
              <a:t> 등을 참작하면</a:t>
            </a:r>
            <a:r>
              <a:rPr lang="en-US" altLang="ko-KR" sz="1000" dirty="0"/>
              <a:t>, </a:t>
            </a:r>
            <a:r>
              <a:rPr lang="ko-KR" altLang="en-US" sz="1000" dirty="0"/>
              <a:t>원고는 심사관으로부터 </a:t>
            </a:r>
            <a:r>
              <a:rPr lang="ko-KR" altLang="en-US" sz="1000" dirty="0" err="1"/>
              <a:t>거절이유통지를</a:t>
            </a:r>
            <a:r>
              <a:rPr lang="ko-KR" altLang="en-US" sz="1000" dirty="0"/>
              <a:t> 받고서 선행기술을 회피하고 </a:t>
            </a:r>
            <a:r>
              <a:rPr lang="ko-KR" altLang="en-US" sz="1000" dirty="0" err="1"/>
              <a:t>명세서기재요건을</a:t>
            </a:r>
            <a:r>
              <a:rPr lang="ko-KR" altLang="en-US" sz="1000" dirty="0"/>
              <a:t> 충족시키기 위하여 이 사건 출원발명의 화합물을 이 사건 화합물로 </a:t>
            </a:r>
            <a:r>
              <a:rPr lang="ko-KR" altLang="en-US" sz="1000" dirty="0" err="1"/>
              <a:t>감축보정하면서</a:t>
            </a:r>
            <a:r>
              <a:rPr lang="ko-KR" altLang="en-US" sz="1000" dirty="0"/>
              <a:t> 이</a:t>
            </a:r>
            <a:r>
              <a:rPr lang="en-US" altLang="ko-KR" sz="1000" dirty="0"/>
              <a:t>(</a:t>
            </a:r>
            <a:r>
              <a:rPr lang="en-US" altLang="ko-KR" sz="1000" dirty="0" err="1"/>
              <a:t>C3</a:t>
            </a:r>
            <a:r>
              <a:rPr lang="en-US" altLang="ko-KR" sz="1000" dirty="0"/>
              <a:t>)</a:t>
            </a:r>
            <a:r>
              <a:rPr lang="ko-KR" altLang="en-US" sz="1000" dirty="0"/>
              <a:t>를 제외한 나머지 화합물</a:t>
            </a:r>
            <a:r>
              <a:rPr lang="en-US" altLang="ko-KR" sz="1000" dirty="0"/>
              <a:t>(</a:t>
            </a:r>
            <a:r>
              <a:rPr lang="en-US" altLang="ko-KR" sz="1000" dirty="0" err="1"/>
              <a:t>C5</a:t>
            </a:r>
            <a:r>
              <a:rPr lang="en-US" altLang="ko-KR" sz="1000" dirty="0"/>
              <a:t>)</a:t>
            </a:r>
            <a:r>
              <a:rPr lang="ko-KR" altLang="en-US" sz="1000" dirty="0"/>
              <a:t>들을 별개의 발명으로 </a:t>
            </a:r>
            <a:r>
              <a:rPr lang="ko-KR" altLang="en-US" sz="1000" dirty="0" err="1"/>
              <a:t>분할출원함으로써</a:t>
            </a:r>
            <a:r>
              <a:rPr lang="ko-KR" altLang="en-US" sz="1000" dirty="0"/>
              <a:t> 이들을 이 사건 특허발명의 청구범위로부터 의식적으로 제외한 것으로 봄이 상당하므로</a:t>
            </a:r>
            <a:r>
              <a:rPr lang="en-US" altLang="ko-KR" sz="1000" dirty="0"/>
              <a:t>, </a:t>
            </a:r>
            <a:r>
              <a:rPr lang="ko-KR" altLang="en-US" sz="1000" dirty="0"/>
              <a:t>위 </a:t>
            </a:r>
            <a:r>
              <a:rPr lang="ko-KR" altLang="en-US" sz="1000" dirty="0" err="1"/>
              <a:t>분할출원된</a:t>
            </a:r>
            <a:r>
              <a:rPr lang="ko-KR" altLang="en-US" sz="1000" dirty="0"/>
              <a:t> 화합물에 속하는 피고의 </a:t>
            </a:r>
            <a:r>
              <a:rPr lang="ko-KR" altLang="en-US" sz="1000" dirty="0" err="1"/>
              <a:t>오르토</a:t>
            </a:r>
            <a:r>
              <a:rPr lang="en-US" altLang="ko-KR" sz="1000" dirty="0"/>
              <a:t>-</a:t>
            </a:r>
            <a:r>
              <a:rPr lang="ko-KR" altLang="en-US" sz="1000" dirty="0" err="1"/>
              <a:t>크레졸프탈레인</a:t>
            </a:r>
            <a:r>
              <a:rPr lang="ko-KR" altLang="en-US" sz="1000" dirty="0"/>
              <a:t> </a:t>
            </a:r>
            <a:r>
              <a:rPr lang="ko-KR" altLang="en-US" sz="1000" dirty="0" err="1"/>
              <a:t>헥사노일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에스테르</a:t>
            </a:r>
            <a:r>
              <a:rPr lang="en-US" altLang="ko-KR" sz="1000" dirty="0"/>
              <a:t>(</a:t>
            </a:r>
            <a:r>
              <a:rPr lang="en-US" altLang="ko-KR" sz="1000" dirty="0" err="1"/>
              <a:t>C5</a:t>
            </a:r>
            <a:r>
              <a:rPr lang="en-US" altLang="ko-KR" sz="1000" dirty="0"/>
              <a:t>)</a:t>
            </a:r>
            <a:r>
              <a:rPr lang="ko-KR" altLang="en-US" sz="1000" dirty="0"/>
              <a:t>는 이 사건 특허발명의 보호범위에 속하지 아니한다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BDA7475-DB4B-AACA-9CAE-89FE73480BA3}"/>
              </a:ext>
            </a:extLst>
          </p:cNvPr>
          <p:cNvSpPr txBox="1"/>
          <p:nvPr/>
        </p:nvSpPr>
        <p:spPr>
          <a:xfrm>
            <a:off x="77875" y="4156152"/>
            <a:ext cx="12024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원고는 </a:t>
            </a:r>
            <a:r>
              <a:rPr lang="ko-KR" altLang="en-US" sz="1200" dirty="0" err="1"/>
              <a:t>원출원</a:t>
            </a:r>
            <a:r>
              <a:rPr lang="ko-KR" altLang="en-US" sz="1200" dirty="0"/>
              <a:t> 발명의 출원 과정에서 거절이유를 극복하기 위해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원출원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‘</a:t>
            </a:r>
            <a:r>
              <a:rPr lang="ko-KR" altLang="en-US" sz="1200" dirty="0" err="1"/>
              <a:t>세정수단’에는</a:t>
            </a:r>
            <a:r>
              <a:rPr lang="ko-KR" altLang="en-US" sz="1200" dirty="0"/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‘전기분해 방식으로 살균물질을 생성하여 세정하는 </a:t>
            </a:r>
            <a:r>
              <a:rPr lang="ko-KR" altLang="en-US" sz="1200" dirty="0" err="1">
                <a:solidFill>
                  <a:srgbClr val="FF0000"/>
                </a:solidFill>
              </a:rPr>
              <a:t>수단’이</a:t>
            </a:r>
            <a:r>
              <a:rPr lang="ko-KR" altLang="en-US" sz="1200" dirty="0">
                <a:solidFill>
                  <a:srgbClr val="FF0000"/>
                </a:solidFill>
              </a:rPr>
              <a:t> 포함되지 않는다는 취지의 의견을 제출</a:t>
            </a:r>
            <a:r>
              <a:rPr lang="ko-KR" altLang="en-US" sz="1200" dirty="0"/>
              <a:t>하였다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원출원</a:t>
            </a:r>
            <a:r>
              <a:rPr lang="ko-KR" altLang="en-US" sz="1200" dirty="0"/>
              <a:t> 발명과 이 사건 특허발명의 </a:t>
            </a:r>
            <a:r>
              <a:rPr lang="ko-KR" altLang="en-US" sz="1200" dirty="0">
                <a:solidFill>
                  <a:srgbClr val="FF0000"/>
                </a:solidFill>
              </a:rPr>
              <a:t>출원인은 모두 원고로 동일</a:t>
            </a:r>
            <a:r>
              <a:rPr lang="ko-KR" altLang="en-US" sz="1200" dirty="0"/>
              <a:t>하다</a:t>
            </a:r>
            <a:r>
              <a:rPr lang="en-US" altLang="ko-KR" sz="1200" dirty="0"/>
              <a:t>. </a:t>
            </a:r>
            <a:r>
              <a:rPr lang="ko-KR" altLang="en-US" sz="1200" dirty="0"/>
              <a:t>이 사건 특허발명은 </a:t>
            </a:r>
            <a:r>
              <a:rPr lang="ko-KR" altLang="en-US" sz="1200" dirty="0" err="1"/>
              <a:t>원출원</a:t>
            </a:r>
            <a:r>
              <a:rPr lang="ko-KR" altLang="en-US" sz="1200" dirty="0"/>
              <a:t> 발명을 기초로 하는 </a:t>
            </a:r>
            <a:r>
              <a:rPr lang="en-US" altLang="ko-KR" sz="1200" dirty="0"/>
              <a:t>1</a:t>
            </a:r>
            <a:r>
              <a:rPr lang="ko-KR" altLang="en-US" sz="1200" dirty="0"/>
              <a:t>세대 분할출원 발명으로부터 </a:t>
            </a:r>
            <a:r>
              <a:rPr lang="ko-KR" altLang="en-US" sz="1200" dirty="0" err="1"/>
              <a:t>분할출원된</a:t>
            </a:r>
            <a:r>
              <a:rPr lang="ko-KR" altLang="en-US" sz="1200" dirty="0"/>
              <a:t> 발명으로서 </a:t>
            </a:r>
            <a:r>
              <a:rPr lang="ko-KR" altLang="en-US" sz="1200" dirty="0" err="1"/>
              <a:t>원출원</a:t>
            </a:r>
            <a:r>
              <a:rPr lang="ko-KR" altLang="en-US" sz="1200" dirty="0"/>
              <a:t> 발명의 출원서에 최초로 첨부된 명세서 또는 도면에 기재된 사항의 범위 내에 있는 발명이다</a:t>
            </a:r>
            <a:r>
              <a:rPr lang="en-US" altLang="ko-KR" sz="1200" dirty="0"/>
              <a:t>. </a:t>
            </a:r>
            <a:r>
              <a:rPr lang="ko-KR" altLang="en-US" sz="1200" dirty="0"/>
              <a:t>원고는 </a:t>
            </a:r>
            <a:r>
              <a:rPr lang="ko-KR" altLang="en-US" sz="1200" dirty="0" err="1">
                <a:solidFill>
                  <a:srgbClr val="FF0000"/>
                </a:solidFill>
              </a:rPr>
              <a:t>원출원</a:t>
            </a:r>
            <a:r>
              <a:rPr lang="ko-KR" altLang="en-US" sz="1200" dirty="0">
                <a:solidFill>
                  <a:srgbClr val="FF0000"/>
                </a:solidFill>
              </a:rPr>
              <a:t> 발명에 관한 위와 같은 의견제출 이후에 이 사건 특허발명을 출원</a:t>
            </a:r>
            <a:r>
              <a:rPr lang="ko-KR" altLang="en-US" sz="1200" dirty="0"/>
              <a:t>하였다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사정을 고려하면</a:t>
            </a:r>
            <a:r>
              <a:rPr lang="en-US" altLang="ko-KR" sz="1200" dirty="0"/>
              <a:t>, </a:t>
            </a:r>
            <a:r>
              <a:rPr lang="ko-KR" altLang="en-US" sz="1200" dirty="0" err="1">
                <a:highlight>
                  <a:srgbClr val="FFFF00"/>
                </a:highlight>
              </a:rPr>
              <a:t>원출원</a:t>
            </a:r>
            <a:r>
              <a:rPr lang="ko-KR" altLang="en-US" sz="1200" dirty="0">
                <a:highlight>
                  <a:srgbClr val="FFFF00"/>
                </a:highlight>
              </a:rPr>
              <a:t> 발명에 대한 출원경과는 그 후 </a:t>
            </a:r>
            <a:r>
              <a:rPr lang="ko-KR" altLang="en-US" sz="1200" dirty="0" err="1">
                <a:highlight>
                  <a:srgbClr val="FFFF00"/>
                </a:highlight>
              </a:rPr>
              <a:t>분할출원된</a:t>
            </a:r>
            <a:r>
              <a:rPr lang="ko-KR" altLang="en-US" sz="1200" dirty="0">
                <a:highlight>
                  <a:srgbClr val="FFFF00"/>
                </a:highlight>
              </a:rPr>
              <a:t> 이 사건 특허발명의 청구범위를 해석할 때에도 참작할 수 있다</a:t>
            </a:r>
            <a:r>
              <a:rPr lang="en-US" altLang="ko-KR" sz="1200" dirty="0">
                <a:highlight>
                  <a:srgbClr val="FFFF00"/>
                </a:highlight>
              </a:rPr>
              <a:t>. </a:t>
            </a:r>
            <a:r>
              <a:rPr lang="ko-KR" altLang="en-US" sz="1200" dirty="0"/>
              <a:t>이를 참작하면</a:t>
            </a:r>
            <a:r>
              <a:rPr lang="en-US" altLang="ko-KR" sz="1200" dirty="0"/>
              <a:t>, </a:t>
            </a:r>
            <a:r>
              <a:rPr lang="ko-KR" altLang="en-US" sz="1200" dirty="0"/>
              <a:t>원고는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‘세정수단’ 중 ‘전기분해 방식으로 살균물질을 생성하여 세정하는 </a:t>
            </a:r>
            <a:r>
              <a:rPr lang="ko-KR" altLang="en-US" sz="1200" dirty="0" err="1"/>
              <a:t>수단’을</a:t>
            </a:r>
            <a:r>
              <a:rPr lang="ko-KR" altLang="en-US" sz="1200" dirty="0"/>
              <a:t> 의식적으로 제외하였다고 보인다</a:t>
            </a:r>
            <a:r>
              <a:rPr lang="en-US" altLang="ko-KR" sz="1200" dirty="0"/>
              <a:t>.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21C5A4FE-0E9E-396A-5114-41FAD446E891}"/>
              </a:ext>
            </a:extLst>
          </p:cNvPr>
          <p:cNvCxnSpPr>
            <a:cxnSpLocks/>
          </p:cNvCxnSpPr>
          <p:nvPr/>
        </p:nvCxnSpPr>
        <p:spPr>
          <a:xfrm>
            <a:off x="165463" y="5210492"/>
            <a:ext cx="8464087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모서리가 둥근 직사각형 55">
            <a:extLst>
              <a:ext uri="{FF2B5EF4-FFF2-40B4-BE49-F238E27FC236}">
                <a16:creationId xmlns:a16="http://schemas.microsoft.com/office/drawing/2014/main" id="{6F563A32-40C8-590F-6D1C-22CB2FA986BE}"/>
              </a:ext>
            </a:extLst>
          </p:cNvPr>
          <p:cNvSpPr/>
          <p:nvPr/>
        </p:nvSpPr>
        <p:spPr bwMode="auto">
          <a:xfrm>
            <a:off x="351507" y="3868150"/>
            <a:ext cx="5264202" cy="241867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2025. 7. 17.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2023</a:t>
            </a:r>
            <a:r>
              <a:rPr lang="ko-KR" altLang="en-US" sz="1400" dirty="0"/>
              <a:t>후</a:t>
            </a:r>
            <a:r>
              <a:rPr lang="en-US" altLang="ko-KR" sz="1400" dirty="0"/>
              <a:t>11340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B5D9DF4D-DA0F-F8C6-242F-2B2D740B80DF}"/>
              </a:ext>
            </a:extLst>
          </p:cNvPr>
          <p:cNvCxnSpPr>
            <a:cxnSpLocks/>
          </p:cNvCxnSpPr>
          <p:nvPr/>
        </p:nvCxnSpPr>
        <p:spPr>
          <a:xfrm>
            <a:off x="165463" y="5473997"/>
            <a:ext cx="1173070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A66490A-274A-8EFA-1E4B-C5D91BF0007C}"/>
              </a:ext>
            </a:extLst>
          </p:cNvPr>
          <p:cNvSpPr txBox="1"/>
          <p:nvPr/>
        </p:nvSpPr>
        <p:spPr>
          <a:xfrm>
            <a:off x="256166" y="5335497"/>
            <a:ext cx="103983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원출원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F44F71B-99CC-D442-B10F-6B0A008DDA78}"/>
              </a:ext>
            </a:extLst>
          </p:cNvPr>
          <p:cNvSpPr txBox="1"/>
          <p:nvPr/>
        </p:nvSpPr>
        <p:spPr>
          <a:xfrm>
            <a:off x="144938" y="5819879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세정수단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DBEE1C1-C198-77B7-CEA8-6DC042F617BC}"/>
              </a:ext>
            </a:extLst>
          </p:cNvPr>
          <p:cNvSpPr txBox="1"/>
          <p:nvPr/>
        </p:nvSpPr>
        <p:spPr>
          <a:xfrm>
            <a:off x="4810682" y="5335497"/>
            <a:ext cx="1257900" cy="276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기초 분할출원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92A85845-7BC5-880B-A9DE-D09E4BC8BE3E}"/>
              </a:ext>
            </a:extLst>
          </p:cNvPr>
          <p:cNvSpPr txBox="1"/>
          <p:nvPr/>
        </p:nvSpPr>
        <p:spPr>
          <a:xfrm>
            <a:off x="1386699" y="5335497"/>
            <a:ext cx="103983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OA(X)</a:t>
            </a: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DA4B9600-2424-94D0-FBD4-EF5BECD032D5}"/>
              </a:ext>
            </a:extLst>
          </p:cNvPr>
          <p:cNvSpPr txBox="1"/>
          <p:nvPr/>
        </p:nvSpPr>
        <p:spPr>
          <a:xfrm>
            <a:off x="1075434" y="5819879"/>
            <a:ext cx="114165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29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항 위반</a:t>
            </a: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CED1B5EE-F81F-6D65-AD48-B597BA3CB5F7}"/>
              </a:ext>
            </a:extLst>
          </p:cNvPr>
          <p:cNvSpPr txBox="1"/>
          <p:nvPr/>
        </p:nvSpPr>
        <p:spPr>
          <a:xfrm>
            <a:off x="3662581" y="5335497"/>
            <a:ext cx="103983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의견서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sp>
        <p:nvSpPr>
          <p:cNvPr id="2056" name="TextBox 2055">
            <a:extLst>
              <a:ext uri="{FF2B5EF4-FFF2-40B4-BE49-F238E27FC236}">
                <a16:creationId xmlns:a16="http://schemas.microsoft.com/office/drawing/2014/main" id="{2006C8E1-7434-2DB3-DACA-27B20BDB6F46}"/>
              </a:ext>
            </a:extLst>
          </p:cNvPr>
          <p:cNvSpPr txBox="1"/>
          <p:nvPr/>
        </p:nvSpPr>
        <p:spPr>
          <a:xfrm>
            <a:off x="3705468" y="6067529"/>
            <a:ext cx="4712450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원출원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항 발명의 세정수단은 그 내부에 세정물질 또는 살균물질을 포함하고 있어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세정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․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살균을 위한 시간이 극히 짧고 별도의 전력이 소모되지 않는다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반면 비교대상 발명은 살균물질을 미리 포함하지 않아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세척을 위해서는 전기분해에 의하여 살균물질을 새롭게 생성해야 하는데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전기분해에 많은 시간이 소요되고 전력도 소모된다</a:t>
            </a:r>
          </a:p>
        </p:txBody>
      </p:sp>
      <p:cxnSp>
        <p:nvCxnSpPr>
          <p:cNvPr id="2062" name="연결선: 꺾임 2061">
            <a:extLst>
              <a:ext uri="{FF2B5EF4-FFF2-40B4-BE49-F238E27FC236}">
                <a16:creationId xmlns:a16="http://schemas.microsoft.com/office/drawing/2014/main" id="{AE68F2F6-762D-7741-9084-D943A5D10D8E}"/>
              </a:ext>
            </a:extLst>
          </p:cNvPr>
          <p:cNvCxnSpPr>
            <a:cxnSpLocks/>
            <a:stCxn id="2056" idx="0"/>
            <a:endCxn id="2054" idx="2"/>
          </p:cNvCxnSpPr>
          <p:nvPr/>
        </p:nvCxnSpPr>
        <p:spPr>
          <a:xfrm rot="16200000" flipV="1">
            <a:off x="4894579" y="4900414"/>
            <a:ext cx="455033" cy="1879197"/>
          </a:xfrm>
          <a:prstGeom prst="bentConnector3">
            <a:avLst/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TextBox 2064">
            <a:extLst>
              <a:ext uri="{FF2B5EF4-FFF2-40B4-BE49-F238E27FC236}">
                <a16:creationId xmlns:a16="http://schemas.microsoft.com/office/drawing/2014/main" id="{02984D25-7B3D-B228-6EAE-3406534F6F3A}"/>
              </a:ext>
            </a:extLst>
          </p:cNvPr>
          <p:cNvSpPr txBox="1"/>
          <p:nvPr/>
        </p:nvSpPr>
        <p:spPr>
          <a:xfrm>
            <a:off x="2527166" y="5335497"/>
            <a:ext cx="103983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sp>
        <p:nvSpPr>
          <p:cNvPr id="2067" name="TextBox 2066">
            <a:extLst>
              <a:ext uri="{FF2B5EF4-FFF2-40B4-BE49-F238E27FC236}">
                <a16:creationId xmlns:a16="http://schemas.microsoft.com/office/drawing/2014/main" id="{46C3ACAA-811B-50E9-81BB-045D6CA46333}"/>
              </a:ext>
            </a:extLst>
          </p:cNvPr>
          <p:cNvSpPr txBox="1"/>
          <p:nvPr/>
        </p:nvSpPr>
        <p:spPr>
          <a:xfrm>
            <a:off x="1075434" y="6186204"/>
            <a:ext cx="2571352" cy="553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ko-KR" altLang="en-US" sz="1000" dirty="0"/>
              <a:t>세정물질 또는 살균물질을 내부에 포함하고 있는 필터 또는 세정살균제 </a:t>
            </a:r>
            <a:r>
              <a:rPr lang="ko-KR" altLang="en-US" sz="1000" dirty="0" err="1"/>
              <a:t>도징시스템을</a:t>
            </a:r>
            <a:r>
              <a:rPr lang="ko-KR" altLang="en-US" sz="1000" dirty="0"/>
              <a:t> 포함하여 구성되는 세정수단</a:t>
            </a:r>
          </a:p>
        </p:txBody>
      </p:sp>
      <p:cxnSp>
        <p:nvCxnSpPr>
          <p:cNvPr id="2068" name="연결선: 꺾임 2067">
            <a:extLst>
              <a:ext uri="{FF2B5EF4-FFF2-40B4-BE49-F238E27FC236}">
                <a16:creationId xmlns:a16="http://schemas.microsoft.com/office/drawing/2014/main" id="{E726E422-BFA8-C333-6BDA-00DB6B3DAC88}"/>
              </a:ext>
            </a:extLst>
          </p:cNvPr>
          <p:cNvCxnSpPr>
            <a:cxnSpLocks/>
            <a:stCxn id="105" idx="0"/>
            <a:endCxn id="103" idx="2"/>
          </p:cNvCxnSpPr>
          <p:nvPr/>
        </p:nvCxnSpPr>
        <p:spPr>
          <a:xfrm rot="5400000" flipH="1" flipV="1">
            <a:off x="518401" y="5562200"/>
            <a:ext cx="207383" cy="307977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2" name="TextBox 2071">
            <a:extLst>
              <a:ext uri="{FF2B5EF4-FFF2-40B4-BE49-F238E27FC236}">
                <a16:creationId xmlns:a16="http://schemas.microsoft.com/office/drawing/2014/main" id="{AE296D55-BA07-97FA-B2CB-CD52A86CEE76}"/>
              </a:ext>
            </a:extLst>
          </p:cNvPr>
          <p:cNvSpPr txBox="1"/>
          <p:nvPr/>
        </p:nvSpPr>
        <p:spPr>
          <a:xfrm>
            <a:off x="6162216" y="5335497"/>
            <a:ext cx="1257900" cy="276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기초 분할출원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(Z)</a:t>
            </a:r>
          </a:p>
        </p:txBody>
      </p:sp>
      <p:cxnSp>
        <p:nvCxnSpPr>
          <p:cNvPr id="2076" name="연결선: 꺾임 2075">
            <a:extLst>
              <a:ext uri="{FF2B5EF4-FFF2-40B4-BE49-F238E27FC236}">
                <a16:creationId xmlns:a16="http://schemas.microsoft.com/office/drawing/2014/main" id="{4B48FCD2-8543-08BF-26FF-DCFCE7161F7E}"/>
              </a:ext>
            </a:extLst>
          </p:cNvPr>
          <p:cNvCxnSpPr>
            <a:cxnSpLocks/>
            <a:stCxn id="2051" idx="0"/>
            <a:endCxn id="2048" idx="2"/>
          </p:cNvCxnSpPr>
          <p:nvPr/>
        </p:nvCxnSpPr>
        <p:spPr>
          <a:xfrm rot="5400000" flipH="1" flipV="1">
            <a:off x="1672747" y="5586013"/>
            <a:ext cx="207383" cy="260351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9" name="연결선: 꺾임 2078">
            <a:extLst>
              <a:ext uri="{FF2B5EF4-FFF2-40B4-BE49-F238E27FC236}">
                <a16:creationId xmlns:a16="http://schemas.microsoft.com/office/drawing/2014/main" id="{5E831E84-5A14-CF3B-A7E3-F952A129FE61}"/>
              </a:ext>
            </a:extLst>
          </p:cNvPr>
          <p:cNvCxnSpPr>
            <a:cxnSpLocks/>
            <a:stCxn id="2067" idx="0"/>
            <a:endCxn id="2065" idx="2"/>
          </p:cNvCxnSpPr>
          <p:nvPr/>
        </p:nvCxnSpPr>
        <p:spPr>
          <a:xfrm rot="5400000" flipH="1" flipV="1">
            <a:off x="2417241" y="5556365"/>
            <a:ext cx="573708" cy="685971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2" name="TextBox 2081">
            <a:extLst>
              <a:ext uri="{FF2B5EF4-FFF2-40B4-BE49-F238E27FC236}">
                <a16:creationId xmlns:a16="http://schemas.microsoft.com/office/drawing/2014/main" id="{AC55CF1B-E102-C406-9567-35D88D4EB10F}"/>
              </a:ext>
            </a:extLst>
          </p:cNvPr>
          <p:cNvSpPr txBox="1"/>
          <p:nvPr/>
        </p:nvSpPr>
        <p:spPr>
          <a:xfrm>
            <a:off x="7498390" y="5331609"/>
            <a:ext cx="683485" cy="276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(Z)</a:t>
            </a:r>
          </a:p>
        </p:txBody>
      </p:sp>
      <p:cxnSp>
        <p:nvCxnSpPr>
          <p:cNvPr id="2083" name="직선 연결선 2082">
            <a:extLst>
              <a:ext uri="{FF2B5EF4-FFF2-40B4-BE49-F238E27FC236}">
                <a16:creationId xmlns:a16="http://schemas.microsoft.com/office/drawing/2014/main" id="{C5061444-096F-A6A3-D6E5-57F14345C2C3}"/>
              </a:ext>
            </a:extLst>
          </p:cNvPr>
          <p:cNvCxnSpPr>
            <a:cxnSpLocks/>
            <a:stCxn id="2084" idx="0"/>
            <a:endCxn id="88" idx="2"/>
          </p:cNvCxnSpPr>
          <p:nvPr/>
        </p:nvCxnSpPr>
        <p:spPr>
          <a:xfrm flipV="1">
            <a:off x="9169123" y="2226414"/>
            <a:ext cx="5611" cy="2361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4" name="TextBox 2083">
            <a:extLst>
              <a:ext uri="{FF2B5EF4-FFF2-40B4-BE49-F238E27FC236}">
                <a16:creationId xmlns:a16="http://schemas.microsoft.com/office/drawing/2014/main" id="{E3F0C0BC-6A0A-B242-E6F6-200FB2CC0E3D}"/>
              </a:ext>
            </a:extLst>
          </p:cNvPr>
          <p:cNvSpPr txBox="1"/>
          <p:nvPr/>
        </p:nvSpPr>
        <p:spPr>
          <a:xfrm>
            <a:off x="8823515" y="2462606"/>
            <a:ext cx="691216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C5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87" name="TextBox 2086">
            <a:extLst>
              <a:ext uri="{FF2B5EF4-FFF2-40B4-BE49-F238E27FC236}">
                <a16:creationId xmlns:a16="http://schemas.microsoft.com/office/drawing/2014/main" id="{F6A405AB-2AC6-0ABF-C2C7-72C99AF13D21}"/>
              </a:ext>
            </a:extLst>
          </p:cNvPr>
          <p:cNvSpPr txBox="1"/>
          <p:nvPr/>
        </p:nvSpPr>
        <p:spPr>
          <a:xfrm>
            <a:off x="8275280" y="5346054"/>
            <a:ext cx="949302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자 실시</a:t>
            </a:r>
            <a:endParaRPr lang="en-US" altLang="ko-KR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89" name="TextBox 2088">
            <a:extLst>
              <a:ext uri="{FF2B5EF4-FFF2-40B4-BE49-F238E27FC236}">
                <a16:creationId xmlns:a16="http://schemas.microsoft.com/office/drawing/2014/main" id="{3529B337-D0BE-C1D4-D96A-F6CA03E6621B}"/>
              </a:ext>
            </a:extLst>
          </p:cNvPr>
          <p:cNvSpPr txBox="1"/>
          <p:nvPr/>
        </p:nvSpPr>
        <p:spPr>
          <a:xfrm>
            <a:off x="8647618" y="5881404"/>
            <a:ext cx="858332" cy="8617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ko-KR" altLang="en-US" sz="1000" dirty="0"/>
              <a:t>전기분해 방식으로 살균물질을 생성하여 세정하는 수단 </a:t>
            </a:r>
          </a:p>
        </p:txBody>
      </p:sp>
      <p:cxnSp>
        <p:nvCxnSpPr>
          <p:cNvPr id="2090" name="연결선: 꺾임 2089">
            <a:extLst>
              <a:ext uri="{FF2B5EF4-FFF2-40B4-BE49-F238E27FC236}">
                <a16:creationId xmlns:a16="http://schemas.microsoft.com/office/drawing/2014/main" id="{59A62FCF-2667-9F8F-C986-3C880C020A60}"/>
              </a:ext>
            </a:extLst>
          </p:cNvPr>
          <p:cNvCxnSpPr>
            <a:cxnSpLocks/>
            <a:stCxn id="2089" idx="0"/>
            <a:endCxn id="2087" idx="2"/>
          </p:cNvCxnSpPr>
          <p:nvPr/>
        </p:nvCxnSpPr>
        <p:spPr>
          <a:xfrm rot="16200000" flipV="1">
            <a:off x="8776488" y="5581107"/>
            <a:ext cx="273740" cy="326853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5" name="TextBox 2094">
            <a:extLst>
              <a:ext uri="{FF2B5EF4-FFF2-40B4-BE49-F238E27FC236}">
                <a16:creationId xmlns:a16="http://schemas.microsoft.com/office/drawing/2014/main" id="{9136F4AB-F3D7-B677-F0EE-DCE104512CBB}"/>
              </a:ext>
            </a:extLst>
          </p:cNvPr>
          <p:cNvSpPr txBox="1"/>
          <p:nvPr/>
        </p:nvSpPr>
        <p:spPr>
          <a:xfrm>
            <a:off x="9306485" y="5331609"/>
            <a:ext cx="1576119" cy="276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소극적권리범위청구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(Z)</a:t>
            </a:r>
          </a:p>
        </p:txBody>
      </p:sp>
      <p:sp>
        <p:nvSpPr>
          <p:cNvPr id="2103" name="TextBox 2102">
            <a:extLst>
              <a:ext uri="{FF2B5EF4-FFF2-40B4-BE49-F238E27FC236}">
                <a16:creationId xmlns:a16="http://schemas.microsoft.com/office/drawing/2014/main" id="{E8465C5D-6323-955B-2343-F84D2CEF72F4}"/>
              </a:ext>
            </a:extLst>
          </p:cNvPr>
          <p:cNvSpPr txBox="1"/>
          <p:nvPr/>
        </p:nvSpPr>
        <p:spPr>
          <a:xfrm>
            <a:off x="11086524" y="1978224"/>
            <a:ext cx="58887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판단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cxnSp>
        <p:nvCxnSpPr>
          <p:cNvPr id="2105" name="직선 화살표 연결선 2104">
            <a:extLst>
              <a:ext uri="{FF2B5EF4-FFF2-40B4-BE49-F238E27FC236}">
                <a16:creationId xmlns:a16="http://schemas.microsoft.com/office/drawing/2014/main" id="{401F2E5C-8776-3F31-88D8-2A4DA1A2A675}"/>
              </a:ext>
            </a:extLst>
          </p:cNvPr>
          <p:cNvCxnSpPr>
            <a:cxnSpLocks/>
            <a:endCxn id="2103" idx="2"/>
          </p:cNvCxnSpPr>
          <p:nvPr/>
        </p:nvCxnSpPr>
        <p:spPr>
          <a:xfrm flipV="1">
            <a:off x="11380962" y="2239834"/>
            <a:ext cx="0" cy="72562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1" name="TextBox 2110">
            <a:extLst>
              <a:ext uri="{FF2B5EF4-FFF2-40B4-BE49-F238E27FC236}">
                <a16:creationId xmlns:a16="http://schemas.microsoft.com/office/drawing/2014/main" id="{6930E29A-CD20-BBD8-93BE-8E599B906B7F}"/>
              </a:ext>
            </a:extLst>
          </p:cNvPr>
          <p:cNvSpPr txBox="1"/>
          <p:nvPr/>
        </p:nvSpPr>
        <p:spPr>
          <a:xfrm>
            <a:off x="11086524" y="5348223"/>
            <a:ext cx="588876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판단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(Z)</a:t>
            </a:r>
          </a:p>
        </p:txBody>
      </p:sp>
      <p:sp>
        <p:nvSpPr>
          <p:cNvPr id="2115" name="TextBox 2114">
            <a:extLst>
              <a:ext uri="{FF2B5EF4-FFF2-40B4-BE49-F238E27FC236}">
                <a16:creationId xmlns:a16="http://schemas.microsoft.com/office/drawing/2014/main" id="{71BD37EB-A293-B424-CBAD-AAFFA9534DAF}"/>
              </a:ext>
            </a:extLst>
          </p:cNvPr>
          <p:cNvSpPr txBox="1"/>
          <p:nvPr/>
        </p:nvSpPr>
        <p:spPr>
          <a:xfrm>
            <a:off x="9830891" y="5866015"/>
            <a:ext cx="1844509" cy="553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ko-KR" altLang="en-US" sz="1000" dirty="0">
                <a:solidFill>
                  <a:srgbClr val="FF0000"/>
                </a:solidFill>
              </a:rPr>
              <a:t>구성이 동일하지 않고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균등하지도 않아서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요건 </a:t>
            </a:r>
            <a:r>
              <a:rPr lang="ko-KR" altLang="en-US" sz="1000" dirty="0" err="1">
                <a:solidFill>
                  <a:srgbClr val="FF0000"/>
                </a:solidFill>
              </a:rPr>
              <a:t>불충족</a:t>
            </a:r>
            <a:r>
              <a:rPr lang="en-US" altLang="ko-KR" sz="1000" dirty="0">
                <a:solidFill>
                  <a:srgbClr val="FF0000"/>
                </a:solidFill>
              </a:rPr>
              <a:t>) </a:t>
            </a:r>
            <a:r>
              <a:rPr lang="ko-KR" altLang="en-US" sz="1000" dirty="0">
                <a:solidFill>
                  <a:srgbClr val="FF0000"/>
                </a:solidFill>
              </a:rPr>
              <a:t>보호범위에 속하지 않는다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116" name="연결선: 꺾임 2115">
            <a:extLst>
              <a:ext uri="{FF2B5EF4-FFF2-40B4-BE49-F238E27FC236}">
                <a16:creationId xmlns:a16="http://schemas.microsoft.com/office/drawing/2014/main" id="{0EA1D627-BDCD-71A5-B5B0-E00A90C3E33B}"/>
              </a:ext>
            </a:extLst>
          </p:cNvPr>
          <p:cNvCxnSpPr>
            <a:cxnSpLocks/>
            <a:stCxn id="2115" idx="0"/>
            <a:endCxn id="2111" idx="2"/>
          </p:cNvCxnSpPr>
          <p:nvPr/>
        </p:nvCxnSpPr>
        <p:spPr>
          <a:xfrm rot="5400000" flipH="1" flipV="1">
            <a:off x="10938963" y="5424016"/>
            <a:ext cx="256182" cy="627816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9" name="직사각형 2118">
            <a:extLst>
              <a:ext uri="{FF2B5EF4-FFF2-40B4-BE49-F238E27FC236}">
                <a16:creationId xmlns:a16="http://schemas.microsoft.com/office/drawing/2014/main" id="{77027055-9FC8-D483-723F-7C7258A1A76C}"/>
              </a:ext>
            </a:extLst>
          </p:cNvPr>
          <p:cNvSpPr/>
          <p:nvPr/>
        </p:nvSpPr>
        <p:spPr>
          <a:xfrm>
            <a:off x="5869035" y="953065"/>
            <a:ext cx="1662342" cy="3255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원출원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CASE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20" name="직사각형 2119">
            <a:extLst>
              <a:ext uri="{FF2B5EF4-FFF2-40B4-BE49-F238E27FC236}">
                <a16:creationId xmlns:a16="http://schemas.microsoft.com/office/drawing/2014/main" id="{D3225B66-36F4-B2BD-1760-D8CFB439CEDC}"/>
              </a:ext>
            </a:extLst>
          </p:cNvPr>
          <p:cNvSpPr/>
          <p:nvPr/>
        </p:nvSpPr>
        <p:spPr>
          <a:xfrm>
            <a:off x="5869035" y="3818741"/>
            <a:ext cx="1662342" cy="3255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분할출원 </a:t>
            </a:r>
            <a:r>
              <a:rPr lang="en-US" altLang="ko-KR" dirty="0">
                <a:solidFill>
                  <a:srgbClr val="FF0000"/>
                </a:solidFill>
              </a:rPr>
              <a:t>CASE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21" name="TextBox 2120">
            <a:extLst>
              <a:ext uri="{FF2B5EF4-FFF2-40B4-BE49-F238E27FC236}">
                <a16:creationId xmlns:a16="http://schemas.microsoft.com/office/drawing/2014/main" id="{E1283DB6-A432-C575-9C70-C29B76965AA6}"/>
              </a:ext>
            </a:extLst>
          </p:cNvPr>
          <p:cNvSpPr txBox="1"/>
          <p:nvPr/>
        </p:nvSpPr>
        <p:spPr>
          <a:xfrm>
            <a:off x="6151841" y="5781779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세정수단</a:t>
            </a:r>
          </a:p>
        </p:txBody>
      </p:sp>
      <p:cxnSp>
        <p:nvCxnSpPr>
          <p:cNvPr id="2122" name="연결선: 꺾임 2121">
            <a:extLst>
              <a:ext uri="{FF2B5EF4-FFF2-40B4-BE49-F238E27FC236}">
                <a16:creationId xmlns:a16="http://schemas.microsoft.com/office/drawing/2014/main" id="{28DE6DB9-04D5-7C02-84C3-C226B6A9B3BD}"/>
              </a:ext>
            </a:extLst>
          </p:cNvPr>
          <p:cNvCxnSpPr>
            <a:cxnSpLocks/>
            <a:stCxn id="2121" idx="0"/>
            <a:endCxn id="2072" idx="2"/>
          </p:cNvCxnSpPr>
          <p:nvPr/>
        </p:nvCxnSpPr>
        <p:spPr>
          <a:xfrm rot="5400000" flipH="1" flipV="1">
            <a:off x="6548444" y="5539058"/>
            <a:ext cx="169284" cy="316159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2144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무엇이 구성요소</a:t>
            </a:r>
            <a:r>
              <a:rPr lang="en-US" altLang="ko-KR" dirty="0"/>
              <a:t>(element)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347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400" dirty="0">
                <a:latin typeface="+mn-ea"/>
              </a:rPr>
              <a:t>청구항의 구성요소</a:t>
            </a:r>
            <a:r>
              <a:rPr lang="en-US" altLang="ko-KR" sz="1400" dirty="0">
                <a:latin typeface="+mn-ea"/>
              </a:rPr>
              <a:t>(elements of claim)</a:t>
            </a:r>
            <a:r>
              <a:rPr lang="ko-KR" altLang="en-US" sz="1400" dirty="0">
                <a:latin typeface="+mn-ea"/>
              </a:rPr>
              <a:t>는 </a:t>
            </a:r>
            <a:r>
              <a:rPr lang="ko-KR" altLang="en-US" sz="1400" dirty="0" err="1">
                <a:latin typeface="+mn-ea"/>
              </a:rPr>
              <a:t>청구항을</a:t>
            </a:r>
            <a:r>
              <a:rPr lang="ko-KR" altLang="en-US" sz="1400" dirty="0">
                <a:latin typeface="+mn-ea"/>
              </a:rPr>
              <a:t> 복수개의 구성요소</a:t>
            </a:r>
            <a:r>
              <a:rPr lang="en-US" altLang="ko-KR" sz="1400" dirty="0">
                <a:latin typeface="+mn-ea"/>
              </a:rPr>
              <a:t>(element)</a:t>
            </a:r>
            <a:r>
              <a:rPr lang="ko-KR" altLang="en-US" sz="1400" dirty="0">
                <a:latin typeface="+mn-ea"/>
              </a:rPr>
              <a:t>로 나누어 </a:t>
            </a:r>
            <a:r>
              <a:rPr lang="ko-KR" altLang="en-US" sz="1400" dirty="0" err="1">
                <a:latin typeface="+mn-ea"/>
              </a:rPr>
              <a:t>청구항을</a:t>
            </a:r>
            <a:r>
              <a:rPr lang="ko-KR" altLang="en-US" sz="1400" dirty="0">
                <a:latin typeface="+mn-ea"/>
              </a:rPr>
              <a:t> 해석하기 위한 기술적 용어</a:t>
            </a:r>
            <a:r>
              <a:rPr lang="en-US" altLang="ko-KR" sz="1400" dirty="0">
                <a:latin typeface="+mn-ea"/>
              </a:rPr>
              <a:t>(technical term)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 때 구성요소 단위를 작게 보는 경우 구성요소의 생략이지만 구성요소 단위를 크게 보는 경우 구성요소의 생략이 아닌 치환으로 평가할 수 있는 경우도 있기 때문에 어느 정도 기능을 수행하는 단위를 구성요소로 볼 것인지는 중요한 문제이다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보통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실무적으로는 청구항의 문구를 임의적으로 한 단위씩 끊어 하나의 구성요소로 보고 있으나 각 구성요소의 단위는 발명 전체의 작용효과에 기여하기 위해 독자적인 기능을 보유할 정도는 되어야 할 것이다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  <a:latin typeface="+mn-ea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9401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내용 개체 틀 2"/>
          <p:cNvSpPr txBox="1">
            <a:spLocks/>
          </p:cNvSpPr>
          <p:nvPr/>
        </p:nvSpPr>
        <p:spPr>
          <a:xfrm>
            <a:off x="285751" y="2564905"/>
            <a:ext cx="3443816" cy="36433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altLang="ko-KR" sz="1400" dirty="0">
              <a:latin typeface="+mn-ea"/>
            </a:endParaRPr>
          </a:p>
          <a:p>
            <a:pPr>
              <a:defRPr/>
            </a:pPr>
            <a:r>
              <a:rPr lang="ko-KR" altLang="en-US" sz="1400" dirty="0" err="1">
                <a:latin typeface="+mn-ea"/>
              </a:rPr>
              <a:t>청구항</a:t>
            </a:r>
            <a:endParaRPr lang="en-US" altLang="ko-KR" sz="1400" dirty="0">
              <a:latin typeface="+mn-ea"/>
            </a:endParaRPr>
          </a:p>
          <a:p>
            <a:pPr lvl="1">
              <a:defRPr/>
            </a:pPr>
            <a:r>
              <a:rPr lang="en-US" altLang="ko-KR" sz="1200" dirty="0">
                <a:latin typeface="+mn-ea"/>
              </a:rPr>
              <a:t>a, b, c</a:t>
            </a:r>
            <a:r>
              <a:rPr lang="ko-KR" altLang="en-US" sz="1200" dirty="0">
                <a:latin typeface="+mn-ea"/>
              </a:rPr>
              <a:t>로 된 </a:t>
            </a:r>
            <a:r>
              <a:rPr lang="en-US" altLang="ko-KR" sz="1200" dirty="0">
                <a:latin typeface="+mn-ea"/>
              </a:rPr>
              <a:t>X</a:t>
            </a:r>
          </a:p>
          <a:p>
            <a:pPr lvl="1">
              <a:defRPr/>
            </a:pPr>
            <a:r>
              <a:rPr lang="en-US" altLang="ko-KR" sz="1200" dirty="0">
                <a:latin typeface="+mn-ea"/>
              </a:rPr>
              <a:t>d, e, f</a:t>
            </a:r>
            <a:r>
              <a:rPr lang="ko-KR" altLang="en-US" sz="1200" dirty="0">
                <a:latin typeface="+mn-ea"/>
              </a:rPr>
              <a:t>로 된 </a:t>
            </a:r>
            <a:r>
              <a:rPr lang="en-US" altLang="ko-KR" sz="1200" dirty="0">
                <a:latin typeface="+mn-ea"/>
              </a:rPr>
              <a:t>Y</a:t>
            </a:r>
          </a:p>
          <a:p>
            <a:pPr lvl="1">
              <a:buFontTx/>
              <a:buNone/>
              <a:defRPr/>
            </a:pPr>
            <a:r>
              <a:rPr lang="ko-KR" altLang="en-US" sz="1200" dirty="0" err="1">
                <a:latin typeface="+mn-ea"/>
              </a:rPr>
              <a:t>를</a:t>
            </a:r>
            <a:r>
              <a:rPr lang="ko-KR" altLang="en-US" sz="1200" dirty="0">
                <a:latin typeface="+mn-ea"/>
              </a:rPr>
              <a:t> 포함하는 것</a:t>
            </a:r>
            <a:endParaRPr lang="en-US" altLang="ko-KR" sz="1200" dirty="0">
              <a:latin typeface="+mn-ea"/>
            </a:endParaRPr>
          </a:p>
          <a:p>
            <a:pPr lvl="1">
              <a:buFontTx/>
              <a:buNone/>
              <a:defRPr/>
            </a:pPr>
            <a:r>
              <a:rPr lang="ko-KR" altLang="en-US" sz="1200" dirty="0">
                <a:latin typeface="+mn-ea"/>
              </a:rPr>
              <a:t>을 특징으로 하는 자전거</a:t>
            </a:r>
            <a:endParaRPr lang="en-US" altLang="ko-KR" sz="1200" dirty="0">
              <a:latin typeface="+mn-ea"/>
            </a:endParaRPr>
          </a:p>
          <a:p>
            <a:pPr lvl="1">
              <a:buFontTx/>
              <a:buNone/>
              <a:defRPr/>
            </a:pPr>
            <a:endParaRPr lang="en-US" altLang="ko-KR" sz="1200" dirty="0">
              <a:latin typeface="+mn-ea"/>
            </a:endParaRPr>
          </a:p>
          <a:p>
            <a:pPr lvl="1">
              <a:buFontTx/>
              <a:buNone/>
              <a:defRPr/>
            </a:pPr>
            <a:endParaRPr lang="en-US" altLang="ko-KR" sz="1200" dirty="0">
              <a:latin typeface="+mn-ea"/>
            </a:endParaRPr>
          </a:p>
          <a:p>
            <a:pPr lvl="1">
              <a:buFontTx/>
              <a:buNone/>
              <a:defRPr/>
            </a:pPr>
            <a:endParaRPr lang="en-US" altLang="ko-KR" sz="1200" dirty="0">
              <a:latin typeface="+mn-ea"/>
            </a:endParaRPr>
          </a:p>
          <a:p>
            <a:pPr>
              <a:defRPr/>
            </a:pPr>
            <a:r>
              <a:rPr lang="ko-KR" altLang="en-US" sz="1400" dirty="0">
                <a:latin typeface="+mn-ea"/>
              </a:rPr>
              <a:t>제</a:t>
            </a:r>
            <a:r>
              <a:rPr lang="en-US" altLang="ko-KR" sz="1400" dirty="0">
                <a:latin typeface="+mn-ea"/>
              </a:rPr>
              <a:t>3</a:t>
            </a:r>
            <a:r>
              <a:rPr lang="ko-KR" altLang="en-US" sz="1400" dirty="0">
                <a:latin typeface="+mn-ea"/>
              </a:rPr>
              <a:t>자의 실시발명</a:t>
            </a:r>
            <a:endParaRPr lang="en-US" altLang="ko-KR" sz="1400" dirty="0">
              <a:latin typeface="+mn-ea"/>
            </a:endParaRPr>
          </a:p>
          <a:p>
            <a:pPr lvl="1">
              <a:defRPr/>
            </a:pPr>
            <a:r>
              <a:rPr lang="en-US" altLang="ko-KR" sz="1200" dirty="0">
                <a:latin typeface="+mn-ea"/>
              </a:rPr>
              <a:t>a, b, c</a:t>
            </a:r>
            <a:r>
              <a:rPr lang="ko-KR" altLang="en-US" sz="1200" dirty="0">
                <a:latin typeface="+mn-ea"/>
              </a:rPr>
              <a:t>로 된 </a:t>
            </a:r>
            <a:r>
              <a:rPr lang="en-US" altLang="ko-KR" sz="1200" dirty="0">
                <a:latin typeface="+mn-ea"/>
              </a:rPr>
              <a:t>X</a:t>
            </a:r>
          </a:p>
          <a:p>
            <a:pPr lvl="1">
              <a:defRPr/>
            </a:pPr>
            <a:r>
              <a:rPr lang="en-US" altLang="ko-KR" sz="1200" dirty="0">
                <a:latin typeface="+mn-ea"/>
              </a:rPr>
              <a:t>d, e</a:t>
            </a:r>
            <a:r>
              <a:rPr lang="ko-KR" altLang="en-US" sz="1200" dirty="0">
                <a:latin typeface="+mn-ea"/>
              </a:rPr>
              <a:t>로 된 </a:t>
            </a:r>
            <a:r>
              <a:rPr lang="en-US" altLang="ko-KR" sz="1200" dirty="0">
                <a:latin typeface="+mn-ea"/>
              </a:rPr>
              <a:t>Y</a:t>
            </a:r>
          </a:p>
          <a:p>
            <a:pPr lvl="1">
              <a:buFontTx/>
              <a:buNone/>
              <a:defRPr/>
            </a:pPr>
            <a:r>
              <a:rPr lang="ko-KR" altLang="en-US" sz="1200" dirty="0" err="1">
                <a:latin typeface="+mn-ea"/>
              </a:rPr>
              <a:t>를</a:t>
            </a:r>
            <a:r>
              <a:rPr lang="ko-KR" altLang="en-US" sz="1200" dirty="0">
                <a:latin typeface="+mn-ea"/>
              </a:rPr>
              <a:t> 포함하는 것</a:t>
            </a:r>
            <a:endParaRPr lang="en-US" altLang="ko-KR" sz="1200" dirty="0">
              <a:latin typeface="+mn-ea"/>
            </a:endParaRPr>
          </a:p>
          <a:p>
            <a:pPr lvl="1">
              <a:buFontTx/>
              <a:buNone/>
              <a:defRPr/>
            </a:pPr>
            <a:r>
              <a:rPr lang="ko-KR" altLang="en-US" sz="1200" dirty="0">
                <a:latin typeface="+mn-ea"/>
              </a:rPr>
              <a:t>을 특징으로 하는 자전거</a:t>
            </a:r>
            <a:endParaRPr lang="en-US" altLang="ko-KR" sz="1200" dirty="0">
              <a:latin typeface="+mn-ea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635483"/>
              </p:ext>
            </p:extLst>
          </p:nvPr>
        </p:nvGraphicFramePr>
        <p:xfrm>
          <a:off x="4095751" y="2924944"/>
          <a:ext cx="3810000" cy="328327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38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특허발명</a:t>
                      </a:r>
                      <a:endParaRPr lang="en-US" altLang="ko-KR" sz="1400" dirty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구성요소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확인대상발명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판단</a:t>
                      </a:r>
                      <a:r>
                        <a:rPr lang="en-US" altLang="ko-KR" sz="1400" dirty="0"/>
                        <a:t>(○/×/△) </a:t>
                      </a:r>
                      <a:endParaRPr lang="ko-KR" altLang="en-US" sz="1400" b="1" dirty="0"/>
                    </a:p>
                  </a:txBody>
                  <a:tcPr marL="95999" marR="95999" marT="3813" marB="381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926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1400" dirty="0"/>
                        <a:t>abc</a:t>
                      </a:r>
                      <a:r>
                        <a:rPr lang="ko-KR" altLang="en-US" sz="1400" dirty="0"/>
                        <a:t>로 된 </a:t>
                      </a:r>
                      <a:r>
                        <a:rPr lang="en-US" altLang="ko-KR" sz="1400" dirty="0"/>
                        <a:t>X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/>
                        <a:t>abc</a:t>
                      </a:r>
                      <a:r>
                        <a:rPr lang="ko-KR" altLang="en-US" sz="1400" dirty="0"/>
                        <a:t>로 된 </a:t>
                      </a:r>
                      <a:r>
                        <a:rPr lang="en-US" altLang="ko-KR" sz="1400" dirty="0"/>
                        <a:t>X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○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579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1400" dirty="0"/>
                        <a:t>def</a:t>
                      </a:r>
                      <a:r>
                        <a:rPr lang="ko-KR" altLang="en-US" sz="1400" dirty="0"/>
                        <a:t>로 된 </a:t>
                      </a:r>
                      <a:r>
                        <a:rPr lang="en-US" altLang="ko-KR" sz="1400" dirty="0"/>
                        <a:t>Y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/>
                        <a:t>de</a:t>
                      </a:r>
                      <a:r>
                        <a:rPr lang="ko-KR" altLang="en-US" sz="1400" dirty="0"/>
                        <a:t>로 된 </a:t>
                      </a:r>
                      <a:r>
                        <a:rPr lang="en-US" altLang="ko-KR" sz="1400" dirty="0"/>
                        <a:t>Y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△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38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종합 의견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/>
                        <a:t>AER</a:t>
                      </a:r>
                      <a:r>
                        <a:rPr lang="ko-KR" altLang="en-US" sz="1400" dirty="0"/>
                        <a:t>이 적용되지 않으나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구성요소의 치환으로 </a:t>
                      </a:r>
                      <a:r>
                        <a:rPr lang="ko-KR" altLang="en-US" sz="1400" dirty="0" err="1"/>
                        <a:t>균등론이</a:t>
                      </a:r>
                      <a:r>
                        <a:rPr lang="ko-KR" altLang="en-US" sz="1400" dirty="0"/>
                        <a:t> 적용될 여지가 존재함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826496"/>
              </p:ext>
            </p:extLst>
          </p:nvPr>
        </p:nvGraphicFramePr>
        <p:xfrm>
          <a:off x="8096251" y="2924944"/>
          <a:ext cx="3810000" cy="328327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3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특허발명</a:t>
                      </a:r>
                      <a:endParaRPr kumimoji="0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구성요소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확인대상발명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판단</a:t>
                      </a:r>
                      <a:r>
                        <a:rPr lang="en-US" altLang="ko-KR" sz="1400" dirty="0"/>
                        <a:t>(○/×/△) </a:t>
                      </a:r>
                      <a:endParaRPr lang="ko-KR" altLang="en-US" sz="1400" b="1" dirty="0"/>
                    </a:p>
                  </a:txBody>
                  <a:tcPr marL="96000" marR="96000" marT="3813" marB="3813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○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○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○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○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○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종합 의견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구성요소의 삭제이므로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AER, </a:t>
                      </a:r>
                      <a:r>
                        <a:rPr kumimoji="0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균등론이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적용될 여지가 없음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4052912" y="2390854"/>
            <a:ext cx="3205137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1600" kern="0" dirty="0">
                <a:solidFill>
                  <a:schemeClr val="bg1"/>
                </a:solidFill>
                <a:latin typeface="+mn-ea"/>
              </a:rPr>
              <a:t>X, Y</a:t>
            </a:r>
            <a:r>
              <a:rPr lang="ko-KR" altLang="en-US" sz="1600" kern="0" dirty="0">
                <a:solidFill>
                  <a:schemeClr val="bg1"/>
                </a:solidFill>
                <a:latin typeface="+mn-ea"/>
              </a:rPr>
              <a:t>를 구성요소로 보는 경우</a:t>
            </a:r>
            <a:endParaRPr lang="en-US" altLang="ko-KR" sz="1600" kern="0" dirty="0">
              <a:solidFill>
                <a:schemeClr val="bg1"/>
              </a:solidFill>
              <a:latin typeface="+mn-ea"/>
              <a:cs typeface="Arial" charset="0"/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8043887" y="2390854"/>
            <a:ext cx="3205137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1600" kern="0" dirty="0">
                <a:solidFill>
                  <a:schemeClr val="bg1"/>
                </a:solidFill>
                <a:latin typeface="+mn-ea"/>
              </a:rPr>
              <a:t>a, b, c, d, e</a:t>
            </a:r>
            <a:r>
              <a:rPr lang="ko-KR" altLang="en-US" sz="1600" kern="0" dirty="0">
                <a:solidFill>
                  <a:schemeClr val="bg1"/>
                </a:solidFill>
                <a:latin typeface="+mn-ea"/>
              </a:rPr>
              <a:t>를 구성요소로 보는 경우</a:t>
            </a:r>
            <a:endParaRPr lang="en-US" altLang="ko-KR" sz="1600" kern="0" dirty="0">
              <a:solidFill>
                <a:schemeClr val="bg1"/>
              </a:solidFill>
              <a:latin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9895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특허요건 판단과 침해 여부 </a:t>
            </a:r>
            <a:r>
              <a:rPr lang="ko-KR" altLang="en-US" dirty="0" err="1">
                <a:solidFill>
                  <a:srgbClr val="525252"/>
                </a:solidFill>
              </a:rPr>
              <a:t>판단시</a:t>
            </a:r>
            <a:r>
              <a:rPr lang="ko-KR" altLang="en-US" dirty="0">
                <a:solidFill>
                  <a:srgbClr val="525252"/>
                </a:solidFill>
              </a:rPr>
              <a:t> 발명의 특정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348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BDF839-943F-405B-878E-A9F83632CCF9}"/>
              </a:ext>
            </a:extLst>
          </p:cNvPr>
          <p:cNvCxnSpPr/>
          <p:nvPr/>
        </p:nvCxnSpPr>
        <p:spPr>
          <a:xfrm>
            <a:off x="1079612" y="1219200"/>
            <a:ext cx="0" cy="507153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CDB36B-5022-43D8-A6C2-8A125C0368AF}"/>
              </a:ext>
            </a:extLst>
          </p:cNvPr>
          <p:cNvSpPr/>
          <p:nvPr/>
        </p:nvSpPr>
        <p:spPr>
          <a:xfrm>
            <a:off x="381081" y="1378089"/>
            <a:ext cx="1395264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인용대상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FC66BE-E98C-4C37-9121-6E24F370F874}"/>
              </a:ext>
            </a:extLst>
          </p:cNvPr>
          <p:cNvSpPr/>
          <p:nvPr/>
        </p:nvSpPr>
        <p:spPr>
          <a:xfrm>
            <a:off x="381081" y="2522661"/>
            <a:ext cx="1395264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출원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ACBFC70-7DCF-4ECE-8A2E-99AD17DC0EBA}"/>
              </a:ext>
            </a:extLst>
          </p:cNvPr>
          <p:cNvSpPr/>
          <p:nvPr/>
        </p:nvSpPr>
        <p:spPr>
          <a:xfrm>
            <a:off x="381081" y="3894264"/>
            <a:ext cx="1395264" cy="3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A02127-657E-464B-A410-8EDBB98AB29D}"/>
              </a:ext>
            </a:extLst>
          </p:cNvPr>
          <p:cNvSpPr/>
          <p:nvPr/>
        </p:nvSpPr>
        <p:spPr>
          <a:xfrm>
            <a:off x="381081" y="5265867"/>
            <a:ext cx="1395264" cy="3608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제</a:t>
            </a:r>
            <a:r>
              <a:rPr lang="en-US" altLang="ko-KR" sz="1600" dirty="0">
                <a:solidFill>
                  <a:schemeClr val="tx1"/>
                </a:solidFill>
              </a:rPr>
              <a:t>3</a:t>
            </a:r>
            <a:r>
              <a:rPr lang="ko-KR" altLang="en-US" sz="1600" dirty="0">
                <a:solidFill>
                  <a:schemeClr val="tx1"/>
                </a:solidFill>
              </a:rPr>
              <a:t>자 실시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F0B1072-005D-4E87-BC18-3A4839AADABB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079612" y="4795167"/>
            <a:ext cx="559509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3354629-4131-481A-8384-FABF1D582C19}"/>
              </a:ext>
            </a:extLst>
          </p:cNvPr>
          <p:cNvCxnSpPr/>
          <p:nvPr/>
        </p:nvCxnSpPr>
        <p:spPr>
          <a:xfrm flipV="1">
            <a:off x="5090755" y="1041400"/>
            <a:ext cx="0" cy="532553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12C1082-5D29-45DB-8348-521862242325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079612" y="3244467"/>
            <a:ext cx="559509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510AB81-AA05-4639-A3A7-715999DD2BC0}"/>
              </a:ext>
            </a:extLst>
          </p:cNvPr>
          <p:cNvSpPr txBox="1"/>
          <p:nvPr/>
        </p:nvSpPr>
        <p:spPr>
          <a:xfrm>
            <a:off x="1639121" y="2982857"/>
            <a:ext cx="881972" cy="5232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특허요건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판단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4B7155DA-1D5E-413E-8A85-AE98A29F9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37453"/>
              </p:ext>
            </p:extLst>
          </p:nvPr>
        </p:nvGraphicFramePr>
        <p:xfrm>
          <a:off x="5325310" y="2866723"/>
          <a:ext cx="6485598" cy="359227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8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9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2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발명의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특허요건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보호범위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청구범위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중심의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발명의 설명</a:t>
                      </a:r>
                      <a:r>
                        <a:rPr lang="en-US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 가능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544724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공지기술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발명의 특정 후 신규성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진보성 등 판단으로 갈음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1010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출원경과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다만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출원인이 공지되었음을 자인하는 경우 공지된 것으로 추정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018035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특허권하자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발명의 특정 후 특허요건 판단으로 갈음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73106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265E46E-FBCC-46D0-B1D0-D7E586C98F71}"/>
              </a:ext>
            </a:extLst>
          </p:cNvPr>
          <p:cNvSpPr txBox="1"/>
          <p:nvPr/>
        </p:nvSpPr>
        <p:spPr>
          <a:xfrm>
            <a:off x="1639121" y="4533557"/>
            <a:ext cx="881972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보호범위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판단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3DDB6B7-C4AB-471D-B53F-63689BA1BF37}"/>
              </a:ext>
            </a:extLst>
          </p:cNvPr>
          <p:cNvSpPr/>
          <p:nvPr/>
        </p:nvSpPr>
        <p:spPr>
          <a:xfrm>
            <a:off x="2721641" y="2708266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출원발명 특정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D69798D-90BA-4469-BFC1-5B36CEA94F2C}"/>
              </a:ext>
            </a:extLst>
          </p:cNvPr>
          <p:cNvSpPr/>
          <p:nvPr/>
        </p:nvSpPr>
        <p:spPr>
          <a:xfrm>
            <a:off x="2721641" y="3081713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인용대상 특정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3403F4E-DBF1-4CC5-ABD0-DA615DE715C9}"/>
              </a:ext>
            </a:extLst>
          </p:cNvPr>
          <p:cNvSpPr/>
          <p:nvPr/>
        </p:nvSpPr>
        <p:spPr>
          <a:xfrm>
            <a:off x="2721641" y="3477257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동일성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용이성 등 판단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FD788FE-A8F2-4026-A69D-49297D46D081}"/>
              </a:ext>
            </a:extLst>
          </p:cNvPr>
          <p:cNvSpPr/>
          <p:nvPr/>
        </p:nvSpPr>
        <p:spPr>
          <a:xfrm>
            <a:off x="2721641" y="4259768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특허발명 특정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2BB5E28-7C40-4485-AB2F-2EC1F467C192}"/>
              </a:ext>
            </a:extLst>
          </p:cNvPr>
          <p:cNvSpPr/>
          <p:nvPr/>
        </p:nvSpPr>
        <p:spPr>
          <a:xfrm>
            <a:off x="2721641" y="4633215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확인대상발명 특정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70A1D52-4D31-46A3-B1D2-51A3DA592704}"/>
              </a:ext>
            </a:extLst>
          </p:cNvPr>
          <p:cNvSpPr/>
          <p:nvPr/>
        </p:nvSpPr>
        <p:spPr>
          <a:xfrm>
            <a:off x="2721641" y="5016402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AER, </a:t>
            </a:r>
            <a:r>
              <a:rPr lang="ko-KR" altLang="en-US" sz="1600" dirty="0" err="1">
                <a:solidFill>
                  <a:schemeClr val="tx1"/>
                </a:solidFill>
              </a:rPr>
              <a:t>균등론</a:t>
            </a:r>
            <a:r>
              <a:rPr lang="ko-KR" altLang="en-US" sz="1600" dirty="0">
                <a:solidFill>
                  <a:schemeClr val="tx1"/>
                </a:solidFill>
              </a:rPr>
              <a:t> 적용 판단</a:t>
            </a: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FF4C1043-3678-4CF4-87AA-AE9840D0A5DC}"/>
              </a:ext>
            </a:extLst>
          </p:cNvPr>
          <p:cNvCxnSpPr>
            <a:stCxn id="31" idx="3"/>
            <a:endCxn id="44" idx="1"/>
          </p:cNvCxnSpPr>
          <p:nvPr/>
        </p:nvCxnSpPr>
        <p:spPr>
          <a:xfrm flipV="1">
            <a:off x="2521093" y="2858485"/>
            <a:ext cx="200548" cy="3859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4D2F1865-DEDD-401D-8801-BF79C1ABA5B9}"/>
              </a:ext>
            </a:extLst>
          </p:cNvPr>
          <p:cNvCxnSpPr>
            <a:cxnSpLocks/>
            <a:stCxn id="31" idx="3"/>
            <a:endCxn id="45" idx="1"/>
          </p:cNvCxnSpPr>
          <p:nvPr/>
        </p:nvCxnSpPr>
        <p:spPr>
          <a:xfrm flipV="1">
            <a:off x="2521093" y="3231932"/>
            <a:ext cx="200548" cy="125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2BB4E593-2F0C-44DC-A729-FFDAB185E13A}"/>
              </a:ext>
            </a:extLst>
          </p:cNvPr>
          <p:cNvCxnSpPr>
            <a:stCxn id="31" idx="3"/>
            <a:endCxn id="46" idx="1"/>
          </p:cNvCxnSpPr>
          <p:nvPr/>
        </p:nvCxnSpPr>
        <p:spPr>
          <a:xfrm>
            <a:off x="2521093" y="3244467"/>
            <a:ext cx="200548" cy="3830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89143579-79E7-4180-B25E-7B9E26C213D9}"/>
              </a:ext>
            </a:extLst>
          </p:cNvPr>
          <p:cNvCxnSpPr>
            <a:cxnSpLocks/>
            <a:stCxn id="33" idx="3"/>
            <a:endCxn id="47" idx="1"/>
          </p:cNvCxnSpPr>
          <p:nvPr/>
        </p:nvCxnSpPr>
        <p:spPr>
          <a:xfrm flipV="1">
            <a:off x="2521093" y="4409987"/>
            <a:ext cx="200548" cy="38518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ABFC791F-2099-4CBD-A7C0-AA0C9A44E109}"/>
              </a:ext>
            </a:extLst>
          </p:cNvPr>
          <p:cNvCxnSpPr>
            <a:stCxn id="33" idx="3"/>
            <a:endCxn id="49" idx="1"/>
          </p:cNvCxnSpPr>
          <p:nvPr/>
        </p:nvCxnSpPr>
        <p:spPr>
          <a:xfrm>
            <a:off x="2521093" y="4795167"/>
            <a:ext cx="200548" cy="3714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1A5E03E6-86E0-4D9E-9007-A4C89101675C}"/>
              </a:ext>
            </a:extLst>
          </p:cNvPr>
          <p:cNvCxnSpPr>
            <a:stCxn id="33" idx="3"/>
            <a:endCxn id="48" idx="1"/>
          </p:cNvCxnSpPr>
          <p:nvPr/>
        </p:nvCxnSpPr>
        <p:spPr>
          <a:xfrm flipV="1">
            <a:off x="2521093" y="4783434"/>
            <a:ext cx="200548" cy="1173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말풍선: 모서리가 둥근 사각형 68">
            <a:extLst>
              <a:ext uri="{FF2B5EF4-FFF2-40B4-BE49-F238E27FC236}">
                <a16:creationId xmlns:a16="http://schemas.microsoft.com/office/drawing/2014/main" id="{37AD1172-3C80-4696-B859-C295C2B2AFD4}"/>
              </a:ext>
            </a:extLst>
          </p:cNvPr>
          <p:cNvSpPr/>
          <p:nvPr/>
        </p:nvSpPr>
        <p:spPr>
          <a:xfrm>
            <a:off x="5325309" y="1124325"/>
            <a:ext cx="2557840" cy="1290919"/>
          </a:xfrm>
          <a:prstGeom prst="wedgeRoundRectCallout">
            <a:avLst>
              <a:gd name="adj1" fmla="val 30857"/>
              <a:gd name="adj2" fmla="val 87188"/>
              <a:gd name="adj3" fmla="val 1666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입장만 고려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표시한 의사를 심사관이 임의로 변경하는 것은 타당하지 아니함</a:t>
            </a:r>
          </a:p>
        </p:txBody>
      </p:sp>
      <p:sp>
        <p:nvSpPr>
          <p:cNvPr id="70" name="말풍선: 모서리가 둥근 사각형 69">
            <a:extLst>
              <a:ext uri="{FF2B5EF4-FFF2-40B4-BE49-F238E27FC236}">
                <a16:creationId xmlns:a16="http://schemas.microsoft.com/office/drawing/2014/main" id="{69D2A097-06AC-4FE8-8977-F71C44616886}"/>
              </a:ext>
            </a:extLst>
          </p:cNvPr>
          <p:cNvSpPr/>
          <p:nvPr/>
        </p:nvSpPr>
        <p:spPr>
          <a:xfrm>
            <a:off x="8117702" y="1124325"/>
            <a:ext cx="3892603" cy="1290919"/>
          </a:xfrm>
          <a:prstGeom prst="wedgeRoundRectCallout">
            <a:avLst>
              <a:gd name="adj1" fmla="val 3557"/>
              <a:gd name="adj2" fmla="val 83359"/>
              <a:gd name="adj3" fmla="val 1666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</a:t>
            </a:r>
            <a:r>
              <a:rPr lang="ko-KR" altLang="en-US" sz="1600" dirty="0" err="1">
                <a:solidFill>
                  <a:schemeClr val="bg2">
                    <a:lumMod val="50000"/>
                  </a:schemeClr>
                </a:solidFill>
              </a:rPr>
              <a:t>입장뿐만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 아니라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자의 입장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 고려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보호할 가치가 없는 사항이나 진실로 발명하지 아니한 부분까지 그 권리를 인정하는 것은 곤란</a:t>
            </a: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0BF479D7-0A55-87D0-48F6-8F9967106A5F}"/>
              </a:ext>
            </a:extLst>
          </p:cNvPr>
          <p:cNvSpPr/>
          <p:nvPr/>
        </p:nvSpPr>
        <p:spPr>
          <a:xfrm>
            <a:off x="9699812" y="3702424"/>
            <a:ext cx="1712259" cy="2752164"/>
          </a:xfrm>
          <a:custGeom>
            <a:avLst/>
            <a:gdLst>
              <a:gd name="connsiteX0" fmla="*/ 385482 w 1712259"/>
              <a:gd name="connsiteY0" fmla="*/ 0 h 2752164"/>
              <a:gd name="connsiteX1" fmla="*/ 385482 w 1712259"/>
              <a:gd name="connsiteY1" fmla="*/ 555811 h 2752164"/>
              <a:gd name="connsiteX2" fmla="*/ 0 w 1712259"/>
              <a:gd name="connsiteY2" fmla="*/ 555811 h 2752164"/>
              <a:gd name="connsiteX3" fmla="*/ 0 w 1712259"/>
              <a:gd name="connsiteY3" fmla="*/ 2752164 h 2752164"/>
              <a:gd name="connsiteX4" fmla="*/ 1712259 w 1712259"/>
              <a:gd name="connsiteY4" fmla="*/ 2752164 h 2752164"/>
              <a:gd name="connsiteX5" fmla="*/ 1712259 w 1712259"/>
              <a:gd name="connsiteY5" fmla="*/ 8964 h 2752164"/>
              <a:gd name="connsiteX6" fmla="*/ 385482 w 1712259"/>
              <a:gd name="connsiteY6" fmla="*/ 0 h 2752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2259" h="2752164">
                <a:moveTo>
                  <a:pt x="385482" y="0"/>
                </a:moveTo>
                <a:lnTo>
                  <a:pt x="385482" y="555811"/>
                </a:lnTo>
                <a:lnTo>
                  <a:pt x="0" y="555811"/>
                </a:lnTo>
                <a:lnTo>
                  <a:pt x="0" y="2752164"/>
                </a:lnTo>
                <a:lnTo>
                  <a:pt x="1712259" y="2752164"/>
                </a:lnTo>
                <a:lnTo>
                  <a:pt x="1712259" y="8964"/>
                </a:lnTo>
                <a:lnTo>
                  <a:pt x="385482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9704E-E80E-1945-AD99-9850368D414D}"/>
              </a:ext>
            </a:extLst>
          </p:cNvPr>
          <p:cNvSpPr txBox="1"/>
          <p:nvPr/>
        </p:nvSpPr>
        <p:spPr>
          <a:xfrm>
            <a:off x="10555941" y="883356"/>
            <a:ext cx="922047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특별사정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9EF65-AC27-FDEC-3D6C-8DA94692931B}"/>
              </a:ext>
            </a:extLst>
          </p:cNvPr>
          <p:cNvSpPr txBox="1"/>
          <p:nvPr/>
        </p:nvSpPr>
        <p:spPr>
          <a:xfrm>
            <a:off x="10094917" y="6287517"/>
            <a:ext cx="922047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특별사정</a:t>
            </a:r>
          </a:p>
        </p:txBody>
      </p:sp>
    </p:spTree>
    <p:extLst>
      <p:ext uri="{BB962C8B-B14F-4D97-AF65-F5344CB8AC3E}">
        <p14:creationId xmlns:p14="http://schemas.microsoft.com/office/powerpoint/2010/main" val="1400620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기능적 표현 청구항의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349</a:t>
            </a:fld>
            <a:endParaRPr lang="ko-KR" altLang="en-US"/>
          </a:p>
        </p:txBody>
      </p:sp>
      <p:cxnSp>
        <p:nvCxnSpPr>
          <p:cNvPr id="10" name="직선 연결선 9"/>
          <p:cNvCxnSpPr>
            <a:cxnSpLocks/>
          </p:cNvCxnSpPr>
          <p:nvPr/>
        </p:nvCxnSpPr>
        <p:spPr>
          <a:xfrm>
            <a:off x="380873" y="1984016"/>
            <a:ext cx="643191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7933" y="139431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지우개 결합 연필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80574" y="184575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공지기술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962822" y="1871629"/>
            <a:ext cx="996278" cy="27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발명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96000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지우개 결합 연필 실시</a:t>
            </a:r>
            <a:endParaRPr lang="en-US" altLang="ko-KR" sz="1100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F71079C-7B8A-4681-9D03-4B129C66846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984303" y="1750339"/>
            <a:ext cx="189827" cy="10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5ACD4DF-0F21-4C2F-9F23-1616AD7A6269}"/>
              </a:ext>
            </a:extLst>
          </p:cNvPr>
          <p:cNvSpPr txBox="1"/>
          <p:nvPr/>
        </p:nvSpPr>
        <p:spPr>
          <a:xfrm>
            <a:off x="1886000" y="139431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수정액 결합 볼펜</a:t>
            </a: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70DD68ED-20B7-4DD0-82C5-8C745CA3BF3E}"/>
              </a:ext>
            </a:extLst>
          </p:cNvPr>
          <p:cNvCxnSpPr>
            <a:cxnSpLocks/>
            <a:stCxn id="44" idx="2"/>
            <a:endCxn id="24" idx="0"/>
          </p:cNvCxnSpPr>
          <p:nvPr/>
        </p:nvCxnSpPr>
        <p:spPr>
          <a:xfrm rot="16200000" flipH="1">
            <a:off x="2351523" y="1762191"/>
            <a:ext cx="215700" cy="31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9ED3B97-7020-459C-AB38-E0A9CB32C2A1}"/>
              </a:ext>
            </a:extLst>
          </p:cNvPr>
          <p:cNvSpPr txBox="1"/>
          <p:nvPr/>
        </p:nvSpPr>
        <p:spPr>
          <a:xfrm>
            <a:off x="3338718" y="1045069"/>
            <a:ext cx="3226277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청구범위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소거수단을 결합한 필기수단</a:t>
            </a:r>
            <a:endParaRPr lang="en-US" altLang="ko-KR" sz="1100" dirty="0"/>
          </a:p>
          <a:p>
            <a:r>
              <a:rPr lang="ko-KR" altLang="en-US" sz="1100" dirty="0"/>
              <a:t>발명의 설명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 결합한 필기수단과 그 실시예로 수정액 결합 볼펜 기재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5F83471-91AF-4949-A16A-6D8A06B02CB0}"/>
              </a:ext>
            </a:extLst>
          </p:cNvPr>
          <p:cNvSpPr/>
          <p:nvPr/>
        </p:nvSpPr>
        <p:spPr>
          <a:xfrm>
            <a:off x="3411360" y="184575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10172452-2F30-4A9C-9BD3-3A4B10AE9E81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 rot="5400000">
            <a:off x="4330417" y="1224315"/>
            <a:ext cx="200523" cy="104235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51D7E9B-F714-42B4-844F-F7E450B53C60}"/>
              </a:ext>
            </a:extLst>
          </p:cNvPr>
          <p:cNvCxnSpPr>
            <a:cxnSpLocks/>
          </p:cNvCxnSpPr>
          <p:nvPr/>
        </p:nvCxnSpPr>
        <p:spPr>
          <a:xfrm>
            <a:off x="380873" y="4359706"/>
            <a:ext cx="1163015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A2F5B07-0AC3-42AB-92EF-680474F3A582}"/>
              </a:ext>
            </a:extLst>
          </p:cNvPr>
          <p:cNvSpPr/>
          <p:nvPr/>
        </p:nvSpPr>
        <p:spPr>
          <a:xfrm>
            <a:off x="1962822" y="4247319"/>
            <a:ext cx="996278" cy="27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발명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2235DC-5F1C-4C18-9200-5EADCC5DCC5A}"/>
              </a:ext>
            </a:extLst>
          </p:cNvPr>
          <p:cNvSpPr txBox="1"/>
          <p:nvPr/>
        </p:nvSpPr>
        <p:spPr>
          <a:xfrm>
            <a:off x="1886000" y="377000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수정액 결합 볼펜</a:t>
            </a: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E52E7A17-737A-4876-BA05-7D46A0EAE8E8}"/>
              </a:ext>
            </a:extLst>
          </p:cNvPr>
          <p:cNvCxnSpPr>
            <a:cxnSpLocks/>
            <a:stCxn id="61" idx="2"/>
            <a:endCxn id="58" idx="0"/>
          </p:cNvCxnSpPr>
          <p:nvPr/>
        </p:nvCxnSpPr>
        <p:spPr>
          <a:xfrm rot="16200000" flipH="1">
            <a:off x="2351523" y="4137881"/>
            <a:ext cx="215700" cy="31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E85C7D3-2507-463B-A37D-61A27DF553E5}"/>
              </a:ext>
            </a:extLst>
          </p:cNvPr>
          <p:cNvSpPr txBox="1"/>
          <p:nvPr/>
        </p:nvSpPr>
        <p:spPr>
          <a:xfrm>
            <a:off x="3338718" y="3420759"/>
            <a:ext cx="3226277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청구범위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소거수단을 결합한 필기수단</a:t>
            </a:r>
            <a:endParaRPr lang="en-US" altLang="ko-KR" sz="1100" dirty="0"/>
          </a:p>
          <a:p>
            <a:r>
              <a:rPr lang="ko-KR" altLang="en-US" sz="1100" dirty="0"/>
              <a:t>발명의 설명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 결합한 필기수단과 그 실시예로 수정액 결합 볼펜 기재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B8FBFF0-8D19-4CBA-BDC3-04E70F2D553E}"/>
              </a:ext>
            </a:extLst>
          </p:cNvPr>
          <p:cNvSpPr/>
          <p:nvPr/>
        </p:nvSpPr>
        <p:spPr>
          <a:xfrm>
            <a:off x="3411360" y="422144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F2563F37-D790-4ACA-9D75-6FD661559DFA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 rot="5400000">
            <a:off x="4330417" y="3600005"/>
            <a:ext cx="200523" cy="104235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0DB450-0B95-4E37-92A9-2456D908361F}"/>
              </a:ext>
            </a:extLst>
          </p:cNvPr>
          <p:cNvSpPr/>
          <p:nvPr/>
        </p:nvSpPr>
        <p:spPr>
          <a:xfrm>
            <a:off x="5099722" y="4221446"/>
            <a:ext cx="996278" cy="3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663678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4765440-AF7B-4DCA-989F-D2D419A8F54E}"/>
              </a:ext>
            </a:extLst>
          </p:cNvPr>
          <p:cNvSpPr/>
          <p:nvPr/>
        </p:nvSpPr>
        <p:spPr>
          <a:xfrm>
            <a:off x="8190542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7D05164-44B6-4EEF-B173-2C732D8C904C}"/>
              </a:ext>
            </a:extLst>
          </p:cNvPr>
          <p:cNvSpPr/>
          <p:nvPr/>
        </p:nvSpPr>
        <p:spPr>
          <a:xfrm>
            <a:off x="9717406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6DF647E0-4DC3-4C85-B1A4-E8A5A880E48E}"/>
              </a:ext>
            </a:extLst>
          </p:cNvPr>
          <p:cNvCxnSpPr>
            <a:cxnSpLocks/>
            <a:stCxn id="37" idx="0"/>
            <a:endCxn id="30" idx="2"/>
          </p:cNvCxnSpPr>
          <p:nvPr/>
        </p:nvCxnSpPr>
        <p:spPr>
          <a:xfrm rot="5400000" flipH="1" flipV="1">
            <a:off x="6876696" y="4445333"/>
            <a:ext cx="299541" cy="42735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1BF306A-C4CD-400A-AA9E-BD2E8E5CA24D}"/>
              </a:ext>
            </a:extLst>
          </p:cNvPr>
          <p:cNvSpPr txBox="1"/>
          <p:nvPr/>
        </p:nvSpPr>
        <p:spPr>
          <a:xfrm>
            <a:off x="8051418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수정액 결합 볼펜</a:t>
            </a:r>
            <a:endParaRPr lang="en-US" altLang="ko-KR" sz="1100" dirty="0"/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60112D89-90A3-419A-93EA-F7BD3B812D83}"/>
              </a:ext>
            </a:extLst>
          </p:cNvPr>
          <p:cNvCxnSpPr>
            <a:cxnSpLocks/>
            <a:stCxn id="99" idx="0"/>
            <a:endCxn id="92" idx="2"/>
          </p:cNvCxnSpPr>
          <p:nvPr/>
        </p:nvCxnSpPr>
        <p:spPr>
          <a:xfrm rot="16200000" flipV="1">
            <a:off x="8617837" y="4658412"/>
            <a:ext cx="299541" cy="119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CCD8D8C-C290-4346-A1C6-E3B2215240AA}"/>
              </a:ext>
            </a:extLst>
          </p:cNvPr>
          <p:cNvSpPr txBox="1"/>
          <p:nvPr/>
        </p:nvSpPr>
        <p:spPr>
          <a:xfrm>
            <a:off x="10060960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수정액</a:t>
            </a:r>
            <a:r>
              <a:rPr lang="en-US" altLang="ko-KR" sz="1100" dirty="0"/>
              <a:t>2</a:t>
            </a:r>
            <a:r>
              <a:rPr lang="ko-KR" altLang="en-US" sz="1100" dirty="0"/>
              <a:t> 결합 볼펜</a:t>
            </a:r>
            <a:endParaRPr lang="en-US" altLang="ko-KR" sz="1100" dirty="0"/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E80B7CED-7CEE-4CA0-8E22-CCEA3EA47C17}"/>
              </a:ext>
            </a:extLst>
          </p:cNvPr>
          <p:cNvCxnSpPr>
            <a:cxnSpLocks/>
            <a:stCxn id="102" idx="0"/>
            <a:endCxn id="94" idx="2"/>
          </p:cNvCxnSpPr>
          <p:nvPr/>
        </p:nvCxnSpPr>
        <p:spPr>
          <a:xfrm rot="16200000" flipV="1">
            <a:off x="10386040" y="4417073"/>
            <a:ext cx="299541" cy="4838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638376A7-3480-4010-AF20-F3D42A9A9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623286"/>
              </p:ext>
            </p:extLst>
          </p:nvPr>
        </p:nvGraphicFramePr>
        <p:xfrm>
          <a:off x="2047260" y="5398638"/>
          <a:ext cx="7296213" cy="10363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36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7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 분 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비교대상특정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419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보호범위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 결합한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지우개 결합 연필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AER, </a:t>
                      </a:r>
                      <a:r>
                        <a:rPr lang="ko-KR" altLang="en-US" sz="1100" dirty="0" err="1"/>
                        <a:t>균등론</a:t>
                      </a:r>
                      <a:r>
                        <a:rPr lang="ko-KR" altLang="en-US" sz="1100" dirty="0"/>
                        <a:t> 의하여 </a:t>
                      </a:r>
                      <a:r>
                        <a:rPr lang="ko-KR" altLang="en-US" sz="1100" dirty="0" err="1"/>
                        <a:t>비침해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41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 결합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AER</a:t>
                      </a:r>
                      <a:r>
                        <a:rPr lang="ko-KR" altLang="en-US" sz="1100" dirty="0"/>
                        <a:t>에 의한 침해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41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</a:t>
                      </a:r>
                      <a:r>
                        <a:rPr lang="en-US" altLang="ko-KR" sz="1100" dirty="0"/>
                        <a:t>2 </a:t>
                      </a:r>
                      <a:r>
                        <a:rPr lang="ko-KR" altLang="en-US" sz="1100" dirty="0"/>
                        <a:t>결합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균등론에</a:t>
                      </a:r>
                      <a:r>
                        <a:rPr lang="ko-KR" altLang="en-US" sz="1100" dirty="0"/>
                        <a:t> 의한 침해△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5407F1DD-0719-45BB-9D19-C2C0F4CBF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669206"/>
              </p:ext>
            </p:extLst>
          </p:nvPr>
        </p:nvGraphicFramePr>
        <p:xfrm>
          <a:off x="7135776" y="1624265"/>
          <a:ext cx="4823603" cy="7778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51529">
                  <a:extLst>
                    <a:ext uri="{9D8B030D-6E8A-4147-A177-3AD203B41FA5}">
                      <a16:colId xmlns:a16="http://schemas.microsoft.com/office/drawing/2014/main" val="3020649315"/>
                    </a:ext>
                  </a:extLst>
                </a:gridCol>
                <a:gridCol w="1088471">
                  <a:extLst>
                    <a:ext uri="{9D8B030D-6E8A-4147-A177-3AD203B41FA5}">
                      <a16:colId xmlns:a16="http://schemas.microsoft.com/office/drawing/2014/main" val="3533084461"/>
                    </a:ext>
                  </a:extLst>
                </a:gridCol>
                <a:gridCol w="1239942">
                  <a:extLst>
                    <a:ext uri="{9D8B030D-6E8A-4147-A177-3AD203B41FA5}">
                      <a16:colId xmlns:a16="http://schemas.microsoft.com/office/drawing/2014/main" val="3299466833"/>
                    </a:ext>
                  </a:extLst>
                </a:gridCol>
                <a:gridCol w="1743661">
                  <a:extLst>
                    <a:ext uri="{9D8B030D-6E8A-4147-A177-3AD203B41FA5}">
                      <a16:colId xmlns:a16="http://schemas.microsoft.com/office/drawing/2014/main" val="1300455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 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비교대상특정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050556"/>
                  </a:ext>
                </a:extLst>
              </a:tr>
              <a:tr h="5188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특허요건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소거수단</a:t>
                      </a:r>
                      <a:r>
                        <a:rPr lang="ko-KR" altLang="en-US" sz="1100" baseline="0" dirty="0"/>
                        <a:t> 결합한 필기수단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지우개 결합 연필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발명이 상위개념이기 때문에 </a:t>
                      </a:r>
                      <a:r>
                        <a:rPr lang="ko-KR" altLang="en-US" sz="1100" dirty="0" err="1"/>
                        <a:t>신규성</a:t>
                      </a:r>
                      <a:r>
                        <a:rPr lang="ko-KR" altLang="en-US" sz="1100" dirty="0"/>
                        <a:t> 위반</a:t>
                      </a:r>
                      <a:r>
                        <a:rPr lang="en-US" altLang="ko-KR" sz="1100" dirty="0"/>
                        <a:t>*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456176"/>
                  </a:ext>
                </a:extLst>
              </a:tr>
            </a:tbl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CB1106B9-5AF4-4B87-8A42-29FB5DF5F541}"/>
              </a:ext>
            </a:extLst>
          </p:cNvPr>
          <p:cNvSpPr txBox="1"/>
          <p:nvPr/>
        </p:nvSpPr>
        <p:spPr>
          <a:xfrm>
            <a:off x="7771010" y="1281748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5A2C8D1-B19D-41FF-AD27-2BAF030710AA}"/>
              </a:ext>
            </a:extLst>
          </p:cNvPr>
          <p:cNvSpPr txBox="1"/>
          <p:nvPr/>
        </p:nvSpPr>
        <p:spPr>
          <a:xfrm>
            <a:off x="8907896" y="126351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1EA065-10A4-4B0D-9A5D-3B5CAEA8DC92}"/>
              </a:ext>
            </a:extLst>
          </p:cNvPr>
          <p:cNvSpPr txBox="1"/>
          <p:nvPr/>
        </p:nvSpPr>
        <p:spPr>
          <a:xfrm>
            <a:off x="10164940" y="1280449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92F2284-109A-4DA1-8C27-9D831FFD4E78}"/>
              </a:ext>
            </a:extLst>
          </p:cNvPr>
          <p:cNvSpPr txBox="1"/>
          <p:nvPr/>
        </p:nvSpPr>
        <p:spPr>
          <a:xfrm>
            <a:off x="6764906" y="512438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0A5AA45-9ECC-4D75-9CFD-6FDB9102CEBA}"/>
              </a:ext>
            </a:extLst>
          </p:cNvPr>
          <p:cNvSpPr txBox="1"/>
          <p:nvPr/>
        </p:nvSpPr>
        <p:spPr>
          <a:xfrm>
            <a:off x="4827602" y="5137028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873AB8-F03B-4559-9016-79B06BA1942A}"/>
              </a:ext>
            </a:extLst>
          </p:cNvPr>
          <p:cNvSpPr txBox="1"/>
          <p:nvPr/>
        </p:nvSpPr>
        <p:spPr>
          <a:xfrm>
            <a:off x="3153283" y="5149672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A7FD405-838A-4508-8135-CE05394F3F22}"/>
              </a:ext>
            </a:extLst>
          </p:cNvPr>
          <p:cNvCxnSpPr/>
          <p:nvPr/>
        </p:nvCxnSpPr>
        <p:spPr>
          <a:xfrm>
            <a:off x="0" y="3027872"/>
            <a:ext cx="1219199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0115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350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특허요건 판단 </a:t>
            </a:r>
            <a:r>
              <a:rPr lang="en-US" altLang="ko-KR" dirty="0"/>
              <a:t>vs </a:t>
            </a:r>
            <a:r>
              <a:rPr lang="ko-KR" altLang="en-US" dirty="0"/>
              <a:t>침해의 성립요건 판단</a:t>
            </a:r>
          </a:p>
        </p:txBody>
      </p:sp>
      <p:cxnSp>
        <p:nvCxnSpPr>
          <p:cNvPr id="44" name="직선 화살표 연결선 43"/>
          <p:cNvCxnSpPr/>
          <p:nvPr/>
        </p:nvCxnSpPr>
        <p:spPr>
          <a:xfrm>
            <a:off x="314325" y="3561363"/>
            <a:ext cx="441960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87170" y="2536800"/>
            <a:ext cx="90281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a+b+c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56" name="타원 55"/>
          <p:cNvSpPr/>
          <p:nvPr/>
        </p:nvSpPr>
        <p:spPr>
          <a:xfrm>
            <a:off x="761205" y="348069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/>
          <p:cNvCxnSpPr>
            <a:stCxn id="55" idx="2"/>
            <a:endCxn id="56" idx="0"/>
          </p:cNvCxnSpPr>
          <p:nvPr/>
        </p:nvCxnSpPr>
        <p:spPr>
          <a:xfrm flipH="1">
            <a:off x="838574" y="3060020"/>
            <a:ext cx="2" cy="4206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277834" y="2536800"/>
            <a:ext cx="692818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a+b+c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59" name="타원 58"/>
          <p:cNvSpPr/>
          <p:nvPr/>
        </p:nvSpPr>
        <p:spPr>
          <a:xfrm>
            <a:off x="2546873" y="348069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0" name="직선 연결선 59"/>
          <p:cNvCxnSpPr>
            <a:stCxn id="58" idx="2"/>
            <a:endCxn id="59" idx="0"/>
          </p:cNvCxnSpPr>
          <p:nvPr/>
        </p:nvCxnSpPr>
        <p:spPr>
          <a:xfrm flipH="1">
            <a:off x="2624242" y="3060020"/>
            <a:ext cx="1" cy="4206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401534" y="2536800"/>
            <a:ext cx="692818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a+b+c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공개</a:t>
            </a:r>
          </a:p>
        </p:txBody>
      </p:sp>
      <p:sp>
        <p:nvSpPr>
          <p:cNvPr id="73" name="타원 72"/>
          <p:cNvSpPr/>
          <p:nvPr/>
        </p:nvSpPr>
        <p:spPr>
          <a:xfrm>
            <a:off x="1670573" y="348069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4" name="직선 연결선 73"/>
          <p:cNvCxnSpPr>
            <a:stCxn id="72" idx="2"/>
            <a:endCxn id="73" idx="0"/>
          </p:cNvCxnSpPr>
          <p:nvPr/>
        </p:nvCxnSpPr>
        <p:spPr>
          <a:xfrm flipH="1">
            <a:off x="1747942" y="3060020"/>
            <a:ext cx="1" cy="4206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512786" y="2536800"/>
            <a:ext cx="718466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출원</a:t>
            </a:r>
          </a:p>
        </p:txBody>
      </p:sp>
      <p:sp>
        <p:nvSpPr>
          <p:cNvPr id="76" name="타원 75"/>
          <p:cNvSpPr/>
          <p:nvPr/>
        </p:nvSpPr>
        <p:spPr>
          <a:xfrm>
            <a:off x="3794648" y="3480694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/>
          <p:cNvCxnSpPr>
            <a:stCxn id="75" idx="2"/>
            <a:endCxn id="76" idx="0"/>
          </p:cNvCxnSpPr>
          <p:nvPr/>
        </p:nvCxnSpPr>
        <p:spPr>
          <a:xfrm flipH="1">
            <a:off x="3872017" y="2844577"/>
            <a:ext cx="2" cy="6361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950811" y="4413225"/>
            <a:ext cx="718466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실시</a:t>
            </a:r>
          </a:p>
        </p:txBody>
      </p:sp>
      <p:sp>
        <p:nvSpPr>
          <p:cNvPr id="79" name="타원 78"/>
          <p:cNvSpPr/>
          <p:nvPr/>
        </p:nvSpPr>
        <p:spPr>
          <a:xfrm>
            <a:off x="3232673" y="3480694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0" name="직선 연결선 79"/>
          <p:cNvCxnSpPr>
            <a:stCxn id="78" idx="0"/>
            <a:endCxn id="79" idx="4"/>
          </p:cNvCxnSpPr>
          <p:nvPr/>
        </p:nvCxnSpPr>
        <p:spPr>
          <a:xfrm flipH="1" flipV="1">
            <a:off x="3310042" y="3642032"/>
            <a:ext cx="2" cy="7711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738639"/>
              </p:ext>
            </p:extLst>
          </p:nvPr>
        </p:nvGraphicFramePr>
        <p:xfrm>
          <a:off x="5140960" y="1038903"/>
          <a:ext cx="6574791" cy="531427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30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781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 분</a:t>
                      </a: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특허발명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甲 발명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인용대상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乙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발명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乙 실시</a:t>
                      </a: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乙 출원</a:t>
                      </a: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81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AER</a:t>
                      </a:r>
                    </a:p>
                  </a:txBody>
                  <a:tcPr marL="72000" marR="72000" marT="17907" marB="17907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법칙</a:t>
                      </a:r>
                    </a:p>
                  </a:txBody>
                  <a:tcPr marL="72000" marR="72000" marT="17907" marB="17907" anchor="ctr"/>
                </a:tc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침해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동일성이 있어 등록불가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ㆍ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36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3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a+b+c+d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침해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진보성이 있는 경우 등록가능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등록된 경우 이를 이용관계라 함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8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생략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법칙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원칙 →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비침해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예외 → 간접침해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동일성이 있어 등록불가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ㆍ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36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046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균등론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a+b+c'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침해 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⑴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과제해결원리동일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○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⑵ 변경가능성○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⑶ 변경용이성○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⑷ 특별사정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그렇지 아니하면 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비침해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09220" marR="17780" indent="-1092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구성의 차이가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주지관용기술의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부가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변경에 불과하고 새로운 효과도 발생하지 아니한 경우라면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선출원주의에서는 그 차이가 통상의 기술자가 보통으로 채용하는 정도의 변경에 지나지 아니하고 발명의 목적과 작용 효과에 특별한 차이를 일으키지 아니하는 경우라면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실질적 동일성이 있어 등록불가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ㆍ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36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16840" marR="17780" indent="-1168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구성의 곤란성이 없고 효과의 현저성이 없어서 용이하다면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진보성 위반으로 등록불가</a:t>
                      </a:r>
                    </a:p>
                    <a:p>
                      <a:pPr marL="116840" marR="17780" indent="-1168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그렇지 아니하면 등록가능</a:t>
                      </a: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B5036DBA-4A70-A090-31D3-E4D82FD6861E}"/>
              </a:ext>
            </a:extLst>
          </p:cNvPr>
          <p:cNvCxnSpPr>
            <a:stCxn id="55" idx="0"/>
            <a:endCxn id="72" idx="0"/>
          </p:cNvCxnSpPr>
          <p:nvPr/>
        </p:nvCxnSpPr>
        <p:spPr>
          <a:xfrm rot="5400000" flipH="1" flipV="1">
            <a:off x="1293259" y="2082117"/>
            <a:ext cx="12700" cy="909367"/>
          </a:xfrm>
          <a:prstGeom prst="bentConnector3">
            <a:avLst>
              <a:gd name="adj1" fmla="val 1800000"/>
            </a:avLst>
          </a:prstGeom>
          <a:ln w="28575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6035D839-C941-7E70-1FCC-2850EA9ACA28}"/>
              </a:ext>
            </a:extLst>
          </p:cNvPr>
          <p:cNvSpPr/>
          <p:nvPr/>
        </p:nvSpPr>
        <p:spPr>
          <a:xfrm>
            <a:off x="1289981" y="2269146"/>
            <a:ext cx="106173" cy="106173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9F4A95E1-CAAD-112F-93D0-03566AEA2133}"/>
              </a:ext>
            </a:extLst>
          </p:cNvPr>
          <p:cNvCxnSpPr>
            <a:cxnSpLocks/>
            <a:stCxn id="11" idx="0"/>
            <a:endCxn id="75" idx="0"/>
          </p:cNvCxnSpPr>
          <p:nvPr/>
        </p:nvCxnSpPr>
        <p:spPr>
          <a:xfrm rot="16200000" flipH="1">
            <a:off x="2473716" y="1138498"/>
            <a:ext cx="267654" cy="2528951"/>
          </a:xfrm>
          <a:prstGeom prst="bentConnector3">
            <a:avLst>
              <a:gd name="adj1" fmla="val -85409"/>
            </a:avLst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E7274B8D-74D6-73D1-49AF-8C1682A9336F}"/>
              </a:ext>
            </a:extLst>
          </p:cNvPr>
          <p:cNvCxnSpPr>
            <a:stCxn id="58" idx="1"/>
            <a:endCxn id="78" idx="1"/>
          </p:cNvCxnSpPr>
          <p:nvPr/>
        </p:nvCxnSpPr>
        <p:spPr>
          <a:xfrm rot="10800000" flipH="1" flipV="1">
            <a:off x="2277833" y="2798410"/>
            <a:ext cx="672977" cy="1768704"/>
          </a:xfrm>
          <a:prstGeom prst="bentConnector3">
            <a:avLst>
              <a:gd name="adj1" fmla="val -13587"/>
            </a:avLst>
          </a:prstGeom>
          <a:ln w="28575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643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양쪽 모서리가 둥근 사각형 52"/>
          <p:cNvSpPr/>
          <p:nvPr/>
        </p:nvSpPr>
        <p:spPr>
          <a:xfrm>
            <a:off x="3649003" y="2352675"/>
            <a:ext cx="1857375" cy="44825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35361" y="1849017"/>
            <a:ext cx="11521017" cy="190383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7429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 typeface="Wingdings" pitchFamily="2" charset="2"/>
              <a:buChar char="n"/>
              <a:defRPr/>
            </a:pPr>
            <a:endParaRPr lang="ko-KR" altLang="en-US" sz="1200" b="0">
              <a:solidFill>
                <a:schemeClr val="tx1"/>
              </a:solidFill>
              <a:latin typeface="+mn-ea"/>
              <a:sym typeface="Wingdings" pitchFamily="2" charset="2"/>
            </a:endParaRP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790576" y="2793578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335360" y="3914923"/>
            <a:ext cx="7161852" cy="226680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b="0" dirty="0">
                <a:latin typeface="+mn-ea"/>
              </a:rPr>
              <a:t>丙의 </a:t>
            </a:r>
            <a:r>
              <a:rPr lang="ko-KR" altLang="en-US" b="0" dirty="0" err="1">
                <a:latin typeface="+mn-ea"/>
              </a:rPr>
              <a:t>라이트</a:t>
            </a:r>
            <a:r>
              <a:rPr lang="ko-KR" altLang="en-US" b="0" dirty="0">
                <a:latin typeface="+mn-ea"/>
              </a:rPr>
              <a:t> 결합한 자전거의 출원은 특허등록을 받을 수 있는가</a:t>
            </a:r>
            <a:r>
              <a:rPr lang="en-US" altLang="ko-KR" b="0" dirty="0">
                <a:latin typeface="+mn-ea"/>
              </a:rPr>
              <a:t>?</a:t>
            </a:r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b="0" dirty="0">
                <a:latin typeface="+mn-ea"/>
              </a:rPr>
              <a:t>丙이 </a:t>
            </a:r>
            <a:r>
              <a:rPr lang="ko-KR" altLang="en-US" b="0" dirty="0" err="1">
                <a:latin typeface="+mn-ea"/>
              </a:rPr>
              <a:t>라이트</a:t>
            </a:r>
            <a:r>
              <a:rPr lang="ko-KR" altLang="en-US" b="0" dirty="0">
                <a:latin typeface="+mn-ea"/>
              </a:rPr>
              <a:t> 결합한 자전거를 판매하는 것은 甲의 특허권의 침해인가</a:t>
            </a:r>
            <a:r>
              <a:rPr lang="en-US" altLang="ko-KR" b="0" dirty="0">
                <a:latin typeface="+mn-ea"/>
              </a:rPr>
              <a:t>?</a:t>
            </a:r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dirty="0">
                <a:latin typeface="+mn-ea"/>
              </a:rPr>
              <a:t>丙이 자전거를 판매하는 것은 甲의 특허권의 침해인가</a:t>
            </a:r>
            <a:r>
              <a:rPr lang="en-US" altLang="ko-KR" dirty="0">
                <a:latin typeface="+mn-ea"/>
              </a:rPr>
              <a:t>?</a:t>
            </a:r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b="0" dirty="0">
                <a:latin typeface="+mn-ea"/>
                <a:sym typeface="Wingdings" pitchFamily="2" charset="2"/>
              </a:rPr>
              <a:t>甲이 </a:t>
            </a:r>
            <a:r>
              <a:rPr lang="ko-KR" altLang="en-US" b="0" dirty="0" err="1">
                <a:latin typeface="+mn-ea"/>
                <a:sym typeface="Wingdings" pitchFamily="2" charset="2"/>
              </a:rPr>
              <a:t>라이트</a:t>
            </a:r>
            <a:r>
              <a:rPr lang="ko-KR" altLang="en-US" b="0" dirty="0">
                <a:latin typeface="+mn-ea"/>
                <a:sym typeface="Wingdings" pitchFamily="2" charset="2"/>
              </a:rPr>
              <a:t> 결합한 자전거를 판매하는 것은 丙의 특허권의 침해인가</a:t>
            </a:r>
            <a:r>
              <a:rPr lang="en-US" altLang="ko-KR" b="0" dirty="0">
                <a:latin typeface="+mn-ea"/>
                <a:sym typeface="Wingdings" pitchFamily="2" charset="2"/>
              </a:rPr>
              <a:t>?</a:t>
            </a:r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dirty="0">
                <a:latin typeface="+mn-ea"/>
                <a:sym typeface="Wingdings" pitchFamily="2" charset="2"/>
              </a:rPr>
              <a:t>甲이 자전거를 판매하는 것은 丙의 특허권의 침해인가</a:t>
            </a:r>
            <a:r>
              <a:rPr lang="en-US" altLang="ko-KR" dirty="0">
                <a:latin typeface="+mn-ea"/>
                <a:sym typeface="Wingdings" pitchFamily="2" charset="2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개량발명은 특허등록은 받을 수 있으나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실시하면 원천발명에 대한 특허의 침해가 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나의 특허가 있다고 하더라도 나의 사업이나 제품을 보호할 수 있는 것은 아니다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과연 丙의 출원은 잘한 것일까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?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0" y="172107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351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특허요건 판단과 침해의 성립요건 판단의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208819" y="3049753"/>
            <a:ext cx="88036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자전거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출원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3571634" y="26996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5" name="직선 연결선 34"/>
          <p:cNvCxnSpPr>
            <a:stCxn id="30" idx="0"/>
            <a:endCxn id="34" idx="4"/>
          </p:cNvCxnSpPr>
          <p:nvPr/>
        </p:nvCxnSpPr>
        <p:spPr>
          <a:xfrm flipH="1" flipV="1">
            <a:off x="3649003" y="28609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66194" y="3049753"/>
            <a:ext cx="88036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자전거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공개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5429009" y="26996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8" name="직선 연결선 37"/>
          <p:cNvCxnSpPr>
            <a:stCxn id="36" idx="0"/>
            <a:endCxn id="37" idx="4"/>
          </p:cNvCxnSpPr>
          <p:nvPr/>
        </p:nvCxnSpPr>
        <p:spPr>
          <a:xfrm flipH="1" flipV="1">
            <a:off x="5506378" y="28609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79659" y="3049753"/>
            <a:ext cx="88036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자전거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7342474" y="26996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1" name="직선 연결선 40"/>
          <p:cNvCxnSpPr>
            <a:stCxn id="39" idx="0"/>
            <a:endCxn id="40" idx="4"/>
          </p:cNvCxnSpPr>
          <p:nvPr/>
        </p:nvCxnSpPr>
        <p:spPr>
          <a:xfrm flipH="1" flipV="1">
            <a:off x="7419843" y="28609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/>
          <p:cNvSpPr/>
          <p:nvPr/>
        </p:nvSpPr>
        <p:spPr>
          <a:xfrm>
            <a:off x="1695209" y="2699644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32394" y="1969667"/>
            <a:ext cx="88036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라이트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공지</a:t>
            </a:r>
          </a:p>
        </p:txBody>
      </p:sp>
      <p:cxnSp>
        <p:nvCxnSpPr>
          <p:cNvPr id="47" name="직선 연결선 46"/>
          <p:cNvCxnSpPr>
            <a:stCxn id="45" idx="2"/>
            <a:endCxn id="44" idx="0"/>
          </p:cNvCxnSpPr>
          <p:nvPr/>
        </p:nvCxnSpPr>
        <p:spPr>
          <a:xfrm flipH="1">
            <a:off x="1772578" y="2492887"/>
            <a:ext cx="1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9258059" y="269964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42397" y="1969667"/>
            <a:ext cx="1786066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라이트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결합 자전거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발명</a:t>
            </a:r>
          </a:p>
        </p:txBody>
      </p:sp>
      <p:cxnSp>
        <p:nvCxnSpPr>
          <p:cNvPr id="52" name="직선 연결선 51"/>
          <p:cNvCxnSpPr>
            <a:stCxn id="51" idx="2"/>
            <a:endCxn id="50" idx="0"/>
          </p:cNvCxnSpPr>
          <p:nvPr/>
        </p:nvCxnSpPr>
        <p:spPr>
          <a:xfrm flipH="1">
            <a:off x="9335428" y="2492887"/>
            <a:ext cx="2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66279" y="2075676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6</a:t>
            </a:r>
            <a:r>
              <a:rPr lang="ko-KR" altLang="en-US" sz="1200" dirty="0"/>
              <a:t>개월</a:t>
            </a:r>
          </a:p>
        </p:txBody>
      </p:sp>
      <p:graphicFrame>
        <p:nvGraphicFramePr>
          <p:cNvPr id="55" name="Group 1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6646351"/>
              </p:ext>
            </p:extLst>
          </p:nvPr>
        </p:nvGraphicFramePr>
        <p:xfrm>
          <a:off x="8117160" y="4310420"/>
          <a:ext cx="2409825" cy="13716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42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56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구성요소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선행기술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선행기술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분석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라이트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결합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</a:rPr>
                        <a:t>/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0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자전거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소결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신규성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있음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진보성 논란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*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4567" marR="94567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" name="모서리가 둥근 사각형 설명선 55"/>
          <p:cNvSpPr/>
          <p:nvPr/>
        </p:nvSpPr>
        <p:spPr>
          <a:xfrm>
            <a:off x="7687712" y="3943350"/>
            <a:ext cx="3304138" cy="2133600"/>
          </a:xfrm>
          <a:prstGeom prst="wedgeRoundRectCallout">
            <a:avLst>
              <a:gd name="adj1" fmla="val -75605"/>
              <a:gd name="adj2" fmla="val -4196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563176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이용관계의 유형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61278"/>
              </p:ext>
            </p:extLst>
          </p:nvPr>
        </p:nvGraphicFramePr>
        <p:xfrm>
          <a:off x="344804" y="1631473"/>
          <a:ext cx="11466196" cy="382635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01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7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077">
                  <a:extLst>
                    <a:ext uri="{9D8B030D-6E8A-4147-A177-3AD203B41FA5}">
                      <a16:colId xmlns:a16="http://schemas.microsoft.com/office/drawing/2014/main" val="997511294"/>
                    </a:ext>
                  </a:extLst>
                </a:gridCol>
                <a:gridCol w="1625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5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345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카테고리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학 설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유</a:t>
                      </a:r>
                      <a:r>
                        <a:rPr lang="ko-KR" altLang="en-US" sz="1600" kern="1200" baseline="0" dirty="0"/>
                        <a:t> 형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/>
                        <a:t>인정여부</a:t>
                      </a:r>
                      <a:endParaRPr lang="ko-KR" altLang="en-US" sz="1600" kern="120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/>
                        <a:t>통설</a:t>
                      </a:r>
                      <a:endParaRPr lang="ko-KR" altLang="en-US" sz="1600" kern="120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판례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996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동일 카테고리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</a:rPr>
                        <a:t>그대로설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사상상의 이용 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외적부가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결합발명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90’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초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×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2000’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초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내적부가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선택발명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90’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초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×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600" kern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kern="1200" baseline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453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>
                          <a:solidFill>
                            <a:schemeClr val="tx1"/>
                          </a:solidFill>
                        </a:rPr>
                        <a:t>다른 카테고리</a:t>
                      </a:r>
                      <a:endParaRPr lang="ko-KR" altLang="en-US" sz="16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실시불가피설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>
                          <a:solidFill>
                            <a:schemeClr val="tx1"/>
                          </a:solidFill>
                        </a:rPr>
                        <a:t>실시상의 이용</a:t>
                      </a:r>
                      <a:endParaRPr lang="ko-KR" altLang="en-US" sz="16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ko-KR" altLang="en-US" sz="16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4718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이용관계의 유형</a:t>
            </a:r>
            <a:r>
              <a:rPr lang="en-US" altLang="ko-KR" dirty="0"/>
              <a:t>: </a:t>
            </a:r>
            <a:r>
              <a:rPr lang="ko-KR" altLang="en-US" dirty="0" err="1"/>
              <a:t>그대로설</a:t>
            </a:r>
            <a:r>
              <a:rPr lang="en-US" altLang="ko-KR" dirty="0"/>
              <a:t>(</a:t>
            </a:r>
            <a:r>
              <a:rPr lang="ko-KR" altLang="en-US" dirty="0" err="1"/>
              <a:t>외적부가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353</a:t>
            </a:fld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589615"/>
              </p:ext>
            </p:extLst>
          </p:nvPr>
        </p:nvGraphicFramePr>
        <p:xfrm>
          <a:off x="328638" y="1949609"/>
          <a:ext cx="11506804" cy="190994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27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1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7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9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선출원여부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등록가능성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실시가 </a:t>
                      </a:r>
                      <a:r>
                        <a:rPr lang="ko-KR" altLang="en-US" sz="1200" kern="1200" dirty="0" err="1"/>
                        <a:t>선출원의</a:t>
                      </a:r>
                      <a:r>
                        <a:rPr lang="ko-KR" altLang="en-US" sz="1200" kern="1200" dirty="0"/>
                        <a:t> 침해인지 여부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7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&gt;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200" kern="1200" dirty="0"/>
                        <a:t>甲의 공개 전 → 등록가능</a:t>
                      </a:r>
                      <a:endParaRPr lang="en-US" altLang="ko-KR" sz="1200" kern="1200" dirty="0"/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200" kern="1200" dirty="0"/>
                        <a:t>甲의 공개 후 → </a:t>
                      </a:r>
                      <a:r>
                        <a:rPr lang="en-US" altLang="ko-KR" sz="1200" kern="1200" dirty="0"/>
                        <a:t>A+B+C</a:t>
                      </a:r>
                      <a:r>
                        <a:rPr lang="ko-KR" altLang="en-US" sz="1200" kern="1200" dirty="0"/>
                        <a:t>로부터 쉽게 발명할 수 있는 경우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② 위반</a:t>
                      </a:r>
                      <a:r>
                        <a:rPr lang="en-US" altLang="ko-KR" sz="1200" kern="1200" dirty="0"/>
                        <a:t>*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乙의 실시는 甲의 특허권의 침해</a:t>
                      </a:r>
                      <a:r>
                        <a:rPr lang="en-US" altLang="ko-KR" sz="1200" kern="1200" dirty="0"/>
                        <a:t>**</a:t>
                      </a:r>
                      <a:endParaRPr lang="ko-KR" altLang="en-US" sz="120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정당한 </a:t>
                      </a:r>
                      <a:r>
                        <a:rPr lang="ko-KR" altLang="en-US" sz="1200" kern="1200" dirty="0" err="1"/>
                        <a:t>권원획득</a:t>
                      </a:r>
                      <a:r>
                        <a:rPr lang="ko-KR" altLang="en-US" sz="1200" kern="1200" dirty="0"/>
                        <a:t> 후 실시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① 허락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② </a:t>
                      </a:r>
                      <a:r>
                        <a:rPr lang="ko-KR" altLang="en-US" sz="1200" kern="1200" dirty="0" err="1"/>
                        <a:t>통상실시권허락심판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乙이 등록된 경우</a:t>
                      </a:r>
                      <a:r>
                        <a:rPr lang="en-US" altLang="ko-KR" sz="1200" kern="1200" dirty="0"/>
                        <a:t>)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甲으로부터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A+B+C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구매한 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부가하여 실시하는 것도 가능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&lt;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乙의 공개 전 →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③④</a:t>
                      </a:r>
                      <a:r>
                        <a:rPr lang="en-US" altLang="ko-KR" sz="1200" kern="1200" dirty="0"/>
                        <a:t>, 36 </a:t>
                      </a:r>
                      <a:r>
                        <a:rPr lang="ko-KR" altLang="en-US" sz="1200" kern="1200" dirty="0"/>
                        <a:t>위반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乙의 공개 후 →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①</a:t>
                      </a:r>
                      <a:r>
                        <a:rPr lang="en-US" altLang="ko-KR" sz="1200" kern="1200" dirty="0"/>
                        <a:t>, 36 </a:t>
                      </a:r>
                      <a:r>
                        <a:rPr lang="ko-KR" altLang="en-US" sz="1200" kern="1200" dirty="0"/>
                        <a:t>위반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128270" marR="17780" indent="-1282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甲의 실시는 </a:t>
                      </a:r>
                      <a:r>
                        <a:rPr lang="en-US" altLang="ko-KR" sz="1200" kern="1200" dirty="0"/>
                        <a:t>AER</a:t>
                      </a:r>
                      <a:r>
                        <a:rPr lang="ko-KR" altLang="en-US" sz="1200" kern="1200" dirty="0"/>
                        <a:t>에 의하여 乙의 특허권의 직접침해 </a:t>
                      </a:r>
                      <a:r>
                        <a:rPr lang="en-US" altLang="ko-KR" sz="1200" kern="1200" dirty="0"/>
                        <a:t>×</a:t>
                      </a:r>
                      <a:endParaRPr lang="ko-KR" altLang="en-US" sz="1200" kern="1200" dirty="0"/>
                    </a:p>
                    <a:p>
                      <a:pPr marL="162560" marR="1778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단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乙의 특허권의 간접침해일 수는 있음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9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=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실질적</a:t>
                      </a:r>
                      <a:r>
                        <a:rPr lang="en-US" altLang="ko-KR" sz="1200" kern="1200" dirty="0"/>
                        <a:t> </a:t>
                      </a:r>
                      <a:r>
                        <a:rPr lang="ko-KR" altLang="en-US" sz="1200" kern="1200" dirty="0"/>
                        <a:t>동일성이 없는 경우 양자 모두 등록가능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양자 모두 등록된 경우 자유롭게 실시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∵ 法 제</a:t>
                      </a:r>
                      <a:r>
                        <a:rPr lang="en-US" altLang="ko-KR" sz="1200" kern="1200" dirty="0"/>
                        <a:t>98</a:t>
                      </a:r>
                      <a:r>
                        <a:rPr lang="ko-KR" altLang="en-US" sz="1200" kern="1200" dirty="0"/>
                        <a:t>조의 “특허출원일 전”의 해석결과 </a:t>
                      </a:r>
                      <a:r>
                        <a:rPr lang="ko-KR" altLang="en-US" sz="1200" kern="1200" dirty="0" err="1"/>
                        <a:t>동일자</a:t>
                      </a:r>
                      <a:r>
                        <a:rPr lang="ko-KR" altLang="en-US" sz="1200" kern="1200" dirty="0"/>
                        <a:t> 출원의 부적용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314324" y="1157585"/>
            <a:ext cx="1151572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甲이 </a:t>
            </a:r>
            <a:r>
              <a:rPr lang="en-US" altLang="ko-KR" sz="1600" dirty="0"/>
              <a:t>A+B+C</a:t>
            </a:r>
            <a:r>
              <a:rPr lang="ko-KR" altLang="en-US" sz="1600" dirty="0"/>
              <a:t>로 구성된 발명을 출원 후 </a:t>
            </a:r>
            <a:r>
              <a:rPr lang="ko-KR" altLang="en-US" sz="1600" dirty="0" err="1"/>
              <a:t>실시중이고</a:t>
            </a:r>
            <a:r>
              <a:rPr lang="en-US" altLang="ko-KR" sz="1600" dirty="0"/>
              <a:t>, </a:t>
            </a:r>
            <a:r>
              <a:rPr lang="ko-KR" altLang="en-US" sz="1600" dirty="0"/>
              <a:t>乙이 </a:t>
            </a:r>
            <a:r>
              <a:rPr lang="en-US" altLang="ko-KR" sz="1600" dirty="0"/>
              <a:t>A+B+C+D</a:t>
            </a:r>
            <a:r>
              <a:rPr lang="ko-KR" altLang="en-US" sz="1600" dirty="0"/>
              <a:t>로 구성된 발명을 출원 후 실시중인 경우 </a:t>
            </a:r>
            <a:r>
              <a:rPr lang="ko-KR" altLang="en-US" sz="1600" dirty="0" err="1"/>
              <a:t>후출원의</a:t>
            </a:r>
            <a:r>
              <a:rPr lang="ko-KR" altLang="en-US" sz="1600" dirty="0"/>
              <a:t> 등록가능성 및 실시가 침해인지 여부</a:t>
            </a:r>
            <a:r>
              <a:rPr lang="en-US" altLang="ko-KR" sz="1600" dirty="0"/>
              <a:t>(</a:t>
            </a:r>
            <a:r>
              <a:rPr lang="ko-KR" altLang="en-US" sz="1600" dirty="0"/>
              <a:t>촉매부가발명 判例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251520" y="3886200"/>
            <a:ext cx="11578529" cy="289559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r>
              <a:rPr lang="en-US" altLang="ko-KR" sz="1400" dirty="0">
                <a:latin typeface="+mn-ea"/>
              </a:rPr>
              <a:t>* </a:t>
            </a:r>
            <a:r>
              <a:rPr lang="ko-KR" altLang="en-US" sz="1400" dirty="0">
                <a:latin typeface="+mn-ea"/>
              </a:rPr>
              <a:t>결합발명은 선행발명에 구성요소를 더 부가한 것으로 일반적으로 선행발명과 동일성이 없기 때문에 신규성은 인정되나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진보성에 위반되는지 여부가 문제이다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결합발명의 진보성을 판단과 관련하여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청구항에</a:t>
            </a:r>
            <a:r>
              <a:rPr lang="ko-KR" altLang="en-US" sz="1400" dirty="0">
                <a:latin typeface="+mn-ea"/>
              </a:rPr>
              <a:t> 기재된 발명은 전체로서 고려되어야 하며 구성요소 각각이 공지 또는 자명하다고 하여 </a:t>
            </a:r>
            <a:r>
              <a:rPr lang="ko-KR" altLang="en-US" sz="1400" dirty="0" err="1">
                <a:latin typeface="+mn-ea"/>
              </a:rPr>
              <a:t>청구항에</a:t>
            </a:r>
            <a:r>
              <a:rPr lang="ko-KR" altLang="en-US" sz="1400" dirty="0">
                <a:latin typeface="+mn-ea"/>
              </a:rPr>
              <a:t> 기재된 발명의 진보성을 부정할 수 없다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즉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청구항에</a:t>
            </a:r>
            <a:r>
              <a:rPr lang="ko-KR" altLang="en-US" sz="1400" dirty="0">
                <a:latin typeface="+mn-ea"/>
              </a:rPr>
              <a:t> 기재된 발명의 과제해결원리를 배제한 채 </a:t>
            </a:r>
            <a:r>
              <a:rPr lang="ko-KR" altLang="en-US" sz="1400" dirty="0" err="1">
                <a:latin typeface="+mn-ea"/>
              </a:rPr>
              <a:t>청구항에</a:t>
            </a:r>
            <a:r>
              <a:rPr lang="ko-KR" altLang="en-US" sz="1400" dirty="0">
                <a:latin typeface="+mn-ea"/>
              </a:rPr>
              <a:t> 기재된 구성을 하나하나 분해한 후 선행기술의 대응 구성요소로부터 도출이 곤란한지만을 따져서는 아니 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특유의 과제해결원리에 기초하여 그 발명에 채용된 특유한 구성요소들과 나머지 구성요소들 사이의 결합관계를 포함하여 유기적으로 결합된 전체로서의 진보성을 살펴보아야 한다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대법원 </a:t>
            </a:r>
            <a:r>
              <a:rPr lang="en-US" altLang="ko-KR" sz="1400" dirty="0">
                <a:latin typeface="+mn-ea"/>
              </a:rPr>
              <a:t>2010. 9. 9. </a:t>
            </a:r>
            <a:r>
              <a:rPr lang="ko-KR" altLang="en-US" sz="1400" dirty="0">
                <a:latin typeface="+mn-ea"/>
              </a:rPr>
              <a:t>선고 </a:t>
            </a:r>
            <a:r>
              <a:rPr lang="en-US" altLang="ko-KR" sz="1400" dirty="0">
                <a:latin typeface="+mn-ea"/>
              </a:rPr>
              <a:t>2009</a:t>
            </a:r>
            <a:r>
              <a:rPr lang="ko-KR" altLang="en-US" sz="1400" dirty="0">
                <a:latin typeface="+mn-ea"/>
              </a:rPr>
              <a:t>후</a:t>
            </a:r>
            <a:r>
              <a:rPr lang="en-US" altLang="ko-KR" sz="1400" dirty="0">
                <a:latin typeface="+mn-ea"/>
              </a:rPr>
              <a:t>1897)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</a:t>
            </a:r>
            <a:r>
              <a:rPr lang="ko-KR" altLang="en-US" sz="1400" dirty="0">
                <a:latin typeface="+mn-ea"/>
              </a:rPr>
              <a:t>결합발명은 진보성 여부에 따라 공지기술의 단순한 집합인 「</a:t>
            </a:r>
            <a:r>
              <a:rPr lang="ko-KR" altLang="en-US" sz="1400" dirty="0" err="1">
                <a:latin typeface="+mn-ea"/>
              </a:rPr>
              <a:t>주합발명</a:t>
            </a:r>
            <a:r>
              <a:rPr lang="en-US" altLang="ko-KR" sz="1400" dirty="0">
                <a:latin typeface="+mn-ea"/>
              </a:rPr>
              <a:t>(Aggregation)</a:t>
            </a:r>
            <a:r>
              <a:rPr lang="ko-KR" altLang="en-US" sz="1400" dirty="0">
                <a:latin typeface="+mn-ea"/>
              </a:rPr>
              <a:t>」과 공지기술의 새로운 결합인 「조합발명</a:t>
            </a:r>
            <a:r>
              <a:rPr lang="en-US" altLang="ko-KR" sz="1400" dirty="0">
                <a:latin typeface="+mn-ea"/>
              </a:rPr>
              <a:t>(Combination)</a:t>
            </a:r>
            <a:r>
              <a:rPr lang="ko-KR" altLang="en-US" sz="1400" dirty="0">
                <a:latin typeface="+mn-ea"/>
              </a:rPr>
              <a:t>」으로 구별될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 err="1">
                <a:latin typeface="+mn-ea"/>
              </a:rPr>
              <a:t>주합발명</a:t>
            </a:r>
            <a:r>
              <a:rPr lang="en-US" altLang="ko-KR" sz="1400" dirty="0">
                <a:latin typeface="+mn-ea"/>
              </a:rPr>
              <a:t>(Aggregation)</a:t>
            </a:r>
            <a:r>
              <a:rPr lang="ko-KR" altLang="en-US" sz="1400" dirty="0">
                <a:latin typeface="+mn-ea"/>
              </a:rPr>
              <a:t>은 조합발명</a:t>
            </a:r>
            <a:r>
              <a:rPr lang="en-US" altLang="ko-KR" sz="1400" dirty="0">
                <a:latin typeface="+mn-ea"/>
              </a:rPr>
              <a:t>(Combination)</a:t>
            </a:r>
            <a:r>
              <a:rPr lang="ko-KR" altLang="en-US" sz="1400" dirty="0">
                <a:latin typeface="+mn-ea"/>
              </a:rPr>
              <a:t>과 달리 진보성이 없어서 등록될 수 없다는 점에서 차이가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구체적으로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여러 공지기술을 인용하여 특허의 진보성을 판단할 때 그 인용되는 공지기술을 조합 또는 결합하면 해당 특허발명에 이를 수 있다는 교시</a:t>
            </a:r>
            <a:r>
              <a:rPr lang="en-US" altLang="ko-KR" sz="1400" dirty="0">
                <a:latin typeface="+mn-ea"/>
              </a:rPr>
              <a:t>(teaching), </a:t>
            </a:r>
            <a:r>
              <a:rPr lang="ko-KR" altLang="en-US" sz="1400" dirty="0">
                <a:latin typeface="+mn-ea"/>
              </a:rPr>
              <a:t>암시</a:t>
            </a:r>
            <a:r>
              <a:rPr lang="en-US" altLang="ko-KR" sz="1400" dirty="0">
                <a:latin typeface="+mn-ea"/>
              </a:rPr>
              <a:t>(suggesting), </a:t>
            </a:r>
            <a:r>
              <a:rPr lang="ko-KR" altLang="en-US" sz="1400" dirty="0">
                <a:latin typeface="+mn-ea"/>
              </a:rPr>
              <a:t>동기</a:t>
            </a:r>
            <a:r>
              <a:rPr lang="en-US" altLang="ko-KR" sz="1400" dirty="0">
                <a:latin typeface="+mn-ea"/>
              </a:rPr>
              <a:t>(motivation) </a:t>
            </a:r>
            <a:r>
              <a:rPr lang="ko-KR" altLang="en-US" sz="1400" dirty="0">
                <a:latin typeface="+mn-ea"/>
              </a:rPr>
              <a:t>등이 공지기술에 제시되어 있거나 그렇지 않더라도 해당 특허 출원 당시의 기술수준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기술상식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해당 기술분야의 기본적인 과제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발전경향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해당 업계의 요구 등에 비추어 통상의 기술자가 쉽게 그와 같은 조합 또는 결합에 이를 수 있다고 인정할 수 있는 경우에는 </a:t>
            </a:r>
            <a:r>
              <a:rPr lang="ko-KR" altLang="en-US" sz="1400" dirty="0" err="1">
                <a:latin typeface="+mn-ea"/>
              </a:rPr>
              <a:t>주합발명으로서</a:t>
            </a:r>
            <a:r>
              <a:rPr lang="ko-KR" altLang="en-US" sz="1400" dirty="0">
                <a:latin typeface="+mn-ea"/>
              </a:rPr>
              <a:t> 진보성이 부정된다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대법원 </a:t>
            </a:r>
            <a:r>
              <a:rPr lang="en-US" altLang="ko-KR" sz="1400" dirty="0">
                <a:latin typeface="+mn-ea"/>
              </a:rPr>
              <a:t>2007. 9. 6. </a:t>
            </a:r>
            <a:r>
              <a:rPr lang="ko-KR" altLang="en-US" sz="1400" dirty="0">
                <a:latin typeface="+mn-ea"/>
              </a:rPr>
              <a:t>선고 </a:t>
            </a:r>
            <a:r>
              <a:rPr lang="en-US" altLang="ko-KR" sz="1400" dirty="0">
                <a:latin typeface="+mn-ea"/>
              </a:rPr>
              <a:t>2005</a:t>
            </a:r>
            <a:r>
              <a:rPr lang="ko-KR" altLang="en-US" sz="1400" dirty="0">
                <a:latin typeface="+mn-ea"/>
              </a:rPr>
              <a:t>후</a:t>
            </a:r>
            <a:r>
              <a:rPr lang="en-US" altLang="ko-KR" sz="1400" dirty="0">
                <a:latin typeface="+mn-ea"/>
              </a:rPr>
              <a:t>3277; 2009. 7. 9. </a:t>
            </a:r>
            <a:r>
              <a:rPr lang="ko-KR" altLang="en-US" sz="1400" dirty="0">
                <a:latin typeface="+mn-ea"/>
              </a:rPr>
              <a:t>선고 </a:t>
            </a:r>
            <a:r>
              <a:rPr lang="en-US" altLang="ko-KR" sz="1400" dirty="0">
                <a:latin typeface="+mn-ea"/>
              </a:rPr>
              <a:t>2008</a:t>
            </a:r>
            <a:r>
              <a:rPr lang="ko-KR" altLang="en-US" sz="1400" dirty="0">
                <a:latin typeface="+mn-ea"/>
              </a:rPr>
              <a:t>후</a:t>
            </a:r>
            <a:r>
              <a:rPr lang="en-US" altLang="ko-KR" sz="1400" dirty="0">
                <a:latin typeface="+mn-ea"/>
              </a:rPr>
              <a:t>3377 </a:t>
            </a:r>
            <a:r>
              <a:rPr lang="ko-KR" altLang="en-US" sz="1400" dirty="0">
                <a:latin typeface="+mn-ea"/>
              </a:rPr>
              <a:t>참조</a:t>
            </a:r>
            <a:r>
              <a:rPr lang="en-US" altLang="ko-KR" sz="1400" dirty="0">
                <a:latin typeface="+mn-ea"/>
              </a:rPr>
              <a:t>). 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0" y="383050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9367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이용관계의 유형</a:t>
            </a:r>
            <a:r>
              <a:rPr lang="en-US" altLang="ko-KR" dirty="0"/>
              <a:t>: </a:t>
            </a:r>
            <a:r>
              <a:rPr lang="ko-KR" altLang="en-US" dirty="0" err="1"/>
              <a:t>그대로설</a:t>
            </a:r>
            <a:r>
              <a:rPr lang="en-US" altLang="ko-KR" dirty="0"/>
              <a:t>(</a:t>
            </a:r>
            <a:r>
              <a:rPr lang="ko-KR" altLang="en-US" dirty="0" err="1"/>
              <a:t>외적부가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354</a:t>
            </a:fld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51520" y="1260554"/>
            <a:ext cx="11578529" cy="5425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en-US" altLang="ko-KR" sz="1400" b="1" dirty="0">
                <a:latin typeface="+mn-ea"/>
              </a:rPr>
              <a:t>[1] </a:t>
            </a:r>
            <a:r>
              <a:rPr lang="ko-KR" altLang="en-US" sz="1400" b="1" dirty="0">
                <a:latin typeface="+mn-ea"/>
              </a:rPr>
              <a:t>선 등록고안과 후 고안 사이의 이용관계의 성립요건 및 등록고안의 균등고안을 이용하는 경우에도 이용관계가 성립하는지 여부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적극</a:t>
            </a:r>
            <a:r>
              <a:rPr lang="en-US" altLang="ko-KR" sz="1400" b="1" dirty="0">
                <a:latin typeface="+mn-ea"/>
              </a:rPr>
              <a:t>):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선 등록고안과 후 고안이 이용관계에 있는 경우에는 후 고안은 선 등록고안의 권리범위에 속하게 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이러한 이용관계는 후 고안이 선 등록고안의 기술적 구성에 새로운 기술적 요소를 부가하는 것으로서 후 고안이 선 등록고안의 요지를 전부 포함하고 이를 그대로 이용하되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후 고안 내에 선 등록고안이 고안으로서의 일체성을 유지하는 경우에 성립하며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이는 선 등록고안과 동일한 고안뿐만 아니라 균등한 고안을 이용하는 경우도 마찬가지이다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fontAlgn="base"/>
            <a:endParaRPr lang="en-US" altLang="ko-KR" sz="1400" u="sng" dirty="0">
              <a:latin typeface="+mn-ea"/>
            </a:endParaRPr>
          </a:p>
          <a:p>
            <a:pPr fontAlgn="base"/>
            <a:r>
              <a:rPr lang="en-US" altLang="ko-KR" sz="1400" dirty="0"/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▶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 1) 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이용발명은 권리범위에 속한다는 점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, 2) </a:t>
            </a:r>
            <a:r>
              <a:rPr lang="ko-KR" altLang="en-US" sz="1400" dirty="0" err="1">
                <a:solidFill>
                  <a:srgbClr val="FF0000"/>
                </a:solidFill>
                <a:sym typeface="Wingdings" pitchFamily="2" charset="2"/>
              </a:rPr>
              <a:t>그대로설을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 지지한다는 점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, 3) 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일체성이 유지되어야 한다는 점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, 4) </a:t>
            </a:r>
            <a:r>
              <a:rPr lang="ko-KR" altLang="en-US" sz="1400" dirty="0" err="1">
                <a:solidFill>
                  <a:srgbClr val="FF0000"/>
                </a:solidFill>
                <a:sym typeface="Wingdings" pitchFamily="2" charset="2"/>
              </a:rPr>
              <a:t>균등물을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 이용하는 경우에도 이용관계를 긍정한다는 점을 판시하고 있다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.</a:t>
            </a:r>
            <a:endParaRPr lang="ko-KR" altLang="en-US" sz="1400" dirty="0">
              <a:solidFill>
                <a:srgbClr val="FF0000"/>
              </a:solidFill>
              <a:sym typeface="Wingdings" pitchFamily="2" charset="2"/>
            </a:endParaRPr>
          </a:p>
          <a:p>
            <a:pPr fontAlgn="base"/>
            <a:endParaRPr lang="en-US" altLang="ko-KR" sz="1400" u="sng" dirty="0">
              <a:latin typeface="+mn-ea"/>
            </a:endParaRPr>
          </a:p>
          <a:p>
            <a:pPr fontAlgn="base"/>
            <a:r>
              <a:rPr lang="en-US" altLang="ko-KR" sz="1400" b="1" dirty="0">
                <a:latin typeface="+mn-ea"/>
              </a:rPr>
              <a:t>[2] </a:t>
            </a:r>
            <a:r>
              <a:rPr lang="ko-KR" altLang="en-US" sz="1400" b="1" dirty="0">
                <a:latin typeface="+mn-ea"/>
              </a:rPr>
              <a:t>화학물질 제조방법의 발명에서 촉매의 부가로 인하여 그 </a:t>
            </a:r>
            <a:r>
              <a:rPr lang="ko-KR" altLang="en-US" sz="1400" b="1" dirty="0" err="1">
                <a:latin typeface="+mn-ea"/>
              </a:rPr>
              <a:t>수율에</a:t>
            </a:r>
            <a:r>
              <a:rPr lang="ko-KR" altLang="en-US" sz="1400" b="1" dirty="0">
                <a:latin typeface="+mn-ea"/>
              </a:rPr>
              <a:t> 현저한 상승이 있는 경우에도 이용발명에 해당하는지 여부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적극</a:t>
            </a:r>
            <a:r>
              <a:rPr lang="en-US" altLang="ko-KR" sz="1400" b="1" dirty="0">
                <a:latin typeface="+mn-ea"/>
              </a:rPr>
              <a:t>):</a:t>
            </a:r>
            <a:r>
              <a:rPr lang="ko-KR" altLang="en-US" sz="1400" dirty="0">
                <a:latin typeface="+mn-ea"/>
              </a:rPr>
              <a:t> 화학반응에서 촉매라 함은 반응에 관여하여 반응속도 내지 수율 등에 영향을 줄 뿐 반응 후에는 그대로 남아 있고 목적물질의 화학적 구조에는 기여를 하지 아니하는 것임을 고려하면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화학물질 제조방법의 발명에서 촉매를 부가함에 의하여 그 제조방법 발명의 기술적 구성의 일체성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즉 출발물질에 반응물질을 가하여 특정한 목적물질을 생성하는 일련의 유기적 결합관계의 일체성이 상실된다고 볼 수는 없으므로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촉매의 부가로 인하여 그 </a:t>
            </a:r>
            <a:r>
              <a:rPr lang="ko-KR" altLang="en-US" sz="1400" dirty="0" err="1">
                <a:latin typeface="+mn-ea"/>
              </a:rPr>
              <a:t>수율에</a:t>
            </a:r>
            <a:r>
              <a:rPr lang="ko-KR" altLang="en-US" sz="1400" dirty="0">
                <a:latin typeface="+mn-ea"/>
              </a:rPr>
              <a:t> 현저한 상승을 가져오는 경우라 하더라도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달리 특별한 사정이 없는 한 선행 특허발명의 기술적 요지를 그대로 포함하는 이용발명에 해당한다고 봄이 상당하다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  <a:p>
            <a:pPr fontAlgn="base"/>
            <a:endParaRPr lang="en-US" altLang="ko-KR" sz="1400" dirty="0">
              <a:latin typeface="+mn-ea"/>
            </a:endParaRPr>
          </a:p>
          <a:p>
            <a:pPr fontAlgn="base"/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▶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종래의 대법원 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1995. 12. 5.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선고 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92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후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1660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판결에서는 “선행발명과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후발명이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이용관계에 있다고 인정되는 경우에는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후발명은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선행발명특허의 권리범위에 속하게 되는 것이라 할 것인데 이러한 이용관계는 기계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장치 등에 관한 발명의 경우에 있어서는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후발명이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선행발명의 특허요지에 새로운 기술적 요소를 가하는 것으로서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후발명이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선행발명의 요지를 전부 포함하고 이를 그대로 이용하게 되면 성립된다 할 것이나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방법의 발명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특히 화학물질의 제법에 관한 발명에 있어서는 기계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장치 등의 발명과 달라서 중간물질이나 촉매 등 어느 물질의 부가가 상호의 반응을 주목적으로 하는 경우가 많아 과정의 일시점을 잡아 선행방법에서 사용하는 물질이 상호반응 후에도 그대로의 형태로 존재하는 것을 증명하기가 극히 곤란하여 기계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장치등에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관한 발명에 적용될 위 법리를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제법발명에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적용할 수는 없다 할 것이고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특히 화학물질의 제조과정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수단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에 있어서 촉매를 사용하는 것과 사용하지 않는 것은 그 기술사상을 현저히 달리 하는 것이므로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촉매사용에 대한 언급이 없는 특허제조방법과 촉매를 사용하여 행하는 제조방법은 비록 출발물질과 반응물질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생성물질이 같다고 하더라도 후자의 촉매사용이 작용효과상의 우월성을 얻기 위한 것이 아니라 무가치한 공정을 부가한 것에 지나지 않는다고 인정되는 경우를 제외하고는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후발명이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선행발명을 이용하고 있다고 볼 수 없고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따라서 </a:t>
            </a:r>
            <a:r>
              <a:rPr lang="ko-KR" altLang="en-US" sz="1400" u="sng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후발명은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선행발명의 권리범위의 영역 밖에 있는 것이다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”고 하여 촉매의 부가로 인해 작용효과상의 우월성이 있다면 </a:t>
            </a:r>
            <a:r>
              <a:rPr lang="ko-KR" altLang="en-US" sz="1400" u="sng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후출원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특허발명이 선행발명을 이용하지 않는다고 판시하였다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그러나 이는 특허요건의 판단과 침해여부판단을 혼동하는 것으로서 현저한 효과로 인해 진보성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法 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29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②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에 위반되지 않아 등록되더라도 일체성을 상실하지 않았다면 침해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즉 이용발명으로 봄이 타당하고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본 판결에서는 이를 바로 잡고 있다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  <a:endParaRPr lang="ko-KR" altLang="en-US" sz="1400" u="sng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51520" y="955754"/>
            <a:ext cx="3663255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** </a:t>
            </a:r>
            <a:r>
              <a:rPr lang="ko-KR" altLang="en-US" sz="1400" dirty="0">
                <a:solidFill>
                  <a:schemeClr val="bg1"/>
                </a:solidFill>
              </a:rPr>
              <a:t>대법원 </a:t>
            </a:r>
            <a:r>
              <a:rPr lang="en-US" altLang="ko-KR" sz="1400" dirty="0">
                <a:solidFill>
                  <a:schemeClr val="bg1"/>
                </a:solidFill>
              </a:rPr>
              <a:t>2001. 8. 21. </a:t>
            </a:r>
            <a:r>
              <a:rPr lang="ko-KR" altLang="en-US" sz="1400" dirty="0">
                <a:solidFill>
                  <a:schemeClr val="bg1"/>
                </a:solidFill>
              </a:rPr>
              <a:t>선고 </a:t>
            </a:r>
            <a:r>
              <a:rPr lang="en-US" altLang="ko-KR" sz="1400" dirty="0">
                <a:solidFill>
                  <a:schemeClr val="bg1"/>
                </a:solidFill>
              </a:rPr>
              <a:t>98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522 </a:t>
            </a:r>
            <a:r>
              <a:rPr lang="ko-KR" altLang="en-US" sz="1400" dirty="0">
                <a:solidFill>
                  <a:schemeClr val="bg1"/>
                </a:solidFill>
              </a:rPr>
              <a:t>판결</a:t>
            </a:r>
          </a:p>
        </p:txBody>
      </p:sp>
    </p:spTree>
    <p:extLst>
      <p:ext uri="{BB962C8B-B14F-4D97-AF65-F5344CB8AC3E}">
        <p14:creationId xmlns:p14="http://schemas.microsoft.com/office/powerpoint/2010/main" val="30205660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일체성의 유지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355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51520" y="4759206"/>
            <a:ext cx="11578529" cy="20321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400" b="1" dirty="0"/>
              <a:t>일체성을 상실한 경우 이용관계가 아니기 때문에 후 출원에 의하여 특허 등록된 발명을 확인대상발명으로 하여 선 출원에 의한 등록발명의 권리범위에 속한다는 확인을 구하는 적극적 권리범위확인심판으로서 </a:t>
            </a:r>
            <a:r>
              <a:rPr lang="ko-KR" altLang="en-US" sz="1400" b="1" dirty="0" err="1"/>
              <a:t>부적법하다는</a:t>
            </a:r>
            <a:r>
              <a:rPr lang="ko-KR" altLang="en-US" sz="1400" b="1" dirty="0"/>
              <a:t> 사례</a:t>
            </a:r>
            <a:r>
              <a:rPr lang="en-US" altLang="ko-KR" sz="1400" b="1" dirty="0"/>
              <a:t>: </a:t>
            </a:r>
            <a:r>
              <a:rPr lang="ko-KR" altLang="en-US" sz="1400" dirty="0"/>
              <a:t>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발명은 구이의 눌어붙음 방지</a:t>
            </a:r>
            <a:r>
              <a:rPr lang="en-US" altLang="ko-KR" sz="1400" dirty="0"/>
              <a:t>, </a:t>
            </a:r>
            <a:r>
              <a:rPr lang="ko-KR" altLang="en-US" sz="1400" dirty="0"/>
              <a:t>열원 노출면적 확대 등의 효과를 위하여 선재를 한 방향으로만 형성한 것인 데 비하여</a:t>
            </a:r>
            <a:r>
              <a:rPr lang="en-US" altLang="ko-KR" sz="1400" dirty="0"/>
              <a:t>, </a:t>
            </a:r>
            <a:r>
              <a:rPr lang="ko-KR" altLang="en-US" sz="1400" dirty="0"/>
              <a:t>확인대상발명은 하나의 </a:t>
            </a:r>
            <a:r>
              <a:rPr lang="ko-KR" altLang="en-US" sz="1400" dirty="0" err="1"/>
              <a:t>석쇠틀에서</a:t>
            </a:r>
            <a:r>
              <a:rPr lang="ko-KR" altLang="en-US" sz="1400" dirty="0"/>
              <a:t> 가로</a:t>
            </a:r>
            <a:r>
              <a:rPr lang="en-US" altLang="ko-KR" sz="1400" dirty="0"/>
              <a:t>, </a:t>
            </a:r>
            <a:r>
              <a:rPr lang="ko-KR" altLang="en-US" sz="1400" dirty="0"/>
              <a:t>세로 방향으로 선재가 교차되는 양방향 구성을 채택하고 있었다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심결과</a:t>
            </a:r>
            <a:r>
              <a:rPr lang="ko-KR" altLang="en-US" sz="1400" dirty="0"/>
              <a:t> 원심은 이용관계에 있다고 판단하여 일단 </a:t>
            </a:r>
            <a:r>
              <a:rPr lang="ko-KR" altLang="en-US" sz="1400" dirty="0" err="1"/>
              <a:t>본안판단으로</a:t>
            </a:r>
            <a:r>
              <a:rPr lang="ko-KR" altLang="en-US" sz="1400" dirty="0"/>
              <a:t> 나아간 후 막상 권리범위 </a:t>
            </a:r>
            <a:r>
              <a:rPr lang="ko-KR" altLang="en-US" sz="1400" dirty="0" err="1"/>
              <a:t>속부</a:t>
            </a:r>
            <a:r>
              <a:rPr lang="ko-KR" altLang="en-US" sz="1400" dirty="0"/>
              <a:t> 실체 판단에서는 확인대상발명의 구성이 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발명의 권리범위에서 의식적 제외된 구성이라고 보아 권리범위에 속하지 않는다고 판단하였다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대법원은</a:t>
            </a:r>
            <a:r>
              <a:rPr lang="en-US" altLang="ko-KR" sz="1400" dirty="0"/>
              <a:t>, </a:t>
            </a:r>
            <a:r>
              <a:rPr lang="ko-KR" altLang="en-US" sz="1400" dirty="0"/>
              <a:t>이용관계 해당 여부에 관한 대법원 </a:t>
            </a:r>
            <a:r>
              <a:rPr lang="en-US" altLang="ko-KR" sz="1400" dirty="0"/>
              <a:t>2001. 8. 21.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98</a:t>
            </a:r>
            <a:r>
              <a:rPr lang="ko-KR" altLang="en-US" sz="1400" dirty="0"/>
              <a:t>후</a:t>
            </a:r>
            <a:r>
              <a:rPr lang="en-US" altLang="ko-KR" sz="1400" dirty="0"/>
              <a:t>522 </a:t>
            </a:r>
            <a:r>
              <a:rPr lang="ko-KR" altLang="en-US" sz="1400" dirty="0"/>
              <a:t>판결의 판단기준을 인용한 다음</a:t>
            </a:r>
            <a:r>
              <a:rPr lang="en-US" altLang="ko-KR" sz="1400" dirty="0"/>
              <a:t>, </a:t>
            </a:r>
            <a:r>
              <a:rPr lang="ko-KR" altLang="en-US" sz="1400" dirty="0"/>
              <a:t>하나의 </a:t>
            </a:r>
            <a:r>
              <a:rPr lang="ko-KR" altLang="en-US" sz="1400" dirty="0" err="1"/>
              <a:t>석쇠틀에서</a:t>
            </a:r>
            <a:r>
              <a:rPr lang="ko-KR" altLang="en-US" sz="1400" dirty="0"/>
              <a:t> 가로</a:t>
            </a:r>
            <a:r>
              <a:rPr lang="en-US" altLang="ko-KR" sz="1400" dirty="0"/>
              <a:t>, </a:t>
            </a:r>
            <a:r>
              <a:rPr lang="ko-KR" altLang="en-US" sz="1400" dirty="0"/>
              <a:t>세로 방향으로 선재가 교차되는 </a:t>
            </a:r>
            <a:r>
              <a:rPr lang="ko-KR" altLang="en-US" sz="1400" dirty="0">
                <a:highlight>
                  <a:srgbClr val="FFFF00"/>
                </a:highlight>
              </a:rPr>
              <a:t>확인대상발명의 양방향 구성은 구이의 눌어붙음 방지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열원 노출면적 확대와 같은 한 방향 구성의 효과를 나타낼 수 없어 제</a:t>
            </a:r>
            <a:r>
              <a:rPr lang="en-US" altLang="ko-KR" sz="1400" dirty="0">
                <a:highlight>
                  <a:srgbClr val="FFFF00"/>
                </a:highlight>
              </a:rPr>
              <a:t>30</a:t>
            </a:r>
            <a:r>
              <a:rPr lang="ko-KR" altLang="en-US" sz="1400" dirty="0">
                <a:highlight>
                  <a:srgbClr val="FFFF00"/>
                </a:highlight>
              </a:rPr>
              <a:t>항 발명과 상이한 구성이라고 할 것이고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확인대상발명 내에서 제</a:t>
            </a:r>
            <a:r>
              <a:rPr lang="en-US" altLang="ko-KR" sz="1400" dirty="0">
                <a:highlight>
                  <a:srgbClr val="FFFF00"/>
                </a:highlight>
              </a:rPr>
              <a:t>30</a:t>
            </a:r>
            <a:r>
              <a:rPr lang="ko-KR" altLang="en-US" sz="1400" dirty="0">
                <a:highlight>
                  <a:srgbClr val="FFFF00"/>
                </a:highlight>
              </a:rPr>
              <a:t>항 발명이 발명으로서의 일체성을 유지하고 있다고 볼 수도 없어 두 발명이 이용관계에 있다고 볼 수 없으므로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이 사건 권리범위확인심판 청구는 후 출원에 의하여 등록된 발명을 확인대상발명으로 하여 선 출원에 의한 등록발명의 권리범위에 속한다는 확인을 구하는 적극적 권리범위확인심판으로서 </a:t>
            </a:r>
            <a:r>
              <a:rPr lang="ko-KR" altLang="en-US" sz="1400" dirty="0" err="1">
                <a:highlight>
                  <a:srgbClr val="FFFF00"/>
                </a:highlight>
              </a:rPr>
              <a:t>부적법하다</a:t>
            </a:r>
            <a:r>
              <a:rPr lang="ko-KR" altLang="en-US" sz="1400" u="sng" dirty="0" err="1"/>
              <a:t>고</a:t>
            </a:r>
            <a:r>
              <a:rPr lang="en-US" altLang="ko-KR" sz="1400" dirty="0"/>
              <a:t> </a:t>
            </a:r>
            <a:r>
              <a:rPr lang="ko-KR" altLang="en-US" sz="1400" dirty="0"/>
              <a:t>판시하였다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251520" y="4451429"/>
            <a:ext cx="3663255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2016. 4. 28. 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2015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161 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판결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104900" y="21526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657225" y="27622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타원 9"/>
          <p:cNvSpPr/>
          <p:nvPr/>
        </p:nvSpPr>
        <p:spPr>
          <a:xfrm>
            <a:off x="1552575" y="27622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연결선 11"/>
          <p:cNvCxnSpPr>
            <a:stCxn id="8" idx="3"/>
            <a:endCxn id="9" idx="7"/>
          </p:cNvCxnSpPr>
          <p:nvPr/>
        </p:nvCxnSpPr>
        <p:spPr>
          <a:xfrm flipH="1">
            <a:off x="1079990" y="2575415"/>
            <a:ext cx="97445" cy="2593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8" idx="5"/>
            <a:endCxn id="10" idx="1"/>
          </p:cNvCxnSpPr>
          <p:nvPr/>
        </p:nvCxnSpPr>
        <p:spPr>
          <a:xfrm>
            <a:off x="1527665" y="2575415"/>
            <a:ext cx="97445" cy="2593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>
            <a:stCxn id="9" idx="6"/>
            <a:endCxn id="10" idx="2"/>
          </p:cNvCxnSpPr>
          <p:nvPr/>
        </p:nvCxnSpPr>
        <p:spPr>
          <a:xfrm>
            <a:off x="1152525" y="3009900"/>
            <a:ext cx="4000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3562350" y="13906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3114675" y="20002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4010025" y="20002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0" name="직선 연결선 19"/>
          <p:cNvCxnSpPr>
            <a:stCxn id="17" idx="3"/>
            <a:endCxn id="18" idx="7"/>
          </p:cNvCxnSpPr>
          <p:nvPr/>
        </p:nvCxnSpPr>
        <p:spPr>
          <a:xfrm flipH="1">
            <a:off x="3537440" y="1813415"/>
            <a:ext cx="97445" cy="2593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7" idx="5"/>
            <a:endCxn id="19" idx="1"/>
          </p:cNvCxnSpPr>
          <p:nvPr/>
        </p:nvCxnSpPr>
        <p:spPr>
          <a:xfrm>
            <a:off x="3985115" y="1813415"/>
            <a:ext cx="97445" cy="2593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8" idx="6"/>
            <a:endCxn id="19" idx="2"/>
          </p:cNvCxnSpPr>
          <p:nvPr/>
        </p:nvCxnSpPr>
        <p:spPr>
          <a:xfrm>
            <a:off x="3609975" y="2247900"/>
            <a:ext cx="4000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/>
          <p:cNvSpPr/>
          <p:nvPr/>
        </p:nvSpPr>
        <p:spPr>
          <a:xfrm>
            <a:off x="4876800" y="20002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3800475" y="3495675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4505325" y="3495675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0" name="직선 연결선 29"/>
          <p:cNvCxnSpPr>
            <a:stCxn id="28" idx="6"/>
            <a:endCxn id="29" idx="2"/>
          </p:cNvCxnSpPr>
          <p:nvPr/>
        </p:nvCxnSpPr>
        <p:spPr>
          <a:xfrm>
            <a:off x="4295775" y="3743325"/>
            <a:ext cx="2095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5200650" y="3495675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3076575" y="3495675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5" name="직선 연결선 34"/>
          <p:cNvCxnSpPr>
            <a:stCxn id="19" idx="6"/>
            <a:endCxn id="25" idx="2"/>
          </p:cNvCxnSpPr>
          <p:nvPr/>
        </p:nvCxnSpPr>
        <p:spPr>
          <a:xfrm>
            <a:off x="4505325" y="2247900"/>
            <a:ext cx="3714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>
            <a:stCxn id="33" idx="6"/>
            <a:endCxn id="28" idx="2"/>
          </p:cNvCxnSpPr>
          <p:nvPr/>
        </p:nvCxnSpPr>
        <p:spPr>
          <a:xfrm>
            <a:off x="3571875" y="3743325"/>
            <a:ext cx="2286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stCxn id="29" idx="6"/>
            <a:endCxn id="31" idx="2"/>
          </p:cNvCxnSpPr>
          <p:nvPr/>
        </p:nvCxnSpPr>
        <p:spPr>
          <a:xfrm>
            <a:off x="5000625" y="3743325"/>
            <a:ext cx="200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457200" y="1714501"/>
            <a:ext cx="1809750" cy="167748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457200" y="1703453"/>
            <a:ext cx="80983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선특허</a:t>
            </a:r>
            <a:endParaRPr lang="ko-KR" altLang="en-US" dirty="0"/>
          </a:p>
        </p:txBody>
      </p:sp>
      <p:sp>
        <p:nvSpPr>
          <p:cNvPr id="42" name="직사각형 41"/>
          <p:cNvSpPr/>
          <p:nvPr/>
        </p:nvSpPr>
        <p:spPr>
          <a:xfrm>
            <a:off x="2900361" y="971550"/>
            <a:ext cx="2976563" cy="15621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2909886" y="977410"/>
            <a:ext cx="93807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후특허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2900361" y="2705100"/>
            <a:ext cx="2976563" cy="15621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2909886" y="2705100"/>
            <a:ext cx="93807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후특허</a:t>
            </a:r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47" name="직선 연결선 46"/>
          <p:cNvCxnSpPr>
            <a:stCxn id="40" idx="3"/>
            <a:endCxn id="42" idx="1"/>
          </p:cNvCxnSpPr>
          <p:nvPr/>
        </p:nvCxnSpPr>
        <p:spPr>
          <a:xfrm flipV="1">
            <a:off x="2266950" y="1752600"/>
            <a:ext cx="633411" cy="80064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>
            <a:stCxn id="40" idx="3"/>
            <a:endCxn id="44" idx="1"/>
          </p:cNvCxnSpPr>
          <p:nvPr/>
        </p:nvCxnSpPr>
        <p:spPr>
          <a:xfrm>
            <a:off x="2266950" y="2553242"/>
            <a:ext cx="633411" cy="9329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6391275" y="992795"/>
            <a:ext cx="5372100" cy="3388705"/>
          </a:xfrm>
          <a:prstGeom prst="rect">
            <a:avLst/>
          </a:prstGeom>
          <a:ln>
            <a:noFill/>
          </a:ln>
        </p:spPr>
        <p:txBody>
          <a:bodyPr wrap="square" anchor="ctr">
            <a:noAutofit/>
          </a:bodyPr>
          <a:lstStyle/>
          <a:p>
            <a:pPr marL="342900" indent="-342900" fontAlgn="base">
              <a:buAutoNum type="arabicPeriod"/>
            </a:pPr>
            <a:r>
              <a:rPr lang="ko-KR" altLang="en-US" dirty="0" err="1"/>
              <a:t>후특허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은 </a:t>
            </a:r>
            <a:r>
              <a:rPr lang="en-US" altLang="ko-KR" dirty="0"/>
              <a:t>d</a:t>
            </a:r>
            <a:r>
              <a:rPr lang="ko-KR" altLang="en-US" dirty="0"/>
              <a:t>를 부가하면서 </a:t>
            </a:r>
            <a:r>
              <a:rPr lang="ko-KR" altLang="en-US" dirty="0" err="1"/>
              <a:t>선특허</a:t>
            </a:r>
            <a:r>
              <a:rPr lang="ko-KR" altLang="en-US" dirty="0"/>
              <a:t> </a:t>
            </a:r>
            <a:r>
              <a:rPr lang="en-US" altLang="ko-KR" dirty="0"/>
              <a:t>a, b, c</a:t>
            </a:r>
            <a:r>
              <a:rPr lang="ko-KR" altLang="en-US" dirty="0"/>
              <a:t>의 결합관계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선특허와의</a:t>
            </a:r>
            <a:r>
              <a:rPr lang="ko-KR" altLang="en-US" dirty="0"/>
              <a:t> 구성요소의 일체성</a:t>
            </a:r>
            <a:r>
              <a:rPr lang="en-US" altLang="ko-KR" dirty="0"/>
              <a:t>)</a:t>
            </a:r>
            <a:r>
              <a:rPr lang="ko-KR" altLang="en-US" dirty="0"/>
              <a:t>를 유지하였다</a:t>
            </a:r>
            <a:r>
              <a:rPr lang="en-US" altLang="ko-KR" dirty="0"/>
              <a:t>. </a:t>
            </a:r>
            <a:r>
              <a:rPr lang="ko-KR" altLang="en-US" dirty="0"/>
              <a:t>따라서 구성요소완비의 원칙에 의하여 </a:t>
            </a:r>
            <a:r>
              <a:rPr lang="ko-KR" altLang="en-US" dirty="0" err="1"/>
              <a:t>후특허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을 실시하는 것은 </a:t>
            </a:r>
            <a:r>
              <a:rPr lang="ko-KR" altLang="en-US" dirty="0" err="1"/>
              <a:t>선특허의</a:t>
            </a:r>
            <a:r>
              <a:rPr lang="ko-KR" altLang="en-US" dirty="0"/>
              <a:t> 침해가 되고</a:t>
            </a:r>
            <a:r>
              <a:rPr lang="en-US" altLang="ko-KR" dirty="0"/>
              <a:t>, </a:t>
            </a:r>
            <a:r>
              <a:rPr lang="ko-KR" altLang="en-US" dirty="0"/>
              <a:t>이를 이용발명이라 한다</a:t>
            </a:r>
            <a:r>
              <a:rPr lang="en-US" altLang="ko-KR" dirty="0"/>
              <a:t>.</a:t>
            </a:r>
          </a:p>
          <a:p>
            <a:pPr marL="342900" indent="-342900" fontAlgn="base">
              <a:buAutoNum type="arabicPeriod"/>
            </a:pPr>
            <a:endParaRPr lang="en-US" altLang="ko-KR" dirty="0"/>
          </a:p>
          <a:p>
            <a:pPr marL="342900" indent="-342900" fontAlgn="base">
              <a:buAutoNum type="arabicPeriod"/>
            </a:pPr>
            <a:r>
              <a:rPr lang="ko-KR" altLang="en-US" dirty="0" err="1"/>
              <a:t>후특허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는 </a:t>
            </a:r>
            <a:r>
              <a:rPr lang="en-US" altLang="ko-KR" dirty="0"/>
              <a:t>d</a:t>
            </a:r>
            <a:r>
              <a:rPr lang="ko-KR" altLang="en-US" dirty="0"/>
              <a:t>를 부가하면서 </a:t>
            </a:r>
            <a:r>
              <a:rPr lang="ko-KR" altLang="en-US" dirty="0" err="1"/>
              <a:t>선특허</a:t>
            </a:r>
            <a:r>
              <a:rPr lang="ko-KR" altLang="en-US" dirty="0"/>
              <a:t> </a:t>
            </a:r>
            <a:r>
              <a:rPr lang="en-US" altLang="ko-KR" dirty="0"/>
              <a:t>a, b, c</a:t>
            </a:r>
            <a:r>
              <a:rPr lang="ko-KR" altLang="en-US" dirty="0"/>
              <a:t>의 결합관계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선특허와의</a:t>
            </a:r>
            <a:r>
              <a:rPr lang="ko-KR" altLang="en-US" dirty="0"/>
              <a:t> 구성요소의 일체성</a:t>
            </a:r>
            <a:r>
              <a:rPr lang="en-US" altLang="ko-KR" dirty="0"/>
              <a:t>)</a:t>
            </a:r>
            <a:r>
              <a:rPr lang="ko-KR" altLang="en-US" dirty="0"/>
              <a:t>를 상실하였다</a:t>
            </a:r>
            <a:r>
              <a:rPr lang="en-US" altLang="ko-KR" dirty="0"/>
              <a:t>. </a:t>
            </a:r>
            <a:r>
              <a:rPr lang="ko-KR" altLang="en-US" dirty="0"/>
              <a:t>따라서 구성요소완비의 원칙이 적용되지 아니하여 </a:t>
            </a:r>
            <a:r>
              <a:rPr lang="ko-KR" altLang="en-US" dirty="0" err="1"/>
              <a:t>후특허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를 실시하는 것은 </a:t>
            </a:r>
            <a:r>
              <a:rPr lang="ko-KR" altLang="en-US" dirty="0" err="1"/>
              <a:t>선특허의</a:t>
            </a:r>
            <a:r>
              <a:rPr lang="ko-KR" altLang="en-US" dirty="0"/>
              <a:t> 침해가 아니며</a:t>
            </a:r>
            <a:r>
              <a:rPr lang="en-US" altLang="ko-KR" dirty="0"/>
              <a:t>, </a:t>
            </a:r>
            <a:r>
              <a:rPr lang="ko-KR" altLang="en-US" dirty="0"/>
              <a:t>이를 이용발명이라 하지 아니한다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6163733" y="1279528"/>
            <a:ext cx="0" cy="255904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8728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균등범위의 이용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356</a:t>
            </a:fld>
            <a:endParaRPr lang="ko-KR" altLang="en-US"/>
          </a:p>
        </p:txBody>
      </p:sp>
      <p:sp>
        <p:nvSpPr>
          <p:cNvPr id="38" name="양쪽 모서리가 둥근 사각형 37"/>
          <p:cNvSpPr/>
          <p:nvPr/>
        </p:nvSpPr>
        <p:spPr>
          <a:xfrm>
            <a:off x="3753972" y="2343150"/>
            <a:ext cx="1857375" cy="44825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ine 5"/>
          <p:cNvSpPr>
            <a:spLocks noChangeShapeType="1"/>
          </p:cNvSpPr>
          <p:nvPr/>
        </p:nvSpPr>
        <p:spPr bwMode="auto">
          <a:xfrm>
            <a:off x="790576" y="2784053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79323" y="3040228"/>
            <a:ext cx="94929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A+B+C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출원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676603" y="2690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4" name="직선 연결선 53"/>
          <p:cNvCxnSpPr>
            <a:stCxn id="52" idx="0"/>
            <a:endCxn id="53" idx="4"/>
          </p:cNvCxnSpPr>
          <p:nvPr/>
        </p:nvCxnSpPr>
        <p:spPr>
          <a:xfrm flipH="1" flipV="1">
            <a:off x="3753972" y="285145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243298" y="3040228"/>
            <a:ext cx="73609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공개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533978" y="2690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/>
          <p:cNvCxnSpPr>
            <a:stCxn id="55" idx="0"/>
            <a:endCxn id="56" idx="4"/>
          </p:cNvCxnSpPr>
          <p:nvPr/>
        </p:nvCxnSpPr>
        <p:spPr>
          <a:xfrm flipH="1" flipV="1">
            <a:off x="5611347" y="285145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156763" y="3040228"/>
            <a:ext cx="73609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7447443" y="2690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0" name="직선 연결선 59"/>
          <p:cNvCxnSpPr>
            <a:stCxn id="58" idx="0"/>
            <a:endCxn id="59" idx="4"/>
          </p:cNvCxnSpPr>
          <p:nvPr/>
        </p:nvCxnSpPr>
        <p:spPr>
          <a:xfrm flipH="1" flipV="1">
            <a:off x="7524812" y="285145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/>
          <p:cNvSpPr/>
          <p:nvPr/>
        </p:nvSpPr>
        <p:spPr>
          <a:xfrm>
            <a:off x="9612000" y="269011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821988" y="1960142"/>
            <a:ext cx="173477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A+B1+C+D(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촉매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발명</a:t>
            </a:r>
          </a:p>
        </p:txBody>
      </p:sp>
      <p:cxnSp>
        <p:nvCxnSpPr>
          <p:cNvPr id="66" name="직선 연결선 65"/>
          <p:cNvCxnSpPr>
            <a:stCxn id="65" idx="2"/>
            <a:endCxn id="64" idx="0"/>
          </p:cNvCxnSpPr>
          <p:nvPr/>
        </p:nvCxnSpPr>
        <p:spPr>
          <a:xfrm flipH="1">
            <a:off x="9689369" y="2483362"/>
            <a:ext cx="4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271248" y="2066151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6</a:t>
            </a:r>
            <a:r>
              <a:rPr lang="ko-KR" altLang="en-US" sz="1200" dirty="0"/>
              <a:t>개월</a:t>
            </a:r>
          </a:p>
        </p:txBody>
      </p:sp>
      <p:sp>
        <p:nvSpPr>
          <p:cNvPr id="72" name="Rectangle 19"/>
          <p:cNvSpPr>
            <a:spLocks noChangeArrowheads="1"/>
          </p:cNvSpPr>
          <p:nvPr/>
        </p:nvSpPr>
        <p:spPr bwMode="auto">
          <a:xfrm>
            <a:off x="1038226" y="4257824"/>
            <a:ext cx="10067924" cy="85710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dirty="0">
                <a:latin typeface="+mn-ea"/>
              </a:rPr>
              <a:t>丙</a:t>
            </a:r>
            <a:r>
              <a:rPr lang="ko-KR" altLang="en-US" b="0" dirty="0">
                <a:latin typeface="+mn-ea"/>
              </a:rPr>
              <a:t>의 </a:t>
            </a:r>
            <a:r>
              <a:rPr lang="en-US" altLang="ko-KR" b="0" dirty="0">
                <a:latin typeface="+mn-ea"/>
              </a:rPr>
              <a:t>A+B1+C+D</a:t>
            </a:r>
            <a:r>
              <a:rPr lang="ko-KR" altLang="en-US" b="0" dirty="0">
                <a:latin typeface="+mn-ea"/>
              </a:rPr>
              <a:t>의 출원은 특허등록을 받을 수 있는가</a:t>
            </a:r>
            <a:r>
              <a:rPr lang="en-US" altLang="ko-KR" b="0" dirty="0">
                <a:latin typeface="+mn-ea"/>
              </a:rPr>
              <a:t>?</a:t>
            </a:r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b="0" dirty="0">
                <a:latin typeface="+mn-ea"/>
              </a:rPr>
              <a:t>丙이 </a:t>
            </a:r>
            <a:r>
              <a:rPr lang="en-US" altLang="ko-KR" dirty="0">
                <a:latin typeface="+mn-ea"/>
              </a:rPr>
              <a:t>A+B1+C+D</a:t>
            </a:r>
            <a:r>
              <a:rPr lang="ko-KR" altLang="en-US" b="0" dirty="0">
                <a:latin typeface="+mn-ea"/>
              </a:rPr>
              <a:t>를 판매하는 것은 甲의 특허권의 침해인가</a:t>
            </a:r>
            <a:r>
              <a:rPr lang="en-US" altLang="ko-KR" b="0" dirty="0">
                <a:latin typeface="+mn-ea"/>
              </a:rPr>
              <a:t>?</a:t>
            </a:r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11EC50B9-7EB0-462B-9684-93545701BA92}"/>
              </a:ext>
            </a:extLst>
          </p:cNvPr>
          <p:cNvSpPr/>
          <p:nvPr/>
        </p:nvSpPr>
        <p:spPr>
          <a:xfrm>
            <a:off x="9144000" y="1367221"/>
            <a:ext cx="1504950" cy="386161"/>
          </a:xfrm>
          <a:prstGeom prst="wedgeRoundRectCallout">
            <a:avLst>
              <a:gd name="adj1" fmla="val -24295"/>
              <a:gd name="adj2" fmla="val 9242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B1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이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B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</a:rPr>
              <a:t>균등물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3357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이용관계의 유형</a:t>
            </a:r>
            <a:r>
              <a:rPr lang="en-US" altLang="ko-KR" dirty="0"/>
              <a:t>: </a:t>
            </a:r>
            <a:r>
              <a:rPr lang="ko-KR" altLang="en-US" dirty="0" err="1"/>
              <a:t>그대로설</a:t>
            </a:r>
            <a:r>
              <a:rPr lang="en-US" altLang="ko-KR" dirty="0"/>
              <a:t>(</a:t>
            </a:r>
            <a:r>
              <a:rPr lang="ko-KR" altLang="en-US" dirty="0" err="1"/>
              <a:t>내적부가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357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28638" y="1138535"/>
            <a:ext cx="11506804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甲이 </a:t>
            </a:r>
            <a:r>
              <a:rPr lang="en-US" altLang="ko-KR" sz="1600" dirty="0"/>
              <a:t>A+B+C</a:t>
            </a:r>
            <a:r>
              <a:rPr lang="ko-KR" altLang="en-US" sz="1600" dirty="0"/>
              <a:t>로 구성된 발명을 출원 후 </a:t>
            </a:r>
            <a:r>
              <a:rPr lang="ko-KR" altLang="en-US" sz="1600" dirty="0" err="1"/>
              <a:t>실시중이고</a:t>
            </a:r>
            <a:r>
              <a:rPr lang="en-US" altLang="ko-KR" sz="1600" dirty="0"/>
              <a:t>, </a:t>
            </a:r>
            <a:r>
              <a:rPr lang="ko-KR" altLang="en-US" sz="1600" dirty="0"/>
              <a:t>乙이 </a:t>
            </a:r>
            <a:r>
              <a:rPr lang="en-US" altLang="ko-KR" sz="1600" dirty="0"/>
              <a:t>a1(A</a:t>
            </a:r>
            <a:r>
              <a:rPr lang="ko-KR" altLang="en-US" sz="1600" dirty="0"/>
              <a:t>의 하위구성요소</a:t>
            </a:r>
            <a:r>
              <a:rPr lang="en-US" altLang="ko-KR" sz="1600" dirty="0"/>
              <a:t>)+B+C</a:t>
            </a:r>
            <a:r>
              <a:rPr lang="ko-KR" altLang="en-US" sz="1600" dirty="0"/>
              <a:t>로 구성된 발명을 출원 후 실시중인 경우 </a:t>
            </a:r>
            <a:r>
              <a:rPr lang="ko-KR" altLang="en-US" sz="1600" dirty="0" err="1"/>
              <a:t>후출원의</a:t>
            </a:r>
            <a:r>
              <a:rPr lang="ko-KR" altLang="en-US" sz="1600" dirty="0"/>
              <a:t> 등록가능성 및 실시가 침해인지 여부</a:t>
            </a:r>
            <a:r>
              <a:rPr lang="en-US" altLang="ko-KR" sz="1600" dirty="0"/>
              <a:t>(</a:t>
            </a:r>
            <a:r>
              <a:rPr lang="ko-KR" altLang="en-US" sz="1600" dirty="0"/>
              <a:t>선택발명 判例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64528"/>
              </p:ext>
            </p:extLst>
          </p:nvPr>
        </p:nvGraphicFramePr>
        <p:xfrm>
          <a:off x="328638" y="1842799"/>
          <a:ext cx="11506805" cy="17005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07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1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2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선출원여부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등록가능성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실시가 </a:t>
                      </a:r>
                      <a:r>
                        <a:rPr lang="ko-KR" altLang="en-US" sz="1200" kern="1200" dirty="0" err="1"/>
                        <a:t>선출원의</a:t>
                      </a:r>
                      <a:r>
                        <a:rPr lang="ko-KR" altLang="en-US" sz="1200" kern="1200" dirty="0"/>
                        <a:t> 침해인지 여부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7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甲 </a:t>
                      </a:r>
                      <a:r>
                        <a:rPr lang="en-US" altLang="ko-KR" sz="1200" kern="1200" dirty="0"/>
                        <a:t>&gt; </a:t>
                      </a:r>
                      <a:r>
                        <a:rPr lang="ko-KR" altLang="en-US" sz="1200" kern="1200" dirty="0"/>
                        <a:t>乙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215900" marR="31750" indent="-18415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200" kern="1200" dirty="0"/>
                        <a:t>甲의 공개 전 → 등록가능</a:t>
                      </a:r>
                      <a:endParaRPr lang="en-US" altLang="ko-KR" sz="1200" kern="1200" dirty="0"/>
                    </a:p>
                    <a:p>
                      <a:pPr marL="215900" marR="31750" indent="-18415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甲의 공개 후 →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A+B+C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로부터 쉽게 발명할 수 있는 경우 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 위반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20650" marR="31750" indent="-12065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乙의 실시는 甲의 특허권의 침해로 보는 것이 타당</a:t>
                      </a:r>
                    </a:p>
                    <a:p>
                      <a:pPr marL="124460" marR="31750" indent="-12446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단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판례는 현저한 효과가 있어 등록된 경우 침해가 아니라고 판시</a:t>
                      </a:r>
                      <a:r>
                        <a:rPr lang="en-US" altLang="ko-KR" sz="1200" kern="1200" dirty="0"/>
                        <a:t>**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7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&lt;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/>
                        <a:t>1. </a:t>
                      </a:r>
                      <a:r>
                        <a:rPr lang="ko-KR" altLang="en-US" sz="1200" kern="1200"/>
                        <a:t>乙의 공개 전 → 法 </a:t>
                      </a:r>
                      <a:r>
                        <a:rPr lang="en-US" altLang="ko-KR" sz="1200" kern="1200"/>
                        <a:t>29</a:t>
                      </a:r>
                      <a:r>
                        <a:rPr lang="ko-KR" altLang="en-US" sz="1200" kern="1200"/>
                        <a:t>③④</a:t>
                      </a:r>
                      <a:r>
                        <a:rPr lang="en-US" altLang="ko-KR" sz="1200" kern="1200"/>
                        <a:t>, 36 </a:t>
                      </a:r>
                      <a:r>
                        <a:rPr lang="ko-KR" altLang="en-US" sz="1200" kern="1200"/>
                        <a:t>위반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/>
                        <a:t>2. </a:t>
                      </a:r>
                      <a:r>
                        <a:rPr lang="ko-KR" altLang="en-US" sz="1200" kern="1200"/>
                        <a:t>乙의 공개 후 → 法 </a:t>
                      </a:r>
                      <a:r>
                        <a:rPr lang="en-US" altLang="ko-KR" sz="1200" kern="1200"/>
                        <a:t>29</a:t>
                      </a:r>
                      <a:r>
                        <a:rPr lang="ko-KR" altLang="en-US" sz="1200" kern="1200"/>
                        <a:t>①</a:t>
                      </a:r>
                      <a:r>
                        <a:rPr lang="en-US" altLang="ko-KR" sz="1200" kern="1200"/>
                        <a:t>, 36 </a:t>
                      </a:r>
                      <a:r>
                        <a:rPr lang="ko-KR" altLang="en-US" sz="1200" kern="1200"/>
                        <a:t>위반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62560" marR="31750" indent="-16256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甲이 </a:t>
                      </a:r>
                      <a:r>
                        <a:rPr lang="en-US" altLang="ko-KR" sz="1200" kern="1200" dirty="0"/>
                        <a:t>a1+b+c</a:t>
                      </a:r>
                      <a:r>
                        <a:rPr lang="ko-KR" altLang="en-US" sz="1200" kern="1200" dirty="0"/>
                        <a:t>를 실시하는 경우 침해</a:t>
                      </a:r>
                    </a:p>
                    <a:p>
                      <a:pPr marL="162560" marR="31750" indent="-16256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그렇지 않으면 </a:t>
                      </a:r>
                      <a:r>
                        <a:rPr lang="ko-KR" altLang="en-US" sz="1200" kern="1200" dirty="0" err="1"/>
                        <a:t>비침해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7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=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실질적</a:t>
                      </a:r>
                      <a:r>
                        <a:rPr lang="en-US" altLang="ko-KR" sz="1200" kern="1200" dirty="0"/>
                        <a:t> </a:t>
                      </a:r>
                      <a:r>
                        <a:rPr lang="ko-KR" altLang="en-US" sz="1200" kern="1200" dirty="0"/>
                        <a:t>동일성이 없는 경우 양자 모두 등록가능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양자 모두 등록된 경우 자유롭게 실시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∵ 法 제</a:t>
                      </a:r>
                      <a:r>
                        <a:rPr lang="en-US" altLang="ko-KR" sz="1200" kern="1200" dirty="0"/>
                        <a:t>98</a:t>
                      </a:r>
                      <a:r>
                        <a:rPr lang="ko-KR" altLang="en-US" sz="1200" kern="1200" dirty="0"/>
                        <a:t>조의 “특허출원일 전”의 해석결과 </a:t>
                      </a:r>
                      <a:r>
                        <a:rPr lang="ko-KR" altLang="en-US" sz="1200" kern="1200" dirty="0" err="1"/>
                        <a:t>동일자</a:t>
                      </a:r>
                      <a:r>
                        <a:rPr lang="ko-KR" altLang="en-US" sz="1200" kern="1200" dirty="0"/>
                        <a:t> 출원 부적용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1520" y="3771900"/>
            <a:ext cx="11578529" cy="289559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r>
              <a:rPr lang="en-US" altLang="ko-KR" sz="1200" dirty="0">
                <a:latin typeface="+mn-ea"/>
              </a:rPr>
              <a:t>* </a:t>
            </a:r>
            <a:r>
              <a:rPr lang="ko-KR" altLang="en-US" sz="1200" dirty="0">
                <a:latin typeface="+mn-ea"/>
              </a:rPr>
              <a:t>먼저 신규성에 위반되지 않기 위해서는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선행발명이 선택발명을 구성하는 그 하위개념을 구체적으로 개시하지 않고 있어야 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「개시」에는 선행발명을 적은 선행문헌에 선택발명에 대한 문언적인 기재가 존재하는 경우 외에도 통상의 기술자가 선행문헌의 기재 내용과 출원 시의 기술 상식에 기초하여 선행문헌으로부터 직접적으로 선택발명의 존재를 인식할 수 있는 경우도 포함된다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대법원 </a:t>
            </a:r>
            <a:r>
              <a:rPr lang="en-US" altLang="ko-KR" sz="1200" dirty="0">
                <a:latin typeface="+mn-ea"/>
              </a:rPr>
              <a:t>2009. 10. 15. </a:t>
            </a:r>
            <a:r>
              <a:rPr lang="ko-KR" altLang="en-US" sz="1200" dirty="0">
                <a:latin typeface="+mn-ea"/>
              </a:rPr>
              <a:t>선고 </a:t>
            </a:r>
            <a:r>
              <a:rPr lang="en-US" altLang="ko-KR" sz="1200" dirty="0">
                <a:latin typeface="+mn-ea"/>
              </a:rPr>
              <a:t>2008</a:t>
            </a:r>
            <a:r>
              <a:rPr lang="ko-KR" altLang="en-US" sz="1200" dirty="0">
                <a:latin typeface="+mn-ea"/>
              </a:rPr>
              <a:t>후</a:t>
            </a:r>
            <a:r>
              <a:rPr lang="en-US" altLang="ko-KR" sz="1200" dirty="0">
                <a:latin typeface="+mn-ea"/>
              </a:rPr>
              <a:t>736; 2010. 3. 25. </a:t>
            </a:r>
            <a:r>
              <a:rPr lang="ko-KR" altLang="en-US" sz="1200" dirty="0">
                <a:latin typeface="+mn-ea"/>
              </a:rPr>
              <a:t>선고 </a:t>
            </a:r>
            <a:r>
              <a:rPr lang="en-US" altLang="ko-KR" sz="1200" dirty="0">
                <a:latin typeface="+mn-ea"/>
              </a:rPr>
              <a:t>2008</a:t>
            </a:r>
            <a:r>
              <a:rPr lang="ko-KR" altLang="en-US" sz="1200" dirty="0">
                <a:latin typeface="+mn-ea"/>
              </a:rPr>
              <a:t>후</a:t>
            </a:r>
            <a:r>
              <a:rPr lang="en-US" altLang="ko-KR" sz="1200" dirty="0">
                <a:latin typeface="+mn-ea"/>
              </a:rPr>
              <a:t>3520 </a:t>
            </a:r>
            <a:r>
              <a:rPr lang="ko-KR" altLang="en-US" sz="1200" dirty="0">
                <a:latin typeface="+mn-ea"/>
              </a:rPr>
              <a:t>등</a:t>
            </a:r>
            <a:r>
              <a:rPr lang="en-US" altLang="ko-KR" sz="1200" dirty="0">
                <a:latin typeface="+mn-ea"/>
              </a:rPr>
              <a:t>).</a:t>
            </a:r>
          </a:p>
          <a:p>
            <a:r>
              <a:rPr lang="en-US" altLang="ko-KR" sz="1200" dirty="0">
                <a:latin typeface="+mn-ea"/>
              </a:rPr>
              <a:t> </a:t>
            </a:r>
          </a:p>
          <a:p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dirty="0">
                <a:latin typeface="+mn-ea"/>
              </a:rPr>
              <a:t>다음으로 진보성에 위반되지 않기 위해서는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선택발명에 포함되는 하위개념들 모두가 공지된 상위개념인 선행발명과 비교하여 구성의 곤란성이 인정되어야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구성의 곤란성이 인정되는지 여부와 관련해서는 </a:t>
            </a:r>
            <a:r>
              <a:rPr lang="en-US" altLang="ko-KR" sz="1200" dirty="0">
                <a:solidFill>
                  <a:schemeClr val="tx2"/>
                </a:solidFill>
              </a:rPr>
              <a:t>ⅰ) </a:t>
            </a:r>
            <a:r>
              <a:rPr lang="ko-KR" altLang="en-US" sz="1200" dirty="0">
                <a:solidFill>
                  <a:schemeClr val="tx2"/>
                </a:solidFill>
              </a:rPr>
              <a:t>상위개념의 크기</a:t>
            </a:r>
            <a:r>
              <a:rPr lang="en-US" altLang="ko-KR" sz="1200" dirty="0">
                <a:solidFill>
                  <a:schemeClr val="tx2"/>
                </a:solidFill>
              </a:rPr>
              <a:t>, ⅱ) </a:t>
            </a:r>
            <a:r>
              <a:rPr lang="ko-KR" altLang="en-US" sz="1200" dirty="0">
                <a:solidFill>
                  <a:schemeClr val="tx2"/>
                </a:solidFill>
              </a:rPr>
              <a:t>선행발명이 선택발명을 선택할 동기를 제공하거나 선행발명에 암시가 있는지 여부</a:t>
            </a:r>
            <a:r>
              <a:rPr lang="en-US" altLang="ko-KR" sz="1200" dirty="0">
                <a:solidFill>
                  <a:schemeClr val="tx2"/>
                </a:solidFill>
              </a:rPr>
              <a:t>, ⅲ) </a:t>
            </a:r>
            <a:r>
              <a:rPr lang="ko-KR" altLang="en-US" sz="1200" dirty="0">
                <a:solidFill>
                  <a:schemeClr val="tx2"/>
                </a:solidFill>
              </a:rPr>
              <a:t>선행발명에 기재된 하위개념발명과 선택발명이 구조적으로 유사한지 여부 등이 고려되어야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예를 들어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선행발명에 발명을 이루는 구성요소 중 일부를 두 개 이상의 치환기로 하나 이상 선택할 수 있도록 기재하는 이른바 </a:t>
            </a:r>
            <a:r>
              <a:rPr lang="ko-KR" altLang="en-US" sz="1200" dirty="0" err="1">
                <a:solidFill>
                  <a:schemeClr val="tx2"/>
                </a:solidFill>
              </a:rPr>
              <a:t>마쿠쉬</a:t>
            </a:r>
            <a:r>
              <a:rPr lang="en-US" altLang="ko-KR" sz="1200" dirty="0">
                <a:solidFill>
                  <a:schemeClr val="tx2"/>
                </a:solidFill>
              </a:rPr>
              <a:t>(Markush) </a:t>
            </a:r>
            <a:r>
              <a:rPr lang="ko-KR" altLang="en-US" sz="1200" dirty="0">
                <a:solidFill>
                  <a:schemeClr val="tx2"/>
                </a:solidFill>
              </a:rPr>
              <a:t>형식으로 기재된 화학식과 그 치환기의 범위 내에 이론상 포함되기만 할 뿐 구체적으로 개시되지 않은 화합물을 청구범위로 하는 특허발명의 경우에도 진보성 판단을 위하여 구성의 곤란성을 따져보아야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위와 같은 특허발명의 구성의 곤란성을 판단할 때에는 </a:t>
            </a:r>
            <a:r>
              <a:rPr lang="ko-KR" altLang="en-US" sz="1200" dirty="0">
                <a:solidFill>
                  <a:srgbClr val="FF0000"/>
                </a:solidFill>
              </a:rPr>
              <a:t>선행발명에 </a:t>
            </a:r>
            <a:r>
              <a:rPr lang="ko-KR" altLang="en-US" sz="1200" dirty="0" err="1">
                <a:solidFill>
                  <a:srgbClr val="FF0000"/>
                </a:solidFill>
              </a:rPr>
              <a:t>마쿠쉬</a:t>
            </a:r>
            <a:r>
              <a:rPr lang="ko-KR" altLang="en-US" sz="1200" dirty="0">
                <a:solidFill>
                  <a:srgbClr val="FF0000"/>
                </a:solidFill>
              </a:rPr>
              <a:t> 형식 등으로 기재된 화학식과 그 치환기의 범위 내에 이론상 포함될 수 있는 화합물의 개수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통상의 기술자가 선행발명에 </a:t>
            </a:r>
            <a:r>
              <a:rPr lang="ko-KR" altLang="en-US" sz="1200" dirty="0" err="1">
                <a:solidFill>
                  <a:srgbClr val="FF0000"/>
                </a:solidFill>
              </a:rPr>
              <a:t>마쿠쉬</a:t>
            </a:r>
            <a:r>
              <a:rPr lang="ko-KR" altLang="en-US" sz="1200" dirty="0">
                <a:solidFill>
                  <a:srgbClr val="FF0000"/>
                </a:solidFill>
              </a:rPr>
              <a:t> 형식 등으로 기재된 화합물 중에서 특정한 화합물이나 특정 치환기를 우선적으로 또는 쉽게 선택할 사정이나 동기 또는 암시의 유무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선행발명에 구체적으로 기재된 화합물과 특허발명의 구조적 유사성 등을 종합적으로 고려</a:t>
            </a:r>
            <a:r>
              <a:rPr lang="ko-KR" altLang="en-US" sz="1200" dirty="0">
                <a:solidFill>
                  <a:schemeClr val="tx2"/>
                </a:solidFill>
              </a:rPr>
              <a:t>하여야 한다</a:t>
            </a:r>
            <a:r>
              <a:rPr lang="en-US" altLang="ko-KR" sz="1200" dirty="0">
                <a:solidFill>
                  <a:schemeClr val="tx2"/>
                </a:solidFill>
              </a:rPr>
              <a:t>.  </a:t>
            </a:r>
            <a:r>
              <a:rPr lang="ko-KR" altLang="en-US" sz="1200" dirty="0">
                <a:solidFill>
                  <a:srgbClr val="FF0000"/>
                </a:solidFill>
              </a:rPr>
              <a:t>다만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구성의 곤란성을 따져 보지 않고 효과의 </a:t>
            </a:r>
            <a:r>
              <a:rPr lang="ko-KR" altLang="en-US" sz="1200" dirty="0" err="1">
                <a:solidFill>
                  <a:srgbClr val="FF0000"/>
                </a:solidFill>
              </a:rPr>
              <a:t>현저성</a:t>
            </a:r>
            <a:r>
              <a:rPr lang="ko-KR" altLang="en-US" sz="1200" dirty="0">
                <a:solidFill>
                  <a:srgbClr val="FF0000"/>
                </a:solidFill>
              </a:rPr>
              <a:t> 유무만으로 진보성을 판단해서는 안 된다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대법원 </a:t>
            </a:r>
            <a:r>
              <a:rPr lang="en-US" altLang="ko-KR" sz="1200" dirty="0">
                <a:solidFill>
                  <a:schemeClr val="tx2"/>
                </a:solidFill>
              </a:rPr>
              <a:t>2021. 4. 8. </a:t>
            </a:r>
            <a:r>
              <a:rPr lang="ko-KR" altLang="en-US" sz="1200" dirty="0">
                <a:solidFill>
                  <a:schemeClr val="tx2"/>
                </a:solidFill>
              </a:rPr>
              <a:t>선고 </a:t>
            </a:r>
            <a:r>
              <a:rPr lang="en-US" altLang="ko-KR" sz="1200" dirty="0">
                <a:solidFill>
                  <a:schemeClr val="tx2"/>
                </a:solidFill>
              </a:rPr>
              <a:t>2019</a:t>
            </a:r>
            <a:r>
              <a:rPr lang="ko-KR" altLang="en-US" sz="1200" dirty="0">
                <a:solidFill>
                  <a:schemeClr val="tx2"/>
                </a:solidFill>
              </a:rPr>
              <a:t>후</a:t>
            </a:r>
            <a:r>
              <a:rPr lang="en-US" altLang="ko-KR" sz="1200" dirty="0">
                <a:solidFill>
                  <a:schemeClr val="tx2"/>
                </a:solidFill>
              </a:rPr>
              <a:t>10609).</a:t>
            </a:r>
          </a:p>
          <a:p>
            <a:endParaRPr lang="en-US" altLang="ko-KR" sz="1200" dirty="0">
              <a:latin typeface="+mn-ea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36927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1250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이용관계의 유형</a:t>
            </a:r>
            <a:r>
              <a:rPr lang="en-US" altLang="ko-KR" dirty="0"/>
              <a:t>: </a:t>
            </a:r>
            <a:r>
              <a:rPr lang="ko-KR" altLang="en-US" dirty="0" err="1"/>
              <a:t>그대로설</a:t>
            </a:r>
            <a:r>
              <a:rPr lang="en-US" altLang="ko-KR" dirty="0"/>
              <a:t>(</a:t>
            </a:r>
            <a:r>
              <a:rPr lang="ko-KR" altLang="en-US" dirty="0" err="1"/>
              <a:t>내적부가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358</a:t>
            </a:fld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51520" y="4871069"/>
            <a:ext cx="11578529" cy="1130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400" b="1" dirty="0"/>
              <a:t>선택침해 부정 사례</a:t>
            </a:r>
            <a:r>
              <a:rPr lang="en-US" altLang="ko-KR" sz="1400" dirty="0"/>
              <a:t>: </a:t>
            </a:r>
            <a:r>
              <a:rPr lang="ko-KR" altLang="en-US" sz="1400" dirty="0"/>
              <a:t>확인대상발명의 출발물질에 작용하는 </a:t>
            </a:r>
            <a:r>
              <a:rPr lang="ko-KR" altLang="en-US" sz="1400" dirty="0" err="1"/>
              <a:t>아실화제가</a:t>
            </a:r>
            <a:r>
              <a:rPr lang="ko-KR" altLang="en-US" sz="1400" dirty="0"/>
              <a:t> 특허발명의 청구범위에 기재된 </a:t>
            </a:r>
            <a:r>
              <a:rPr lang="ko-KR" altLang="en-US" sz="1400" dirty="0" err="1"/>
              <a:t>아실화제의</a:t>
            </a:r>
            <a:r>
              <a:rPr lang="ko-KR" altLang="en-US" sz="1400" dirty="0"/>
              <a:t> 반응성유도체의 하나라 하더라도 </a:t>
            </a:r>
            <a:r>
              <a:rPr lang="ko-KR" altLang="en-US" sz="1400" u="sng" dirty="0"/>
              <a:t>확인대상발명이 특허발명에 비하여 </a:t>
            </a:r>
            <a:r>
              <a:rPr lang="ko-KR" altLang="en-US" sz="1400" u="sng" dirty="0" err="1"/>
              <a:t>아실화수율</a:t>
            </a:r>
            <a:r>
              <a:rPr lang="ko-KR" altLang="en-US" sz="1400" u="sng" dirty="0"/>
              <a:t> 등에 있어서 현저히 향상된 작용효과가 있어 확인대상발명이 특허발명과는 다른 발명이다</a:t>
            </a:r>
            <a:r>
              <a:rPr lang="en-US" altLang="ko-KR" sz="1400" u="sng" dirty="0"/>
              <a:t>.</a:t>
            </a:r>
          </a:p>
          <a:p>
            <a:pPr fontAlgn="base"/>
            <a:endParaRPr lang="en-US" altLang="ko-KR" sz="1400" u="sng" dirty="0"/>
          </a:p>
          <a:p>
            <a:pPr fontAlgn="base"/>
            <a:r>
              <a:rPr lang="en-US" altLang="ko-KR" sz="1400" dirty="0"/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▶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특허요건판단과 침해판단은 별개의 문제로서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기술적 구성의 일체성이 상실되지 않았다면 침해로 보는 것이 타당하다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.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251520" y="4566268"/>
            <a:ext cx="3663255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** </a:t>
            </a:r>
            <a:r>
              <a:rPr lang="ko-KR" altLang="en-US" sz="1400" dirty="0">
                <a:solidFill>
                  <a:schemeClr val="bg1"/>
                </a:solidFill>
              </a:rPr>
              <a:t>대법원 </a:t>
            </a:r>
            <a:r>
              <a:rPr lang="en-US" altLang="ko-KR" sz="1400" dirty="0">
                <a:solidFill>
                  <a:schemeClr val="bg1"/>
                </a:solidFill>
              </a:rPr>
              <a:t>1991. 11. 12. </a:t>
            </a:r>
            <a:r>
              <a:rPr lang="ko-KR" altLang="en-US" sz="1400" dirty="0">
                <a:solidFill>
                  <a:schemeClr val="bg1"/>
                </a:solidFill>
              </a:rPr>
              <a:t>선고 </a:t>
            </a:r>
            <a:r>
              <a:rPr lang="en-US" altLang="ko-KR" sz="1400" dirty="0">
                <a:solidFill>
                  <a:schemeClr val="bg1"/>
                </a:solidFill>
              </a:rPr>
              <a:t>90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960 </a:t>
            </a:r>
            <a:r>
              <a:rPr lang="ko-KR" altLang="en-US" sz="1400" dirty="0">
                <a:solidFill>
                  <a:schemeClr val="bg1"/>
                </a:solidFill>
              </a:rPr>
              <a:t>판결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A9A15-93AE-4A4C-9A6D-B8192B6E627D}"/>
              </a:ext>
            </a:extLst>
          </p:cNvPr>
          <p:cNvSpPr txBox="1"/>
          <p:nvPr/>
        </p:nvSpPr>
        <p:spPr>
          <a:xfrm>
            <a:off x="251520" y="1049339"/>
            <a:ext cx="11578529" cy="289559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just" fontAlgn="base"/>
            <a:r>
              <a:rPr lang="en-US" altLang="ko-KR" sz="1200" dirty="0">
                <a:latin typeface="+mn-ea"/>
              </a:rPr>
              <a:t>* </a:t>
            </a:r>
            <a:r>
              <a:rPr lang="ko-KR" altLang="en-US" sz="1200" dirty="0">
                <a:solidFill>
                  <a:schemeClr val="tx2"/>
                </a:solidFill>
              </a:rPr>
              <a:t>선택발명의 진보성을 판단할 때에는 그 발명이 갖는 특유한 효과도 함께 고려하여야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선행발명에 이론적으로 포함되는 수많은 화합물 중 특정한 화합물을 선택할 동기나 암시 등이 선행발명에 개시되어 있지 않은 경우에도 그것이 아무런 기술적 의의가 없는 임의의 선택에 불과한 경우라면 그와 같은 선택에 어려움이 있다고 볼 수 없는데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발명의 효과는 선택의 동기가 없어 구성이 곤란한 경우인지 임의의 선택에 불과한 경우인지를 구별할 수 있는 중요한 표지가 될 수 있기 때문이다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또한 화학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의약 등의 기술분야에 속하는 발명은 구성만으로 효과의 예측이 쉽지 않으므로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</a:rPr>
              <a:t>선행발명으로부터</a:t>
            </a:r>
            <a:r>
              <a:rPr lang="ko-KR" altLang="en-US" sz="1200" dirty="0">
                <a:solidFill>
                  <a:schemeClr val="tx2"/>
                </a:solidFill>
              </a:rPr>
              <a:t> 특허발명의 구성요소들이 쉽게 도출되는지를 판단할 때 발명의 효과를 참작할 필요가 있고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발명의 효과가 선행발명에 비하여 현저하다면 구성의 곤란성을 추론하는 유력한 자료가 될 것이다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나아가 구성의 곤란성 여부의 판단이 불분명한 경우라고 하더라도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특허발명이 선행발명에 비하여 이질적이거나 양적으로 현저한 효과를 가지고 있다면 진보성이 부정되지 않는다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효과의 현저성은 특허발명의 명세서에 기재되어 통상의 기술자가 인식하거나 추론할 수 있는 효과를 중심으로 판단하여야 하고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만일 그 효과가 의심스러울 때에는 그 기재내용의 범위를 넘지 않는 한도에서 출원일 이후에 추가적인 실험 자료를 제출하는 등의 방법으로 그 효과를 구체적으로 주장</a:t>
            </a:r>
            <a:r>
              <a:rPr lang="en-US" altLang="ko-KR" sz="1200" dirty="0">
                <a:solidFill>
                  <a:srgbClr val="FF0000"/>
                </a:solidFill>
              </a:rPr>
              <a:t>·</a:t>
            </a:r>
            <a:r>
              <a:rPr lang="ko-KR" altLang="en-US" sz="1200" dirty="0">
                <a:solidFill>
                  <a:srgbClr val="FF0000"/>
                </a:solidFill>
              </a:rPr>
              <a:t>증명하는 것이 허용된다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대법원 </a:t>
            </a:r>
            <a:r>
              <a:rPr lang="en-US" altLang="ko-KR" sz="1200" dirty="0">
                <a:solidFill>
                  <a:srgbClr val="FF0000"/>
                </a:solidFill>
              </a:rPr>
              <a:t>2021. 4. 8. </a:t>
            </a:r>
            <a:r>
              <a:rPr lang="ko-KR" altLang="en-US" sz="1200" dirty="0">
                <a:solidFill>
                  <a:srgbClr val="FF0000"/>
                </a:solidFill>
              </a:rPr>
              <a:t>선고 </a:t>
            </a:r>
            <a:r>
              <a:rPr lang="en-US" altLang="ko-KR" sz="1200" dirty="0">
                <a:solidFill>
                  <a:srgbClr val="FF0000"/>
                </a:solidFill>
              </a:rPr>
              <a:t>2019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10609).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ko-KR" altLang="en-US" sz="1200" dirty="0">
                <a:solidFill>
                  <a:schemeClr val="tx2"/>
                </a:solidFill>
              </a:rPr>
              <a:t>  하나의 청구항에 여러 개의 하위개념을 포함하는 선택발명이 있는 경우 효과의 현저성이 인정되기 위해서는 선택발명에 포함되는 </a:t>
            </a:r>
            <a:r>
              <a:rPr lang="ko-KR" altLang="en-US" sz="1200" dirty="0">
                <a:solidFill>
                  <a:srgbClr val="FF0000"/>
                </a:solidFill>
              </a:rPr>
              <a:t>하위개념들 모두</a:t>
            </a:r>
            <a:r>
              <a:rPr lang="ko-KR" altLang="en-US" sz="1200" dirty="0">
                <a:solidFill>
                  <a:schemeClr val="tx2"/>
                </a:solidFill>
              </a:rPr>
              <a:t>가 선행발명이 갖는 효과와 질적으로 다른 효과를 갖고 있거나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질적인 차이가 없더라도 양적으로 현저한 차이가 있어야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선택발명에 여러 효과가 있는 경우에 선행발명과 비교하여 이질적이거나 양적으로 현저한 효과를 갖는다고 하기 위해서는 선택발명의 모든 종류의 효과가 아니라 </a:t>
            </a:r>
            <a:r>
              <a:rPr lang="ko-KR" altLang="en-US" sz="1200" dirty="0">
                <a:solidFill>
                  <a:srgbClr val="FF0000"/>
                </a:solidFill>
              </a:rPr>
              <a:t>그 중 일부라도 선행발명과 비교하여 그러한 효과를 갖는다고 인정</a:t>
            </a:r>
            <a:r>
              <a:rPr lang="ko-KR" altLang="en-US" sz="1200" dirty="0">
                <a:solidFill>
                  <a:schemeClr val="tx2"/>
                </a:solidFill>
              </a:rPr>
              <a:t>되면 충분하다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대법원 </a:t>
            </a:r>
            <a:r>
              <a:rPr lang="en-US" altLang="ko-KR" sz="1200" dirty="0">
                <a:solidFill>
                  <a:schemeClr val="tx2"/>
                </a:solidFill>
              </a:rPr>
              <a:t>2012. 8. 23. </a:t>
            </a:r>
            <a:r>
              <a:rPr lang="ko-KR" altLang="en-US" sz="1200" dirty="0">
                <a:solidFill>
                  <a:schemeClr val="tx2"/>
                </a:solidFill>
              </a:rPr>
              <a:t>선고 </a:t>
            </a:r>
            <a:r>
              <a:rPr lang="en-US" altLang="ko-KR" sz="1200" dirty="0">
                <a:solidFill>
                  <a:schemeClr val="tx2"/>
                </a:solidFill>
              </a:rPr>
              <a:t>2010</a:t>
            </a:r>
            <a:r>
              <a:rPr lang="ko-KR" altLang="en-US" sz="1200" dirty="0">
                <a:solidFill>
                  <a:schemeClr val="tx2"/>
                </a:solidFill>
              </a:rPr>
              <a:t>후</a:t>
            </a:r>
            <a:r>
              <a:rPr lang="en-US" altLang="ko-KR" sz="1200" dirty="0">
                <a:solidFill>
                  <a:schemeClr val="tx2"/>
                </a:solidFill>
              </a:rPr>
              <a:t>3424).</a:t>
            </a:r>
          </a:p>
          <a:p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ko-KR" altLang="en-US" sz="1200" dirty="0">
                <a:solidFill>
                  <a:schemeClr val="tx2"/>
                </a:solidFill>
              </a:rPr>
              <a:t>  선택발명에 포함되는 </a:t>
            </a:r>
            <a:r>
              <a:rPr lang="ko-KR" altLang="en-US" sz="1200" dirty="0">
                <a:solidFill>
                  <a:srgbClr val="FF0000"/>
                </a:solidFill>
              </a:rPr>
              <a:t>하위개념의 실시형태 중 가장 열등한 것의 효과가 선행발명에 개시된 실시형태 중 가장 우수한 것의 효과와 비교</a:t>
            </a:r>
            <a:r>
              <a:rPr lang="ko-KR" altLang="en-US" sz="1200" dirty="0">
                <a:solidFill>
                  <a:schemeClr val="tx2"/>
                </a:solidFill>
              </a:rPr>
              <a:t>하여 현저하다는 관계가 인정되지 않는다면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선택발명에 포함되는 하위개념의 실시형태 중 일부의 효과가 선행발명에 개시된 실시형태 중 일부의 효과보다 뛰어나 보인다고 하여 선택발명의 진보성이 부정되지 아니한다고 볼 수는 없다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대법원 </a:t>
            </a:r>
            <a:r>
              <a:rPr lang="en-US" altLang="ko-KR" sz="1200" dirty="0">
                <a:solidFill>
                  <a:schemeClr val="tx2"/>
                </a:solidFill>
              </a:rPr>
              <a:t>2016. 1. 28. </a:t>
            </a:r>
            <a:r>
              <a:rPr lang="ko-KR" altLang="en-US" sz="1200" dirty="0">
                <a:solidFill>
                  <a:schemeClr val="tx2"/>
                </a:solidFill>
              </a:rPr>
              <a:t>선고 </a:t>
            </a:r>
            <a:r>
              <a:rPr lang="en-US" altLang="ko-KR" sz="1200" dirty="0">
                <a:solidFill>
                  <a:schemeClr val="tx2"/>
                </a:solidFill>
              </a:rPr>
              <a:t>2013</a:t>
            </a:r>
            <a:r>
              <a:rPr lang="ko-KR" altLang="en-US" sz="1200" dirty="0">
                <a:solidFill>
                  <a:schemeClr val="tx2"/>
                </a:solidFill>
              </a:rPr>
              <a:t>후</a:t>
            </a:r>
            <a:r>
              <a:rPr lang="en-US" altLang="ko-KR" sz="1200" dirty="0">
                <a:solidFill>
                  <a:schemeClr val="tx2"/>
                </a:solidFill>
              </a:rPr>
              <a:t>1887).</a:t>
            </a:r>
            <a:endParaRPr lang="ko-KR" altLang="en-US" sz="1200" dirty="0">
              <a:solidFill>
                <a:schemeClr val="tx2"/>
              </a:solidFill>
            </a:endParaRPr>
          </a:p>
          <a:p>
            <a:endParaRPr lang="ko-KR" altLang="en-US" sz="1200" dirty="0">
              <a:solidFill>
                <a:schemeClr val="tx2"/>
              </a:solidFill>
            </a:endParaRPr>
          </a:p>
          <a:p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71292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이용관계의 유형</a:t>
            </a:r>
            <a:r>
              <a:rPr lang="en-US" altLang="ko-KR" dirty="0">
                <a:solidFill>
                  <a:srgbClr val="525252"/>
                </a:solidFill>
              </a:rPr>
              <a:t>: </a:t>
            </a:r>
            <a:r>
              <a:rPr lang="ko-KR" altLang="en-US" dirty="0">
                <a:solidFill>
                  <a:srgbClr val="525252"/>
                </a:solidFill>
              </a:rPr>
              <a:t>실시불가피설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359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28638" y="1138535"/>
            <a:ext cx="11506804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甲이 물건발명</a:t>
            </a:r>
            <a:r>
              <a:rPr lang="en-US" altLang="ko-KR" sz="1600" dirty="0"/>
              <a:t>(</a:t>
            </a:r>
            <a:r>
              <a:rPr lang="ko-KR" altLang="en-US" sz="1600" dirty="0"/>
              <a:t>物</a:t>
            </a:r>
            <a:r>
              <a:rPr lang="en-US" altLang="ko-KR" sz="1600" dirty="0"/>
              <a:t>)</a:t>
            </a:r>
            <a:r>
              <a:rPr lang="ko-KR" altLang="en-US" sz="1600" dirty="0"/>
              <a:t>을 출원 후 </a:t>
            </a:r>
            <a:r>
              <a:rPr lang="ko-KR" altLang="en-US" sz="1600" dirty="0" err="1"/>
              <a:t>실시중이고</a:t>
            </a:r>
            <a:r>
              <a:rPr lang="en-US" altLang="ko-KR" sz="1600" dirty="0"/>
              <a:t>, </a:t>
            </a:r>
            <a:r>
              <a:rPr lang="ko-KR" altLang="en-US" sz="1600" dirty="0"/>
              <a:t>乙이 물건을 제조하는 방법</a:t>
            </a:r>
            <a:r>
              <a:rPr lang="en-US" altLang="ko-KR" sz="1600" dirty="0"/>
              <a:t>(</a:t>
            </a:r>
            <a:r>
              <a:rPr lang="ko-KR" altLang="en-US" sz="1600" dirty="0"/>
              <a:t>方</a:t>
            </a:r>
            <a:r>
              <a:rPr lang="en-US" altLang="ko-KR" sz="1600" dirty="0"/>
              <a:t>1)</a:t>
            </a:r>
            <a:r>
              <a:rPr lang="ko-KR" altLang="en-US" sz="1600" dirty="0"/>
              <a:t>을 출원 후 실시중인 경우 </a:t>
            </a:r>
            <a:r>
              <a:rPr lang="ko-KR" altLang="en-US" sz="1600" dirty="0" err="1"/>
              <a:t>후출원의</a:t>
            </a:r>
            <a:r>
              <a:rPr lang="ko-KR" altLang="en-US" sz="1600" dirty="0"/>
              <a:t> 등록가능성 및 실시가 침해인지 여부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789312"/>
              </p:ext>
            </p:extLst>
          </p:nvPr>
        </p:nvGraphicFramePr>
        <p:xfrm>
          <a:off x="328639" y="1883694"/>
          <a:ext cx="11506804" cy="374558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0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4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4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7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선출원여부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등록가능성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실시가 </a:t>
                      </a:r>
                      <a:r>
                        <a:rPr lang="ko-KR" altLang="en-US" sz="1200" kern="1200" dirty="0" err="1"/>
                        <a:t>선출원의</a:t>
                      </a:r>
                      <a:r>
                        <a:rPr lang="ko-KR" altLang="en-US" sz="1200" kern="1200" dirty="0"/>
                        <a:t> 침해인지 여부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76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&gt;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25730" marR="31750" indent="-12573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物의 </a:t>
                      </a:r>
                      <a:r>
                        <a:rPr lang="ko-KR" altLang="en-US" sz="1200" kern="1200" dirty="0" err="1"/>
                        <a:t>최ㆍ명ㆍ도에</a:t>
                      </a:r>
                      <a:r>
                        <a:rPr lang="ko-KR" altLang="en-US" sz="1200" kern="1200" dirty="0"/>
                        <a:t> 기재된 方이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인 경우</a:t>
                      </a:r>
                    </a:p>
                    <a:p>
                      <a:pPr marL="182880" marR="31750" indent="-18288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① 物의 공개 전 출원 → 法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③ 위반</a:t>
                      </a:r>
                    </a:p>
                    <a:p>
                      <a:pPr marL="182880" marR="31750" indent="-18288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② 物의 공개 후 출원 →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① 위반 </a:t>
                      </a:r>
                    </a:p>
                    <a:p>
                      <a:pPr marL="125730" marR="31750" indent="-12573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物의 </a:t>
                      </a:r>
                      <a:r>
                        <a:rPr lang="ko-KR" altLang="en-US" sz="1200" kern="1200" dirty="0" err="1"/>
                        <a:t>최ㆍ명ㆍ도에</a:t>
                      </a:r>
                      <a:r>
                        <a:rPr lang="ko-KR" altLang="en-US" sz="1200" kern="1200" dirty="0"/>
                        <a:t> 기재된 方이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이 아닌 경우</a:t>
                      </a:r>
                    </a:p>
                    <a:p>
                      <a:pPr marL="182880" marR="31750" indent="-18288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① 物의 공개 전 출원 → 등록가능</a:t>
                      </a:r>
                    </a:p>
                    <a:p>
                      <a:pPr marL="187960" marR="31750" indent="-18796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② 物의 공개 후 출원 → 物의 </a:t>
                      </a:r>
                      <a:r>
                        <a:rPr lang="ko-KR" altLang="en-US" sz="1200" kern="1200" dirty="0" err="1"/>
                        <a:t>최ㆍ명ㆍ도에</a:t>
                      </a:r>
                      <a:r>
                        <a:rPr lang="ko-KR" altLang="en-US" sz="1200" kern="1200" dirty="0"/>
                        <a:t> 기재된 方으로부터 쉽게 발명할 수 있는 경우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② 위반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30810" marR="31750" indent="-13081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실시는 物의 침해 ○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∵ 法 제</a:t>
                      </a:r>
                      <a:r>
                        <a:rPr lang="en-US" altLang="ko-KR" sz="1200" kern="1200" dirty="0"/>
                        <a:t>2</a:t>
                      </a:r>
                      <a:r>
                        <a:rPr lang="ko-KR" altLang="en-US" sz="1200" kern="1200" dirty="0"/>
                        <a:t>조제</a:t>
                      </a:r>
                      <a:r>
                        <a:rPr lang="en-US" altLang="ko-KR" sz="1200" kern="1200" dirty="0"/>
                        <a:t>3</a:t>
                      </a:r>
                      <a:r>
                        <a:rPr lang="ko-KR" altLang="en-US" sz="1200" kern="1200" dirty="0"/>
                        <a:t>호가목의 실시의 유형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물건생산을 청약하는 행위는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marL="114300" marR="31750" indent="-11430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정당한 </a:t>
                      </a:r>
                      <a:r>
                        <a:rPr lang="ko-KR" altLang="en-US" sz="1200" kern="1200" dirty="0" err="1"/>
                        <a:t>권원획득</a:t>
                      </a:r>
                      <a:r>
                        <a:rPr lang="ko-KR" altLang="en-US" sz="1200" kern="1200" dirty="0"/>
                        <a:t> 후 실시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① 허락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② </a:t>
                      </a:r>
                      <a:r>
                        <a:rPr lang="ko-KR" altLang="en-US" sz="1200" kern="1200" dirty="0" err="1"/>
                        <a:t>통상실시권허락심판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乙이 등록된 경우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30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&lt;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공개 전 출원 →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③④</a:t>
                      </a:r>
                      <a:r>
                        <a:rPr lang="en-US" altLang="ko-KR" sz="1200" kern="1200" dirty="0"/>
                        <a:t>, 36</a:t>
                      </a:r>
                      <a:r>
                        <a:rPr lang="ko-KR" altLang="en-US" sz="1200" kern="1200" dirty="0"/>
                        <a:t> 위반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공개 후 출원→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①</a:t>
                      </a:r>
                      <a:r>
                        <a:rPr lang="en-US" altLang="ko-KR" sz="1200" kern="1200" dirty="0"/>
                        <a:t>, 36</a:t>
                      </a:r>
                      <a:r>
                        <a:rPr lang="ko-KR" altLang="en-US" sz="1200" kern="1200" dirty="0"/>
                        <a:t> 위반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18110" marR="31750" indent="-11811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物의 실시가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실시에 의한 경우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침해 ○</a:t>
                      </a:r>
                    </a:p>
                    <a:p>
                      <a:pPr marL="114300" marR="31750" indent="-11430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物의 실시가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실시가 아닌 경우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①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침해 </a:t>
                      </a:r>
                      <a:r>
                        <a:rPr lang="en-US" altLang="ko-KR" sz="1200" kern="1200" dirty="0"/>
                        <a:t>× </a:t>
                      </a:r>
                      <a:endParaRPr lang="ko-KR" altLang="en-US" sz="1200" kern="1200" dirty="0"/>
                    </a:p>
                    <a:p>
                      <a:pPr marL="185420" marR="31750" indent="-18542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 ② 단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</a:t>
                      </a:r>
                      <a:r>
                        <a:rPr lang="ko-KR" altLang="en-US" sz="1200" kern="1200" dirty="0" err="1"/>
                        <a:t>출원전</a:t>
                      </a:r>
                      <a:r>
                        <a:rPr lang="ko-KR" altLang="en-US" sz="1200" kern="1200" dirty="0"/>
                        <a:t> 物이 공지되지 않았다면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실시에 의하여 物을 생산한 것으로 추정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129)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0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=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실질적 동일성이 없는 경우 양자 모두 등록가능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양자 모두 등록된 경우 자유롭게 실시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∵ 法 제</a:t>
                      </a:r>
                      <a:r>
                        <a:rPr lang="en-US" altLang="ko-KR" sz="1200" kern="1200" dirty="0"/>
                        <a:t>98</a:t>
                      </a:r>
                      <a:r>
                        <a:rPr lang="ko-KR" altLang="en-US" sz="1200" kern="1200" dirty="0"/>
                        <a:t>조의 “특허출원일 전”의 해석결과 </a:t>
                      </a:r>
                      <a:r>
                        <a:rPr lang="ko-KR" altLang="en-US" sz="1200" kern="1200" dirty="0" err="1"/>
                        <a:t>동일자</a:t>
                      </a:r>
                      <a:r>
                        <a:rPr lang="ko-KR" altLang="en-US" sz="1200" kern="1200" dirty="0"/>
                        <a:t> 출원의 부적용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3872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타원 143"/>
          <p:cNvSpPr/>
          <p:nvPr/>
        </p:nvSpPr>
        <p:spPr>
          <a:xfrm>
            <a:off x="6722624" y="4326142"/>
            <a:ext cx="1906035" cy="190603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물건발명 </a:t>
            </a:r>
            <a:r>
              <a:rPr lang="en-US" altLang="ko-KR" dirty="0">
                <a:solidFill>
                  <a:srgbClr val="525252"/>
                </a:solidFill>
              </a:rPr>
              <a:t>vs </a:t>
            </a:r>
            <a:r>
              <a:rPr lang="ko-KR" altLang="en-US" dirty="0">
                <a:solidFill>
                  <a:srgbClr val="525252"/>
                </a:solidFill>
              </a:rPr>
              <a:t>제법발명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89410" y="2057939"/>
            <a:ext cx="5689598" cy="6463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200" dirty="0"/>
              <a:t>물건발명이 </a:t>
            </a:r>
            <a:r>
              <a:rPr lang="ko-KR" altLang="en-US" sz="1200" dirty="0" err="1"/>
              <a:t>신규성</a:t>
            </a:r>
            <a:r>
              <a:rPr lang="ko-KR" altLang="en-US" sz="1200" dirty="0"/>
              <a:t> 또는 진보성이 있는 경우 </a:t>
            </a:r>
            <a:r>
              <a:rPr lang="ko-KR" altLang="en-US" sz="1200" dirty="0" err="1"/>
              <a:t>제법발명</a:t>
            </a:r>
            <a:r>
              <a:rPr lang="ko-KR" altLang="en-US" sz="1200" dirty="0"/>
              <a:t> 또는 용도발명은 당연히 </a:t>
            </a:r>
            <a:r>
              <a:rPr lang="ko-KR" altLang="en-US" sz="1200" dirty="0" err="1"/>
              <a:t>신규성</a:t>
            </a:r>
            <a:r>
              <a:rPr lang="ko-KR" altLang="en-US" sz="1200" dirty="0"/>
              <a:t> 또는 진보성이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반면 물건발명이 </a:t>
            </a:r>
            <a:r>
              <a:rPr lang="ko-KR" altLang="en-US" sz="1200" dirty="0" err="1"/>
              <a:t>신규성</a:t>
            </a:r>
            <a:r>
              <a:rPr lang="ko-KR" altLang="en-US" sz="1200" dirty="0"/>
              <a:t> 또는 진보성이 없는 경우 </a:t>
            </a:r>
            <a:r>
              <a:rPr lang="ko-KR" altLang="en-US" sz="1200" dirty="0" err="1"/>
              <a:t>제법발명</a:t>
            </a:r>
            <a:r>
              <a:rPr lang="ko-KR" altLang="en-US" sz="1200" dirty="0"/>
              <a:t> 또는 용도발명은 개별적으로 </a:t>
            </a:r>
            <a:r>
              <a:rPr lang="ko-KR" altLang="en-US" sz="1200" dirty="0" err="1"/>
              <a:t>신규성</a:t>
            </a:r>
            <a:r>
              <a:rPr lang="ko-KR" altLang="en-US" sz="1200" dirty="0"/>
              <a:t> 또는 진보성 여부를 판단하여야 한다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grpSp>
        <p:nvGrpSpPr>
          <p:cNvPr id="7" name="그룹 6"/>
          <p:cNvGrpSpPr/>
          <p:nvPr/>
        </p:nvGrpSpPr>
        <p:grpSpPr>
          <a:xfrm>
            <a:off x="334472" y="2884609"/>
            <a:ext cx="5644536" cy="1736371"/>
            <a:chOff x="334472" y="2867025"/>
            <a:chExt cx="5753100" cy="1736371"/>
          </a:xfrm>
        </p:grpSpPr>
        <p:sp>
          <p:nvSpPr>
            <p:cNvPr id="96" name="직사각형 95"/>
            <p:cNvSpPr/>
            <p:nvPr/>
          </p:nvSpPr>
          <p:spPr>
            <a:xfrm>
              <a:off x="1113141" y="2867025"/>
              <a:ext cx="1266828" cy="1357752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/>
            <p:cNvSpPr/>
            <p:nvPr/>
          </p:nvSpPr>
          <p:spPr>
            <a:xfrm>
              <a:off x="2722867" y="3095625"/>
              <a:ext cx="800100" cy="80010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신규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화합물</a:t>
              </a:r>
            </a:p>
          </p:txBody>
        </p:sp>
        <p:sp>
          <p:nvSpPr>
            <p:cNvPr id="76" name="타원 75"/>
            <p:cNvSpPr/>
            <p:nvPr/>
          </p:nvSpPr>
          <p:spPr>
            <a:xfrm>
              <a:off x="334472" y="2943225"/>
              <a:ext cx="400050" cy="40005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甲</a:t>
              </a:r>
            </a:p>
          </p:txBody>
        </p:sp>
        <p:sp>
          <p:nvSpPr>
            <p:cNvPr id="77" name="타원 76"/>
            <p:cNvSpPr/>
            <p:nvPr/>
          </p:nvSpPr>
          <p:spPr>
            <a:xfrm>
              <a:off x="334472" y="3657600"/>
              <a:ext cx="400050" cy="40005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乙</a:t>
              </a:r>
            </a:p>
          </p:txBody>
        </p:sp>
        <p:sp>
          <p:nvSpPr>
            <p:cNvPr id="78" name="타원 77"/>
            <p:cNvSpPr/>
            <p:nvPr/>
          </p:nvSpPr>
          <p:spPr>
            <a:xfrm>
              <a:off x="5687522" y="2943225"/>
              <a:ext cx="400050" cy="40005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丙</a:t>
              </a:r>
            </a:p>
          </p:txBody>
        </p:sp>
        <p:sp>
          <p:nvSpPr>
            <p:cNvPr id="79" name="타원 78"/>
            <p:cNvSpPr/>
            <p:nvPr/>
          </p:nvSpPr>
          <p:spPr>
            <a:xfrm>
              <a:off x="5687522" y="3657600"/>
              <a:ext cx="400050" cy="40005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丁</a:t>
              </a:r>
            </a:p>
          </p:txBody>
        </p:sp>
        <p:cxnSp>
          <p:nvCxnSpPr>
            <p:cNvPr id="80" name="직선 화살표 연결선 79"/>
            <p:cNvCxnSpPr/>
            <p:nvPr/>
          </p:nvCxnSpPr>
          <p:spPr>
            <a:xfrm>
              <a:off x="827392" y="3143250"/>
              <a:ext cx="1828800" cy="20002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/>
            <p:cNvCxnSpPr/>
            <p:nvPr/>
          </p:nvCxnSpPr>
          <p:spPr>
            <a:xfrm flipV="1">
              <a:off x="827392" y="3669726"/>
              <a:ext cx="1828800" cy="174051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/>
            <p:cNvCxnSpPr/>
            <p:nvPr/>
          </p:nvCxnSpPr>
          <p:spPr>
            <a:xfrm flipV="1">
              <a:off x="3646792" y="3143250"/>
              <a:ext cx="1933575" cy="20002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89"/>
            <p:cNvCxnSpPr/>
            <p:nvPr/>
          </p:nvCxnSpPr>
          <p:spPr>
            <a:xfrm>
              <a:off x="3646792" y="3595688"/>
              <a:ext cx="1933575" cy="248089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5"/>
            <p:cNvSpPr>
              <a:spLocks noChangeArrowheads="1"/>
            </p:cNvSpPr>
            <p:nvPr/>
          </p:nvSpPr>
          <p:spPr bwMode="auto">
            <a:xfrm>
              <a:off x="1470329" y="2969199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000" b="0">
                  <a:solidFill>
                    <a:schemeClr val="tx1"/>
                  </a:solidFill>
                  <a:latin typeface="+mj-ea"/>
                  <a:ea typeface="+mj-ea"/>
                </a:rPr>
                <a:t>A </a:t>
              </a:r>
              <a:r>
                <a:rPr lang="ko-KR" altLang="en-US" sz="1000" b="0" dirty="0">
                  <a:solidFill>
                    <a:schemeClr val="tx1"/>
                  </a:solidFill>
                  <a:latin typeface="+mj-ea"/>
                  <a:ea typeface="+mj-ea"/>
                </a:rPr>
                <a:t>방법</a:t>
              </a:r>
            </a:p>
          </p:txBody>
        </p:sp>
        <p:sp>
          <p:nvSpPr>
            <p:cNvPr id="93" name="Rectangle 5"/>
            <p:cNvSpPr>
              <a:spLocks noChangeArrowheads="1"/>
            </p:cNvSpPr>
            <p:nvPr/>
          </p:nvSpPr>
          <p:spPr bwMode="auto">
            <a:xfrm>
              <a:off x="1470329" y="3503680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000" b="0" dirty="0">
                  <a:solidFill>
                    <a:schemeClr val="tx1"/>
                  </a:solidFill>
                  <a:latin typeface="+mj-ea"/>
                  <a:ea typeface="+mj-ea"/>
                </a:rPr>
                <a:t>B </a:t>
              </a:r>
              <a:r>
                <a:rPr lang="ko-KR" altLang="en-US" sz="1000" b="0" dirty="0">
                  <a:solidFill>
                    <a:schemeClr val="tx1"/>
                  </a:solidFill>
                  <a:latin typeface="+mj-ea"/>
                  <a:ea typeface="+mj-ea"/>
                </a:rPr>
                <a:t>방법</a:t>
              </a:r>
            </a:p>
          </p:txBody>
        </p:sp>
        <p:sp>
          <p:nvSpPr>
            <p:cNvPr id="94" name="Rectangle 5"/>
            <p:cNvSpPr>
              <a:spLocks noChangeArrowheads="1"/>
            </p:cNvSpPr>
            <p:nvPr/>
          </p:nvSpPr>
          <p:spPr bwMode="auto">
            <a:xfrm>
              <a:off x="4342116" y="2969199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000" dirty="0">
                  <a:latin typeface="+mj-ea"/>
                  <a:ea typeface="+mj-ea"/>
                </a:rPr>
                <a:t>농약</a:t>
              </a:r>
              <a:endParaRPr lang="ko-KR" altLang="en-US" sz="1000" b="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95" name="Rectangle 5"/>
            <p:cNvSpPr>
              <a:spLocks noChangeArrowheads="1"/>
            </p:cNvSpPr>
            <p:nvPr/>
          </p:nvSpPr>
          <p:spPr bwMode="auto">
            <a:xfrm>
              <a:off x="4342116" y="3503680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000" b="0" dirty="0">
                  <a:solidFill>
                    <a:schemeClr val="tx1"/>
                  </a:solidFill>
                  <a:latin typeface="+mj-ea"/>
                  <a:ea typeface="+mj-ea"/>
                </a:rPr>
                <a:t>의약</a:t>
              </a: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2489503" y="2867025"/>
              <a:ext cx="1266828" cy="1357752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3980164" y="2867025"/>
              <a:ext cx="1266828" cy="1357752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Rectangle 5"/>
            <p:cNvSpPr>
              <a:spLocks noChangeArrowheads="1"/>
            </p:cNvSpPr>
            <p:nvPr/>
          </p:nvSpPr>
          <p:spPr bwMode="auto">
            <a:xfrm>
              <a:off x="1484617" y="4255294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400" dirty="0" err="1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제법발명</a:t>
              </a:r>
              <a:r>
                <a:rPr lang="en-US" altLang="ko-KR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多</a:t>
              </a:r>
              <a:r>
                <a:rPr lang="en-US" altLang="ko-KR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01" name="Rectangle 5"/>
            <p:cNvSpPr>
              <a:spLocks noChangeArrowheads="1"/>
            </p:cNvSpPr>
            <p:nvPr/>
          </p:nvSpPr>
          <p:spPr bwMode="auto">
            <a:xfrm>
              <a:off x="2860979" y="4255294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물건발명</a:t>
              </a:r>
              <a:r>
                <a:rPr lang="en-US" altLang="ko-KR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(1)</a:t>
              </a:r>
              <a:endPara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02" name="Rectangle 5"/>
            <p:cNvSpPr>
              <a:spLocks noChangeArrowheads="1"/>
            </p:cNvSpPr>
            <p:nvPr/>
          </p:nvSpPr>
          <p:spPr bwMode="auto">
            <a:xfrm>
              <a:off x="4351641" y="4255294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용도발명</a:t>
              </a:r>
              <a:r>
                <a:rPr lang="en-US" altLang="ko-KR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多</a:t>
              </a:r>
              <a:r>
                <a:rPr lang="en-US" altLang="ko-KR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289410" y="1508354"/>
            <a:ext cx="392447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물건발명</a:t>
            </a:r>
            <a:r>
              <a:rPr lang="en-US" altLang="ko-KR" sz="2000" dirty="0"/>
              <a:t>(</a:t>
            </a:r>
            <a:r>
              <a:rPr lang="ko-KR" altLang="en-US" sz="2000" dirty="0"/>
              <a:t>物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제법발명</a:t>
            </a:r>
            <a:r>
              <a:rPr lang="en-US" altLang="ko-KR" sz="2000" dirty="0"/>
              <a:t>(</a:t>
            </a:r>
            <a:r>
              <a:rPr lang="ko-KR" altLang="en-US" sz="2000" dirty="0"/>
              <a:t>方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r>
              <a:rPr lang="en-US" altLang="ko-KR" sz="2000" dirty="0"/>
              <a:t>= 1 : </a:t>
            </a:r>
            <a:r>
              <a:rPr lang="ko-KR" altLang="en-US" sz="2000" dirty="0"/>
              <a:t>多</a:t>
            </a:r>
          </a:p>
        </p:txBody>
      </p:sp>
      <p:cxnSp>
        <p:nvCxnSpPr>
          <p:cNvPr id="64" name="직선 연결선 63"/>
          <p:cNvCxnSpPr/>
          <p:nvPr/>
        </p:nvCxnSpPr>
        <p:spPr>
          <a:xfrm flipH="1">
            <a:off x="289411" y="4714875"/>
            <a:ext cx="5689597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 flipH="1">
            <a:off x="6070840" y="958362"/>
            <a:ext cx="1" cy="576775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265980" y="954549"/>
            <a:ext cx="3974165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실시 </a:t>
            </a:r>
            <a:r>
              <a:rPr lang="en-US" altLang="ko-KR" sz="2000" dirty="0"/>
              <a:t>: </a:t>
            </a:r>
            <a:r>
              <a:rPr lang="ko-KR" altLang="en-US" sz="2000" dirty="0"/>
              <a:t>물건발명</a:t>
            </a:r>
            <a:r>
              <a:rPr lang="en-US" altLang="ko-KR" sz="2000" dirty="0"/>
              <a:t>(</a:t>
            </a:r>
            <a:r>
              <a:rPr lang="ko-KR" altLang="en-US" sz="2000" dirty="0"/>
              <a:t>物</a:t>
            </a:r>
            <a:r>
              <a:rPr lang="en-US" altLang="ko-KR" sz="2000" dirty="0"/>
              <a:t>) </a:t>
            </a:r>
            <a:r>
              <a:rPr lang="ko-KR" altLang="en-US" sz="2000" dirty="0"/>
              <a:t>⊃</a:t>
            </a:r>
            <a:r>
              <a:rPr lang="en-US" altLang="ko-KR" sz="2000" dirty="0"/>
              <a:t> </a:t>
            </a:r>
            <a:r>
              <a:rPr lang="ko-KR" altLang="en-US" sz="2000" dirty="0" err="1"/>
              <a:t>제법발명</a:t>
            </a:r>
            <a:r>
              <a:rPr lang="en-US" altLang="ko-KR" sz="2000" dirty="0"/>
              <a:t>(</a:t>
            </a:r>
            <a:r>
              <a:rPr lang="ko-KR" altLang="en-US" sz="2000" dirty="0"/>
              <a:t>方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10369162" y="1692421"/>
            <a:ext cx="1638076" cy="1751550"/>
            <a:chOff x="9873753" y="2057939"/>
            <a:chExt cx="2083777" cy="2228127"/>
          </a:xfrm>
        </p:grpSpPr>
        <p:sp>
          <p:nvSpPr>
            <p:cNvPr id="109" name="타원 108"/>
            <p:cNvSpPr/>
            <p:nvPr/>
          </p:nvSpPr>
          <p:spPr>
            <a:xfrm>
              <a:off x="10162347" y="2545666"/>
              <a:ext cx="698511" cy="698511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/>
            <p:cNvSpPr/>
            <p:nvPr/>
          </p:nvSpPr>
          <p:spPr>
            <a:xfrm>
              <a:off x="11032786" y="2535353"/>
              <a:ext cx="698511" cy="698511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타원 113"/>
            <p:cNvSpPr/>
            <p:nvPr/>
          </p:nvSpPr>
          <p:spPr>
            <a:xfrm>
              <a:off x="10217130" y="3388060"/>
              <a:ext cx="698511" cy="698511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11032786" y="3300411"/>
              <a:ext cx="698511" cy="698511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0137300" y="2471177"/>
              <a:ext cx="72648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方</a:t>
              </a:r>
              <a:r>
                <a:rPr lang="en-US" altLang="ko-KR" sz="1200" dirty="0"/>
                <a:t>1</a:t>
              </a:r>
              <a:r>
                <a:rPr lang="ko-KR" altLang="en-US" sz="1200" dirty="0"/>
                <a:t> 실시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0974473" y="2513952"/>
              <a:ext cx="72648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方</a:t>
              </a:r>
              <a:r>
                <a:rPr lang="en-US" altLang="ko-KR" sz="1200" dirty="0"/>
                <a:t>2</a:t>
              </a:r>
              <a:r>
                <a:rPr lang="ko-KR" altLang="en-US" sz="1200" dirty="0"/>
                <a:t> 실시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0162347" y="3334885"/>
              <a:ext cx="68320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方</a:t>
              </a:r>
              <a:r>
                <a:rPr lang="en-US" altLang="ko-KR" sz="1200" dirty="0"/>
                <a:t>3</a:t>
              </a:r>
              <a:r>
                <a:rPr lang="ko-KR" altLang="en-US" sz="1200" dirty="0"/>
                <a:t>실시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0996113" y="3286486"/>
              <a:ext cx="69281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方</a:t>
              </a:r>
              <a:r>
                <a:rPr lang="en-US" altLang="ko-KR" sz="1200" dirty="0"/>
                <a:t>n</a:t>
              </a:r>
              <a:r>
                <a:rPr lang="ko-KR" altLang="en-US" sz="1200" dirty="0"/>
                <a:t>실시</a:t>
              </a:r>
            </a:p>
          </p:txBody>
        </p:sp>
        <p:sp>
          <p:nvSpPr>
            <p:cNvPr id="20" name="타원 19"/>
            <p:cNvSpPr/>
            <p:nvPr/>
          </p:nvSpPr>
          <p:spPr>
            <a:xfrm>
              <a:off x="9873753" y="2202289"/>
              <a:ext cx="2083777" cy="2083777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555131" y="2057939"/>
              <a:ext cx="64152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物 실시</a:t>
              </a:r>
            </a:p>
          </p:txBody>
        </p:sp>
      </p:grpSp>
      <p:sp>
        <p:nvSpPr>
          <p:cNvPr id="120" name="Rectangle 1"/>
          <p:cNvSpPr>
            <a:spLocks noChangeArrowheads="1"/>
          </p:cNvSpPr>
          <p:nvPr/>
        </p:nvSpPr>
        <p:spPr bwMode="auto">
          <a:xfrm>
            <a:off x="7359130" y="1407466"/>
            <a:ext cx="2834192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그 물건을 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생산</a:t>
            </a:r>
            <a:r>
              <a:rPr kumimoji="1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·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사용</a:t>
            </a:r>
            <a:r>
              <a:rPr kumimoji="1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·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양도</a:t>
            </a:r>
            <a:r>
              <a:rPr kumimoji="1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·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대여</a:t>
            </a:r>
            <a:r>
              <a:rPr lang="ko-KR" altLang="en-US" sz="1200" dirty="0" err="1"/>
              <a:t>ㆍ</a:t>
            </a:r>
            <a:r>
              <a:rPr kumimoji="1" lang="ko-KR" altLang="en-US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또는 수입하거나 그 물건의 양도 또는 대여의 청약을 하는 행위</a:t>
            </a:r>
            <a:endParaRPr kumimoji="1" 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286821" y="2455266"/>
            <a:ext cx="92204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600" dirty="0"/>
              <a:t>方</a:t>
            </a:r>
            <a:r>
              <a:rPr lang="en-US" altLang="ko-KR" sz="1600" dirty="0"/>
              <a:t> </a:t>
            </a:r>
            <a:r>
              <a:rPr lang="ko-KR" altLang="en-US" sz="1600" dirty="0"/>
              <a:t>실시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821" y="1561354"/>
            <a:ext cx="92204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600" dirty="0"/>
              <a:t>物 실시</a:t>
            </a:r>
          </a:p>
        </p:txBody>
      </p:sp>
      <p:sp>
        <p:nvSpPr>
          <p:cNvPr id="124" name="Rectangle 1"/>
          <p:cNvSpPr>
            <a:spLocks noChangeArrowheads="1"/>
          </p:cNvSpPr>
          <p:nvPr/>
        </p:nvSpPr>
        <p:spPr bwMode="auto">
          <a:xfrm>
            <a:off x="7357605" y="3000295"/>
            <a:ext cx="2835718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그 방법에 의하여 생산한 물건을 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사용</a:t>
            </a:r>
            <a:r>
              <a:rPr kumimoji="1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·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양도</a:t>
            </a:r>
            <a:r>
              <a:rPr kumimoji="1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·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대여</a:t>
            </a:r>
            <a:r>
              <a:rPr lang="ko-KR" altLang="en-US" sz="1200" dirty="0" err="1"/>
              <a:t>ㆍ</a:t>
            </a:r>
            <a:r>
              <a:rPr kumimoji="1" lang="ko-KR" altLang="en-US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또는 수입하거나 그 물건의 양도 또는 대여의 청약을 하는 행위</a:t>
            </a:r>
            <a:endParaRPr kumimoji="1" 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125" name="Rectangle 1"/>
          <p:cNvSpPr>
            <a:spLocks noChangeArrowheads="1"/>
          </p:cNvSpPr>
          <p:nvPr/>
        </p:nvSpPr>
        <p:spPr bwMode="auto">
          <a:xfrm>
            <a:off x="7357603" y="2118302"/>
            <a:ext cx="2835719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그 방법을 사용하는</a:t>
            </a:r>
            <a:r>
              <a:rPr kumimoji="1" lang="ko-KR" altLang="en-US" sz="1200" b="0" i="0" u="none" strike="noStrike" cap="none" normalizeH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행위</a:t>
            </a:r>
            <a:r>
              <a:rPr kumimoji="1" lang="en-US" altLang="ko-KR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altLang="en-US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물건의 생산</a:t>
            </a:r>
            <a:r>
              <a:rPr kumimoji="1" lang="en-US" altLang="ko-KR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)</a:t>
            </a:r>
            <a:endParaRPr kumimoji="1" lang="ko-KR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  <a:cs typeface="굴림" pitchFamily="50" charset="-127"/>
            </a:endParaRPr>
          </a:p>
        </p:txBody>
      </p:sp>
      <p:cxnSp>
        <p:nvCxnSpPr>
          <p:cNvPr id="26" name="직선 연결선 25"/>
          <p:cNvCxnSpPr>
            <a:stCxn id="123" idx="3"/>
            <a:endCxn id="120" idx="1"/>
          </p:cNvCxnSpPr>
          <p:nvPr/>
        </p:nvCxnSpPr>
        <p:spPr>
          <a:xfrm>
            <a:off x="7208869" y="1730631"/>
            <a:ext cx="150261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122" idx="3"/>
            <a:endCxn id="125" idx="1"/>
          </p:cNvCxnSpPr>
          <p:nvPr/>
        </p:nvCxnSpPr>
        <p:spPr>
          <a:xfrm flipV="1">
            <a:off x="7208869" y="2256802"/>
            <a:ext cx="148734" cy="36774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122" idx="3"/>
            <a:endCxn id="124" idx="1"/>
          </p:cNvCxnSpPr>
          <p:nvPr/>
        </p:nvCxnSpPr>
        <p:spPr>
          <a:xfrm>
            <a:off x="7208869" y="2624543"/>
            <a:ext cx="148736" cy="69891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265980" y="3710371"/>
            <a:ext cx="4897495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특허권의 효력 </a:t>
            </a:r>
            <a:r>
              <a:rPr lang="en-US" altLang="ko-KR" sz="2000" dirty="0"/>
              <a:t>: </a:t>
            </a:r>
            <a:r>
              <a:rPr lang="ko-KR" altLang="en-US" sz="2000" dirty="0"/>
              <a:t>물건발명</a:t>
            </a:r>
            <a:r>
              <a:rPr lang="en-US" altLang="ko-KR" sz="2000" dirty="0"/>
              <a:t>(</a:t>
            </a:r>
            <a:r>
              <a:rPr lang="ko-KR" altLang="en-US" sz="2000" dirty="0"/>
              <a:t>物</a:t>
            </a:r>
            <a:r>
              <a:rPr lang="en-US" altLang="ko-KR" sz="2000" dirty="0"/>
              <a:t>) </a:t>
            </a:r>
            <a:r>
              <a:rPr lang="ko-KR" altLang="en-US" sz="2000" dirty="0"/>
              <a:t>⊃</a:t>
            </a:r>
            <a:r>
              <a:rPr lang="en-US" altLang="ko-KR" sz="2000" dirty="0"/>
              <a:t> </a:t>
            </a:r>
            <a:r>
              <a:rPr lang="ko-KR" altLang="en-US" sz="2000" dirty="0" err="1"/>
              <a:t>제법발명</a:t>
            </a:r>
            <a:r>
              <a:rPr lang="en-US" altLang="ko-KR" sz="2000" dirty="0"/>
              <a:t>(</a:t>
            </a:r>
            <a:r>
              <a:rPr lang="ko-KR" altLang="en-US" sz="2000" dirty="0"/>
              <a:t>方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138" name="타원 137"/>
          <p:cNvSpPr/>
          <p:nvPr/>
        </p:nvSpPr>
        <p:spPr>
          <a:xfrm>
            <a:off x="7418747" y="5020827"/>
            <a:ext cx="460354" cy="460354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物</a:t>
            </a:r>
          </a:p>
        </p:txBody>
      </p:sp>
      <p:sp>
        <p:nvSpPr>
          <p:cNvPr id="139" name="타원 138"/>
          <p:cNvSpPr/>
          <p:nvPr/>
        </p:nvSpPr>
        <p:spPr>
          <a:xfrm>
            <a:off x="6613740" y="4463828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6534609" y="5437221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1" name="타원 140"/>
          <p:cNvSpPr/>
          <p:nvPr/>
        </p:nvSpPr>
        <p:spPr>
          <a:xfrm>
            <a:off x="7613756" y="5859799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2" name="타원 141"/>
          <p:cNvSpPr/>
          <p:nvPr/>
        </p:nvSpPr>
        <p:spPr>
          <a:xfrm>
            <a:off x="8343518" y="5207044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3" name="타원 142"/>
          <p:cNvSpPr/>
          <p:nvPr/>
        </p:nvSpPr>
        <p:spPr>
          <a:xfrm>
            <a:off x="7739160" y="4233651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5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6" name="타원 145"/>
          <p:cNvSpPr/>
          <p:nvPr/>
        </p:nvSpPr>
        <p:spPr>
          <a:xfrm>
            <a:off x="10538674" y="5020827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物</a:t>
            </a:r>
          </a:p>
        </p:txBody>
      </p:sp>
      <p:sp>
        <p:nvSpPr>
          <p:cNvPr id="147" name="타원 146"/>
          <p:cNvSpPr/>
          <p:nvPr/>
        </p:nvSpPr>
        <p:spPr>
          <a:xfrm>
            <a:off x="9733667" y="4463828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8" name="타원 147"/>
          <p:cNvSpPr/>
          <p:nvPr/>
        </p:nvSpPr>
        <p:spPr>
          <a:xfrm>
            <a:off x="9654536" y="5437221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9" name="타원 148"/>
          <p:cNvSpPr/>
          <p:nvPr/>
        </p:nvSpPr>
        <p:spPr>
          <a:xfrm>
            <a:off x="10733683" y="5921343"/>
            <a:ext cx="460354" cy="46035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方</a:t>
            </a:r>
            <a:r>
              <a:rPr lang="en-US" altLang="ko-KR" sz="1400" dirty="0">
                <a:solidFill>
                  <a:schemeClr val="bg1"/>
                </a:solidFill>
              </a:rPr>
              <a:t>3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50" name="타원 149"/>
          <p:cNvSpPr/>
          <p:nvPr/>
        </p:nvSpPr>
        <p:spPr>
          <a:xfrm>
            <a:off x="11463445" y="5207044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1" name="타원 150"/>
          <p:cNvSpPr/>
          <p:nvPr/>
        </p:nvSpPr>
        <p:spPr>
          <a:xfrm>
            <a:off x="10859087" y="4233651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5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39" name="직선 연결선 38"/>
          <p:cNvCxnSpPr>
            <a:stCxn id="149" idx="0"/>
            <a:endCxn id="146" idx="4"/>
          </p:cNvCxnSpPr>
          <p:nvPr/>
        </p:nvCxnSpPr>
        <p:spPr>
          <a:xfrm flipH="1" flipV="1">
            <a:off x="10768851" y="5481181"/>
            <a:ext cx="195009" cy="440162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/>
          <p:cNvCxnSpPr/>
          <p:nvPr/>
        </p:nvCxnSpPr>
        <p:spPr>
          <a:xfrm>
            <a:off x="9244863" y="4609406"/>
            <a:ext cx="1" cy="146756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ine 5"/>
          <p:cNvSpPr>
            <a:spLocks noChangeShapeType="1"/>
          </p:cNvSpPr>
          <p:nvPr/>
        </p:nvSpPr>
        <p:spPr bwMode="auto">
          <a:xfrm>
            <a:off x="147237" y="5776054"/>
            <a:ext cx="2684935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461468" y="566681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0" name="직선 연결선 109"/>
          <p:cNvCxnSpPr>
            <a:stCxn id="121" idx="2"/>
            <a:endCxn id="104" idx="0"/>
          </p:cNvCxnSpPr>
          <p:nvPr/>
        </p:nvCxnSpPr>
        <p:spPr>
          <a:xfrm flipH="1">
            <a:off x="538837" y="5506145"/>
            <a:ext cx="6269" cy="1606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47238" y="4829966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7238" y="5043403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  <a:r>
              <a:rPr lang="en-US" altLang="ko-KR" sz="1200" dirty="0"/>
              <a:t>, </a:t>
            </a:r>
            <a:r>
              <a:rPr lang="ko-KR" altLang="en-US" sz="1200" dirty="0"/>
              <a:t>方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7237" y="5293845"/>
            <a:ext cx="795738" cy="212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 출원</a:t>
            </a:r>
            <a:endParaRPr lang="ko-KR" altLang="en-US" sz="1100" dirty="0"/>
          </a:p>
        </p:txBody>
      </p:sp>
      <p:sp>
        <p:nvSpPr>
          <p:cNvPr id="127" name="TextBox 126"/>
          <p:cNvSpPr txBox="1"/>
          <p:nvPr/>
        </p:nvSpPr>
        <p:spPr>
          <a:xfrm>
            <a:off x="1488141" y="5293845"/>
            <a:ext cx="811564" cy="1920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 공개</a:t>
            </a:r>
            <a:endParaRPr lang="ko-KR" altLang="en-US" sz="1100" dirty="0"/>
          </a:p>
        </p:txBody>
      </p:sp>
      <p:sp>
        <p:nvSpPr>
          <p:cNvPr id="128" name="타원 127"/>
          <p:cNvSpPr/>
          <p:nvPr/>
        </p:nvSpPr>
        <p:spPr>
          <a:xfrm>
            <a:off x="1816554" y="566681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29" name="직선 연결선 128"/>
          <p:cNvCxnSpPr>
            <a:stCxn id="127" idx="2"/>
            <a:endCxn id="128" idx="0"/>
          </p:cNvCxnSpPr>
          <p:nvPr/>
        </p:nvCxnSpPr>
        <p:spPr>
          <a:xfrm>
            <a:off x="1893923" y="5485879"/>
            <a:ext cx="0" cy="18093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타원 129"/>
          <p:cNvSpPr/>
          <p:nvPr/>
        </p:nvSpPr>
        <p:spPr>
          <a:xfrm>
            <a:off x="1069969" y="568465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31" name="직선 연결선 130"/>
          <p:cNvCxnSpPr>
            <a:endCxn id="130" idx="4"/>
          </p:cNvCxnSpPr>
          <p:nvPr/>
        </p:nvCxnSpPr>
        <p:spPr>
          <a:xfrm flipV="1">
            <a:off x="1147338" y="5845993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755739" y="6296787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33" name="TextBox 132"/>
          <p:cNvSpPr txBox="1"/>
          <p:nvPr/>
        </p:nvSpPr>
        <p:spPr>
          <a:xfrm>
            <a:off x="755739" y="6510224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1, </a:t>
            </a:r>
            <a:r>
              <a:rPr lang="ko-KR" altLang="en-US" sz="1200" dirty="0"/>
              <a:t>物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49469" y="6026644"/>
            <a:ext cx="795738" cy="212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r>
              <a:rPr lang="ko-KR" altLang="en-US" sz="1200" dirty="0"/>
              <a:t> 출원</a:t>
            </a:r>
            <a:endParaRPr lang="ko-KR" altLang="en-US" sz="1100" dirty="0"/>
          </a:p>
        </p:txBody>
      </p:sp>
      <p:sp>
        <p:nvSpPr>
          <p:cNvPr id="135" name="타원 134"/>
          <p:cNvSpPr/>
          <p:nvPr/>
        </p:nvSpPr>
        <p:spPr>
          <a:xfrm>
            <a:off x="2222336" y="568465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36" name="직선 연결선 135"/>
          <p:cNvCxnSpPr>
            <a:endCxn id="135" idx="4"/>
          </p:cNvCxnSpPr>
          <p:nvPr/>
        </p:nvCxnSpPr>
        <p:spPr>
          <a:xfrm flipV="1">
            <a:off x="2299705" y="5845993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908106" y="6296787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45" name="TextBox 144"/>
          <p:cNvSpPr txBox="1"/>
          <p:nvPr/>
        </p:nvSpPr>
        <p:spPr>
          <a:xfrm>
            <a:off x="1908106" y="6510224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1, </a:t>
            </a:r>
            <a:r>
              <a:rPr lang="ko-KR" altLang="en-US" sz="1200" dirty="0"/>
              <a:t>物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901836" y="6026644"/>
            <a:ext cx="795738" cy="212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r>
              <a:rPr lang="ko-KR" altLang="en-US" sz="1200" dirty="0"/>
              <a:t> 출원</a:t>
            </a:r>
            <a:endParaRPr lang="ko-KR" altLang="en-US" sz="1100" dirty="0"/>
          </a:p>
        </p:txBody>
      </p:sp>
      <p:sp>
        <p:nvSpPr>
          <p:cNvPr id="154" name="Line 5"/>
          <p:cNvSpPr>
            <a:spLocks noChangeShapeType="1"/>
          </p:cNvSpPr>
          <p:nvPr/>
        </p:nvSpPr>
        <p:spPr bwMode="auto">
          <a:xfrm>
            <a:off x="3293888" y="5776054"/>
            <a:ext cx="2684935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55" name="타원 154"/>
          <p:cNvSpPr/>
          <p:nvPr/>
        </p:nvSpPr>
        <p:spPr>
          <a:xfrm>
            <a:off x="4255819" y="566681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56" name="직선 연결선 155"/>
          <p:cNvCxnSpPr>
            <a:stCxn id="159" idx="2"/>
            <a:endCxn id="155" idx="0"/>
          </p:cNvCxnSpPr>
          <p:nvPr/>
        </p:nvCxnSpPr>
        <p:spPr>
          <a:xfrm flipH="1">
            <a:off x="4333188" y="5506145"/>
            <a:ext cx="6269" cy="1606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3941589" y="4829966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941589" y="5043403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  <a:r>
              <a:rPr lang="en-US" altLang="ko-KR" sz="1200" dirty="0"/>
              <a:t>, </a:t>
            </a:r>
            <a:r>
              <a:rPr lang="ko-KR" altLang="en-US" sz="1200" dirty="0"/>
              <a:t>方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941588" y="5293845"/>
            <a:ext cx="795738" cy="212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 출원</a:t>
            </a:r>
            <a:endParaRPr lang="ko-KR" altLang="en-US" sz="1100" dirty="0"/>
          </a:p>
        </p:txBody>
      </p:sp>
      <p:sp>
        <p:nvSpPr>
          <p:cNvPr id="160" name="타원 159"/>
          <p:cNvSpPr/>
          <p:nvPr/>
        </p:nvSpPr>
        <p:spPr>
          <a:xfrm>
            <a:off x="3721320" y="568465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1" name="직선 연결선 160"/>
          <p:cNvCxnSpPr>
            <a:endCxn id="160" idx="4"/>
          </p:cNvCxnSpPr>
          <p:nvPr/>
        </p:nvCxnSpPr>
        <p:spPr>
          <a:xfrm flipV="1">
            <a:off x="3798689" y="5845993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3407090" y="6296787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3" name="TextBox 162"/>
          <p:cNvSpPr txBox="1"/>
          <p:nvPr/>
        </p:nvSpPr>
        <p:spPr>
          <a:xfrm>
            <a:off x="3407090" y="6510224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1, </a:t>
            </a:r>
            <a:r>
              <a:rPr lang="ko-KR" altLang="en-US" sz="1200" dirty="0"/>
              <a:t>物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400820" y="6026644"/>
            <a:ext cx="795738" cy="212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r>
              <a:rPr lang="ko-KR" altLang="en-US" sz="1200" dirty="0"/>
              <a:t> 출원</a:t>
            </a:r>
            <a:endParaRPr lang="ko-KR" altLang="en-US" sz="1100" dirty="0"/>
          </a:p>
        </p:txBody>
      </p:sp>
      <p:sp>
        <p:nvSpPr>
          <p:cNvPr id="165" name="타원 164"/>
          <p:cNvSpPr/>
          <p:nvPr/>
        </p:nvSpPr>
        <p:spPr>
          <a:xfrm>
            <a:off x="4873687" y="568465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6" name="직선 연결선 165"/>
          <p:cNvCxnSpPr>
            <a:endCxn id="165" idx="4"/>
          </p:cNvCxnSpPr>
          <p:nvPr/>
        </p:nvCxnSpPr>
        <p:spPr>
          <a:xfrm flipV="1">
            <a:off x="4951056" y="5845993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4553187" y="6026644"/>
            <a:ext cx="795738" cy="212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r>
              <a:rPr lang="ko-KR" altLang="en-US" sz="1200" dirty="0"/>
              <a:t> 공개</a:t>
            </a:r>
            <a:endParaRPr lang="ko-KR" altLang="en-US" sz="1100" dirty="0"/>
          </a:p>
        </p:txBody>
      </p:sp>
      <p:sp>
        <p:nvSpPr>
          <p:cNvPr id="168" name="타원 167"/>
          <p:cNvSpPr/>
          <p:nvPr/>
        </p:nvSpPr>
        <p:spPr>
          <a:xfrm>
            <a:off x="5342655" y="566681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9" name="직선 연결선 168"/>
          <p:cNvCxnSpPr>
            <a:stCxn id="172" idx="2"/>
            <a:endCxn id="168" idx="0"/>
          </p:cNvCxnSpPr>
          <p:nvPr/>
        </p:nvCxnSpPr>
        <p:spPr>
          <a:xfrm flipH="1">
            <a:off x="5420024" y="5506145"/>
            <a:ext cx="6269" cy="1606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5028425" y="4829966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028425" y="5043403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  <a:r>
              <a:rPr lang="en-US" altLang="ko-KR" sz="1200" dirty="0"/>
              <a:t>, </a:t>
            </a:r>
            <a:r>
              <a:rPr lang="ko-KR" altLang="en-US" sz="1200" dirty="0"/>
              <a:t>方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028424" y="5293845"/>
            <a:ext cx="795738" cy="212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 출원</a:t>
            </a:r>
            <a:endParaRPr lang="ko-KR" altLang="en-US" sz="1100" dirty="0"/>
          </a:p>
        </p:txBody>
      </p:sp>
      <p:cxnSp>
        <p:nvCxnSpPr>
          <p:cNvPr id="173" name="직선 연결선 172"/>
          <p:cNvCxnSpPr/>
          <p:nvPr/>
        </p:nvCxnSpPr>
        <p:spPr>
          <a:xfrm>
            <a:off x="3037810" y="5039064"/>
            <a:ext cx="1" cy="146756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9210" y="0"/>
            <a:ext cx="1062789" cy="733926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360</a:t>
            </a:fld>
            <a:endParaRPr lang="ko-KR" altLang="en-US"/>
          </a:p>
        </p:txBody>
      </p:sp>
      <p:sp>
        <p:nvSpPr>
          <p:cNvPr id="174" name="Rectangle 1">
            <a:extLst>
              <a:ext uri="{FF2B5EF4-FFF2-40B4-BE49-F238E27FC236}">
                <a16:creationId xmlns:a16="http://schemas.microsoft.com/office/drawing/2014/main" id="{C3F46F2E-2436-481D-BE7B-6B172B782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7603" y="2479299"/>
            <a:ext cx="2835719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그 방법의 사용을 청약하는 행위 </a:t>
            </a:r>
            <a:r>
              <a:rPr kumimoji="1" lang="en-US" altLang="ko-KR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altLang="en-US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물건생산의 청약</a:t>
            </a:r>
            <a:r>
              <a:rPr kumimoji="1" lang="en-US" altLang="ko-KR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)*</a:t>
            </a:r>
            <a:endParaRPr kumimoji="1" lang="ko-KR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73451-6943-4924-9A45-EB5473B5EDAE}"/>
              </a:ext>
            </a:extLst>
          </p:cNvPr>
          <p:cNvSpPr txBox="1"/>
          <p:nvPr/>
        </p:nvSpPr>
        <p:spPr>
          <a:xfrm>
            <a:off x="6455121" y="6506627"/>
            <a:ext cx="5397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* </a:t>
            </a:r>
            <a:r>
              <a:rPr lang="ko-KR" altLang="en-US" sz="1200" dirty="0">
                <a:solidFill>
                  <a:srgbClr val="FF0000"/>
                </a:solidFill>
              </a:rPr>
              <a:t>물건생산의 청약은 물건발명의 실시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물건발명에 대한 특허권 침해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에 해당하지 않음</a:t>
            </a:r>
          </a:p>
        </p:txBody>
      </p:sp>
    </p:spTree>
    <p:extLst>
      <p:ext uri="{BB962C8B-B14F-4D97-AF65-F5344CB8AC3E}">
        <p14:creationId xmlns:p14="http://schemas.microsoft.com/office/powerpoint/2010/main" val="41155251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독립발명 </a:t>
            </a:r>
            <a:r>
              <a:rPr lang="en-US" altLang="ko-KR" dirty="0">
                <a:solidFill>
                  <a:srgbClr val="525252"/>
                </a:solidFill>
              </a:rPr>
              <a:t>vs </a:t>
            </a:r>
            <a:r>
              <a:rPr lang="ko-KR" altLang="en-US" dirty="0">
                <a:solidFill>
                  <a:srgbClr val="525252"/>
                </a:solidFill>
              </a:rPr>
              <a:t>종속발명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종속발명에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특허권자는</a:t>
            </a:r>
            <a:r>
              <a:rPr lang="ko-KR" altLang="en-US" sz="1400" dirty="0">
                <a:solidFill>
                  <a:schemeClr val="tx2"/>
                </a:solidFill>
              </a:rPr>
              <a:t> 독립발명에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특허권자와는</a:t>
            </a:r>
            <a:r>
              <a:rPr lang="ko-KR" altLang="en-US" sz="1400" dirty="0">
                <a:solidFill>
                  <a:schemeClr val="tx2"/>
                </a:solidFill>
              </a:rPr>
              <a:t> 달리 선행발명에 대한 특허권의 침해가 되지 않으려면 원칙적으로 선행발명에 대한 특허권자의 허락을 받거나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98),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통상실시권허락심판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138)</a:t>
            </a:r>
            <a:r>
              <a:rPr lang="ko-KR" altLang="en-US" sz="1400" dirty="0">
                <a:solidFill>
                  <a:schemeClr val="tx2"/>
                </a:solidFill>
              </a:rPr>
              <a:t>을 청구하여 정당한 권원을 획득하여야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통상실시권허락심판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138)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 청구는 종속발명이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특허등록되어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이용관계가 성립되는 경우에만 가능하다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 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17247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90499" y="3800475"/>
            <a:ext cx="659605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발명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190624" y="2619376"/>
            <a:ext cx="2176463" cy="4810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독립발명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다른 발명을 실시할 필요 </a:t>
            </a:r>
            <a:r>
              <a:rPr lang="en-US" altLang="ko-KR" sz="1200" dirty="0">
                <a:solidFill>
                  <a:schemeClr val="tx1"/>
                </a:solidFill>
              </a:rPr>
              <a:t>×)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꺾인 연결선 7"/>
          <p:cNvCxnSpPr>
            <a:stCxn id="6" idx="3"/>
            <a:endCxn id="7" idx="1"/>
          </p:cNvCxnSpPr>
          <p:nvPr/>
        </p:nvCxnSpPr>
        <p:spPr>
          <a:xfrm flipV="1">
            <a:off x="850104" y="2859882"/>
            <a:ext cx="340520" cy="119776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stCxn id="6" idx="3"/>
            <a:endCxn id="18" idx="1"/>
          </p:cNvCxnSpPr>
          <p:nvPr/>
        </p:nvCxnSpPr>
        <p:spPr>
          <a:xfrm>
            <a:off x="850104" y="4057650"/>
            <a:ext cx="340520" cy="89535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59248" y="3445449"/>
            <a:ext cx="2245939" cy="34810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다른 발명에 대한 특허권 침해 여부</a:t>
            </a:r>
            <a:endParaRPr lang="ko-KR" altLang="en-US" sz="12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1" name="직선 화살표 연결선 10"/>
          <p:cNvCxnSpPr>
            <a:stCxn id="10" idx="0"/>
            <a:endCxn id="7" idx="2"/>
          </p:cNvCxnSpPr>
          <p:nvPr/>
        </p:nvCxnSpPr>
        <p:spPr>
          <a:xfrm flipH="1" flipV="1">
            <a:off x="2278856" y="3100388"/>
            <a:ext cx="3362" cy="34506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10" idx="2"/>
            <a:endCxn id="18" idx="0"/>
          </p:cNvCxnSpPr>
          <p:nvPr/>
        </p:nvCxnSpPr>
        <p:spPr>
          <a:xfrm flipH="1">
            <a:off x="2278856" y="3793551"/>
            <a:ext cx="3362" cy="91894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897854" y="3095625"/>
            <a:ext cx="542925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solidFill>
                  <a:schemeClr val="tx1"/>
                </a:solidFill>
                <a:latin typeface="+mj-ea"/>
                <a:ea typeface="+mj-ea"/>
              </a:rPr>
              <a:t>No</a:t>
            </a:r>
            <a:endParaRPr lang="ko-KR" altLang="en-US" sz="10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838320" y="4236134"/>
            <a:ext cx="542925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solidFill>
                  <a:schemeClr val="tx1"/>
                </a:solidFill>
                <a:latin typeface="+mj-ea"/>
                <a:ea typeface="+mj-ea"/>
              </a:rPr>
              <a:t>Yes</a:t>
            </a:r>
            <a:endParaRPr lang="ko-KR" altLang="en-US" sz="10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4791075" y="2085975"/>
            <a:ext cx="0" cy="46767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95260" y="2071687"/>
            <a:ext cx="14811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구별기준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5091110" y="2071687"/>
            <a:ext cx="11763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종속발명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90624" y="4712494"/>
            <a:ext cx="2176463" cy="4810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종속발명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다른 발명을 실시할 필요 </a:t>
            </a:r>
            <a:r>
              <a:rPr lang="en-US" altLang="ko-KR" sz="1200" dirty="0">
                <a:solidFill>
                  <a:schemeClr val="tx1"/>
                </a:solidFill>
              </a:rPr>
              <a:t>○)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모서리가 둥근 사각형 설명선 18"/>
          <p:cNvSpPr/>
          <p:nvPr/>
        </p:nvSpPr>
        <p:spPr>
          <a:xfrm>
            <a:off x="2447924" y="3841683"/>
            <a:ext cx="2171701" cy="801332"/>
          </a:xfrm>
          <a:prstGeom prst="wedgeRoundRectCallout">
            <a:avLst>
              <a:gd name="adj1" fmla="val -63088"/>
              <a:gd name="adj2" fmla="val -5718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*</a:t>
            </a:r>
            <a:r>
              <a:rPr lang="ko-KR" altLang="en-US" sz="1400" dirty="0">
                <a:solidFill>
                  <a:schemeClr val="tx1"/>
                </a:solidFill>
              </a:rPr>
              <a:t>정당한 권원 획득 후 실시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</a:rPr>
              <a:t>허락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-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통상실시권허락심판청구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(</a:t>
            </a:r>
            <a:r>
              <a:rPr lang="ko-KR" altLang="en-US" sz="1200" dirty="0">
                <a:solidFill>
                  <a:schemeClr val="tx1"/>
                </a:solidFill>
              </a:rPr>
              <a:t>등록된 경우 이용발명이라 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47810" y="5323103"/>
            <a:ext cx="1365681" cy="392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결합발명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외적부가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47810" y="5885078"/>
            <a:ext cx="1365681" cy="392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선택발명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내적부가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926366"/>
              </p:ext>
            </p:extLst>
          </p:nvPr>
        </p:nvGraphicFramePr>
        <p:xfrm>
          <a:off x="5222875" y="3100389"/>
          <a:ext cx="6588125" cy="329088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78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3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8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등록가능성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침해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4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결합발명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×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침해 ○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 -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ea"/>
                        </a:rPr>
                        <a:t>대법원 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ea"/>
                        </a:rPr>
                        <a:t>1995. 12. 5.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ea"/>
                        </a:rPr>
                        <a:t>선고 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ea"/>
                        </a:rPr>
                        <a:t>92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ea"/>
                        </a:rPr>
                        <a:t>후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ea"/>
                        </a:rPr>
                        <a:t>1660 : 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×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대법원 </a:t>
                      </a:r>
                      <a:r>
                        <a:rPr lang="en-US" altLang="ko-KR" sz="1200" dirty="0"/>
                        <a:t>2001. 8. 21. </a:t>
                      </a:r>
                      <a:r>
                        <a:rPr lang="ko-KR" altLang="en-US" sz="1200" dirty="0"/>
                        <a:t>선고 </a:t>
                      </a:r>
                      <a:r>
                        <a:rPr lang="en-US" altLang="ko-KR" sz="1200" dirty="0"/>
                        <a:t>98</a:t>
                      </a:r>
                      <a:r>
                        <a:rPr lang="ko-KR" altLang="en-US" sz="1200" dirty="0"/>
                        <a:t>후</a:t>
                      </a:r>
                      <a:r>
                        <a:rPr lang="en-US" altLang="ko-KR" sz="1200" dirty="0"/>
                        <a:t>522 : ○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4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선택발명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×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침해 ○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 - </a:t>
                      </a:r>
                      <a:r>
                        <a:rPr lang="ko-KR" altLang="en-US" sz="1200" dirty="0"/>
                        <a:t>대법원 </a:t>
                      </a:r>
                      <a:r>
                        <a:rPr lang="en-US" altLang="ko-KR" sz="1200" dirty="0"/>
                        <a:t>1991. 11. 12. </a:t>
                      </a:r>
                      <a:r>
                        <a:rPr lang="ko-KR" altLang="en-US" sz="1200" dirty="0"/>
                        <a:t>선고 </a:t>
                      </a:r>
                      <a:r>
                        <a:rPr lang="en-US" altLang="ko-KR" sz="1200" dirty="0"/>
                        <a:t>90</a:t>
                      </a:r>
                      <a:r>
                        <a:rPr lang="ko-KR" altLang="en-US" sz="1200" dirty="0"/>
                        <a:t>후</a:t>
                      </a:r>
                      <a:r>
                        <a:rPr lang="en-US" altLang="ko-KR" sz="1200" dirty="0"/>
                        <a:t>960 : ×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4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제법발명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×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침해 ○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물건생산의 청약은 제외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11790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95F743-5C82-48C0-8FC1-7EACC7A42A12}"/>
              </a:ext>
            </a:extLst>
          </p:cNvPr>
          <p:cNvSpPr/>
          <p:nvPr/>
        </p:nvSpPr>
        <p:spPr>
          <a:xfrm>
            <a:off x="1428749" y="5317836"/>
            <a:ext cx="1657351" cy="392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동일범주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2734AA5-340B-419C-BD4B-A7D7AB33437E}"/>
              </a:ext>
            </a:extLst>
          </p:cNvPr>
          <p:cNvSpPr/>
          <p:nvPr/>
        </p:nvSpPr>
        <p:spPr>
          <a:xfrm>
            <a:off x="1428749" y="5879811"/>
            <a:ext cx="1657351" cy="392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다른범주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물건발명 </a:t>
            </a:r>
            <a:r>
              <a:rPr lang="en-US" altLang="ko-KR" sz="1200" dirty="0">
                <a:solidFill>
                  <a:schemeClr val="tx1"/>
                </a:solidFill>
              </a:rPr>
              <a:t>vs </a:t>
            </a:r>
            <a:r>
              <a:rPr lang="ko-KR" altLang="en-US" sz="1200" dirty="0">
                <a:solidFill>
                  <a:schemeClr val="tx1"/>
                </a:solidFill>
              </a:rPr>
              <a:t>제법발명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DBC6E3B6-CB5F-4937-A4A1-992BEC917B8C}"/>
              </a:ext>
            </a:extLst>
          </p:cNvPr>
          <p:cNvCxnSpPr>
            <a:stCxn id="18" idx="2"/>
            <a:endCxn id="26" idx="1"/>
          </p:cNvCxnSpPr>
          <p:nvPr/>
        </p:nvCxnSpPr>
        <p:spPr>
          <a:xfrm rot="5400000">
            <a:off x="1693412" y="4928844"/>
            <a:ext cx="320783" cy="850107"/>
          </a:xfrm>
          <a:prstGeom prst="bentConnector4">
            <a:avLst>
              <a:gd name="adj1" fmla="val 19379"/>
              <a:gd name="adj2" fmla="val 12689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51E4203E-4AE8-4552-B873-B058FF887619}"/>
              </a:ext>
            </a:extLst>
          </p:cNvPr>
          <p:cNvCxnSpPr>
            <a:stCxn id="18" idx="2"/>
            <a:endCxn id="27" idx="1"/>
          </p:cNvCxnSpPr>
          <p:nvPr/>
        </p:nvCxnSpPr>
        <p:spPr>
          <a:xfrm rot="5400000">
            <a:off x="1412424" y="5209832"/>
            <a:ext cx="882758" cy="850107"/>
          </a:xfrm>
          <a:prstGeom prst="bentConnector4">
            <a:avLst>
              <a:gd name="adj1" fmla="val 6863"/>
              <a:gd name="adj2" fmla="val 12689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219DC682-399B-4A01-B52F-291927A58C35}"/>
              </a:ext>
            </a:extLst>
          </p:cNvPr>
          <p:cNvCxnSpPr>
            <a:stCxn id="26" idx="3"/>
            <a:endCxn id="20" idx="1"/>
          </p:cNvCxnSpPr>
          <p:nvPr/>
        </p:nvCxnSpPr>
        <p:spPr>
          <a:xfrm>
            <a:off x="3086100" y="5514289"/>
            <a:ext cx="161710" cy="52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904B3489-E670-4BAD-B5E3-90B2D114C155}"/>
              </a:ext>
            </a:extLst>
          </p:cNvPr>
          <p:cNvCxnSpPr>
            <a:stCxn id="26" idx="3"/>
            <a:endCxn id="21" idx="1"/>
          </p:cNvCxnSpPr>
          <p:nvPr/>
        </p:nvCxnSpPr>
        <p:spPr>
          <a:xfrm>
            <a:off x="3086100" y="5514289"/>
            <a:ext cx="161710" cy="5672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9690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/>
        </p:nvSpPr>
        <p:spPr>
          <a:xfrm>
            <a:off x="190499" y="4793818"/>
            <a:ext cx="5724526" cy="1283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190499" y="3190875"/>
            <a:ext cx="5724526" cy="1476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>
            <a:stCxn id="12" idx="2"/>
          </p:cNvCxnSpPr>
          <p:nvPr/>
        </p:nvCxnSpPr>
        <p:spPr>
          <a:xfrm>
            <a:off x="838200" y="3036792"/>
            <a:ext cx="0" cy="26020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양쪽 모서리가 둥근 사각형 15"/>
          <p:cNvSpPr/>
          <p:nvPr/>
        </p:nvSpPr>
        <p:spPr>
          <a:xfrm>
            <a:off x="1" y="2369131"/>
            <a:ext cx="2697956" cy="44825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이용저촉관계의 법조문 정리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6070841" y="2095500"/>
            <a:ext cx="0" cy="46306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90499" y="2822153"/>
            <a:ext cx="572452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956" y="2607514"/>
            <a:ext cx="642938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출원</a:t>
            </a:r>
            <a:r>
              <a:rPr lang="en-US" altLang="ko-KR" sz="1200" dirty="0"/>
              <a:t>(Z)</a:t>
            </a:r>
          </a:p>
          <a:p>
            <a:pPr algn="ctr"/>
            <a:r>
              <a:rPr lang="en-US" altLang="ko-KR" sz="1200" dirty="0"/>
              <a:t> (A+B)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1516856" y="2607514"/>
            <a:ext cx="642938" cy="429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출원</a:t>
            </a:r>
            <a:r>
              <a:rPr lang="en-US" altLang="ko-KR" sz="1200" dirty="0"/>
              <a:t>(Y)</a:t>
            </a:r>
          </a:p>
          <a:p>
            <a:pPr algn="ctr"/>
            <a:r>
              <a:rPr lang="en-US" altLang="ko-KR" sz="1200" dirty="0"/>
              <a:t> (A+B)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16731" y="2607514"/>
            <a:ext cx="642938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출원</a:t>
            </a:r>
            <a:r>
              <a:rPr lang="en-US" altLang="ko-KR" sz="1200" dirty="0"/>
              <a:t>(X)</a:t>
            </a:r>
          </a:p>
          <a:p>
            <a:pPr algn="ctr"/>
            <a:r>
              <a:rPr lang="en-US" altLang="ko-KR" sz="1200" dirty="0"/>
              <a:t> (A)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5043487" y="2607514"/>
            <a:ext cx="642938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</a:t>
            </a:r>
            <a:r>
              <a:rPr lang="en-US" altLang="ko-KR" sz="1200" dirty="0"/>
              <a:t>(Z)</a:t>
            </a:r>
          </a:p>
          <a:p>
            <a:pPr algn="ctr"/>
            <a:r>
              <a:rPr lang="en-US" altLang="ko-KR" sz="1200" dirty="0"/>
              <a:t> (A+B)</a:t>
            </a:r>
            <a:endParaRPr lang="ko-KR" alt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4291012" y="2607514"/>
            <a:ext cx="642938" cy="429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</a:t>
            </a:r>
            <a:r>
              <a:rPr lang="en-US" altLang="ko-KR" sz="1200" dirty="0"/>
              <a:t>(Y)</a:t>
            </a:r>
          </a:p>
          <a:p>
            <a:pPr algn="ctr"/>
            <a:r>
              <a:rPr lang="en-US" altLang="ko-KR" sz="1200" dirty="0"/>
              <a:t> (A+B)</a:t>
            </a:r>
            <a:endParaRPr lang="ko-KR" alt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3490912" y="2607514"/>
            <a:ext cx="642938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</a:t>
            </a:r>
            <a:r>
              <a:rPr lang="en-US" altLang="ko-KR" sz="1200" dirty="0"/>
              <a:t>(X)</a:t>
            </a:r>
          </a:p>
          <a:p>
            <a:pPr algn="ctr"/>
            <a:r>
              <a:rPr lang="en-US" altLang="ko-KR" sz="1200" dirty="0"/>
              <a:t> (A)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0" y="2190750"/>
            <a:ext cx="190499" cy="8460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27421" y="3302839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특허발명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421" y="3566097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등록실용신안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421" y="3825692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등록디자인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421" y="4088950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유사디자인</a:t>
            </a:r>
          </a:p>
        </p:txBody>
      </p:sp>
      <p:cxnSp>
        <p:nvCxnSpPr>
          <p:cNvPr id="25" name="직선 연결선 24"/>
          <p:cNvCxnSpPr/>
          <p:nvPr/>
        </p:nvCxnSpPr>
        <p:spPr>
          <a:xfrm>
            <a:off x="3019425" y="3036792"/>
            <a:ext cx="0" cy="26020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28900" y="3302839"/>
            <a:ext cx="781050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특허발명</a:t>
            </a:r>
          </a:p>
        </p:txBody>
      </p:sp>
      <p:cxnSp>
        <p:nvCxnSpPr>
          <p:cNvPr id="30" name="직선 연결선 29"/>
          <p:cNvCxnSpPr/>
          <p:nvPr/>
        </p:nvCxnSpPr>
        <p:spPr>
          <a:xfrm>
            <a:off x="1828800" y="3036792"/>
            <a:ext cx="0" cy="26020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27546" y="4911542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디자인권</a:t>
            </a:r>
            <a:endParaRPr lang="ko-KR" altLang="en-US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1327546" y="5174800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상표권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8900" y="4913987"/>
            <a:ext cx="781050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367" y="2135750"/>
            <a:ext cx="1326358" cy="233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특허출원일 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9179" y="3190875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이용관계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9179" y="479381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저촉관계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421" y="4372309"/>
            <a:ext cx="1021558" cy="233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등록상표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7546" y="5455434"/>
            <a:ext cx="1021558" cy="233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특허권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7546" y="5748319"/>
            <a:ext cx="1021558" cy="233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bg1">
                    <a:lumMod val="75000"/>
                  </a:schemeClr>
                </a:solidFill>
              </a:rPr>
              <a:t>실용신안권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0" y="17247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제98조(타인의 특허발명 등과의 관계)</a:t>
            </a:r>
            <a:r>
              <a:rPr kumimoji="1" lang="ko-KR" altLang="ko-KR" sz="1400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 </a:t>
            </a:r>
            <a:r>
              <a:rPr kumimoji="1" lang="ko-KR" altLang="ko-KR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특허권자ㆍ전용실시권자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</a:t>
            </a:r>
            <a:r>
              <a:rPr kumimoji="1" lang="ko-KR" altLang="ko-KR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통상실시권자는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특허발명이 그 특허발명의 </a:t>
            </a:r>
            <a:r>
              <a:rPr kumimoji="1" lang="ko-KR" altLang="ko-KR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특허출원일 전에 출원된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ko-KR" sz="1400" u="sng" dirty="0">
                <a:solidFill>
                  <a:schemeClr val="tx2"/>
                </a:solidFill>
                <a:latin typeface="+mn-ea"/>
                <a:cs typeface="굴림" pitchFamily="50" charset="-127"/>
              </a:rPr>
              <a:t>타인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의 </a:t>
            </a:r>
            <a:r>
              <a:rPr kumimoji="1" lang="ko-KR" altLang="ko-KR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특허발명ㆍ등록실용신안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등록디자인이나 그 디자인과 유사한 디자인을 이용하거나 특허권이 그 특허발명의 </a:t>
            </a:r>
            <a:r>
              <a:rPr kumimoji="1" lang="ko-KR" altLang="ko-KR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특허출원일 전에 출원된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타인의 </a:t>
            </a:r>
            <a:r>
              <a:rPr kumimoji="1" lang="ko-KR" altLang="ko-KR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디자인권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상표권과 저촉되는 경우에는 그 </a:t>
            </a:r>
            <a:r>
              <a:rPr kumimoji="1" lang="ko-KR" altLang="ko-KR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특허권자ㆍ실용신안권자ㆍ디자인권자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상표권자의 허락을 받지 아니하고는 자기의 특허발명을 업으로서 실시할 수 없다. </a:t>
            </a:r>
          </a:p>
        </p:txBody>
      </p:sp>
      <p:sp>
        <p:nvSpPr>
          <p:cNvPr id="46" name="Line 5"/>
          <p:cNvSpPr>
            <a:spLocks noChangeShapeType="1"/>
          </p:cNvSpPr>
          <p:nvPr/>
        </p:nvSpPr>
        <p:spPr bwMode="auto">
          <a:xfrm>
            <a:off x="6289672" y="2869778"/>
            <a:ext cx="572452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10671" y="2023840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공동발명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53" name="타원 52"/>
          <p:cNvSpPr/>
          <p:nvPr/>
        </p:nvSpPr>
        <p:spPr>
          <a:xfrm>
            <a:off x="6699854" y="278910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5" name="직선 연결선 54"/>
          <p:cNvCxnSpPr>
            <a:stCxn id="49" idx="2"/>
            <a:endCxn id="53" idx="0"/>
          </p:cNvCxnSpPr>
          <p:nvPr/>
        </p:nvCxnSpPr>
        <p:spPr>
          <a:xfrm>
            <a:off x="6777223" y="2453118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429871" y="2023840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공동출원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58" name="타원 57"/>
          <p:cNvSpPr/>
          <p:nvPr/>
        </p:nvSpPr>
        <p:spPr>
          <a:xfrm>
            <a:off x="7919054" y="278910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9" name="직선 연결선 58"/>
          <p:cNvCxnSpPr>
            <a:stCxn id="57" idx="2"/>
            <a:endCxn id="58" idx="0"/>
          </p:cNvCxnSpPr>
          <p:nvPr/>
        </p:nvCxnSpPr>
        <p:spPr>
          <a:xfrm>
            <a:off x="7996423" y="2453118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176354" y="2023840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1" name="타원 60"/>
          <p:cNvSpPr/>
          <p:nvPr/>
        </p:nvSpPr>
        <p:spPr>
          <a:xfrm>
            <a:off x="9665537" y="278910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/>
          <p:cNvCxnSpPr>
            <a:stCxn id="60" idx="2"/>
            <a:endCxn id="61" idx="0"/>
          </p:cNvCxnSpPr>
          <p:nvPr/>
        </p:nvCxnSpPr>
        <p:spPr>
          <a:xfrm>
            <a:off x="9742906" y="2453118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715621" y="3321581"/>
            <a:ext cx="1133104" cy="429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 개량발명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4" name="타원 63"/>
          <p:cNvSpPr/>
          <p:nvPr/>
        </p:nvSpPr>
        <p:spPr>
          <a:xfrm>
            <a:off x="8204804" y="2789109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5" name="직선 연결선 64"/>
          <p:cNvCxnSpPr>
            <a:stCxn id="63" idx="0"/>
            <a:endCxn id="64" idx="4"/>
          </p:cNvCxnSpPr>
          <p:nvPr/>
        </p:nvCxnSpPr>
        <p:spPr>
          <a:xfrm flipV="1">
            <a:off x="8282173" y="2950447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928333" y="3321581"/>
            <a:ext cx="1133104" cy="429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 단독출원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73" name="타원 72"/>
          <p:cNvSpPr/>
          <p:nvPr/>
        </p:nvSpPr>
        <p:spPr>
          <a:xfrm>
            <a:off x="9417516" y="2789109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4" name="직선 연결선 73"/>
          <p:cNvCxnSpPr>
            <a:stCxn id="72" idx="0"/>
            <a:endCxn id="73" idx="4"/>
          </p:cNvCxnSpPr>
          <p:nvPr/>
        </p:nvCxnSpPr>
        <p:spPr>
          <a:xfrm flipV="1">
            <a:off x="9494885" y="2950447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118958" y="3321581"/>
            <a:ext cx="1133104" cy="429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76" name="타원 75"/>
          <p:cNvSpPr/>
          <p:nvPr/>
        </p:nvSpPr>
        <p:spPr>
          <a:xfrm>
            <a:off x="10608141" y="2789109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/>
          <p:cNvCxnSpPr>
            <a:stCxn id="75" idx="0"/>
            <a:endCxn id="76" idx="4"/>
          </p:cNvCxnSpPr>
          <p:nvPr/>
        </p:nvCxnSpPr>
        <p:spPr>
          <a:xfrm flipV="1">
            <a:off x="10685510" y="2950447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176354" y="3844434"/>
            <a:ext cx="2837844" cy="24451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乙은 甲의 </a:t>
            </a:r>
            <a:r>
              <a:rPr lang="ko-KR" altLang="en-US" sz="1100" dirty="0" err="1"/>
              <a:t>동의없이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 실시가능</a:t>
            </a:r>
          </a:p>
        </p:txBody>
      </p:sp>
      <p:sp>
        <p:nvSpPr>
          <p:cNvPr id="79" name="타원 78"/>
          <p:cNvSpPr/>
          <p:nvPr/>
        </p:nvSpPr>
        <p:spPr>
          <a:xfrm>
            <a:off x="11527489" y="2789109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0" name="직선 연결선 79"/>
          <p:cNvCxnSpPr>
            <a:endCxn id="79" idx="4"/>
          </p:cNvCxnSpPr>
          <p:nvPr/>
        </p:nvCxnSpPr>
        <p:spPr>
          <a:xfrm flipV="1">
            <a:off x="11604858" y="2950447"/>
            <a:ext cx="0" cy="8752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Line 5"/>
          <p:cNvSpPr>
            <a:spLocks noChangeShapeType="1"/>
          </p:cNvSpPr>
          <p:nvPr/>
        </p:nvSpPr>
        <p:spPr bwMode="auto">
          <a:xfrm>
            <a:off x="6289672" y="5334937"/>
            <a:ext cx="572452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210671" y="4488999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 </a:t>
            </a:r>
            <a:r>
              <a:rPr lang="ko-KR" altLang="en-US" sz="1200" dirty="0"/>
              <a:t>단독발명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86" name="타원 85"/>
          <p:cNvSpPr/>
          <p:nvPr/>
        </p:nvSpPr>
        <p:spPr>
          <a:xfrm>
            <a:off x="6699854" y="52542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7" name="직선 연결선 86"/>
          <p:cNvCxnSpPr>
            <a:stCxn id="85" idx="2"/>
            <a:endCxn id="86" idx="0"/>
          </p:cNvCxnSpPr>
          <p:nvPr/>
        </p:nvCxnSpPr>
        <p:spPr>
          <a:xfrm>
            <a:off x="6777223" y="4918277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429871" y="4488999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 단독출원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89" name="타원 88"/>
          <p:cNvSpPr/>
          <p:nvPr/>
        </p:nvSpPr>
        <p:spPr>
          <a:xfrm>
            <a:off x="7919054" y="52542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0" name="직선 연결선 89"/>
          <p:cNvCxnSpPr>
            <a:stCxn id="88" idx="2"/>
            <a:endCxn id="89" idx="0"/>
          </p:cNvCxnSpPr>
          <p:nvPr/>
        </p:nvCxnSpPr>
        <p:spPr>
          <a:xfrm>
            <a:off x="7996423" y="4918277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76354" y="4488999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2" name="타원 91"/>
          <p:cNvSpPr/>
          <p:nvPr/>
        </p:nvSpPr>
        <p:spPr>
          <a:xfrm>
            <a:off x="9665537" y="52542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/>
          <p:cNvCxnSpPr>
            <a:stCxn id="91" idx="2"/>
            <a:endCxn id="92" idx="0"/>
          </p:cNvCxnSpPr>
          <p:nvPr/>
        </p:nvCxnSpPr>
        <p:spPr>
          <a:xfrm>
            <a:off x="9742906" y="4918277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715621" y="5786740"/>
            <a:ext cx="1133104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개량발명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5" name="타원 94"/>
          <p:cNvSpPr/>
          <p:nvPr/>
        </p:nvSpPr>
        <p:spPr>
          <a:xfrm>
            <a:off x="8204804" y="525426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6" name="직선 연결선 95"/>
          <p:cNvCxnSpPr>
            <a:stCxn id="94" idx="0"/>
            <a:endCxn id="95" idx="4"/>
          </p:cNvCxnSpPr>
          <p:nvPr/>
        </p:nvCxnSpPr>
        <p:spPr>
          <a:xfrm flipV="1">
            <a:off x="8282173" y="5415606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928333" y="5786740"/>
            <a:ext cx="1133104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공동출원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8" name="타원 97"/>
          <p:cNvSpPr/>
          <p:nvPr/>
        </p:nvSpPr>
        <p:spPr>
          <a:xfrm>
            <a:off x="9417516" y="525426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9" name="직선 연결선 98"/>
          <p:cNvCxnSpPr>
            <a:stCxn id="97" idx="0"/>
            <a:endCxn id="98" idx="4"/>
          </p:cNvCxnSpPr>
          <p:nvPr/>
        </p:nvCxnSpPr>
        <p:spPr>
          <a:xfrm flipV="1">
            <a:off x="9494885" y="5415606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0118958" y="5786740"/>
            <a:ext cx="1133104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01" name="타원 100"/>
          <p:cNvSpPr/>
          <p:nvPr/>
        </p:nvSpPr>
        <p:spPr>
          <a:xfrm>
            <a:off x="10608141" y="525426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2" name="직선 연결선 101"/>
          <p:cNvCxnSpPr>
            <a:stCxn id="100" idx="0"/>
            <a:endCxn id="101" idx="4"/>
          </p:cNvCxnSpPr>
          <p:nvPr/>
        </p:nvCxnSpPr>
        <p:spPr>
          <a:xfrm flipV="1">
            <a:off x="10685510" y="5415606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176354" y="6309593"/>
            <a:ext cx="2837844" cy="244516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乙은 甲의 </a:t>
            </a:r>
            <a:r>
              <a:rPr lang="ko-KR" altLang="en-US" sz="1100" dirty="0" err="1"/>
              <a:t>동의받아야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 실시가능</a:t>
            </a:r>
          </a:p>
        </p:txBody>
      </p:sp>
      <p:sp>
        <p:nvSpPr>
          <p:cNvPr id="104" name="타원 103"/>
          <p:cNvSpPr/>
          <p:nvPr/>
        </p:nvSpPr>
        <p:spPr>
          <a:xfrm>
            <a:off x="11527489" y="525426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5" name="직선 연결선 104"/>
          <p:cNvCxnSpPr>
            <a:endCxn id="104" idx="4"/>
          </p:cNvCxnSpPr>
          <p:nvPr/>
        </p:nvCxnSpPr>
        <p:spPr>
          <a:xfrm flipV="1">
            <a:off x="11604858" y="5415606"/>
            <a:ext cx="0" cy="8752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 flipH="1">
            <a:off x="6854592" y="4293756"/>
            <a:ext cx="425155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4550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138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이용저촉관계의 법조문 정리</a:t>
            </a:r>
          </a:p>
        </p:txBody>
      </p:sp>
      <p:cxnSp>
        <p:nvCxnSpPr>
          <p:cNvPr id="43" name="직선 연결선 42"/>
          <p:cNvCxnSpPr/>
          <p:nvPr/>
        </p:nvCxnSpPr>
        <p:spPr>
          <a:xfrm>
            <a:off x="0" y="32391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875" y="986046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138</a:t>
            </a:r>
            <a:r>
              <a:rPr kumimoji="1" lang="ko-KR" altLang="en-US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조</a:t>
            </a:r>
            <a:r>
              <a:rPr kumimoji="1" lang="en-US" altLang="ko-KR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(</a:t>
            </a:r>
            <a:r>
              <a:rPr kumimoji="1" lang="ko-KR" altLang="en-US" sz="1400" b="1" dirty="0" err="1">
                <a:solidFill>
                  <a:schemeClr val="accent1"/>
                </a:solidFill>
                <a:latin typeface="+mn-ea"/>
                <a:cs typeface="굴림" pitchFamily="50" charset="-127"/>
              </a:rPr>
              <a:t>통상실시권</a:t>
            </a:r>
            <a:r>
              <a:rPr kumimoji="1" lang="ko-KR" altLang="en-US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 허락의 심판</a:t>
            </a:r>
            <a:r>
              <a:rPr kumimoji="1" lang="en-US" altLang="ko-KR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) 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①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특허권자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전용실시권자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통상실시권자는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해당 특허발명이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98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조에 해당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하여 실시의 허락을 받으려는 경우에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그 타인이 정당한 이유 없이 허락하지 아니하거나 그 타인의 허락을 받을 수 없을 때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에는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자기의 특허발명의 실시에 필요한 범위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에서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허락의 심판을 청구할 수 있다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②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1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항에 따른 청구가 있는 경우에 그 특허발명이 그 특허출원일 전에 출원된 타인의 특허발명 또는 등록실용신안과 비교하여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상당한 경제적 가치가 있는 중요한 기술적 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보를 가져오는 것이 아니면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허락하여서는 아니 된다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③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1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항에 따른 심판에 따라 </a:t>
            </a:r>
            <a:r>
              <a:rPr kumimoji="1" lang="ko-KR" altLang="en-US" sz="1400" dirty="0" err="1">
                <a:solidFill>
                  <a:srgbClr val="FF0000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 허락한 자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가 그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허락받은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자의 특허발명을 실시할 필요가 있는 경우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그 </a:t>
            </a:r>
            <a:r>
              <a:rPr kumimoji="1" lang="ko-KR" altLang="en-US" sz="1400" dirty="0" err="1">
                <a:solidFill>
                  <a:srgbClr val="FF0000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sz="1400" dirty="0" err="1">
                <a:solidFill>
                  <a:srgbClr val="FF0000"/>
                </a:solidFill>
                <a:latin typeface="+mn-ea"/>
                <a:cs typeface="굴림" pitchFamily="50" charset="-127"/>
              </a:rPr>
              <a:t>허락받은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 자가 실시를 허락하지 아니하거나 실시의 허락을 받을 수 없을 때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에는 </a:t>
            </a:r>
            <a:r>
              <a:rPr kumimoji="1" lang="ko-KR" altLang="en-US" sz="1400" dirty="0" err="1">
                <a:solidFill>
                  <a:srgbClr val="FF0000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sz="1400" dirty="0" err="1">
                <a:solidFill>
                  <a:srgbClr val="FF0000"/>
                </a:solidFill>
                <a:latin typeface="+mn-ea"/>
                <a:cs typeface="굴림" pitchFamily="50" charset="-127"/>
              </a:rPr>
              <a:t>허락받아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 실시하려는 특허발명의 범위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에서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허락의 심판을 청구할 수 있다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④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1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항 및 제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3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항에 따라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허락받은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자는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특허권자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실용신안권자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디자인권자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그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전용실시권자에게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대가를 지급하여야 한다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다만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자기가 책임질 수 없는 사유로 지급할 수 없는 경우에는 그 대가를 공탁하여야 한다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⑤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4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항에 따른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통상실시권자는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그 대가를 지급하지 아니하거나 공탁을 하지 아니하면 그 특허발명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등록실용신안 또는 등록디자인이나 이와 유사한 디자인을 실시할 수 없다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</a:t>
            </a:r>
            <a:endParaRPr kumimoji="1" lang="ko-KR" altLang="ko-KR" sz="1400" dirty="0">
              <a:solidFill>
                <a:schemeClr val="tx2"/>
              </a:solidFill>
              <a:latin typeface="+mn-ea"/>
              <a:cs typeface="굴림" pitchFamily="50" charset="-127"/>
            </a:endParaRPr>
          </a:p>
        </p:txBody>
      </p:sp>
      <p:sp>
        <p:nvSpPr>
          <p:cNvPr id="84" name="Line 5"/>
          <p:cNvSpPr>
            <a:spLocks noChangeShapeType="1"/>
          </p:cNvSpPr>
          <p:nvPr/>
        </p:nvSpPr>
        <p:spPr bwMode="auto">
          <a:xfrm>
            <a:off x="5079997" y="4106212"/>
            <a:ext cx="6321428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000996" y="3384099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 </a:t>
            </a:r>
            <a:r>
              <a:rPr lang="ko-KR" altLang="en-US" sz="1200" dirty="0"/>
              <a:t>상표출원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(A)</a:t>
            </a:r>
            <a:endParaRPr lang="ko-KR" altLang="en-US" sz="1100" dirty="0"/>
          </a:p>
        </p:txBody>
      </p:sp>
      <p:sp>
        <p:nvSpPr>
          <p:cNvPr id="86" name="타원 85"/>
          <p:cNvSpPr/>
          <p:nvPr/>
        </p:nvSpPr>
        <p:spPr>
          <a:xfrm>
            <a:off x="5490179" y="402554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7" name="직선 연결선 86"/>
          <p:cNvCxnSpPr>
            <a:stCxn id="85" idx="2"/>
            <a:endCxn id="86" idx="0"/>
          </p:cNvCxnSpPr>
          <p:nvPr/>
        </p:nvCxnSpPr>
        <p:spPr>
          <a:xfrm>
            <a:off x="5567548" y="3813377"/>
            <a:ext cx="0" cy="2121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966679" y="3384099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(A)</a:t>
            </a:r>
            <a:endParaRPr lang="ko-KR" altLang="en-US" sz="1100" dirty="0"/>
          </a:p>
        </p:txBody>
      </p:sp>
      <p:sp>
        <p:nvSpPr>
          <p:cNvPr id="92" name="타원 91"/>
          <p:cNvSpPr/>
          <p:nvPr/>
        </p:nvSpPr>
        <p:spPr>
          <a:xfrm>
            <a:off x="8455862" y="402554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/>
          <p:cNvCxnSpPr>
            <a:stCxn id="91" idx="2"/>
            <a:endCxn id="92" idx="0"/>
          </p:cNvCxnSpPr>
          <p:nvPr/>
        </p:nvCxnSpPr>
        <p:spPr>
          <a:xfrm>
            <a:off x="8533231" y="3813377"/>
            <a:ext cx="0" cy="2121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505946" y="4386565"/>
            <a:ext cx="1133104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 특허출원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(A)</a:t>
            </a:r>
            <a:endParaRPr lang="ko-KR" altLang="en-US" sz="1100" dirty="0"/>
          </a:p>
        </p:txBody>
      </p:sp>
      <p:sp>
        <p:nvSpPr>
          <p:cNvPr id="95" name="타원 94"/>
          <p:cNvSpPr/>
          <p:nvPr/>
        </p:nvSpPr>
        <p:spPr>
          <a:xfrm>
            <a:off x="6995129" y="402554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6" name="직선 연결선 95"/>
          <p:cNvCxnSpPr>
            <a:stCxn id="94" idx="0"/>
            <a:endCxn id="95" idx="4"/>
          </p:cNvCxnSpPr>
          <p:nvPr/>
        </p:nvCxnSpPr>
        <p:spPr>
          <a:xfrm flipV="1">
            <a:off x="7072498" y="4186881"/>
            <a:ext cx="0" cy="1996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909283" y="4386565"/>
            <a:ext cx="1133104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(A)</a:t>
            </a:r>
            <a:endParaRPr lang="ko-KR" altLang="en-US" sz="1100" dirty="0"/>
          </a:p>
        </p:txBody>
      </p:sp>
      <p:sp>
        <p:nvSpPr>
          <p:cNvPr id="101" name="타원 100"/>
          <p:cNvSpPr/>
          <p:nvPr/>
        </p:nvSpPr>
        <p:spPr>
          <a:xfrm>
            <a:off x="9398466" y="402554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2" name="직선 연결선 101"/>
          <p:cNvCxnSpPr>
            <a:stCxn id="100" idx="0"/>
            <a:endCxn id="101" idx="4"/>
          </p:cNvCxnSpPr>
          <p:nvPr/>
        </p:nvCxnSpPr>
        <p:spPr>
          <a:xfrm flipV="1">
            <a:off x="9475835" y="4186881"/>
            <a:ext cx="0" cy="1996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995129" y="5252317"/>
            <a:ext cx="4577746" cy="13580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en-US" altLang="ko-KR" sz="1200" dirty="0"/>
              <a:t>* </a:t>
            </a:r>
            <a:r>
              <a:rPr lang="ko-KR" altLang="en-US" sz="1200" dirty="0"/>
              <a:t>乙의 </a:t>
            </a:r>
            <a:r>
              <a:rPr lang="en-US" altLang="ko-KR" sz="1200" dirty="0"/>
              <a:t>A</a:t>
            </a:r>
            <a:r>
              <a:rPr lang="ko-KR" altLang="en-US" sz="1200" dirty="0"/>
              <a:t>실시가 상표권의 침해인가</a:t>
            </a:r>
            <a:r>
              <a:rPr lang="en-US" altLang="ko-KR" sz="1200" dirty="0"/>
              <a:t>?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1. </a:t>
            </a:r>
            <a:r>
              <a:rPr lang="ko-KR" altLang="en-US" sz="1200" dirty="0"/>
              <a:t>상표적 사용 </a:t>
            </a:r>
            <a:r>
              <a:rPr lang="en-US" altLang="ko-KR" sz="1200" dirty="0"/>
              <a:t>× - </a:t>
            </a:r>
            <a:r>
              <a:rPr lang="ko-KR" altLang="en-US" sz="1200" dirty="0" err="1"/>
              <a:t>비침해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2. </a:t>
            </a:r>
            <a:r>
              <a:rPr lang="ko-KR" altLang="en-US" sz="1200" dirty="0"/>
              <a:t>상표적 사용 ○</a:t>
            </a:r>
          </a:p>
          <a:p>
            <a:pPr fontAlgn="base"/>
            <a:r>
              <a:rPr lang="en-US" altLang="ko-KR" sz="1200" dirty="0"/>
              <a:t>- </a:t>
            </a:r>
            <a:r>
              <a:rPr lang="ko-KR" altLang="en-US" sz="1200" dirty="0"/>
              <a:t>침해 </a:t>
            </a:r>
          </a:p>
          <a:p>
            <a:pPr fontAlgn="base"/>
            <a:r>
              <a:rPr lang="en-US" altLang="ko-KR" sz="1200" dirty="0"/>
              <a:t>- </a:t>
            </a:r>
            <a:r>
              <a:rPr lang="ko-KR" altLang="en-US" sz="1200" dirty="0"/>
              <a:t>실시방안</a:t>
            </a:r>
          </a:p>
          <a:p>
            <a:pPr fontAlgn="base"/>
            <a:r>
              <a:rPr lang="en-US" altLang="ko-KR" sz="1200" dirty="0"/>
              <a:t>  - </a:t>
            </a:r>
            <a:r>
              <a:rPr lang="ko-KR" altLang="en-US" sz="1200" dirty="0"/>
              <a:t>허락 ○</a:t>
            </a:r>
          </a:p>
          <a:p>
            <a:pPr fontAlgn="base"/>
            <a:r>
              <a:rPr lang="en-US" altLang="ko-KR" sz="1200" dirty="0"/>
              <a:t>  - </a:t>
            </a:r>
            <a:r>
              <a:rPr lang="ko-KR" altLang="en-US" sz="1200" dirty="0"/>
              <a:t>통상사용권허락심판 </a:t>
            </a:r>
            <a:r>
              <a:rPr lang="en-US" altLang="ko-KR" sz="1200" dirty="0"/>
              <a:t>×</a:t>
            </a:r>
            <a:endParaRPr lang="ko-KR" altLang="en-US" sz="1200" dirty="0"/>
          </a:p>
        </p:txBody>
      </p:sp>
      <p:sp>
        <p:nvSpPr>
          <p:cNvPr id="104" name="타원 103"/>
          <p:cNvSpPr/>
          <p:nvPr/>
        </p:nvSpPr>
        <p:spPr>
          <a:xfrm>
            <a:off x="10317814" y="402554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8496" y="4631874"/>
            <a:ext cx="933079" cy="58782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>
                <a:solidFill>
                  <a:schemeClr val="accent4"/>
                </a:solidFill>
              </a:rPr>
              <a:t>제</a:t>
            </a:r>
            <a:r>
              <a:rPr lang="en-US" altLang="ko-KR" sz="1600" dirty="0">
                <a:solidFill>
                  <a:schemeClr val="accent4"/>
                </a:solidFill>
              </a:rPr>
              <a:t>138</a:t>
            </a:r>
            <a:r>
              <a:rPr lang="ko-KR" altLang="en-US" sz="1600" dirty="0">
                <a:solidFill>
                  <a:schemeClr val="accent4"/>
                </a:solidFill>
              </a:rPr>
              <a:t>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371" y="3584124"/>
            <a:ext cx="1761754" cy="58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일반적 요건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1524371" y="4271939"/>
            <a:ext cx="1761754" cy="58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크로스 라이선스 요건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1524371" y="4982512"/>
            <a:ext cx="1761754" cy="58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대가지급</a:t>
            </a:r>
            <a:r>
              <a:rPr lang="en-US" altLang="ko-KR" sz="1400" dirty="0"/>
              <a:t>/</a:t>
            </a:r>
            <a:r>
              <a:rPr lang="ko-KR" altLang="en-US" sz="1400" dirty="0"/>
              <a:t>공탁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4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1524371" y="5673410"/>
            <a:ext cx="1761754" cy="58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대가지급</a:t>
            </a:r>
            <a:r>
              <a:rPr lang="en-US" altLang="ko-KR" sz="1400" dirty="0"/>
              <a:t>×&amp;</a:t>
            </a:r>
            <a:r>
              <a:rPr lang="ko-KR" altLang="en-US" sz="1400" dirty="0"/>
              <a:t>공탁</a:t>
            </a:r>
            <a:r>
              <a:rPr lang="en-US" altLang="ko-KR" sz="1400" dirty="0"/>
              <a:t>×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5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6" name="꺾인 연결선 5"/>
          <p:cNvCxnSpPr>
            <a:stCxn id="29" idx="3"/>
            <a:endCxn id="30" idx="1"/>
          </p:cNvCxnSpPr>
          <p:nvPr/>
        </p:nvCxnSpPr>
        <p:spPr>
          <a:xfrm flipV="1">
            <a:off x="1171575" y="3878037"/>
            <a:ext cx="352796" cy="10477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7"/>
          <p:cNvCxnSpPr>
            <a:stCxn id="29" idx="3"/>
            <a:endCxn id="33" idx="1"/>
          </p:cNvCxnSpPr>
          <p:nvPr/>
        </p:nvCxnSpPr>
        <p:spPr>
          <a:xfrm>
            <a:off x="1171575" y="4925787"/>
            <a:ext cx="352796" cy="104153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29" idx="3"/>
            <a:endCxn id="31" idx="1"/>
          </p:cNvCxnSpPr>
          <p:nvPr/>
        </p:nvCxnSpPr>
        <p:spPr>
          <a:xfrm flipV="1">
            <a:off x="1171575" y="4565852"/>
            <a:ext cx="352796" cy="3599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29" idx="3"/>
            <a:endCxn id="32" idx="1"/>
          </p:cNvCxnSpPr>
          <p:nvPr/>
        </p:nvCxnSpPr>
        <p:spPr>
          <a:xfrm>
            <a:off x="1171575" y="4925787"/>
            <a:ext cx="352796" cy="35063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4670666" y="3753479"/>
            <a:ext cx="0" cy="221384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자유형 17"/>
          <p:cNvSpPr/>
          <p:nvPr/>
        </p:nvSpPr>
        <p:spPr>
          <a:xfrm>
            <a:off x="10382250" y="4181475"/>
            <a:ext cx="1019175" cy="342900"/>
          </a:xfrm>
          <a:custGeom>
            <a:avLst/>
            <a:gdLst>
              <a:gd name="connsiteX0" fmla="*/ 0 w 2600325"/>
              <a:gd name="connsiteY0" fmla="*/ 0 h 342900"/>
              <a:gd name="connsiteX1" fmla="*/ 0 w 2600325"/>
              <a:gd name="connsiteY1" fmla="*/ 342900 h 342900"/>
              <a:gd name="connsiteX2" fmla="*/ 2600325 w 2600325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0325" h="342900">
                <a:moveTo>
                  <a:pt x="0" y="0"/>
                </a:moveTo>
                <a:lnTo>
                  <a:pt x="0" y="342900"/>
                </a:lnTo>
                <a:lnTo>
                  <a:pt x="2600325" y="342900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10317814" y="4565852"/>
            <a:ext cx="1083611" cy="24451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乙의 </a:t>
            </a:r>
            <a:r>
              <a:rPr lang="en-US" altLang="ko-KR" sz="1100" dirty="0"/>
              <a:t>A </a:t>
            </a:r>
            <a:r>
              <a:rPr lang="ko-KR" altLang="en-US" sz="1100" dirty="0"/>
              <a:t>실시</a:t>
            </a:r>
          </a:p>
        </p:txBody>
      </p:sp>
      <p:cxnSp>
        <p:nvCxnSpPr>
          <p:cNvPr id="20" name="꺾인 연결선 19"/>
          <p:cNvCxnSpPr>
            <a:stCxn id="32" idx="3"/>
            <a:endCxn id="30" idx="3"/>
          </p:cNvCxnSpPr>
          <p:nvPr/>
        </p:nvCxnSpPr>
        <p:spPr>
          <a:xfrm flipV="1">
            <a:off x="3286125" y="3878037"/>
            <a:ext cx="12700" cy="1398388"/>
          </a:xfrm>
          <a:prstGeom prst="bentConnector3">
            <a:avLst>
              <a:gd name="adj1" fmla="val 5475000"/>
            </a:avLst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440764" y="4308676"/>
            <a:ext cx="1083611" cy="3794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상표권과</a:t>
            </a:r>
            <a:endParaRPr lang="en-US" altLang="ko-KR" sz="1100" dirty="0"/>
          </a:p>
          <a:p>
            <a:pPr algn="ctr"/>
            <a:r>
              <a:rPr lang="ko-KR" altLang="en-US" sz="1100" dirty="0"/>
              <a:t>저촉은 제외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7927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35361" y="1123759"/>
            <a:ext cx="11521017" cy="190383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7429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 typeface="Wingdings" pitchFamily="2" charset="2"/>
              <a:buChar char="n"/>
              <a:defRPr/>
            </a:pPr>
            <a:endParaRPr lang="ko-KR" altLang="en-US" sz="1200" b="0">
              <a:solidFill>
                <a:schemeClr val="tx1"/>
              </a:solidFill>
              <a:latin typeface="+mn-ea"/>
              <a:sym typeface="Wingdings" pitchFamily="2" charset="2"/>
            </a:endParaRP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790576" y="2068320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364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이용저촉발명의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88553" y="2324495"/>
            <a:ext cx="1034552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출원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sp>
        <p:nvSpPr>
          <p:cNvPr id="34" name="타원 33"/>
          <p:cNvSpPr/>
          <p:nvPr/>
        </p:nvSpPr>
        <p:spPr>
          <a:xfrm>
            <a:off x="1028459" y="197438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5" name="직선 연결선 34"/>
          <p:cNvCxnSpPr>
            <a:stCxn id="30" idx="0"/>
            <a:endCxn id="34" idx="4"/>
          </p:cNvCxnSpPr>
          <p:nvPr/>
        </p:nvCxnSpPr>
        <p:spPr>
          <a:xfrm flipH="1" flipV="1">
            <a:off x="1105828" y="213572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90157" y="2324495"/>
            <a:ext cx="946093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공개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sp>
        <p:nvSpPr>
          <p:cNvPr id="37" name="타원 36"/>
          <p:cNvSpPr/>
          <p:nvPr/>
        </p:nvSpPr>
        <p:spPr>
          <a:xfrm>
            <a:off x="2885834" y="197438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8" name="직선 연결선 37"/>
          <p:cNvCxnSpPr>
            <a:stCxn id="36" idx="0"/>
            <a:endCxn id="37" idx="4"/>
          </p:cNvCxnSpPr>
          <p:nvPr/>
        </p:nvCxnSpPr>
        <p:spPr>
          <a:xfrm flipH="1" flipV="1">
            <a:off x="2963203" y="213572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403622" y="2324495"/>
            <a:ext cx="946093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등록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sp>
        <p:nvSpPr>
          <p:cNvPr id="40" name="타원 39"/>
          <p:cNvSpPr/>
          <p:nvPr/>
        </p:nvSpPr>
        <p:spPr>
          <a:xfrm>
            <a:off x="4799299" y="197438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1" name="직선 연결선 40"/>
          <p:cNvCxnSpPr>
            <a:stCxn id="39" idx="0"/>
            <a:endCxn id="40" idx="4"/>
          </p:cNvCxnSpPr>
          <p:nvPr/>
        </p:nvCxnSpPr>
        <p:spPr>
          <a:xfrm flipH="1" flipV="1">
            <a:off x="4876668" y="213572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3838914" y="1974386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82939" y="1244409"/>
            <a:ext cx="126669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출원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(Y) </a:t>
            </a: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라이트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+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cxnSp>
        <p:nvCxnSpPr>
          <p:cNvPr id="52" name="직선 연결선 51"/>
          <p:cNvCxnSpPr>
            <a:stCxn id="51" idx="2"/>
            <a:endCxn id="50" idx="0"/>
          </p:cNvCxnSpPr>
          <p:nvPr/>
        </p:nvCxnSpPr>
        <p:spPr>
          <a:xfrm flipH="1">
            <a:off x="3916283" y="1767629"/>
            <a:ext cx="3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5897676" y="1974386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341701" y="1244409"/>
            <a:ext cx="126669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공개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(Y) </a:t>
            </a: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라이트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+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cxnSp>
        <p:nvCxnSpPr>
          <p:cNvPr id="33" name="직선 연결선 32"/>
          <p:cNvCxnSpPr>
            <a:stCxn id="32" idx="2"/>
            <a:endCxn id="31" idx="0"/>
          </p:cNvCxnSpPr>
          <p:nvPr/>
        </p:nvCxnSpPr>
        <p:spPr>
          <a:xfrm flipH="1">
            <a:off x="5975045" y="1767629"/>
            <a:ext cx="3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7419843" y="1974386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63868" y="1244409"/>
            <a:ext cx="126669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등록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(Y) </a:t>
            </a: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라이트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+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cxnSp>
        <p:nvCxnSpPr>
          <p:cNvPr id="46" name="직선 연결선 45"/>
          <p:cNvCxnSpPr>
            <a:stCxn id="43" idx="2"/>
            <a:endCxn id="42" idx="0"/>
          </p:cNvCxnSpPr>
          <p:nvPr/>
        </p:nvCxnSpPr>
        <p:spPr>
          <a:xfrm flipH="1">
            <a:off x="7497212" y="1767629"/>
            <a:ext cx="3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453521"/>
              </p:ext>
            </p:extLst>
          </p:nvPr>
        </p:nvGraphicFramePr>
        <p:xfrm>
          <a:off x="364628" y="3500966"/>
          <a:ext cx="11491749" cy="27228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76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3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59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9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373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주체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판매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甲 특허 침해여부 및 실시방안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乙 특허 침해여부 및 실시방안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침해여부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실시방안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침해여부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실시방안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허락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통상실시권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허락심판청구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4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허락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통상실시권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허락심판청구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라이트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라이트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라이트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442217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365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甲과</a:t>
            </a:r>
            <a:r>
              <a:rPr lang="en-US" altLang="ko-KR" dirty="0"/>
              <a:t> </a:t>
            </a:r>
            <a:r>
              <a:rPr lang="ko-KR" altLang="en-US" dirty="0"/>
              <a:t>乙의 특허활용전략은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48" name="직선 연결선 47"/>
          <p:cNvCxnSpPr/>
          <p:nvPr/>
        </p:nvCxnSpPr>
        <p:spPr>
          <a:xfrm>
            <a:off x="0" y="17247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丙이 라이트</a:t>
            </a:r>
            <a:r>
              <a:rPr lang="en-US" altLang="ko-KR" sz="1400" dirty="0">
                <a:solidFill>
                  <a:schemeClr val="tx2"/>
                </a:solidFill>
              </a:rPr>
              <a:t>+</a:t>
            </a:r>
            <a:r>
              <a:rPr lang="ko-KR" altLang="en-US" sz="1400" dirty="0">
                <a:solidFill>
                  <a:schemeClr val="tx2"/>
                </a:solidFill>
              </a:rPr>
              <a:t>자전거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발명을 실시하기 위해서는 甲과 乙의 허락을 모두 얻어야만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甲과 乙은 자전거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및 라이트</a:t>
            </a:r>
            <a:r>
              <a:rPr lang="en-US" altLang="ko-KR" sz="1400" dirty="0">
                <a:solidFill>
                  <a:schemeClr val="tx2"/>
                </a:solidFill>
              </a:rPr>
              <a:t>+</a:t>
            </a:r>
            <a:r>
              <a:rPr lang="ko-KR" altLang="en-US" sz="1400" dirty="0">
                <a:solidFill>
                  <a:schemeClr val="tx2"/>
                </a:solidFill>
              </a:rPr>
              <a:t>자전거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특허에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특허풀을</a:t>
            </a:r>
            <a:r>
              <a:rPr lang="ko-KR" altLang="en-US" sz="1400" dirty="0">
                <a:solidFill>
                  <a:schemeClr val="tx2"/>
                </a:solidFill>
              </a:rPr>
              <a:t> 결성하고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실시권허락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대행기관을 통해 丙에게 한 번에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실시권을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허락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(one-stop license)</a:t>
            </a:r>
            <a:r>
              <a:rPr lang="ko-KR" altLang="en-US" sz="1400" dirty="0">
                <a:solidFill>
                  <a:schemeClr val="tx2"/>
                </a:solidFill>
              </a:rPr>
              <a:t>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甲과 乙은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자인 丙에게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실시권을</a:t>
            </a:r>
            <a:r>
              <a:rPr lang="ko-KR" altLang="en-US" sz="1400" dirty="0">
                <a:solidFill>
                  <a:schemeClr val="tx2"/>
                </a:solidFill>
              </a:rPr>
              <a:t> 허락하지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아니하여 丙의 특허제품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자전거나 라이트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+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자전거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판매의 진입장벽으로 특허를 활용</a:t>
            </a:r>
            <a:r>
              <a:rPr lang="ko-KR" altLang="en-US" sz="1400" dirty="0">
                <a:solidFill>
                  <a:schemeClr val="tx2"/>
                </a:solidFill>
              </a:rPr>
              <a:t>하는 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甲과 乙 상호간에만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실시권을</a:t>
            </a:r>
            <a:r>
              <a:rPr lang="ko-KR" altLang="en-US" sz="1400" dirty="0">
                <a:solidFill>
                  <a:schemeClr val="tx2"/>
                </a:solidFill>
              </a:rPr>
              <a:t> 허락하여 甲과 乙만 특허발명을 실시할 수도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068685" y="2011340"/>
            <a:ext cx="4032448" cy="44644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Rectangle 4"/>
          <p:cNvSpPr>
            <a:spLocks noChangeArrowheads="1"/>
          </p:cNvSpPr>
          <p:nvPr/>
        </p:nvSpPr>
        <p:spPr bwMode="auto">
          <a:xfrm>
            <a:off x="1431821" y="2318423"/>
            <a:ext cx="539854" cy="36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dirty="0">
                <a:solidFill>
                  <a:schemeClr val="tx1"/>
                </a:solidFill>
              </a:rPr>
              <a:t>甲</a:t>
            </a:r>
          </a:p>
        </p:txBody>
      </p:sp>
      <p:sp>
        <p:nvSpPr>
          <p:cNvPr id="60" name="Rectangle 8"/>
          <p:cNvSpPr>
            <a:spLocks noChangeArrowheads="1"/>
          </p:cNvSpPr>
          <p:nvPr/>
        </p:nvSpPr>
        <p:spPr bwMode="auto">
          <a:xfrm>
            <a:off x="2792597" y="5719591"/>
            <a:ext cx="638130" cy="36036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sz="2000" dirty="0">
                <a:solidFill>
                  <a:schemeClr val="tx1"/>
                </a:solidFill>
              </a:rPr>
              <a:t>丙</a:t>
            </a:r>
          </a:p>
        </p:txBody>
      </p:sp>
      <p:sp>
        <p:nvSpPr>
          <p:cNvPr id="61" name="Rectangle 17"/>
          <p:cNvSpPr>
            <a:spLocks noChangeArrowheads="1"/>
          </p:cNvSpPr>
          <p:nvPr/>
        </p:nvSpPr>
        <p:spPr bwMode="auto">
          <a:xfrm>
            <a:off x="1971675" y="2617594"/>
            <a:ext cx="787718" cy="566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b="0" dirty="0">
                <a:solidFill>
                  <a:srgbClr val="000000"/>
                </a:solidFill>
              </a:rPr>
              <a:t>자전거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r>
              <a:rPr kumimoji="1" lang="ko-KR" altLang="en-US" sz="1200" b="0" dirty="0" err="1">
                <a:solidFill>
                  <a:srgbClr val="000000"/>
                </a:solidFill>
              </a:rPr>
              <a:t>실시권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 허락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r>
              <a:rPr kumimoji="1" lang="ko-KR" altLang="en-US" sz="1200" b="0" dirty="0">
                <a:solidFill>
                  <a:srgbClr val="000000"/>
                </a:solidFill>
              </a:rPr>
              <a:t>권한위탁</a:t>
            </a:r>
          </a:p>
        </p:txBody>
      </p:sp>
      <p:sp>
        <p:nvSpPr>
          <p:cNvPr id="66" name="Rectangle 17"/>
          <p:cNvSpPr>
            <a:spLocks noChangeArrowheads="1"/>
          </p:cNvSpPr>
          <p:nvPr/>
        </p:nvSpPr>
        <p:spPr bwMode="auto">
          <a:xfrm>
            <a:off x="3038714" y="5053509"/>
            <a:ext cx="1206926" cy="528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en-US" altLang="ko-KR" sz="1200" b="0" dirty="0">
                <a:solidFill>
                  <a:srgbClr val="000000"/>
                </a:solidFill>
              </a:rPr>
              <a:t>One-Stop</a:t>
            </a:r>
          </a:p>
          <a:p>
            <a:pPr algn="ctr" latinLnBrk="1"/>
            <a:r>
              <a:rPr kumimoji="1" lang="ko-KR" altLang="en-US" sz="1200" b="0" dirty="0" err="1">
                <a:solidFill>
                  <a:srgbClr val="000000"/>
                </a:solidFill>
              </a:rPr>
              <a:t>실시권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 허락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68" name="Rectangle 17"/>
          <p:cNvSpPr>
            <a:spLocks noChangeArrowheads="1"/>
          </p:cNvSpPr>
          <p:nvPr/>
        </p:nvSpPr>
        <p:spPr bwMode="auto">
          <a:xfrm>
            <a:off x="1592950" y="5164834"/>
            <a:ext cx="206808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b="0" dirty="0" err="1">
                <a:solidFill>
                  <a:srgbClr val="000000"/>
                </a:solidFill>
              </a:rPr>
              <a:t>실시료</a:t>
            </a:r>
            <a:r>
              <a:rPr kumimoji="1" lang="en-US" altLang="ko-KR" sz="1200" b="0" dirty="0">
                <a:solidFill>
                  <a:srgbClr val="000000"/>
                </a:solidFill>
              </a:rPr>
              <a:t>(R)</a:t>
            </a:r>
          </a:p>
          <a:p>
            <a:pPr algn="ctr" latinLnBrk="1"/>
            <a:r>
              <a:rPr kumimoji="1" lang="ko-KR" altLang="en-US" sz="1200" dirty="0">
                <a:solidFill>
                  <a:srgbClr val="000000"/>
                </a:solidFill>
              </a:rPr>
              <a:t>지급</a:t>
            </a:r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71" name="Rectangle 17"/>
          <p:cNvSpPr>
            <a:spLocks noChangeArrowheads="1"/>
          </p:cNvSpPr>
          <p:nvPr/>
        </p:nvSpPr>
        <p:spPr bwMode="auto">
          <a:xfrm>
            <a:off x="1401441" y="3364685"/>
            <a:ext cx="675009" cy="54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dirty="0">
                <a:solidFill>
                  <a:srgbClr val="000000"/>
                </a:solidFill>
              </a:rPr>
              <a:t>수익배분</a:t>
            </a:r>
            <a:endParaRPr kumimoji="1" lang="en-US" altLang="ko-KR" sz="1200" dirty="0">
              <a:solidFill>
                <a:srgbClr val="000000"/>
              </a:solidFill>
            </a:endParaRPr>
          </a:p>
          <a:p>
            <a:pPr algn="ctr" latinLnBrk="1"/>
            <a:r>
              <a:rPr kumimoji="1" lang="en-US" altLang="ko-KR" sz="1200" dirty="0">
                <a:solidFill>
                  <a:srgbClr val="000000"/>
                </a:solidFill>
              </a:rPr>
              <a:t>(R/2)</a:t>
            </a:r>
          </a:p>
          <a:p>
            <a:pPr algn="ctr" latinLnBrk="1"/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12" name="자유형 11"/>
          <p:cNvSpPr/>
          <p:nvPr/>
        </p:nvSpPr>
        <p:spPr>
          <a:xfrm>
            <a:off x="1781175" y="2667000"/>
            <a:ext cx="1019175" cy="1133475"/>
          </a:xfrm>
          <a:custGeom>
            <a:avLst/>
            <a:gdLst>
              <a:gd name="connsiteX0" fmla="*/ 0 w 552450"/>
              <a:gd name="connsiteY0" fmla="*/ 0 h 1133475"/>
              <a:gd name="connsiteX1" fmla="*/ 0 w 552450"/>
              <a:gd name="connsiteY1" fmla="*/ 514350 h 1133475"/>
              <a:gd name="connsiteX2" fmla="*/ 133350 w 552450"/>
              <a:gd name="connsiteY2" fmla="*/ 514350 h 1133475"/>
              <a:gd name="connsiteX3" fmla="*/ 552450 w 552450"/>
              <a:gd name="connsiteY3" fmla="*/ 514350 h 1133475"/>
              <a:gd name="connsiteX4" fmla="*/ 552450 w 552450"/>
              <a:gd name="connsiteY4" fmla="*/ 1133475 h 113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2450" h="1133475">
                <a:moveTo>
                  <a:pt x="0" y="0"/>
                </a:moveTo>
                <a:lnTo>
                  <a:pt x="0" y="514350"/>
                </a:lnTo>
                <a:lnTo>
                  <a:pt x="133350" y="514350"/>
                </a:lnTo>
                <a:lnTo>
                  <a:pt x="552450" y="514350"/>
                </a:lnTo>
                <a:lnTo>
                  <a:pt x="552450" y="1133475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자유형 12"/>
          <p:cNvSpPr/>
          <p:nvPr/>
        </p:nvSpPr>
        <p:spPr>
          <a:xfrm>
            <a:off x="1590675" y="2676525"/>
            <a:ext cx="1028700" cy="1104900"/>
          </a:xfrm>
          <a:custGeom>
            <a:avLst/>
            <a:gdLst>
              <a:gd name="connsiteX0" fmla="*/ 571500 w 571500"/>
              <a:gd name="connsiteY0" fmla="*/ 1104900 h 1104900"/>
              <a:gd name="connsiteX1" fmla="*/ 571500 w 571500"/>
              <a:gd name="connsiteY1" fmla="*/ 676275 h 1104900"/>
              <a:gd name="connsiteX2" fmla="*/ 466725 w 571500"/>
              <a:gd name="connsiteY2" fmla="*/ 676275 h 1104900"/>
              <a:gd name="connsiteX3" fmla="*/ 0 w 571500"/>
              <a:gd name="connsiteY3" fmla="*/ 676275 h 1104900"/>
              <a:gd name="connsiteX4" fmla="*/ 0 w 571500"/>
              <a:gd name="connsiteY4" fmla="*/ 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500" h="1104900">
                <a:moveTo>
                  <a:pt x="571500" y="1104900"/>
                </a:moveTo>
                <a:lnTo>
                  <a:pt x="571500" y="676275"/>
                </a:lnTo>
                <a:lnTo>
                  <a:pt x="466725" y="676275"/>
                </a:lnTo>
                <a:lnTo>
                  <a:pt x="0" y="676275"/>
                </a:lnTo>
                <a:lnTo>
                  <a:pt x="0" y="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6" name="자유형 15"/>
          <p:cNvSpPr/>
          <p:nvPr/>
        </p:nvSpPr>
        <p:spPr>
          <a:xfrm>
            <a:off x="3409949" y="2647950"/>
            <a:ext cx="942975" cy="1143000"/>
          </a:xfrm>
          <a:custGeom>
            <a:avLst/>
            <a:gdLst>
              <a:gd name="connsiteX0" fmla="*/ 514350 w 514350"/>
              <a:gd name="connsiteY0" fmla="*/ 0 h 1143000"/>
              <a:gd name="connsiteX1" fmla="*/ 514350 w 514350"/>
              <a:gd name="connsiteY1" fmla="*/ 533400 h 1143000"/>
              <a:gd name="connsiteX2" fmla="*/ 0 w 514350"/>
              <a:gd name="connsiteY2" fmla="*/ 533400 h 1143000"/>
              <a:gd name="connsiteX3" fmla="*/ 0 w 514350"/>
              <a:gd name="connsiteY3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50" h="1143000">
                <a:moveTo>
                  <a:pt x="514350" y="0"/>
                </a:moveTo>
                <a:lnTo>
                  <a:pt x="514350" y="533400"/>
                </a:lnTo>
                <a:lnTo>
                  <a:pt x="0" y="533400"/>
                </a:lnTo>
                <a:lnTo>
                  <a:pt x="0" y="114300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2" name="Rectangle 17"/>
          <p:cNvSpPr>
            <a:spLocks noChangeArrowheads="1"/>
          </p:cNvSpPr>
          <p:nvPr/>
        </p:nvSpPr>
        <p:spPr bwMode="auto">
          <a:xfrm>
            <a:off x="3419822" y="2616477"/>
            <a:ext cx="787718" cy="566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b="0" dirty="0" err="1">
                <a:solidFill>
                  <a:srgbClr val="000000"/>
                </a:solidFill>
              </a:rPr>
              <a:t>라이트</a:t>
            </a:r>
            <a:r>
              <a:rPr kumimoji="1" lang="en-US" altLang="ko-KR" sz="1200" b="0" dirty="0">
                <a:solidFill>
                  <a:srgbClr val="000000"/>
                </a:solidFill>
              </a:rPr>
              <a:t>+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자전거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r>
              <a:rPr kumimoji="1" lang="ko-KR" altLang="en-US" sz="1200" b="0" dirty="0" err="1">
                <a:solidFill>
                  <a:srgbClr val="000000"/>
                </a:solidFill>
              </a:rPr>
              <a:t>실시권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 허락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r>
              <a:rPr kumimoji="1" lang="ko-KR" altLang="en-US" sz="1200" b="0" dirty="0">
                <a:solidFill>
                  <a:srgbClr val="000000"/>
                </a:solidFill>
              </a:rPr>
              <a:t>권한위탁</a:t>
            </a:r>
          </a:p>
        </p:txBody>
      </p:sp>
      <p:sp>
        <p:nvSpPr>
          <p:cNvPr id="74" name="Rectangle 4"/>
          <p:cNvSpPr>
            <a:spLocks noChangeArrowheads="1"/>
          </p:cNvSpPr>
          <p:nvPr/>
        </p:nvSpPr>
        <p:spPr bwMode="auto">
          <a:xfrm>
            <a:off x="4252795" y="2316162"/>
            <a:ext cx="504124" cy="36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dirty="0">
                <a:solidFill>
                  <a:schemeClr val="tx1"/>
                </a:solidFill>
              </a:rPr>
              <a:t>乙</a:t>
            </a:r>
          </a:p>
        </p:txBody>
      </p:sp>
      <p:sp>
        <p:nvSpPr>
          <p:cNvPr id="17" name="자유형 16"/>
          <p:cNvSpPr/>
          <p:nvPr/>
        </p:nvSpPr>
        <p:spPr>
          <a:xfrm>
            <a:off x="3562350" y="2664103"/>
            <a:ext cx="981075" cy="1183998"/>
          </a:xfrm>
          <a:custGeom>
            <a:avLst/>
            <a:gdLst>
              <a:gd name="connsiteX0" fmla="*/ 0 w 981075"/>
              <a:gd name="connsiteY0" fmla="*/ 1076325 h 1076325"/>
              <a:gd name="connsiteX1" fmla="*/ 0 w 981075"/>
              <a:gd name="connsiteY1" fmla="*/ 1076325 h 1076325"/>
              <a:gd name="connsiteX2" fmla="*/ 0 w 981075"/>
              <a:gd name="connsiteY2" fmla="*/ 685800 h 1076325"/>
              <a:gd name="connsiteX3" fmla="*/ 981075 w 981075"/>
              <a:gd name="connsiteY3" fmla="*/ 685800 h 1076325"/>
              <a:gd name="connsiteX4" fmla="*/ 981075 w 981075"/>
              <a:gd name="connsiteY4" fmla="*/ 0 h 107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075" h="1076325">
                <a:moveTo>
                  <a:pt x="0" y="1076325"/>
                </a:moveTo>
                <a:lnTo>
                  <a:pt x="0" y="1076325"/>
                </a:lnTo>
                <a:lnTo>
                  <a:pt x="0" y="685800"/>
                </a:lnTo>
                <a:lnTo>
                  <a:pt x="981075" y="685800"/>
                </a:lnTo>
                <a:lnTo>
                  <a:pt x="981075" y="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59" name="Oval 7"/>
          <p:cNvSpPr>
            <a:spLocks noChangeArrowheads="1"/>
          </p:cNvSpPr>
          <p:nvPr/>
        </p:nvSpPr>
        <p:spPr bwMode="auto">
          <a:xfrm>
            <a:off x="2154405" y="3811170"/>
            <a:ext cx="1841684" cy="100806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en-US" altLang="ko-KR" sz="2000" dirty="0"/>
              <a:t>Licensing</a:t>
            </a:r>
          </a:p>
          <a:p>
            <a:pPr algn="ctr" latinLnBrk="1"/>
            <a:r>
              <a:rPr kumimoji="1" lang="en-US" altLang="ko-KR" sz="2000" dirty="0"/>
              <a:t>Agency</a:t>
            </a:r>
          </a:p>
        </p:txBody>
      </p:sp>
      <p:sp>
        <p:nvSpPr>
          <p:cNvPr id="75" name="Rectangle 17"/>
          <p:cNvSpPr>
            <a:spLocks noChangeArrowheads="1"/>
          </p:cNvSpPr>
          <p:nvPr/>
        </p:nvSpPr>
        <p:spPr bwMode="auto">
          <a:xfrm>
            <a:off x="3820291" y="3421835"/>
            <a:ext cx="675009" cy="54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dirty="0">
                <a:solidFill>
                  <a:srgbClr val="000000"/>
                </a:solidFill>
              </a:rPr>
              <a:t>수익배분</a:t>
            </a:r>
            <a:endParaRPr kumimoji="1" lang="en-US" altLang="ko-KR" sz="1200" dirty="0">
              <a:solidFill>
                <a:srgbClr val="000000"/>
              </a:solidFill>
            </a:endParaRPr>
          </a:p>
          <a:p>
            <a:pPr algn="ctr" latinLnBrk="1"/>
            <a:r>
              <a:rPr kumimoji="1" lang="en-US" altLang="ko-KR" sz="1200" dirty="0">
                <a:solidFill>
                  <a:srgbClr val="000000"/>
                </a:solidFill>
              </a:rPr>
              <a:t>(R/2)</a:t>
            </a:r>
          </a:p>
          <a:p>
            <a:pPr algn="ctr" latinLnBrk="1"/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3228975" y="4819233"/>
            <a:ext cx="0" cy="90035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flipH="1" flipV="1">
            <a:off x="3000614" y="4819233"/>
            <a:ext cx="1" cy="90035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7127776" y="2011340"/>
            <a:ext cx="4032448" cy="44644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Rectangle 4"/>
          <p:cNvSpPr>
            <a:spLocks noChangeArrowheads="1"/>
          </p:cNvSpPr>
          <p:nvPr/>
        </p:nvSpPr>
        <p:spPr bwMode="auto">
          <a:xfrm>
            <a:off x="7760839" y="3013847"/>
            <a:ext cx="539854" cy="36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dirty="0">
                <a:solidFill>
                  <a:schemeClr val="tx1"/>
                </a:solidFill>
              </a:rPr>
              <a:t>甲</a:t>
            </a:r>
          </a:p>
        </p:txBody>
      </p:sp>
      <p:sp>
        <p:nvSpPr>
          <p:cNvPr id="79" name="Rectangle 8"/>
          <p:cNvSpPr>
            <a:spLocks noChangeArrowheads="1"/>
          </p:cNvSpPr>
          <p:nvPr/>
        </p:nvSpPr>
        <p:spPr bwMode="auto">
          <a:xfrm>
            <a:off x="8851688" y="4681366"/>
            <a:ext cx="638130" cy="36036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sz="2000" dirty="0">
                <a:solidFill>
                  <a:schemeClr val="tx1"/>
                </a:solidFill>
              </a:rPr>
              <a:t>丙</a:t>
            </a:r>
          </a:p>
        </p:txBody>
      </p:sp>
      <p:sp>
        <p:nvSpPr>
          <p:cNvPr id="88" name="Rectangle 4"/>
          <p:cNvSpPr>
            <a:spLocks noChangeArrowheads="1"/>
          </p:cNvSpPr>
          <p:nvPr/>
        </p:nvSpPr>
        <p:spPr bwMode="auto">
          <a:xfrm>
            <a:off x="10014569" y="3010949"/>
            <a:ext cx="504124" cy="36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dirty="0">
                <a:solidFill>
                  <a:schemeClr val="tx1"/>
                </a:solidFill>
              </a:rPr>
              <a:t>乙</a:t>
            </a:r>
          </a:p>
        </p:txBody>
      </p:sp>
      <p:cxnSp>
        <p:nvCxnSpPr>
          <p:cNvPr id="94" name="직선 화살표 연결선 93"/>
          <p:cNvCxnSpPr>
            <a:stCxn id="88" idx="1"/>
            <a:endCxn id="78" idx="3"/>
          </p:cNvCxnSpPr>
          <p:nvPr/>
        </p:nvCxnSpPr>
        <p:spPr>
          <a:xfrm flipH="1">
            <a:off x="8300693" y="3191131"/>
            <a:ext cx="1713876" cy="289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17"/>
          <p:cNvSpPr>
            <a:spLocks noChangeArrowheads="1"/>
          </p:cNvSpPr>
          <p:nvPr/>
        </p:nvSpPr>
        <p:spPr bwMode="auto">
          <a:xfrm>
            <a:off x="8567290" y="2912746"/>
            <a:ext cx="1206926" cy="264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dirty="0" err="1">
                <a:solidFill>
                  <a:srgbClr val="000000"/>
                </a:solidFill>
              </a:rPr>
              <a:t>교차실시권</a:t>
            </a:r>
            <a:r>
              <a:rPr kumimoji="1" lang="ko-KR" altLang="en-US" sz="1200" dirty="0">
                <a:solidFill>
                  <a:srgbClr val="000000"/>
                </a:solidFill>
              </a:rPr>
              <a:t> 허락</a:t>
            </a:r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25" name="자유형 24"/>
          <p:cNvSpPr/>
          <p:nvPr/>
        </p:nvSpPr>
        <p:spPr>
          <a:xfrm>
            <a:off x="8029574" y="3371850"/>
            <a:ext cx="1114425" cy="1295400"/>
          </a:xfrm>
          <a:custGeom>
            <a:avLst/>
            <a:gdLst>
              <a:gd name="connsiteX0" fmla="*/ 0 w 1009650"/>
              <a:gd name="connsiteY0" fmla="*/ 0 h 1295400"/>
              <a:gd name="connsiteX1" fmla="*/ 0 w 1009650"/>
              <a:gd name="connsiteY1" fmla="*/ 790575 h 1295400"/>
              <a:gd name="connsiteX2" fmla="*/ 1009650 w 1009650"/>
              <a:gd name="connsiteY2" fmla="*/ 790575 h 1295400"/>
              <a:gd name="connsiteX3" fmla="*/ 1009650 w 1009650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9650" h="1295400">
                <a:moveTo>
                  <a:pt x="0" y="0"/>
                </a:moveTo>
                <a:lnTo>
                  <a:pt x="0" y="790575"/>
                </a:lnTo>
                <a:lnTo>
                  <a:pt x="1009650" y="790575"/>
                </a:lnTo>
                <a:lnTo>
                  <a:pt x="1009650" y="129540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6" name="자유형 25"/>
          <p:cNvSpPr/>
          <p:nvPr/>
        </p:nvSpPr>
        <p:spPr>
          <a:xfrm>
            <a:off x="9258300" y="3371850"/>
            <a:ext cx="1000125" cy="1295400"/>
          </a:xfrm>
          <a:custGeom>
            <a:avLst/>
            <a:gdLst>
              <a:gd name="connsiteX0" fmla="*/ 923925 w 923925"/>
              <a:gd name="connsiteY0" fmla="*/ 0 h 1295400"/>
              <a:gd name="connsiteX1" fmla="*/ 923925 w 923925"/>
              <a:gd name="connsiteY1" fmla="*/ 771525 h 1295400"/>
              <a:gd name="connsiteX2" fmla="*/ 0 w 923925"/>
              <a:gd name="connsiteY2" fmla="*/ 771525 h 1295400"/>
              <a:gd name="connsiteX3" fmla="*/ 0 w 923925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1295400">
                <a:moveTo>
                  <a:pt x="923925" y="0"/>
                </a:moveTo>
                <a:lnTo>
                  <a:pt x="923925" y="771525"/>
                </a:lnTo>
                <a:lnTo>
                  <a:pt x="0" y="771525"/>
                </a:lnTo>
                <a:lnTo>
                  <a:pt x="0" y="129540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96" name="Rectangle 17"/>
          <p:cNvSpPr>
            <a:spLocks noChangeArrowheads="1"/>
          </p:cNvSpPr>
          <p:nvPr/>
        </p:nvSpPr>
        <p:spPr bwMode="auto">
          <a:xfrm>
            <a:off x="8029574" y="3887515"/>
            <a:ext cx="1206926" cy="264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ko-KR" altLang="en-US" sz="1200" b="0" dirty="0" err="1">
                <a:solidFill>
                  <a:srgbClr val="000000"/>
                </a:solidFill>
              </a:rPr>
              <a:t>실시권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 허락 </a:t>
            </a:r>
            <a:r>
              <a:rPr kumimoji="1" lang="en-US" altLang="ko-KR" sz="1200" dirty="0">
                <a:solidFill>
                  <a:srgbClr val="000000"/>
                </a:solidFill>
              </a:rPr>
              <a:t>×</a:t>
            </a:r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97" name="Rectangle 17"/>
          <p:cNvSpPr>
            <a:spLocks noChangeArrowheads="1"/>
          </p:cNvSpPr>
          <p:nvPr/>
        </p:nvSpPr>
        <p:spPr bwMode="auto">
          <a:xfrm>
            <a:off x="9153524" y="3887515"/>
            <a:ext cx="1206926" cy="264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ko-KR" altLang="en-US" sz="1200" b="0" dirty="0" err="1">
                <a:solidFill>
                  <a:srgbClr val="000000"/>
                </a:solidFill>
              </a:rPr>
              <a:t>실시권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 허락 </a:t>
            </a:r>
            <a:r>
              <a:rPr kumimoji="1" lang="en-US" altLang="ko-KR" sz="1200" dirty="0">
                <a:solidFill>
                  <a:srgbClr val="000000"/>
                </a:solidFill>
              </a:rPr>
              <a:t>×</a:t>
            </a:r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6118466" y="2126815"/>
            <a:ext cx="0" cy="420731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405260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366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 효력의 본질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23392" y="1880828"/>
            <a:ext cx="2747251" cy="43204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특허권의 효력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94" y="2384885"/>
            <a:ext cx="2747249" cy="175407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특허법 제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94</a:t>
            </a: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조 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특허권의 효력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) </a:t>
            </a:r>
          </a:p>
          <a:p>
            <a:pPr marL="6350" lvl="1"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① </a:t>
            </a:r>
            <a:r>
              <a:rPr lang="ko-KR" altLang="en-US" sz="1200" dirty="0"/>
              <a:t>특허권자는 업으로서 그 특허발명을 실시할 권리를 독점한다</a:t>
            </a:r>
            <a:r>
              <a:rPr lang="en-US" altLang="ko-KR" sz="1200" dirty="0"/>
              <a:t>. </a:t>
            </a:r>
            <a:r>
              <a:rPr lang="ko-KR" altLang="en-US" sz="1200" dirty="0"/>
              <a:t>다만</a:t>
            </a:r>
            <a:r>
              <a:rPr lang="en-US" altLang="ko-KR" sz="1200" dirty="0"/>
              <a:t>, </a:t>
            </a:r>
            <a:r>
              <a:rPr lang="ko-KR" altLang="en-US" sz="1200" dirty="0"/>
              <a:t>그 특허권에 관하여 </a:t>
            </a:r>
            <a:r>
              <a:rPr lang="ko-KR" altLang="en-US" sz="1200" dirty="0" err="1"/>
              <a:t>전용실시권을</a:t>
            </a:r>
            <a:r>
              <a:rPr lang="ko-KR" altLang="en-US" sz="1200" dirty="0"/>
              <a:t> 설정한 때에는 제</a:t>
            </a:r>
            <a:r>
              <a:rPr lang="en-US" altLang="ko-KR" sz="1200" dirty="0"/>
              <a:t>100</a:t>
            </a:r>
            <a:r>
              <a:rPr lang="ko-KR" altLang="en-US" sz="1200" dirty="0"/>
              <a:t>조 제</a:t>
            </a:r>
            <a:r>
              <a:rPr lang="en-US" altLang="ko-KR" sz="1200" dirty="0"/>
              <a:t>2</a:t>
            </a:r>
            <a:r>
              <a:rPr lang="ko-KR" altLang="en-US" sz="1200" dirty="0"/>
              <a:t>항의 규정에 의하여 </a:t>
            </a:r>
            <a:r>
              <a:rPr lang="ko-KR" altLang="en-US" sz="1200" dirty="0" err="1"/>
              <a:t>전실시권자가</a:t>
            </a:r>
            <a:r>
              <a:rPr lang="ko-KR" altLang="en-US" sz="1200" dirty="0"/>
              <a:t> 그 특허발명을 실시할 권리를 독점하는 </a:t>
            </a:r>
            <a:r>
              <a:rPr lang="ko-KR" altLang="en-US" sz="1200" dirty="0" err="1"/>
              <a:t>범위안에서는</a:t>
            </a:r>
            <a:r>
              <a:rPr lang="ko-KR" altLang="en-US" sz="1200" dirty="0"/>
              <a:t> 그러하지 아니하다</a:t>
            </a:r>
            <a:r>
              <a:rPr lang="en-US" altLang="ko-KR" sz="1200" dirty="0"/>
              <a:t>.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983765" y="1160748"/>
            <a:ext cx="2747251" cy="43204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독점</a:t>
            </a:r>
            <a:r>
              <a:rPr lang="en-US" altLang="ko-KR" sz="1600" dirty="0">
                <a:solidFill>
                  <a:schemeClr val="tx1"/>
                </a:solidFill>
              </a:rPr>
              <a:t>: </a:t>
            </a:r>
            <a:r>
              <a:rPr lang="ko-KR" altLang="en-US" sz="1600" dirty="0">
                <a:solidFill>
                  <a:schemeClr val="tx1"/>
                </a:solidFill>
              </a:rPr>
              <a:t>적극적 효력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3983765" y="2384884"/>
            <a:ext cx="2747251" cy="43204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배타</a:t>
            </a:r>
            <a:r>
              <a:rPr lang="en-US" altLang="ko-KR" sz="1600" dirty="0">
                <a:solidFill>
                  <a:schemeClr val="tx1"/>
                </a:solidFill>
              </a:rPr>
              <a:t>: </a:t>
            </a:r>
            <a:r>
              <a:rPr lang="ko-KR" altLang="en-US" sz="1600" dirty="0">
                <a:solidFill>
                  <a:schemeClr val="tx1"/>
                </a:solidFill>
              </a:rPr>
              <a:t>소극적 효력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7440150" y="1124744"/>
            <a:ext cx="3936437" cy="504056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+mn-ea"/>
              </a:rPr>
              <a:t>예외</a:t>
            </a:r>
            <a:r>
              <a:rPr lang="en-US" altLang="ko-KR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+mn-ea"/>
              </a:rPr>
              <a:t>이용저촉발명</a:t>
            </a:r>
          </a:p>
        </p:txBody>
      </p:sp>
      <p:cxnSp>
        <p:nvCxnSpPr>
          <p:cNvPr id="11" name="직선 연결선 10"/>
          <p:cNvCxnSpPr>
            <a:stCxn id="6" idx="3"/>
            <a:endCxn id="10" idx="1"/>
          </p:cNvCxnSpPr>
          <p:nvPr/>
        </p:nvCxnSpPr>
        <p:spPr>
          <a:xfrm>
            <a:off x="6731016" y="1376772"/>
            <a:ext cx="709134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40150" y="1736813"/>
            <a:ext cx="3936437" cy="19941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특허법 제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98</a:t>
            </a: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조 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타인의 특허발명등과의 관계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) </a:t>
            </a:r>
          </a:p>
          <a:p>
            <a:pPr marL="0" lvl="1">
              <a:lnSpc>
                <a:spcPct val="130000"/>
              </a:lnSpc>
            </a:pPr>
            <a:r>
              <a:rPr lang="ko-KR" altLang="en-US" sz="1200" dirty="0" err="1"/>
              <a:t>특허권자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전용실시권자</a:t>
            </a:r>
            <a:r>
              <a:rPr lang="ko-KR" altLang="en-US" sz="1200" dirty="0"/>
              <a:t> 또는 </a:t>
            </a:r>
            <a:r>
              <a:rPr lang="ko-KR" altLang="en-US" sz="1200" dirty="0" err="1"/>
              <a:t>통상실시권자는</a:t>
            </a:r>
            <a:r>
              <a:rPr lang="ko-KR" altLang="en-US" sz="1200" dirty="0"/>
              <a:t> 특허발명이 그 특허발명의 </a:t>
            </a:r>
            <a:r>
              <a:rPr lang="ko-KR" altLang="en-US" sz="1200" b="1" u="sng" dirty="0"/>
              <a:t>특허출원일전</a:t>
            </a:r>
            <a:r>
              <a:rPr lang="ko-KR" altLang="en-US" sz="1200" dirty="0"/>
              <a:t>에 출원된 </a:t>
            </a:r>
            <a:r>
              <a:rPr lang="ko-KR" altLang="en-US" sz="1200" b="1" u="sng" dirty="0"/>
              <a:t>타인의 </a:t>
            </a:r>
            <a:r>
              <a:rPr lang="ko-KR" altLang="en-US" sz="1200" dirty="0"/>
              <a:t>특허발명</a:t>
            </a:r>
            <a:r>
              <a:rPr lang="en-US" altLang="ko-KR" sz="1200" dirty="0"/>
              <a:t>·</a:t>
            </a:r>
            <a:r>
              <a:rPr lang="ko-KR" altLang="en-US" sz="1200" dirty="0"/>
              <a:t>등록실용신안 또는 등록디자인이나 이와 유사한 디자인을 </a:t>
            </a:r>
            <a:r>
              <a:rPr lang="ko-KR" altLang="en-US" sz="1200" b="1" u="sng" dirty="0"/>
              <a:t>이용하거나</a:t>
            </a:r>
            <a:r>
              <a:rPr lang="ko-KR" altLang="en-US" sz="1200" dirty="0"/>
              <a:t> 특허권이 그 특허발명의 특허출원일전에 출원된 타인의 </a:t>
            </a:r>
            <a:r>
              <a:rPr lang="ko-KR" altLang="en-US" sz="1200" dirty="0" err="1"/>
              <a:t>디자인권</a:t>
            </a:r>
            <a:r>
              <a:rPr lang="ko-KR" altLang="en-US" sz="1200" dirty="0"/>
              <a:t> 또는 상표권과 </a:t>
            </a:r>
            <a:r>
              <a:rPr lang="ko-KR" altLang="en-US" sz="1200" b="1" u="sng" dirty="0"/>
              <a:t>저촉되는 경우에는 </a:t>
            </a:r>
            <a:r>
              <a:rPr lang="ko-KR" altLang="en-US" sz="1200" dirty="0"/>
              <a:t>그 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실용신안권자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디자인권자</a:t>
            </a:r>
            <a:r>
              <a:rPr lang="ko-KR" altLang="en-US" sz="1200" dirty="0"/>
              <a:t> 또는 상표권자의 </a:t>
            </a:r>
            <a:r>
              <a:rPr lang="ko-KR" altLang="en-US" sz="1200" b="1" u="sng" dirty="0"/>
              <a:t>허락을 얻지 아니하고는 자기의 특허발명을 업으로서 실시할 수 없다</a:t>
            </a:r>
            <a:r>
              <a:rPr lang="en-US" altLang="ko-KR" sz="1200" b="1" u="sng" dirty="0"/>
              <a:t>. </a:t>
            </a:r>
            <a:endParaRPr lang="ko-KR" altLang="en-US" sz="1200" b="1" u="sng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241893" y="3813723"/>
            <a:ext cx="1152128" cy="432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침해</a:t>
            </a:r>
            <a:endParaRPr lang="ko-KR" altLang="en-US" sz="16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5347053" y="4543215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성립요건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47053" y="5092722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종류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347053" y="5639871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조치</a:t>
            </a:r>
          </a:p>
        </p:txBody>
      </p:sp>
      <p:cxnSp>
        <p:nvCxnSpPr>
          <p:cNvPr id="17" name="꺾인 연결선 16"/>
          <p:cNvCxnSpPr>
            <a:stCxn id="7" idx="2"/>
            <a:endCxn id="13" idx="0"/>
          </p:cNvCxnSpPr>
          <p:nvPr/>
        </p:nvCxnSpPr>
        <p:spPr>
          <a:xfrm rot="5400000">
            <a:off x="4589279" y="3045610"/>
            <a:ext cx="996791" cy="53943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/>
          <p:cNvSpPr/>
          <p:nvPr/>
        </p:nvSpPr>
        <p:spPr>
          <a:xfrm>
            <a:off x="7442583" y="4293097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직접침해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7440149" y="4788150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간접침해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410801" y="5364214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민사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9408368" y="5834282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형사</a:t>
            </a:r>
          </a:p>
        </p:txBody>
      </p:sp>
      <p:cxnSp>
        <p:nvCxnSpPr>
          <p:cNvPr id="22" name="꺾인 연결선 21"/>
          <p:cNvCxnSpPr>
            <a:stCxn id="13" idx="2"/>
            <a:endCxn id="16" idx="1"/>
          </p:cNvCxnSpPr>
          <p:nvPr/>
        </p:nvCxnSpPr>
        <p:spPr>
          <a:xfrm rot="16200000" flipH="1">
            <a:off x="4293194" y="4770534"/>
            <a:ext cx="1578622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13" idx="2"/>
            <a:endCxn id="14" idx="1"/>
          </p:cNvCxnSpPr>
          <p:nvPr/>
        </p:nvCxnSpPr>
        <p:spPr>
          <a:xfrm rot="16200000" flipH="1">
            <a:off x="4841522" y="4222206"/>
            <a:ext cx="481966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3" idx="2"/>
            <a:endCxn id="15" idx="1"/>
          </p:cNvCxnSpPr>
          <p:nvPr/>
        </p:nvCxnSpPr>
        <p:spPr>
          <a:xfrm rot="16200000" flipH="1">
            <a:off x="4566769" y="4496959"/>
            <a:ext cx="1031473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15" idx="3"/>
            <a:endCxn id="18" idx="1"/>
          </p:cNvCxnSpPr>
          <p:nvPr/>
        </p:nvCxnSpPr>
        <p:spPr>
          <a:xfrm flipV="1">
            <a:off x="6864086" y="4477619"/>
            <a:ext cx="578497" cy="79962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15" idx="3"/>
            <a:endCxn id="19" idx="1"/>
          </p:cNvCxnSpPr>
          <p:nvPr/>
        </p:nvCxnSpPr>
        <p:spPr>
          <a:xfrm flipV="1">
            <a:off x="6864085" y="4972671"/>
            <a:ext cx="576064" cy="30457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16" idx="3"/>
            <a:endCxn id="20" idx="1"/>
          </p:cNvCxnSpPr>
          <p:nvPr/>
        </p:nvCxnSpPr>
        <p:spPr>
          <a:xfrm flipV="1">
            <a:off x="6864086" y="5548736"/>
            <a:ext cx="2546716" cy="27565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16" idx="3"/>
            <a:endCxn id="21" idx="1"/>
          </p:cNvCxnSpPr>
          <p:nvPr/>
        </p:nvCxnSpPr>
        <p:spPr>
          <a:xfrm>
            <a:off x="6864085" y="5824393"/>
            <a:ext cx="2544283" cy="19441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4" idx="3"/>
            <a:endCxn id="6" idx="1"/>
          </p:cNvCxnSpPr>
          <p:nvPr/>
        </p:nvCxnSpPr>
        <p:spPr>
          <a:xfrm flipV="1">
            <a:off x="3370643" y="1376772"/>
            <a:ext cx="613122" cy="7200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6" idx="2"/>
            <a:endCxn id="7" idx="0"/>
          </p:cNvCxnSpPr>
          <p:nvPr/>
        </p:nvCxnSpPr>
        <p:spPr>
          <a:xfrm>
            <a:off x="5357391" y="1592796"/>
            <a:ext cx="0" cy="7920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7"/>
          <p:cNvSpPr>
            <a:spLocks noChangeArrowheads="1"/>
          </p:cNvSpPr>
          <p:nvPr/>
        </p:nvSpPr>
        <p:spPr bwMode="auto">
          <a:xfrm>
            <a:off x="4748654" y="1736813"/>
            <a:ext cx="2068087" cy="49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b="0" dirty="0">
                <a:solidFill>
                  <a:srgbClr val="000000"/>
                </a:solidFill>
              </a:rPr>
              <a:t>반대급부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r>
              <a:rPr kumimoji="1" lang="en-US" altLang="ko-KR" sz="1200" dirty="0">
                <a:solidFill>
                  <a:srgbClr val="000000"/>
                </a:solidFill>
              </a:rPr>
              <a:t>(</a:t>
            </a:r>
            <a:r>
              <a:rPr kumimoji="1" lang="ko-KR" altLang="en-US" sz="1200" dirty="0">
                <a:solidFill>
                  <a:srgbClr val="000000"/>
                </a:solidFill>
              </a:rPr>
              <a:t>동전의 양면</a:t>
            </a:r>
            <a:r>
              <a:rPr kumimoji="1" lang="en-US" altLang="ko-KR" sz="1200" dirty="0">
                <a:solidFill>
                  <a:srgbClr val="000000"/>
                </a:solidFill>
              </a:rPr>
              <a:t>)</a:t>
            </a:r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050DB8-3F1E-F1B3-B567-522907D4B74B}"/>
              </a:ext>
            </a:extLst>
          </p:cNvPr>
          <p:cNvSpPr txBox="1"/>
          <p:nvPr/>
        </p:nvSpPr>
        <p:spPr>
          <a:xfrm>
            <a:off x="839151" y="5251346"/>
            <a:ext cx="266932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특허법에서 소극적 효력 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근거규정을 두는 것이 필요</a:t>
            </a:r>
          </a:p>
        </p:txBody>
      </p:sp>
    </p:spTree>
    <p:extLst>
      <p:ext uri="{BB962C8B-B14F-4D97-AF65-F5344CB8AC3E}">
        <p14:creationId xmlns:p14="http://schemas.microsoft.com/office/powerpoint/2010/main" val="13604350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특허는 방패가 아니라 창이다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0" y="152831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나의 특허는 나의 제품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기술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아이디어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로부터 창출되지만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나의 제품을 보호하기 위한 방패는 아니며 아직 확정되지 않은 상대방의 제품을 공격하기 위한 창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다만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이용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저촉에 해당하는 경우 나의 특허로 인해 통상실시권을 확보할 수 있는 기회를 얻게 된다</a:t>
            </a:r>
            <a:r>
              <a:rPr lang="en-US" altLang="ko-KR" sz="1400" dirty="0">
                <a:latin typeface="+mn-ea"/>
              </a:rPr>
              <a:t>.)</a:t>
            </a:r>
            <a:r>
              <a:rPr lang="ko-KR" altLang="en-US" sz="1400" dirty="0">
                <a:latin typeface="+mn-ea"/>
              </a:rPr>
              <a:t> </a:t>
            </a:r>
          </a:p>
        </p:txBody>
      </p:sp>
      <p:sp>
        <p:nvSpPr>
          <p:cNvPr id="33" name="자유형 32"/>
          <p:cNvSpPr/>
          <p:nvPr/>
        </p:nvSpPr>
        <p:spPr>
          <a:xfrm>
            <a:off x="4651740" y="1696884"/>
            <a:ext cx="2112433" cy="1735037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67853" tIns="167853" rIns="167853" bIns="167853" spcCol="1270" anchor="ctr"/>
          <a:lstStyle/>
          <a:p>
            <a:pPr algn="ctr" defTabSz="7112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ko-KR" sz="1600" dirty="0">
                <a:latin typeface="+mn-ea"/>
              </a:rPr>
              <a:t>My patent</a:t>
            </a:r>
            <a:endParaRPr lang="ko-KR" altLang="en-US" sz="1600" dirty="0">
              <a:latin typeface="+mn-ea"/>
            </a:endParaRPr>
          </a:p>
        </p:txBody>
      </p:sp>
      <p:sp>
        <p:nvSpPr>
          <p:cNvPr id="34" name="자유형 33"/>
          <p:cNvSpPr/>
          <p:nvPr/>
        </p:nvSpPr>
        <p:spPr>
          <a:xfrm>
            <a:off x="7977188" y="4210910"/>
            <a:ext cx="2176462" cy="1731422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67853" tIns="167853" rIns="167853" bIns="167853" spcCol="1270" anchor="ctr"/>
          <a:lstStyle/>
          <a:p>
            <a:pPr algn="ctr" defTabSz="7112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ko-KR" sz="1600" dirty="0">
                <a:latin typeface="+mn-ea"/>
              </a:rPr>
              <a:t>Other Product</a:t>
            </a:r>
          </a:p>
          <a:p>
            <a:pPr algn="ctr" defTabSz="7112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ko-KR" sz="1600" dirty="0">
                <a:latin typeface="+mn-ea"/>
              </a:rPr>
              <a:t>(TO BE)</a:t>
            </a:r>
            <a:endParaRPr lang="ko-KR" altLang="en-US" sz="1600" dirty="0">
              <a:latin typeface="+mn-ea"/>
            </a:endParaRPr>
          </a:p>
        </p:txBody>
      </p:sp>
      <p:sp>
        <p:nvSpPr>
          <p:cNvPr id="37" name="자유형 36"/>
          <p:cNvSpPr/>
          <p:nvPr/>
        </p:nvSpPr>
        <p:spPr>
          <a:xfrm>
            <a:off x="1662872" y="4299338"/>
            <a:ext cx="2174946" cy="1731422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67853" tIns="167853" rIns="167853" bIns="167853" spcCol="1270" anchor="ctr"/>
          <a:lstStyle/>
          <a:p>
            <a:pPr algn="ctr" defTabSz="7112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ko-KR" sz="1600" dirty="0">
                <a:latin typeface="+mn-ea"/>
              </a:rPr>
              <a:t>My Product, Idea, Technology</a:t>
            </a:r>
          </a:p>
          <a:p>
            <a:pPr algn="ctr" defTabSz="7112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ko-KR" sz="1600" dirty="0">
                <a:latin typeface="+mn-ea"/>
              </a:rPr>
              <a:t>(AS IS)</a:t>
            </a:r>
            <a:endParaRPr lang="ko-KR" altLang="en-US" sz="1600" dirty="0">
              <a:latin typeface="+mn-ea"/>
            </a:endParaRPr>
          </a:p>
        </p:txBody>
      </p:sp>
      <p:sp>
        <p:nvSpPr>
          <p:cNvPr id="38" name="오른쪽 화살표 37"/>
          <p:cNvSpPr/>
          <p:nvPr/>
        </p:nvSpPr>
        <p:spPr bwMode="auto">
          <a:xfrm rot="2795701">
            <a:off x="6811367" y="2984246"/>
            <a:ext cx="1798241" cy="895349"/>
          </a:xfrm>
          <a:prstGeom prst="rightArrow">
            <a:avLst>
              <a:gd name="adj1" fmla="val 74086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Attack</a:t>
            </a:r>
            <a:endParaRPr lang="ko-KR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9" name="위로 굽은 화살표 38"/>
          <p:cNvSpPr/>
          <p:nvPr/>
        </p:nvSpPr>
        <p:spPr bwMode="auto">
          <a:xfrm>
            <a:off x="4459718" y="3745627"/>
            <a:ext cx="1824203" cy="1568616"/>
          </a:xfrm>
          <a:prstGeom prst="bentUpArrow">
            <a:avLst>
              <a:gd name="adj1" fmla="val 34559"/>
              <a:gd name="adj2" fmla="val 21693"/>
              <a:gd name="adj3" fmla="val 29470"/>
            </a:avLst>
          </a:prstGeom>
          <a:solidFill>
            <a:schemeClr val="tx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ko-KR" sz="1400" b="0" dirty="0">
                <a:solidFill>
                  <a:srgbClr val="1C1C1C"/>
                </a:solidFill>
                <a:latin typeface="+mn-ea"/>
              </a:rPr>
              <a:t>Create</a:t>
            </a:r>
            <a:endParaRPr lang="ko-KR" altLang="en-US" sz="1400" b="0" dirty="0">
              <a:solidFill>
                <a:srgbClr val="1C1C1C"/>
              </a:solidFill>
              <a:latin typeface="+mn-ea"/>
            </a:endParaRPr>
          </a:p>
        </p:txBody>
      </p:sp>
      <p:sp>
        <p:nvSpPr>
          <p:cNvPr id="40" name="왼쪽 화살표 39"/>
          <p:cNvSpPr/>
          <p:nvPr/>
        </p:nvSpPr>
        <p:spPr bwMode="auto">
          <a:xfrm rot="18872142">
            <a:off x="2924322" y="3107062"/>
            <a:ext cx="1826991" cy="958851"/>
          </a:xfrm>
          <a:prstGeom prst="leftArrow">
            <a:avLst>
              <a:gd name="adj1" fmla="val 67429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ko-KR" sz="1400" b="0" dirty="0">
                <a:solidFill>
                  <a:srgbClr val="1C1C1C"/>
                </a:solidFill>
                <a:latin typeface="+mn-ea"/>
              </a:rPr>
              <a:t>No-Attack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No-Defense</a:t>
            </a:r>
            <a:endParaRPr lang="ko-KR" altLang="en-US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7865507" y="2908739"/>
            <a:ext cx="665057" cy="60400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8681923" y="2984683"/>
            <a:ext cx="1614545" cy="447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공격의 조건은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3" name="타원 42"/>
          <p:cNvSpPr/>
          <p:nvPr/>
        </p:nvSpPr>
        <p:spPr>
          <a:xfrm>
            <a:off x="7198653" y="5978215"/>
            <a:ext cx="597032" cy="60400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795685" y="5978215"/>
            <a:ext cx="2929007" cy="782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후발업체는 어떻게 모방할까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Dead copy?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61790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OA</a:t>
            </a:r>
            <a:r>
              <a:rPr lang="ko-KR" altLang="en-US" dirty="0"/>
              <a:t>는 창을 만들기 위한 </a:t>
            </a:r>
            <a:r>
              <a:rPr lang="en-US" altLang="ko-KR" dirty="0"/>
              <a:t>Golden Time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AAA0957-C325-4D99-A205-B96D4B59707C}"/>
              </a:ext>
            </a:extLst>
          </p:cNvPr>
          <p:cNvGrpSpPr/>
          <p:nvPr/>
        </p:nvGrpSpPr>
        <p:grpSpPr>
          <a:xfrm>
            <a:off x="138233" y="773229"/>
            <a:ext cx="11915612" cy="5993227"/>
            <a:chOff x="138233" y="583457"/>
            <a:chExt cx="11915612" cy="5993227"/>
          </a:xfrm>
        </p:grpSpPr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936A3258-2A67-48CD-A811-1EEBBF2D3FC6}"/>
                </a:ext>
              </a:extLst>
            </p:cNvPr>
            <p:cNvCxnSpPr>
              <a:cxnSpLocks/>
              <a:stCxn id="108" idx="0"/>
            </p:cNvCxnSpPr>
            <p:nvPr/>
          </p:nvCxnSpPr>
          <p:spPr>
            <a:xfrm flipV="1">
              <a:off x="9603922" y="669172"/>
              <a:ext cx="24958" cy="3294576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AF2F7F1C-2F1B-4108-95C8-EF71353395EB}"/>
                </a:ext>
              </a:extLst>
            </p:cNvPr>
            <p:cNvCxnSpPr>
              <a:cxnSpLocks/>
              <a:stCxn id="109" idx="0"/>
            </p:cNvCxnSpPr>
            <p:nvPr/>
          </p:nvCxnSpPr>
          <p:spPr>
            <a:xfrm flipV="1">
              <a:off x="4463819" y="688016"/>
              <a:ext cx="0" cy="3275732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5FA214FD-9AC3-4907-BD1E-3F7113339B1B}"/>
                </a:ext>
              </a:extLst>
            </p:cNvPr>
            <p:cNvSpPr/>
            <p:nvPr/>
          </p:nvSpPr>
          <p:spPr>
            <a:xfrm>
              <a:off x="239349" y="2480404"/>
              <a:ext cx="11809312" cy="114553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AF21CA6D-2236-48F2-8288-9966E38D675E}"/>
                </a:ext>
              </a:extLst>
            </p:cNvPr>
            <p:cNvSpPr/>
            <p:nvPr/>
          </p:nvSpPr>
          <p:spPr>
            <a:xfrm>
              <a:off x="239349" y="1246287"/>
              <a:ext cx="11809312" cy="114553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7F63A558-8FD7-469B-9D66-AE161EBA75C0}"/>
                </a:ext>
              </a:extLst>
            </p:cNvPr>
            <p:cNvSpPr/>
            <p:nvPr/>
          </p:nvSpPr>
          <p:spPr>
            <a:xfrm>
              <a:off x="4943872" y="3819732"/>
              <a:ext cx="4135521" cy="122413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ko-KR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CLAIM-REPOSITIONING</a:t>
              </a:r>
            </a:p>
            <a:p>
              <a:pPr algn="ctr"/>
              <a:r>
                <a:rPr lang="en-US" altLang="ko-KR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STRATEGY</a:t>
              </a:r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07" name="오른쪽 화살표 19">
              <a:extLst>
                <a:ext uri="{FF2B5EF4-FFF2-40B4-BE49-F238E27FC236}">
                  <a16:creationId xmlns:a16="http://schemas.microsoft.com/office/drawing/2014/main" id="{C6480E62-798C-4B68-B711-9BEC3D6E33FB}"/>
                </a:ext>
              </a:extLst>
            </p:cNvPr>
            <p:cNvSpPr/>
            <p:nvPr/>
          </p:nvSpPr>
          <p:spPr>
            <a:xfrm>
              <a:off x="1199456" y="3982592"/>
              <a:ext cx="10849205" cy="432047"/>
            </a:xfrm>
            <a:prstGeom prst="rightArrow">
              <a:avLst>
                <a:gd name="adj1" fmla="val 75654"/>
                <a:gd name="adj2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08" name="모서리가 둥근 직사각형 20">
              <a:extLst>
                <a:ext uri="{FF2B5EF4-FFF2-40B4-BE49-F238E27FC236}">
                  <a16:creationId xmlns:a16="http://schemas.microsoft.com/office/drawing/2014/main" id="{BA71381D-2257-4B82-82A4-84D40365E204}"/>
                </a:ext>
              </a:extLst>
            </p:cNvPr>
            <p:cNvSpPr/>
            <p:nvPr/>
          </p:nvSpPr>
          <p:spPr>
            <a:xfrm>
              <a:off x="9079394" y="3963748"/>
              <a:ext cx="1049055" cy="432048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4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특허</a:t>
              </a:r>
              <a:r>
                <a:rPr lang="ko-KR" altLang="en-US" sz="1400" kern="12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등록</a:t>
              </a:r>
            </a:p>
          </p:txBody>
        </p:sp>
        <p:sp>
          <p:nvSpPr>
            <p:cNvPr id="109" name="모서리가 둥근 직사각형 21">
              <a:extLst>
                <a:ext uri="{FF2B5EF4-FFF2-40B4-BE49-F238E27FC236}">
                  <a16:creationId xmlns:a16="http://schemas.microsoft.com/office/drawing/2014/main" id="{A73E9CA2-7DE7-47EC-AFF3-909F93B2AC80}"/>
                </a:ext>
              </a:extLst>
            </p:cNvPr>
            <p:cNvSpPr/>
            <p:nvPr/>
          </p:nvSpPr>
          <p:spPr>
            <a:xfrm>
              <a:off x="3983765" y="3963748"/>
              <a:ext cx="960107" cy="432048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4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특허</a:t>
              </a:r>
              <a:r>
                <a:rPr lang="ko-KR" altLang="en-US" sz="1400" kern="12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출원</a:t>
              </a:r>
            </a:p>
          </p:txBody>
        </p:sp>
        <p:sp>
          <p:nvSpPr>
            <p:cNvPr id="110" name="모서리가 둥근 직사각형 22">
              <a:extLst>
                <a:ext uri="{FF2B5EF4-FFF2-40B4-BE49-F238E27FC236}">
                  <a16:creationId xmlns:a16="http://schemas.microsoft.com/office/drawing/2014/main" id="{BDB122ED-C479-4024-A744-B66BC4D27A6A}"/>
                </a:ext>
              </a:extLst>
            </p:cNvPr>
            <p:cNvSpPr/>
            <p:nvPr/>
          </p:nvSpPr>
          <p:spPr>
            <a:xfrm>
              <a:off x="1391478" y="3963748"/>
              <a:ext cx="1028685" cy="43204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400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발명완성</a:t>
              </a:r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28434EB4-ED07-4CB1-93BC-C69431189DBB}"/>
                </a:ext>
              </a:extLst>
            </p:cNvPr>
            <p:cNvSpPr/>
            <p:nvPr/>
          </p:nvSpPr>
          <p:spPr>
            <a:xfrm>
              <a:off x="2607594" y="1318295"/>
              <a:ext cx="1216174" cy="1008112"/>
            </a:xfrm>
            <a:prstGeom prst="ellipse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2D088381-1080-4574-AE9D-99A72FA811E7}"/>
                </a:ext>
              </a:extLst>
            </p:cNvPr>
            <p:cNvSpPr/>
            <p:nvPr/>
          </p:nvSpPr>
          <p:spPr>
            <a:xfrm>
              <a:off x="2867605" y="1493810"/>
              <a:ext cx="275656" cy="288032"/>
            </a:xfrm>
            <a:prstGeom prst="ellipse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D587C59B-D132-4E9A-B46C-6D5AE9DDB749}"/>
                </a:ext>
              </a:extLst>
            </p:cNvPr>
            <p:cNvSpPr/>
            <p:nvPr/>
          </p:nvSpPr>
          <p:spPr>
            <a:xfrm>
              <a:off x="3249970" y="1493810"/>
              <a:ext cx="275656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37E340A2-B110-461F-A978-78555FAA0E69}"/>
                </a:ext>
              </a:extLst>
            </p:cNvPr>
            <p:cNvSpPr/>
            <p:nvPr/>
          </p:nvSpPr>
          <p:spPr>
            <a:xfrm>
              <a:off x="2867605" y="1827064"/>
              <a:ext cx="275656" cy="288032"/>
            </a:xfrm>
            <a:prstGeom prst="ellipse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FD643341-74EC-4AF0-948F-31A58460B8D7}"/>
                </a:ext>
              </a:extLst>
            </p:cNvPr>
            <p:cNvSpPr/>
            <p:nvPr/>
          </p:nvSpPr>
          <p:spPr>
            <a:xfrm>
              <a:off x="3253518" y="1827064"/>
              <a:ext cx="275656" cy="288032"/>
            </a:xfrm>
            <a:prstGeom prst="ellipse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64637068-999E-46CE-A8A0-4EE40E03BF07}"/>
                </a:ext>
              </a:extLst>
            </p:cNvPr>
            <p:cNvSpPr/>
            <p:nvPr/>
          </p:nvSpPr>
          <p:spPr>
            <a:xfrm>
              <a:off x="6352010" y="1318295"/>
              <a:ext cx="1216174" cy="1008112"/>
            </a:xfrm>
            <a:prstGeom prst="ellipse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BE5A882D-447A-4463-9098-21031CFB833E}"/>
                </a:ext>
              </a:extLst>
            </p:cNvPr>
            <p:cNvSpPr/>
            <p:nvPr/>
          </p:nvSpPr>
          <p:spPr>
            <a:xfrm>
              <a:off x="6640297" y="1493810"/>
              <a:ext cx="275656" cy="288032"/>
            </a:xfrm>
            <a:prstGeom prst="ellipse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EB0155AF-9A24-461C-BB3F-A67A65435870}"/>
                </a:ext>
              </a:extLst>
            </p:cNvPr>
            <p:cNvSpPr/>
            <p:nvPr/>
          </p:nvSpPr>
          <p:spPr>
            <a:xfrm>
              <a:off x="6994386" y="1493810"/>
              <a:ext cx="275656" cy="288032"/>
            </a:xfrm>
            <a:prstGeom prst="ellipse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235BA3D4-B435-4AD5-BB92-FA6E679A889E}"/>
                </a:ext>
              </a:extLst>
            </p:cNvPr>
            <p:cNvSpPr/>
            <p:nvPr/>
          </p:nvSpPr>
          <p:spPr>
            <a:xfrm>
              <a:off x="6640297" y="1827064"/>
              <a:ext cx="275656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F1E4BE15-BE63-4218-A196-3F728C33CE44}"/>
                </a:ext>
              </a:extLst>
            </p:cNvPr>
            <p:cNvSpPr/>
            <p:nvPr/>
          </p:nvSpPr>
          <p:spPr>
            <a:xfrm>
              <a:off x="6997934" y="1827064"/>
              <a:ext cx="275656" cy="288032"/>
            </a:xfrm>
            <a:prstGeom prst="ellipse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A3325929-DEF3-411E-A5B8-53697B8FF203}"/>
                </a:ext>
              </a:extLst>
            </p:cNvPr>
            <p:cNvSpPr/>
            <p:nvPr/>
          </p:nvSpPr>
          <p:spPr>
            <a:xfrm>
              <a:off x="10384458" y="1318295"/>
              <a:ext cx="1216174" cy="1008112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A0D70555-FB10-47E0-A0DA-EF009312E398}"/>
                </a:ext>
              </a:extLst>
            </p:cNvPr>
            <p:cNvSpPr/>
            <p:nvPr/>
          </p:nvSpPr>
          <p:spPr>
            <a:xfrm>
              <a:off x="10653897" y="1493810"/>
              <a:ext cx="275656" cy="2880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567961D4-C51F-4CC2-8131-761715B3C425}"/>
                </a:ext>
              </a:extLst>
            </p:cNvPr>
            <p:cNvSpPr/>
            <p:nvPr/>
          </p:nvSpPr>
          <p:spPr>
            <a:xfrm>
              <a:off x="11026834" y="1493810"/>
              <a:ext cx="275656" cy="2880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EBB88267-83CC-4028-8E92-D3369444FE5C}"/>
                </a:ext>
              </a:extLst>
            </p:cNvPr>
            <p:cNvSpPr/>
            <p:nvPr/>
          </p:nvSpPr>
          <p:spPr>
            <a:xfrm>
              <a:off x="10653897" y="1827064"/>
              <a:ext cx="275656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C95EE605-9179-4432-B9FE-6684B3FAE3D4}"/>
                </a:ext>
              </a:extLst>
            </p:cNvPr>
            <p:cNvSpPr/>
            <p:nvPr/>
          </p:nvSpPr>
          <p:spPr>
            <a:xfrm>
              <a:off x="11030382" y="1827064"/>
              <a:ext cx="275656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CBF964F1-2451-4923-AFD6-E5B60A8FA3EA}"/>
                </a:ext>
              </a:extLst>
            </p:cNvPr>
            <p:cNvSpPr/>
            <p:nvPr/>
          </p:nvSpPr>
          <p:spPr>
            <a:xfrm>
              <a:off x="2607594" y="2549116"/>
              <a:ext cx="1216174" cy="100811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645060BC-4F58-46E0-B307-D37798799017}"/>
                </a:ext>
              </a:extLst>
            </p:cNvPr>
            <p:cNvSpPr/>
            <p:nvPr/>
          </p:nvSpPr>
          <p:spPr>
            <a:xfrm>
              <a:off x="2867605" y="2724631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56FC9E85-3EE1-4C03-BF03-BDA26C4446D5}"/>
                </a:ext>
              </a:extLst>
            </p:cNvPr>
            <p:cNvSpPr/>
            <p:nvPr/>
          </p:nvSpPr>
          <p:spPr>
            <a:xfrm>
              <a:off x="3249970" y="2724631"/>
              <a:ext cx="275656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BA77CA6C-546A-4F81-A474-59C87045A3C6}"/>
                </a:ext>
              </a:extLst>
            </p:cNvPr>
            <p:cNvSpPr/>
            <p:nvPr/>
          </p:nvSpPr>
          <p:spPr>
            <a:xfrm>
              <a:off x="2867605" y="3057885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561CCFA4-A86B-4D63-9DF8-A41AD90C08F9}"/>
                </a:ext>
              </a:extLst>
            </p:cNvPr>
            <p:cNvSpPr/>
            <p:nvPr/>
          </p:nvSpPr>
          <p:spPr>
            <a:xfrm>
              <a:off x="3253518" y="3057885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611135A3-DFAF-4FA5-93D7-DFDF6E8B299B}"/>
                </a:ext>
              </a:extLst>
            </p:cNvPr>
            <p:cNvSpPr/>
            <p:nvPr/>
          </p:nvSpPr>
          <p:spPr>
            <a:xfrm>
              <a:off x="7459136" y="2549116"/>
              <a:ext cx="1216174" cy="100811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320131C9-3AA4-4875-87B0-246000CAE726}"/>
                </a:ext>
              </a:extLst>
            </p:cNvPr>
            <p:cNvSpPr/>
            <p:nvPr/>
          </p:nvSpPr>
          <p:spPr>
            <a:xfrm>
              <a:off x="7738000" y="2724631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75959EEB-50C6-4FE3-96ED-9FFD6CB8B23F}"/>
                </a:ext>
              </a:extLst>
            </p:cNvPr>
            <p:cNvSpPr/>
            <p:nvPr/>
          </p:nvSpPr>
          <p:spPr>
            <a:xfrm>
              <a:off x="8101513" y="2724631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1D0FB8A3-0DF0-48DE-9E6E-29A27FE81BED}"/>
                </a:ext>
              </a:extLst>
            </p:cNvPr>
            <p:cNvSpPr/>
            <p:nvPr/>
          </p:nvSpPr>
          <p:spPr>
            <a:xfrm>
              <a:off x="7738000" y="3057885"/>
              <a:ext cx="275656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D9B840A5-6D87-470F-8BC3-7F612EEAEB77}"/>
                </a:ext>
              </a:extLst>
            </p:cNvPr>
            <p:cNvSpPr/>
            <p:nvPr/>
          </p:nvSpPr>
          <p:spPr>
            <a:xfrm>
              <a:off x="8105061" y="3057885"/>
              <a:ext cx="275656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6271A196-CC30-457C-9925-77C13B14B441}"/>
                </a:ext>
              </a:extLst>
            </p:cNvPr>
            <p:cNvSpPr/>
            <p:nvPr/>
          </p:nvSpPr>
          <p:spPr>
            <a:xfrm>
              <a:off x="10384458" y="2549116"/>
              <a:ext cx="1216174" cy="100811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2E3AA944-4937-4490-9DA4-23FC20167BB7}"/>
                </a:ext>
              </a:extLst>
            </p:cNvPr>
            <p:cNvSpPr/>
            <p:nvPr/>
          </p:nvSpPr>
          <p:spPr>
            <a:xfrm>
              <a:off x="10653897" y="2724631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9070E795-C5B7-4F18-9888-1CEDFDB0082C}"/>
                </a:ext>
              </a:extLst>
            </p:cNvPr>
            <p:cNvSpPr/>
            <p:nvPr/>
          </p:nvSpPr>
          <p:spPr>
            <a:xfrm>
              <a:off x="11026834" y="2724631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4CEAA991-0FBF-461D-ACD7-186D8AD25D5E}"/>
                </a:ext>
              </a:extLst>
            </p:cNvPr>
            <p:cNvSpPr/>
            <p:nvPr/>
          </p:nvSpPr>
          <p:spPr>
            <a:xfrm>
              <a:off x="10653897" y="3057885"/>
              <a:ext cx="275656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6AAC2C42-6571-4636-A75C-FF9638E0132C}"/>
                </a:ext>
              </a:extLst>
            </p:cNvPr>
            <p:cNvSpPr/>
            <p:nvPr/>
          </p:nvSpPr>
          <p:spPr>
            <a:xfrm>
              <a:off x="11030382" y="3057885"/>
              <a:ext cx="275656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1" name="모서리가 둥근 직사각형 65">
              <a:extLst>
                <a:ext uri="{FF2B5EF4-FFF2-40B4-BE49-F238E27FC236}">
                  <a16:creationId xmlns:a16="http://schemas.microsoft.com/office/drawing/2014/main" id="{7021FD78-3F09-47E0-B31A-400F924603BA}"/>
                </a:ext>
              </a:extLst>
            </p:cNvPr>
            <p:cNvSpPr/>
            <p:nvPr/>
          </p:nvSpPr>
          <p:spPr>
            <a:xfrm>
              <a:off x="5231904" y="4013424"/>
              <a:ext cx="3456384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2800" b="1" dirty="0">
                  <a:solidFill>
                    <a:srgbClr val="FF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GOLDEN TIME</a:t>
              </a:r>
              <a:endParaRPr lang="ko-KR" altLang="en-US" sz="2800" b="1" kern="1200" dirty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EDFDA7AC-9AD6-4DAC-804E-C478C9E056C4}"/>
                </a:ext>
              </a:extLst>
            </p:cNvPr>
            <p:cNvSpPr/>
            <p:nvPr/>
          </p:nvSpPr>
          <p:spPr>
            <a:xfrm>
              <a:off x="203201" y="5342566"/>
              <a:ext cx="2338292" cy="3600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심사청구시기 조절</a:t>
              </a: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B5A7A4A9-9C38-4365-9D90-A2A8FB8E928B}"/>
                </a:ext>
              </a:extLst>
            </p:cNvPr>
            <p:cNvSpPr/>
            <p:nvPr/>
          </p:nvSpPr>
          <p:spPr>
            <a:xfrm>
              <a:off x="203201" y="5774614"/>
              <a:ext cx="2338292" cy="80207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출원일로부터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3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년의 심사청구시기를 최대한 활용하여 시장의 변화 상황에 대응함</a:t>
              </a: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361F017C-4C97-4373-8B54-DC4570BB0703}"/>
                </a:ext>
              </a:extLst>
            </p:cNvPr>
            <p:cNvSpPr/>
            <p:nvPr/>
          </p:nvSpPr>
          <p:spPr>
            <a:xfrm>
              <a:off x="2609763" y="5342566"/>
              <a:ext cx="2338292" cy="3600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보정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4F4A8E0D-9FF9-4E25-A930-6F0472BA7B95}"/>
                </a:ext>
              </a:extLst>
            </p:cNvPr>
            <p:cNvSpPr/>
            <p:nvPr/>
          </p:nvSpPr>
          <p:spPr>
            <a:xfrm>
              <a:off x="2609763" y="5774614"/>
              <a:ext cx="2338292" cy="80207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심사관의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OA </a:t>
              </a:r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대응시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등록가능성 뿐만 아니라 시장의 변화 상황에 따른 전략적인 보정 수행</a:t>
              </a: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65843742-1D94-47F7-8336-C5F91CE446BD}"/>
                </a:ext>
              </a:extLst>
            </p:cNvPr>
            <p:cNvSpPr/>
            <p:nvPr/>
          </p:nvSpPr>
          <p:spPr>
            <a:xfrm>
              <a:off x="5029022" y="5342566"/>
              <a:ext cx="2209706" cy="3600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분할출원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F00E233E-D31F-4EC9-9321-BB294AB3C67A}"/>
                </a:ext>
              </a:extLst>
            </p:cNvPr>
            <p:cNvSpPr/>
            <p:nvPr/>
          </p:nvSpPr>
          <p:spPr>
            <a:xfrm>
              <a:off x="5029022" y="5774614"/>
              <a:ext cx="2209706" cy="80207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시장이 확정되지 않았는데 원출원이  등록되는 경우 분할출원을 활용하여 보정 가능성 염두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84E435C0-458B-40FF-BB65-2D63FE532A83}"/>
                </a:ext>
              </a:extLst>
            </p:cNvPr>
            <p:cNvSpPr/>
            <p:nvPr/>
          </p:nvSpPr>
          <p:spPr>
            <a:xfrm>
              <a:off x="7295884" y="5342566"/>
              <a:ext cx="2338292" cy="3600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우선권주장출원</a:t>
              </a: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5651A1E7-822B-4043-B4F9-088FD8625DF4}"/>
                </a:ext>
              </a:extLst>
            </p:cNvPr>
            <p:cNvSpPr/>
            <p:nvPr/>
          </p:nvSpPr>
          <p:spPr>
            <a:xfrm>
              <a:off x="7295884" y="5774614"/>
              <a:ext cx="2338292" cy="80207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선출원에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포함되지 아니한 </a:t>
              </a:r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실시예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또는 상위개념의 출원이 필요한 경우 우선권주장을 적극 활용</a:t>
              </a:r>
            </a:p>
          </p:txBody>
        </p:sp>
        <p:cxnSp>
          <p:nvCxnSpPr>
            <p:cNvPr id="150" name="꺾인 연결선 74">
              <a:extLst>
                <a:ext uri="{FF2B5EF4-FFF2-40B4-BE49-F238E27FC236}">
                  <a16:creationId xmlns:a16="http://schemas.microsoft.com/office/drawing/2014/main" id="{3F29AACD-8F98-4749-A826-1F0D59F065E5}"/>
                </a:ext>
              </a:extLst>
            </p:cNvPr>
            <p:cNvCxnSpPr>
              <a:cxnSpLocks/>
              <a:stCxn id="106" idx="2"/>
              <a:endCxn id="142" idx="0"/>
            </p:cNvCxnSpPr>
            <p:nvPr/>
          </p:nvCxnSpPr>
          <p:spPr>
            <a:xfrm rot="5400000">
              <a:off x="4042641" y="2373574"/>
              <a:ext cx="298698" cy="563928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꺾인 연결선 75">
              <a:extLst>
                <a:ext uri="{FF2B5EF4-FFF2-40B4-BE49-F238E27FC236}">
                  <a16:creationId xmlns:a16="http://schemas.microsoft.com/office/drawing/2014/main" id="{89FEE2C7-2E2B-4727-B7E3-003612F6993D}"/>
                </a:ext>
              </a:extLst>
            </p:cNvPr>
            <p:cNvCxnSpPr>
              <a:cxnSpLocks/>
              <a:stCxn id="106" idx="2"/>
              <a:endCxn id="144" idx="0"/>
            </p:cNvCxnSpPr>
            <p:nvPr/>
          </p:nvCxnSpPr>
          <p:spPr>
            <a:xfrm rot="5400000">
              <a:off x="5245922" y="3576855"/>
              <a:ext cx="298698" cy="3232724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꺾인 연결선 76">
              <a:extLst>
                <a:ext uri="{FF2B5EF4-FFF2-40B4-BE49-F238E27FC236}">
                  <a16:creationId xmlns:a16="http://schemas.microsoft.com/office/drawing/2014/main" id="{EEFD0736-4B8B-42DB-B363-F84E41504D0D}"/>
                </a:ext>
              </a:extLst>
            </p:cNvPr>
            <p:cNvCxnSpPr>
              <a:cxnSpLocks/>
              <a:stCxn id="106" idx="2"/>
              <a:endCxn id="146" idx="0"/>
            </p:cNvCxnSpPr>
            <p:nvPr/>
          </p:nvCxnSpPr>
          <p:spPr>
            <a:xfrm rot="5400000">
              <a:off x="6423405" y="4754338"/>
              <a:ext cx="298698" cy="877758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꺾인 연결선 77">
              <a:extLst>
                <a:ext uri="{FF2B5EF4-FFF2-40B4-BE49-F238E27FC236}">
                  <a16:creationId xmlns:a16="http://schemas.microsoft.com/office/drawing/2014/main" id="{58DA18E9-F972-4520-AD16-0E641D570025}"/>
                </a:ext>
              </a:extLst>
            </p:cNvPr>
            <p:cNvCxnSpPr>
              <a:cxnSpLocks/>
              <a:stCxn id="106" idx="2"/>
              <a:endCxn id="148" idx="0"/>
            </p:cNvCxnSpPr>
            <p:nvPr/>
          </p:nvCxnSpPr>
          <p:spPr>
            <a:xfrm rot="16200000" flipH="1">
              <a:off x="7588982" y="4466518"/>
              <a:ext cx="298698" cy="145339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모서리가 둥근 직사각형 78">
              <a:extLst>
                <a:ext uri="{FF2B5EF4-FFF2-40B4-BE49-F238E27FC236}">
                  <a16:creationId xmlns:a16="http://schemas.microsoft.com/office/drawing/2014/main" id="{A1466BAF-9431-4648-BAB4-E465B6F9F757}"/>
                </a:ext>
              </a:extLst>
            </p:cNvPr>
            <p:cNvSpPr/>
            <p:nvPr/>
          </p:nvSpPr>
          <p:spPr>
            <a:xfrm>
              <a:off x="3301219" y="2523689"/>
              <a:ext cx="1920213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Assumption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6D5F557F-0256-439C-9671-52B0CAAA281A}"/>
                </a:ext>
              </a:extLst>
            </p:cNvPr>
            <p:cNvSpPr/>
            <p:nvPr/>
          </p:nvSpPr>
          <p:spPr>
            <a:xfrm>
              <a:off x="9715553" y="5342566"/>
              <a:ext cx="2338292" cy="3600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재심사청구</a:t>
              </a: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1B6C88F6-7E3C-4095-9A20-351EA953AFB3}"/>
                </a:ext>
              </a:extLst>
            </p:cNvPr>
            <p:cNvSpPr/>
            <p:nvPr/>
          </p:nvSpPr>
          <p:spPr>
            <a:xfrm>
              <a:off x="9715553" y="5774614"/>
              <a:ext cx="2338292" cy="80207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특허결정후에도 재심사를 청구하여 보호범위 재설정할 수 있는 기회의 확보 </a:t>
              </a:r>
            </a:p>
          </p:txBody>
        </p:sp>
        <p:cxnSp>
          <p:nvCxnSpPr>
            <p:cNvPr id="157" name="꺾인 연결선 81">
              <a:extLst>
                <a:ext uri="{FF2B5EF4-FFF2-40B4-BE49-F238E27FC236}">
                  <a16:creationId xmlns:a16="http://schemas.microsoft.com/office/drawing/2014/main" id="{3D3713A3-4F87-49C1-B2B8-3BC5A9AB5B77}"/>
                </a:ext>
              </a:extLst>
            </p:cNvPr>
            <p:cNvCxnSpPr>
              <a:cxnSpLocks/>
              <a:stCxn id="106" idx="2"/>
              <a:endCxn id="155" idx="0"/>
            </p:cNvCxnSpPr>
            <p:nvPr/>
          </p:nvCxnSpPr>
          <p:spPr>
            <a:xfrm rot="16200000" flipH="1">
              <a:off x="8798817" y="3256684"/>
              <a:ext cx="298698" cy="387306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오른쪽 화살표 83">
              <a:extLst>
                <a:ext uri="{FF2B5EF4-FFF2-40B4-BE49-F238E27FC236}">
                  <a16:creationId xmlns:a16="http://schemas.microsoft.com/office/drawing/2014/main" id="{0A42BBEE-1C45-41EC-A516-4694343E256F}"/>
                </a:ext>
              </a:extLst>
            </p:cNvPr>
            <p:cNvSpPr/>
            <p:nvPr/>
          </p:nvSpPr>
          <p:spPr>
            <a:xfrm>
              <a:off x="4367808" y="1489097"/>
              <a:ext cx="1536171" cy="621286"/>
            </a:xfrm>
            <a:prstGeom prst="rightArrow">
              <a:avLst>
                <a:gd name="adj1" fmla="val 70201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시장환경변화</a:t>
              </a:r>
            </a:p>
          </p:txBody>
        </p:sp>
        <p:sp>
          <p:nvSpPr>
            <p:cNvPr id="159" name="오른쪽 화살표 84">
              <a:extLst>
                <a:ext uri="{FF2B5EF4-FFF2-40B4-BE49-F238E27FC236}">
                  <a16:creationId xmlns:a16="http://schemas.microsoft.com/office/drawing/2014/main" id="{8A2C379C-938F-43C0-8627-54D436D321CE}"/>
                </a:ext>
              </a:extLst>
            </p:cNvPr>
            <p:cNvSpPr/>
            <p:nvPr/>
          </p:nvSpPr>
          <p:spPr>
            <a:xfrm>
              <a:off x="8261041" y="1489097"/>
              <a:ext cx="1536171" cy="621286"/>
            </a:xfrm>
            <a:prstGeom prst="rightArrow">
              <a:avLst>
                <a:gd name="adj1" fmla="val 70201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시장환경변화</a:t>
              </a:r>
            </a:p>
          </p:txBody>
        </p:sp>
        <p:sp>
          <p:nvSpPr>
            <p:cNvPr id="160" name="모서리가 둥근 직사각형 85">
              <a:extLst>
                <a:ext uri="{FF2B5EF4-FFF2-40B4-BE49-F238E27FC236}">
                  <a16:creationId xmlns:a16="http://schemas.microsoft.com/office/drawing/2014/main" id="{DAFD5329-9AAD-4776-96F3-3FC7DD33EEC9}"/>
                </a:ext>
              </a:extLst>
            </p:cNvPr>
            <p:cNvSpPr/>
            <p:nvPr/>
          </p:nvSpPr>
          <p:spPr>
            <a:xfrm>
              <a:off x="7110927" y="3065310"/>
              <a:ext cx="493225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kern="1200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Hit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1" name="모서리가 둥근 직사각형 86">
              <a:extLst>
                <a:ext uri="{FF2B5EF4-FFF2-40B4-BE49-F238E27FC236}">
                  <a16:creationId xmlns:a16="http://schemas.microsoft.com/office/drawing/2014/main" id="{31ED3FF4-5405-43CF-A174-EDCDD285FF4C}"/>
                </a:ext>
              </a:extLst>
            </p:cNvPr>
            <p:cNvSpPr/>
            <p:nvPr/>
          </p:nvSpPr>
          <p:spPr>
            <a:xfrm>
              <a:off x="8538361" y="2999021"/>
              <a:ext cx="1258851" cy="239893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kern="1200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Assumption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2" name="모서리가 둥근 직사각형 87">
              <a:extLst>
                <a:ext uri="{FF2B5EF4-FFF2-40B4-BE49-F238E27FC236}">
                  <a16:creationId xmlns:a16="http://schemas.microsoft.com/office/drawing/2014/main" id="{C4A3C789-3B72-4825-AC1A-16059B9603ED}"/>
                </a:ext>
              </a:extLst>
            </p:cNvPr>
            <p:cNvSpPr/>
            <p:nvPr/>
          </p:nvSpPr>
          <p:spPr>
            <a:xfrm>
              <a:off x="8373613" y="2441799"/>
              <a:ext cx="493225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kern="1200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Fail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3" name="모서리가 둥근 직사각형 88">
              <a:extLst>
                <a:ext uri="{FF2B5EF4-FFF2-40B4-BE49-F238E27FC236}">
                  <a16:creationId xmlns:a16="http://schemas.microsoft.com/office/drawing/2014/main" id="{060D60EA-7FC2-412F-B0EE-6E3E1A489845}"/>
                </a:ext>
              </a:extLst>
            </p:cNvPr>
            <p:cNvSpPr/>
            <p:nvPr/>
          </p:nvSpPr>
          <p:spPr>
            <a:xfrm>
              <a:off x="10086672" y="2953115"/>
              <a:ext cx="493225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kern="1200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Hit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4" name="모서리가 둥근 직사각형 89">
              <a:extLst>
                <a:ext uri="{FF2B5EF4-FFF2-40B4-BE49-F238E27FC236}">
                  <a16:creationId xmlns:a16="http://schemas.microsoft.com/office/drawing/2014/main" id="{A2F16331-4EC5-48CE-94F1-19A73FC2DE3B}"/>
                </a:ext>
              </a:extLst>
            </p:cNvPr>
            <p:cNvSpPr/>
            <p:nvPr/>
          </p:nvSpPr>
          <p:spPr>
            <a:xfrm>
              <a:off x="11334222" y="3112969"/>
              <a:ext cx="493225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kern="1200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Hit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5" name="모서리가 둥근 직사각형 90">
              <a:extLst>
                <a:ext uri="{FF2B5EF4-FFF2-40B4-BE49-F238E27FC236}">
                  <a16:creationId xmlns:a16="http://schemas.microsoft.com/office/drawing/2014/main" id="{D3FC1987-C7AF-4860-AF7D-EB18A1088575}"/>
                </a:ext>
              </a:extLst>
            </p:cNvPr>
            <p:cNvSpPr/>
            <p:nvPr/>
          </p:nvSpPr>
          <p:spPr>
            <a:xfrm>
              <a:off x="239349" y="1246288"/>
              <a:ext cx="1632183" cy="53555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spcBef>
                  <a:spcPct val="0"/>
                </a:spcBef>
              </a:pPr>
              <a:r>
                <a:rPr lang="en-US" altLang="ko-KR" sz="1600" b="1" dirty="0">
                  <a:solidFill>
                    <a:schemeClr val="tx2">
                      <a:lumMod val="50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Other product</a:t>
              </a:r>
            </a:p>
            <a:p>
              <a:pPr lvl="0" algn="ctr" defTabSz="800100" latinLnBrk="1">
                <a:spcBef>
                  <a:spcPct val="0"/>
                </a:spcBef>
              </a:pPr>
              <a:r>
                <a:rPr lang="en-US" altLang="ko-KR" sz="1600" b="1" kern="1200" dirty="0">
                  <a:solidFill>
                    <a:schemeClr val="tx2">
                      <a:lumMod val="50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(market)</a:t>
              </a:r>
              <a:endParaRPr lang="ko-KR" altLang="en-US" sz="1600" b="1" kern="1200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6" name="모서리가 둥근 직사각형 91">
              <a:extLst>
                <a:ext uri="{FF2B5EF4-FFF2-40B4-BE49-F238E27FC236}">
                  <a16:creationId xmlns:a16="http://schemas.microsoft.com/office/drawing/2014/main" id="{BAA66887-4613-40A8-83D8-65644210D587}"/>
                </a:ext>
              </a:extLst>
            </p:cNvPr>
            <p:cNvSpPr/>
            <p:nvPr/>
          </p:nvSpPr>
          <p:spPr>
            <a:xfrm>
              <a:off x="239350" y="2470362"/>
              <a:ext cx="1632182" cy="32810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spcBef>
                  <a:spcPct val="0"/>
                </a:spcBef>
              </a:pPr>
              <a:r>
                <a:rPr lang="en-US" altLang="ko-KR" sz="1600" b="1" dirty="0">
                  <a:solidFill>
                    <a:schemeClr val="accent2">
                      <a:lumMod val="50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 My Patent</a:t>
              </a:r>
              <a:endParaRPr lang="ko-KR" altLang="en-US" sz="1600" b="1" kern="1200" dirty="0">
                <a:solidFill>
                  <a:schemeClr val="accent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7" name="위쪽 화살표 92">
              <a:extLst>
                <a:ext uri="{FF2B5EF4-FFF2-40B4-BE49-F238E27FC236}">
                  <a16:creationId xmlns:a16="http://schemas.microsoft.com/office/drawing/2014/main" id="{C991F7AF-0C4D-4915-84BC-CB7CDA8B0745}"/>
                </a:ext>
              </a:extLst>
            </p:cNvPr>
            <p:cNvSpPr/>
            <p:nvPr/>
          </p:nvSpPr>
          <p:spPr>
            <a:xfrm>
              <a:off x="6790312" y="2318648"/>
              <a:ext cx="339568" cy="1493325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8" name="아래쪽 화살표 93">
              <a:extLst>
                <a:ext uri="{FF2B5EF4-FFF2-40B4-BE49-F238E27FC236}">
                  <a16:creationId xmlns:a16="http://schemas.microsoft.com/office/drawing/2014/main" id="{B8DAABFE-DDD5-4AF7-B8B7-8BB9B14251D5}"/>
                </a:ext>
              </a:extLst>
            </p:cNvPr>
            <p:cNvSpPr/>
            <p:nvPr/>
          </p:nvSpPr>
          <p:spPr>
            <a:xfrm>
              <a:off x="7918406" y="3545018"/>
              <a:ext cx="289829" cy="274715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9" name="아래쪽 화살표 94">
              <a:extLst>
                <a:ext uri="{FF2B5EF4-FFF2-40B4-BE49-F238E27FC236}">
                  <a16:creationId xmlns:a16="http://schemas.microsoft.com/office/drawing/2014/main" id="{4556A1EB-3F1C-4CD5-A901-C61A9774C286}"/>
                </a:ext>
              </a:extLst>
            </p:cNvPr>
            <p:cNvSpPr/>
            <p:nvPr/>
          </p:nvSpPr>
          <p:spPr>
            <a:xfrm>
              <a:off x="3023659" y="3554796"/>
              <a:ext cx="340259" cy="503193"/>
            </a:xfrm>
            <a:prstGeom prst="down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0" name="아래쪽 화살표 95">
              <a:extLst>
                <a:ext uri="{FF2B5EF4-FFF2-40B4-BE49-F238E27FC236}">
                  <a16:creationId xmlns:a16="http://schemas.microsoft.com/office/drawing/2014/main" id="{0706377A-77ED-4480-815F-8EE49F9BFC43}"/>
                </a:ext>
              </a:extLst>
            </p:cNvPr>
            <p:cNvSpPr/>
            <p:nvPr/>
          </p:nvSpPr>
          <p:spPr>
            <a:xfrm>
              <a:off x="10834220" y="3554796"/>
              <a:ext cx="340259" cy="503193"/>
            </a:xfrm>
            <a:prstGeom prst="down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1" name="모서리가 둥근 직사각형 96">
              <a:extLst>
                <a:ext uri="{FF2B5EF4-FFF2-40B4-BE49-F238E27FC236}">
                  <a16:creationId xmlns:a16="http://schemas.microsoft.com/office/drawing/2014/main" id="{C99957FB-5D21-40A1-8DFE-3F481AADC90E}"/>
                </a:ext>
              </a:extLst>
            </p:cNvPr>
            <p:cNvSpPr/>
            <p:nvPr/>
          </p:nvSpPr>
          <p:spPr>
            <a:xfrm>
              <a:off x="5578110" y="2518155"/>
              <a:ext cx="1776503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b="1" kern="1200" dirty="0">
                  <a:solidFill>
                    <a:srgbClr val="FF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Monitoring</a:t>
              </a:r>
              <a:endParaRPr lang="ko-KR" altLang="en-US" b="1" kern="1200" dirty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2" name="모서리가 둥근 직사각형 97">
              <a:extLst>
                <a:ext uri="{FF2B5EF4-FFF2-40B4-BE49-F238E27FC236}">
                  <a16:creationId xmlns:a16="http://schemas.microsoft.com/office/drawing/2014/main" id="{30103099-9D43-4E03-A0CA-C3989B1A2B0C}"/>
                </a:ext>
              </a:extLst>
            </p:cNvPr>
            <p:cNvSpPr/>
            <p:nvPr/>
          </p:nvSpPr>
          <p:spPr>
            <a:xfrm>
              <a:off x="8112225" y="3406527"/>
              <a:ext cx="2080705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b="1" kern="1200" dirty="0">
                  <a:solidFill>
                    <a:srgbClr val="FF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Repositioning</a:t>
              </a:r>
              <a:endParaRPr lang="ko-KR" altLang="en-US" b="1" kern="1200" dirty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3" name="위쪽/아래쪽 화살표 98">
              <a:extLst>
                <a:ext uri="{FF2B5EF4-FFF2-40B4-BE49-F238E27FC236}">
                  <a16:creationId xmlns:a16="http://schemas.microsoft.com/office/drawing/2014/main" id="{41962982-3630-4BDD-BA63-F216A3205873}"/>
                </a:ext>
              </a:extLst>
            </p:cNvPr>
            <p:cNvSpPr/>
            <p:nvPr/>
          </p:nvSpPr>
          <p:spPr>
            <a:xfrm>
              <a:off x="623392" y="1788964"/>
              <a:ext cx="480053" cy="722052"/>
            </a:xfrm>
            <a:prstGeom prst="upDownArrow">
              <a:avLst/>
            </a:prstGeom>
            <a:solidFill>
              <a:schemeClr val="accent1"/>
            </a:solidFill>
            <a:effectLst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4" name="모서리가 둥근 직사각형 99">
              <a:extLst>
                <a:ext uri="{FF2B5EF4-FFF2-40B4-BE49-F238E27FC236}">
                  <a16:creationId xmlns:a16="http://schemas.microsoft.com/office/drawing/2014/main" id="{F2826725-EE35-49E4-B291-BAAD554EBB09}"/>
                </a:ext>
              </a:extLst>
            </p:cNvPr>
            <p:cNvSpPr/>
            <p:nvPr/>
          </p:nvSpPr>
          <p:spPr>
            <a:xfrm>
              <a:off x="138233" y="1913972"/>
              <a:ext cx="1776503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b="1" kern="1200" dirty="0">
                  <a:solidFill>
                    <a:srgbClr val="FF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Matching?</a:t>
              </a:r>
              <a:endParaRPr lang="ko-KR" altLang="en-US" b="1" kern="1200" dirty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5" name="모서리가 둥근 직사각형 100">
              <a:extLst>
                <a:ext uri="{FF2B5EF4-FFF2-40B4-BE49-F238E27FC236}">
                  <a16:creationId xmlns:a16="http://schemas.microsoft.com/office/drawing/2014/main" id="{857867CB-9D47-40F9-923F-B1974DE7274B}"/>
                </a:ext>
              </a:extLst>
            </p:cNvPr>
            <p:cNvSpPr/>
            <p:nvPr/>
          </p:nvSpPr>
          <p:spPr>
            <a:xfrm>
              <a:off x="2639616" y="1173347"/>
              <a:ext cx="1920213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Uncertainty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cxnSp>
          <p:nvCxnSpPr>
            <p:cNvPr id="176" name="직선 화살표 연결선 175">
              <a:extLst>
                <a:ext uri="{FF2B5EF4-FFF2-40B4-BE49-F238E27FC236}">
                  <a16:creationId xmlns:a16="http://schemas.microsoft.com/office/drawing/2014/main" id="{C90003BD-92C8-424F-9484-AA98612ED525}"/>
                </a:ext>
              </a:extLst>
            </p:cNvPr>
            <p:cNvCxnSpPr/>
            <p:nvPr/>
          </p:nvCxnSpPr>
          <p:spPr>
            <a:xfrm>
              <a:off x="4463818" y="965200"/>
              <a:ext cx="757614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화살표 연결선 176">
              <a:extLst>
                <a:ext uri="{FF2B5EF4-FFF2-40B4-BE49-F238E27FC236}">
                  <a16:creationId xmlns:a16="http://schemas.microsoft.com/office/drawing/2014/main" id="{E23308DB-6722-41B2-B008-0DE97AD0861D}"/>
                </a:ext>
              </a:extLst>
            </p:cNvPr>
            <p:cNvCxnSpPr/>
            <p:nvPr/>
          </p:nvCxnSpPr>
          <p:spPr>
            <a:xfrm>
              <a:off x="9632449" y="965200"/>
              <a:ext cx="757614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화살표 연결선 177">
              <a:extLst>
                <a:ext uri="{FF2B5EF4-FFF2-40B4-BE49-F238E27FC236}">
                  <a16:creationId xmlns:a16="http://schemas.microsoft.com/office/drawing/2014/main" id="{C5C769E3-B01A-4024-9EC2-9247B14261CC}"/>
                </a:ext>
              </a:extLst>
            </p:cNvPr>
            <p:cNvCxnSpPr/>
            <p:nvPr/>
          </p:nvCxnSpPr>
          <p:spPr>
            <a:xfrm flipH="1">
              <a:off x="3778909" y="965200"/>
              <a:ext cx="68490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화살표 연결선 178">
              <a:extLst>
                <a:ext uri="{FF2B5EF4-FFF2-40B4-BE49-F238E27FC236}">
                  <a16:creationId xmlns:a16="http://schemas.microsoft.com/office/drawing/2014/main" id="{3DD03325-2A2A-4629-A0B1-096887BB86C7}"/>
                </a:ext>
              </a:extLst>
            </p:cNvPr>
            <p:cNvCxnSpPr/>
            <p:nvPr/>
          </p:nvCxnSpPr>
          <p:spPr>
            <a:xfrm flipH="1">
              <a:off x="8948166" y="965200"/>
              <a:ext cx="68490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6C571A9-6005-4B47-83BE-5EC5B7046356}"/>
                </a:ext>
              </a:extLst>
            </p:cNvPr>
            <p:cNvSpPr txBox="1"/>
            <p:nvPr/>
          </p:nvSpPr>
          <p:spPr>
            <a:xfrm>
              <a:off x="5200902" y="799120"/>
              <a:ext cx="1287532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accent2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확실한 시장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D2177FD7-A97E-49E1-904A-055345A972F7}"/>
                </a:ext>
              </a:extLst>
            </p:cNvPr>
            <p:cNvSpPr txBox="1"/>
            <p:nvPr/>
          </p:nvSpPr>
          <p:spPr>
            <a:xfrm>
              <a:off x="2279559" y="799120"/>
              <a:ext cx="1495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불확실한 시장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23263CDB-1F1D-43D0-9B87-BD888219209A}"/>
                </a:ext>
              </a:extLst>
            </p:cNvPr>
            <p:cNvSpPr txBox="1"/>
            <p:nvPr/>
          </p:nvSpPr>
          <p:spPr>
            <a:xfrm>
              <a:off x="7564469" y="583457"/>
              <a:ext cx="1287532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권리범위 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 algn="ctr"/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재설계 가능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1A200CCD-85AA-4688-BF31-E867405B9217}"/>
                </a:ext>
              </a:extLst>
            </p:cNvPr>
            <p:cNvSpPr txBox="1"/>
            <p:nvPr/>
          </p:nvSpPr>
          <p:spPr>
            <a:xfrm>
              <a:off x="10420330" y="583457"/>
              <a:ext cx="1495922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권리범위 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 algn="ctr"/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재설계 불가능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45204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소극적 효력</a:t>
            </a:r>
            <a:r>
              <a:rPr lang="en-US" altLang="ko-KR" dirty="0"/>
              <a:t>: </a:t>
            </a:r>
            <a:r>
              <a:rPr lang="ko-KR" altLang="en-US" dirty="0"/>
              <a:t>침해 일반</a:t>
            </a:r>
          </a:p>
        </p:txBody>
      </p:sp>
      <p:sp>
        <p:nvSpPr>
          <p:cNvPr id="74" name="모서리가 둥근 직사각형 73"/>
          <p:cNvSpPr/>
          <p:nvPr/>
        </p:nvSpPr>
        <p:spPr>
          <a:xfrm>
            <a:off x="562188" y="1052973"/>
            <a:ext cx="1152128" cy="505937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침해</a:t>
            </a: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667348" y="1709395"/>
            <a:ext cx="1517032" cy="272111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성립요건</a:t>
            </a:r>
          </a:p>
        </p:txBody>
      </p:sp>
      <p:sp>
        <p:nvSpPr>
          <p:cNvPr id="78" name="모서리가 둥근 직사각형 77"/>
          <p:cNvSpPr/>
          <p:nvPr/>
        </p:nvSpPr>
        <p:spPr>
          <a:xfrm>
            <a:off x="1667348" y="3023179"/>
            <a:ext cx="1517032" cy="272111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종류</a:t>
            </a:r>
          </a:p>
        </p:txBody>
      </p:sp>
      <p:sp>
        <p:nvSpPr>
          <p:cNvPr id="80" name="모서리가 둥근 직사각형 79"/>
          <p:cNvSpPr/>
          <p:nvPr/>
        </p:nvSpPr>
        <p:spPr>
          <a:xfrm>
            <a:off x="1667348" y="4233674"/>
            <a:ext cx="1517032" cy="272111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조치</a:t>
            </a:r>
          </a:p>
        </p:txBody>
      </p:sp>
      <p:sp>
        <p:nvSpPr>
          <p:cNvPr id="81" name="모서리가 둥근 직사각형 80"/>
          <p:cNvSpPr/>
          <p:nvPr/>
        </p:nvSpPr>
        <p:spPr>
          <a:xfrm>
            <a:off x="6067134" y="2324984"/>
            <a:ext cx="1277005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직접침해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6064700" y="3080298"/>
            <a:ext cx="1277005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간접침해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127)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3627137" y="4331160"/>
            <a:ext cx="907081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민사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3627137" y="5859249"/>
            <a:ext cx="907081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형사</a:t>
            </a:r>
          </a:p>
        </p:txBody>
      </p:sp>
      <p:cxnSp>
        <p:nvCxnSpPr>
          <p:cNvPr id="88" name="꺾인 연결선 87"/>
          <p:cNvCxnSpPr>
            <a:stCxn id="74" idx="2"/>
            <a:endCxn id="80" idx="1"/>
          </p:cNvCxnSpPr>
          <p:nvPr/>
        </p:nvCxnSpPr>
        <p:spPr>
          <a:xfrm rot="16200000" flipH="1">
            <a:off x="-2610" y="2699772"/>
            <a:ext cx="2810820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꺾인 연결선 88"/>
          <p:cNvCxnSpPr>
            <a:stCxn id="74" idx="2"/>
            <a:endCxn id="76" idx="1"/>
          </p:cNvCxnSpPr>
          <p:nvPr/>
        </p:nvCxnSpPr>
        <p:spPr>
          <a:xfrm rot="16200000" flipH="1">
            <a:off x="1259530" y="1437632"/>
            <a:ext cx="286541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 89"/>
          <p:cNvCxnSpPr>
            <a:stCxn id="74" idx="2"/>
            <a:endCxn id="78" idx="1"/>
          </p:cNvCxnSpPr>
          <p:nvPr/>
        </p:nvCxnSpPr>
        <p:spPr>
          <a:xfrm rot="16200000" flipH="1">
            <a:off x="602638" y="2094524"/>
            <a:ext cx="1600325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꺾인 연결선 90"/>
          <p:cNvCxnSpPr>
            <a:stCxn id="78" idx="3"/>
            <a:endCxn id="81" idx="1"/>
          </p:cNvCxnSpPr>
          <p:nvPr/>
        </p:nvCxnSpPr>
        <p:spPr>
          <a:xfrm flipV="1">
            <a:off x="3184380" y="2461040"/>
            <a:ext cx="2882754" cy="69819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cxnSpLocks/>
            <a:stCxn id="78" idx="3"/>
            <a:endCxn id="83" idx="1"/>
          </p:cNvCxnSpPr>
          <p:nvPr/>
        </p:nvCxnSpPr>
        <p:spPr>
          <a:xfrm>
            <a:off x="3184380" y="3159235"/>
            <a:ext cx="2880320" cy="5711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cxnSpLocks/>
            <a:endCxn id="84" idx="1"/>
          </p:cNvCxnSpPr>
          <p:nvPr/>
        </p:nvCxnSpPr>
        <p:spPr>
          <a:xfrm>
            <a:off x="3184380" y="4369730"/>
            <a:ext cx="442757" cy="9748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cxnSpLocks/>
            <a:stCxn id="80" idx="3"/>
            <a:endCxn id="86" idx="1"/>
          </p:cNvCxnSpPr>
          <p:nvPr/>
        </p:nvCxnSpPr>
        <p:spPr>
          <a:xfrm>
            <a:off x="3184380" y="4369730"/>
            <a:ext cx="442757" cy="162557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모서리가 둥근 직사각형 98"/>
          <p:cNvSpPr/>
          <p:nvPr/>
        </p:nvSpPr>
        <p:spPr>
          <a:xfrm>
            <a:off x="3654277" y="946784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특허권의 존속 중</a:t>
            </a: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3654277" y="1254853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정당한 권원이 없는 자</a:t>
            </a: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3654277" y="1575716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업으로서</a:t>
            </a: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3654277" y="1884321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특허발명의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보호범위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97)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에 속하는 발명을 실시</a:t>
            </a:r>
          </a:p>
        </p:txBody>
      </p:sp>
      <p:cxnSp>
        <p:nvCxnSpPr>
          <p:cNvPr id="107" name="꺾인 연결선 106"/>
          <p:cNvCxnSpPr>
            <a:stCxn id="76" idx="3"/>
            <a:endCxn id="99" idx="1"/>
          </p:cNvCxnSpPr>
          <p:nvPr/>
        </p:nvCxnSpPr>
        <p:spPr>
          <a:xfrm flipV="1">
            <a:off x="3184380" y="1082840"/>
            <a:ext cx="469897" cy="7626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76" idx="3"/>
            <a:endCxn id="105" idx="1"/>
          </p:cNvCxnSpPr>
          <p:nvPr/>
        </p:nvCxnSpPr>
        <p:spPr>
          <a:xfrm>
            <a:off x="3184380" y="1845451"/>
            <a:ext cx="469897" cy="1749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76" idx="3"/>
            <a:endCxn id="101" idx="1"/>
          </p:cNvCxnSpPr>
          <p:nvPr/>
        </p:nvCxnSpPr>
        <p:spPr>
          <a:xfrm flipV="1">
            <a:off x="3184380" y="1390909"/>
            <a:ext cx="469897" cy="4545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76" idx="3"/>
            <a:endCxn id="103" idx="1"/>
          </p:cNvCxnSpPr>
          <p:nvPr/>
        </p:nvCxnSpPr>
        <p:spPr>
          <a:xfrm flipV="1">
            <a:off x="3184380" y="1711772"/>
            <a:ext cx="469897" cy="13367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모서리가 둥근 직사각형 113"/>
          <p:cNvSpPr/>
          <p:nvPr/>
        </p:nvSpPr>
        <p:spPr>
          <a:xfrm>
            <a:off x="8619555" y="1070704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문언침해</a:t>
            </a: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8619555" y="1396113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균등침해</a:t>
            </a: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8619555" y="1721295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저촉 침해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98)</a:t>
            </a:r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8619555" y="2047870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생략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불완전이용침해</a:t>
            </a:r>
          </a:p>
        </p:txBody>
      </p:sp>
      <p:sp>
        <p:nvSpPr>
          <p:cNvPr id="120" name="모서리가 둥근 직사각형 119"/>
          <p:cNvSpPr/>
          <p:nvPr/>
        </p:nvSpPr>
        <p:spPr>
          <a:xfrm>
            <a:off x="8619555" y="2373709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선택침해</a:t>
            </a: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8619555" y="2698891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우회침해</a:t>
            </a: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8619555" y="3070249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물건의 특허발명침해</a:t>
            </a: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8619555" y="3396825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방법의 특허발명침해</a:t>
            </a:r>
          </a:p>
        </p:txBody>
      </p:sp>
      <p:cxnSp>
        <p:nvCxnSpPr>
          <p:cNvPr id="128" name="꺾인 연결선 127"/>
          <p:cNvCxnSpPr>
            <a:stCxn id="81" idx="3"/>
            <a:endCxn id="118" idx="1"/>
          </p:cNvCxnSpPr>
          <p:nvPr/>
        </p:nvCxnSpPr>
        <p:spPr>
          <a:xfrm flipV="1">
            <a:off x="7344139" y="2183925"/>
            <a:ext cx="1275416" cy="2771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stCxn id="81" idx="3"/>
            <a:endCxn id="114" idx="1"/>
          </p:cNvCxnSpPr>
          <p:nvPr/>
        </p:nvCxnSpPr>
        <p:spPr>
          <a:xfrm flipV="1">
            <a:off x="7344139" y="1206759"/>
            <a:ext cx="1275416" cy="12542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81" idx="3"/>
            <a:endCxn id="116" idx="1"/>
          </p:cNvCxnSpPr>
          <p:nvPr/>
        </p:nvCxnSpPr>
        <p:spPr>
          <a:xfrm flipV="1">
            <a:off x="7344139" y="1532169"/>
            <a:ext cx="1275416" cy="9288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81" idx="3"/>
            <a:endCxn id="117" idx="1"/>
          </p:cNvCxnSpPr>
          <p:nvPr/>
        </p:nvCxnSpPr>
        <p:spPr>
          <a:xfrm flipV="1">
            <a:off x="7344139" y="1857351"/>
            <a:ext cx="1275416" cy="6036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81" idx="3"/>
            <a:endCxn id="120" idx="1"/>
          </p:cNvCxnSpPr>
          <p:nvPr/>
        </p:nvCxnSpPr>
        <p:spPr>
          <a:xfrm>
            <a:off x="7344139" y="2461040"/>
            <a:ext cx="1275416" cy="4872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81" idx="3"/>
            <a:endCxn id="122" idx="1"/>
          </p:cNvCxnSpPr>
          <p:nvPr/>
        </p:nvCxnSpPr>
        <p:spPr>
          <a:xfrm>
            <a:off x="7344139" y="2461040"/>
            <a:ext cx="1275416" cy="3739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83" idx="3"/>
            <a:endCxn id="126" idx="1"/>
          </p:cNvCxnSpPr>
          <p:nvPr/>
        </p:nvCxnSpPr>
        <p:spPr>
          <a:xfrm>
            <a:off x="7341706" y="3216354"/>
            <a:ext cx="1277849" cy="3165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꺾인 연결선 134"/>
          <p:cNvCxnSpPr>
            <a:stCxn id="83" idx="3"/>
            <a:endCxn id="125" idx="1"/>
          </p:cNvCxnSpPr>
          <p:nvPr/>
        </p:nvCxnSpPr>
        <p:spPr>
          <a:xfrm flipV="1">
            <a:off x="7341706" y="3206305"/>
            <a:ext cx="1277849" cy="100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모서리가 둥근 직사각형 135"/>
          <p:cNvSpPr/>
          <p:nvPr/>
        </p:nvSpPr>
        <p:spPr>
          <a:xfrm>
            <a:off x="5172699" y="3934346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5172699" y="4269803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5172699" y="4594985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5172699" y="4921560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0" name="모서리가 둥근 직사각형 139"/>
          <p:cNvSpPr/>
          <p:nvPr/>
        </p:nvSpPr>
        <p:spPr>
          <a:xfrm>
            <a:off x="5172699" y="5372023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침해죄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225)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1" name="모서리가 둥근 직사각형 140"/>
          <p:cNvSpPr/>
          <p:nvPr/>
        </p:nvSpPr>
        <p:spPr>
          <a:xfrm>
            <a:off x="5172699" y="5697205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몰수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5172699" y="6023780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양벌규정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230)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3" name="꺾인 연결선 142"/>
          <p:cNvCxnSpPr>
            <a:cxnSpLocks/>
            <a:stCxn id="84" idx="3"/>
            <a:endCxn id="136" idx="1"/>
          </p:cNvCxnSpPr>
          <p:nvPr/>
        </p:nvCxnSpPr>
        <p:spPr>
          <a:xfrm flipV="1">
            <a:off x="4534218" y="4070402"/>
            <a:ext cx="638481" cy="3968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/>
          <p:cNvCxnSpPr>
            <a:cxnSpLocks/>
            <a:stCxn id="84" idx="3"/>
            <a:endCxn id="137" idx="1"/>
          </p:cNvCxnSpPr>
          <p:nvPr/>
        </p:nvCxnSpPr>
        <p:spPr>
          <a:xfrm flipV="1">
            <a:off x="4534218" y="4405859"/>
            <a:ext cx="638481" cy="613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cxnSpLocks/>
            <a:stCxn id="84" idx="3"/>
            <a:endCxn id="138" idx="1"/>
          </p:cNvCxnSpPr>
          <p:nvPr/>
        </p:nvCxnSpPr>
        <p:spPr>
          <a:xfrm>
            <a:off x="4534218" y="4467216"/>
            <a:ext cx="638481" cy="263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cxnSpLocks/>
            <a:stCxn id="84" idx="3"/>
            <a:endCxn id="139" idx="1"/>
          </p:cNvCxnSpPr>
          <p:nvPr/>
        </p:nvCxnSpPr>
        <p:spPr>
          <a:xfrm>
            <a:off x="4534218" y="4467216"/>
            <a:ext cx="638481" cy="5904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cxnSpLocks/>
            <a:stCxn id="86" idx="3"/>
            <a:endCxn id="140" idx="1"/>
          </p:cNvCxnSpPr>
          <p:nvPr/>
        </p:nvCxnSpPr>
        <p:spPr>
          <a:xfrm flipV="1">
            <a:off x="4534218" y="5508079"/>
            <a:ext cx="638481" cy="4872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cxnSpLocks/>
            <a:stCxn id="86" idx="3"/>
            <a:endCxn id="142" idx="1"/>
          </p:cNvCxnSpPr>
          <p:nvPr/>
        </p:nvCxnSpPr>
        <p:spPr>
          <a:xfrm>
            <a:off x="4534218" y="5995305"/>
            <a:ext cx="638481" cy="1645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cxnSpLocks/>
            <a:stCxn id="86" idx="3"/>
            <a:endCxn id="141" idx="1"/>
          </p:cNvCxnSpPr>
          <p:nvPr/>
        </p:nvCxnSpPr>
        <p:spPr>
          <a:xfrm flipV="1">
            <a:off x="4534218" y="5833261"/>
            <a:ext cx="638481" cy="1620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369</a:t>
            </a:fld>
            <a:endParaRPr lang="ko-KR" altLang="en-US"/>
          </a:p>
        </p:txBody>
      </p:sp>
      <p:sp>
        <p:nvSpPr>
          <p:cNvPr id="59" name="모서리가 둥근 직사각형 117">
            <a:extLst>
              <a:ext uri="{FF2B5EF4-FFF2-40B4-BE49-F238E27FC236}">
                <a16:creationId xmlns:a16="http://schemas.microsoft.com/office/drawing/2014/main" id="{A7C0D2F8-2D16-40FF-9207-FAEA01805E94}"/>
              </a:ext>
            </a:extLst>
          </p:cNvPr>
          <p:cNvSpPr/>
          <p:nvPr/>
        </p:nvSpPr>
        <p:spPr>
          <a:xfrm>
            <a:off x="8205601" y="4320469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손해액의 산정 등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128②~⑨)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모서리가 둥근 직사각형 118">
            <a:extLst>
              <a:ext uri="{FF2B5EF4-FFF2-40B4-BE49-F238E27FC236}">
                <a16:creationId xmlns:a16="http://schemas.microsoft.com/office/drawing/2014/main" id="{70FDA9E5-B786-4B6C-98E1-AED074A5DCDF}"/>
              </a:ext>
            </a:extLst>
          </p:cNvPr>
          <p:cNvSpPr/>
          <p:nvPr/>
        </p:nvSpPr>
        <p:spPr>
          <a:xfrm>
            <a:off x="8205601" y="4768815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감정사항 설명의무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모서리가 둥근 직사각형 119">
            <a:extLst>
              <a:ext uri="{FF2B5EF4-FFF2-40B4-BE49-F238E27FC236}">
                <a16:creationId xmlns:a16="http://schemas.microsoft.com/office/drawing/2014/main" id="{43B194C3-A0B0-4BAD-82C0-8339DBDFE361}"/>
              </a:ext>
            </a:extLst>
          </p:cNvPr>
          <p:cNvSpPr/>
          <p:nvPr/>
        </p:nvSpPr>
        <p:spPr>
          <a:xfrm>
            <a:off x="8205601" y="5173502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생산방법의 추정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129)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모서리가 둥근 직사각형 120">
            <a:extLst>
              <a:ext uri="{FF2B5EF4-FFF2-40B4-BE49-F238E27FC236}">
                <a16:creationId xmlns:a16="http://schemas.microsoft.com/office/drawing/2014/main" id="{4E95445D-DB21-4CA9-9620-6AD0973E6428}"/>
              </a:ext>
            </a:extLst>
          </p:cNvPr>
          <p:cNvSpPr/>
          <p:nvPr/>
        </p:nvSpPr>
        <p:spPr>
          <a:xfrm>
            <a:off x="8205601" y="5585188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과실의 추정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130)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3" name="모서리가 둥근 직사각형 121">
            <a:extLst>
              <a:ext uri="{FF2B5EF4-FFF2-40B4-BE49-F238E27FC236}">
                <a16:creationId xmlns:a16="http://schemas.microsoft.com/office/drawing/2014/main" id="{5CDFFE81-C39A-464A-AF0C-C9EB36056C3D}"/>
              </a:ext>
            </a:extLst>
          </p:cNvPr>
          <p:cNvSpPr/>
          <p:nvPr/>
        </p:nvSpPr>
        <p:spPr>
          <a:xfrm>
            <a:off x="8205601" y="5989875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자료의 제출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4" name="왼쪽 화살표 86">
            <a:extLst>
              <a:ext uri="{FF2B5EF4-FFF2-40B4-BE49-F238E27FC236}">
                <a16:creationId xmlns:a16="http://schemas.microsoft.com/office/drawing/2014/main" id="{28837F56-61DF-4252-8079-4674A060977D}"/>
              </a:ext>
            </a:extLst>
          </p:cNvPr>
          <p:cNvSpPr/>
          <p:nvPr/>
        </p:nvSpPr>
        <p:spPr>
          <a:xfrm>
            <a:off x="7278223" y="4502539"/>
            <a:ext cx="765279" cy="1187679"/>
          </a:xfrm>
          <a:prstGeom prst="leftArrow">
            <a:avLst>
              <a:gd name="adj1" fmla="val 75663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019628-027C-4B52-9DC4-5A7CC517296C}"/>
              </a:ext>
            </a:extLst>
          </p:cNvPr>
          <p:cNvSpPr txBox="1"/>
          <p:nvPr/>
        </p:nvSpPr>
        <p:spPr>
          <a:xfrm>
            <a:off x="7442562" y="4979732"/>
            <a:ext cx="498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실효성</a:t>
            </a:r>
          </a:p>
        </p:txBody>
      </p:sp>
      <p:sp>
        <p:nvSpPr>
          <p:cNvPr id="66" name="모서리가 둥근 직사각형 117">
            <a:extLst>
              <a:ext uri="{FF2B5EF4-FFF2-40B4-BE49-F238E27FC236}">
                <a16:creationId xmlns:a16="http://schemas.microsoft.com/office/drawing/2014/main" id="{C5A36FEC-CF2E-48BB-AAEF-07B3A1D7961B}"/>
              </a:ext>
            </a:extLst>
          </p:cNvPr>
          <p:cNvSpPr/>
          <p:nvPr/>
        </p:nvSpPr>
        <p:spPr>
          <a:xfrm>
            <a:off x="8205601" y="3774606"/>
            <a:ext cx="2826099" cy="4136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구체적인 행위의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내용ㆍ방식ㆍ형태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제시 의무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9152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침해의 성립요건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3243693" y="1320577"/>
            <a:ext cx="5901928" cy="10511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72000" tIns="17618" rIns="72000" bIns="17618" spcCol="1270" anchor="ctr"/>
          <a:lstStyle/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특허출원중의 실시 또는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특허료의 불납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존속기간의 만료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특허권의 포기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상속인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부존재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등으로 인해 특허권의 소멸된 후의 실시는 특허권의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비침해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일단 설정등록에 의하여 특허권이 발생한 이상 특허요건의 흠결이 있다고 할지라도 특허취소신청에 의한 취소결정이나 특허무효심판에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무효심결이</a:t>
            </a:r>
            <a:r>
              <a:rPr lang="ko-KR" altLang="en-US" sz="1200" dirty="0">
                <a:solidFill>
                  <a:schemeClr val="tx1"/>
                </a:solidFill>
              </a:rPr>
              <a:t> 확정되기 전까지는 특허권이 존속중인 것으로 간주 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247250" y="2447042"/>
            <a:ext cx="5901928" cy="4797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72000" tIns="17618" rIns="72000" bIns="17618" spcCol="1270" anchor="ctr"/>
          <a:lstStyle/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실시권의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존재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권리소진이 적용되는 경우 등 정당한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권원이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있기 때문에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비침해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247250" y="4629150"/>
            <a:ext cx="5901928" cy="5448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72000" tIns="17618" rIns="72000" bIns="17618" spcCol="1270" anchor="ctr"/>
          <a:lstStyle/>
          <a:p>
            <a:pPr marL="180975" indent="-180975" defTabSz="222250">
              <a:lnSpc>
                <a:spcPct val="90000"/>
              </a:lnSpc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개인적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가정적 실시를 제외하고는 업으로서의 실시로 해석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marL="180975" indent="-180975" defTabSz="222250">
              <a:lnSpc>
                <a:spcPct val="90000"/>
              </a:lnSpc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실시행위의 독립성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247250" y="2977786"/>
            <a:ext cx="5901928" cy="15656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72000" tIns="17618" rIns="72000" bIns="17618" spcCol="1270" anchor="ctr"/>
          <a:lstStyle/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단계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특허발명의 특정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청구범위 기준의 원칙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발명의 설명 참작의 원칙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공지기술참작의 원칙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출원경과참작의 원칙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특허권 하자 참작의 원칙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확인대상발명의 특정 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사회통념상 다른 것과 구별될 수 있을 정도로 특정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청구취지로서 특정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) &amp; 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서로 대비할 수 있을 정도로 특정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청구원인으로서 특정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단계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특허발명의 실시인지 판단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구성요소완비의 원칙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(All Elements Rule)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과 균등론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(Doctrine of Equivalent)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을 적용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단계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법률의 제한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81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3④, 96, 181),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확장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127)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을 고려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948233" y="1320577"/>
            <a:ext cx="1299015" cy="1051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특허권 존속 中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1961412" y="4630640"/>
            <a:ext cx="1285837" cy="543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업으로서 실시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1952625" y="2977786"/>
            <a:ext cx="1294624" cy="1565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특허발명의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보호범위에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속하는 발명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endParaRPr lang="ko-KR" altLang="en-US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948233" y="2447042"/>
            <a:ext cx="1299015" cy="4797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정당한 권원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없는 자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3247250" y="5242954"/>
            <a:ext cx="5901928" cy="6194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72000" tIns="17618" rIns="72000" bIns="17618" spcCol="1270" anchor="ctr"/>
          <a:lstStyle/>
          <a:p>
            <a:pPr marL="180975" indent="-180975" defTabSz="222250">
              <a:lnSpc>
                <a:spcPct val="90000"/>
              </a:lnSpc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침해의 성립 자체에는 고의나 과실이 불요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단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방법의 사용을 청약하는 행위는 고의 필요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200" b="0" dirty="0">
              <a:solidFill>
                <a:srgbClr val="FF0000"/>
              </a:solidFill>
              <a:latin typeface="+mn-ea"/>
            </a:endParaRPr>
          </a:p>
          <a:p>
            <a:pPr marL="180975" indent="-180975" defTabSz="222250">
              <a:lnSpc>
                <a:spcPct val="90000"/>
              </a:lnSpc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다만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고의나 과실이 있는 경우 민사상 손해배상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신용회복을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고의가 있는 경우 형사상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침해죄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적용가능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반의사불벌죄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  <a:endParaRPr lang="ko-KR" altLang="en-US" sz="12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961412" y="5242954"/>
            <a:ext cx="1285837" cy="61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고의 또는 과실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不要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8625" y="3175672"/>
            <a:ext cx="1018227" cy="891503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>
                <a:solidFill>
                  <a:schemeClr val="accent4"/>
                </a:solidFill>
              </a:rPr>
              <a:t>침해</a:t>
            </a:r>
            <a:endParaRPr lang="en-US" altLang="ko-KR" dirty="0">
              <a:solidFill>
                <a:schemeClr val="accent4"/>
              </a:solidFill>
            </a:endParaRPr>
          </a:p>
          <a:p>
            <a:pPr algn="ctr"/>
            <a:r>
              <a:rPr lang="ko-KR" altLang="en-US" dirty="0">
                <a:solidFill>
                  <a:schemeClr val="accent4"/>
                </a:solidFill>
              </a:rPr>
              <a:t>성립요건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458326" y="2979839"/>
            <a:ext cx="240982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+mn-ea"/>
              </a:rPr>
              <a:t>특허발명의 실시이면서 법률의 제한에 해당하지 않은 경우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직접침해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458325" y="3813847"/>
            <a:ext cx="240982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+mn-ea"/>
              </a:rPr>
              <a:t> 특허발명의 실시가 아니지만 법률의 확장에 해당하는 경우 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간접침해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8" name="꺾인 연결선 7"/>
          <p:cNvCxnSpPr>
            <a:stCxn id="2" idx="3"/>
            <a:endCxn id="63" idx="1"/>
          </p:cNvCxnSpPr>
          <p:nvPr/>
        </p:nvCxnSpPr>
        <p:spPr>
          <a:xfrm flipV="1">
            <a:off x="1446852" y="1846151"/>
            <a:ext cx="501381" cy="17752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2" idx="3"/>
            <a:endCxn id="68" idx="1"/>
          </p:cNvCxnSpPr>
          <p:nvPr/>
        </p:nvCxnSpPr>
        <p:spPr>
          <a:xfrm>
            <a:off x="1446852" y="3621424"/>
            <a:ext cx="514560" cy="19273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2" idx="3"/>
            <a:endCxn id="66" idx="1"/>
          </p:cNvCxnSpPr>
          <p:nvPr/>
        </p:nvCxnSpPr>
        <p:spPr>
          <a:xfrm flipV="1">
            <a:off x="1446852" y="2686917"/>
            <a:ext cx="501381" cy="9345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2" idx="3"/>
            <a:endCxn id="65" idx="1"/>
          </p:cNvCxnSpPr>
          <p:nvPr/>
        </p:nvCxnSpPr>
        <p:spPr>
          <a:xfrm>
            <a:off x="1446852" y="3621424"/>
            <a:ext cx="505773" cy="1391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2" idx="3"/>
            <a:endCxn id="64" idx="1"/>
          </p:cNvCxnSpPr>
          <p:nvPr/>
        </p:nvCxnSpPr>
        <p:spPr>
          <a:xfrm>
            <a:off x="1446852" y="3621424"/>
            <a:ext cx="514560" cy="12809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62" idx="3"/>
            <a:endCxn id="5" idx="1"/>
          </p:cNvCxnSpPr>
          <p:nvPr/>
        </p:nvCxnSpPr>
        <p:spPr>
          <a:xfrm flipV="1">
            <a:off x="9149178" y="3349171"/>
            <a:ext cx="309148" cy="4114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62" idx="3"/>
            <a:endCxn id="6" idx="1"/>
          </p:cNvCxnSpPr>
          <p:nvPr/>
        </p:nvCxnSpPr>
        <p:spPr>
          <a:xfrm>
            <a:off x="9149178" y="3760606"/>
            <a:ext cx="309147" cy="4225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9215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직사각형 72"/>
          <p:cNvSpPr/>
          <p:nvPr/>
        </p:nvSpPr>
        <p:spPr bwMode="auto">
          <a:xfrm>
            <a:off x="5597089" y="1004342"/>
            <a:ext cx="6355562" cy="15959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 존속 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371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 bwMode="auto">
          <a:xfrm>
            <a:off x="2360229" y="1004342"/>
            <a:ext cx="3124683" cy="15959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51002" y="1047037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장래를 향해 소멸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1757" y="1393510"/>
            <a:ext cx="17283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rgbClr val="FF0000"/>
                </a:solidFill>
              </a:rPr>
              <a:t>특</a:t>
            </a:r>
            <a:r>
              <a:rPr lang="ko-KR" altLang="en-US" sz="1400" dirty="0"/>
              <a:t>허료 불납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존속</a:t>
            </a:r>
            <a:r>
              <a:rPr lang="ko-KR" altLang="en-US" sz="1600" dirty="0">
                <a:solidFill>
                  <a:srgbClr val="FF0000"/>
                </a:solidFill>
              </a:rPr>
              <a:t>기</a:t>
            </a:r>
            <a:r>
              <a:rPr lang="ko-KR" altLang="en-US" sz="1400" dirty="0"/>
              <a:t>간 만료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특허권의 </a:t>
            </a:r>
            <a:r>
              <a:rPr lang="ko-KR" altLang="en-US" sz="1600" dirty="0">
                <a:solidFill>
                  <a:srgbClr val="FF0000"/>
                </a:solidFill>
              </a:rPr>
              <a:t>포</a:t>
            </a:r>
            <a:r>
              <a:rPr lang="ko-KR" altLang="en-US" sz="1400" dirty="0"/>
              <a:t>기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rgbClr val="FF0000"/>
                </a:solidFill>
              </a:rPr>
              <a:t>상</a:t>
            </a:r>
            <a:r>
              <a:rPr lang="ko-KR" altLang="en-US" sz="1400" dirty="0"/>
              <a:t>속인 없는 경우</a:t>
            </a:r>
            <a:endParaRPr lang="en-US" altLang="ko-KR" sz="1400" dirty="0"/>
          </a:p>
        </p:txBody>
      </p:sp>
      <p:sp>
        <p:nvSpPr>
          <p:cNvPr id="27" name="직사각형 26"/>
          <p:cNvSpPr/>
          <p:nvPr/>
        </p:nvSpPr>
        <p:spPr bwMode="auto">
          <a:xfrm>
            <a:off x="2360229" y="2660898"/>
            <a:ext cx="3124683" cy="23042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51001" y="2703593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소급하여 소멸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1757" y="3050066"/>
            <a:ext cx="275008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특허</a:t>
            </a:r>
            <a:r>
              <a:rPr lang="ko-KR" altLang="en-US" sz="1600" dirty="0">
                <a:solidFill>
                  <a:srgbClr val="FF0000"/>
                </a:solidFill>
              </a:rPr>
              <a:t>취</a:t>
            </a:r>
            <a:r>
              <a:rPr lang="ko-KR" altLang="en-US" sz="1400" dirty="0"/>
              <a:t>소신청에 의한 취소결정의 확정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특허</a:t>
            </a:r>
            <a:r>
              <a:rPr lang="ko-KR" altLang="en-US" sz="1600" dirty="0">
                <a:solidFill>
                  <a:srgbClr val="FF0000"/>
                </a:solidFill>
              </a:rPr>
              <a:t>무</a:t>
            </a:r>
            <a:r>
              <a:rPr lang="ko-KR" altLang="en-US" sz="1400" dirty="0"/>
              <a:t>효심판에 의한 </a:t>
            </a:r>
            <a:r>
              <a:rPr lang="ko-KR" altLang="en-US" sz="1400" dirty="0" err="1"/>
              <a:t>인용심결의</a:t>
            </a:r>
            <a:r>
              <a:rPr lang="ko-KR" altLang="en-US" sz="1400" dirty="0"/>
              <a:t> 확정</a:t>
            </a:r>
            <a:r>
              <a:rPr lang="en-US" altLang="ko-KR" sz="1400" dirty="0"/>
              <a:t>(</a:t>
            </a:r>
            <a:r>
              <a:rPr lang="ko-KR" altLang="en-US" sz="1400" dirty="0"/>
              <a:t>단</a:t>
            </a:r>
            <a:r>
              <a:rPr lang="en-US" altLang="ko-KR" sz="1400" dirty="0"/>
              <a:t>, </a:t>
            </a:r>
            <a:r>
              <a:rPr lang="ko-KR" altLang="en-US" sz="1400" dirty="0"/>
              <a:t>후발적 사유는 제외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9727253" y="1390578"/>
            <a:ext cx="2007332" cy="492719"/>
          </a:xfrm>
          <a:custGeom>
            <a:avLst/>
            <a:gdLst>
              <a:gd name="connsiteX0" fmla="*/ 0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0 w 1988542"/>
              <a:gd name="connsiteY4" fmla="*/ 0 h 492719"/>
              <a:gd name="connsiteX0" fmla="*/ 200025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200025 w 1988542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8542" h="492719">
                <a:moveTo>
                  <a:pt x="200025" y="0"/>
                </a:moveTo>
                <a:lnTo>
                  <a:pt x="1988542" y="0"/>
                </a:lnTo>
                <a:lnTo>
                  <a:pt x="1988542" y="492719"/>
                </a:lnTo>
                <a:lnTo>
                  <a:pt x="0" y="492719"/>
                </a:lnTo>
                <a:lnTo>
                  <a:pt x="200025" y="0"/>
                </a:lnTo>
                <a:close/>
              </a:path>
            </a:pathLst>
          </a:custGeom>
          <a:pattFill prst="openDmnd">
            <a:fgClr>
              <a:schemeClr val="accent2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비유효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21"/>
          <p:cNvSpPr/>
          <p:nvPr/>
        </p:nvSpPr>
        <p:spPr>
          <a:xfrm>
            <a:off x="7691977" y="1390578"/>
            <a:ext cx="2059591" cy="492719"/>
          </a:xfrm>
          <a:custGeom>
            <a:avLst/>
            <a:gdLst>
              <a:gd name="connsiteX0" fmla="*/ 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0 w 2182196"/>
              <a:gd name="connsiteY4" fmla="*/ 0 h 492719"/>
              <a:gd name="connsiteX0" fmla="*/ 27940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  <a:gd name="connsiteX0" fmla="*/ 279400 w 2182196"/>
              <a:gd name="connsiteY0" fmla="*/ 0 h 492719"/>
              <a:gd name="connsiteX1" fmla="*/ 1928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2196" h="492719">
                <a:moveTo>
                  <a:pt x="279400" y="0"/>
                </a:moveTo>
                <a:lnTo>
                  <a:pt x="1928196" y="0"/>
                </a:lnTo>
                <a:lnTo>
                  <a:pt x="2182196" y="492719"/>
                </a:lnTo>
                <a:lnTo>
                  <a:pt x="0" y="492719"/>
                </a:lnTo>
                <a:lnTo>
                  <a:pt x="279400" y="0"/>
                </a:lnTo>
                <a:close/>
              </a:path>
            </a:pathLst>
          </a:cu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권리의 존속 中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유효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5600700" y="2660898"/>
            <a:ext cx="6351951" cy="23042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7954787" y="4346798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특허무효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  <a:endParaRPr lang="en-US" altLang="ko-KR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9262907" y="4346798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인용심결</a:t>
            </a:r>
            <a:endParaRPr lang="en-US" altLang="ko-KR" sz="1200" dirty="0"/>
          </a:p>
          <a:p>
            <a:pPr algn="ctr"/>
            <a:r>
              <a:rPr lang="ko-KR" altLang="en-US" sz="1200" dirty="0"/>
              <a:t>확정</a:t>
            </a:r>
            <a:endParaRPr lang="en-US" altLang="ko-KR" sz="1200" dirty="0"/>
          </a:p>
        </p:txBody>
      </p:sp>
      <p:sp>
        <p:nvSpPr>
          <p:cNvPr id="34" name="타원 33"/>
          <p:cNvSpPr/>
          <p:nvPr/>
        </p:nvSpPr>
        <p:spPr>
          <a:xfrm>
            <a:off x="10139069" y="1139385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5" name="타원 34"/>
          <p:cNvSpPr/>
          <p:nvPr/>
        </p:nvSpPr>
        <p:spPr>
          <a:xfrm>
            <a:off x="8103792" y="1139385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9" name="Line 5"/>
          <p:cNvSpPr>
            <a:spLocks noChangeShapeType="1"/>
          </p:cNvSpPr>
          <p:nvPr/>
        </p:nvSpPr>
        <p:spPr bwMode="auto">
          <a:xfrm>
            <a:off x="5846823" y="1883297"/>
            <a:ext cx="6003779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6458589" y="179530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19818" y="2204742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특허출원</a:t>
            </a:r>
          </a:p>
        </p:txBody>
      </p:sp>
      <p:cxnSp>
        <p:nvCxnSpPr>
          <p:cNvPr id="43" name="직선 연결선 42"/>
          <p:cNvCxnSpPr>
            <a:stCxn id="41" idx="0"/>
            <a:endCxn id="40" idx="4"/>
          </p:cNvCxnSpPr>
          <p:nvPr/>
        </p:nvCxnSpPr>
        <p:spPr>
          <a:xfrm flipV="1">
            <a:off x="6535958" y="1956638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/>
          <p:cNvSpPr/>
          <p:nvPr/>
        </p:nvSpPr>
        <p:spPr>
          <a:xfrm>
            <a:off x="7614608" y="179530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75837" y="2204742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설정등록</a:t>
            </a:r>
          </a:p>
        </p:txBody>
      </p:sp>
      <p:cxnSp>
        <p:nvCxnSpPr>
          <p:cNvPr id="46" name="직선 연결선 45"/>
          <p:cNvCxnSpPr>
            <a:stCxn id="45" idx="0"/>
            <a:endCxn id="44" idx="4"/>
          </p:cNvCxnSpPr>
          <p:nvPr/>
        </p:nvCxnSpPr>
        <p:spPr>
          <a:xfrm flipV="1">
            <a:off x="7691977" y="1956638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/>
          <p:cNvSpPr/>
          <p:nvPr/>
        </p:nvSpPr>
        <p:spPr>
          <a:xfrm>
            <a:off x="9649884" y="179530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473015" y="2204742"/>
            <a:ext cx="508474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소멸</a:t>
            </a:r>
          </a:p>
        </p:txBody>
      </p:sp>
      <p:cxnSp>
        <p:nvCxnSpPr>
          <p:cNvPr id="49" name="직선 연결선 48"/>
          <p:cNvCxnSpPr>
            <a:stCxn id="48" idx="0"/>
            <a:endCxn id="47" idx="4"/>
          </p:cNvCxnSpPr>
          <p:nvPr/>
        </p:nvCxnSpPr>
        <p:spPr>
          <a:xfrm flipV="1">
            <a:off x="9727252" y="1956638"/>
            <a:ext cx="1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"/>
          <p:cNvSpPr/>
          <p:nvPr/>
        </p:nvSpPr>
        <p:spPr>
          <a:xfrm>
            <a:off x="7691977" y="2868752"/>
            <a:ext cx="4042608" cy="743913"/>
          </a:xfrm>
          <a:custGeom>
            <a:avLst/>
            <a:gdLst>
              <a:gd name="connsiteX0" fmla="*/ 0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0 w 1988542"/>
              <a:gd name="connsiteY4" fmla="*/ 0 h 492719"/>
              <a:gd name="connsiteX0" fmla="*/ 200025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200025 w 1988542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8542" h="492719">
                <a:moveTo>
                  <a:pt x="200025" y="0"/>
                </a:moveTo>
                <a:lnTo>
                  <a:pt x="1988542" y="0"/>
                </a:lnTo>
                <a:lnTo>
                  <a:pt x="1988542" y="492719"/>
                </a:lnTo>
                <a:lnTo>
                  <a:pt x="0" y="492719"/>
                </a:lnTo>
                <a:lnTo>
                  <a:pt x="200025" y="0"/>
                </a:lnTo>
                <a:close/>
              </a:path>
            </a:pathLst>
          </a:custGeom>
          <a:pattFill prst="openDmnd">
            <a:fgClr>
              <a:schemeClr val="accent2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                                      </a:t>
            </a:r>
            <a:r>
              <a:rPr lang="ko-KR" altLang="en-US" sz="1200" dirty="0" err="1">
                <a:solidFill>
                  <a:schemeClr val="tx1"/>
                </a:solidFill>
              </a:rPr>
              <a:t>비유효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직사각형 21"/>
          <p:cNvSpPr/>
          <p:nvPr/>
        </p:nvSpPr>
        <p:spPr>
          <a:xfrm>
            <a:off x="7691977" y="3119946"/>
            <a:ext cx="2059591" cy="492719"/>
          </a:xfrm>
          <a:custGeom>
            <a:avLst/>
            <a:gdLst>
              <a:gd name="connsiteX0" fmla="*/ 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0 w 2182196"/>
              <a:gd name="connsiteY4" fmla="*/ 0 h 492719"/>
              <a:gd name="connsiteX0" fmla="*/ 27940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  <a:gd name="connsiteX0" fmla="*/ 279400 w 2182196"/>
              <a:gd name="connsiteY0" fmla="*/ 0 h 492719"/>
              <a:gd name="connsiteX1" fmla="*/ 1928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2196" h="492719">
                <a:moveTo>
                  <a:pt x="279400" y="0"/>
                </a:moveTo>
                <a:lnTo>
                  <a:pt x="1928196" y="0"/>
                </a:lnTo>
                <a:lnTo>
                  <a:pt x="2182196" y="492719"/>
                </a:lnTo>
                <a:lnTo>
                  <a:pt x="0" y="492719"/>
                </a:lnTo>
                <a:lnTo>
                  <a:pt x="279400" y="0"/>
                </a:lnTo>
                <a:close/>
              </a:path>
            </a:pathLst>
          </a:cu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권리의 존속 中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유효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10336704" y="2675168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3" name="타원 52"/>
          <p:cNvSpPr/>
          <p:nvPr/>
        </p:nvSpPr>
        <p:spPr>
          <a:xfrm>
            <a:off x="8103792" y="2878278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5846823" y="3612665"/>
            <a:ext cx="6003779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6458589" y="35246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119818" y="3934110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특허출원</a:t>
            </a:r>
          </a:p>
        </p:txBody>
      </p:sp>
      <p:cxnSp>
        <p:nvCxnSpPr>
          <p:cNvPr id="57" name="직선 연결선 56"/>
          <p:cNvCxnSpPr>
            <a:stCxn id="56" idx="0"/>
            <a:endCxn id="55" idx="4"/>
          </p:cNvCxnSpPr>
          <p:nvPr/>
        </p:nvCxnSpPr>
        <p:spPr>
          <a:xfrm flipV="1">
            <a:off x="6535958" y="3686006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/>
          <p:cNvSpPr/>
          <p:nvPr/>
        </p:nvSpPr>
        <p:spPr>
          <a:xfrm>
            <a:off x="7614608" y="35246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275837" y="3934110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설정등록</a:t>
            </a:r>
          </a:p>
        </p:txBody>
      </p:sp>
      <p:cxnSp>
        <p:nvCxnSpPr>
          <p:cNvPr id="60" name="직선 연결선 59"/>
          <p:cNvCxnSpPr>
            <a:stCxn id="59" idx="0"/>
            <a:endCxn id="58" idx="4"/>
          </p:cNvCxnSpPr>
          <p:nvPr/>
        </p:nvCxnSpPr>
        <p:spPr>
          <a:xfrm flipV="1">
            <a:off x="7691977" y="3686006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/>
          <p:cNvSpPr/>
          <p:nvPr/>
        </p:nvSpPr>
        <p:spPr>
          <a:xfrm>
            <a:off x="9649884" y="35246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473015" y="3934110"/>
            <a:ext cx="508474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소멸</a:t>
            </a:r>
          </a:p>
        </p:txBody>
      </p:sp>
      <p:cxnSp>
        <p:nvCxnSpPr>
          <p:cNvPr id="63" name="직선 연결선 62"/>
          <p:cNvCxnSpPr>
            <a:stCxn id="62" idx="0"/>
            <a:endCxn id="61" idx="4"/>
          </p:cNvCxnSpPr>
          <p:nvPr/>
        </p:nvCxnSpPr>
        <p:spPr>
          <a:xfrm flipV="1">
            <a:off x="9727252" y="3686006"/>
            <a:ext cx="1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30" idx="0"/>
            <a:endCxn id="67" idx="4"/>
          </p:cNvCxnSpPr>
          <p:nvPr/>
        </p:nvCxnSpPr>
        <p:spPr>
          <a:xfrm flipV="1">
            <a:off x="8418048" y="3686006"/>
            <a:ext cx="4815" cy="6607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타원 66"/>
          <p:cNvSpPr/>
          <p:nvPr/>
        </p:nvSpPr>
        <p:spPr>
          <a:xfrm>
            <a:off x="8345494" y="35246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2" name="직선 연결선 71"/>
          <p:cNvCxnSpPr>
            <a:stCxn id="31" idx="0"/>
            <a:endCxn id="62" idx="2"/>
          </p:cNvCxnSpPr>
          <p:nvPr/>
        </p:nvCxnSpPr>
        <p:spPr>
          <a:xfrm flipV="1">
            <a:off x="9726168" y="4241887"/>
            <a:ext cx="1084" cy="1049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 bwMode="auto">
          <a:xfrm>
            <a:off x="323850" y="5377370"/>
            <a:ext cx="11628801" cy="1366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일반적으로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하자있는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행정처분이 당연무효가 되기 위해서는 그 하자가 법규의 중요한 부분을 위반한 중대한 것으로서 객관적으로 명백한 것이어야 하며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/>
              <a:t>하자가 중대하고 명백한지 여부를 판별함에 있어서는 그 법규의 목적</a:t>
            </a:r>
            <a:r>
              <a:rPr lang="en-US" altLang="ko-KR" sz="1200" dirty="0"/>
              <a:t>, </a:t>
            </a:r>
            <a:r>
              <a:rPr lang="ko-KR" altLang="en-US" sz="1200" dirty="0"/>
              <a:t>의미</a:t>
            </a:r>
            <a:r>
              <a:rPr lang="en-US" altLang="ko-KR" sz="1200" dirty="0"/>
              <a:t>, </a:t>
            </a:r>
            <a:r>
              <a:rPr lang="ko-KR" altLang="en-US" sz="1200" dirty="0"/>
              <a:t>기능 등을 목적론적으로 고찰함과 동시에 구체적 사안 자체의 특수성에 관하여도 합리적으로 고찰함을 요하는바</a:t>
            </a:r>
            <a:r>
              <a:rPr lang="en-US" altLang="ko-KR" sz="1200" dirty="0"/>
              <a:t>, </a:t>
            </a:r>
            <a:r>
              <a:rPr lang="ko-KR" altLang="en-US" sz="1200" dirty="0"/>
              <a:t>행정처분의 대상이 되지 아니하는 어떤 법률관계나 사실관계에 대하여 이를 처분의 대상이 되는 것으로 오인할 만한 객관적인 사정이 있는 경우로서 그것이 처분대상이 되는지의 여부가 그 사실관계를 정확히 조사하여야 비로소 밝혀질 수 있는 때에는 비록 이를 오인한 하자가 중대하다고 할지라도 외관상 명백하다고 할 수 없다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 </a:t>
            </a:r>
            <a:r>
              <a:rPr lang="en-US" altLang="ko-KR" sz="1200" dirty="0"/>
              <a:t>2007. 3. 16. </a:t>
            </a:r>
            <a:r>
              <a:rPr lang="ko-KR" altLang="en-US" sz="1200" dirty="0"/>
              <a:t>선고 </a:t>
            </a:r>
            <a:r>
              <a:rPr lang="en-US" altLang="ko-KR" sz="1200" dirty="0"/>
              <a:t>2006</a:t>
            </a:r>
            <a:r>
              <a:rPr lang="ko-KR" altLang="en-US" sz="1200" dirty="0"/>
              <a:t>다</a:t>
            </a:r>
            <a:r>
              <a:rPr lang="en-US" altLang="ko-KR" sz="1200" dirty="0"/>
              <a:t>83802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그런데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지식재산처 심사관이 특허결정을 함에 있어서는 엄격한 선행기술의 조사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거절이유의 통지 등의 절차를 거쳐 특허출원에 대하여 거절이유를 발견할 수 없는 때에 한하여 이루어지는 점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특허무효사유 가운데는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신규성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또는 진보성 결여와 같이 단순한 사실확정의 문제에서 나아가 법적 평가의 성격을 지니는 것들이 적지 않은데다가 대체로 그 판단이 반드시 자명하지는 않은 점 등에 비추어 보면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특허법 소정의 특허무효사유는 원칙적으로 행정법상의 당연무효사유에 해당한다고 보기는 어렵고 단순한 취소사유에 불과하다고 봄이 타당하다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2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326589" y="5109256"/>
            <a:ext cx="3443581" cy="268115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특허법원 </a:t>
            </a:r>
            <a:r>
              <a:rPr lang="en-US" altLang="ko-KR" sz="1400" dirty="0"/>
              <a:t>2009. 2. 18.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2007</a:t>
            </a:r>
            <a:r>
              <a:rPr lang="ko-KR" altLang="en-US" sz="1400" dirty="0"/>
              <a:t>허</a:t>
            </a:r>
            <a:r>
              <a:rPr lang="en-US" altLang="ko-KR" sz="1400" dirty="0"/>
              <a:t>12961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3850" y="2358630"/>
            <a:ext cx="1018227" cy="999213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800" dirty="0">
                <a:solidFill>
                  <a:schemeClr val="accent4"/>
                </a:solidFill>
              </a:rPr>
              <a:t>소멸</a:t>
            </a:r>
            <a:endParaRPr lang="en-US" altLang="ko-KR" sz="28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2800" dirty="0">
                <a:solidFill>
                  <a:schemeClr val="accent4"/>
                </a:solidFill>
              </a:rPr>
              <a:t>원인</a:t>
            </a:r>
          </a:p>
        </p:txBody>
      </p:sp>
      <p:cxnSp>
        <p:nvCxnSpPr>
          <p:cNvPr id="78" name="꺾인 연결선 77"/>
          <p:cNvCxnSpPr>
            <a:stCxn id="76" idx="3"/>
            <a:endCxn id="14" idx="1"/>
          </p:cNvCxnSpPr>
          <p:nvPr/>
        </p:nvCxnSpPr>
        <p:spPr>
          <a:xfrm flipV="1">
            <a:off x="1342077" y="1802334"/>
            <a:ext cx="1018152" cy="105590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76" idx="3"/>
            <a:endCxn id="27" idx="1"/>
          </p:cNvCxnSpPr>
          <p:nvPr/>
        </p:nvCxnSpPr>
        <p:spPr>
          <a:xfrm>
            <a:off x="1342077" y="2858237"/>
            <a:ext cx="1018152" cy="9547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337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01A69A-1A34-48F2-8160-A6F15213886F}"/>
              </a:ext>
            </a:extLst>
          </p:cNvPr>
          <p:cNvSpPr/>
          <p:nvPr/>
        </p:nvSpPr>
        <p:spPr>
          <a:xfrm>
            <a:off x="184731" y="5231595"/>
            <a:ext cx="3446990" cy="712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7D266E-8BC2-41C7-B6FB-241DD1AB6F46}"/>
              </a:ext>
            </a:extLst>
          </p:cNvPr>
          <p:cNvSpPr/>
          <p:nvPr/>
        </p:nvSpPr>
        <p:spPr>
          <a:xfrm>
            <a:off x="184731" y="3938934"/>
            <a:ext cx="3446990" cy="12369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rgbClr val="525252"/>
                </a:solidFill>
              </a:rPr>
              <a:t>복수 주체의 분산 실시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372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3BB6AF1-7F60-452C-A6FA-C26D553DE96B}"/>
              </a:ext>
            </a:extLst>
          </p:cNvPr>
          <p:cNvCxnSpPr/>
          <p:nvPr/>
        </p:nvCxnSpPr>
        <p:spPr>
          <a:xfrm>
            <a:off x="0" y="264627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8A4446-9A84-44CF-BF8E-778825646662}"/>
              </a:ext>
            </a:extLst>
          </p:cNvPr>
          <p:cNvSpPr/>
          <p:nvPr/>
        </p:nvSpPr>
        <p:spPr>
          <a:xfrm>
            <a:off x="232372" y="1353610"/>
            <a:ext cx="1168198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300" dirty="0"/>
              <a:t>특허 청구항을 복수의 구성요소로 구성한 경우에는 그 각 구성요소가 유기적으로 결합한 </a:t>
            </a:r>
            <a:r>
              <a:rPr lang="ko-KR" altLang="en-US" sz="1300" dirty="0" err="1"/>
              <a:t>전체로서의</a:t>
            </a:r>
            <a:r>
              <a:rPr lang="ko-KR" altLang="en-US" sz="1300" dirty="0"/>
              <a:t> 기술사상을 보호하는 것이지 각 구성요소를 독립하여 보호하는 것은 아니므로</a:t>
            </a:r>
            <a:r>
              <a:rPr lang="en-US" altLang="ko-KR" sz="1300" dirty="0"/>
              <a:t>, </a:t>
            </a:r>
            <a:r>
              <a:rPr lang="ko-KR" altLang="en-US" sz="1300" dirty="0"/>
              <a:t>원칙적으로 단일 주체가 모든 구성요소가 유기적으로 결합한 </a:t>
            </a:r>
            <a:r>
              <a:rPr lang="ko-KR" altLang="en-US" sz="1300" dirty="0" err="1"/>
              <a:t>전체로서의</a:t>
            </a:r>
            <a:r>
              <a:rPr lang="ko-KR" altLang="en-US" sz="1300" dirty="0"/>
              <a:t> 특허발명을 실시하여야 그 특허발명에 관한 특허권을 침해한 것으로 된다</a:t>
            </a:r>
            <a:r>
              <a:rPr lang="en-US" altLang="ko-KR" sz="1300" dirty="0"/>
              <a:t>(</a:t>
            </a:r>
            <a:r>
              <a:rPr lang="ko-KR" altLang="en-US" sz="1300" dirty="0"/>
              <a:t>이른바 ‘구성요소 완비의 원칙’</a:t>
            </a:r>
            <a:r>
              <a:rPr lang="en-US" altLang="ko-KR" sz="1300" dirty="0"/>
              <a:t>). </a:t>
            </a:r>
            <a:r>
              <a:rPr lang="ko-KR" altLang="en-US" sz="1300" dirty="0"/>
              <a:t>다만</a:t>
            </a:r>
            <a:r>
              <a:rPr lang="en-US" altLang="ko-KR" sz="1300" dirty="0"/>
              <a:t>, </a:t>
            </a:r>
            <a:r>
              <a:rPr lang="ko-KR" altLang="en-US" sz="1300" dirty="0"/>
              <a:t>복수 주체가 단일한 특허발명의 일부 구성요소를 분담하여 실시하는 경우라고 하더라도</a:t>
            </a:r>
            <a:r>
              <a:rPr lang="en-US" altLang="ko-KR" sz="1300" dirty="0"/>
              <a:t>, 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ⅰ)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복수 주체 중 어느 한 단일 주체가 다른 주체의 실시를 지배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관리하고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다른 주체의 실시로 인하여 영업상의 이익을 얻는 경우에는 다른 주체의 실시를 지배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관리하면서 영업상의 이익을 얻는 어느 한 단일 주체가 단독으로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ⅱ)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복수 주체가 각각 다른 주체의 실시행위를 인식하고 이를 이용할 의사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즉 서로 다른 주체의 실시행위를 이용하여 공동으로 특허발명을 실시할 의사를 가지고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특허발명의 전체 구성요소를 나누어 실시하는 경우에는 이들 복수 주체가 공동으로 특허침해를 한 것으로 봄이 타당하다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3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1EB2F813-B207-4574-BC6A-9E0259FF1206}"/>
              </a:ext>
            </a:extLst>
          </p:cNvPr>
          <p:cNvSpPr/>
          <p:nvPr/>
        </p:nvSpPr>
        <p:spPr bwMode="auto">
          <a:xfrm>
            <a:off x="378418" y="998802"/>
            <a:ext cx="4090065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서울고등법원 </a:t>
            </a:r>
            <a:r>
              <a:rPr lang="en-US" altLang="ko-KR" sz="1400" dirty="0"/>
              <a:t>2017. 8. 21.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2015</a:t>
            </a:r>
            <a:r>
              <a:rPr lang="ko-KR" altLang="en-US" sz="1400" dirty="0"/>
              <a:t>라</a:t>
            </a:r>
            <a:r>
              <a:rPr lang="en-US" altLang="ko-KR" sz="1400" dirty="0"/>
              <a:t>20296 </a:t>
            </a:r>
            <a:r>
              <a:rPr lang="ko-KR" altLang="en-US" sz="1400" dirty="0"/>
              <a:t>결정</a:t>
            </a:r>
            <a:endParaRPr lang="en-US" altLang="ko-K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C2C21-5BFC-487F-A726-6AF8A55A7963}"/>
              </a:ext>
            </a:extLst>
          </p:cNvPr>
          <p:cNvSpPr txBox="1"/>
          <p:nvPr/>
        </p:nvSpPr>
        <p:spPr>
          <a:xfrm>
            <a:off x="347488" y="3032171"/>
            <a:ext cx="2611612" cy="337438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청구항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--- A</a:t>
            </a:r>
            <a:r>
              <a:rPr lang="ko-KR" altLang="en-US" dirty="0"/>
              <a:t> 단계</a:t>
            </a:r>
            <a:r>
              <a:rPr lang="en-US" altLang="ko-KR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--- B </a:t>
            </a:r>
            <a:r>
              <a:rPr lang="ko-KR" altLang="en-US" dirty="0"/>
              <a:t>단계</a:t>
            </a:r>
            <a:r>
              <a:rPr lang="en-US" altLang="ko-KR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--- C </a:t>
            </a:r>
            <a:r>
              <a:rPr lang="ko-KR" altLang="en-US" dirty="0"/>
              <a:t>단계</a:t>
            </a:r>
            <a:r>
              <a:rPr lang="en-US" altLang="ko-KR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--- D</a:t>
            </a:r>
            <a:r>
              <a:rPr lang="ko-KR" altLang="en-US" dirty="0"/>
              <a:t> 단계</a:t>
            </a:r>
            <a:r>
              <a:rPr lang="en-US" altLang="ko-KR" dirty="0"/>
              <a:t>; </a:t>
            </a:r>
            <a:r>
              <a:rPr lang="ko-KR" altLang="en-US" dirty="0"/>
              <a:t>및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--- E </a:t>
            </a:r>
            <a:r>
              <a:rPr lang="ko-KR" altLang="en-US" dirty="0"/>
              <a:t>단계를 포함하는 것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을 특징으로 하는 </a:t>
            </a:r>
            <a:r>
              <a:rPr lang="en-US" altLang="ko-KR" dirty="0"/>
              <a:t>OO</a:t>
            </a:r>
            <a:r>
              <a:rPr lang="ko-KR" altLang="en-US" dirty="0"/>
              <a:t>방법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16F14-B4EE-4416-B3FA-7E3FFF84D05E}"/>
              </a:ext>
            </a:extLst>
          </p:cNvPr>
          <p:cNvSpPr txBox="1"/>
          <p:nvPr/>
        </p:nvSpPr>
        <p:spPr>
          <a:xfrm>
            <a:off x="2648009" y="4357336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甲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실시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5A5DB-3DCD-45C3-830E-4AA179A8A44D}"/>
              </a:ext>
            </a:extLst>
          </p:cNvPr>
          <p:cNvSpPr txBox="1"/>
          <p:nvPr/>
        </p:nvSpPr>
        <p:spPr>
          <a:xfrm>
            <a:off x="2648009" y="5272959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乙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실시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87876-77D4-4EDC-ABE1-A8A1E800E8CC}"/>
              </a:ext>
            </a:extLst>
          </p:cNvPr>
          <p:cNvSpPr txBox="1"/>
          <p:nvPr/>
        </p:nvSpPr>
        <p:spPr>
          <a:xfrm>
            <a:off x="4094489" y="2738604"/>
            <a:ext cx="400301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甲 또는 乙에게 책임을 물을 수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FFF1454-893C-4B8D-9D1A-07FEFB6B13AF}"/>
              </a:ext>
            </a:extLst>
          </p:cNvPr>
          <p:cNvCxnSpPr/>
          <p:nvPr/>
        </p:nvCxnSpPr>
        <p:spPr>
          <a:xfrm>
            <a:off x="3942272" y="2923270"/>
            <a:ext cx="0" cy="365005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79AA19-D6D7-400F-8737-C5E0D29A9F50}"/>
              </a:ext>
            </a:extLst>
          </p:cNvPr>
          <p:cNvSpPr/>
          <p:nvPr/>
        </p:nvSpPr>
        <p:spPr>
          <a:xfrm>
            <a:off x="4252824" y="3418692"/>
            <a:ext cx="1061039" cy="3548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간접침해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07F858-0DA8-4C1F-A4BD-F5F1D83D80E8}"/>
              </a:ext>
            </a:extLst>
          </p:cNvPr>
          <p:cNvSpPr/>
          <p:nvPr/>
        </p:nvSpPr>
        <p:spPr>
          <a:xfrm>
            <a:off x="5417390" y="3418692"/>
            <a:ext cx="6427122" cy="3548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OO</a:t>
            </a:r>
            <a:r>
              <a:rPr lang="ko-KR" altLang="en-US" sz="1400" dirty="0">
                <a:solidFill>
                  <a:schemeClr val="tx1"/>
                </a:solidFill>
              </a:rPr>
              <a:t> 방법의 실시에만 사용되는 물건이라면 甲 또는 乙의 간접침해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F3C5AAB-7B80-41DC-84A3-BF76B17A2EA9}"/>
              </a:ext>
            </a:extLst>
          </p:cNvPr>
          <p:cNvSpPr/>
          <p:nvPr/>
        </p:nvSpPr>
        <p:spPr>
          <a:xfrm>
            <a:off x="4252824" y="4357336"/>
            <a:ext cx="1061039" cy="35482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직접침해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FE53ED5-A369-43E0-B27B-571A51874A09}"/>
              </a:ext>
            </a:extLst>
          </p:cNvPr>
          <p:cNvSpPr/>
          <p:nvPr/>
        </p:nvSpPr>
        <p:spPr>
          <a:xfrm>
            <a:off x="6685453" y="4002509"/>
            <a:ext cx="5159056" cy="3548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甲이 乙의 실시를 지배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관리하면서 영업상의 이익을 얻고 있다면 甲의 단독 직접침해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1A929B-9878-4DF3-A42E-68EA97E0B026}"/>
              </a:ext>
            </a:extLst>
          </p:cNvPr>
          <p:cNvSpPr/>
          <p:nvPr/>
        </p:nvSpPr>
        <p:spPr>
          <a:xfrm>
            <a:off x="5624414" y="4002509"/>
            <a:ext cx="1061039" cy="3548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>
                    <a:lumMod val="50000"/>
                  </a:schemeClr>
                </a:solidFill>
              </a:rPr>
              <a:t>단독침해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4D0B4F-E585-4858-A8C4-C47D67FFCBF4}"/>
              </a:ext>
            </a:extLst>
          </p:cNvPr>
          <p:cNvSpPr/>
          <p:nvPr/>
        </p:nvSpPr>
        <p:spPr>
          <a:xfrm>
            <a:off x="5624414" y="4705529"/>
            <a:ext cx="1061039" cy="3548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공동침해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996568-157B-44AB-9D90-E41ECCF7E17B}"/>
              </a:ext>
            </a:extLst>
          </p:cNvPr>
          <p:cNvSpPr/>
          <p:nvPr/>
        </p:nvSpPr>
        <p:spPr>
          <a:xfrm>
            <a:off x="6685452" y="4720359"/>
            <a:ext cx="5159057" cy="3548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甲과 乙이 </a:t>
            </a:r>
            <a:r>
              <a:rPr lang="en-US" altLang="ko-KR" sz="1400" dirty="0">
                <a:solidFill>
                  <a:schemeClr val="tx1"/>
                </a:solidFill>
              </a:rPr>
              <a:t>OO</a:t>
            </a:r>
            <a:r>
              <a:rPr lang="ko-KR" altLang="en-US" sz="1400" dirty="0">
                <a:solidFill>
                  <a:schemeClr val="tx1"/>
                </a:solidFill>
              </a:rPr>
              <a:t> 방법발명의 구성요소를 나누어 실시하고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甲과 乙이 다른 주체의 실시행위를 인식하고 이를 이용할 의사</a:t>
            </a:r>
            <a:r>
              <a:rPr lang="en-US" altLang="ko-KR" sz="1400" dirty="0">
                <a:solidFill>
                  <a:schemeClr val="tx1"/>
                </a:solidFill>
              </a:rPr>
              <a:t>*</a:t>
            </a:r>
            <a:r>
              <a:rPr lang="ko-KR" altLang="en-US" sz="1400" dirty="0">
                <a:solidFill>
                  <a:schemeClr val="tx1"/>
                </a:solidFill>
              </a:rPr>
              <a:t>가 있다면 甲과 乙의 공동 직접침해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402EA7-68A5-46D2-B451-933CD05D49CB}"/>
              </a:ext>
            </a:extLst>
          </p:cNvPr>
          <p:cNvSpPr/>
          <p:nvPr/>
        </p:nvSpPr>
        <p:spPr>
          <a:xfrm>
            <a:off x="4094488" y="6223655"/>
            <a:ext cx="788760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/>
              <a:t>* ⅰ) </a:t>
            </a:r>
            <a:r>
              <a:rPr lang="ko-KR" altLang="en-US" sz="1050" dirty="0"/>
              <a:t>甲과 乙이 계속적인 거래관계가 있는 경우</a:t>
            </a:r>
            <a:r>
              <a:rPr lang="en-US" altLang="ko-KR" sz="1050" dirty="0"/>
              <a:t>, </a:t>
            </a:r>
            <a:r>
              <a:rPr lang="ko-KR" altLang="en-US" sz="1050" dirty="0"/>
              <a:t>조인트 벤처 등을 형성하여 실시하는 경우와 같이 일체가 되어 결과를 발생시키려는 의사로 각자 구성요소의 일부를 실시하고 이를 행위를 합하면 구성요소 전부를 충족하는 경우</a:t>
            </a:r>
            <a:r>
              <a:rPr lang="en-US" altLang="ko-KR" sz="1050" dirty="0"/>
              <a:t>, </a:t>
            </a:r>
            <a:r>
              <a:rPr lang="ko-KR" altLang="en-US" sz="1050" dirty="0"/>
              <a:t>또는 </a:t>
            </a:r>
            <a:r>
              <a:rPr lang="en-US" altLang="ko-KR" sz="1050" dirty="0"/>
              <a:t>ⅱ) </a:t>
            </a:r>
            <a:r>
              <a:rPr lang="ko-KR" altLang="en-US" sz="1050" dirty="0"/>
              <a:t>甲이 자신의 행위와 乙의 행위가 결합하여 특허권 침해하는 결과가 발생할 것을 예상하고 乙도 역시 그러한 경우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9C3CF2-C0FB-4C63-80F2-4516E1355074}"/>
              </a:ext>
            </a:extLst>
          </p:cNvPr>
          <p:cNvSpPr/>
          <p:nvPr/>
        </p:nvSpPr>
        <p:spPr>
          <a:xfrm>
            <a:off x="4252824" y="5514001"/>
            <a:ext cx="1061039" cy="577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>
                    <a:lumMod val="50000"/>
                  </a:schemeClr>
                </a:solidFill>
              </a:rPr>
              <a:t>민법상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불법행위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0D017A-C922-4FD4-A1B8-735FDDA19F56}"/>
              </a:ext>
            </a:extLst>
          </p:cNvPr>
          <p:cNvSpPr/>
          <p:nvPr/>
        </p:nvSpPr>
        <p:spPr>
          <a:xfrm>
            <a:off x="5417390" y="5514001"/>
            <a:ext cx="6427122" cy="5770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각 행위가 독립하여 불법행위의 요건을 갖추고 있으면서 객관적으로 관련되고 </a:t>
            </a:r>
            <a:r>
              <a:rPr lang="ko-KR" altLang="en-US" sz="1400" dirty="0" err="1">
                <a:solidFill>
                  <a:schemeClr val="tx1"/>
                </a:solidFill>
              </a:rPr>
              <a:t>공동하여</a:t>
            </a:r>
            <a:r>
              <a:rPr lang="ko-KR" altLang="en-US" sz="1400" dirty="0">
                <a:solidFill>
                  <a:schemeClr val="tx1"/>
                </a:solidFill>
              </a:rPr>
              <a:t> 위법하게 피해자에게 손해를 가한 것으로 인정되어야 하나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甲과 乙 각자의 행위 자체가 불법행위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침해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r>
              <a:rPr lang="ko-KR" altLang="en-US" sz="1400" dirty="0">
                <a:solidFill>
                  <a:schemeClr val="tx1"/>
                </a:solidFill>
              </a:rPr>
              <a:t>에 해당한다고 보기 어려움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135E45E2-37EC-452D-977F-EA1A4192D77B}"/>
              </a:ext>
            </a:extLst>
          </p:cNvPr>
          <p:cNvCxnSpPr>
            <a:stCxn id="9" idx="2"/>
            <a:endCxn id="14" idx="1"/>
          </p:cNvCxnSpPr>
          <p:nvPr/>
        </p:nvCxnSpPr>
        <p:spPr>
          <a:xfrm rot="5400000">
            <a:off x="4930327" y="2430434"/>
            <a:ext cx="488170" cy="1843175"/>
          </a:xfrm>
          <a:prstGeom prst="bentConnector4">
            <a:avLst>
              <a:gd name="adj1" fmla="val 31829"/>
              <a:gd name="adj2" fmla="val 11240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1C246AA9-570C-40F2-BD13-8775D47056B6}"/>
              </a:ext>
            </a:extLst>
          </p:cNvPr>
          <p:cNvCxnSpPr>
            <a:stCxn id="14" idx="1"/>
            <a:endCxn id="27" idx="1"/>
          </p:cNvCxnSpPr>
          <p:nvPr/>
        </p:nvCxnSpPr>
        <p:spPr>
          <a:xfrm rot="10800000" flipV="1">
            <a:off x="4252824" y="3596106"/>
            <a:ext cx="12700" cy="2206436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F5F330C5-75F4-41CF-B8BC-12D5F1C787DB}"/>
              </a:ext>
            </a:extLst>
          </p:cNvPr>
          <p:cNvCxnSpPr>
            <a:stCxn id="14" idx="1"/>
            <a:endCxn id="19" idx="1"/>
          </p:cNvCxnSpPr>
          <p:nvPr/>
        </p:nvCxnSpPr>
        <p:spPr>
          <a:xfrm rot="10800000" flipV="1">
            <a:off x="4252824" y="3596106"/>
            <a:ext cx="12700" cy="938644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1653371-552F-4B57-9D84-1D8978386F0B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 flipV="1">
            <a:off x="5313863" y="4179923"/>
            <a:ext cx="310551" cy="3548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3934A67A-7EF3-4942-BBAA-A276BA2FA67B}"/>
              </a:ext>
            </a:extLst>
          </p:cNvPr>
          <p:cNvCxnSpPr>
            <a:stCxn id="19" idx="3"/>
            <a:endCxn id="22" idx="1"/>
          </p:cNvCxnSpPr>
          <p:nvPr/>
        </p:nvCxnSpPr>
        <p:spPr>
          <a:xfrm>
            <a:off x="5313863" y="4534750"/>
            <a:ext cx="310551" cy="3481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1341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침해의 종류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373</a:t>
            </a:fld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1948233" y="1243869"/>
            <a:ext cx="1299015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직접침해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1948233" y="5980572"/>
            <a:ext cx="1299015" cy="386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간접침해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8625" y="2737722"/>
            <a:ext cx="1018227" cy="717901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>
                <a:solidFill>
                  <a:schemeClr val="accent4"/>
                </a:solidFill>
              </a:rPr>
              <a:t>침해의</a:t>
            </a:r>
            <a:endParaRPr lang="en-US" altLang="ko-KR" sz="16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accent4"/>
                </a:solidFill>
              </a:rPr>
              <a:t>종류</a:t>
            </a:r>
          </a:p>
        </p:txBody>
      </p:sp>
      <p:cxnSp>
        <p:nvCxnSpPr>
          <p:cNvPr id="8" name="꺾인 연결선 7"/>
          <p:cNvCxnSpPr>
            <a:stCxn id="2" idx="3"/>
            <a:endCxn id="63" idx="1"/>
          </p:cNvCxnSpPr>
          <p:nvPr/>
        </p:nvCxnSpPr>
        <p:spPr>
          <a:xfrm flipV="1">
            <a:off x="1446852" y="1412703"/>
            <a:ext cx="501381" cy="16839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2" idx="3"/>
            <a:endCxn id="66" idx="1"/>
          </p:cNvCxnSpPr>
          <p:nvPr/>
        </p:nvCxnSpPr>
        <p:spPr>
          <a:xfrm>
            <a:off x="1446852" y="3096673"/>
            <a:ext cx="501381" cy="30770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3606800" y="926654"/>
            <a:ext cx="1714499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문언침해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606800" y="1340935"/>
            <a:ext cx="1714499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균등침해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3606800" y="1744989"/>
            <a:ext cx="1714499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이용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저촉침해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606800" y="2133611"/>
            <a:ext cx="1714499" cy="16428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생략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불완전이용침해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3606800" y="3868117"/>
            <a:ext cx="1714499" cy="639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선택침해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3606800" y="4627430"/>
            <a:ext cx="1714499" cy="10847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우회침해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606800" y="5954914"/>
            <a:ext cx="1714499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특허가 물건발명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3606800" y="6358969"/>
            <a:ext cx="1714499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특허가 방법발명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5321299" y="926654"/>
            <a:ext cx="6502401" cy="3376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특허발명의 청구항에 기재된 구성요소 전부를 실시하는 경우 구성요소완비의 원칙에 의한 침해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5321299" y="1340935"/>
            <a:ext cx="6502401" cy="3376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 err="1"/>
              <a:t>균등론의</a:t>
            </a:r>
            <a:r>
              <a:rPr lang="ko-KR" altLang="en-US" sz="1200" dirty="0"/>
              <a:t> 적용에 의한 침해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5321299" y="1744989"/>
            <a:ext cx="6502401" cy="3376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문언침해</a:t>
            </a:r>
            <a:r>
              <a:rPr lang="en-US" altLang="ko-KR" sz="1200" dirty="0"/>
              <a:t>, </a:t>
            </a:r>
            <a:r>
              <a:rPr lang="ko-KR" altLang="en-US" sz="1200" dirty="0"/>
              <a:t>균등침해에 해당하는 확인대상발명이 등록된 것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실시방안 마련</a:t>
            </a:r>
            <a:endParaRPr lang="ko-KR" altLang="en-US" sz="1200" dirty="0"/>
          </a:p>
        </p:txBody>
      </p:sp>
      <p:sp>
        <p:nvSpPr>
          <p:cNvPr id="38" name="직사각형 37"/>
          <p:cNvSpPr/>
          <p:nvPr/>
        </p:nvSpPr>
        <p:spPr>
          <a:xfrm>
            <a:off x="5321299" y="1967572"/>
            <a:ext cx="6502401" cy="199482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>
                <a:latin typeface="+mn-ea"/>
              </a:rPr>
              <a:t>특허권자의 보호를 강화하기 위해 생략발명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불완전이용발명을 침해로 봐야 한다는 견해이나 주변한정주의의 해석방법인 구성요소완비의 원칙에 반하므로 침해를 부정하는 것이 타당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법적 안정성보다 구체적 타당성을 우선시할 수 없음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 fontAlgn="base"/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다만 판례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(2</a:t>
            </a:r>
            <a:r>
              <a:rPr lang="en-US" altLang="ko-KR" sz="1200" kern="0" spc="-30" dirty="0">
                <a:solidFill>
                  <a:srgbClr val="FF0000"/>
                </a:solidFill>
                <a:effectLst/>
                <a:latin typeface="+mn-ea"/>
              </a:rPr>
              <a:t>019</a:t>
            </a:r>
            <a:r>
              <a:rPr lang="ko-KR" altLang="en-US" sz="1200" kern="0" spc="-30" dirty="0">
                <a:solidFill>
                  <a:srgbClr val="FF0000"/>
                </a:solidFill>
                <a:effectLst/>
                <a:latin typeface="+mn-ea"/>
              </a:rPr>
              <a:t>다</a:t>
            </a:r>
            <a:r>
              <a:rPr lang="en-US" altLang="ko-KR" sz="1200" kern="0" spc="-30" dirty="0">
                <a:solidFill>
                  <a:srgbClr val="FF0000"/>
                </a:solidFill>
                <a:effectLst/>
                <a:latin typeface="+mn-ea"/>
              </a:rPr>
              <a:t>222782, 2019</a:t>
            </a:r>
            <a:r>
              <a:rPr lang="ko-KR" altLang="en-US" sz="1200" kern="0" spc="-30" dirty="0">
                <a:solidFill>
                  <a:srgbClr val="FF0000"/>
                </a:solidFill>
                <a:effectLst/>
                <a:latin typeface="+mn-ea"/>
              </a:rPr>
              <a:t>다</a:t>
            </a:r>
            <a:r>
              <a:rPr lang="en-US" altLang="ko-KR" sz="1200" kern="0" spc="-30" dirty="0">
                <a:solidFill>
                  <a:srgbClr val="FF0000"/>
                </a:solidFill>
                <a:effectLst/>
                <a:latin typeface="+mn-ea"/>
              </a:rPr>
              <a:t>222799(</a:t>
            </a:r>
            <a:r>
              <a:rPr lang="ko-KR" altLang="en-US" sz="1200" kern="0" spc="-30" dirty="0">
                <a:solidFill>
                  <a:srgbClr val="FF0000"/>
                </a:solidFill>
                <a:effectLst/>
                <a:latin typeface="+mn-ea"/>
              </a:rPr>
              <a:t>병합</a:t>
            </a:r>
            <a:r>
              <a:rPr lang="en-US" altLang="ko-KR" sz="1200" kern="0" spc="-30" dirty="0">
                <a:solidFill>
                  <a:srgbClr val="FF0000"/>
                </a:solidFill>
                <a:effectLst/>
                <a:latin typeface="+mn-ea"/>
              </a:rPr>
              <a:t>))</a:t>
            </a:r>
            <a:r>
              <a:rPr lang="ko-KR" altLang="en-US" sz="1200" kern="0" spc="-30" dirty="0">
                <a:solidFill>
                  <a:srgbClr val="FF0000"/>
                </a:solidFill>
                <a:effectLst/>
                <a:latin typeface="+mn-ea"/>
              </a:rPr>
              <a:t>는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ⅰ)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국내에서 특허발명의 실시를 위한 부품 또는 구성 전부가 생산되거나 대부분의 생산단계를 마쳐 주요 구성을 모두 갖춘 반제품이 생산되고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ⅱ)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이것이 하나의 주체에게 수출되어 마지막 단계의 가공 조립이 이루어질 것이 예정되어 있으며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ⅲ)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그와 같은 가공 조립이 극히 사소하거나 간단하여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ⅳ)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위와 같은 부품 전체의 생산 또는 반제품의 생산만으로도 특허발명의 각 구성요소가 유기적으로 결합한 일체로서 가지는 작용효과를 구현할 수 있는 상태에 이르렀다면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예외적으로 국내에서 특허발명의 실시 제품이 생산된 것과 같이 보아 직접침해를 인정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5321299" y="3869486"/>
            <a:ext cx="6502401" cy="58813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판례</a:t>
            </a:r>
            <a:r>
              <a:rPr lang="en-US" altLang="ko-KR" sz="1200" dirty="0"/>
              <a:t>(90</a:t>
            </a:r>
            <a:r>
              <a:rPr lang="ko-KR" altLang="en-US" sz="1200" dirty="0"/>
              <a:t>후</a:t>
            </a:r>
            <a:r>
              <a:rPr lang="en-US" altLang="ko-KR" sz="1200" dirty="0"/>
              <a:t>960)</a:t>
            </a:r>
            <a:r>
              <a:rPr lang="ko-KR" altLang="en-US" sz="1200" dirty="0"/>
              <a:t>는 선택발명이 현저히 향상된 작용효과가 있어 등록된 경우 침해가 아니라고 판시하였으나 특허요건 판단과 침해 판단은 별개의 것으로서 선택발명이 그 기본이 되는 특허발명의 기술사상을 그대로 이용하고 있다면 특허발명의 침해로 봄이 타당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321299" y="4656779"/>
            <a:ext cx="6502401" cy="93182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선행발명의 공정의 중간단계에 새로운 공정을 삽입할 때에는 선행발명의 공정이 도중에서 분단되어 발명의 일체성이 상실되므로 원칙적으로 침해라고 단정하기 어려우며</a:t>
            </a:r>
            <a:r>
              <a:rPr lang="en-US" altLang="ko-KR" sz="1200" dirty="0"/>
              <a:t>, </a:t>
            </a:r>
            <a:r>
              <a:rPr lang="ko-KR" altLang="en-US" sz="1200" dirty="0"/>
              <a:t>일체성이 상실되지 아니한 범위 내에서만 침해라고 할 수 있는데 이를 우회침해라고 함</a:t>
            </a:r>
            <a:r>
              <a:rPr lang="en-US" altLang="ko-KR" sz="1200" dirty="0"/>
              <a:t>. </a:t>
            </a:r>
            <a:r>
              <a:rPr lang="ko-KR" altLang="en-US" sz="1200" dirty="0"/>
              <a:t>판례</a:t>
            </a:r>
            <a:r>
              <a:rPr lang="en-US" altLang="ko-KR" sz="1200" dirty="0"/>
              <a:t>(97</a:t>
            </a:r>
            <a:r>
              <a:rPr lang="ko-KR" altLang="en-US" sz="1200" dirty="0"/>
              <a:t>후</a:t>
            </a:r>
            <a:r>
              <a:rPr lang="en-US" altLang="ko-KR" sz="1200" dirty="0"/>
              <a:t>2194)</a:t>
            </a:r>
            <a:r>
              <a:rPr lang="ko-KR" altLang="en-US" sz="1200" dirty="0"/>
              <a:t>는 우회침해의 요건으로서 </a:t>
            </a:r>
            <a:r>
              <a:rPr lang="ko-KR" altLang="en-US" sz="1200" dirty="0">
                <a:solidFill>
                  <a:srgbClr val="FF0000"/>
                </a:solidFill>
              </a:rPr>
              <a:t>① 부가공정은 통상의 기술자라면 주지된 관용기술에 의하여 쉽게 부가시킬 수 있는 공정에 불과하다고 보여지고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② 그 작용효과 역시 주지된 관용기술을 부가함으로 인한 효과 이상으로 우월하거나 현저하게 향상되었다고 보기 어려울 것을 요구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41" name="직사각형 40"/>
          <p:cNvSpPr/>
          <p:nvPr/>
        </p:nvSpPr>
        <p:spPr>
          <a:xfrm>
            <a:off x="5321299" y="5954914"/>
            <a:ext cx="6502401" cy="3376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그 물건의 생산에만 사용하는 물건을 </a:t>
            </a:r>
            <a:r>
              <a:rPr lang="ko-KR" altLang="en-US" sz="1200" dirty="0" err="1"/>
              <a:t>생산ㆍ양도ㆍ대여ㆍ</a:t>
            </a:r>
            <a:r>
              <a:rPr kumimoji="1" lang="ko-KR" altLang="en-US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lang="ko-KR" altLang="en-US" sz="1200" dirty="0"/>
              <a:t>또는 수입하거나 그 물건의 양도 또는 대여의 청약을 하는 행위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5321299" y="6358969"/>
            <a:ext cx="6502401" cy="3376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그 방법의 실시에만 사용하는 물건을 </a:t>
            </a:r>
            <a:r>
              <a:rPr lang="ko-KR" altLang="en-US" sz="1200" dirty="0" err="1"/>
              <a:t>생산ㆍ양도ㆍ대여ㆍ</a:t>
            </a:r>
            <a:r>
              <a:rPr kumimoji="1" lang="ko-KR" altLang="en-US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200" dirty="0"/>
              <a:t> 또는 수입하거나 그 물건의 양도 또는 대여의 청약을 하는 행위</a:t>
            </a:r>
          </a:p>
        </p:txBody>
      </p:sp>
      <p:cxnSp>
        <p:nvCxnSpPr>
          <p:cNvPr id="15" name="꺾인 연결선 14"/>
          <p:cNvCxnSpPr>
            <a:stCxn id="63" idx="3"/>
            <a:endCxn id="27" idx="1"/>
          </p:cNvCxnSpPr>
          <p:nvPr/>
        </p:nvCxnSpPr>
        <p:spPr>
          <a:xfrm flipV="1">
            <a:off x="3247248" y="1095489"/>
            <a:ext cx="359552" cy="31721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63" idx="3"/>
            <a:endCxn id="28" idx="1"/>
          </p:cNvCxnSpPr>
          <p:nvPr/>
        </p:nvCxnSpPr>
        <p:spPr>
          <a:xfrm>
            <a:off x="3247248" y="1412703"/>
            <a:ext cx="359552" cy="970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3" idx="3"/>
            <a:endCxn id="32" idx="1"/>
          </p:cNvCxnSpPr>
          <p:nvPr/>
        </p:nvCxnSpPr>
        <p:spPr>
          <a:xfrm>
            <a:off x="3247248" y="1412703"/>
            <a:ext cx="359552" cy="37570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63" idx="3"/>
            <a:endCxn id="29" idx="1"/>
          </p:cNvCxnSpPr>
          <p:nvPr/>
        </p:nvCxnSpPr>
        <p:spPr>
          <a:xfrm>
            <a:off x="3247248" y="1412703"/>
            <a:ext cx="359552" cy="50112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3" idx="3"/>
            <a:endCxn id="30" idx="1"/>
          </p:cNvCxnSpPr>
          <p:nvPr/>
        </p:nvCxnSpPr>
        <p:spPr>
          <a:xfrm>
            <a:off x="3247248" y="1412703"/>
            <a:ext cx="359552" cy="15423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cxnSpLocks/>
            <a:stCxn id="63" idx="3"/>
            <a:endCxn id="31" idx="1"/>
          </p:cNvCxnSpPr>
          <p:nvPr/>
        </p:nvCxnSpPr>
        <p:spPr>
          <a:xfrm>
            <a:off x="3247248" y="1412703"/>
            <a:ext cx="359552" cy="27753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66" idx="3"/>
            <a:endCxn id="33" idx="1"/>
          </p:cNvCxnSpPr>
          <p:nvPr/>
        </p:nvCxnSpPr>
        <p:spPr>
          <a:xfrm flipV="1">
            <a:off x="3247248" y="6123749"/>
            <a:ext cx="359552" cy="4998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66" idx="3"/>
            <a:endCxn id="34" idx="1"/>
          </p:cNvCxnSpPr>
          <p:nvPr/>
        </p:nvCxnSpPr>
        <p:spPr>
          <a:xfrm>
            <a:off x="3247248" y="6173736"/>
            <a:ext cx="359552" cy="3540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37731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748630"/>
              </p:ext>
            </p:extLst>
          </p:nvPr>
        </p:nvGraphicFramePr>
        <p:xfrm>
          <a:off x="623392" y="1167036"/>
          <a:ext cx="11041227" cy="530014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48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1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2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effectLst/>
                        </a:rPr>
                        <a:t>구 분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effectLst/>
                        </a:rPr>
                        <a:t>특허발명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effectLst/>
                        </a:rPr>
                        <a:t>확인대상발명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effectLst/>
                        </a:rPr>
                        <a:t>대법원 판례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effectLst/>
                        </a:rPr>
                        <a:t>비 고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81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문언침해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최근 판례는 개별 구성요소의 중요성을 강화하는 방향으로 </a:t>
                      </a:r>
                      <a:r>
                        <a:rPr lang="ko-KR" altLang="en-US" sz="1200" dirty="0" err="1">
                          <a:effectLst/>
                        </a:rPr>
                        <a:t>나아감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생략침해나 불완전이용침해의 인정여부와 상관관계 있음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촉매를 이용한 화학발명의 이용침해의 해당 여부에 대한 중요한 판례의 변화가 있음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95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균등침해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과제의 해결원리의 동일성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</a:rPr>
                        <a:t>출원금반언의</a:t>
                      </a:r>
                      <a:r>
                        <a:rPr lang="ko-KR" altLang="en-US" sz="1200" dirty="0">
                          <a:effectLst/>
                        </a:rPr>
                        <a:t> 원칙 등</a:t>
                      </a:r>
                      <a:r>
                        <a:rPr lang="en-US" altLang="ko-KR" sz="1200" dirty="0">
                          <a:effectLst/>
                        </a:rPr>
                        <a:t> </a:t>
                      </a:r>
                      <a:r>
                        <a:rPr lang="ko-KR" altLang="en-US" sz="1200" dirty="0">
                          <a:effectLst/>
                        </a:rPr>
                        <a:t>적용범위의 해석 확립 필요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균등물을 기초로 한 이용발명을 침해로 인정함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생략침해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최근 대법원 판례는 침해 부정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 rowSpan="2"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침해를 문언침해와 </a:t>
                      </a:r>
                      <a:r>
                        <a:rPr lang="ko-KR" altLang="en-US" sz="1200" dirty="0" err="1">
                          <a:effectLst/>
                        </a:rPr>
                        <a:t>균등론적</a:t>
                      </a:r>
                      <a:r>
                        <a:rPr lang="ko-KR" altLang="en-US" sz="1200" dirty="0">
                          <a:effectLst/>
                        </a:rPr>
                        <a:t> 침해로 나누고 개별적 구성요소의 존재를 중요시하는 최근 판례의 동향과 관련하여 그 존재의 의의 및 별도의 </a:t>
                      </a:r>
                      <a:r>
                        <a:rPr lang="ko-KR" altLang="en-US" sz="1200" dirty="0" err="1">
                          <a:effectLst/>
                        </a:rPr>
                        <a:t>침해이론으로서의</a:t>
                      </a:r>
                      <a:r>
                        <a:rPr lang="ko-KR" altLang="en-US" sz="1200" dirty="0">
                          <a:effectLst/>
                        </a:rPr>
                        <a:t> 인정여부를 </a:t>
                      </a:r>
                      <a:r>
                        <a:rPr lang="ko-KR" altLang="en-US" sz="1200" dirty="0" err="1">
                          <a:effectLst/>
                        </a:rPr>
                        <a:t>심도있게</a:t>
                      </a:r>
                      <a:r>
                        <a:rPr lang="ko-KR" altLang="en-US" sz="1200" dirty="0">
                          <a:effectLst/>
                        </a:rPr>
                        <a:t> 논의하여 나가야 함</a:t>
                      </a:r>
                      <a:r>
                        <a:rPr lang="en-US" altLang="ko-KR" sz="1200" dirty="0">
                          <a:effectLst/>
                        </a:rPr>
                        <a:t>.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effectLst/>
                        </a:rPr>
                        <a:t>최근에는 균등침해의 하나의 유형으로 인정하려는 경향이 있음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7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불완전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이용침해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대법원 판례 없음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선택침해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침해를 부정한 과거의 판례는 존재하나 논란있음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최근 판례의 경향에 따라 이용침해의 한 유형으로서 파악해야 한다는 주장이 강하게 제기되고 있음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우회침해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균등침해와의 관계 정립 필요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3" name="그룹 12"/>
          <p:cNvGrpSpPr/>
          <p:nvPr/>
        </p:nvGrpSpPr>
        <p:grpSpPr>
          <a:xfrm>
            <a:off x="4573272" y="4162251"/>
            <a:ext cx="807907" cy="276999"/>
            <a:chOff x="3057428" y="6381328"/>
            <a:chExt cx="605930" cy="276999"/>
          </a:xfrm>
        </p:grpSpPr>
        <p:sp>
          <p:nvSpPr>
            <p:cNvPr id="4" name="직사각형 3"/>
            <p:cNvSpPr/>
            <p:nvPr/>
          </p:nvSpPr>
          <p:spPr>
            <a:xfrm>
              <a:off x="3057428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3447334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30019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255574" y="1671093"/>
            <a:ext cx="1306729" cy="276999"/>
            <a:chOff x="1331640" y="6381328"/>
            <a:chExt cx="980047" cy="276999"/>
          </a:xfrm>
        </p:grpSpPr>
        <p:sp>
          <p:nvSpPr>
            <p:cNvPr id="102" name="직사각형 101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303146" y="1671093"/>
            <a:ext cx="1306729" cy="276999"/>
            <a:chOff x="1331640" y="6381328"/>
            <a:chExt cx="980047" cy="276999"/>
          </a:xfrm>
        </p:grpSpPr>
        <p:sp>
          <p:nvSpPr>
            <p:cNvPr id="114" name="직사각형 113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2255574" y="2348757"/>
            <a:ext cx="1306729" cy="276999"/>
            <a:chOff x="1331640" y="6381328"/>
            <a:chExt cx="980047" cy="276999"/>
          </a:xfrm>
        </p:grpSpPr>
        <p:sp>
          <p:nvSpPr>
            <p:cNvPr id="120" name="직사각형 119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2255574" y="2924821"/>
            <a:ext cx="1306729" cy="276999"/>
            <a:chOff x="1331640" y="6381328"/>
            <a:chExt cx="980047" cy="276999"/>
          </a:xfrm>
        </p:grpSpPr>
        <p:sp>
          <p:nvSpPr>
            <p:cNvPr id="126" name="직사각형 125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2255574" y="3572893"/>
            <a:ext cx="1306729" cy="276999"/>
            <a:chOff x="1331640" y="6381328"/>
            <a:chExt cx="980047" cy="276999"/>
          </a:xfrm>
        </p:grpSpPr>
        <p:sp>
          <p:nvSpPr>
            <p:cNvPr id="132" name="직사각형 131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37" name="그룹 136"/>
          <p:cNvGrpSpPr/>
          <p:nvPr/>
        </p:nvGrpSpPr>
        <p:grpSpPr>
          <a:xfrm>
            <a:off x="2255574" y="4148957"/>
            <a:ext cx="1306729" cy="276999"/>
            <a:chOff x="1331640" y="6381328"/>
            <a:chExt cx="980047" cy="276999"/>
          </a:xfrm>
        </p:grpSpPr>
        <p:sp>
          <p:nvSpPr>
            <p:cNvPr id="138" name="직사각형 137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43" name="그룹 142"/>
          <p:cNvGrpSpPr/>
          <p:nvPr/>
        </p:nvGrpSpPr>
        <p:grpSpPr>
          <a:xfrm>
            <a:off x="2255574" y="4725021"/>
            <a:ext cx="1306729" cy="276999"/>
            <a:chOff x="1331640" y="6381328"/>
            <a:chExt cx="980047" cy="276999"/>
          </a:xfrm>
        </p:grpSpPr>
        <p:sp>
          <p:nvSpPr>
            <p:cNvPr id="144" name="직사각형 143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2255574" y="5389985"/>
            <a:ext cx="1306729" cy="276999"/>
            <a:chOff x="1331640" y="6381328"/>
            <a:chExt cx="980047" cy="276999"/>
          </a:xfrm>
        </p:grpSpPr>
        <p:sp>
          <p:nvSpPr>
            <p:cNvPr id="150" name="직사각형 149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1" name="직사각형 150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2" name="직사각형 151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55" name="그룹 154"/>
          <p:cNvGrpSpPr/>
          <p:nvPr/>
        </p:nvGrpSpPr>
        <p:grpSpPr>
          <a:xfrm>
            <a:off x="2255574" y="6025357"/>
            <a:ext cx="1306729" cy="276999"/>
            <a:chOff x="1331640" y="6381328"/>
            <a:chExt cx="980047" cy="276999"/>
          </a:xfrm>
        </p:grpSpPr>
        <p:sp>
          <p:nvSpPr>
            <p:cNvPr id="156" name="직사각형 155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61" name="그룹 160"/>
          <p:cNvGrpSpPr/>
          <p:nvPr/>
        </p:nvGrpSpPr>
        <p:grpSpPr>
          <a:xfrm>
            <a:off x="4079777" y="2348757"/>
            <a:ext cx="1831313" cy="276999"/>
            <a:chOff x="3057428" y="6381328"/>
            <a:chExt cx="1373485" cy="276999"/>
          </a:xfrm>
        </p:grpSpPr>
        <p:sp>
          <p:nvSpPr>
            <p:cNvPr id="162" name="직사각형 161"/>
            <p:cNvSpPr/>
            <p:nvPr/>
          </p:nvSpPr>
          <p:spPr>
            <a:xfrm>
              <a:off x="3057428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447334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3821451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230019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3609246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214889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D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4002684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70" name="그룹 169"/>
          <p:cNvGrpSpPr/>
          <p:nvPr/>
        </p:nvGrpSpPr>
        <p:grpSpPr>
          <a:xfrm>
            <a:off x="4303146" y="2958729"/>
            <a:ext cx="1306729" cy="276999"/>
            <a:chOff x="1331640" y="6381328"/>
            <a:chExt cx="980047" cy="276999"/>
          </a:xfrm>
        </p:grpSpPr>
        <p:sp>
          <p:nvSpPr>
            <p:cNvPr id="171" name="직사각형 170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3" name="직사각형 172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C’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4079777" y="3583926"/>
            <a:ext cx="1831313" cy="276999"/>
            <a:chOff x="3057428" y="6381328"/>
            <a:chExt cx="1373485" cy="276999"/>
          </a:xfrm>
        </p:grpSpPr>
        <p:sp>
          <p:nvSpPr>
            <p:cNvPr id="177" name="직사각형 176"/>
            <p:cNvSpPr/>
            <p:nvPr/>
          </p:nvSpPr>
          <p:spPr>
            <a:xfrm>
              <a:off x="3057428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8" name="직사각형 177"/>
            <p:cNvSpPr/>
            <p:nvPr/>
          </p:nvSpPr>
          <p:spPr>
            <a:xfrm>
              <a:off x="3447334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3821451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C’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3230019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3609246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4214889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D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4002684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84" name="그룹 183"/>
          <p:cNvGrpSpPr/>
          <p:nvPr/>
        </p:nvGrpSpPr>
        <p:grpSpPr>
          <a:xfrm>
            <a:off x="4079777" y="6028777"/>
            <a:ext cx="1831313" cy="276999"/>
            <a:chOff x="3057428" y="6381328"/>
            <a:chExt cx="1373485" cy="276999"/>
          </a:xfrm>
        </p:grpSpPr>
        <p:sp>
          <p:nvSpPr>
            <p:cNvPr id="185" name="직사각형 184"/>
            <p:cNvSpPr/>
            <p:nvPr/>
          </p:nvSpPr>
          <p:spPr>
            <a:xfrm>
              <a:off x="3057428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3447334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B1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3821451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3230019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3609246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4214889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4002684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92" name="그룹 191"/>
          <p:cNvGrpSpPr/>
          <p:nvPr/>
        </p:nvGrpSpPr>
        <p:grpSpPr>
          <a:xfrm>
            <a:off x="4079777" y="4720829"/>
            <a:ext cx="1831313" cy="276999"/>
            <a:chOff x="3057428" y="6381328"/>
            <a:chExt cx="1373485" cy="276999"/>
          </a:xfrm>
        </p:grpSpPr>
        <p:sp>
          <p:nvSpPr>
            <p:cNvPr id="193" name="직사각형 192"/>
            <p:cNvSpPr/>
            <p:nvPr/>
          </p:nvSpPr>
          <p:spPr>
            <a:xfrm>
              <a:off x="3057428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3447334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95" name="직사각형 194"/>
            <p:cNvSpPr/>
            <p:nvPr/>
          </p:nvSpPr>
          <p:spPr>
            <a:xfrm>
              <a:off x="3821451" y="6415236"/>
              <a:ext cx="216024" cy="216024"/>
            </a:xfrm>
            <a:prstGeom prst="rect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3230019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3609246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98" name="직사각형 197"/>
            <p:cNvSpPr/>
            <p:nvPr/>
          </p:nvSpPr>
          <p:spPr>
            <a:xfrm>
              <a:off x="4214889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D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4002684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302454" y="5385793"/>
            <a:ext cx="1307421" cy="276999"/>
            <a:chOff x="3330908" y="6381328"/>
            <a:chExt cx="980566" cy="276999"/>
          </a:xfrm>
        </p:grpSpPr>
        <p:sp>
          <p:nvSpPr>
            <p:cNvPr id="209" name="직사각형 208"/>
            <p:cNvSpPr/>
            <p:nvPr/>
          </p:nvSpPr>
          <p:spPr>
            <a:xfrm>
              <a:off x="3331427" y="6415236"/>
              <a:ext cx="216024" cy="216024"/>
            </a:xfrm>
            <a:prstGeom prst="rect">
              <a:avLst/>
            </a:prstGeom>
            <a:noFill/>
            <a:ln w="12700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10" name="직사각형 209"/>
            <p:cNvSpPr/>
            <p:nvPr/>
          </p:nvSpPr>
          <p:spPr>
            <a:xfrm>
              <a:off x="372133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11" name="직사각형 210"/>
            <p:cNvSpPr/>
            <p:nvPr/>
          </p:nvSpPr>
          <p:spPr>
            <a:xfrm>
              <a:off x="409545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350401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883245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214" name="직사각형 213"/>
            <p:cNvSpPr/>
            <p:nvPr/>
          </p:nvSpPr>
          <p:spPr>
            <a:xfrm>
              <a:off x="3330908" y="6415236"/>
              <a:ext cx="108012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직접침해의 적용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822716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우회침해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375</a:t>
            </a:fld>
            <a:endParaRPr lang="ko-KR" altLang="en-US"/>
          </a:p>
        </p:txBody>
      </p:sp>
      <p:cxnSp>
        <p:nvCxnSpPr>
          <p:cNvPr id="109" name="직선 연결선 108"/>
          <p:cNvCxnSpPr/>
          <p:nvPr/>
        </p:nvCxnSpPr>
        <p:spPr>
          <a:xfrm>
            <a:off x="0" y="193903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우회발명이란 선행의 특허발명과 기술사상을 같이 하는 것이면서 그 보호범위를 벗어나기 위하여 무용의 물질이나 공정을 부가하여 일부러 우회의 길을 가는 것으로서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결국 발명으로서는 동일한 것으로 귀착되는 관계에 있는 발명을 말한다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선행발명의 공정에 부가가 있는 경우로서 공정의 부가가 선행발명의 공정 전 또는 완료 후에 있을 때에는 침해라고 볼 여지가 있으나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선행발명의 공정의 중간단계에 새로운 공정을 삽입할 때에는 선행발명의 공정이 도중에서 분단되어 발명의 일체성이 상실되므로 원칙적으로 침해라고 단정하기 어려우며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일체성이 상실되지 아니하는 범위에서만 침해라고 할 수 있을 것이다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sp>
        <p:nvSpPr>
          <p:cNvPr id="112" name="직사각형 111"/>
          <p:cNvSpPr/>
          <p:nvPr/>
        </p:nvSpPr>
        <p:spPr bwMode="auto">
          <a:xfrm>
            <a:off x="336880" y="5194300"/>
            <a:ext cx="11524919" cy="14478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r>
              <a:rPr lang="ko-KR" altLang="en-US" sz="1400" dirty="0"/>
              <a:t>확인대상발명은 그 출발물질</a:t>
            </a:r>
            <a:r>
              <a:rPr lang="en-US" altLang="ko-KR" sz="1400" dirty="0"/>
              <a:t>, </a:t>
            </a:r>
            <a:r>
              <a:rPr lang="ko-KR" altLang="en-US" sz="1400" dirty="0"/>
              <a:t>반응물질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피페라진</a:t>
            </a:r>
            <a:r>
              <a:rPr lang="en-US" altLang="ko-KR" sz="1400" dirty="0"/>
              <a:t>) </a:t>
            </a:r>
            <a:r>
              <a:rPr lang="ko-KR" altLang="en-US" sz="1400" dirty="0"/>
              <a:t>및 목적물질이 이 사건 특허발명과 동일하고 그 제조방법도 반응물질인 </a:t>
            </a:r>
            <a:r>
              <a:rPr lang="ko-KR" altLang="en-US" sz="1400" dirty="0" err="1"/>
              <a:t>피페라진을</a:t>
            </a:r>
            <a:r>
              <a:rPr lang="ko-KR" altLang="en-US" sz="1400" dirty="0"/>
              <a:t> 출발물질의 </a:t>
            </a:r>
            <a:r>
              <a:rPr lang="en-US" altLang="ko-KR" sz="1400" dirty="0"/>
              <a:t>C-7 </a:t>
            </a:r>
            <a:r>
              <a:rPr lang="ko-KR" altLang="en-US" sz="1400" dirty="0"/>
              <a:t>위치에 결합시켜 목적물질을 만드는 이 사건 특허발명의 </a:t>
            </a:r>
            <a:r>
              <a:rPr lang="ko-KR" altLang="en-US" sz="1400" dirty="0" err="1"/>
              <a:t>주반응의</a:t>
            </a:r>
            <a:r>
              <a:rPr lang="ko-KR" altLang="en-US" sz="1400" dirty="0"/>
              <a:t> 반응기전</a:t>
            </a:r>
            <a:r>
              <a:rPr lang="en-US" altLang="ko-KR" sz="1400" dirty="0"/>
              <a:t>(reaction mechanism)</a:t>
            </a:r>
            <a:r>
              <a:rPr lang="ko-KR" altLang="en-US" sz="1400" dirty="0"/>
              <a:t>을 그대로 이용한다는 점에서 그 기술적 사상과 핵심적인 구성이 동일하며</a:t>
            </a:r>
            <a:r>
              <a:rPr lang="en-US" altLang="ko-KR" sz="1400" dirty="0"/>
              <a:t>, </a:t>
            </a:r>
            <a:r>
              <a:rPr lang="ko-KR" altLang="en-US" sz="1400" dirty="0"/>
              <a:t>다만 확인대상발명이 출발물질에 </a:t>
            </a:r>
            <a:r>
              <a:rPr lang="ko-KR" altLang="en-US" sz="1400" dirty="0" err="1"/>
              <a:t>알루미늄클로라이드를</a:t>
            </a:r>
            <a:r>
              <a:rPr lang="ko-KR" altLang="en-US" sz="1400" dirty="0"/>
              <a:t> 반응시켜 </a:t>
            </a:r>
            <a:r>
              <a:rPr lang="ko-KR" altLang="en-US" sz="1400" dirty="0" err="1"/>
              <a:t>중간체를</a:t>
            </a:r>
            <a:r>
              <a:rPr lang="ko-KR" altLang="en-US" sz="1400" dirty="0"/>
              <a:t> 거치는 구성을 부가한 차이가 있기는 하지만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 부가공정은 이 사건 양 발명이 속하는 기술분야에서 통상의 지식을 가진 자라면 주지된 관용기술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보호기의 사용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에 의하여 용이하게 부가시킬 수 있는 공정에 불과하다고 보여지고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작용효과 역시 주지된 관용기술을 부가함으로 인한 효과 이상으로 우월하거나 현저하게 향상되었다고 보기 어려우므로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확인대상발명은 이 사건 특허발명과 상이한 발명이라고 볼 수 없어 이 사건 특허발명의 권리범위에 속한다고 보아야 한다</a:t>
            </a:r>
            <a:r>
              <a:rPr lang="en-US" altLang="ko-KR" sz="1400" dirty="0"/>
              <a:t>.</a:t>
            </a:r>
          </a:p>
        </p:txBody>
      </p:sp>
      <p:sp>
        <p:nvSpPr>
          <p:cNvPr id="169" name="직사각형 168"/>
          <p:cNvSpPr/>
          <p:nvPr/>
        </p:nvSpPr>
        <p:spPr bwMode="auto">
          <a:xfrm>
            <a:off x="336881" y="4834260"/>
            <a:ext cx="3079419" cy="36004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2000. 7. 4.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97</a:t>
            </a:r>
            <a:r>
              <a:rPr lang="ko-KR" altLang="en-US" sz="1400" dirty="0"/>
              <a:t>후</a:t>
            </a:r>
            <a:r>
              <a:rPr lang="en-US" altLang="ko-KR" sz="1400" dirty="0"/>
              <a:t>2194</a:t>
            </a:r>
          </a:p>
        </p:txBody>
      </p:sp>
      <p:sp>
        <p:nvSpPr>
          <p:cNvPr id="200" name="Rectangle 4"/>
          <p:cNvSpPr>
            <a:spLocks noChangeArrowheads="1"/>
          </p:cNvSpPr>
          <p:nvPr/>
        </p:nvSpPr>
        <p:spPr bwMode="auto">
          <a:xfrm>
            <a:off x="335361" y="2165159"/>
            <a:ext cx="11521017" cy="256750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7429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 typeface="Wingdings" pitchFamily="2" charset="2"/>
              <a:buChar char="n"/>
              <a:defRPr/>
            </a:pPr>
            <a:endParaRPr lang="ko-KR" altLang="en-US" sz="1200" b="0">
              <a:solidFill>
                <a:schemeClr val="tx1"/>
              </a:solidFill>
              <a:latin typeface="+mn-ea"/>
              <a:sym typeface="Wingdings" pitchFamily="2" charset="2"/>
            </a:endParaRPr>
          </a:p>
        </p:txBody>
      </p:sp>
      <p:sp>
        <p:nvSpPr>
          <p:cNvPr id="201" name="Line 5"/>
          <p:cNvSpPr>
            <a:spLocks noChangeShapeType="1"/>
          </p:cNvSpPr>
          <p:nvPr/>
        </p:nvSpPr>
        <p:spPr bwMode="auto">
          <a:xfrm>
            <a:off x="790576" y="2470420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068658" y="2816526"/>
            <a:ext cx="215714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단계를 거치는 제조방법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04" name="직선 연결선 203"/>
          <p:cNvCxnSpPr>
            <a:stCxn id="202" idx="0"/>
            <a:endCxn id="226" idx="2"/>
          </p:cNvCxnSpPr>
          <p:nvPr/>
        </p:nvCxnSpPr>
        <p:spPr>
          <a:xfrm flipV="1">
            <a:off x="2147229" y="2632209"/>
            <a:ext cx="0" cy="1843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/>
          <p:cNvSpPr txBox="1"/>
          <p:nvPr/>
        </p:nvSpPr>
        <p:spPr>
          <a:xfrm>
            <a:off x="1629953" y="2324432"/>
            <a:ext cx="1034552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4167458" y="2816526"/>
            <a:ext cx="2157142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단계를 거치는 제조방법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29" name="직선 연결선 228"/>
          <p:cNvCxnSpPr>
            <a:stCxn id="228" idx="0"/>
            <a:endCxn id="230" idx="2"/>
          </p:cNvCxnSpPr>
          <p:nvPr/>
        </p:nvCxnSpPr>
        <p:spPr>
          <a:xfrm flipV="1">
            <a:off x="5246029" y="2632209"/>
            <a:ext cx="0" cy="1843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extBox 229"/>
          <p:cNvSpPr txBox="1"/>
          <p:nvPr/>
        </p:nvSpPr>
        <p:spPr>
          <a:xfrm>
            <a:off x="4728753" y="2324432"/>
            <a:ext cx="1034552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실시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6605858" y="2816526"/>
            <a:ext cx="2157142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단계를 거치는 제조방법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32" name="직선 연결선 231"/>
          <p:cNvCxnSpPr>
            <a:stCxn id="231" idx="0"/>
            <a:endCxn id="233" idx="2"/>
          </p:cNvCxnSpPr>
          <p:nvPr/>
        </p:nvCxnSpPr>
        <p:spPr>
          <a:xfrm flipV="1">
            <a:off x="7684429" y="2632209"/>
            <a:ext cx="0" cy="1843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7167153" y="2324432"/>
            <a:ext cx="1034552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 실시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891858" y="2816526"/>
            <a:ext cx="2411142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B1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단계를 거치는 제조방법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35" name="직선 연결선 234"/>
          <p:cNvCxnSpPr>
            <a:stCxn id="234" idx="0"/>
            <a:endCxn id="236" idx="2"/>
          </p:cNvCxnSpPr>
          <p:nvPr/>
        </p:nvCxnSpPr>
        <p:spPr>
          <a:xfrm flipV="1">
            <a:off x="10097429" y="2632209"/>
            <a:ext cx="0" cy="1843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9580153" y="2324432"/>
            <a:ext cx="1034552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丁 실시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4391295" y="3593275"/>
            <a:ext cx="1709468" cy="307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일체성 유지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4" name="직선 연결선 13"/>
          <p:cNvCxnSpPr>
            <a:stCxn id="228" idx="2"/>
            <a:endCxn id="237" idx="0"/>
          </p:cNvCxnSpPr>
          <p:nvPr/>
        </p:nvCxnSpPr>
        <p:spPr>
          <a:xfrm>
            <a:off x="5246029" y="33397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4391295" y="4126675"/>
            <a:ext cx="1709468" cy="307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AER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의한 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39" name="직선 연결선 238"/>
          <p:cNvCxnSpPr>
            <a:endCxn id="238" idx="0"/>
          </p:cNvCxnSpPr>
          <p:nvPr/>
        </p:nvCxnSpPr>
        <p:spPr>
          <a:xfrm>
            <a:off x="5246029" y="38731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6829695" y="3593275"/>
            <a:ext cx="1709468" cy="307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일체성 유지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1" name="직선 연결선 240"/>
          <p:cNvCxnSpPr>
            <a:endCxn id="240" idx="0"/>
          </p:cNvCxnSpPr>
          <p:nvPr/>
        </p:nvCxnSpPr>
        <p:spPr>
          <a:xfrm>
            <a:off x="7684429" y="33397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6829695" y="4126675"/>
            <a:ext cx="1709468" cy="307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AER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의한 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3" name="직선 연결선 242"/>
          <p:cNvCxnSpPr>
            <a:endCxn id="242" idx="0"/>
          </p:cNvCxnSpPr>
          <p:nvPr/>
        </p:nvCxnSpPr>
        <p:spPr>
          <a:xfrm>
            <a:off x="7684429" y="38731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9242695" y="3593275"/>
            <a:ext cx="1709468" cy="307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일체성 유지 △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5" name="직선 연결선 244"/>
          <p:cNvCxnSpPr>
            <a:endCxn id="244" idx="0"/>
          </p:cNvCxnSpPr>
          <p:nvPr/>
        </p:nvCxnSpPr>
        <p:spPr>
          <a:xfrm>
            <a:off x="10097429" y="33397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9242695" y="4126675"/>
            <a:ext cx="170946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일체성 유지하는 경우만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AER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의한 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7" name="직선 연결선 246"/>
          <p:cNvCxnSpPr>
            <a:endCxn id="246" idx="0"/>
          </p:cNvCxnSpPr>
          <p:nvPr/>
        </p:nvCxnSpPr>
        <p:spPr>
          <a:xfrm>
            <a:off x="10097429" y="38731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837605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126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225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232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침해에 대한 조치 일반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481722" y="3363609"/>
            <a:ext cx="923452" cy="894180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침해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조치</a:t>
            </a: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910040" y="2530465"/>
            <a:ext cx="972859" cy="571502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민사적 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조치</a:t>
            </a:r>
          </a:p>
        </p:txBody>
      </p:sp>
      <p:sp>
        <p:nvSpPr>
          <p:cNvPr id="36" name="모서리가 둥근 직사각형 35"/>
          <p:cNvSpPr/>
          <p:nvPr/>
        </p:nvSpPr>
        <p:spPr>
          <a:xfrm>
            <a:off x="1910040" y="4690474"/>
            <a:ext cx="972859" cy="571502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형사적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조치</a:t>
            </a:r>
          </a:p>
        </p:txBody>
      </p:sp>
      <p:cxnSp>
        <p:nvCxnSpPr>
          <p:cNvPr id="37" name="꺾인 연결선 36"/>
          <p:cNvCxnSpPr>
            <a:stCxn id="34" idx="3"/>
            <a:endCxn id="35" idx="1"/>
          </p:cNvCxnSpPr>
          <p:nvPr/>
        </p:nvCxnSpPr>
        <p:spPr>
          <a:xfrm flipV="1">
            <a:off x="1405174" y="2816216"/>
            <a:ext cx="504866" cy="99448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34" idx="3"/>
            <a:endCxn id="36" idx="1"/>
          </p:cNvCxnSpPr>
          <p:nvPr/>
        </p:nvCxnSpPr>
        <p:spPr>
          <a:xfrm>
            <a:off x="1405174" y="3810699"/>
            <a:ext cx="504866" cy="116552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3788551" y="1790700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788551" y="2482167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3788551" y="2919278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3788551" y="3372238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788551" y="4600967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침해죄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225)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3788551" y="5095207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몰수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3788551" y="5591014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양벌규정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230)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6" name="꺾인 연결선 45"/>
          <p:cNvCxnSpPr>
            <a:stCxn id="35" idx="3"/>
            <a:endCxn id="39" idx="1"/>
          </p:cNvCxnSpPr>
          <p:nvPr/>
        </p:nvCxnSpPr>
        <p:spPr>
          <a:xfrm flipV="1">
            <a:off x="2882899" y="1943708"/>
            <a:ext cx="905652" cy="8725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35" idx="3"/>
            <a:endCxn id="40" idx="1"/>
          </p:cNvCxnSpPr>
          <p:nvPr/>
        </p:nvCxnSpPr>
        <p:spPr>
          <a:xfrm flipV="1">
            <a:off x="2882899" y="2635175"/>
            <a:ext cx="905652" cy="1810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5" idx="3"/>
            <a:endCxn id="41" idx="1"/>
          </p:cNvCxnSpPr>
          <p:nvPr/>
        </p:nvCxnSpPr>
        <p:spPr>
          <a:xfrm>
            <a:off x="2882899" y="2816216"/>
            <a:ext cx="905652" cy="2560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5" idx="3"/>
            <a:endCxn id="42" idx="1"/>
          </p:cNvCxnSpPr>
          <p:nvPr/>
        </p:nvCxnSpPr>
        <p:spPr>
          <a:xfrm>
            <a:off x="2882899" y="2816216"/>
            <a:ext cx="905652" cy="7090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6" idx="3"/>
            <a:endCxn id="43" idx="1"/>
          </p:cNvCxnSpPr>
          <p:nvPr/>
        </p:nvCxnSpPr>
        <p:spPr>
          <a:xfrm flipV="1">
            <a:off x="2882899" y="4753975"/>
            <a:ext cx="905652" cy="2222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36" idx="3"/>
            <a:endCxn id="45" idx="1"/>
          </p:cNvCxnSpPr>
          <p:nvPr/>
        </p:nvCxnSpPr>
        <p:spPr>
          <a:xfrm>
            <a:off x="2882899" y="4976225"/>
            <a:ext cx="905652" cy="76779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36" idx="3"/>
            <a:endCxn id="44" idx="1"/>
          </p:cNvCxnSpPr>
          <p:nvPr/>
        </p:nvCxnSpPr>
        <p:spPr>
          <a:xfrm>
            <a:off x="2882899" y="4976225"/>
            <a:ext cx="905652" cy="2719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3619500" y="1308100"/>
            <a:ext cx="3175000" cy="889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3619500" y="1308100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현재</a:t>
            </a:r>
            <a:r>
              <a:rPr lang="en-US" altLang="ko-KR" dirty="0"/>
              <a:t>/</a:t>
            </a:r>
            <a:r>
              <a:rPr lang="ko-KR" altLang="en-US" dirty="0"/>
              <a:t>장래 침해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619500" y="2336294"/>
            <a:ext cx="3175000" cy="174040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/>
          <p:cNvSpPr txBox="1"/>
          <p:nvPr/>
        </p:nvSpPr>
        <p:spPr>
          <a:xfrm>
            <a:off x="3619500" y="372110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과거 침해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376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8D072A0-8B33-4D59-8AC9-17F137DB7133}"/>
              </a:ext>
            </a:extLst>
          </p:cNvPr>
          <p:cNvGrpSpPr/>
          <p:nvPr/>
        </p:nvGrpSpPr>
        <p:grpSpPr>
          <a:xfrm>
            <a:off x="6959600" y="1308100"/>
            <a:ext cx="4918075" cy="2611030"/>
            <a:chOff x="6959600" y="1308100"/>
            <a:chExt cx="4918075" cy="2611030"/>
          </a:xfrm>
        </p:grpSpPr>
        <p:sp>
          <p:nvSpPr>
            <p:cNvPr id="118" name="모서리가 둥근 직사각형 117"/>
            <p:cNvSpPr/>
            <p:nvPr/>
          </p:nvSpPr>
          <p:spPr>
            <a:xfrm>
              <a:off x="8487550" y="1943708"/>
              <a:ext cx="3390125" cy="3060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손해액의 산정 등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128②~⑨)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9" name="모서리가 둥근 직사각형 118"/>
            <p:cNvSpPr/>
            <p:nvPr/>
          </p:nvSpPr>
          <p:spPr>
            <a:xfrm>
              <a:off x="8487550" y="2392054"/>
              <a:ext cx="3390125" cy="3060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감정사항 설명의무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128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의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0" name="모서리가 둥근 직사각형 119"/>
            <p:cNvSpPr/>
            <p:nvPr/>
          </p:nvSpPr>
          <p:spPr>
            <a:xfrm>
              <a:off x="8487550" y="2796741"/>
              <a:ext cx="3390125" cy="3060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생산방법의 추정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129)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1" name="모서리가 둥근 직사각형 120"/>
            <p:cNvSpPr/>
            <p:nvPr/>
          </p:nvSpPr>
          <p:spPr>
            <a:xfrm>
              <a:off x="8487550" y="3208427"/>
              <a:ext cx="3390125" cy="3060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과실의 추정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130)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2" name="모서리가 둥근 직사각형 121"/>
            <p:cNvSpPr/>
            <p:nvPr/>
          </p:nvSpPr>
          <p:spPr>
            <a:xfrm>
              <a:off x="8487550" y="3613114"/>
              <a:ext cx="3390125" cy="3060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자료의 제출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132)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7" name="왼쪽 화살표 86"/>
            <p:cNvSpPr/>
            <p:nvPr/>
          </p:nvSpPr>
          <p:spPr>
            <a:xfrm>
              <a:off x="6959600" y="2125778"/>
              <a:ext cx="1333500" cy="1187679"/>
            </a:xfrm>
            <a:prstGeom prst="leftArrow">
              <a:avLst>
                <a:gd name="adj1" fmla="val 75663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7325052" y="2521299"/>
              <a:ext cx="809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실효성</a:t>
              </a:r>
              <a:endParaRPr lang="ko-KR" altLang="en-US" dirty="0"/>
            </a:p>
          </p:txBody>
        </p:sp>
        <p:sp>
          <p:nvSpPr>
            <p:cNvPr id="53" name="모서리가 둥근 직사각형 117">
              <a:extLst>
                <a:ext uri="{FF2B5EF4-FFF2-40B4-BE49-F238E27FC236}">
                  <a16:creationId xmlns:a16="http://schemas.microsoft.com/office/drawing/2014/main" id="{5E2942C6-2DC4-4307-9A7D-A77F8B564D24}"/>
                </a:ext>
              </a:extLst>
            </p:cNvPr>
            <p:cNvSpPr/>
            <p:nvPr/>
          </p:nvSpPr>
          <p:spPr>
            <a:xfrm>
              <a:off x="8487550" y="1308100"/>
              <a:ext cx="3390125" cy="5034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구체적인 행위의 </a:t>
              </a:r>
              <a:r>
                <a:rPr lang="ko-KR" alt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내용ㆍ방식ㆍ형태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endPara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제시 의무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126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의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03F754A-36DF-4B43-A563-028B6E666DF2}"/>
              </a:ext>
            </a:extLst>
          </p:cNvPr>
          <p:cNvSpPr txBox="1"/>
          <p:nvPr/>
        </p:nvSpPr>
        <p:spPr>
          <a:xfrm>
            <a:off x="1765389" y="1721494"/>
            <a:ext cx="13676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6</a:t>
            </a:r>
            <a:r>
              <a:rPr lang="ko-KR" altLang="en-US" sz="1400" dirty="0"/>
              <a:t>장</a:t>
            </a:r>
            <a:endParaRPr lang="en-US" altLang="ko-KR" sz="1400" dirty="0"/>
          </a:p>
          <a:p>
            <a:pPr algn="ctr"/>
            <a:r>
              <a:rPr lang="ko-KR" altLang="en-US" sz="1400" dirty="0"/>
              <a:t>특허권자의 보호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126-132)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C75758-7620-4D36-AA7B-D9E46376D0BC}"/>
              </a:ext>
            </a:extLst>
          </p:cNvPr>
          <p:cNvSpPr txBox="1"/>
          <p:nvPr/>
        </p:nvSpPr>
        <p:spPr>
          <a:xfrm>
            <a:off x="8134889" y="4976225"/>
            <a:ext cx="108234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기타 벌칙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4AB94D-BC0D-4AB0-8A6B-2185B2459DC1}"/>
              </a:ext>
            </a:extLst>
          </p:cNvPr>
          <p:cNvSpPr txBox="1"/>
          <p:nvPr/>
        </p:nvSpPr>
        <p:spPr>
          <a:xfrm>
            <a:off x="1863974" y="5315625"/>
            <a:ext cx="11705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12</a:t>
            </a:r>
            <a:r>
              <a:rPr lang="ko-KR" altLang="en-US" sz="1400" dirty="0"/>
              <a:t>장</a:t>
            </a:r>
            <a:endParaRPr lang="en-US" altLang="ko-KR" sz="1400" dirty="0"/>
          </a:p>
          <a:p>
            <a:pPr algn="ctr"/>
            <a:r>
              <a:rPr lang="ko-KR" altLang="en-US" sz="1400" dirty="0"/>
              <a:t>벌칙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225-232)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26061326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특허분쟁진행의 관할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257300" y="2298700"/>
            <a:ext cx="800100" cy="8001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</a:t>
            </a:r>
            <a:endParaRPr lang="en-US" altLang="ko-KR" dirty="0"/>
          </a:p>
          <a:p>
            <a:pPr algn="ctr"/>
            <a:r>
              <a:rPr lang="ko-KR" altLang="en-US" dirty="0"/>
              <a:t>심판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-36242" y="217439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2016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일부터는 지식재산권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실용신안권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디자인권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상표권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품종보호권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침해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민사본안소송의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관할을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1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심은 고등법원 소재지가 있는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개 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서울중앙지방법원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대구지방법원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대전지방법원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광주지방법원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부산지방법원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수원지방법원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(2019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년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월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1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일 추가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))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이 전속적으로 맡고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심은 특허법원으로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집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중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하게 되도록 민사소송법 및 법원조직법이 개정되었다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기존에는 침해소송의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심을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58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개 지방법원과 지원에서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심을 고등법원과 지방법원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항소부에서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맡는 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심결취소소송을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특허법원에서 맡고 있어서 관할이 분산되어 있었다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이번 개정은 특허소송의 관할을 특허법원으로 집중해 특허권 등의 분쟁 해결에 있어 법원의 전문성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효율성 및 신속성을 제고하는 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소송당사자에게 보다 신속하고 전문적인 재판을 보장함으로써 지식재산권 보호의 실효성을 높이고자 하는 취지를 담고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57300" y="3390900"/>
            <a:ext cx="800100" cy="146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민사소송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257300" y="5168900"/>
            <a:ext cx="800100" cy="8001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형사소송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2454" y="2507734"/>
            <a:ext cx="122661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특허심판원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6154" y="2507734"/>
            <a:ext cx="122661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특허법원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1754" y="2507734"/>
            <a:ext cx="122661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대법원</a:t>
            </a:r>
          </a:p>
        </p:txBody>
      </p:sp>
      <p:cxnSp>
        <p:nvCxnSpPr>
          <p:cNvPr id="14" name="직선 화살표 연결선 13"/>
          <p:cNvCxnSpPr>
            <a:stCxn id="10" idx="3"/>
            <a:endCxn id="11" idx="1"/>
          </p:cNvCxnSpPr>
          <p:nvPr/>
        </p:nvCxnSpPr>
        <p:spPr>
          <a:xfrm>
            <a:off x="5239072" y="2692400"/>
            <a:ext cx="17070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11" idx="3"/>
            <a:endCxn id="12" idx="1"/>
          </p:cNvCxnSpPr>
          <p:nvPr/>
        </p:nvCxnSpPr>
        <p:spPr>
          <a:xfrm>
            <a:off x="8172772" y="2692400"/>
            <a:ext cx="16689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cxnSpLocks/>
          </p:cNvCxnSpPr>
          <p:nvPr/>
        </p:nvCxnSpPr>
        <p:spPr>
          <a:xfrm>
            <a:off x="2625912" y="2692400"/>
            <a:ext cx="138654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90267" y="2336800"/>
            <a:ext cx="113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심판청구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672" y="2336800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심결취소소송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8337872" y="2336800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상고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2454" y="3594100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가처분법원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154" y="3594100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고등법원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1754" y="3594100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대법원</a:t>
            </a:r>
          </a:p>
        </p:txBody>
      </p:sp>
      <p:cxnSp>
        <p:nvCxnSpPr>
          <p:cNvPr id="26" name="직선 화살표 연결선 25"/>
          <p:cNvCxnSpPr>
            <a:stCxn id="23" idx="3"/>
            <a:endCxn id="24" idx="1"/>
          </p:cNvCxnSpPr>
          <p:nvPr/>
        </p:nvCxnSpPr>
        <p:spPr>
          <a:xfrm>
            <a:off x="5239072" y="3778766"/>
            <a:ext cx="17070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3"/>
            <a:endCxn id="25" idx="1"/>
          </p:cNvCxnSpPr>
          <p:nvPr/>
        </p:nvCxnSpPr>
        <p:spPr>
          <a:xfrm>
            <a:off x="8172772" y="3778766"/>
            <a:ext cx="16689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cxnSpLocks/>
          </p:cNvCxnSpPr>
          <p:nvPr/>
        </p:nvCxnSpPr>
        <p:spPr>
          <a:xfrm>
            <a:off x="2625912" y="3778766"/>
            <a:ext cx="138654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90267" y="3423166"/>
            <a:ext cx="113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신청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672" y="3423166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항고</a:t>
            </a:r>
            <a:r>
              <a:rPr lang="en-US" altLang="ko-KR" sz="1400" dirty="0"/>
              <a:t>(</a:t>
            </a:r>
            <a:r>
              <a:rPr lang="ko-KR" altLang="en-US" sz="1400" dirty="0"/>
              <a:t>기각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8337872" y="3423166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재항고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2454" y="4482068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지방법원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6154" y="4482068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특허법원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1754" y="4482068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대법원</a:t>
            </a:r>
          </a:p>
        </p:txBody>
      </p:sp>
      <p:cxnSp>
        <p:nvCxnSpPr>
          <p:cNvPr id="35" name="직선 화살표 연결선 34"/>
          <p:cNvCxnSpPr>
            <a:stCxn id="32" idx="3"/>
            <a:endCxn id="33" idx="1"/>
          </p:cNvCxnSpPr>
          <p:nvPr/>
        </p:nvCxnSpPr>
        <p:spPr>
          <a:xfrm>
            <a:off x="5239072" y="4666734"/>
            <a:ext cx="17070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3" idx="3"/>
            <a:endCxn id="34" idx="1"/>
          </p:cNvCxnSpPr>
          <p:nvPr/>
        </p:nvCxnSpPr>
        <p:spPr>
          <a:xfrm>
            <a:off x="8172772" y="4666734"/>
            <a:ext cx="16689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cxnSpLocks/>
          </p:cNvCxnSpPr>
          <p:nvPr/>
        </p:nvCxnSpPr>
        <p:spPr>
          <a:xfrm>
            <a:off x="2625912" y="4666734"/>
            <a:ext cx="138654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90267" y="4311134"/>
            <a:ext cx="113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제소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672" y="4311134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항소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7872" y="4311134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상고</a:t>
            </a:r>
          </a:p>
        </p:txBody>
      </p:sp>
      <p:cxnSp>
        <p:nvCxnSpPr>
          <p:cNvPr id="42" name="구부러진 연결선 41"/>
          <p:cNvCxnSpPr>
            <a:stCxn id="23" idx="3"/>
            <a:endCxn id="23" idx="1"/>
          </p:cNvCxnSpPr>
          <p:nvPr/>
        </p:nvCxnSpPr>
        <p:spPr>
          <a:xfrm flipH="1">
            <a:off x="4012454" y="3778766"/>
            <a:ext cx="1226618" cy="12700"/>
          </a:xfrm>
          <a:prstGeom prst="curvedConnector5">
            <a:avLst>
              <a:gd name="adj1" fmla="val -8283"/>
              <a:gd name="adj2" fmla="val -3545937"/>
              <a:gd name="adj3" fmla="val 10724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36790" y="3095823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이의신청</a:t>
            </a:r>
            <a:r>
              <a:rPr lang="en-US" altLang="ko-KR" sz="1400" dirty="0"/>
              <a:t>(</a:t>
            </a:r>
            <a:r>
              <a:rPr lang="ko-KR" altLang="en-US" sz="1400" dirty="0"/>
              <a:t>인용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4585127" y="5403850"/>
            <a:ext cx="770486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검찰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55554" y="5403850"/>
            <a:ext cx="122661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지방법원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35154" y="5403850"/>
            <a:ext cx="122661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고등법원</a:t>
            </a:r>
          </a:p>
        </p:txBody>
      </p:sp>
      <p:cxnSp>
        <p:nvCxnSpPr>
          <p:cNvPr id="51" name="직선 화살표 연결선 50"/>
          <p:cNvCxnSpPr>
            <a:cxnSpLocks/>
            <a:stCxn id="48" idx="3"/>
            <a:endCxn id="49" idx="1"/>
          </p:cNvCxnSpPr>
          <p:nvPr/>
        </p:nvCxnSpPr>
        <p:spPr>
          <a:xfrm>
            <a:off x="5355613" y="5588516"/>
            <a:ext cx="59994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49" idx="3"/>
            <a:endCxn id="50" idx="1"/>
          </p:cNvCxnSpPr>
          <p:nvPr/>
        </p:nvCxnSpPr>
        <p:spPr>
          <a:xfrm>
            <a:off x="7182172" y="5588516"/>
            <a:ext cx="6529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cxnSpLocks/>
            <a:endCxn id="16" idx="1"/>
          </p:cNvCxnSpPr>
          <p:nvPr/>
        </p:nvCxnSpPr>
        <p:spPr>
          <a:xfrm>
            <a:off x="2424954" y="5588516"/>
            <a:ext cx="80909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283899" y="5232916"/>
            <a:ext cx="72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기소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60654" y="5232916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상고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41754" y="5403850"/>
            <a:ext cx="122661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대법원</a:t>
            </a:r>
          </a:p>
        </p:txBody>
      </p:sp>
      <p:cxnSp>
        <p:nvCxnSpPr>
          <p:cNvPr id="59" name="직선 화살표 연결선 58"/>
          <p:cNvCxnSpPr>
            <a:stCxn id="50" idx="3"/>
            <a:endCxn id="58" idx="1"/>
          </p:cNvCxnSpPr>
          <p:nvPr/>
        </p:nvCxnSpPr>
        <p:spPr>
          <a:xfrm>
            <a:off x="9061772" y="5588516"/>
            <a:ext cx="7799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756722" y="5232916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항소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377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6C064B-0937-FDE7-7A00-F97DFCCF8E12}"/>
              </a:ext>
            </a:extLst>
          </p:cNvPr>
          <p:cNvSpPr txBox="1"/>
          <p:nvPr/>
        </p:nvSpPr>
        <p:spPr>
          <a:xfrm>
            <a:off x="3234045" y="5403850"/>
            <a:ext cx="83449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경찰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093197D-C0E7-E569-407D-621DD86D3FED}"/>
              </a:ext>
            </a:extLst>
          </p:cNvPr>
          <p:cNvCxnSpPr>
            <a:cxnSpLocks/>
            <a:stCxn id="16" idx="3"/>
            <a:endCxn id="48" idx="1"/>
          </p:cNvCxnSpPr>
          <p:nvPr/>
        </p:nvCxnSpPr>
        <p:spPr>
          <a:xfrm>
            <a:off x="4068536" y="5588516"/>
            <a:ext cx="51659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25A72E6-57FD-B6BE-1B88-C1177573A112}"/>
              </a:ext>
            </a:extLst>
          </p:cNvPr>
          <p:cNvSpPr txBox="1"/>
          <p:nvPr/>
        </p:nvSpPr>
        <p:spPr>
          <a:xfrm>
            <a:off x="3985186" y="5232916"/>
            <a:ext cx="72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송치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AFAD5C-65B5-7C26-026D-4F4C0B639D0A}"/>
              </a:ext>
            </a:extLst>
          </p:cNvPr>
          <p:cNvSpPr txBox="1"/>
          <p:nvPr/>
        </p:nvSpPr>
        <p:spPr>
          <a:xfrm>
            <a:off x="3107936" y="5790227"/>
            <a:ext cx="107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/>
              <a:t>(</a:t>
            </a:r>
            <a:r>
              <a:rPr lang="ko-KR" altLang="en-US" sz="1400" dirty="0" err="1"/>
              <a:t>특사경</a:t>
            </a:r>
            <a:r>
              <a:rPr lang="ko-KR" altLang="en-US" sz="1400" dirty="0"/>
              <a:t>*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C4533C-47E8-28EC-BB46-7E35A2B78BC7}"/>
              </a:ext>
            </a:extLst>
          </p:cNvPr>
          <p:cNvSpPr txBox="1"/>
          <p:nvPr/>
        </p:nvSpPr>
        <p:spPr>
          <a:xfrm>
            <a:off x="2358292" y="5232916"/>
            <a:ext cx="913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고소</a:t>
            </a:r>
            <a:r>
              <a:rPr lang="en-US" altLang="ko-KR" sz="1400" dirty="0"/>
              <a:t>/</a:t>
            </a:r>
            <a:r>
              <a:rPr lang="ko-KR" altLang="en-US" sz="1400" dirty="0"/>
              <a:t>고발</a:t>
            </a:r>
          </a:p>
        </p:txBody>
      </p:sp>
      <p:sp>
        <p:nvSpPr>
          <p:cNvPr id="69" name="말풍선: 모서리가 둥근 사각형 68">
            <a:extLst>
              <a:ext uri="{FF2B5EF4-FFF2-40B4-BE49-F238E27FC236}">
                <a16:creationId xmlns:a16="http://schemas.microsoft.com/office/drawing/2014/main" id="{B9613770-7274-9648-56FF-6AA6CB07FE50}"/>
              </a:ext>
            </a:extLst>
          </p:cNvPr>
          <p:cNvSpPr/>
          <p:nvPr/>
        </p:nvSpPr>
        <p:spPr>
          <a:xfrm>
            <a:off x="5479304" y="5970034"/>
            <a:ext cx="1226618" cy="307774"/>
          </a:xfrm>
          <a:prstGeom prst="wedgeRoundRectCallout">
            <a:avLst>
              <a:gd name="adj1" fmla="val -37870"/>
              <a:gd name="adj2" fmla="val -193822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반의사불벌죄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2A6643-AFAE-1BA9-4FEC-F550977DFB44}"/>
              </a:ext>
            </a:extLst>
          </p:cNvPr>
          <p:cNvSpPr txBox="1"/>
          <p:nvPr/>
        </p:nvSpPr>
        <p:spPr>
          <a:xfrm>
            <a:off x="250547" y="6262924"/>
            <a:ext cx="11690906" cy="55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930" marR="0" indent="-7493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-130" dirty="0">
                <a:effectLst/>
                <a:latin typeface="+mn-ea"/>
              </a:rPr>
              <a:t>* </a:t>
            </a:r>
            <a:r>
              <a:rPr lang="ko-KR" altLang="en-US" sz="1200" kern="0" spc="-130" dirty="0" err="1">
                <a:effectLst/>
                <a:latin typeface="+mn-ea"/>
              </a:rPr>
              <a:t>특사경</a:t>
            </a:r>
            <a:r>
              <a:rPr lang="en-US" altLang="ko-KR" sz="1200" kern="0" spc="-130" dirty="0">
                <a:effectLst/>
                <a:latin typeface="+mn-ea"/>
              </a:rPr>
              <a:t>(</a:t>
            </a:r>
            <a:r>
              <a:rPr lang="ko-KR" altLang="en-US" sz="1200" kern="0" spc="-130" dirty="0">
                <a:effectLst/>
                <a:latin typeface="+mn-ea"/>
              </a:rPr>
              <a:t>특별사법경찰</a:t>
            </a:r>
            <a:r>
              <a:rPr lang="en-US" altLang="ko-KR" sz="1200" kern="0" spc="-130" dirty="0">
                <a:effectLst/>
                <a:latin typeface="+mn-ea"/>
              </a:rPr>
              <a:t>)</a:t>
            </a:r>
            <a:r>
              <a:rPr lang="ko-KR" altLang="en-US" sz="1200" kern="0" spc="-130" dirty="0">
                <a:effectLst/>
                <a:latin typeface="+mn-ea"/>
              </a:rPr>
              <a:t>이란 전문성이 필요한 분야나 접근이 제한된 공간에서 발생하는 범죄 등 일반 경찰의 접근이 어려운 범죄</a:t>
            </a:r>
            <a:r>
              <a:rPr lang="en-US" altLang="ko-KR" sz="1200" kern="0" spc="-130" dirty="0">
                <a:effectLst/>
                <a:latin typeface="+mn-ea"/>
              </a:rPr>
              <a:t>, </a:t>
            </a:r>
            <a:r>
              <a:rPr lang="ko-KR" altLang="en-US" sz="1200" kern="0" spc="-130" dirty="0">
                <a:effectLst/>
                <a:latin typeface="+mn-ea"/>
              </a:rPr>
              <a:t>행정기관이 더 효율적으로 처리할 수 있는 범죄에 대해 행정공무원이 경찰의 권한을 </a:t>
            </a:r>
            <a:r>
              <a:rPr lang="ko-KR" altLang="en-US" sz="1200" kern="0" spc="-130" dirty="0" err="1">
                <a:effectLst/>
                <a:latin typeface="+mn-ea"/>
              </a:rPr>
              <a:t>부여받아</a:t>
            </a:r>
            <a:r>
              <a:rPr lang="ko-KR" altLang="en-US" sz="1200" kern="0" spc="-130" dirty="0">
                <a:effectLst/>
                <a:latin typeface="+mn-ea"/>
              </a:rPr>
              <a:t> 행사하는 제도를 말한다</a:t>
            </a:r>
            <a:r>
              <a:rPr lang="en-US" altLang="ko-KR" sz="1200" kern="0" spc="-130" dirty="0">
                <a:effectLst/>
                <a:latin typeface="+mn-ea"/>
              </a:rPr>
              <a:t>. </a:t>
            </a:r>
            <a:endParaRPr lang="ko-KR" altLang="en-US" sz="1200" kern="0" spc="-13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46057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양쪽 모서리가 둥근 사각형 5"/>
          <p:cNvSpPr/>
          <p:nvPr/>
        </p:nvSpPr>
        <p:spPr>
          <a:xfrm>
            <a:off x="3479800" y="4997103"/>
            <a:ext cx="7023100" cy="337456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양쪽 모서리가 둥근 사각형 3"/>
          <p:cNvSpPr/>
          <p:nvPr/>
        </p:nvSpPr>
        <p:spPr>
          <a:xfrm>
            <a:off x="1893229" y="4566387"/>
            <a:ext cx="4207534" cy="422814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침해금지청구권의 행사</a:t>
            </a:r>
          </a:p>
        </p:txBody>
      </p:sp>
      <p:sp>
        <p:nvSpPr>
          <p:cNvPr id="53" name="Line 5"/>
          <p:cNvSpPr>
            <a:spLocks noChangeShapeType="1"/>
          </p:cNvSpPr>
          <p:nvPr/>
        </p:nvSpPr>
        <p:spPr bwMode="auto">
          <a:xfrm>
            <a:off x="790576" y="4989201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82958" y="4833823"/>
            <a:ext cx="1420542" cy="32655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90492" y="4833823"/>
            <a:ext cx="1420542" cy="32655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존속기간 만료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100658" y="4199915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존속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中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51600" y="5354871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실시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479800" y="4997103"/>
            <a:ext cx="7027863" cy="1554054"/>
            <a:chOff x="3479800" y="3608621"/>
            <a:chExt cx="7027863" cy="2919179"/>
          </a:xfrm>
        </p:grpSpPr>
        <p:cxnSp>
          <p:nvCxnSpPr>
            <p:cNvPr id="80" name="직선 연결선 79"/>
            <p:cNvCxnSpPr/>
            <p:nvPr/>
          </p:nvCxnSpPr>
          <p:spPr>
            <a:xfrm>
              <a:off x="6075363" y="3608621"/>
              <a:ext cx="0" cy="291917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그룹 8"/>
            <p:cNvGrpSpPr/>
            <p:nvPr/>
          </p:nvGrpSpPr>
          <p:grpSpPr>
            <a:xfrm>
              <a:off x="3479800" y="3608621"/>
              <a:ext cx="7027863" cy="2919179"/>
              <a:chOff x="3479800" y="3608621"/>
              <a:chExt cx="7027863" cy="2919179"/>
            </a:xfrm>
          </p:grpSpPr>
          <p:cxnSp>
            <p:nvCxnSpPr>
              <p:cNvPr id="8" name="직선 연결선 7"/>
              <p:cNvCxnSpPr/>
              <p:nvPr/>
            </p:nvCxnSpPr>
            <p:spPr>
              <a:xfrm>
                <a:off x="3479800" y="3608621"/>
                <a:ext cx="0" cy="2919179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>
                <a:off x="10507663" y="3608621"/>
                <a:ext cx="0" cy="2919179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직선 화살표 연결선 11"/>
          <p:cNvCxnSpPr/>
          <p:nvPr/>
        </p:nvCxnSpPr>
        <p:spPr>
          <a:xfrm>
            <a:off x="3479800" y="6030148"/>
            <a:ext cx="259556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>
            <a:off x="6075363" y="6030148"/>
            <a:ext cx="442753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067310" y="6119048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578860" y="6119048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비침해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97192" y="3884582"/>
            <a:ext cx="1759608" cy="32655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민사법원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소송제기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" name="직선 화살표 연결선 15"/>
          <p:cNvCxnSpPr>
            <a:cxnSpLocks/>
            <a:endCxn id="93" idx="2"/>
          </p:cNvCxnSpPr>
          <p:nvPr/>
        </p:nvCxnSpPr>
        <p:spPr>
          <a:xfrm flipV="1">
            <a:off x="5831502" y="3013837"/>
            <a:ext cx="1747358" cy="274887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모서리가 둥근 직사각형 88"/>
          <p:cNvSpPr/>
          <p:nvPr/>
        </p:nvSpPr>
        <p:spPr>
          <a:xfrm>
            <a:off x="7769360" y="1822466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7769360" y="2428293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7769360" y="2890804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7769360" y="3394564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8" name="직선 화살표 연결선 17"/>
          <p:cNvCxnSpPr>
            <a:cxnSpLocks/>
            <a:stCxn id="88" idx="2"/>
          </p:cNvCxnSpPr>
          <p:nvPr/>
        </p:nvCxnSpPr>
        <p:spPr>
          <a:xfrm>
            <a:off x="9076996" y="4211140"/>
            <a:ext cx="0" cy="72953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도넛 18"/>
          <p:cNvSpPr/>
          <p:nvPr/>
        </p:nvSpPr>
        <p:spPr>
          <a:xfrm>
            <a:off x="7578860" y="2271297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도넛 92"/>
          <p:cNvSpPr/>
          <p:nvPr/>
        </p:nvSpPr>
        <p:spPr>
          <a:xfrm>
            <a:off x="7578860" y="2782331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도넛 93"/>
          <p:cNvSpPr/>
          <p:nvPr/>
        </p:nvSpPr>
        <p:spPr>
          <a:xfrm>
            <a:off x="7578860" y="3279908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곱셈 기호 19"/>
          <p:cNvSpPr/>
          <p:nvPr/>
        </p:nvSpPr>
        <p:spPr>
          <a:xfrm>
            <a:off x="7410585" y="1543210"/>
            <a:ext cx="717550" cy="793675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연결선 94"/>
          <p:cNvCxnSpPr/>
          <p:nvPr/>
        </p:nvCxnSpPr>
        <p:spPr>
          <a:xfrm>
            <a:off x="-36242" y="150519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침해금지 및 예방청구권은 현재 또는 장래의 침해에 대하여 행사하는 점에서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과거의 침해에 대하여 행사하는 손해배상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부당이득반환 등의 청구권과 다르고 특허권 침해에 대한 구제수단으로서 가장 유효하고 직접적인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특허권의 존속기간이 만료된 후에는 침해금지청구권을 행사할 수 없다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378</a:t>
            </a:fld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B4A6D3-9DA6-4220-8C36-7F907CB0F0BC}"/>
              </a:ext>
            </a:extLst>
          </p:cNvPr>
          <p:cNvSpPr txBox="1"/>
          <p:nvPr/>
        </p:nvSpPr>
        <p:spPr>
          <a:xfrm>
            <a:off x="3885257" y="3884582"/>
            <a:ext cx="1759608" cy="32655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민사법원 소송제기</a:t>
            </a:r>
            <a:endParaRPr lang="en-US" altLang="ko-KR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모서리가 둥근 직사각형 88">
            <a:extLst>
              <a:ext uri="{FF2B5EF4-FFF2-40B4-BE49-F238E27FC236}">
                <a16:creationId xmlns:a16="http://schemas.microsoft.com/office/drawing/2014/main" id="{7D615C02-67F4-4C61-B896-25980B672AF7}"/>
              </a:ext>
            </a:extLst>
          </p:cNvPr>
          <p:cNvSpPr/>
          <p:nvPr/>
        </p:nvSpPr>
        <p:spPr>
          <a:xfrm>
            <a:off x="3457425" y="1822466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모서리가 둥근 직사각형 89">
            <a:extLst>
              <a:ext uri="{FF2B5EF4-FFF2-40B4-BE49-F238E27FC236}">
                <a16:creationId xmlns:a16="http://schemas.microsoft.com/office/drawing/2014/main" id="{6C209795-3B56-4FA4-A6AC-6057445E3FFB}"/>
              </a:ext>
            </a:extLst>
          </p:cNvPr>
          <p:cNvSpPr/>
          <p:nvPr/>
        </p:nvSpPr>
        <p:spPr>
          <a:xfrm>
            <a:off x="3457425" y="2428293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모서리가 둥근 직사각형 90">
            <a:extLst>
              <a:ext uri="{FF2B5EF4-FFF2-40B4-BE49-F238E27FC236}">
                <a16:creationId xmlns:a16="http://schemas.microsoft.com/office/drawing/2014/main" id="{DC834732-D727-443E-9C0D-235F33CB4975}"/>
              </a:ext>
            </a:extLst>
          </p:cNvPr>
          <p:cNvSpPr/>
          <p:nvPr/>
        </p:nvSpPr>
        <p:spPr>
          <a:xfrm>
            <a:off x="3457425" y="2890804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모서리가 둥근 직사각형 91">
            <a:extLst>
              <a:ext uri="{FF2B5EF4-FFF2-40B4-BE49-F238E27FC236}">
                <a16:creationId xmlns:a16="http://schemas.microsoft.com/office/drawing/2014/main" id="{C4B4580B-8FED-4757-AFE9-87393BFDC2A3}"/>
              </a:ext>
            </a:extLst>
          </p:cNvPr>
          <p:cNvSpPr/>
          <p:nvPr/>
        </p:nvSpPr>
        <p:spPr>
          <a:xfrm>
            <a:off x="3457425" y="3394564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도넛 18">
            <a:extLst>
              <a:ext uri="{FF2B5EF4-FFF2-40B4-BE49-F238E27FC236}">
                <a16:creationId xmlns:a16="http://schemas.microsoft.com/office/drawing/2014/main" id="{65C6C52D-CE98-4F98-8FD8-28E14B6FD39B}"/>
              </a:ext>
            </a:extLst>
          </p:cNvPr>
          <p:cNvSpPr/>
          <p:nvPr/>
        </p:nvSpPr>
        <p:spPr>
          <a:xfrm>
            <a:off x="3266925" y="2271297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도넛 92">
            <a:extLst>
              <a:ext uri="{FF2B5EF4-FFF2-40B4-BE49-F238E27FC236}">
                <a16:creationId xmlns:a16="http://schemas.microsoft.com/office/drawing/2014/main" id="{76507275-4D27-43E1-8748-9D6EE60DA623}"/>
              </a:ext>
            </a:extLst>
          </p:cNvPr>
          <p:cNvSpPr/>
          <p:nvPr/>
        </p:nvSpPr>
        <p:spPr>
          <a:xfrm>
            <a:off x="3266925" y="2782331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도넛 93">
            <a:extLst>
              <a:ext uri="{FF2B5EF4-FFF2-40B4-BE49-F238E27FC236}">
                <a16:creationId xmlns:a16="http://schemas.microsoft.com/office/drawing/2014/main" id="{030046C1-FB97-46E7-B70B-15C4D2BE9AF1}"/>
              </a:ext>
            </a:extLst>
          </p:cNvPr>
          <p:cNvSpPr/>
          <p:nvPr/>
        </p:nvSpPr>
        <p:spPr>
          <a:xfrm>
            <a:off x="3266925" y="3279908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도넛 18">
            <a:extLst>
              <a:ext uri="{FF2B5EF4-FFF2-40B4-BE49-F238E27FC236}">
                <a16:creationId xmlns:a16="http://schemas.microsoft.com/office/drawing/2014/main" id="{F9F398BA-63EF-4C8E-A847-DE737BA938BF}"/>
              </a:ext>
            </a:extLst>
          </p:cNvPr>
          <p:cNvSpPr/>
          <p:nvPr/>
        </p:nvSpPr>
        <p:spPr>
          <a:xfrm>
            <a:off x="3266925" y="1697452"/>
            <a:ext cx="460240" cy="463012"/>
          </a:xfrm>
          <a:prstGeom prst="donu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B1DEEFE-1BE1-4150-9CF4-9D495536C968}"/>
              </a:ext>
            </a:extLst>
          </p:cNvPr>
          <p:cNvCxnSpPr>
            <a:cxnSpLocks/>
          </p:cNvCxnSpPr>
          <p:nvPr/>
        </p:nvCxnSpPr>
        <p:spPr>
          <a:xfrm>
            <a:off x="4753282" y="4211140"/>
            <a:ext cx="0" cy="72953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4E11C49-BD00-42D4-90C1-5BE7E8403C6F}"/>
              </a:ext>
            </a:extLst>
          </p:cNvPr>
          <p:cNvCxnSpPr/>
          <p:nvPr/>
        </p:nvCxnSpPr>
        <p:spPr>
          <a:xfrm>
            <a:off x="3479800" y="5774130"/>
            <a:ext cx="2616200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ACC82500-04F5-4283-A8B7-046AA05D482D}"/>
              </a:ext>
            </a:extLst>
          </p:cNvPr>
          <p:cNvCxnSpPr>
            <a:cxnSpLocks/>
          </p:cNvCxnSpPr>
          <p:nvPr/>
        </p:nvCxnSpPr>
        <p:spPr>
          <a:xfrm>
            <a:off x="3479800" y="5529564"/>
            <a:ext cx="1285261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AB11F69-E399-4B7F-A148-C35FDF3D7782}"/>
              </a:ext>
            </a:extLst>
          </p:cNvPr>
          <p:cNvCxnSpPr>
            <a:cxnSpLocks/>
          </p:cNvCxnSpPr>
          <p:nvPr/>
        </p:nvCxnSpPr>
        <p:spPr>
          <a:xfrm>
            <a:off x="4777581" y="5529564"/>
            <a:ext cx="1285261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6A51866-9645-4728-B206-4AA3E4F758E6}"/>
              </a:ext>
            </a:extLst>
          </p:cNvPr>
          <p:cNvCxnSpPr>
            <a:cxnSpLocks/>
            <a:endCxn id="50" idx="5"/>
          </p:cNvCxnSpPr>
          <p:nvPr/>
        </p:nvCxnSpPr>
        <p:spPr>
          <a:xfrm flipH="1" flipV="1">
            <a:off x="3659764" y="2092657"/>
            <a:ext cx="1760448" cy="3410844"/>
          </a:xfrm>
          <a:prstGeom prst="straightConnector1">
            <a:avLst/>
          </a:prstGeom>
          <a:ln w="28575">
            <a:solidFill>
              <a:schemeClr val="accent1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01A1361C-183E-4141-A458-E82B1B7E07AB}"/>
              </a:ext>
            </a:extLst>
          </p:cNvPr>
          <p:cNvCxnSpPr>
            <a:cxnSpLocks/>
          </p:cNvCxnSpPr>
          <p:nvPr/>
        </p:nvCxnSpPr>
        <p:spPr>
          <a:xfrm flipH="1" flipV="1">
            <a:off x="3568566" y="3798079"/>
            <a:ext cx="460240" cy="1711173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021162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침해금지가처분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379</a:t>
            </a:fld>
            <a:endParaRPr lang="ko-KR" altLang="en-US"/>
          </a:p>
        </p:txBody>
      </p:sp>
      <p:cxnSp>
        <p:nvCxnSpPr>
          <p:cNvPr id="95" name="직선 연결선 94"/>
          <p:cNvCxnSpPr/>
          <p:nvPr/>
        </p:nvCxnSpPr>
        <p:spPr>
          <a:xfrm>
            <a:off x="-36242" y="194675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침해금지청구의 </a:t>
            </a:r>
            <a:r>
              <a:rPr lang="ko-KR" altLang="en-US" sz="1400" dirty="0" err="1"/>
              <a:t>본안소송</a:t>
            </a:r>
            <a:r>
              <a:rPr lang="ko-KR" altLang="en-US" sz="1400" dirty="0"/>
              <a:t> 확정 전 현저한 손해를 받거나 급박한 방해를 방지할 수 없는 등 긴급한 행위가 필요한 경우에 침해금지를 위한 임시적 지위설정을 위해 침해금지청구권을 </a:t>
            </a:r>
            <a:r>
              <a:rPr lang="ko-KR" altLang="en-US" sz="1400" dirty="0" err="1"/>
              <a:t>피보전권리로</a:t>
            </a:r>
            <a:r>
              <a:rPr lang="ko-KR" altLang="en-US" sz="1400" dirty="0"/>
              <a:t> 하여 침해금지가처분 신청을 할 수 있다</a:t>
            </a:r>
            <a:r>
              <a:rPr lang="en-US" altLang="ko-KR" sz="1400" dirty="0"/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가처분이 인정되기 위해서는 침해 사실 외에 처분의 </a:t>
            </a:r>
            <a:r>
              <a:rPr lang="ko-KR" altLang="en-US" sz="1400" dirty="0" err="1">
                <a:highlight>
                  <a:srgbClr val="FFFF00"/>
                </a:highlight>
              </a:rPr>
              <a:t>긴급성이</a:t>
            </a:r>
            <a:r>
              <a:rPr lang="ko-KR" altLang="en-US" sz="1400" dirty="0">
                <a:highlight>
                  <a:srgbClr val="FFFF00"/>
                </a:highlight>
              </a:rPr>
              <a:t> 필요하다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한편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가처분결정이 있은 후 가처분 집행권자가 </a:t>
            </a:r>
            <a:r>
              <a:rPr lang="ko-KR" altLang="en-US" sz="1400" dirty="0" err="1">
                <a:highlight>
                  <a:srgbClr val="FFFF00"/>
                </a:highlight>
              </a:rPr>
              <a:t>본안소송에서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패소확정되었다면</a:t>
            </a:r>
            <a:r>
              <a:rPr lang="ko-KR" altLang="en-US" sz="1400" dirty="0">
                <a:highlight>
                  <a:srgbClr val="FFFF00"/>
                </a:highlight>
              </a:rPr>
              <a:t> 그 가처분으로 인하여 채무자가 입은 손해에 대해서는 채권자에게 고의 또는 과실이 없다는 반증이 없는 한 배상할 책임이 있다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graphicFrame>
        <p:nvGraphicFramePr>
          <p:cNvPr id="34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369069"/>
              </p:ext>
            </p:extLst>
          </p:nvPr>
        </p:nvGraphicFramePr>
        <p:xfrm>
          <a:off x="343992" y="2390140"/>
          <a:ext cx="11530507" cy="1546860"/>
        </p:xfrm>
        <a:graphic>
          <a:graphicData uri="http://schemas.openxmlformats.org/drawingml/2006/table">
            <a:tbl>
              <a:tblPr firstCol="1">
                <a:tableStyleId>{8799B23B-EC83-4686-B30A-512413B5E67A}</a:tableStyleId>
              </a:tblPr>
              <a:tblGrid>
                <a:gridCol w="1239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가처분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본안소송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집행력</a:t>
                      </a:r>
                      <a:endParaRPr kumimoji="1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결정에 따라 </a:t>
                      </a:r>
                      <a:r>
                        <a:rPr kumimoji="1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심급별로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개월 소요되며 통상 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개월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~1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소요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확정이 필요하므로 </a:t>
                      </a:r>
                      <a:r>
                        <a:rPr kumimoji="1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심급별로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정도 소요되며 통상 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2-3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소요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절차</a:t>
                      </a:r>
                      <a:endParaRPr kumimoji="1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심문절차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소명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결정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변론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증명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판결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요건</a:t>
                      </a:r>
                      <a:endParaRPr kumimoji="1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침해 </a:t>
                      </a:r>
                      <a:r>
                        <a:rPr kumimoji="1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사실외에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처분의 </a:t>
                      </a:r>
                      <a:r>
                        <a:rPr kumimoji="1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긴급성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추가 필요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침해사실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 bwMode="auto">
          <a:xfrm>
            <a:off x="527381" y="4749800"/>
            <a:ext cx="11233248" cy="18475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r>
              <a:rPr lang="ko-KR" altLang="en-US" sz="1400" dirty="0"/>
              <a:t>임시의 지위를 정하기 위한 가처분을 필요로 하는지 여부는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가처분신청의 인용 여부에 따른 당사자 쌍방의 이해득실관계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본안소송에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있어서의 장래의 승패의 예상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기타의 제반 사정을 고려하여 법원의 재량에 따라 합목적적으로 결정하여야 할 것이므로 가처분채권자가 신청 당시에 실체법상의 권리를 가지고 있다 하더라도 그 권리가 가까운 장래에 소멸하여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본안소송에서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패소판결을 받으리라는 점이 현재에 있어 충분히 예상되는 경우에는 필요성이 없다고 풀이하는 것이 상당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하고</a:t>
            </a:r>
            <a:r>
              <a:rPr lang="en-US" altLang="ko-KR" sz="1400" dirty="0"/>
              <a:t>, </a:t>
            </a:r>
            <a:r>
              <a:rPr lang="ko-KR" altLang="en-US" sz="1400" dirty="0"/>
              <a:t>더구나 특허권침해의 금지라는 부작위의무를 부담시키는 이른바 만족적 가처분일 경우에 있어서는 보전의 필요성 유무를 더욱 신중하게 결정하여야 할 것으로서 만일 가처분신청 당시 채무자가 지식재산처에 별도로 제기한 심판절차에 의하여 그 특허권이 무효라고 하는 취지의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있은 경우나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무효심판이 청구되고 그 청구의 이유나 증거관계로부터 장래 그 특허가 무효로 될 개연성이 높다고 인정되는 등의 특별한 사정이 있는 경우</a:t>
            </a:r>
            <a:r>
              <a:rPr lang="ko-KR" altLang="en-US" sz="1400" dirty="0"/>
              <a:t>에는 당사자 간의 형평을 고려하여 보전의 필요성을 결한 것으로 보는 것이 합리적이라 할 것이다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6" name="직사각형 35"/>
          <p:cNvSpPr/>
          <p:nvPr/>
        </p:nvSpPr>
        <p:spPr bwMode="auto">
          <a:xfrm>
            <a:off x="527381" y="4461768"/>
            <a:ext cx="2965119" cy="28803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2007. 6. 4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2006</a:t>
            </a:r>
            <a:r>
              <a:rPr lang="ko-KR" altLang="en-US" sz="1400" dirty="0"/>
              <a:t>마</a:t>
            </a:r>
            <a:r>
              <a:rPr lang="en-US" altLang="ko-KR" sz="1400" dirty="0"/>
              <a:t>907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0901463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손해배상청구권의 법조문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75" y="986046"/>
            <a:ext cx="11936323" cy="487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150" b="1" dirty="0">
                <a:solidFill>
                  <a:schemeClr val="accent1"/>
                </a:solidFill>
              </a:rPr>
              <a:t>제</a:t>
            </a:r>
            <a:r>
              <a:rPr lang="en-US" altLang="ko-KR" sz="1150" b="1" dirty="0">
                <a:solidFill>
                  <a:schemeClr val="accent1"/>
                </a:solidFill>
              </a:rPr>
              <a:t>128</a:t>
            </a:r>
            <a:r>
              <a:rPr lang="ko-KR" altLang="en-US" sz="1150" b="1" dirty="0">
                <a:solidFill>
                  <a:schemeClr val="accent1"/>
                </a:solidFill>
              </a:rPr>
              <a:t>조</a:t>
            </a:r>
            <a:r>
              <a:rPr lang="en-US" altLang="ko-KR" sz="1150" b="1" dirty="0">
                <a:solidFill>
                  <a:schemeClr val="accent1"/>
                </a:solidFill>
              </a:rPr>
              <a:t>(</a:t>
            </a:r>
            <a:r>
              <a:rPr lang="ko-KR" altLang="en-US" sz="1150" b="1" dirty="0">
                <a:solidFill>
                  <a:schemeClr val="accent1"/>
                </a:solidFill>
              </a:rPr>
              <a:t>손해배상청구권 등</a:t>
            </a:r>
            <a:r>
              <a:rPr lang="en-US" altLang="ko-KR" sz="1150" b="1" dirty="0">
                <a:solidFill>
                  <a:schemeClr val="accent1"/>
                </a:solidFill>
              </a:rPr>
              <a:t>)</a:t>
            </a:r>
            <a:r>
              <a:rPr lang="en-US" altLang="ko-KR" sz="1150" dirty="0"/>
              <a:t> ① </a:t>
            </a:r>
            <a:r>
              <a:rPr lang="ko-KR" altLang="en-US" sz="1150" dirty="0" err="1"/>
              <a:t>특허권자</a:t>
            </a:r>
            <a:r>
              <a:rPr lang="ko-KR" altLang="en-US" sz="1150" dirty="0"/>
              <a:t> 또는 </a:t>
            </a:r>
            <a:r>
              <a:rPr lang="ko-KR" altLang="en-US" sz="1150" dirty="0" err="1"/>
              <a:t>전용실시권자는</a:t>
            </a:r>
            <a:r>
              <a:rPr lang="ko-KR" altLang="en-US" sz="1150" dirty="0"/>
              <a:t> 고의 또는 과실로 자기의 특허권 또는 </a:t>
            </a:r>
            <a:r>
              <a:rPr lang="ko-KR" altLang="en-US" sz="1150" dirty="0" err="1"/>
              <a:t>전용실시권을</a:t>
            </a:r>
            <a:r>
              <a:rPr lang="ko-KR" altLang="en-US" sz="1150" dirty="0"/>
              <a:t> 침해한 자에 대하여 침해로 인하여 입은 손해의 배상을 청구할 수 있다</a:t>
            </a:r>
            <a:r>
              <a:rPr lang="en-US" altLang="ko-KR" sz="1150" dirty="0"/>
              <a:t>.  </a:t>
            </a:r>
          </a:p>
          <a:p>
            <a:pPr fontAlgn="base"/>
            <a:r>
              <a:rPr lang="ko-KR" altLang="en-US" sz="1150" dirty="0">
                <a:solidFill>
                  <a:srgbClr val="FF0000"/>
                </a:solidFill>
              </a:rPr>
              <a:t>② 제</a:t>
            </a:r>
            <a:r>
              <a:rPr lang="en-US" altLang="ko-KR" sz="1150" dirty="0">
                <a:solidFill>
                  <a:srgbClr val="FF0000"/>
                </a:solidFill>
              </a:rPr>
              <a:t>1</a:t>
            </a:r>
            <a:r>
              <a:rPr lang="ko-KR" altLang="en-US" sz="1150" dirty="0">
                <a:solidFill>
                  <a:srgbClr val="FF0000"/>
                </a:solidFill>
              </a:rPr>
              <a:t>항에 따라 손해배상을 청구하는 경우 그 권리를 침해한 자가 그 침해행위를 하게 한 물건을 양도하였을 때에는 다음 각 호에 해당하는 금액의 합계액을 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입은 손해액으로 할 수 있다</a:t>
            </a:r>
            <a:r>
              <a:rPr lang="en-US" altLang="ko-KR" sz="1150" dirty="0">
                <a:solidFill>
                  <a:srgbClr val="FF0000"/>
                </a:solidFill>
              </a:rPr>
              <a:t>.  </a:t>
            </a:r>
          </a:p>
          <a:p>
            <a:pPr marL="223838" indent="-223838" fontAlgn="base"/>
            <a:r>
              <a:rPr lang="en-US" altLang="ko-KR" sz="1150" dirty="0">
                <a:solidFill>
                  <a:srgbClr val="FF0000"/>
                </a:solidFill>
              </a:rPr>
              <a:t>  1. </a:t>
            </a:r>
            <a:r>
              <a:rPr lang="ko-KR" altLang="en-US" sz="1150" dirty="0">
                <a:solidFill>
                  <a:srgbClr val="FF0000"/>
                </a:solidFill>
              </a:rPr>
              <a:t>그 물건의 양도수량</a:t>
            </a:r>
            <a:r>
              <a:rPr lang="en-US" altLang="ko-KR" sz="1150" dirty="0">
                <a:solidFill>
                  <a:srgbClr val="FF0000"/>
                </a:solidFill>
              </a:rPr>
              <a:t>(</a:t>
            </a:r>
            <a:r>
              <a:rPr lang="ko-KR" altLang="en-US" sz="1150" dirty="0">
                <a:solidFill>
                  <a:srgbClr val="FF0000"/>
                </a:solidFill>
              </a:rPr>
              <a:t>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그 침해행위 외의 사유로 판매할 수 없었던 사정이 있는 경우에는 그 침해행위 외의 사유로 판매할 수 없었던 수량을 뺀 수량</a:t>
            </a:r>
            <a:r>
              <a:rPr lang="en-US" altLang="ko-KR" sz="1150" dirty="0">
                <a:solidFill>
                  <a:srgbClr val="FF0000"/>
                </a:solidFill>
              </a:rPr>
              <a:t>) </a:t>
            </a:r>
            <a:r>
              <a:rPr lang="ko-KR" altLang="en-US" sz="1150" dirty="0">
                <a:solidFill>
                  <a:srgbClr val="FF0000"/>
                </a:solidFill>
              </a:rPr>
              <a:t>중 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생산할 수 있었던 물건의 수량에서 실제 판매한 물건의 수량을 뺀 수량을 넘지 않는 수량에 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그 침해행위가 없었다면 판매할 수 있었던 물건의 단위수량당 이익액을 곱한 금액</a:t>
            </a:r>
          </a:p>
          <a:p>
            <a:pPr marL="233363" indent="-233363" fontAlgn="base"/>
            <a:r>
              <a:rPr lang="ko-KR" altLang="en-US" sz="1150" dirty="0">
                <a:solidFill>
                  <a:srgbClr val="FF0000"/>
                </a:solidFill>
              </a:rPr>
              <a:t>  </a:t>
            </a:r>
            <a:r>
              <a:rPr lang="en-US" altLang="ko-KR" sz="1150" dirty="0">
                <a:solidFill>
                  <a:srgbClr val="FF0000"/>
                </a:solidFill>
              </a:rPr>
              <a:t>2. </a:t>
            </a:r>
            <a:r>
              <a:rPr lang="ko-KR" altLang="en-US" sz="1150" dirty="0">
                <a:solidFill>
                  <a:srgbClr val="FF0000"/>
                </a:solidFill>
              </a:rPr>
              <a:t>그 물건의 양도수량 중 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생산할 수 있었던 물건의 수량에서 실제 판매한 물건의 수량을 뺀 수량을 넘는 수량 또는 그 침해행위 외의 사유로 판매할 수 없었던 수량이 있는 경우 이들 수량</a:t>
            </a:r>
            <a:r>
              <a:rPr lang="en-US" altLang="ko-KR" sz="1150" dirty="0">
                <a:solidFill>
                  <a:srgbClr val="FF0000"/>
                </a:solidFill>
              </a:rPr>
              <a:t>(</a:t>
            </a:r>
            <a:r>
              <a:rPr lang="ko-KR" altLang="en-US" sz="1150" dirty="0">
                <a:solidFill>
                  <a:srgbClr val="FF0000"/>
                </a:solidFill>
              </a:rPr>
              <a:t>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그 특허권자의 특허권에 대한 전용실시권의 설정</a:t>
            </a:r>
            <a:r>
              <a:rPr lang="en-US" altLang="ko-KR" sz="1150" dirty="0">
                <a:solidFill>
                  <a:srgbClr val="FF0000"/>
                </a:solidFill>
              </a:rPr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통상실시권의 허락 또는 그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전용실시권자의</a:t>
            </a:r>
            <a:r>
              <a:rPr lang="ko-KR" altLang="en-US" sz="1150" dirty="0">
                <a:solidFill>
                  <a:srgbClr val="FF0000"/>
                </a:solidFill>
              </a:rPr>
              <a:t> 전용실시권에 대한 통상실시권의 허락을 할 수 있었다고 인정되지 않는 경우에는 해당 수량을 뺀 수량</a:t>
            </a:r>
            <a:r>
              <a:rPr lang="en-US" altLang="ko-KR" sz="1150" dirty="0">
                <a:solidFill>
                  <a:srgbClr val="FF0000"/>
                </a:solidFill>
              </a:rPr>
              <a:t>)</a:t>
            </a:r>
            <a:r>
              <a:rPr lang="ko-KR" altLang="en-US" sz="1150" dirty="0">
                <a:solidFill>
                  <a:srgbClr val="FF0000"/>
                </a:solidFill>
              </a:rPr>
              <a:t>에 대해서는 특허발명의 실시에 대하여 합리적으로 받을 수 있는 금액</a:t>
            </a:r>
          </a:p>
          <a:p>
            <a:pPr fontAlgn="base"/>
            <a:r>
              <a:rPr lang="ko-KR" altLang="en-US" sz="1150" dirty="0">
                <a:solidFill>
                  <a:srgbClr val="FF0000"/>
                </a:solidFill>
              </a:rPr>
              <a:t>③ 삭제</a:t>
            </a:r>
            <a:endParaRPr lang="en-US" altLang="ko-KR" sz="1150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150" dirty="0"/>
              <a:t>④ </a:t>
            </a:r>
            <a:r>
              <a:rPr lang="ko-KR" altLang="en-US" sz="1150" dirty="0"/>
              <a:t>제</a:t>
            </a:r>
            <a:r>
              <a:rPr lang="en-US" altLang="ko-KR" sz="1150" dirty="0"/>
              <a:t>1</a:t>
            </a:r>
            <a:r>
              <a:rPr lang="ko-KR" altLang="en-US" sz="1150" dirty="0"/>
              <a:t>항에 따라 손해배상을 청구하는 경우 특허권 또는 전용실시권을 침해한 자가 그 침해행위로 인하여 얻은 이익액을 특허권자 또는 </a:t>
            </a:r>
            <a:r>
              <a:rPr lang="ko-KR" altLang="en-US" sz="1150" dirty="0" err="1"/>
              <a:t>전용실시권자가</a:t>
            </a:r>
            <a:r>
              <a:rPr lang="ko-KR" altLang="en-US" sz="1150" dirty="0"/>
              <a:t> 입은 손해액으로 추정한다</a:t>
            </a:r>
            <a:r>
              <a:rPr lang="en-US" altLang="ko-KR" sz="1150" dirty="0"/>
              <a:t>.  </a:t>
            </a:r>
          </a:p>
          <a:p>
            <a:pPr fontAlgn="base"/>
            <a:r>
              <a:rPr lang="en-US" altLang="ko-KR" sz="1150" dirty="0"/>
              <a:t>⑤ </a:t>
            </a:r>
            <a:r>
              <a:rPr lang="ko-KR" altLang="en-US" sz="1150" dirty="0"/>
              <a:t>제</a:t>
            </a:r>
            <a:r>
              <a:rPr lang="en-US" altLang="ko-KR" sz="1150" dirty="0"/>
              <a:t>1</a:t>
            </a:r>
            <a:r>
              <a:rPr lang="ko-KR" altLang="en-US" sz="1150" dirty="0"/>
              <a:t>항에 따라 손해배상을 청구하는 경우 그 특허발명의 실시에 대하여 </a:t>
            </a:r>
            <a:r>
              <a:rPr lang="ko-KR" altLang="en-US" sz="1150" dirty="0">
                <a:solidFill>
                  <a:srgbClr val="FF0000"/>
                </a:solidFill>
              </a:rPr>
              <a:t>합리적</a:t>
            </a:r>
            <a:r>
              <a:rPr lang="ko-KR" altLang="en-US" sz="1150" dirty="0"/>
              <a:t>으로 받을 수 있는 금액을 특허권자 또는 </a:t>
            </a:r>
            <a:r>
              <a:rPr lang="ko-KR" altLang="en-US" sz="1150" dirty="0" err="1"/>
              <a:t>전용실시권자가</a:t>
            </a:r>
            <a:r>
              <a:rPr lang="ko-KR" altLang="en-US" sz="1150" dirty="0"/>
              <a:t> 입은 손해액으로 하여 손해배상을 청구할 수 있다</a:t>
            </a:r>
            <a:r>
              <a:rPr lang="en-US" altLang="ko-KR" sz="1150" dirty="0"/>
              <a:t>.  </a:t>
            </a:r>
          </a:p>
          <a:p>
            <a:pPr fontAlgn="base"/>
            <a:r>
              <a:rPr lang="en-US" altLang="ko-KR" sz="1150" dirty="0"/>
              <a:t>⑥ </a:t>
            </a:r>
            <a:r>
              <a:rPr lang="ko-KR" altLang="en-US" sz="1150" dirty="0"/>
              <a:t>제</a:t>
            </a:r>
            <a:r>
              <a:rPr lang="en-US" altLang="ko-KR" sz="1150" dirty="0"/>
              <a:t>5</a:t>
            </a:r>
            <a:r>
              <a:rPr lang="ko-KR" altLang="en-US" sz="1150" dirty="0"/>
              <a:t>항에도 불구하고 손해액이 같은 항에 따른 금액을 초과하는 경우에는 그 초과액에 대해서도 손해배상을 청구할 수 있다</a:t>
            </a:r>
            <a:r>
              <a:rPr lang="en-US" altLang="ko-KR" sz="1150" dirty="0"/>
              <a:t>. </a:t>
            </a:r>
            <a:r>
              <a:rPr lang="ko-KR" altLang="en-US" sz="1150" dirty="0"/>
              <a:t>이 경우 특허권 또는 </a:t>
            </a:r>
            <a:r>
              <a:rPr lang="ko-KR" altLang="en-US" sz="1150" dirty="0" err="1"/>
              <a:t>전용실시권을</a:t>
            </a:r>
            <a:r>
              <a:rPr lang="ko-KR" altLang="en-US" sz="1150" dirty="0"/>
              <a:t> 침해한 자에게 고의 또는 중대한 과실이 없을 때에는 법원은 손해배상액을 산정할 때 그 사실을 고려할 수 있다</a:t>
            </a:r>
            <a:r>
              <a:rPr lang="en-US" altLang="ko-KR" sz="1150" dirty="0"/>
              <a:t>.  </a:t>
            </a:r>
          </a:p>
          <a:p>
            <a:pPr fontAlgn="base"/>
            <a:r>
              <a:rPr lang="en-US" altLang="ko-KR" sz="1150" dirty="0"/>
              <a:t>⑦ </a:t>
            </a:r>
            <a:r>
              <a:rPr lang="ko-KR" altLang="en-US" sz="1150" dirty="0"/>
              <a:t>법원은 특허권 또는 </a:t>
            </a:r>
            <a:r>
              <a:rPr lang="ko-KR" altLang="en-US" sz="1150" dirty="0" err="1"/>
              <a:t>전용실시권의</a:t>
            </a:r>
            <a:r>
              <a:rPr lang="ko-KR" altLang="en-US" sz="1150" dirty="0"/>
              <a:t> 침해에 관한 소송에서 손해가 발생된 것은 인정되나 그 손해액을 증명하기 위하여 필요한 사실을 증명하는 것이 해당 사실의 성질상 극히 곤란한 경우에는 제</a:t>
            </a:r>
            <a:r>
              <a:rPr lang="en-US" altLang="ko-KR" sz="1150" dirty="0"/>
              <a:t>2</a:t>
            </a:r>
            <a:r>
              <a:rPr lang="ko-KR" altLang="en-US" sz="1150" dirty="0"/>
              <a:t>항부터 제</a:t>
            </a:r>
            <a:r>
              <a:rPr lang="en-US" altLang="ko-KR" sz="1150" dirty="0"/>
              <a:t>6</a:t>
            </a:r>
            <a:r>
              <a:rPr lang="ko-KR" altLang="en-US" sz="1150" dirty="0"/>
              <a:t>항까지의 규정에도 불구하고 변론 전체의 취지와 증거조사의 결과에 기초하여 상당한 손해액을 인정할 수 있다</a:t>
            </a:r>
            <a:r>
              <a:rPr lang="en-US" altLang="ko-KR" sz="1150" dirty="0"/>
              <a:t>. </a:t>
            </a:r>
          </a:p>
          <a:p>
            <a:pPr fontAlgn="base"/>
            <a:r>
              <a:rPr lang="ko-KR" altLang="en-US" sz="1150" dirty="0"/>
              <a:t>⑧ 법원은 타인의 특허권 또는 전용실시권을 침해한 행위가 고의적인 것으로 인정되는 경우에는 제</a:t>
            </a:r>
            <a:r>
              <a:rPr lang="en-US" altLang="ko-KR" sz="1150" dirty="0"/>
              <a:t>1</a:t>
            </a:r>
            <a:r>
              <a:rPr lang="ko-KR" altLang="en-US" sz="1150" dirty="0"/>
              <a:t>항에도 불구하고 제</a:t>
            </a:r>
            <a:r>
              <a:rPr lang="en-US" altLang="ko-KR" sz="1150" dirty="0"/>
              <a:t>2</a:t>
            </a:r>
            <a:r>
              <a:rPr lang="ko-KR" altLang="en-US" sz="1150" dirty="0"/>
              <a:t>항부터 제</a:t>
            </a:r>
            <a:r>
              <a:rPr lang="en-US" altLang="ko-KR" sz="1150" dirty="0"/>
              <a:t>7</a:t>
            </a:r>
            <a:r>
              <a:rPr lang="ko-KR" altLang="en-US" sz="1150" dirty="0"/>
              <a:t>항까지의 규정에 따라 손해로 인정된 금액의 </a:t>
            </a:r>
            <a:r>
              <a:rPr lang="en-US" altLang="ko-KR" sz="1150" dirty="0">
                <a:solidFill>
                  <a:srgbClr val="FF0000"/>
                </a:solidFill>
              </a:rPr>
              <a:t>5</a:t>
            </a:r>
            <a:r>
              <a:rPr lang="ko-KR" altLang="en-US" sz="1150" dirty="0">
                <a:solidFill>
                  <a:srgbClr val="FF0000"/>
                </a:solidFill>
              </a:rPr>
              <a:t>배</a:t>
            </a:r>
            <a:r>
              <a:rPr lang="ko-KR" altLang="en-US" sz="1150" dirty="0"/>
              <a:t>를 넘지 아니하는 범위에서 배상액을 정할 수 있다</a:t>
            </a:r>
            <a:r>
              <a:rPr lang="en-US" altLang="ko-KR" sz="1150" dirty="0"/>
              <a:t>. </a:t>
            </a:r>
          </a:p>
          <a:p>
            <a:pPr fontAlgn="base"/>
            <a:r>
              <a:rPr lang="en-US" altLang="ko-KR" sz="1150" dirty="0"/>
              <a:t>⑨ </a:t>
            </a:r>
            <a:r>
              <a:rPr lang="ko-KR" altLang="en-US" sz="1150" dirty="0"/>
              <a:t>제</a:t>
            </a:r>
            <a:r>
              <a:rPr lang="en-US" altLang="ko-KR" sz="1150" dirty="0"/>
              <a:t>8</a:t>
            </a:r>
            <a:r>
              <a:rPr lang="ko-KR" altLang="en-US" sz="1150" dirty="0"/>
              <a:t>항에 따른 배상액을 판단할 때에는 다음 각 호의 사항을 고려하여야 한다</a:t>
            </a:r>
            <a:r>
              <a:rPr lang="en-US" altLang="ko-KR" sz="1150" dirty="0"/>
              <a:t>. </a:t>
            </a:r>
          </a:p>
          <a:p>
            <a:pPr fontAlgn="base"/>
            <a:r>
              <a:rPr lang="en-US" altLang="ko-KR" sz="1150" dirty="0"/>
              <a:t>  1. </a:t>
            </a:r>
            <a:r>
              <a:rPr lang="ko-KR" altLang="en-US" sz="1150" dirty="0"/>
              <a:t>침해행위를 한 자의 우월적 지위 여부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2. </a:t>
            </a:r>
            <a:r>
              <a:rPr lang="ko-KR" altLang="en-US" sz="1150" dirty="0"/>
              <a:t>고의 또는 손해 발생의 우려를 인식한 정도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3. </a:t>
            </a:r>
            <a:r>
              <a:rPr lang="ko-KR" altLang="en-US" sz="1150" dirty="0"/>
              <a:t>침해행위로 인하여 특허권자 및 </a:t>
            </a:r>
            <a:r>
              <a:rPr lang="ko-KR" altLang="en-US" sz="1150" dirty="0" err="1"/>
              <a:t>전용실시권자가</a:t>
            </a:r>
            <a:r>
              <a:rPr lang="ko-KR" altLang="en-US" sz="1150" dirty="0"/>
              <a:t> 입은 피해규모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4. </a:t>
            </a:r>
            <a:r>
              <a:rPr lang="ko-KR" altLang="en-US" sz="1150" dirty="0"/>
              <a:t>침해행위로 인하여 침해한 자가 얻은 경제적 이익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5. </a:t>
            </a:r>
            <a:r>
              <a:rPr lang="ko-KR" altLang="en-US" sz="1150" dirty="0"/>
              <a:t>침해행위의 </a:t>
            </a:r>
            <a:r>
              <a:rPr lang="ko-KR" altLang="en-US" sz="1150" dirty="0" err="1"/>
              <a:t>기간ㆍ횟수</a:t>
            </a:r>
            <a:r>
              <a:rPr lang="ko-KR" altLang="en-US" sz="1150" dirty="0"/>
              <a:t> 등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6. </a:t>
            </a:r>
            <a:r>
              <a:rPr lang="ko-KR" altLang="en-US" sz="1150" dirty="0"/>
              <a:t>침해행위에 따른 벌금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7. </a:t>
            </a:r>
            <a:r>
              <a:rPr lang="ko-KR" altLang="en-US" sz="1150" dirty="0"/>
              <a:t>침해행위를 한 자의 재산상태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8. </a:t>
            </a:r>
            <a:r>
              <a:rPr lang="ko-KR" altLang="en-US" sz="1150" dirty="0"/>
              <a:t>침해행위를 한 자의 피해구제 노력의 정도</a:t>
            </a:r>
            <a:endParaRPr lang="en-US" altLang="ko-KR" sz="1150" dirty="0"/>
          </a:p>
        </p:txBody>
      </p:sp>
      <p:sp>
        <p:nvSpPr>
          <p:cNvPr id="4" name="TextBox 3"/>
          <p:cNvSpPr txBox="1"/>
          <p:nvPr/>
        </p:nvSpPr>
        <p:spPr>
          <a:xfrm>
            <a:off x="4823185" y="4840695"/>
            <a:ext cx="1585834" cy="69266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>
                <a:solidFill>
                  <a:schemeClr val="accent4"/>
                </a:solidFill>
              </a:rPr>
              <a:t>손해배상청구권</a:t>
            </a:r>
            <a:endParaRPr lang="en-US" altLang="ko-KR" sz="1600" dirty="0">
              <a:solidFill>
                <a:schemeClr val="accent4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accent4"/>
                </a:solidFill>
              </a:rPr>
              <a:t>(</a:t>
            </a:r>
            <a:r>
              <a:rPr lang="ko-KR" altLang="en-US" sz="1600" dirty="0">
                <a:solidFill>
                  <a:schemeClr val="accent4"/>
                </a:solidFill>
              </a:rPr>
              <a:t>제</a:t>
            </a:r>
            <a:r>
              <a:rPr lang="en-US" altLang="ko-KR" sz="1600" dirty="0">
                <a:solidFill>
                  <a:schemeClr val="accent4"/>
                </a:solidFill>
              </a:rPr>
              <a:t>128</a:t>
            </a:r>
            <a:r>
              <a:rPr lang="ko-KR" altLang="en-US" sz="1600" dirty="0">
                <a:solidFill>
                  <a:schemeClr val="accent4"/>
                </a:solidFill>
              </a:rPr>
              <a:t>조</a:t>
            </a:r>
            <a:r>
              <a:rPr lang="en-US" altLang="ko-KR" sz="1600" dirty="0">
                <a:solidFill>
                  <a:schemeClr val="accent4"/>
                </a:solidFill>
              </a:rPr>
              <a:t>)</a:t>
            </a:r>
            <a:endParaRPr lang="ko-KR" altLang="en-US" sz="1600" dirty="0">
              <a:solidFill>
                <a:schemeClr val="accent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5812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의의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1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2229055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산정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3882973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추정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4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5515678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의제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5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7152842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참작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6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8775279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인정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7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8" name="꺾인 연결선 7"/>
          <p:cNvCxnSpPr>
            <a:stCxn id="4" idx="2"/>
            <a:endCxn id="12" idx="0"/>
          </p:cNvCxnSpPr>
          <p:nvPr/>
        </p:nvCxnSpPr>
        <p:spPr>
          <a:xfrm rot="5400000">
            <a:off x="3193442" y="3649935"/>
            <a:ext cx="539234" cy="43060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4" idx="2"/>
            <a:endCxn id="17" idx="0"/>
          </p:cNvCxnSpPr>
          <p:nvPr/>
        </p:nvCxnSpPr>
        <p:spPr>
          <a:xfrm rot="16200000" flipH="1">
            <a:off x="7293175" y="3856287"/>
            <a:ext cx="539234" cy="389338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4" idx="2"/>
            <a:endCxn id="13" idx="0"/>
          </p:cNvCxnSpPr>
          <p:nvPr/>
        </p:nvCxnSpPr>
        <p:spPr>
          <a:xfrm rot="5400000">
            <a:off x="4020064" y="4476557"/>
            <a:ext cx="539234" cy="265284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4" idx="2"/>
            <a:endCxn id="16" idx="0"/>
          </p:cNvCxnSpPr>
          <p:nvPr/>
        </p:nvCxnSpPr>
        <p:spPr>
          <a:xfrm rot="16200000" flipH="1">
            <a:off x="6481957" y="4667506"/>
            <a:ext cx="539234" cy="2270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4" idx="2"/>
            <a:endCxn id="14" idx="0"/>
          </p:cNvCxnSpPr>
          <p:nvPr/>
        </p:nvCxnSpPr>
        <p:spPr>
          <a:xfrm rot="5400000">
            <a:off x="4847023" y="5303516"/>
            <a:ext cx="539234" cy="9989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4" idx="2"/>
            <a:endCxn id="15" idx="0"/>
          </p:cNvCxnSpPr>
          <p:nvPr/>
        </p:nvCxnSpPr>
        <p:spPr>
          <a:xfrm rot="16200000" flipH="1">
            <a:off x="5663375" y="5486088"/>
            <a:ext cx="539234" cy="6337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380</a:t>
            </a:fld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8B229A-8C5F-4831-86A0-2B7272D510B1}"/>
              </a:ext>
            </a:extLst>
          </p:cNvPr>
          <p:cNvSpPr txBox="1"/>
          <p:nvPr/>
        </p:nvSpPr>
        <p:spPr>
          <a:xfrm>
            <a:off x="10428769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징벌적 손해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8</a:t>
            </a:r>
            <a:r>
              <a:rPr lang="ko-KR" altLang="en-US" sz="1600" dirty="0"/>
              <a:t>항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9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889ECD0-B0B1-4E2D-B6D6-60156A4A0FD7}"/>
              </a:ext>
            </a:extLst>
          </p:cNvPr>
          <p:cNvCxnSpPr>
            <a:stCxn id="4" idx="2"/>
            <a:endCxn id="24" idx="0"/>
          </p:cNvCxnSpPr>
          <p:nvPr/>
        </p:nvCxnSpPr>
        <p:spPr>
          <a:xfrm rot="16200000" flipH="1">
            <a:off x="8119920" y="3029542"/>
            <a:ext cx="539234" cy="55468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231520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손해배상청구권 中 소극적 손해</a:t>
            </a:r>
          </a:p>
        </p:txBody>
      </p:sp>
      <p:cxnSp>
        <p:nvCxnSpPr>
          <p:cNvPr id="95" name="직선 연결선 94"/>
          <p:cNvCxnSpPr/>
          <p:nvPr/>
        </p:nvCxnSpPr>
        <p:spPr>
          <a:xfrm>
            <a:off x="-36242" y="197817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소극적 손해로는 </a:t>
            </a:r>
            <a:r>
              <a:rPr lang="en-US" altLang="ko-KR" sz="1400" dirty="0"/>
              <a:t>ⅰ) </a:t>
            </a:r>
            <a:r>
              <a:rPr lang="ko-KR" altLang="en-US" sz="1400" dirty="0"/>
              <a:t>특허권자의 매상감소</a:t>
            </a:r>
            <a:r>
              <a:rPr lang="en-US" altLang="ko-KR" sz="1400" dirty="0"/>
              <a:t>, ⅱ) </a:t>
            </a:r>
            <a:r>
              <a:rPr lang="ko-KR" altLang="en-US" sz="1400" dirty="0"/>
              <a:t>특허제품의 가격하락 또는 </a:t>
            </a:r>
            <a:r>
              <a:rPr lang="en-US" altLang="ko-KR" sz="1400" dirty="0"/>
              <a:t>ⅲ) </a:t>
            </a:r>
            <a:r>
              <a:rPr lang="ko-KR" altLang="en-US" sz="1400" dirty="0" err="1"/>
              <a:t>실시료</a:t>
            </a:r>
            <a:r>
              <a:rPr lang="ko-KR" altLang="en-US" sz="1400" dirty="0"/>
              <a:t> 수입의 감소가 있을 수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침해행위에 의해서만 발생한 것이라는 인과관계의 증명은 통상적으로 다음과 같이 상당히 어렵다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손해배상청구의 실효성 확보를 위해 인과관계를 증명하지 않더라도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매상감소에 의한 일실이익에 관해서는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128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호 및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항에서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실시료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수입의 감소에 대해서는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128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호 및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5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항에서 별도의 규정에 의하고 있</a:t>
            </a:r>
            <a:r>
              <a:rPr lang="ko-KR" altLang="en-US" sz="1400" dirty="0"/>
              <a:t>다</a:t>
            </a:r>
            <a:r>
              <a:rPr lang="en-US" altLang="ko-KR" sz="1400" dirty="0"/>
              <a:t>. </a:t>
            </a:r>
            <a:r>
              <a:rPr lang="ko-KR" altLang="en-US" sz="1400" dirty="0"/>
              <a:t>한편</a:t>
            </a:r>
            <a:r>
              <a:rPr lang="en-US" altLang="ko-KR" sz="1400" dirty="0"/>
              <a:t>, </a:t>
            </a:r>
            <a:r>
              <a:rPr lang="ko-KR" altLang="en-US" sz="1400" dirty="0"/>
              <a:t>그 외의 적극적 손해</a:t>
            </a:r>
            <a:r>
              <a:rPr lang="en-US" altLang="ko-KR" sz="1400" dirty="0"/>
              <a:t>, </a:t>
            </a:r>
            <a:r>
              <a:rPr lang="ko-KR" altLang="en-US" sz="1400" dirty="0"/>
              <a:t>정신적 손해</a:t>
            </a:r>
            <a:r>
              <a:rPr lang="en-US" altLang="ko-KR" sz="1400" dirty="0"/>
              <a:t>, </a:t>
            </a:r>
            <a:r>
              <a:rPr lang="ko-KR" altLang="en-US" sz="1400" dirty="0"/>
              <a:t>제품가격 인하로 인한 일실이익 등의 손해에 대한 손해배상청구는 제</a:t>
            </a:r>
            <a:r>
              <a:rPr lang="en-US" altLang="ko-KR" sz="1400" dirty="0"/>
              <a:t>128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일반적인 손해배상의 법리에 의한다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261039"/>
              </p:ext>
            </p:extLst>
          </p:nvPr>
        </p:nvGraphicFramePr>
        <p:xfrm>
          <a:off x="470780" y="2961926"/>
          <a:ext cx="11190084" cy="285466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882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9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7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1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소극적 손해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계산식</a:t>
                      </a:r>
                      <a:endParaRPr lang="ko-KR" alt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비고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8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매상감소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감소된 판매수량</a:t>
                      </a:r>
                      <a:r>
                        <a:rPr lang="en-US" altLang="ko-KR" sz="1400" kern="1200" dirty="0"/>
                        <a:t>×</a:t>
                      </a:r>
                      <a:r>
                        <a:rPr lang="ko-KR" altLang="en-US" sz="1400" kern="1200" dirty="0" err="1"/>
                        <a:t>특허권자</a:t>
                      </a:r>
                      <a:r>
                        <a:rPr lang="ko-KR" altLang="en-US" sz="1400" kern="1200" dirty="0"/>
                        <a:t> 제품의 단위수량당 </a:t>
                      </a:r>
                      <a:r>
                        <a:rPr lang="ko-KR" altLang="en-US" sz="1400" kern="1200" dirty="0" err="1"/>
                        <a:t>이익액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감소된 판매수량이 침해자 때문이라는 것을 증명해야 함</a:t>
                      </a:r>
                      <a:endParaRPr lang="en-US" altLang="ko-KR" sz="1400" kern="1200" dirty="0"/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침해외의 사유로 감소된 수량의 경우 손해액에서 제외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8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제품가격 인하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 err="1"/>
                        <a:t>원가격</a:t>
                      </a:r>
                      <a:r>
                        <a:rPr lang="en-US" altLang="ko-KR" sz="1400" kern="1200" dirty="0"/>
                        <a:t>-</a:t>
                      </a:r>
                      <a:r>
                        <a:rPr lang="ko-KR" altLang="en-US" sz="1400" kern="1200" dirty="0"/>
                        <a:t>인하된 가격</a:t>
                      </a:r>
                      <a:r>
                        <a:rPr lang="en-US" altLang="ko-KR" sz="1400" kern="1200" dirty="0"/>
                        <a:t>)×</a:t>
                      </a:r>
                      <a:r>
                        <a:rPr lang="ko-KR" altLang="en-US" sz="1400" kern="1200" dirty="0"/>
                        <a:t>판매수량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가격 인하가 영업상의 문제가 아니라 침해자 때문이라는 것을 증명해야 함</a:t>
                      </a:r>
                      <a:endParaRPr lang="en-US" altLang="ko-KR" sz="1400" kern="1200" dirty="0"/>
                    </a:p>
                    <a:p>
                      <a:pPr marL="31750" marR="3175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침해외의 사유로 가격 인하된 경우 손해액에서 제외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0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실시료</a:t>
                      </a:r>
                      <a:r>
                        <a:rPr lang="ko-KR" altLang="en-US" sz="1400" kern="1200" dirty="0"/>
                        <a:t> 수입의 감소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침해품</a:t>
                      </a:r>
                      <a:r>
                        <a:rPr lang="ko-KR" altLang="en-US" sz="1400" kern="1200" dirty="0"/>
                        <a:t> 판매수량</a:t>
                      </a:r>
                      <a:r>
                        <a:rPr lang="en-US" altLang="ko-KR" sz="1400" kern="1200" dirty="0"/>
                        <a:t>×</a:t>
                      </a:r>
                      <a:r>
                        <a:rPr lang="ko-KR" altLang="en-US" sz="1400" kern="1200" dirty="0" err="1"/>
                        <a:t>실시권자</a:t>
                      </a:r>
                      <a:r>
                        <a:rPr lang="ko-KR" altLang="en-US" sz="1400" kern="1200" dirty="0"/>
                        <a:t> 판매가격</a:t>
                      </a:r>
                      <a:r>
                        <a:rPr lang="en-US" altLang="ko-KR" sz="1400" kern="1200" dirty="0"/>
                        <a:t>×</a:t>
                      </a:r>
                      <a:r>
                        <a:rPr lang="ko-KR" altLang="en-US" sz="1400" kern="1200" dirty="0" err="1"/>
                        <a:t>약정실시료율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침해자 때문에 </a:t>
                      </a:r>
                      <a:r>
                        <a:rPr lang="ko-KR" altLang="en-US" sz="1400" kern="1200" dirty="0" err="1"/>
                        <a:t>침해품</a:t>
                      </a:r>
                      <a:r>
                        <a:rPr lang="ko-KR" altLang="en-US" sz="1400" kern="1200" dirty="0"/>
                        <a:t> 판매수량만큼 </a:t>
                      </a:r>
                      <a:r>
                        <a:rPr lang="ko-KR" altLang="en-US" sz="1400" kern="1200" dirty="0" err="1"/>
                        <a:t>실시권자가</a:t>
                      </a:r>
                      <a:r>
                        <a:rPr lang="ko-KR" altLang="en-US" sz="1400" kern="1200" dirty="0"/>
                        <a:t> 판매하지 못하였음을 증명해야 함</a:t>
                      </a:r>
                      <a:endParaRPr lang="en-US" altLang="ko-KR" sz="1400" kern="1200" dirty="0"/>
                    </a:p>
                    <a:p>
                      <a:pPr marL="31750" marR="3175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침해외의 사유로 </a:t>
                      </a:r>
                      <a:r>
                        <a:rPr lang="ko-KR" altLang="en-US" sz="140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실시권자가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판매하지 못한 경우 손해액에서 제외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454105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 내지 제</a:t>
            </a:r>
            <a:r>
              <a:rPr lang="en-US" altLang="ko-KR" dirty="0"/>
              <a:t>9</a:t>
            </a:r>
            <a:r>
              <a:rPr lang="ko-KR" altLang="en-US" dirty="0"/>
              <a:t>항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382</a:t>
            </a:fld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C91326A-0C91-4EE7-A42D-EB6B5AAC5C31}"/>
              </a:ext>
            </a:extLst>
          </p:cNvPr>
          <p:cNvSpPr/>
          <p:nvPr/>
        </p:nvSpPr>
        <p:spPr>
          <a:xfrm>
            <a:off x="378217" y="1211327"/>
            <a:ext cx="1117208" cy="105063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손해액의</a:t>
            </a:r>
            <a:endParaRPr lang="en-US" altLang="ko-KR" sz="14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산정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42C89F-1BF6-4127-B6BA-8F6AAE8305D8}"/>
              </a:ext>
            </a:extLst>
          </p:cNvPr>
          <p:cNvSpPr/>
          <p:nvPr/>
        </p:nvSpPr>
        <p:spPr>
          <a:xfrm>
            <a:off x="1819275" y="1250702"/>
            <a:ext cx="10020301" cy="6001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31750" fontAlgn="base"/>
            <a:r>
              <a:rPr lang="ko-KR" altLang="en-US" sz="1100" dirty="0">
                <a:solidFill>
                  <a:srgbClr val="FF0000"/>
                </a:solidFill>
              </a:rPr>
              <a:t>손해액 </a:t>
            </a:r>
            <a:r>
              <a:rPr lang="en-US" altLang="ko-KR" sz="1100" dirty="0">
                <a:solidFill>
                  <a:srgbClr val="FF0000"/>
                </a:solidFill>
              </a:rPr>
              <a:t>1: </a:t>
            </a:r>
            <a:r>
              <a:rPr lang="ko-KR" altLang="en-US" sz="1100" dirty="0">
                <a:solidFill>
                  <a:srgbClr val="FF0000"/>
                </a:solidFill>
              </a:rPr>
              <a:t>그 물건의 양도수량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특허권자 또는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00" dirty="0">
                <a:solidFill>
                  <a:srgbClr val="FF0000"/>
                </a:solidFill>
              </a:rPr>
              <a:t> 그 침해행위 외의 사유로 판매할 수 없었던 사정이 있는 경우에는 그 침해행위 외의 사유로 판매할 수 없었던 수량을 뺀 수량</a:t>
            </a:r>
            <a:r>
              <a:rPr lang="en-US" altLang="ko-KR" sz="1100" dirty="0">
                <a:solidFill>
                  <a:srgbClr val="FF0000"/>
                </a:solidFill>
              </a:rPr>
              <a:t>) </a:t>
            </a:r>
            <a:r>
              <a:rPr lang="ko-KR" altLang="en-US" sz="1100" dirty="0">
                <a:solidFill>
                  <a:srgbClr val="FF0000"/>
                </a:solidFill>
              </a:rPr>
              <a:t>중 특허권자 또는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00" dirty="0">
                <a:solidFill>
                  <a:srgbClr val="FF0000"/>
                </a:solidFill>
              </a:rPr>
              <a:t> 생산할 수 있었던 물건의 수량에서 실제 판매한 물건의 수량을 뺀 수량을 넘지 않는 수량에 특허권자 또는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00" dirty="0">
                <a:solidFill>
                  <a:srgbClr val="FF0000"/>
                </a:solidFill>
              </a:rPr>
              <a:t> 그 침해행위가 없었다면 판매할 수 있었던 물건의 단위수량당 이익액을 곱한 금액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128②Ⅰ)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3D51DA-952E-4347-AE10-B044FF23E4D8}"/>
              </a:ext>
            </a:extLst>
          </p:cNvPr>
          <p:cNvSpPr/>
          <p:nvPr/>
        </p:nvSpPr>
        <p:spPr>
          <a:xfrm>
            <a:off x="1819275" y="1909483"/>
            <a:ext cx="100203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en-US" altLang="ko-KR" sz="1100" dirty="0"/>
              <a:t>ⅰ) </a:t>
            </a:r>
            <a:r>
              <a:rPr lang="ko-KR" altLang="en-US" sz="1100" dirty="0"/>
              <a:t>특허권자 생산능력 범위내에서 침해자의 양도수량을 특허권자의 판매 감소량으로 간주할 수 있게 되었다는 점</a:t>
            </a:r>
            <a:r>
              <a:rPr lang="en-US" altLang="ko-KR" sz="1100" dirty="0"/>
              <a:t>, ⅱ) </a:t>
            </a:r>
            <a:r>
              <a:rPr lang="ko-KR" altLang="en-US" sz="1100" dirty="0"/>
              <a:t>특허권자 등이 침해자의 양도수량만 확인하면 침해자의 단위수량당 이익액을 알 수 없다고 하더라도 특허권자 등의 단위수량당 이익액을 이용할 수 있으므로 계산이 용이하다는 점에서 의미가 있음</a:t>
            </a:r>
            <a:endParaRPr lang="en-US" altLang="ko-KR" sz="1100" dirty="0"/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단위수량당 이익액은 한계 이익</a:t>
            </a:r>
            <a:r>
              <a:rPr lang="en-US" altLang="ko-KR" sz="1100" dirty="0"/>
              <a:t>(</a:t>
            </a:r>
            <a:r>
              <a:rPr lang="ko-KR" altLang="en-US" sz="1100" dirty="0"/>
              <a:t>매출액</a:t>
            </a:r>
            <a:r>
              <a:rPr lang="en-US" altLang="ko-KR" sz="1100" dirty="0"/>
              <a:t>-</a:t>
            </a:r>
            <a:r>
              <a:rPr lang="ko-KR" altLang="en-US" sz="1100" dirty="0"/>
              <a:t>변동경비</a:t>
            </a:r>
            <a:r>
              <a:rPr lang="en-US" altLang="ko-KR" sz="1100" dirty="0"/>
              <a:t>)(2005</a:t>
            </a:r>
            <a:r>
              <a:rPr lang="ko-KR" altLang="en-US" sz="1100" dirty="0"/>
              <a:t>다</a:t>
            </a:r>
            <a:r>
              <a:rPr lang="en-US" altLang="ko-KR" sz="1100" dirty="0"/>
              <a:t>36830) 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특허권자 또는 </a:t>
            </a:r>
            <a:r>
              <a:rPr lang="ko-KR" altLang="en-US" sz="1100" dirty="0" err="1"/>
              <a:t>전용실시권자가</a:t>
            </a:r>
            <a:r>
              <a:rPr lang="ko-KR" altLang="en-US" sz="1100" dirty="0"/>
              <a:t> 침해행위 외의 사유로 판매할 수 없었던 사정이 있다는 것을 침해자가 증명하면 양도수량 중 그 침해행위 외의 사유로 판매할 수 없었던 수량은 빼야 함</a:t>
            </a:r>
            <a:endParaRPr lang="en-US" altLang="ko-KR" sz="1100" dirty="0"/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침해행위 외의 사유로 판매할 수 없었던 사정이란 침해자의 시장개발 노력</a:t>
            </a:r>
            <a:r>
              <a:rPr lang="en-US" altLang="ko-KR" sz="1100" dirty="0"/>
              <a:t>, </a:t>
            </a:r>
            <a:r>
              <a:rPr lang="ko-KR" altLang="en-US" sz="1100" dirty="0"/>
              <a:t>판매망</a:t>
            </a:r>
            <a:r>
              <a:rPr lang="en-US" altLang="ko-KR" sz="1100" dirty="0"/>
              <a:t>, </a:t>
            </a:r>
            <a:r>
              <a:rPr lang="ko-KR" altLang="en-US" sz="1100" dirty="0"/>
              <a:t>침해자의 상표</a:t>
            </a:r>
            <a:r>
              <a:rPr lang="en-US" altLang="ko-KR" sz="1100" dirty="0"/>
              <a:t>, </a:t>
            </a:r>
            <a:r>
              <a:rPr lang="ko-KR" altLang="en-US" sz="1100" dirty="0"/>
              <a:t>광고</a:t>
            </a:r>
            <a:r>
              <a:rPr lang="en-US" altLang="ko-KR" sz="1100" dirty="0"/>
              <a:t>․</a:t>
            </a:r>
            <a:r>
              <a:rPr lang="ko-KR" altLang="en-US" sz="1100" dirty="0"/>
              <a:t>선전</a:t>
            </a:r>
            <a:r>
              <a:rPr lang="en-US" altLang="ko-KR" sz="1100" dirty="0"/>
              <a:t>, </a:t>
            </a:r>
            <a:r>
              <a:rPr lang="ko-KR" altLang="en-US" sz="1100" dirty="0"/>
              <a:t>침해제품의 품질의 우수성 등으로 인하여 디자인권의 침해와 무관한 판매수량이 있는 경우를 말하는 것으로서</a:t>
            </a:r>
            <a:r>
              <a:rPr lang="en-US" altLang="ko-KR" sz="1100" dirty="0"/>
              <a:t>, </a:t>
            </a:r>
            <a:r>
              <a:rPr lang="ko-KR" altLang="en-US" sz="1100" dirty="0"/>
              <a:t>디자인권을 침해하지 않으면서 </a:t>
            </a:r>
            <a:r>
              <a:rPr lang="ko-KR" altLang="en-US" sz="1100" dirty="0" err="1"/>
              <a:t>디자인권자의</a:t>
            </a:r>
            <a:r>
              <a:rPr lang="ko-KR" altLang="en-US" sz="1100" dirty="0"/>
              <a:t> 제품과 시장에서 경쟁하는 경합제품이 있다는 사정이나 침해제품에 실용신안권이 실시되고 있다는 사정 등을 말함</a:t>
            </a:r>
            <a:r>
              <a:rPr lang="en-US" altLang="ko-KR" sz="1100" dirty="0"/>
              <a:t>(2005</a:t>
            </a:r>
            <a:r>
              <a:rPr lang="ko-KR" altLang="en-US" sz="1100" dirty="0"/>
              <a:t>다</a:t>
            </a:r>
            <a:r>
              <a:rPr lang="en-US" altLang="ko-KR" sz="1100" dirty="0"/>
              <a:t>36830). </a:t>
            </a:r>
          </a:p>
          <a:p>
            <a:pPr marL="171450" indent="-171450" algn="just">
              <a:buFontTx/>
              <a:buChar char="-"/>
            </a:pPr>
            <a:endParaRPr lang="en-US" altLang="ko-KR" sz="11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FF1CC4-F2E4-43B2-8A2F-8C840A423975}"/>
              </a:ext>
            </a:extLst>
          </p:cNvPr>
          <p:cNvSpPr/>
          <p:nvPr/>
        </p:nvSpPr>
        <p:spPr>
          <a:xfrm>
            <a:off x="1819275" y="3330798"/>
            <a:ext cx="10020301" cy="7694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31750" fontAlgn="base"/>
            <a:r>
              <a:rPr lang="ko-KR" altLang="en-US" sz="1100" dirty="0">
                <a:solidFill>
                  <a:srgbClr val="FF0000"/>
                </a:solidFill>
              </a:rPr>
              <a:t>손해액 </a:t>
            </a:r>
            <a:r>
              <a:rPr lang="en-US" altLang="ko-KR" sz="1100" dirty="0">
                <a:solidFill>
                  <a:srgbClr val="FF0000"/>
                </a:solidFill>
              </a:rPr>
              <a:t>2: </a:t>
            </a:r>
            <a:r>
              <a:rPr lang="ko-KR" altLang="en-US" sz="1100" dirty="0">
                <a:solidFill>
                  <a:srgbClr val="FF0000"/>
                </a:solidFill>
              </a:rPr>
              <a:t>그 물건의 양도수량 중 특허권자 또는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00" dirty="0">
                <a:solidFill>
                  <a:srgbClr val="FF0000"/>
                </a:solidFill>
              </a:rPr>
              <a:t> 생산할 수 있었던 물건의 수량에서 실제 판매한 물건의 수량을 뺀 수량을 넘는 수량 또는 그 침해행위 외의 사유로 판매할 수 없었던 수량이 있는 경우 이들 수량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특허권자 또는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00" dirty="0">
                <a:solidFill>
                  <a:srgbClr val="FF0000"/>
                </a:solidFill>
              </a:rPr>
              <a:t> 그 특허권자의 특허권에 대한 전용실시권의 설정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통상실시권의 허락 또는 그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전용실시권자의</a:t>
            </a:r>
            <a:r>
              <a:rPr lang="ko-KR" altLang="en-US" sz="1100" dirty="0">
                <a:solidFill>
                  <a:srgbClr val="FF0000"/>
                </a:solidFill>
              </a:rPr>
              <a:t> 전용실시권에 대한 통상실시권의 허락을 할 수 있었다고 인정되지 않는 경우에는 해당 수량을 뺀 수량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r>
              <a:rPr lang="ko-KR" altLang="en-US" sz="1100" dirty="0">
                <a:solidFill>
                  <a:srgbClr val="FF0000"/>
                </a:solidFill>
              </a:rPr>
              <a:t>에 대해서는 특허발명의 실시에 대하여 합리적으로 받을 수 있는 금액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128②Ⅱ)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B1CE902-1182-438C-9EE7-F0A4CC87C53A}"/>
              </a:ext>
            </a:extLst>
          </p:cNvPr>
          <p:cNvSpPr/>
          <p:nvPr/>
        </p:nvSpPr>
        <p:spPr>
          <a:xfrm>
            <a:off x="378217" y="5437866"/>
            <a:ext cx="1117208" cy="105063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손해액의</a:t>
            </a:r>
            <a:endParaRPr lang="en-US" altLang="ko-KR" sz="14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추정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65785C2-68B9-4E9B-ADCF-15CF91A5B9F1}"/>
              </a:ext>
            </a:extLst>
          </p:cNvPr>
          <p:cNvSpPr/>
          <p:nvPr/>
        </p:nvSpPr>
        <p:spPr>
          <a:xfrm>
            <a:off x="1819275" y="5103624"/>
            <a:ext cx="10020301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15570" marR="31750" indent="-115570" fontAlgn="base"/>
            <a:r>
              <a:rPr lang="ko-KR" altLang="en-US" sz="1100" dirty="0">
                <a:solidFill>
                  <a:srgbClr val="FF0000"/>
                </a:solidFill>
              </a:rPr>
              <a:t>손해액의 추정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128④): </a:t>
            </a:r>
            <a:r>
              <a:rPr lang="ko-KR" altLang="en-US" sz="1100" dirty="0">
                <a:solidFill>
                  <a:srgbClr val="FF0000"/>
                </a:solidFill>
              </a:rPr>
              <a:t>침해행위로 인한 </a:t>
            </a:r>
            <a:r>
              <a:rPr lang="ko-KR" altLang="en-US" sz="1100" dirty="0" err="1">
                <a:solidFill>
                  <a:srgbClr val="FF0000"/>
                </a:solidFill>
              </a:rPr>
              <a:t>이익액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88D18C-E0B3-4012-A2D2-42919E23791D}"/>
              </a:ext>
            </a:extLst>
          </p:cNvPr>
          <p:cNvSpPr/>
          <p:nvPr/>
        </p:nvSpPr>
        <p:spPr>
          <a:xfrm>
            <a:off x="1819275" y="5379258"/>
            <a:ext cx="100203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ko-KR" altLang="en-US" sz="1200" dirty="0"/>
              <a:t>침해자의 단위수량당 이익액이 특허권자 등의 단위수량당 이익액보다 더 높을 때 원용됨</a:t>
            </a:r>
          </a:p>
          <a:p>
            <a:pPr marL="171450" indent="-171450" algn="just">
              <a:buFontTx/>
              <a:buChar char="-"/>
            </a:pPr>
            <a:r>
              <a:rPr lang="ko-KR" altLang="en-US" sz="1200" dirty="0"/>
              <a:t>침해행위로 인한 이익액은 한계 이익</a:t>
            </a:r>
            <a:r>
              <a:rPr lang="en-US" altLang="ko-KR" sz="1200" dirty="0"/>
              <a:t>(</a:t>
            </a:r>
            <a:r>
              <a:rPr lang="ko-KR" altLang="en-US" sz="1200" dirty="0"/>
              <a:t>매출액</a:t>
            </a:r>
            <a:r>
              <a:rPr lang="en-US" altLang="ko-KR" sz="1200" dirty="0"/>
              <a:t>-</a:t>
            </a:r>
            <a:r>
              <a:rPr lang="ko-KR" altLang="en-US" sz="1200" dirty="0"/>
              <a:t>변동경비</a:t>
            </a:r>
            <a:r>
              <a:rPr lang="en-US" altLang="ko-KR" sz="1200" dirty="0"/>
              <a:t>)(2002</a:t>
            </a:r>
            <a:r>
              <a:rPr lang="ko-KR" altLang="en-US" sz="1200" dirty="0"/>
              <a:t>가합</a:t>
            </a:r>
            <a:r>
              <a:rPr lang="en-US" altLang="ko-KR" sz="1200" dirty="0"/>
              <a:t>30683</a:t>
            </a:r>
            <a:r>
              <a:rPr lang="ko-KR" altLang="en-US" sz="1200" dirty="0"/>
              <a:t>호</a:t>
            </a:r>
            <a:r>
              <a:rPr lang="en-US" altLang="ko-KR" sz="1200" dirty="0"/>
              <a:t>) </a:t>
            </a:r>
          </a:p>
          <a:p>
            <a:pPr marL="171450" indent="-171450" algn="just">
              <a:buFontTx/>
              <a:buChar char="-"/>
            </a:pPr>
            <a:r>
              <a:rPr lang="ko-KR" altLang="en-US" sz="1200" dirty="0"/>
              <a:t>손해는 “매상감소에 의한 일실이익</a:t>
            </a:r>
            <a:r>
              <a:rPr lang="en-US" altLang="ko-KR" sz="1200" dirty="0"/>
              <a:t>(</a:t>
            </a:r>
            <a:r>
              <a:rPr lang="ko-KR" altLang="en-US" sz="1200" dirty="0"/>
              <a:t>逸失利益</a:t>
            </a:r>
            <a:r>
              <a:rPr lang="en-US" altLang="ko-KR" sz="1200" dirty="0"/>
              <a:t>)”</a:t>
            </a:r>
            <a:r>
              <a:rPr lang="ko-KR" altLang="en-US" sz="1200" dirty="0"/>
              <a:t>이고 </a:t>
            </a:r>
            <a:r>
              <a:rPr lang="ko-KR" altLang="en-US" sz="1200" dirty="0">
                <a:solidFill>
                  <a:srgbClr val="FF0000"/>
                </a:solidFill>
              </a:rPr>
              <a:t>특허권자의 생산능력 범위 내에서 손해의 한도를 제한하는 것으로 해석되기 때문에 특허권자 또는 </a:t>
            </a:r>
            <a:r>
              <a:rPr lang="ko-KR" altLang="en-US" sz="12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200" dirty="0">
                <a:solidFill>
                  <a:srgbClr val="FF0000"/>
                </a:solidFill>
              </a:rPr>
              <a:t> 스스로 실시하고 있지 아니한 경우와 같이 특허권자의 생산능력이 없는 경우에는 </a:t>
            </a:r>
            <a:r>
              <a:rPr lang="ko-KR" altLang="en-US" sz="1200" dirty="0"/>
              <a:t>손해의 발생 자체를 </a:t>
            </a:r>
            <a:r>
              <a:rPr lang="ko-KR" altLang="en-US" sz="1200" dirty="0" err="1"/>
              <a:t>관념할</a:t>
            </a:r>
            <a:r>
              <a:rPr lang="ko-KR" altLang="en-US" sz="1200" dirty="0"/>
              <a:t> 수 없으므로 이 추정규정은 不적용</a:t>
            </a:r>
            <a:r>
              <a:rPr lang="en-US" altLang="ko-KR" sz="1200" dirty="0"/>
              <a:t>.</a:t>
            </a:r>
          </a:p>
          <a:p>
            <a:pPr algn="just"/>
            <a:r>
              <a:rPr lang="en-US" altLang="ko-KR" sz="1200" dirty="0">
                <a:solidFill>
                  <a:srgbClr val="FF0000"/>
                </a:solidFill>
              </a:rPr>
              <a:t>    [(</a:t>
            </a:r>
            <a:r>
              <a:rPr lang="ko-KR" altLang="en-US" sz="1200" dirty="0">
                <a:solidFill>
                  <a:srgbClr val="FF0000"/>
                </a:solidFill>
              </a:rPr>
              <a:t>침해자의 양도수량과 생산능력범위수량 중 작은 값</a:t>
            </a:r>
            <a:r>
              <a:rPr lang="en-US" altLang="ko-KR" sz="1200" dirty="0">
                <a:solidFill>
                  <a:srgbClr val="FF0000"/>
                </a:solidFill>
              </a:rPr>
              <a:t>) * </a:t>
            </a:r>
            <a:r>
              <a:rPr lang="ko-KR" altLang="en-US" sz="1200" dirty="0">
                <a:solidFill>
                  <a:srgbClr val="FF0000"/>
                </a:solidFill>
              </a:rPr>
              <a:t>침해자의 단위수량당 </a:t>
            </a:r>
            <a:r>
              <a:rPr lang="ko-KR" altLang="en-US" sz="1200" dirty="0" err="1">
                <a:solidFill>
                  <a:srgbClr val="FF0000"/>
                </a:solidFill>
              </a:rPr>
              <a:t>이익액</a:t>
            </a:r>
            <a:r>
              <a:rPr lang="en-US" altLang="ko-KR" sz="1200" dirty="0">
                <a:solidFill>
                  <a:srgbClr val="FF0000"/>
                </a:solidFill>
              </a:rPr>
              <a:t>]</a:t>
            </a:r>
          </a:p>
          <a:p>
            <a:pPr marL="171450" indent="-171450" algn="just">
              <a:buFontTx/>
              <a:buChar char="-"/>
            </a:pPr>
            <a:r>
              <a:rPr lang="ko-KR" altLang="en-US" sz="1200" dirty="0"/>
              <a:t>침해품의 일부가 특허의 침해인 경우 그 물건에서 침해된 특허가 차지하는 비중</a:t>
            </a:r>
            <a:r>
              <a:rPr lang="en-US" altLang="ko-KR" sz="1200" dirty="0"/>
              <a:t>, </a:t>
            </a:r>
            <a:r>
              <a:rPr lang="ko-KR" altLang="en-US" sz="1200" dirty="0"/>
              <a:t>즉 그 특허가 유발하는 구매동기의 정도를 기여율로 평가하여 물건 전체가 특허의 대상이 되는 경우에 산정되는 손해액에 위 기여율을 곱하여 계산되는 금액을 손해액으로 해야 한다는 견해가 </a:t>
            </a:r>
            <a:r>
              <a:rPr lang="ko-KR" altLang="en-US" sz="1200" dirty="0" err="1"/>
              <a:t>다수설</a:t>
            </a:r>
            <a:endParaRPr lang="ko-KR" altLang="en-US" sz="1200" dirty="0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E69CD35F-0481-41DC-A105-EB2E46BAD0DC}"/>
              </a:ext>
            </a:extLst>
          </p:cNvPr>
          <p:cNvCxnSpPr>
            <a:cxnSpLocks/>
            <a:stCxn id="8" idx="6"/>
            <a:endCxn id="14" idx="1"/>
          </p:cNvCxnSpPr>
          <p:nvPr/>
        </p:nvCxnSpPr>
        <p:spPr>
          <a:xfrm>
            <a:off x="1495425" y="1736642"/>
            <a:ext cx="323850" cy="19788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F6A4004F-EA60-465B-9737-EDD47EA4A998}"/>
              </a:ext>
            </a:extLst>
          </p:cNvPr>
          <p:cNvCxnSpPr>
            <a:cxnSpLocks/>
            <a:stCxn id="18" idx="6"/>
            <a:endCxn id="19" idx="1"/>
          </p:cNvCxnSpPr>
          <p:nvPr/>
        </p:nvCxnSpPr>
        <p:spPr>
          <a:xfrm flipV="1">
            <a:off x="1495425" y="5234429"/>
            <a:ext cx="323850" cy="72875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02A5921-CD6D-44A1-B184-50FCF9AE1D56}"/>
              </a:ext>
            </a:extLst>
          </p:cNvPr>
          <p:cNvSpPr/>
          <p:nvPr/>
        </p:nvSpPr>
        <p:spPr>
          <a:xfrm>
            <a:off x="1819275" y="945519"/>
            <a:ext cx="10020301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31750" fontAlgn="base"/>
            <a:r>
              <a:rPr lang="ko-KR" altLang="en-US" sz="1100" dirty="0">
                <a:solidFill>
                  <a:srgbClr val="FF0000"/>
                </a:solidFill>
              </a:rPr>
              <a:t>손해액 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과 손해액 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의 합계액을 손해액으로 산정가능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DD9CDD-44D4-4FD0-8E3A-BFF7347666B0}"/>
              </a:ext>
            </a:extLst>
          </p:cNvPr>
          <p:cNvSpPr/>
          <p:nvPr/>
        </p:nvSpPr>
        <p:spPr>
          <a:xfrm>
            <a:off x="1819275" y="4161795"/>
            <a:ext cx="100203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en-US" altLang="ko-KR" sz="1100" dirty="0"/>
              <a:t>ⅰ) </a:t>
            </a:r>
            <a:r>
              <a:rPr lang="ko-KR" altLang="en-US" sz="1100" dirty="0"/>
              <a:t>오늘날 특허권을 활용한 제품의 제조방식이 </a:t>
            </a:r>
            <a:r>
              <a:rPr lang="en-US" altLang="ko-KR" sz="1100" dirty="0"/>
              <a:t>OEM </a:t>
            </a:r>
            <a:r>
              <a:rPr lang="ko-KR" altLang="en-US" sz="1100" dirty="0"/>
              <a:t>등 다양한 방식으로 이루어지는 점</a:t>
            </a:r>
            <a:r>
              <a:rPr lang="en-US" altLang="ko-KR" sz="1100" dirty="0"/>
              <a:t>, ⅱ) </a:t>
            </a:r>
            <a:r>
              <a:rPr lang="ko-KR" altLang="en-US" sz="1100" dirty="0"/>
              <a:t>설령 생산을 하지 않더라도 특허권자는 수많은 제조업자에게 실시계약을 체결하여 실시할 가능성이 열려 있는 점 등 특허권의 특성을 고려하였을 때</a:t>
            </a:r>
            <a:r>
              <a:rPr lang="en-US" altLang="ko-KR" sz="1100" dirty="0"/>
              <a:t>, </a:t>
            </a:r>
            <a:r>
              <a:rPr lang="ko-KR" altLang="en-US" sz="1100" dirty="0"/>
              <a:t>침해자가 특허권자의 생산능력을 초과하여 취득한 이익을 응당 특허권자가 얻을 수 있었던 이익으로 볼 필요가 있음</a:t>
            </a:r>
            <a:endParaRPr lang="en-US" altLang="ko-KR" sz="1100" dirty="0"/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특허권자 또는 </a:t>
            </a:r>
            <a:r>
              <a:rPr lang="ko-KR" altLang="en-US" sz="1100" dirty="0" err="1"/>
              <a:t>전용실시권자가</a:t>
            </a:r>
            <a:r>
              <a:rPr lang="ko-KR" altLang="en-US" sz="1100" dirty="0"/>
              <a:t> 그 특허권자의 특허권에 대한 전용실시권의 설정</a:t>
            </a:r>
            <a:r>
              <a:rPr lang="en-US" altLang="ko-KR" sz="1100" dirty="0"/>
              <a:t>, </a:t>
            </a:r>
            <a:r>
              <a:rPr lang="ko-KR" altLang="en-US" sz="1100" dirty="0"/>
              <a:t>통상실시권의 허락 또는 그 </a:t>
            </a:r>
            <a:r>
              <a:rPr lang="ko-KR" altLang="en-US" sz="1100" dirty="0" err="1"/>
              <a:t>전용실시권자의</a:t>
            </a:r>
            <a:r>
              <a:rPr lang="ko-KR" altLang="en-US" sz="1100" dirty="0"/>
              <a:t> 전용실시권에 대한 통상실시권의 허락을 할 수 있었다고 인정되지 않는 것을 침해자가 증명하면 해당 수량은 초과수량에서 빼야 함</a:t>
            </a:r>
            <a:endParaRPr lang="en-US" altLang="ko-KR" sz="1100" dirty="0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DC31BA4-C1E4-4EE3-8938-47829CBC8BEA}"/>
              </a:ext>
            </a:extLst>
          </p:cNvPr>
          <p:cNvCxnSpPr>
            <a:cxnSpLocks/>
            <a:stCxn id="8" idx="6"/>
            <a:endCxn id="21" idx="1"/>
          </p:cNvCxnSpPr>
          <p:nvPr/>
        </p:nvCxnSpPr>
        <p:spPr>
          <a:xfrm flipV="1">
            <a:off x="1495425" y="1076324"/>
            <a:ext cx="323850" cy="66031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01E9604-35FE-43D7-BF5D-62500E393414}"/>
              </a:ext>
            </a:extLst>
          </p:cNvPr>
          <p:cNvCxnSpPr>
            <a:cxnSpLocks/>
            <a:stCxn id="8" idx="6"/>
            <a:endCxn id="9" idx="1"/>
          </p:cNvCxnSpPr>
          <p:nvPr/>
        </p:nvCxnSpPr>
        <p:spPr>
          <a:xfrm flipV="1">
            <a:off x="1495425" y="1550784"/>
            <a:ext cx="323850" cy="1858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662536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128</a:t>
            </a:r>
            <a:r>
              <a:rPr lang="ko-KR" altLang="en-US" dirty="0">
                <a:solidFill>
                  <a:srgbClr val="525252"/>
                </a:solidFill>
              </a:rPr>
              <a:t>조제</a:t>
            </a:r>
            <a:r>
              <a:rPr lang="en-US" altLang="ko-KR" dirty="0">
                <a:solidFill>
                  <a:srgbClr val="525252"/>
                </a:solidFill>
              </a:rPr>
              <a:t>2</a:t>
            </a:r>
            <a:r>
              <a:rPr lang="ko-KR" altLang="en-US" dirty="0">
                <a:solidFill>
                  <a:srgbClr val="525252"/>
                </a:solidFill>
              </a:rPr>
              <a:t>항 내지 제</a:t>
            </a:r>
            <a:r>
              <a:rPr lang="en-US" altLang="ko-KR" dirty="0">
                <a:solidFill>
                  <a:srgbClr val="525252"/>
                </a:solidFill>
              </a:rPr>
              <a:t>9</a:t>
            </a:r>
            <a:r>
              <a:rPr lang="ko-KR" altLang="en-US" dirty="0">
                <a:solidFill>
                  <a:srgbClr val="525252"/>
                </a:solidFill>
              </a:rPr>
              <a:t>항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383</a:t>
            </a:fld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C91326A-0C91-4EE7-A42D-EB6B5AAC5C31}"/>
              </a:ext>
            </a:extLst>
          </p:cNvPr>
          <p:cNvSpPr/>
          <p:nvPr/>
        </p:nvSpPr>
        <p:spPr>
          <a:xfrm>
            <a:off x="424480" y="1305531"/>
            <a:ext cx="1024682" cy="102468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손해액의</a:t>
            </a:r>
            <a:endParaRPr lang="en-US" altLang="ko-KR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의제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42C89F-1BF6-4127-B6BA-8F6AAE8305D8}"/>
              </a:ext>
            </a:extLst>
          </p:cNvPr>
          <p:cNvSpPr/>
          <p:nvPr/>
        </p:nvSpPr>
        <p:spPr>
          <a:xfrm>
            <a:off x="1819275" y="1129616"/>
            <a:ext cx="10020301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15570" marR="31750" indent="-115570" fontAlgn="base"/>
            <a:r>
              <a:rPr lang="ko-KR" altLang="en-US" sz="1100" dirty="0">
                <a:solidFill>
                  <a:srgbClr val="FF0000"/>
                </a:solidFill>
              </a:rPr>
              <a:t>손해액의 의제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128⑤): </a:t>
            </a:r>
            <a:r>
              <a:rPr lang="ko-KR" altLang="en-US" sz="1100" dirty="0">
                <a:solidFill>
                  <a:srgbClr val="FF0000"/>
                </a:solidFill>
              </a:rPr>
              <a:t>실시에 대하여 합리적으로 받을 수 있는 금액에 상당하는 액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3D51DA-952E-4347-AE10-B044FF23E4D8}"/>
              </a:ext>
            </a:extLst>
          </p:cNvPr>
          <p:cNvSpPr/>
          <p:nvPr/>
        </p:nvSpPr>
        <p:spPr>
          <a:xfrm>
            <a:off x="1819275" y="1474258"/>
            <a:ext cx="100203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ko-KR" altLang="en-US" sz="1100" dirty="0"/>
              <a:t>특허권의 침해가 있는 경우 그로 인해 특허권자가 별도로 실시 계약을 체결할 수 있는 기회를 상실하게 되어 실시에 대하여 합리적으로 받을 수 있는 금액에 상당하는 액의 손해를 입게 되기 때문에 그러한 금액을 손해액으로 인정한 것으로서</a:t>
            </a:r>
            <a:r>
              <a:rPr lang="en-US" altLang="ko-KR" sz="1100" dirty="0"/>
              <a:t>, </a:t>
            </a:r>
            <a:r>
              <a:rPr lang="ko-KR" altLang="en-US" sz="1100" dirty="0"/>
              <a:t>「손해의 </a:t>
            </a:r>
            <a:r>
              <a:rPr lang="ko-KR" altLang="en-US" sz="1100" dirty="0" err="1"/>
              <a:t>하한액」을</a:t>
            </a:r>
            <a:r>
              <a:rPr lang="ko-KR" altLang="en-US" sz="1100" dirty="0"/>
              <a:t> 정함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이 규정은 특허권의 침해가 손해액의 추정 규정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128④)</a:t>
            </a:r>
            <a:r>
              <a:rPr lang="ko-KR" altLang="en-US" sz="1100" dirty="0"/>
              <a:t>과는 달리 특허권자가 특허발명을 실시하고 있지 않아 매상감소의 일실이익</a:t>
            </a:r>
            <a:r>
              <a:rPr lang="en-US" altLang="ko-KR" sz="1100" dirty="0"/>
              <a:t>(</a:t>
            </a:r>
            <a:r>
              <a:rPr lang="ko-KR" altLang="en-US" sz="1100" dirty="0"/>
              <a:t>逸失利益</a:t>
            </a:r>
            <a:r>
              <a:rPr lang="en-US" altLang="ko-KR" sz="1100" dirty="0"/>
              <a:t>)</a:t>
            </a:r>
            <a:r>
              <a:rPr lang="ko-KR" altLang="en-US" sz="1100" dirty="0"/>
              <a:t>이 없는 경우에도 적용된다는 점에 그 의의가 있다</a:t>
            </a:r>
            <a:r>
              <a:rPr lang="en-US" altLang="ko-KR" sz="1100" dirty="0"/>
              <a:t>. </a:t>
            </a:r>
            <a:r>
              <a:rPr lang="ko-KR" altLang="en-US" sz="1100" dirty="0"/>
              <a:t>특허권자는 손해발생에 대하여 </a:t>
            </a:r>
            <a:r>
              <a:rPr lang="ko-KR" altLang="en-US" sz="1100" dirty="0" err="1"/>
              <a:t>주장ㆍ증명을</a:t>
            </a:r>
            <a:r>
              <a:rPr lang="ko-KR" altLang="en-US" sz="1100" dirty="0"/>
              <a:t> 할 필요가 없고</a:t>
            </a:r>
            <a:r>
              <a:rPr lang="en-US" altLang="ko-KR" sz="1100" dirty="0"/>
              <a:t>, </a:t>
            </a:r>
            <a:r>
              <a:rPr lang="ko-KR" altLang="en-US" sz="1100" dirty="0"/>
              <a:t>권리침해사실과 실시에 대하여 합리적으로 받을 수 있는 금액에 상당하는 액을 </a:t>
            </a:r>
            <a:r>
              <a:rPr lang="ko-KR" altLang="en-US" sz="1100" dirty="0" err="1"/>
              <a:t>주장ㆍ증명하면</a:t>
            </a:r>
            <a:r>
              <a:rPr lang="ko-KR" altLang="en-US" sz="1100" dirty="0"/>
              <a:t> 된다</a:t>
            </a:r>
            <a:r>
              <a:rPr lang="en-US" altLang="ko-KR" sz="1100" dirty="0"/>
              <a:t>.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B1CE902-1182-438C-9EE7-F0A4CC87C53A}"/>
              </a:ext>
            </a:extLst>
          </p:cNvPr>
          <p:cNvSpPr/>
          <p:nvPr/>
        </p:nvSpPr>
        <p:spPr>
          <a:xfrm>
            <a:off x="424480" y="2683888"/>
            <a:ext cx="1024682" cy="1024682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손해액의</a:t>
            </a:r>
            <a:endParaRPr lang="en-US" altLang="ko-KR" sz="1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참작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65785C2-68B9-4E9B-ADCF-15CF91A5B9F1}"/>
              </a:ext>
            </a:extLst>
          </p:cNvPr>
          <p:cNvSpPr/>
          <p:nvPr/>
        </p:nvSpPr>
        <p:spPr>
          <a:xfrm>
            <a:off x="1819275" y="2509712"/>
            <a:ext cx="10020301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15570" marR="31750" indent="-115570" fontAlgn="base"/>
            <a:r>
              <a:rPr lang="ko-KR" altLang="en-US" sz="1100" dirty="0">
                <a:solidFill>
                  <a:srgbClr val="FF0000"/>
                </a:solidFill>
              </a:rPr>
              <a:t>손해액의 참작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128⑥): </a:t>
            </a:r>
            <a:r>
              <a:rPr lang="ko-KR" altLang="en-US" sz="1100" dirty="0">
                <a:solidFill>
                  <a:srgbClr val="FF0000"/>
                </a:solidFill>
              </a:rPr>
              <a:t>손해액 의제 초과액에 대해서도 청구가능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 err="1">
                <a:solidFill>
                  <a:srgbClr val="FF0000"/>
                </a:solidFill>
              </a:rPr>
              <a:t>고의ㆍ중과실이</a:t>
            </a:r>
            <a:r>
              <a:rPr lang="ko-KR" altLang="en-US" sz="1100" dirty="0">
                <a:solidFill>
                  <a:srgbClr val="FF0000"/>
                </a:solidFill>
              </a:rPr>
              <a:t> 없으면 참작가능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88D18C-E0B3-4012-A2D2-42919E23791D}"/>
              </a:ext>
            </a:extLst>
          </p:cNvPr>
          <p:cNvSpPr/>
          <p:nvPr/>
        </p:nvSpPr>
        <p:spPr>
          <a:xfrm>
            <a:off x="1819275" y="2854354"/>
            <a:ext cx="10020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이 경우에도 실시에 대하여 합리적으로 받을 수 있는 금액에 상당하는 액보다 적은 금액까지 경감 不可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17551C8-7047-4E74-A4B3-3B5D84D32C43}"/>
              </a:ext>
            </a:extLst>
          </p:cNvPr>
          <p:cNvCxnSpPr>
            <a:stCxn id="8" idx="6"/>
            <a:endCxn id="9" idx="1"/>
          </p:cNvCxnSpPr>
          <p:nvPr/>
        </p:nvCxnSpPr>
        <p:spPr>
          <a:xfrm flipV="1">
            <a:off x="1449162" y="1260421"/>
            <a:ext cx="370113" cy="55745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F6A4004F-EA60-465B-9737-EDD47EA4A998}"/>
              </a:ext>
            </a:extLst>
          </p:cNvPr>
          <p:cNvCxnSpPr>
            <a:stCxn id="18" idx="6"/>
            <a:endCxn id="19" idx="1"/>
          </p:cNvCxnSpPr>
          <p:nvPr/>
        </p:nvCxnSpPr>
        <p:spPr>
          <a:xfrm flipV="1">
            <a:off x="1449162" y="2640517"/>
            <a:ext cx="370113" cy="5557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EB158D24-6397-4E82-A5F9-3CBCE50671D3}"/>
              </a:ext>
            </a:extLst>
          </p:cNvPr>
          <p:cNvSpPr/>
          <p:nvPr/>
        </p:nvSpPr>
        <p:spPr>
          <a:xfrm>
            <a:off x="424480" y="3916259"/>
            <a:ext cx="1024682" cy="102468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손해액의</a:t>
            </a:r>
            <a:endParaRPr lang="en-US" altLang="ko-KR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인정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09093DA-7B09-41F0-AD1B-88B62A150C8E}"/>
              </a:ext>
            </a:extLst>
          </p:cNvPr>
          <p:cNvSpPr/>
          <p:nvPr/>
        </p:nvSpPr>
        <p:spPr>
          <a:xfrm>
            <a:off x="1819275" y="3351558"/>
            <a:ext cx="10020301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15570" marR="31750" indent="-115570" fontAlgn="base"/>
            <a:r>
              <a:rPr lang="ko-KR" altLang="en-US" sz="1100" dirty="0">
                <a:solidFill>
                  <a:srgbClr val="FF0000"/>
                </a:solidFill>
              </a:rPr>
              <a:t>손해액의 인정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128⑦): </a:t>
            </a:r>
            <a:r>
              <a:rPr lang="ko-KR" altLang="en-US" sz="1100" dirty="0">
                <a:solidFill>
                  <a:srgbClr val="FF0000"/>
                </a:solidFill>
              </a:rPr>
              <a:t>변론 전체의 취지 및 증거조사의 결과에 기초하여 상당 손해액 인정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943EF4-306B-4F8B-8A8D-BA97E9954C09}"/>
              </a:ext>
            </a:extLst>
          </p:cNvPr>
          <p:cNvSpPr/>
          <p:nvPr/>
        </p:nvSpPr>
        <p:spPr>
          <a:xfrm>
            <a:off x="1819275" y="3696200"/>
            <a:ext cx="100203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이는 </a:t>
            </a:r>
            <a:r>
              <a:rPr lang="ko-KR" altLang="en-US" sz="1100" dirty="0" err="1"/>
              <a:t>자유심증주의하에서</a:t>
            </a:r>
            <a:r>
              <a:rPr lang="ko-KR" altLang="en-US" sz="1100" dirty="0"/>
              <a:t> 손해가 발생된 것은 인정되나 손해액을 증명하기 위하여 필요한 사실을 증명하는 것이 해당 사실의 성질상 극히 곤란한 경우에는 </a:t>
            </a:r>
            <a:r>
              <a:rPr lang="ko-KR" altLang="en-US" sz="1100" dirty="0" err="1"/>
              <a:t>증명도ㆍ심증도를</a:t>
            </a:r>
            <a:r>
              <a:rPr lang="ko-KR" altLang="en-US" sz="1100" dirty="0"/>
              <a:t> 경감함으로써 손해의 </a:t>
            </a:r>
            <a:r>
              <a:rPr lang="ko-KR" altLang="en-US" sz="1100" dirty="0" err="1"/>
              <a:t>공평ㆍ타당한</a:t>
            </a:r>
            <a:r>
              <a:rPr lang="ko-KR" altLang="en-US" sz="1100" dirty="0"/>
              <a:t> 분담을 지도 원리로 하는 손해배상제도의 이상과 기능을 실현하려는 데 취지가 있는 것이지</a:t>
            </a:r>
            <a:r>
              <a:rPr lang="en-US" altLang="ko-KR" sz="1100" dirty="0"/>
              <a:t>, </a:t>
            </a:r>
            <a:r>
              <a:rPr lang="ko-KR" altLang="en-US" sz="1100" dirty="0"/>
              <a:t>법관에게 손해액 산정에 관한 자유재량을 부여한 것은 아니므로</a:t>
            </a:r>
            <a:r>
              <a:rPr lang="en-US" altLang="ko-KR" sz="1100" dirty="0"/>
              <a:t>, </a:t>
            </a:r>
            <a:r>
              <a:rPr lang="ko-KR" altLang="en-US" sz="1100" dirty="0"/>
              <a:t>법원이 위와 같은 방법으로 구체적 손해액을 판단할 때에는 손해액 산정 근거가 되는 간접사실들의 탐색에 최선의 노력을 다해야 하고</a:t>
            </a:r>
            <a:r>
              <a:rPr lang="en-US" altLang="ko-KR" sz="1100" dirty="0"/>
              <a:t>, </a:t>
            </a:r>
            <a:r>
              <a:rPr lang="ko-KR" altLang="en-US" sz="1100" dirty="0"/>
              <a:t>그와 같이 탐색해 낸 간접사실들을 합리적으로 평가하여 객관적으로 수긍할 수 있는 손해액을 산정해야 한다</a:t>
            </a:r>
            <a:r>
              <a:rPr lang="en-US" altLang="ko-KR" sz="1100" dirty="0"/>
              <a:t>(2010</a:t>
            </a:r>
            <a:r>
              <a:rPr lang="ko-KR" altLang="en-US" sz="1100" dirty="0"/>
              <a:t>다</a:t>
            </a:r>
            <a:r>
              <a:rPr lang="en-US" altLang="ko-KR" sz="1100" dirty="0"/>
              <a:t>58728).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제</a:t>
            </a:r>
            <a:r>
              <a:rPr lang="en-US" altLang="ko-KR" sz="1100" dirty="0"/>
              <a:t>132</a:t>
            </a:r>
            <a:r>
              <a:rPr lang="ko-KR" altLang="en-US" sz="1100" dirty="0"/>
              <a:t>조</a:t>
            </a:r>
            <a:r>
              <a:rPr lang="en-US" altLang="ko-KR" sz="1100" dirty="0"/>
              <a:t>(</a:t>
            </a:r>
            <a:r>
              <a:rPr lang="ko-KR" altLang="en-US" sz="1100" dirty="0"/>
              <a:t>자료의 제출</a:t>
            </a:r>
            <a:r>
              <a:rPr lang="en-US" altLang="ko-KR" sz="1100" dirty="0"/>
              <a:t>)</a:t>
            </a:r>
            <a:r>
              <a:rPr lang="ko-KR" altLang="en-US" sz="1100" dirty="0"/>
              <a:t>의 실효성 확보 가능하고</a:t>
            </a:r>
            <a:r>
              <a:rPr lang="en-US" altLang="ko-KR" sz="1100" dirty="0"/>
              <a:t>, </a:t>
            </a:r>
            <a:r>
              <a:rPr lang="ko-KR" altLang="en-US" sz="1100" dirty="0"/>
              <a:t>영업비밀 누설 우려에 대해서는 비밀유지명령제도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224</a:t>
            </a:r>
            <a:r>
              <a:rPr lang="ko-KR" altLang="en-US" sz="1100" dirty="0"/>
              <a:t>의</a:t>
            </a:r>
            <a:r>
              <a:rPr lang="en-US" altLang="ko-KR" sz="1100" dirty="0"/>
              <a:t>3)</a:t>
            </a:r>
            <a:r>
              <a:rPr lang="ko-KR" altLang="en-US" sz="1100" dirty="0"/>
              <a:t>를 통해 보완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A40D226-A2FC-4714-8EF7-9826A11A63FD}"/>
              </a:ext>
            </a:extLst>
          </p:cNvPr>
          <p:cNvCxnSpPr>
            <a:cxnSpLocks/>
            <a:stCxn id="21" idx="6"/>
            <a:endCxn id="23" idx="1"/>
          </p:cNvCxnSpPr>
          <p:nvPr/>
        </p:nvCxnSpPr>
        <p:spPr>
          <a:xfrm flipV="1">
            <a:off x="1449162" y="3482363"/>
            <a:ext cx="370113" cy="94623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8D1390BD-5386-47E6-AC05-C5FAF8537255}"/>
              </a:ext>
            </a:extLst>
          </p:cNvPr>
          <p:cNvSpPr/>
          <p:nvPr/>
        </p:nvSpPr>
        <p:spPr>
          <a:xfrm>
            <a:off x="424480" y="5176433"/>
            <a:ext cx="1024682" cy="1024682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징벌적</a:t>
            </a:r>
            <a:endParaRPr lang="en-US" altLang="ko-KR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손해배상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0FF97B-C8D3-4676-856E-B7F9B00C3813}"/>
              </a:ext>
            </a:extLst>
          </p:cNvPr>
          <p:cNvSpPr/>
          <p:nvPr/>
        </p:nvSpPr>
        <p:spPr>
          <a:xfrm>
            <a:off x="1819275" y="4849857"/>
            <a:ext cx="10020301" cy="4308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31750" fontAlgn="base"/>
            <a:r>
              <a:rPr lang="ko-KR" altLang="en-US" sz="1100" dirty="0">
                <a:solidFill>
                  <a:srgbClr val="FF0000"/>
                </a:solidFill>
              </a:rPr>
              <a:t>징벌적 손해배상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⑧</a:t>
            </a:r>
            <a:r>
              <a:rPr lang="en-US" altLang="ko-KR" sz="1100" dirty="0">
                <a:solidFill>
                  <a:srgbClr val="FF0000"/>
                </a:solidFill>
              </a:rPr>
              <a:t>): </a:t>
            </a:r>
            <a:r>
              <a:rPr lang="ko-KR" altLang="en-US" sz="1100" dirty="0">
                <a:solidFill>
                  <a:srgbClr val="FF0000"/>
                </a:solidFill>
              </a:rPr>
              <a:t>침해한 행위가 고의적인 것으로 인정되는 경우에는 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항에도 불구하고 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항부터 제</a:t>
            </a:r>
            <a:r>
              <a:rPr lang="en-US" altLang="ko-KR" sz="1100" dirty="0">
                <a:solidFill>
                  <a:srgbClr val="FF0000"/>
                </a:solidFill>
              </a:rPr>
              <a:t>7</a:t>
            </a:r>
            <a:r>
              <a:rPr lang="ko-KR" altLang="en-US" sz="1100" dirty="0">
                <a:solidFill>
                  <a:srgbClr val="FF0000"/>
                </a:solidFill>
              </a:rPr>
              <a:t>항까지의 규정에 따라 손해로 인정된 금액의 </a:t>
            </a:r>
            <a:r>
              <a:rPr lang="en-US" altLang="ko-KR" sz="1100" dirty="0">
                <a:solidFill>
                  <a:srgbClr val="FF0000"/>
                </a:solidFill>
              </a:rPr>
              <a:t>5</a:t>
            </a:r>
            <a:r>
              <a:rPr lang="ko-KR" altLang="en-US" sz="1100" dirty="0">
                <a:solidFill>
                  <a:srgbClr val="FF0000"/>
                </a:solidFill>
              </a:rPr>
              <a:t>배를 넘지 아니하는 범위에서 배상액 인정 가능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699C2F-8863-4A48-BF22-364973918DEE}"/>
              </a:ext>
            </a:extLst>
          </p:cNvPr>
          <p:cNvSpPr/>
          <p:nvPr/>
        </p:nvSpPr>
        <p:spPr>
          <a:xfrm>
            <a:off x="1819275" y="5423099"/>
            <a:ext cx="100203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ko-KR" altLang="en-US" sz="1100" dirty="0"/>
              <a:t>법원은 배상액을 판단할 때 다음의 사항을 고려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128⑨)</a:t>
            </a:r>
          </a:p>
          <a:p>
            <a:pPr algn="just"/>
            <a:r>
              <a:rPr lang="en-US" altLang="ko-KR" sz="1100" dirty="0"/>
              <a:t>  ⅰ) </a:t>
            </a:r>
            <a:r>
              <a:rPr lang="ko-KR" altLang="en-US" sz="1100" dirty="0"/>
              <a:t>침해행위를 한 자의 우월적 지위 여부</a:t>
            </a:r>
            <a:r>
              <a:rPr lang="en-US" altLang="ko-KR" sz="1100" dirty="0"/>
              <a:t>,	</a:t>
            </a:r>
            <a:r>
              <a:rPr lang="ko-KR" altLang="en-US" sz="1100" dirty="0"/>
              <a:t>  </a:t>
            </a:r>
            <a:r>
              <a:rPr lang="en-US" altLang="ko-KR" sz="1100" dirty="0"/>
              <a:t>		ⅱ) </a:t>
            </a:r>
            <a:r>
              <a:rPr lang="ko-KR" altLang="en-US" sz="1100" dirty="0"/>
              <a:t>고의 또는 손해 발생의 우려를 인식한 정도</a:t>
            </a:r>
          </a:p>
          <a:p>
            <a:pPr algn="just"/>
            <a:r>
              <a:rPr lang="ko-KR" altLang="en-US" sz="1100" dirty="0"/>
              <a:t>  </a:t>
            </a:r>
            <a:r>
              <a:rPr lang="en-US" altLang="ko-KR" sz="1100" dirty="0"/>
              <a:t>ⅲ) </a:t>
            </a:r>
            <a:r>
              <a:rPr lang="ko-KR" altLang="en-US" sz="1100" dirty="0"/>
              <a:t>침해행위로 인하여 특허권자 및 </a:t>
            </a:r>
            <a:r>
              <a:rPr lang="ko-KR" altLang="en-US" sz="1100" dirty="0" err="1"/>
              <a:t>전용실시권자가</a:t>
            </a:r>
            <a:r>
              <a:rPr lang="ko-KR" altLang="en-US" sz="1100" dirty="0"/>
              <a:t> 입은 피해규모</a:t>
            </a:r>
            <a:r>
              <a:rPr lang="en-US" altLang="ko-KR" sz="1100" dirty="0"/>
              <a:t>,	ⅳ) </a:t>
            </a:r>
            <a:r>
              <a:rPr lang="ko-KR" altLang="en-US" sz="1100" dirty="0"/>
              <a:t>침해행위로 인하여 침해한 자가 얻은 경제적 이익</a:t>
            </a:r>
          </a:p>
          <a:p>
            <a:pPr algn="just"/>
            <a:r>
              <a:rPr lang="ko-KR" altLang="en-US" sz="1100" dirty="0"/>
              <a:t>  </a:t>
            </a:r>
            <a:r>
              <a:rPr lang="en-US" altLang="ko-KR" sz="1100" dirty="0"/>
              <a:t>ⅴ) </a:t>
            </a:r>
            <a:r>
              <a:rPr lang="ko-KR" altLang="en-US" sz="1100" dirty="0"/>
              <a:t>침해행위의 </a:t>
            </a:r>
            <a:r>
              <a:rPr lang="ko-KR" altLang="en-US" sz="1100" dirty="0" err="1"/>
              <a:t>기간ㆍ횟수</a:t>
            </a:r>
            <a:r>
              <a:rPr lang="ko-KR" altLang="en-US" sz="1100" dirty="0"/>
              <a:t> 등</a:t>
            </a:r>
            <a:r>
              <a:rPr lang="en-US" altLang="ko-KR" sz="1100" dirty="0"/>
              <a:t>, 				ⅵ) </a:t>
            </a:r>
            <a:r>
              <a:rPr lang="ko-KR" altLang="en-US" sz="1100" dirty="0"/>
              <a:t>침해행위에 따른 벌금</a:t>
            </a:r>
          </a:p>
          <a:p>
            <a:pPr algn="just"/>
            <a:r>
              <a:rPr lang="ko-KR" altLang="en-US" sz="1100" dirty="0"/>
              <a:t>  </a:t>
            </a:r>
            <a:r>
              <a:rPr lang="en-US" altLang="ko-KR" sz="1100" dirty="0"/>
              <a:t>ⅶ) </a:t>
            </a:r>
            <a:r>
              <a:rPr lang="ko-KR" altLang="en-US" sz="1100" dirty="0"/>
              <a:t>침해행위를 한 자의 재산상태</a:t>
            </a:r>
            <a:r>
              <a:rPr lang="en-US" altLang="ko-KR" sz="1100" dirty="0"/>
              <a:t>, 			ⅷ) </a:t>
            </a:r>
            <a:r>
              <a:rPr lang="ko-KR" altLang="en-US" sz="1100" dirty="0"/>
              <a:t>침해행위를 한 자의 피해구제 노력의 정도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6C1FB716-493E-4333-9A2F-135F1B6D5B1A}"/>
              </a:ext>
            </a:extLst>
          </p:cNvPr>
          <p:cNvCxnSpPr>
            <a:stCxn id="17" idx="6"/>
            <a:endCxn id="24" idx="1"/>
          </p:cNvCxnSpPr>
          <p:nvPr/>
        </p:nvCxnSpPr>
        <p:spPr>
          <a:xfrm flipV="1">
            <a:off x="1449162" y="5065301"/>
            <a:ext cx="370113" cy="6234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642324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위쪽 모서리 31">
            <a:extLst>
              <a:ext uri="{FF2B5EF4-FFF2-40B4-BE49-F238E27FC236}">
                <a16:creationId xmlns:a16="http://schemas.microsoft.com/office/drawing/2014/main" id="{E7CF4D17-4197-7977-5B56-B21600CEB8F4}"/>
              </a:ext>
            </a:extLst>
          </p:cNvPr>
          <p:cNvSpPr/>
          <p:nvPr/>
        </p:nvSpPr>
        <p:spPr>
          <a:xfrm>
            <a:off x="2922493" y="1679562"/>
            <a:ext cx="2384612" cy="50783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항의 구조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F65AF0-82EC-42E7-971D-C16511FE43CA}"/>
              </a:ext>
            </a:extLst>
          </p:cNvPr>
          <p:cNvSpPr txBox="1"/>
          <p:nvPr/>
        </p:nvSpPr>
        <p:spPr>
          <a:xfrm>
            <a:off x="1247452" y="5619786"/>
            <a:ext cx="10621819" cy="5232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r>
              <a:rPr lang="ko-KR" altLang="en-US" sz="1400" dirty="0"/>
              <a:t>침해자의 양도수량 </a:t>
            </a:r>
            <a:r>
              <a:rPr lang="en-US" altLang="ko-KR" sz="1400" dirty="0"/>
              <a:t>- </a:t>
            </a:r>
            <a:r>
              <a:rPr lang="ko-KR" altLang="en-US" sz="1400" dirty="0"/>
              <a:t>특허권자 또는 </a:t>
            </a:r>
            <a:r>
              <a:rPr lang="ko-KR" altLang="en-US" sz="1400" dirty="0" err="1"/>
              <a:t>전용실시권자가</a:t>
            </a:r>
            <a:r>
              <a:rPr lang="ko-KR" altLang="en-US" sz="1400" dirty="0"/>
              <a:t> 그 침해행위 외의 사유로 판매할 수 없었던 사정이 있는 경우에는 그 침해행위 외의 사유로 판매할 수 없었던 수량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9C567C9-EB41-427E-B676-5B783E4F1548}"/>
              </a:ext>
            </a:extLst>
          </p:cNvPr>
          <p:cNvSpPr/>
          <p:nvPr/>
        </p:nvSpPr>
        <p:spPr>
          <a:xfrm>
            <a:off x="258687" y="5619786"/>
            <a:ext cx="887165" cy="5232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인정수량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F73F1-2750-46BA-8822-AA8AEB7ECF11}"/>
              </a:ext>
            </a:extLst>
          </p:cNvPr>
          <p:cNvSpPr txBox="1"/>
          <p:nvPr/>
        </p:nvSpPr>
        <p:spPr>
          <a:xfrm>
            <a:off x="1247452" y="6210914"/>
            <a:ext cx="10621819" cy="5232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ko-KR" altLang="en-US" sz="1400" dirty="0"/>
              <a:t>특허권자 또는 </a:t>
            </a:r>
            <a:r>
              <a:rPr lang="ko-KR" altLang="en-US" sz="1400" dirty="0" err="1"/>
              <a:t>전용실시권자가</a:t>
            </a:r>
            <a:r>
              <a:rPr lang="ko-KR" altLang="en-US" sz="1400" dirty="0"/>
              <a:t> 생산할 수 있었던 물건의 수량 </a:t>
            </a:r>
            <a:r>
              <a:rPr lang="en-US" altLang="ko-KR" sz="1400" dirty="0"/>
              <a:t>-</a:t>
            </a:r>
            <a:r>
              <a:rPr lang="ko-KR" altLang="en-US" sz="1400" dirty="0"/>
              <a:t> 실제 판매한 물건의 수량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1A34DCE-0F2C-4941-A423-E19BE5A9D2A6}"/>
              </a:ext>
            </a:extLst>
          </p:cNvPr>
          <p:cNvSpPr/>
          <p:nvPr/>
        </p:nvSpPr>
        <p:spPr>
          <a:xfrm>
            <a:off x="258687" y="6210914"/>
            <a:ext cx="887165" cy="5232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생산능력</a:t>
            </a:r>
            <a:endParaRPr lang="en-US" altLang="ko-KR" sz="14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범위수량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E574BC6-3F2C-2386-DC22-26E67B56D351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922493" y="2187393"/>
            <a:ext cx="7527968" cy="1793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DA8CD07-8D04-8B9D-C3AE-3705B7B2F363}"/>
              </a:ext>
            </a:extLst>
          </p:cNvPr>
          <p:cNvSpPr txBox="1"/>
          <p:nvPr/>
        </p:nvSpPr>
        <p:spPr>
          <a:xfrm>
            <a:off x="10450461" y="1864227"/>
            <a:ext cx="1018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침해자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양도수량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F7C526-854C-11FC-D7AB-9C2F226AD3EA}"/>
              </a:ext>
            </a:extLst>
          </p:cNvPr>
          <p:cNvSpPr txBox="1"/>
          <p:nvPr/>
        </p:nvSpPr>
        <p:spPr>
          <a:xfrm flipH="1">
            <a:off x="668844" y="2276597"/>
            <a:ext cx="1944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인정수량 </a:t>
            </a:r>
            <a:r>
              <a:rPr lang="en-US" altLang="ko-KR" dirty="0"/>
              <a:t>&gt; </a:t>
            </a:r>
          </a:p>
          <a:p>
            <a:r>
              <a:rPr lang="ko-KR" altLang="en-US" dirty="0"/>
              <a:t>생산능력범위수량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B9F05F-9539-4377-D122-5C2BCC55BF95}"/>
              </a:ext>
            </a:extLst>
          </p:cNvPr>
          <p:cNvSpPr txBox="1"/>
          <p:nvPr/>
        </p:nvSpPr>
        <p:spPr>
          <a:xfrm flipH="1">
            <a:off x="668844" y="3152667"/>
            <a:ext cx="1944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인정수량 </a:t>
            </a:r>
            <a:r>
              <a:rPr lang="en-US" altLang="ko-KR" dirty="0"/>
              <a:t>&lt; </a:t>
            </a:r>
          </a:p>
          <a:p>
            <a:r>
              <a:rPr lang="ko-KR" altLang="en-US" dirty="0"/>
              <a:t>생산능력범위수량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5B770D0-2DF4-EA23-8597-9ACAF1CAB286}"/>
              </a:ext>
            </a:extLst>
          </p:cNvPr>
          <p:cNvCxnSpPr>
            <a:cxnSpLocks/>
          </p:cNvCxnSpPr>
          <p:nvPr/>
        </p:nvCxnSpPr>
        <p:spPr>
          <a:xfrm>
            <a:off x="5307103" y="2187394"/>
            <a:ext cx="0" cy="14702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77B0AEA-4062-3EBC-C6B4-9D9BBDB68F63}"/>
              </a:ext>
            </a:extLst>
          </p:cNvPr>
          <p:cNvSpPr txBox="1"/>
          <p:nvPr/>
        </p:nvSpPr>
        <p:spPr>
          <a:xfrm>
            <a:off x="3077005" y="1096236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매상감소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3" name="사각형: 둥근 위쪽 모서리 32">
            <a:extLst>
              <a:ext uri="{FF2B5EF4-FFF2-40B4-BE49-F238E27FC236}">
                <a16:creationId xmlns:a16="http://schemas.microsoft.com/office/drawing/2014/main" id="{E6D759E0-EC6D-8430-4FF0-B8D2FAD28D22}"/>
              </a:ext>
            </a:extLst>
          </p:cNvPr>
          <p:cNvSpPr/>
          <p:nvPr/>
        </p:nvSpPr>
        <p:spPr>
          <a:xfrm>
            <a:off x="5307105" y="1679562"/>
            <a:ext cx="5143351" cy="50783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5391F2-9BDC-DCA4-7913-22468C4E1B8E}"/>
              </a:ext>
            </a:extLst>
          </p:cNvPr>
          <p:cNvSpPr txBox="1"/>
          <p:nvPr/>
        </p:nvSpPr>
        <p:spPr>
          <a:xfrm>
            <a:off x="7030020" y="1096236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실시료수입감소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 err="1"/>
              <a:t>항제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25082A2-3B19-04B7-6CFD-4EF3F11A4DA1}"/>
              </a:ext>
            </a:extLst>
          </p:cNvPr>
          <p:cNvCxnSpPr>
            <a:cxnSpLocks/>
          </p:cNvCxnSpPr>
          <p:nvPr/>
        </p:nvCxnSpPr>
        <p:spPr>
          <a:xfrm>
            <a:off x="2779058" y="3030076"/>
            <a:ext cx="7020629" cy="1793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270CDEC-B048-308F-875B-F78A367A6D58}"/>
              </a:ext>
            </a:extLst>
          </p:cNvPr>
          <p:cNvSpPr/>
          <p:nvPr/>
        </p:nvSpPr>
        <p:spPr>
          <a:xfrm>
            <a:off x="3411072" y="2326139"/>
            <a:ext cx="1295398" cy="5773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생산능력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범위수량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626D3E1-DC28-FE0F-6D5C-3BB04901D676}"/>
              </a:ext>
            </a:extLst>
          </p:cNvPr>
          <p:cNvSpPr/>
          <p:nvPr/>
        </p:nvSpPr>
        <p:spPr>
          <a:xfrm>
            <a:off x="5538314" y="2326139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침해자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양도수량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E2D4FEA-9B72-1369-8525-D23AC6E64895}"/>
              </a:ext>
            </a:extLst>
          </p:cNvPr>
          <p:cNvSpPr/>
          <p:nvPr/>
        </p:nvSpPr>
        <p:spPr>
          <a:xfrm>
            <a:off x="7226180" y="2326139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생산능력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범위수량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6E185EB-11A7-72BA-6C60-83C6914A342C}"/>
              </a:ext>
            </a:extLst>
          </p:cNvPr>
          <p:cNvSpPr/>
          <p:nvPr/>
        </p:nvSpPr>
        <p:spPr>
          <a:xfrm>
            <a:off x="8923008" y="2326139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실시권설정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불가수량</a:t>
            </a:r>
          </a:p>
        </p:txBody>
      </p:sp>
      <p:sp>
        <p:nvSpPr>
          <p:cNvPr id="44" name="빼기 기호 43">
            <a:extLst>
              <a:ext uri="{FF2B5EF4-FFF2-40B4-BE49-F238E27FC236}">
                <a16:creationId xmlns:a16="http://schemas.microsoft.com/office/drawing/2014/main" id="{24B70203-388F-DFA4-033B-993EC624B273}"/>
              </a:ext>
            </a:extLst>
          </p:cNvPr>
          <p:cNvSpPr/>
          <p:nvPr/>
        </p:nvSpPr>
        <p:spPr>
          <a:xfrm>
            <a:off x="6841687" y="2539910"/>
            <a:ext cx="376517" cy="209104"/>
          </a:xfrm>
          <a:prstGeom prst="mathMinu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빼기 기호 44">
            <a:extLst>
              <a:ext uri="{FF2B5EF4-FFF2-40B4-BE49-F238E27FC236}">
                <a16:creationId xmlns:a16="http://schemas.microsoft.com/office/drawing/2014/main" id="{5D9F6597-967B-2F9E-FBE7-777A02C9246B}"/>
              </a:ext>
            </a:extLst>
          </p:cNvPr>
          <p:cNvSpPr/>
          <p:nvPr/>
        </p:nvSpPr>
        <p:spPr>
          <a:xfrm>
            <a:off x="8536335" y="2539910"/>
            <a:ext cx="376517" cy="209104"/>
          </a:xfrm>
          <a:prstGeom prst="mathMinu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69B4EAB-A4DB-2358-2884-D4DECE80B233}"/>
              </a:ext>
            </a:extLst>
          </p:cNvPr>
          <p:cNvSpPr/>
          <p:nvPr/>
        </p:nvSpPr>
        <p:spPr>
          <a:xfrm>
            <a:off x="3411072" y="3148211"/>
            <a:ext cx="1295398" cy="5773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인정수량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96D5C85-914E-4231-B33C-DE46657CBFC8}"/>
              </a:ext>
            </a:extLst>
          </p:cNvPr>
          <p:cNvSpPr/>
          <p:nvPr/>
        </p:nvSpPr>
        <p:spPr>
          <a:xfrm>
            <a:off x="5538314" y="3148211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침해자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양도수량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0151D9B-E310-2BEF-0359-FF3B87DE90C5}"/>
              </a:ext>
            </a:extLst>
          </p:cNvPr>
          <p:cNvSpPr/>
          <p:nvPr/>
        </p:nvSpPr>
        <p:spPr>
          <a:xfrm>
            <a:off x="7226180" y="3148211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인정수량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B4480A1C-5984-2068-513D-4028D8D1F779}"/>
              </a:ext>
            </a:extLst>
          </p:cNvPr>
          <p:cNvSpPr/>
          <p:nvPr/>
        </p:nvSpPr>
        <p:spPr>
          <a:xfrm>
            <a:off x="8923008" y="3148211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실시권설정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불가수량</a:t>
            </a:r>
          </a:p>
        </p:txBody>
      </p:sp>
      <p:sp>
        <p:nvSpPr>
          <p:cNvPr id="50" name="빼기 기호 49">
            <a:extLst>
              <a:ext uri="{FF2B5EF4-FFF2-40B4-BE49-F238E27FC236}">
                <a16:creationId xmlns:a16="http://schemas.microsoft.com/office/drawing/2014/main" id="{372645F2-4425-F2AA-1B07-8B6A30E0CD29}"/>
              </a:ext>
            </a:extLst>
          </p:cNvPr>
          <p:cNvSpPr/>
          <p:nvPr/>
        </p:nvSpPr>
        <p:spPr>
          <a:xfrm>
            <a:off x="6841687" y="3361982"/>
            <a:ext cx="376517" cy="209104"/>
          </a:xfrm>
          <a:prstGeom prst="mathMinu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빼기 기호 50">
            <a:extLst>
              <a:ext uri="{FF2B5EF4-FFF2-40B4-BE49-F238E27FC236}">
                <a16:creationId xmlns:a16="http://schemas.microsoft.com/office/drawing/2014/main" id="{9FDE59DA-6CEE-68D7-CEED-06EA4DB8DBE2}"/>
              </a:ext>
            </a:extLst>
          </p:cNvPr>
          <p:cNvSpPr/>
          <p:nvPr/>
        </p:nvSpPr>
        <p:spPr>
          <a:xfrm>
            <a:off x="8536335" y="3361982"/>
            <a:ext cx="376517" cy="209104"/>
          </a:xfrm>
          <a:prstGeom prst="mathMinu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위쪽 모서리 51">
            <a:extLst>
              <a:ext uri="{FF2B5EF4-FFF2-40B4-BE49-F238E27FC236}">
                <a16:creationId xmlns:a16="http://schemas.microsoft.com/office/drawing/2014/main" id="{5356AF46-22CE-84F0-E444-C37A2326C798}"/>
              </a:ext>
            </a:extLst>
          </p:cNvPr>
          <p:cNvSpPr/>
          <p:nvPr/>
        </p:nvSpPr>
        <p:spPr>
          <a:xfrm>
            <a:off x="5504259" y="3083871"/>
            <a:ext cx="3050003" cy="715128"/>
          </a:xfrm>
          <a:prstGeom prst="round2SameRect">
            <a:avLst>
              <a:gd name="adj1" fmla="val 0"/>
              <a:gd name="adj2" fmla="val 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CC1EBF-ABB6-544A-1DF0-CAA4F95CE58B}"/>
              </a:ext>
            </a:extLst>
          </p:cNvPr>
          <p:cNvSpPr txBox="1"/>
          <p:nvPr/>
        </p:nvSpPr>
        <p:spPr>
          <a:xfrm>
            <a:off x="5345850" y="3856734"/>
            <a:ext cx="3567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침해행위 외의 사유로 판매불가 수량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1478165-9CF7-3E60-74DF-D4972CC9138C}"/>
              </a:ext>
            </a:extLst>
          </p:cNvPr>
          <p:cNvSpPr/>
          <p:nvPr/>
        </p:nvSpPr>
        <p:spPr>
          <a:xfrm>
            <a:off x="259976" y="1021976"/>
            <a:ext cx="11609295" cy="32040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FCCFCE0F-3F1E-25A3-D0B2-C8760847EFA5}"/>
              </a:ext>
            </a:extLst>
          </p:cNvPr>
          <p:cNvSpPr/>
          <p:nvPr/>
        </p:nvSpPr>
        <p:spPr>
          <a:xfrm>
            <a:off x="3068040" y="4720415"/>
            <a:ext cx="2062532" cy="6423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특허권자의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단위수량당 </a:t>
            </a:r>
            <a:r>
              <a:rPr lang="ko-KR" altLang="en-US" dirty="0" err="1">
                <a:solidFill>
                  <a:schemeClr val="tx1"/>
                </a:solidFill>
              </a:rPr>
              <a:t>이익액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6C8EF72-13B4-04AB-E7EE-8603DEF370AA}"/>
              </a:ext>
            </a:extLst>
          </p:cNvPr>
          <p:cNvSpPr/>
          <p:nvPr/>
        </p:nvSpPr>
        <p:spPr>
          <a:xfrm>
            <a:off x="6850320" y="4732660"/>
            <a:ext cx="2062532" cy="642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단위수량당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합리적 실시금액</a:t>
            </a:r>
          </a:p>
        </p:txBody>
      </p:sp>
      <p:sp>
        <p:nvSpPr>
          <p:cNvPr id="57" name="곱하기 기호 56">
            <a:extLst>
              <a:ext uri="{FF2B5EF4-FFF2-40B4-BE49-F238E27FC236}">
                <a16:creationId xmlns:a16="http://schemas.microsoft.com/office/drawing/2014/main" id="{16889A35-D54D-479F-0F8B-0FDE36A1D77C}"/>
              </a:ext>
            </a:extLst>
          </p:cNvPr>
          <p:cNvSpPr/>
          <p:nvPr/>
        </p:nvSpPr>
        <p:spPr>
          <a:xfrm>
            <a:off x="3736235" y="4030823"/>
            <a:ext cx="726141" cy="71990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곱하기 기호 57">
            <a:extLst>
              <a:ext uri="{FF2B5EF4-FFF2-40B4-BE49-F238E27FC236}">
                <a16:creationId xmlns:a16="http://schemas.microsoft.com/office/drawing/2014/main" id="{F110DE49-7093-B62D-9787-BD43E4E4792D}"/>
              </a:ext>
            </a:extLst>
          </p:cNvPr>
          <p:cNvSpPr/>
          <p:nvPr/>
        </p:nvSpPr>
        <p:spPr>
          <a:xfrm>
            <a:off x="7518515" y="4043068"/>
            <a:ext cx="726141" cy="719902"/>
          </a:xfrm>
          <a:prstGeom prst="mathMultiply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296661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81F833A-7161-4D9E-81A3-0B851F845C30}"/>
              </a:ext>
            </a:extLst>
          </p:cNvPr>
          <p:cNvCxnSpPr/>
          <p:nvPr/>
        </p:nvCxnSpPr>
        <p:spPr>
          <a:xfrm>
            <a:off x="3980776" y="1116136"/>
            <a:ext cx="0" cy="1636678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항의 적용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385</a:t>
            </a:fld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A1410216-1E3E-484A-827E-30A7A8CA089A}"/>
              </a:ext>
            </a:extLst>
          </p:cNvPr>
          <p:cNvSpPr/>
          <p:nvPr/>
        </p:nvSpPr>
        <p:spPr>
          <a:xfrm>
            <a:off x="347645" y="1059855"/>
            <a:ext cx="1006964" cy="1006964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FFFF00"/>
                </a:solidFill>
              </a:rPr>
              <a:t>CASE1</a:t>
            </a:r>
            <a:endParaRPr lang="ko-KR" altLang="en-US" sz="1600" dirty="0">
              <a:solidFill>
                <a:srgbClr val="FFFF00"/>
              </a:solidFill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8CFAB93A-5A92-48E7-BE94-B6CDBFFF54B1}"/>
              </a:ext>
            </a:extLst>
          </p:cNvPr>
          <p:cNvSpPr/>
          <p:nvPr/>
        </p:nvSpPr>
        <p:spPr>
          <a:xfrm>
            <a:off x="347645" y="3237770"/>
            <a:ext cx="1006964" cy="1006964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FFFF00"/>
                </a:solidFill>
              </a:rPr>
              <a:t>CASE2</a:t>
            </a:r>
            <a:endParaRPr lang="ko-KR" altLang="en-US" sz="1600" dirty="0">
              <a:solidFill>
                <a:srgbClr val="FFFF00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B8354E1-383C-4656-BDA8-7CED6A3952CC}"/>
              </a:ext>
            </a:extLst>
          </p:cNvPr>
          <p:cNvSpPr/>
          <p:nvPr/>
        </p:nvSpPr>
        <p:spPr>
          <a:xfrm>
            <a:off x="347645" y="5373011"/>
            <a:ext cx="1006964" cy="1006964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FFFF00"/>
                </a:solidFill>
              </a:rPr>
              <a:t>CASE3</a:t>
            </a:r>
            <a:endParaRPr lang="ko-KR" altLang="en-US" sz="1600" dirty="0">
              <a:solidFill>
                <a:srgbClr val="FFFF00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B1FB448-FD7F-4D14-B979-965B03E0F5EF}"/>
              </a:ext>
            </a:extLst>
          </p:cNvPr>
          <p:cNvCxnSpPr/>
          <p:nvPr/>
        </p:nvCxnSpPr>
        <p:spPr>
          <a:xfrm>
            <a:off x="0" y="2871583"/>
            <a:ext cx="12191999" cy="0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039B09C-1BC2-4A2D-9AA8-26A37550307F}"/>
              </a:ext>
            </a:extLst>
          </p:cNvPr>
          <p:cNvCxnSpPr/>
          <p:nvPr/>
        </p:nvCxnSpPr>
        <p:spPr>
          <a:xfrm>
            <a:off x="0" y="5312859"/>
            <a:ext cx="12191999" cy="0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5542615A-0099-4415-8382-DB9DB8EAD747}"/>
              </a:ext>
            </a:extLst>
          </p:cNvPr>
          <p:cNvSpPr/>
          <p:nvPr/>
        </p:nvSpPr>
        <p:spPr>
          <a:xfrm>
            <a:off x="52685" y="2271493"/>
            <a:ext cx="1623534" cy="4349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</a:rPr>
              <a:t>인정수량이 생산능력범위수량 초과인 경우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F9115E76-F594-49A5-92A4-4FBE9474B499}"/>
              </a:ext>
            </a:extLst>
          </p:cNvPr>
          <p:cNvSpPr/>
          <p:nvPr/>
        </p:nvSpPr>
        <p:spPr>
          <a:xfrm>
            <a:off x="52685" y="4472780"/>
            <a:ext cx="1623534" cy="4349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</a:rPr>
              <a:t>인정수량이 생산능력범위수량 이내인 경우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00EA9BCE-5CF7-4E24-A1E5-22D1132D4F5A}"/>
              </a:ext>
            </a:extLst>
          </p:cNvPr>
          <p:cNvSpPr/>
          <p:nvPr/>
        </p:nvSpPr>
        <p:spPr>
          <a:xfrm>
            <a:off x="110871" y="6409523"/>
            <a:ext cx="1507162" cy="4349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</a:rPr>
              <a:t>생산능력범위수량이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</a:rPr>
              <a:t>없는 경우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04C3E7-1FCF-4C6C-B45F-1DF44504C8F1}"/>
              </a:ext>
            </a:extLst>
          </p:cNvPr>
          <p:cNvCxnSpPr>
            <a:cxnSpLocks/>
          </p:cNvCxnSpPr>
          <p:nvPr/>
        </p:nvCxnSpPr>
        <p:spPr>
          <a:xfrm>
            <a:off x="1762484" y="1074891"/>
            <a:ext cx="9362716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E41BDBD-8426-46A9-962C-BA5EB687E4F0}"/>
              </a:ext>
            </a:extLst>
          </p:cNvPr>
          <p:cNvCxnSpPr>
            <a:cxnSpLocks/>
          </p:cNvCxnSpPr>
          <p:nvPr/>
        </p:nvCxnSpPr>
        <p:spPr>
          <a:xfrm>
            <a:off x="1762484" y="1344318"/>
            <a:ext cx="433351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72B0C0D-062C-4C11-8C42-3453D90AECA5}"/>
              </a:ext>
            </a:extLst>
          </p:cNvPr>
          <p:cNvCxnSpPr>
            <a:cxnSpLocks/>
          </p:cNvCxnSpPr>
          <p:nvPr/>
        </p:nvCxnSpPr>
        <p:spPr>
          <a:xfrm>
            <a:off x="3980776" y="1685792"/>
            <a:ext cx="211522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07AB165-A67D-4F20-83A3-182CDCAF3BC9}"/>
              </a:ext>
            </a:extLst>
          </p:cNvPr>
          <p:cNvCxnSpPr>
            <a:cxnSpLocks/>
          </p:cNvCxnSpPr>
          <p:nvPr/>
        </p:nvCxnSpPr>
        <p:spPr>
          <a:xfrm>
            <a:off x="7065034" y="1401160"/>
            <a:ext cx="4060166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AB7C3B0-D608-4E15-9E55-6BD37E7FD9E4}"/>
              </a:ext>
            </a:extLst>
          </p:cNvPr>
          <p:cNvSpPr/>
          <p:nvPr/>
        </p:nvSpPr>
        <p:spPr>
          <a:xfrm>
            <a:off x="2373975" y="1253611"/>
            <a:ext cx="3267700" cy="198001"/>
          </a:xfrm>
          <a:prstGeom prst="roundRect">
            <a:avLst>
              <a:gd name="adj" fmla="val 27611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특허권자가 생산할 수 있었던 물건의 수량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7F4D3E0-6508-483F-A03E-BC2253DBB38B}"/>
              </a:ext>
            </a:extLst>
          </p:cNvPr>
          <p:cNvSpPr/>
          <p:nvPr/>
        </p:nvSpPr>
        <p:spPr>
          <a:xfrm>
            <a:off x="4435101" y="1524795"/>
            <a:ext cx="1560253" cy="393793"/>
          </a:xfrm>
          <a:prstGeom prst="roundRect">
            <a:avLst>
              <a:gd name="adj" fmla="val 27611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특허권자가 실제 판매한 </a:t>
            </a:r>
            <a:endParaRPr lang="en-US" altLang="ko-KR" sz="11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물건의 수량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8330C7F-881E-49D3-BC79-AA467544B445}"/>
              </a:ext>
            </a:extLst>
          </p:cNvPr>
          <p:cNvSpPr/>
          <p:nvPr/>
        </p:nvSpPr>
        <p:spPr>
          <a:xfrm>
            <a:off x="7923110" y="1230780"/>
            <a:ext cx="2344014" cy="360580"/>
          </a:xfrm>
          <a:prstGeom prst="roundRect">
            <a:avLst>
              <a:gd name="adj" fmla="val 2761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침해행위 외의 사유로 </a:t>
            </a:r>
            <a:endParaRPr lang="en-US" altLang="ko-KR" sz="11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판매할 수 없었던 수량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22F08A2-18F8-44DB-8691-6B27EA0DCB58}"/>
              </a:ext>
            </a:extLst>
          </p:cNvPr>
          <p:cNvCxnSpPr>
            <a:cxnSpLocks/>
          </p:cNvCxnSpPr>
          <p:nvPr/>
        </p:nvCxnSpPr>
        <p:spPr>
          <a:xfrm>
            <a:off x="8264106" y="1805851"/>
            <a:ext cx="2861094" cy="0"/>
          </a:xfrm>
          <a:prstGeom prst="line">
            <a:avLst/>
          </a:prstGeom>
          <a:ln w="57150">
            <a:solidFill>
              <a:schemeClr val="accent5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4F2A199-5F0B-410C-BFCF-817E135DC760}"/>
              </a:ext>
            </a:extLst>
          </p:cNvPr>
          <p:cNvCxnSpPr/>
          <p:nvPr/>
        </p:nvCxnSpPr>
        <p:spPr>
          <a:xfrm>
            <a:off x="1762484" y="1116136"/>
            <a:ext cx="0" cy="163667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86F2A23-C57C-4346-91D6-637772AFE5D4}"/>
              </a:ext>
            </a:extLst>
          </p:cNvPr>
          <p:cNvCxnSpPr/>
          <p:nvPr/>
        </p:nvCxnSpPr>
        <p:spPr>
          <a:xfrm>
            <a:off x="8264106" y="1116136"/>
            <a:ext cx="0" cy="1636678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26C28AC-4714-4A8A-BDDE-FE2358480110}"/>
              </a:ext>
            </a:extLst>
          </p:cNvPr>
          <p:cNvCxnSpPr/>
          <p:nvPr/>
        </p:nvCxnSpPr>
        <p:spPr>
          <a:xfrm>
            <a:off x="7065034" y="1116136"/>
            <a:ext cx="0" cy="163667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436BA54-93A0-4B3E-A6C7-D1308844946E}"/>
              </a:ext>
            </a:extLst>
          </p:cNvPr>
          <p:cNvCxnSpPr/>
          <p:nvPr/>
        </p:nvCxnSpPr>
        <p:spPr>
          <a:xfrm>
            <a:off x="11125192" y="1116136"/>
            <a:ext cx="0" cy="163667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99CCC4B-B58A-4D32-99A5-F30C4043D041}"/>
              </a:ext>
            </a:extLst>
          </p:cNvPr>
          <p:cNvCxnSpPr/>
          <p:nvPr/>
        </p:nvCxnSpPr>
        <p:spPr>
          <a:xfrm>
            <a:off x="6096000" y="1116136"/>
            <a:ext cx="0" cy="163667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AF649AB-8154-4FAB-A9AB-39EBC8F9CD90}"/>
              </a:ext>
            </a:extLst>
          </p:cNvPr>
          <p:cNvSpPr/>
          <p:nvPr/>
        </p:nvSpPr>
        <p:spPr>
          <a:xfrm>
            <a:off x="1822781" y="2308492"/>
            <a:ext cx="2114863" cy="4444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생산능력범위수량 </a:t>
            </a:r>
            <a:r>
              <a:rPr lang="en-US" altLang="ko-KR" sz="1000" dirty="0">
                <a:solidFill>
                  <a:srgbClr val="FF0000"/>
                </a:solidFill>
              </a:rPr>
              <a:t>*</a:t>
            </a: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특허권자의 단위수량당 </a:t>
            </a:r>
            <a:r>
              <a:rPr lang="ko-KR" altLang="en-US" sz="1000" dirty="0" err="1">
                <a:solidFill>
                  <a:srgbClr val="FF0000"/>
                </a:solidFill>
              </a:rPr>
              <a:t>이익액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72167DB-A72B-452A-9E48-7CCF9E46757D}"/>
              </a:ext>
            </a:extLst>
          </p:cNvPr>
          <p:cNvSpPr/>
          <p:nvPr/>
        </p:nvSpPr>
        <p:spPr>
          <a:xfrm>
            <a:off x="4023909" y="2308492"/>
            <a:ext cx="4187308" cy="4444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특허발명의 실시에 대하여 합리적으로 받을 수 있는 금액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(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그 물건의 양도수량 중 특허권자 또는 </a:t>
            </a:r>
            <a:r>
              <a:rPr lang="ko-KR" altLang="en-US" sz="800" b="0" i="0" dirty="0" err="1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전용실시권자가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 생산할 수 있었던 물건의 수량에서 실제 판매한 물건의 수량을 뺀 수량을 넘는 수량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(</a:t>
            </a:r>
            <a:r>
              <a:rPr lang="ko-KR" altLang="en-US" sz="800" b="0" i="0" dirty="0" err="1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실시권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 설정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/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허락 불가 </a:t>
            </a:r>
            <a:r>
              <a:rPr lang="ko-KR" altLang="en-US" sz="8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수량 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제외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))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4D235A8-C4E7-4D5E-99C8-4D35C5AE0065}"/>
              </a:ext>
            </a:extLst>
          </p:cNvPr>
          <p:cNvSpPr/>
          <p:nvPr/>
        </p:nvSpPr>
        <p:spPr>
          <a:xfrm>
            <a:off x="1822781" y="2045671"/>
            <a:ext cx="2093611" cy="23268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</a:rPr>
              <a:t>특허권자 생산능력 범위 이내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C1D8219-B6A9-4556-982C-E33321702DA6}"/>
              </a:ext>
            </a:extLst>
          </p:cNvPr>
          <p:cNvSpPr/>
          <p:nvPr/>
        </p:nvSpPr>
        <p:spPr>
          <a:xfrm>
            <a:off x="4028535" y="2045671"/>
            <a:ext cx="7030527" cy="23268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</a:rPr>
              <a:t>특허권자 생산능력 범위 초과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895830F-0A0D-4B90-812B-F33BAD98CCDD}"/>
              </a:ext>
            </a:extLst>
          </p:cNvPr>
          <p:cNvSpPr/>
          <p:nvPr/>
        </p:nvSpPr>
        <p:spPr>
          <a:xfrm>
            <a:off x="5145271" y="917708"/>
            <a:ext cx="2344014" cy="240944"/>
          </a:xfrm>
          <a:prstGeom prst="roundRect">
            <a:avLst>
              <a:gd name="adj" fmla="val 2761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침해자의 양도수량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A2BBAB7-D72F-4053-8A6C-A9502F7FCC34}"/>
              </a:ext>
            </a:extLst>
          </p:cNvPr>
          <p:cNvCxnSpPr>
            <a:cxnSpLocks/>
          </p:cNvCxnSpPr>
          <p:nvPr/>
        </p:nvCxnSpPr>
        <p:spPr>
          <a:xfrm>
            <a:off x="1762484" y="3144337"/>
            <a:ext cx="9362716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A47B30E-A326-43A1-B4B2-D1B09AA59926}"/>
              </a:ext>
            </a:extLst>
          </p:cNvPr>
          <p:cNvCxnSpPr>
            <a:cxnSpLocks/>
          </p:cNvCxnSpPr>
          <p:nvPr/>
        </p:nvCxnSpPr>
        <p:spPr>
          <a:xfrm>
            <a:off x="1762484" y="3422432"/>
            <a:ext cx="433351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E0AF154-8F83-4DE9-B794-ACD023795F69}"/>
              </a:ext>
            </a:extLst>
          </p:cNvPr>
          <p:cNvCxnSpPr>
            <a:cxnSpLocks/>
          </p:cNvCxnSpPr>
          <p:nvPr/>
        </p:nvCxnSpPr>
        <p:spPr>
          <a:xfrm>
            <a:off x="3631721" y="3716570"/>
            <a:ext cx="7493479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83D3DB2-75C8-4F9B-B413-84CB21F41C8B}"/>
              </a:ext>
            </a:extLst>
          </p:cNvPr>
          <p:cNvCxnSpPr>
            <a:cxnSpLocks/>
          </p:cNvCxnSpPr>
          <p:nvPr/>
        </p:nvCxnSpPr>
        <p:spPr>
          <a:xfrm>
            <a:off x="8264106" y="3961406"/>
            <a:ext cx="286109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792FA55-D15A-49EF-9DA8-7A51A5C3E3F4}"/>
              </a:ext>
            </a:extLst>
          </p:cNvPr>
          <p:cNvCxnSpPr>
            <a:cxnSpLocks/>
          </p:cNvCxnSpPr>
          <p:nvPr/>
        </p:nvCxnSpPr>
        <p:spPr>
          <a:xfrm>
            <a:off x="1762484" y="3046952"/>
            <a:ext cx="0" cy="210186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2FA0A45-4BB5-4DF1-950A-72AA367C4EF4}"/>
              </a:ext>
            </a:extLst>
          </p:cNvPr>
          <p:cNvCxnSpPr>
            <a:cxnSpLocks/>
          </p:cNvCxnSpPr>
          <p:nvPr/>
        </p:nvCxnSpPr>
        <p:spPr>
          <a:xfrm>
            <a:off x="11125192" y="3046952"/>
            <a:ext cx="0" cy="210186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E224B31-349A-42A5-B3AB-A5D38596A137}"/>
              </a:ext>
            </a:extLst>
          </p:cNvPr>
          <p:cNvCxnSpPr/>
          <p:nvPr/>
        </p:nvCxnSpPr>
        <p:spPr>
          <a:xfrm>
            <a:off x="3980776" y="3046951"/>
            <a:ext cx="0" cy="210186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802A5EFA-3FCB-436E-980A-430B26879145}"/>
              </a:ext>
            </a:extLst>
          </p:cNvPr>
          <p:cNvCxnSpPr/>
          <p:nvPr/>
        </p:nvCxnSpPr>
        <p:spPr>
          <a:xfrm>
            <a:off x="8264106" y="3046951"/>
            <a:ext cx="0" cy="2101868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A37BB6C1-0C92-4ECB-B72B-FB08FEDC7B07}"/>
              </a:ext>
            </a:extLst>
          </p:cNvPr>
          <p:cNvCxnSpPr/>
          <p:nvPr/>
        </p:nvCxnSpPr>
        <p:spPr>
          <a:xfrm>
            <a:off x="3640347" y="3046951"/>
            <a:ext cx="0" cy="2101868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AAC0A02A-6DFA-4D1D-AABD-EB9461E7F35D}"/>
              </a:ext>
            </a:extLst>
          </p:cNvPr>
          <p:cNvCxnSpPr/>
          <p:nvPr/>
        </p:nvCxnSpPr>
        <p:spPr>
          <a:xfrm>
            <a:off x="6096000" y="3046951"/>
            <a:ext cx="0" cy="210186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4BE3DA6-2BBD-4A26-80CB-33C8651BA2D7}"/>
              </a:ext>
            </a:extLst>
          </p:cNvPr>
          <p:cNvSpPr/>
          <p:nvPr/>
        </p:nvSpPr>
        <p:spPr>
          <a:xfrm>
            <a:off x="1822781" y="4473249"/>
            <a:ext cx="1764675" cy="6149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침해자의 인정수량 </a:t>
            </a:r>
            <a:r>
              <a:rPr lang="en-US" altLang="ko-KR" sz="1000" dirty="0">
                <a:solidFill>
                  <a:srgbClr val="FF0000"/>
                </a:solidFill>
              </a:rPr>
              <a:t>*</a:t>
            </a: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특허권자의 단위수량당 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 err="1">
                <a:solidFill>
                  <a:srgbClr val="FF0000"/>
                </a:solidFill>
              </a:rPr>
              <a:t>이익액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7656E34-98B6-4F1E-A245-769283DDC5AC}"/>
              </a:ext>
            </a:extLst>
          </p:cNvPr>
          <p:cNvSpPr/>
          <p:nvPr/>
        </p:nvSpPr>
        <p:spPr>
          <a:xfrm>
            <a:off x="3706475" y="4473250"/>
            <a:ext cx="4504742" cy="6149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특허발명의 실시에 대하여 합리적으로 받을 수 있는 금액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그 물건의 양도수량 중 </a:t>
            </a:r>
            <a:r>
              <a:rPr lang="ko-KR" altLang="en-US" sz="800" b="0" i="0" dirty="0">
                <a:solidFill>
                  <a:schemeClr val="tx1"/>
                </a:solidFill>
                <a:effectLst/>
                <a:latin typeface="Rix모던고딕 L" panose="02020603020101020101" pitchFamily="18" charset="-127"/>
              </a:rPr>
              <a:t>그 침해행위 외의 사유로 판매할 수 없었던 수량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(</a:t>
            </a:r>
            <a:r>
              <a:rPr lang="ko-KR" altLang="en-US" sz="800" b="0" i="0" dirty="0" err="1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실시권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 설정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/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허락 불가 </a:t>
            </a:r>
            <a:r>
              <a:rPr lang="ko-KR" altLang="en-US" sz="8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수량 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제외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)</a:t>
            </a:r>
            <a:r>
              <a:rPr lang="en-US" altLang="ko-KR" sz="800" b="0" i="0" dirty="0">
                <a:solidFill>
                  <a:schemeClr val="tx1"/>
                </a:solidFill>
                <a:effectLst/>
                <a:latin typeface="Rix모던고딕 L" panose="02020603020101020101" pitchFamily="18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FC85511-F73C-4345-AC61-E18C901F5FED}"/>
              </a:ext>
            </a:extLst>
          </p:cNvPr>
          <p:cNvSpPr/>
          <p:nvPr/>
        </p:nvSpPr>
        <p:spPr>
          <a:xfrm>
            <a:off x="1822782" y="4212073"/>
            <a:ext cx="4207084" cy="2321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</a:rPr>
              <a:t>특허권자 생산능력 범위 이내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E8D97E8-B2A7-4244-A17E-C906B30998C8}"/>
              </a:ext>
            </a:extLst>
          </p:cNvPr>
          <p:cNvSpPr/>
          <p:nvPr/>
        </p:nvSpPr>
        <p:spPr>
          <a:xfrm>
            <a:off x="5145271" y="2976423"/>
            <a:ext cx="2344014" cy="275661"/>
          </a:xfrm>
          <a:prstGeom prst="roundRect">
            <a:avLst>
              <a:gd name="adj" fmla="val 2761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침해자의 양도수량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498F8C57-2AEA-4636-A688-99454A18DDCE}"/>
              </a:ext>
            </a:extLst>
          </p:cNvPr>
          <p:cNvSpPr/>
          <p:nvPr/>
        </p:nvSpPr>
        <p:spPr>
          <a:xfrm>
            <a:off x="6180576" y="3502011"/>
            <a:ext cx="2344014" cy="399831"/>
          </a:xfrm>
          <a:prstGeom prst="roundRect">
            <a:avLst>
              <a:gd name="adj" fmla="val 2761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침해행위 외의 사유로 </a:t>
            </a:r>
            <a:endParaRPr lang="en-US" altLang="ko-KR" sz="11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판매할 수 없었던 수량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26D178C-DE1C-44D9-B159-C6A6AB377008}"/>
              </a:ext>
            </a:extLst>
          </p:cNvPr>
          <p:cNvSpPr/>
          <p:nvPr/>
        </p:nvSpPr>
        <p:spPr>
          <a:xfrm>
            <a:off x="6162135" y="4217317"/>
            <a:ext cx="4896927" cy="2321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</a:rPr>
              <a:t>특허권자 생산능력 범위 초과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A3FC5CF-C3D1-4E16-9FB9-F05BCD533206}"/>
              </a:ext>
            </a:extLst>
          </p:cNvPr>
          <p:cNvCxnSpPr>
            <a:cxnSpLocks/>
          </p:cNvCxnSpPr>
          <p:nvPr/>
        </p:nvCxnSpPr>
        <p:spPr>
          <a:xfrm>
            <a:off x="1762484" y="5597531"/>
            <a:ext cx="9362716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2D0F88A-67DA-48F2-97D0-3B531D3D4146}"/>
              </a:ext>
            </a:extLst>
          </p:cNvPr>
          <p:cNvCxnSpPr>
            <a:cxnSpLocks/>
          </p:cNvCxnSpPr>
          <p:nvPr/>
        </p:nvCxnSpPr>
        <p:spPr>
          <a:xfrm>
            <a:off x="8264106" y="5829603"/>
            <a:ext cx="286109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34862060-1594-4CB7-984E-C8D0B3EFC073}"/>
              </a:ext>
            </a:extLst>
          </p:cNvPr>
          <p:cNvCxnSpPr/>
          <p:nvPr/>
        </p:nvCxnSpPr>
        <p:spPr>
          <a:xfrm>
            <a:off x="3980776" y="5595187"/>
            <a:ext cx="0" cy="106098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391C2A6-41EA-495E-8471-1CE2DBA39E2C}"/>
              </a:ext>
            </a:extLst>
          </p:cNvPr>
          <p:cNvCxnSpPr/>
          <p:nvPr/>
        </p:nvCxnSpPr>
        <p:spPr>
          <a:xfrm>
            <a:off x="1762484" y="5595187"/>
            <a:ext cx="0" cy="1060986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EF0FD3B-B52C-46AA-A3D1-8AE633D67C20}"/>
              </a:ext>
            </a:extLst>
          </p:cNvPr>
          <p:cNvCxnSpPr/>
          <p:nvPr/>
        </p:nvCxnSpPr>
        <p:spPr>
          <a:xfrm>
            <a:off x="8264106" y="5595187"/>
            <a:ext cx="0" cy="1060986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247DDEA4-F117-4DE9-9B16-8FD57EFDA4E6}"/>
              </a:ext>
            </a:extLst>
          </p:cNvPr>
          <p:cNvCxnSpPr/>
          <p:nvPr/>
        </p:nvCxnSpPr>
        <p:spPr>
          <a:xfrm>
            <a:off x="7065034" y="5595187"/>
            <a:ext cx="0" cy="106098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CD422C8-308A-4969-A875-20A1BB5FFB5F}"/>
              </a:ext>
            </a:extLst>
          </p:cNvPr>
          <p:cNvCxnSpPr/>
          <p:nvPr/>
        </p:nvCxnSpPr>
        <p:spPr>
          <a:xfrm>
            <a:off x="11125192" y="5595187"/>
            <a:ext cx="0" cy="106098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3CEB35AD-8ABC-4DE1-BD87-5B69D00DA9AB}"/>
              </a:ext>
            </a:extLst>
          </p:cNvPr>
          <p:cNvCxnSpPr/>
          <p:nvPr/>
        </p:nvCxnSpPr>
        <p:spPr>
          <a:xfrm>
            <a:off x="6096000" y="5595187"/>
            <a:ext cx="0" cy="106098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182E634F-21EA-43C4-A8C5-0E6548BBB424}"/>
              </a:ext>
            </a:extLst>
          </p:cNvPr>
          <p:cNvSpPr/>
          <p:nvPr/>
        </p:nvSpPr>
        <p:spPr>
          <a:xfrm>
            <a:off x="1822781" y="6280029"/>
            <a:ext cx="6388436" cy="4404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특허발명의 실시에 대하여 합리적으로 받을 수 있는 금액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algn="ctr"/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(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그 물건의 양도수량 중 특허권자 또는 </a:t>
            </a:r>
            <a:r>
              <a:rPr lang="ko-KR" altLang="en-US" sz="800" b="0" i="0" dirty="0" err="1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전용실시권자가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 생산할 수 있었던 물건의 수량에서 실제 판매한 물건의 수량을 뺀 수량을 넘는 수량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(</a:t>
            </a:r>
            <a:r>
              <a:rPr lang="ko-KR" altLang="en-US" sz="800" b="0" i="0" dirty="0" err="1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실시권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 설정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/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허락 불가 </a:t>
            </a:r>
            <a:r>
              <a:rPr lang="ko-KR" altLang="en-US" sz="8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수량 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제외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))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7685C4A4-5BA0-445B-8E99-6F5BC399826B}"/>
              </a:ext>
            </a:extLst>
          </p:cNvPr>
          <p:cNvSpPr/>
          <p:nvPr/>
        </p:nvSpPr>
        <p:spPr>
          <a:xfrm>
            <a:off x="1822781" y="5982132"/>
            <a:ext cx="9236281" cy="2475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</a:rPr>
              <a:t>특허권자 생산능력 범위 초과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42D8773E-AFF8-45EE-8C4A-7B5FB6B030BD}"/>
              </a:ext>
            </a:extLst>
          </p:cNvPr>
          <p:cNvSpPr/>
          <p:nvPr/>
        </p:nvSpPr>
        <p:spPr>
          <a:xfrm>
            <a:off x="5145271" y="5446832"/>
            <a:ext cx="2344014" cy="274890"/>
          </a:xfrm>
          <a:prstGeom prst="roundRect">
            <a:avLst>
              <a:gd name="adj" fmla="val 2761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침해자의 양도수량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4A88147-FF30-4C3E-B70E-EBB85BBADFF9}"/>
              </a:ext>
            </a:extLst>
          </p:cNvPr>
          <p:cNvSpPr/>
          <p:nvPr/>
        </p:nvSpPr>
        <p:spPr>
          <a:xfrm>
            <a:off x="2373975" y="3331726"/>
            <a:ext cx="3267700" cy="204603"/>
          </a:xfrm>
          <a:prstGeom prst="roundRect">
            <a:avLst>
              <a:gd name="adj" fmla="val 27611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특허권자가 생산할 수 있었던 물건의 수량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2074E1A-6E72-4F99-9602-D89FCDD8FE6C}"/>
              </a:ext>
            </a:extLst>
          </p:cNvPr>
          <p:cNvSpPr/>
          <p:nvPr/>
        </p:nvSpPr>
        <p:spPr>
          <a:xfrm>
            <a:off x="8591908" y="3842218"/>
            <a:ext cx="2123788" cy="204290"/>
          </a:xfrm>
          <a:prstGeom prst="roundRect">
            <a:avLst>
              <a:gd name="adj" fmla="val 27611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 err="1">
                <a:solidFill>
                  <a:sysClr val="windowText" lastClr="000000"/>
                </a:solidFill>
              </a:rPr>
              <a:t>실시권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 설정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허락 불가 수량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7DD4091B-CF43-48A5-8DE0-0FB2251EC127}"/>
              </a:ext>
            </a:extLst>
          </p:cNvPr>
          <p:cNvSpPr/>
          <p:nvPr/>
        </p:nvSpPr>
        <p:spPr>
          <a:xfrm>
            <a:off x="8591908" y="1680291"/>
            <a:ext cx="2123788" cy="204290"/>
          </a:xfrm>
          <a:prstGeom prst="roundRect">
            <a:avLst>
              <a:gd name="adj" fmla="val 27611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 err="1">
                <a:solidFill>
                  <a:sysClr val="windowText" lastClr="000000"/>
                </a:solidFill>
              </a:rPr>
              <a:t>실시권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 설정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허락 불가 수량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83F32297-BEA6-453C-A781-00E3AB90C5E3}"/>
              </a:ext>
            </a:extLst>
          </p:cNvPr>
          <p:cNvSpPr/>
          <p:nvPr/>
        </p:nvSpPr>
        <p:spPr>
          <a:xfrm>
            <a:off x="8591908" y="5727458"/>
            <a:ext cx="2123788" cy="204290"/>
          </a:xfrm>
          <a:prstGeom prst="roundRect">
            <a:avLst>
              <a:gd name="adj" fmla="val 27611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 err="1">
                <a:solidFill>
                  <a:sysClr val="windowText" lastClr="000000"/>
                </a:solidFill>
              </a:rPr>
              <a:t>실시권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 설정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허락 불가 수량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6699B0-8A3E-461E-9433-F68DF91DAD0F}"/>
              </a:ext>
            </a:extLst>
          </p:cNvPr>
          <p:cNvSpPr/>
          <p:nvPr/>
        </p:nvSpPr>
        <p:spPr>
          <a:xfrm>
            <a:off x="6845963" y="1528560"/>
            <a:ext cx="438142" cy="42180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/>
              <a:t>인정</a:t>
            </a:r>
            <a:endParaRPr lang="en-US" altLang="ko-KR" sz="1100" dirty="0"/>
          </a:p>
          <a:p>
            <a:pPr algn="ctr"/>
            <a:r>
              <a:rPr lang="ko-KR" altLang="en-US" sz="1100" dirty="0"/>
              <a:t>수량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6F45ADE-2743-40CC-B709-780084A8D4F8}"/>
              </a:ext>
            </a:extLst>
          </p:cNvPr>
          <p:cNvSpPr/>
          <p:nvPr/>
        </p:nvSpPr>
        <p:spPr>
          <a:xfrm>
            <a:off x="3407873" y="3766351"/>
            <a:ext cx="438142" cy="42180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/>
              <a:t>인정</a:t>
            </a:r>
            <a:endParaRPr lang="en-US" altLang="ko-KR" sz="1100" dirty="0"/>
          </a:p>
          <a:p>
            <a:pPr algn="ctr"/>
            <a:r>
              <a:rPr lang="ko-KR" altLang="en-US" sz="1100" dirty="0"/>
              <a:t>수량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FBA0510-248C-4590-B8CD-BE55AB8BE301}"/>
              </a:ext>
            </a:extLst>
          </p:cNvPr>
          <p:cNvSpPr/>
          <p:nvPr/>
        </p:nvSpPr>
        <p:spPr>
          <a:xfrm>
            <a:off x="5787147" y="3775798"/>
            <a:ext cx="595898" cy="4218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생산능력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범위수량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93B20883-8B22-4CC0-89F1-3CE6612F37E2}"/>
              </a:ext>
            </a:extLst>
          </p:cNvPr>
          <p:cNvSpPr/>
          <p:nvPr/>
        </p:nvSpPr>
        <p:spPr>
          <a:xfrm>
            <a:off x="3663248" y="1765830"/>
            <a:ext cx="606830" cy="4218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생산능력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범위수량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9D32990-5DBE-4FEC-A82C-9EA5C8221A7C}"/>
              </a:ext>
            </a:extLst>
          </p:cNvPr>
          <p:cNvSpPr/>
          <p:nvPr/>
        </p:nvSpPr>
        <p:spPr>
          <a:xfrm>
            <a:off x="10906121" y="6279150"/>
            <a:ext cx="438142" cy="42180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/>
              <a:t>인정</a:t>
            </a:r>
            <a:endParaRPr lang="en-US" altLang="ko-KR" sz="1100" dirty="0"/>
          </a:p>
          <a:p>
            <a:pPr algn="ctr"/>
            <a:r>
              <a:rPr lang="ko-KR" altLang="en-US" sz="1100" dirty="0"/>
              <a:t>수량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4A8B721-E9AC-4987-9626-C957C1EA78DD}"/>
              </a:ext>
            </a:extLst>
          </p:cNvPr>
          <p:cNvSpPr/>
          <p:nvPr/>
        </p:nvSpPr>
        <p:spPr>
          <a:xfrm>
            <a:off x="7837962" y="2595124"/>
            <a:ext cx="1170761" cy="25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 err="1">
                <a:solidFill>
                  <a:srgbClr val="FF0000"/>
                </a:solidFill>
              </a:rPr>
              <a:t>항제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0F00E3C-97A8-4988-9FA0-F470569BDB74}"/>
              </a:ext>
            </a:extLst>
          </p:cNvPr>
          <p:cNvSpPr/>
          <p:nvPr/>
        </p:nvSpPr>
        <p:spPr>
          <a:xfrm>
            <a:off x="2234703" y="2700654"/>
            <a:ext cx="1170761" cy="25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 err="1">
                <a:solidFill>
                  <a:srgbClr val="FF0000"/>
                </a:solidFill>
              </a:rPr>
              <a:t>항제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5744495-11B9-43DB-878E-74A15745E171}"/>
              </a:ext>
            </a:extLst>
          </p:cNvPr>
          <p:cNvSpPr/>
          <p:nvPr/>
        </p:nvSpPr>
        <p:spPr>
          <a:xfrm>
            <a:off x="7337729" y="5004169"/>
            <a:ext cx="1170761" cy="25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 err="1">
                <a:solidFill>
                  <a:srgbClr val="FF0000"/>
                </a:solidFill>
              </a:rPr>
              <a:t>항제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02969D7-8612-43FB-A784-1378050570F0}"/>
              </a:ext>
            </a:extLst>
          </p:cNvPr>
          <p:cNvSpPr/>
          <p:nvPr/>
        </p:nvSpPr>
        <p:spPr>
          <a:xfrm>
            <a:off x="2034214" y="5044278"/>
            <a:ext cx="1170761" cy="25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 err="1">
                <a:solidFill>
                  <a:srgbClr val="FF0000"/>
                </a:solidFill>
              </a:rPr>
              <a:t>항제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5235482-E432-4889-A4F6-1EC4FA133D30}"/>
              </a:ext>
            </a:extLst>
          </p:cNvPr>
          <p:cNvSpPr/>
          <p:nvPr/>
        </p:nvSpPr>
        <p:spPr>
          <a:xfrm>
            <a:off x="7734352" y="6535495"/>
            <a:ext cx="1170761" cy="25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 err="1">
                <a:solidFill>
                  <a:srgbClr val="FF0000"/>
                </a:solidFill>
              </a:rPr>
              <a:t>항제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호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5</a:t>
            </a:r>
            <a:r>
              <a:rPr lang="ko-KR" altLang="en-US" sz="1100" dirty="0">
                <a:solidFill>
                  <a:srgbClr val="FF0000"/>
                </a:solidFill>
              </a:rPr>
              <a:t>항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F017C184-306A-4520-9093-AD7F36FB239D}"/>
              </a:ext>
            </a:extLst>
          </p:cNvPr>
          <p:cNvSpPr/>
          <p:nvPr/>
        </p:nvSpPr>
        <p:spPr>
          <a:xfrm>
            <a:off x="7690843" y="730014"/>
            <a:ext cx="3633164" cy="241468"/>
          </a:xfrm>
          <a:prstGeom prst="wedgeRoundRectCallout">
            <a:avLst>
              <a:gd name="adj1" fmla="val -63005"/>
              <a:gd name="adj2" fmla="val 291645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양도수량</a:t>
            </a:r>
            <a:r>
              <a:rPr lang="en-US" altLang="ko-KR" sz="1050" dirty="0">
                <a:solidFill>
                  <a:schemeClr val="tx1"/>
                </a:solidFill>
              </a:rPr>
              <a:t>-</a:t>
            </a:r>
            <a:r>
              <a:rPr lang="ko-KR" altLang="en-US" sz="1050" dirty="0">
                <a:solidFill>
                  <a:schemeClr val="tx1"/>
                </a:solidFill>
              </a:rPr>
              <a:t>침해외의 사유로 판매불가수량</a:t>
            </a:r>
          </a:p>
        </p:txBody>
      </p:sp>
      <p:sp>
        <p:nvSpPr>
          <p:cNvPr id="105" name="말풍선: 모서리가 둥근 사각형 104">
            <a:extLst>
              <a:ext uri="{FF2B5EF4-FFF2-40B4-BE49-F238E27FC236}">
                <a16:creationId xmlns:a16="http://schemas.microsoft.com/office/drawing/2014/main" id="{22884E30-6172-4C9D-BCBF-250531A9F7FF}"/>
              </a:ext>
            </a:extLst>
          </p:cNvPr>
          <p:cNvSpPr/>
          <p:nvPr/>
        </p:nvSpPr>
        <p:spPr>
          <a:xfrm>
            <a:off x="3017428" y="739911"/>
            <a:ext cx="1898469" cy="277786"/>
          </a:xfrm>
          <a:prstGeom prst="wedgeRoundRectCallout">
            <a:avLst>
              <a:gd name="adj1" fmla="val -7531"/>
              <a:gd name="adj2" fmla="val 30413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생산가능수량</a:t>
            </a:r>
            <a:r>
              <a:rPr lang="en-US" altLang="ko-KR" sz="1050" dirty="0">
                <a:solidFill>
                  <a:schemeClr val="tx1"/>
                </a:solidFill>
              </a:rPr>
              <a:t>-</a:t>
            </a:r>
            <a:r>
              <a:rPr lang="ko-KR" altLang="en-US" sz="1050" dirty="0">
                <a:solidFill>
                  <a:schemeClr val="tx1"/>
                </a:solidFill>
              </a:rPr>
              <a:t>실제판매수량</a:t>
            </a:r>
          </a:p>
        </p:txBody>
      </p:sp>
    </p:spTree>
    <p:extLst>
      <p:ext uri="{BB962C8B-B14F-4D97-AF65-F5344CB8AC3E}">
        <p14:creationId xmlns:p14="http://schemas.microsoft.com/office/powerpoint/2010/main" val="239857886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사각형: 둥근 모서리 1071">
            <a:extLst>
              <a:ext uri="{FF2B5EF4-FFF2-40B4-BE49-F238E27FC236}">
                <a16:creationId xmlns:a16="http://schemas.microsoft.com/office/drawing/2014/main" id="{F9171262-FDCC-4E06-9E42-D20DD172C132}"/>
              </a:ext>
            </a:extLst>
          </p:cNvPr>
          <p:cNvSpPr/>
          <p:nvPr/>
        </p:nvSpPr>
        <p:spPr>
          <a:xfrm>
            <a:off x="439947" y="995437"/>
            <a:ext cx="5911963" cy="2726825"/>
          </a:xfrm>
          <a:prstGeom prst="roundRect">
            <a:avLst>
              <a:gd name="adj" fmla="val 7809"/>
            </a:avLst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비밀유지명령제도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E84B2DC-111D-477A-8506-7F61B68A3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F8E976B-A1E7-4814-82ED-64D6CB37302C}"/>
              </a:ext>
            </a:extLst>
          </p:cNvPr>
          <p:cNvSpPr/>
          <p:nvPr/>
        </p:nvSpPr>
        <p:spPr>
          <a:xfrm>
            <a:off x="2786328" y="1112798"/>
            <a:ext cx="1302589" cy="353683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 및 소명</a:t>
            </a:r>
          </a:p>
        </p:txBody>
      </p:sp>
      <p:sp>
        <p:nvSpPr>
          <p:cNvPr id="294" name="사각형: 둥근 모서리 293">
            <a:extLst>
              <a:ext uri="{FF2B5EF4-FFF2-40B4-BE49-F238E27FC236}">
                <a16:creationId xmlns:a16="http://schemas.microsoft.com/office/drawing/2014/main" id="{6CD0EB25-1DFF-4C3E-92F3-DD8F1081AFF2}"/>
              </a:ext>
            </a:extLst>
          </p:cNvPr>
          <p:cNvSpPr/>
          <p:nvPr/>
        </p:nvSpPr>
        <p:spPr>
          <a:xfrm>
            <a:off x="879890" y="1647636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결정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인용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33" name="사각형: 둥근 모서리 332">
            <a:extLst>
              <a:ext uri="{FF2B5EF4-FFF2-40B4-BE49-F238E27FC236}">
                <a16:creationId xmlns:a16="http://schemas.microsoft.com/office/drawing/2014/main" id="{FD5F70BB-853E-4810-8220-7EB5A16A947C}"/>
              </a:ext>
            </a:extLst>
          </p:cNvPr>
          <p:cNvSpPr/>
          <p:nvPr/>
        </p:nvSpPr>
        <p:spPr>
          <a:xfrm>
            <a:off x="6823488" y="5848698"/>
            <a:ext cx="1181821" cy="353683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 및 소명</a:t>
            </a:r>
          </a:p>
        </p:txBody>
      </p:sp>
      <p:sp>
        <p:nvSpPr>
          <p:cNvPr id="338" name="다이아몬드 337">
            <a:extLst>
              <a:ext uri="{FF2B5EF4-FFF2-40B4-BE49-F238E27FC236}">
                <a16:creationId xmlns:a16="http://schemas.microsoft.com/office/drawing/2014/main" id="{E702BD65-D02B-4602-8C2A-9ED810D82193}"/>
              </a:ext>
            </a:extLst>
          </p:cNvPr>
          <p:cNvSpPr/>
          <p:nvPr/>
        </p:nvSpPr>
        <p:spPr>
          <a:xfrm>
            <a:off x="2639678" y="1651955"/>
            <a:ext cx="1595890" cy="3536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여부</a:t>
            </a:r>
          </a:p>
        </p:txBody>
      </p:sp>
      <p:sp>
        <p:nvSpPr>
          <p:cNvPr id="340" name="사각형: 둥근 모서리 339">
            <a:extLst>
              <a:ext uri="{FF2B5EF4-FFF2-40B4-BE49-F238E27FC236}">
                <a16:creationId xmlns:a16="http://schemas.microsoft.com/office/drawing/2014/main" id="{63996AEE-93D5-40A5-8E9E-25E41D3EAB71}"/>
              </a:ext>
            </a:extLst>
          </p:cNvPr>
          <p:cNvSpPr/>
          <p:nvPr/>
        </p:nvSpPr>
        <p:spPr>
          <a:xfrm>
            <a:off x="879890" y="2191144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송달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효력발생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1" name="사각형: 둥근 모서리 340">
            <a:extLst>
              <a:ext uri="{FF2B5EF4-FFF2-40B4-BE49-F238E27FC236}">
                <a16:creationId xmlns:a16="http://schemas.microsoft.com/office/drawing/2014/main" id="{C47F4A91-80B0-42CB-92AF-1790BD2ED909}"/>
              </a:ext>
            </a:extLst>
          </p:cNvPr>
          <p:cNvSpPr/>
          <p:nvPr/>
        </p:nvSpPr>
        <p:spPr>
          <a:xfrm>
            <a:off x="2846712" y="2191144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기각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각하</a:t>
            </a:r>
          </a:p>
        </p:txBody>
      </p:sp>
      <p:sp>
        <p:nvSpPr>
          <p:cNvPr id="342" name="사각형: 둥근 모서리 341">
            <a:extLst>
              <a:ext uri="{FF2B5EF4-FFF2-40B4-BE49-F238E27FC236}">
                <a16:creationId xmlns:a16="http://schemas.microsoft.com/office/drawing/2014/main" id="{C403573D-8DFF-4875-B0E6-AD8B517BEE43}"/>
              </a:ext>
            </a:extLst>
          </p:cNvPr>
          <p:cNvSpPr/>
          <p:nvPr/>
        </p:nvSpPr>
        <p:spPr>
          <a:xfrm>
            <a:off x="4813534" y="2191144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즉시 항고</a:t>
            </a:r>
          </a:p>
        </p:txBody>
      </p:sp>
      <p:sp>
        <p:nvSpPr>
          <p:cNvPr id="343" name="다이아몬드 342">
            <a:extLst>
              <a:ext uri="{FF2B5EF4-FFF2-40B4-BE49-F238E27FC236}">
                <a16:creationId xmlns:a16="http://schemas.microsoft.com/office/drawing/2014/main" id="{8FB2AD25-6CF4-46B7-BBB9-5094936DCFA8}"/>
              </a:ext>
            </a:extLst>
          </p:cNvPr>
          <p:cNvSpPr/>
          <p:nvPr/>
        </p:nvSpPr>
        <p:spPr>
          <a:xfrm>
            <a:off x="2639678" y="2730333"/>
            <a:ext cx="1595890" cy="353683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신청인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불복여부</a:t>
            </a:r>
          </a:p>
        </p:txBody>
      </p:sp>
      <p:sp>
        <p:nvSpPr>
          <p:cNvPr id="344" name="다이아몬드 343">
            <a:extLst>
              <a:ext uri="{FF2B5EF4-FFF2-40B4-BE49-F238E27FC236}">
                <a16:creationId xmlns:a16="http://schemas.microsoft.com/office/drawing/2014/main" id="{16EE10F8-E757-4065-AAE1-EDAB986D0CA8}"/>
              </a:ext>
            </a:extLst>
          </p:cNvPr>
          <p:cNvSpPr/>
          <p:nvPr/>
        </p:nvSpPr>
        <p:spPr>
          <a:xfrm>
            <a:off x="672855" y="2730333"/>
            <a:ext cx="1595890" cy="353683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명령받은</a:t>
            </a:r>
            <a:r>
              <a:rPr lang="ko-KR" altLang="en-US" sz="1100" dirty="0">
                <a:solidFill>
                  <a:schemeClr val="tx1"/>
                </a:solidFill>
              </a:rPr>
              <a:t> 자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불복여부</a:t>
            </a:r>
          </a:p>
        </p:txBody>
      </p:sp>
      <p:sp>
        <p:nvSpPr>
          <p:cNvPr id="345" name="다이아몬드 344">
            <a:extLst>
              <a:ext uri="{FF2B5EF4-FFF2-40B4-BE49-F238E27FC236}">
                <a16:creationId xmlns:a16="http://schemas.microsoft.com/office/drawing/2014/main" id="{C29E41DA-9A50-4FD6-9B9C-3C2BCEEF734B}"/>
              </a:ext>
            </a:extLst>
          </p:cNvPr>
          <p:cNvSpPr/>
          <p:nvPr/>
        </p:nvSpPr>
        <p:spPr>
          <a:xfrm>
            <a:off x="4606501" y="2730333"/>
            <a:ext cx="1595890" cy="353683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대법원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결정여부</a:t>
            </a:r>
          </a:p>
        </p:txBody>
      </p:sp>
      <p:sp>
        <p:nvSpPr>
          <p:cNvPr id="346" name="사각형: 둥근 모서리 345">
            <a:extLst>
              <a:ext uri="{FF2B5EF4-FFF2-40B4-BE49-F238E27FC236}">
                <a16:creationId xmlns:a16="http://schemas.microsoft.com/office/drawing/2014/main" id="{77D9D9C5-A9DD-4618-B190-3D176E7C0492}"/>
              </a:ext>
            </a:extLst>
          </p:cNvPr>
          <p:cNvSpPr/>
          <p:nvPr/>
        </p:nvSpPr>
        <p:spPr>
          <a:xfrm>
            <a:off x="2786328" y="3271652"/>
            <a:ext cx="1302589" cy="353683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확정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6025308-FF93-49EA-8B34-5D1E12EEB90C}"/>
              </a:ext>
            </a:extLst>
          </p:cNvPr>
          <p:cNvCxnSpPr>
            <a:stCxn id="6" idx="2"/>
            <a:endCxn id="338" idx="0"/>
          </p:cNvCxnSpPr>
          <p:nvPr/>
        </p:nvCxnSpPr>
        <p:spPr>
          <a:xfrm>
            <a:off x="3437623" y="1466481"/>
            <a:ext cx="0" cy="18547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1035B70-63A0-450F-8C1C-96AAC80648F0}"/>
              </a:ext>
            </a:extLst>
          </p:cNvPr>
          <p:cNvCxnSpPr>
            <a:stCxn id="338" idx="2"/>
            <a:endCxn id="341" idx="0"/>
          </p:cNvCxnSpPr>
          <p:nvPr/>
        </p:nvCxnSpPr>
        <p:spPr>
          <a:xfrm flipH="1">
            <a:off x="3437622" y="2005638"/>
            <a:ext cx="1" cy="1855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1467BA5-F809-4BE3-BC80-68DF5C31D91F}"/>
              </a:ext>
            </a:extLst>
          </p:cNvPr>
          <p:cNvCxnSpPr>
            <a:stCxn id="338" idx="1"/>
            <a:endCxn id="294" idx="3"/>
          </p:cNvCxnSpPr>
          <p:nvPr/>
        </p:nvCxnSpPr>
        <p:spPr>
          <a:xfrm flipH="1" flipV="1">
            <a:off x="2061710" y="1824478"/>
            <a:ext cx="577968" cy="431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B83AEB2-F39D-4BB9-AE92-C5F5E6BFEC8E}"/>
              </a:ext>
            </a:extLst>
          </p:cNvPr>
          <p:cNvCxnSpPr>
            <a:stCxn id="294" idx="2"/>
            <a:endCxn id="340" idx="0"/>
          </p:cNvCxnSpPr>
          <p:nvPr/>
        </p:nvCxnSpPr>
        <p:spPr>
          <a:xfrm>
            <a:off x="1470800" y="2001319"/>
            <a:ext cx="0" cy="18982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61D576E-84DE-413B-81A7-5BD3DD51669E}"/>
              </a:ext>
            </a:extLst>
          </p:cNvPr>
          <p:cNvCxnSpPr>
            <a:stCxn id="340" idx="2"/>
            <a:endCxn id="344" idx="0"/>
          </p:cNvCxnSpPr>
          <p:nvPr/>
        </p:nvCxnSpPr>
        <p:spPr>
          <a:xfrm>
            <a:off x="1470800" y="2544827"/>
            <a:ext cx="0" cy="1855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38B26E5-C05F-4BF7-A88E-46483291D351}"/>
              </a:ext>
            </a:extLst>
          </p:cNvPr>
          <p:cNvCxnSpPr>
            <a:stCxn id="341" idx="2"/>
            <a:endCxn id="343" idx="0"/>
          </p:cNvCxnSpPr>
          <p:nvPr/>
        </p:nvCxnSpPr>
        <p:spPr>
          <a:xfrm>
            <a:off x="3437622" y="2544827"/>
            <a:ext cx="1" cy="1855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D059C3D-1602-4753-92B6-2B622521EFBC}"/>
              </a:ext>
            </a:extLst>
          </p:cNvPr>
          <p:cNvCxnSpPr>
            <a:stCxn id="343" idx="2"/>
            <a:endCxn id="346" idx="0"/>
          </p:cNvCxnSpPr>
          <p:nvPr/>
        </p:nvCxnSpPr>
        <p:spPr>
          <a:xfrm>
            <a:off x="3437623" y="3084016"/>
            <a:ext cx="0" cy="18763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6188B417-1B02-4698-B52D-3626F678A40C}"/>
              </a:ext>
            </a:extLst>
          </p:cNvPr>
          <p:cNvCxnSpPr>
            <a:cxnSpLocks/>
            <a:stCxn id="344" idx="3"/>
            <a:endCxn id="346" idx="1"/>
          </p:cNvCxnSpPr>
          <p:nvPr/>
        </p:nvCxnSpPr>
        <p:spPr>
          <a:xfrm>
            <a:off x="2268745" y="2907175"/>
            <a:ext cx="517583" cy="54131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7D845BC9-967D-4FBA-B595-F117F288FF95}"/>
              </a:ext>
            </a:extLst>
          </p:cNvPr>
          <p:cNvCxnSpPr>
            <a:cxnSpLocks/>
            <a:stCxn id="345" idx="2"/>
            <a:endCxn id="346" idx="3"/>
          </p:cNvCxnSpPr>
          <p:nvPr/>
        </p:nvCxnSpPr>
        <p:spPr>
          <a:xfrm rot="5400000">
            <a:off x="4564443" y="2608491"/>
            <a:ext cx="364478" cy="1315529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9C1D916-F4F2-4B03-9A81-A9E585991AB6}"/>
              </a:ext>
            </a:extLst>
          </p:cNvPr>
          <p:cNvCxnSpPr>
            <a:stCxn id="345" idx="0"/>
            <a:endCxn id="342" idx="2"/>
          </p:cNvCxnSpPr>
          <p:nvPr/>
        </p:nvCxnSpPr>
        <p:spPr>
          <a:xfrm flipH="1" flipV="1">
            <a:off x="5404444" y="2544827"/>
            <a:ext cx="2" cy="1855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82A2D6E-33AD-4B84-A773-5ED8BAC615CD}"/>
              </a:ext>
            </a:extLst>
          </p:cNvPr>
          <p:cNvCxnSpPr>
            <a:stCxn id="342" idx="0"/>
            <a:endCxn id="338" idx="3"/>
          </p:cNvCxnSpPr>
          <p:nvPr/>
        </p:nvCxnSpPr>
        <p:spPr>
          <a:xfrm rot="16200000" flipV="1">
            <a:off x="4638833" y="1425533"/>
            <a:ext cx="362347" cy="116887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78A6D3F-33F3-4422-BAA5-2466768A9F46}"/>
              </a:ext>
            </a:extLst>
          </p:cNvPr>
          <p:cNvSpPr txBox="1"/>
          <p:nvPr/>
        </p:nvSpPr>
        <p:spPr>
          <a:xfrm>
            <a:off x="2195637" y="1580416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1D399A3F-7BC0-4F2F-A5D4-908715B8C77D}"/>
              </a:ext>
            </a:extLst>
          </p:cNvPr>
          <p:cNvSpPr txBox="1"/>
          <p:nvPr/>
        </p:nvSpPr>
        <p:spPr>
          <a:xfrm>
            <a:off x="3465881" y="1950281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FA0413B4-7EF1-493B-9F97-9BD8A42E69D9}"/>
              </a:ext>
            </a:extLst>
          </p:cNvPr>
          <p:cNvSpPr txBox="1"/>
          <p:nvPr/>
        </p:nvSpPr>
        <p:spPr>
          <a:xfrm>
            <a:off x="2216476" y="2672082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5E36AE25-2563-4583-A331-EC0DCA7F862D}"/>
              </a:ext>
            </a:extLst>
          </p:cNvPr>
          <p:cNvSpPr txBox="1"/>
          <p:nvPr/>
        </p:nvSpPr>
        <p:spPr>
          <a:xfrm>
            <a:off x="1467406" y="3177834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C0C6BFD6-4619-40FD-BCB2-BAC9EEA42939}"/>
              </a:ext>
            </a:extLst>
          </p:cNvPr>
          <p:cNvSpPr txBox="1"/>
          <p:nvPr/>
        </p:nvSpPr>
        <p:spPr>
          <a:xfrm>
            <a:off x="3437621" y="3042786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4963A958-DEE3-4FEB-963D-CE39702A553D}"/>
              </a:ext>
            </a:extLst>
          </p:cNvPr>
          <p:cNvSpPr txBox="1"/>
          <p:nvPr/>
        </p:nvSpPr>
        <p:spPr>
          <a:xfrm>
            <a:off x="5404444" y="2505891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54DC60DE-089F-49D9-A5CD-FDC68EBA384C}"/>
              </a:ext>
            </a:extLst>
          </p:cNvPr>
          <p:cNvSpPr txBox="1"/>
          <p:nvPr/>
        </p:nvSpPr>
        <p:spPr>
          <a:xfrm>
            <a:off x="5419980" y="3177834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738E34-2381-4354-A5B8-9DB682DED4F4}"/>
              </a:ext>
            </a:extLst>
          </p:cNvPr>
          <p:cNvSpPr txBox="1"/>
          <p:nvPr/>
        </p:nvSpPr>
        <p:spPr>
          <a:xfrm>
            <a:off x="4214728" y="2675391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86095EA-472F-4CD6-A2C7-28BB3F5D423A}"/>
              </a:ext>
            </a:extLst>
          </p:cNvPr>
          <p:cNvCxnSpPr>
            <a:stCxn id="343" idx="3"/>
            <a:endCxn id="345" idx="1"/>
          </p:cNvCxnSpPr>
          <p:nvPr/>
        </p:nvCxnSpPr>
        <p:spPr>
          <a:xfrm>
            <a:off x="4235568" y="2907175"/>
            <a:ext cx="37093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사각형: 둥근 모서리 353">
            <a:extLst>
              <a:ext uri="{FF2B5EF4-FFF2-40B4-BE49-F238E27FC236}">
                <a16:creationId xmlns:a16="http://schemas.microsoft.com/office/drawing/2014/main" id="{C2BFE29B-BBEB-4A76-8E96-BCD0D17C12DA}"/>
              </a:ext>
            </a:extLst>
          </p:cNvPr>
          <p:cNvSpPr/>
          <p:nvPr/>
        </p:nvSpPr>
        <p:spPr>
          <a:xfrm>
            <a:off x="879890" y="4317468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취소신청</a:t>
            </a:r>
          </a:p>
        </p:txBody>
      </p:sp>
      <p:sp>
        <p:nvSpPr>
          <p:cNvPr id="355" name="사각형: 둥근 모서리 354">
            <a:extLst>
              <a:ext uri="{FF2B5EF4-FFF2-40B4-BE49-F238E27FC236}">
                <a16:creationId xmlns:a16="http://schemas.microsoft.com/office/drawing/2014/main" id="{AF29EAAE-C330-4AC3-8CB0-06CCA2A9D6B7}"/>
              </a:ext>
            </a:extLst>
          </p:cNvPr>
          <p:cNvSpPr/>
          <p:nvPr/>
        </p:nvSpPr>
        <p:spPr>
          <a:xfrm>
            <a:off x="2846712" y="4671151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취소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유지결정</a:t>
            </a:r>
          </a:p>
        </p:txBody>
      </p:sp>
      <p:sp>
        <p:nvSpPr>
          <p:cNvPr id="356" name="사각형: 둥근 모서리 355">
            <a:extLst>
              <a:ext uri="{FF2B5EF4-FFF2-40B4-BE49-F238E27FC236}">
                <a16:creationId xmlns:a16="http://schemas.microsoft.com/office/drawing/2014/main" id="{5D4D98E7-D789-4BA5-AB51-43B6FC2DEBA0}"/>
              </a:ext>
            </a:extLst>
          </p:cNvPr>
          <p:cNvSpPr/>
          <p:nvPr/>
        </p:nvSpPr>
        <p:spPr>
          <a:xfrm>
            <a:off x="2846712" y="5171469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신청인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상대방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통지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57" name="사각형: 둥근 모서리 356">
            <a:extLst>
              <a:ext uri="{FF2B5EF4-FFF2-40B4-BE49-F238E27FC236}">
                <a16:creationId xmlns:a16="http://schemas.microsoft.com/office/drawing/2014/main" id="{87EB5888-1EAA-446F-BE83-5CE9AE815698}"/>
              </a:ext>
            </a:extLst>
          </p:cNvPr>
          <p:cNvSpPr/>
          <p:nvPr/>
        </p:nvSpPr>
        <p:spPr>
          <a:xfrm>
            <a:off x="1068215" y="5171469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그 밖의 비밀유지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명령받은</a:t>
            </a:r>
            <a:r>
              <a:rPr lang="ko-KR" altLang="en-US" sz="1100" dirty="0">
                <a:solidFill>
                  <a:schemeClr val="tx1"/>
                </a:solidFill>
              </a:rPr>
              <a:t> 자 통지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58" name="다이아몬드 357">
            <a:extLst>
              <a:ext uri="{FF2B5EF4-FFF2-40B4-BE49-F238E27FC236}">
                <a16:creationId xmlns:a16="http://schemas.microsoft.com/office/drawing/2014/main" id="{89264A04-7318-4A3E-985E-F1AC91EED854}"/>
              </a:ext>
            </a:extLst>
          </p:cNvPr>
          <p:cNvSpPr/>
          <p:nvPr/>
        </p:nvSpPr>
        <p:spPr>
          <a:xfrm>
            <a:off x="2570669" y="5665499"/>
            <a:ext cx="1733908" cy="353683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신청인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상대방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불복여부</a:t>
            </a:r>
          </a:p>
        </p:txBody>
      </p:sp>
      <p:sp>
        <p:nvSpPr>
          <p:cNvPr id="359" name="사각형: 둥근 모서리 358">
            <a:extLst>
              <a:ext uri="{FF2B5EF4-FFF2-40B4-BE49-F238E27FC236}">
                <a16:creationId xmlns:a16="http://schemas.microsoft.com/office/drawing/2014/main" id="{9D5B430A-5BD6-41D2-A884-5BA945A0C1FE}"/>
              </a:ext>
            </a:extLst>
          </p:cNvPr>
          <p:cNvSpPr/>
          <p:nvPr/>
        </p:nvSpPr>
        <p:spPr>
          <a:xfrm>
            <a:off x="2786328" y="6179018"/>
            <a:ext cx="1302589" cy="353683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확정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효력발생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64" name="사각형: 둥근 모서리 363">
            <a:extLst>
              <a:ext uri="{FF2B5EF4-FFF2-40B4-BE49-F238E27FC236}">
                <a16:creationId xmlns:a16="http://schemas.microsoft.com/office/drawing/2014/main" id="{1A86B61A-0F0B-47E4-A144-131086AEF7C1}"/>
              </a:ext>
            </a:extLst>
          </p:cNvPr>
          <p:cNvSpPr/>
          <p:nvPr/>
        </p:nvSpPr>
        <p:spPr>
          <a:xfrm>
            <a:off x="4813534" y="5112409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즉시 항고</a:t>
            </a:r>
          </a:p>
        </p:txBody>
      </p:sp>
      <p:sp>
        <p:nvSpPr>
          <p:cNvPr id="365" name="다이아몬드 364">
            <a:extLst>
              <a:ext uri="{FF2B5EF4-FFF2-40B4-BE49-F238E27FC236}">
                <a16:creationId xmlns:a16="http://schemas.microsoft.com/office/drawing/2014/main" id="{BAF86E95-09F5-4A15-8B2D-1FFB8C6B9F33}"/>
              </a:ext>
            </a:extLst>
          </p:cNvPr>
          <p:cNvSpPr/>
          <p:nvPr/>
        </p:nvSpPr>
        <p:spPr>
          <a:xfrm>
            <a:off x="4606501" y="5668850"/>
            <a:ext cx="1595890" cy="353683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대법원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결정여부</a:t>
            </a:r>
          </a:p>
        </p:txBody>
      </p:sp>
      <p:cxnSp>
        <p:nvCxnSpPr>
          <p:cNvPr id="366" name="연결선: 꺾임 365">
            <a:extLst>
              <a:ext uri="{FF2B5EF4-FFF2-40B4-BE49-F238E27FC236}">
                <a16:creationId xmlns:a16="http://schemas.microsoft.com/office/drawing/2014/main" id="{6AEA8DCB-3F6B-4B55-BA79-6E149F1A4302}"/>
              </a:ext>
            </a:extLst>
          </p:cNvPr>
          <p:cNvCxnSpPr>
            <a:cxnSpLocks/>
            <a:stCxn id="365" idx="2"/>
            <a:endCxn id="359" idx="3"/>
          </p:cNvCxnSpPr>
          <p:nvPr/>
        </p:nvCxnSpPr>
        <p:spPr>
          <a:xfrm rot="5400000">
            <a:off x="4580019" y="5531432"/>
            <a:ext cx="333327" cy="1315529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직선 화살표 연결선 366">
            <a:extLst>
              <a:ext uri="{FF2B5EF4-FFF2-40B4-BE49-F238E27FC236}">
                <a16:creationId xmlns:a16="http://schemas.microsoft.com/office/drawing/2014/main" id="{C7578AC5-9486-49F8-9688-92C2B39B376A}"/>
              </a:ext>
            </a:extLst>
          </p:cNvPr>
          <p:cNvCxnSpPr>
            <a:cxnSpLocks/>
            <a:stCxn id="365" idx="0"/>
            <a:endCxn id="364" idx="2"/>
          </p:cNvCxnSpPr>
          <p:nvPr/>
        </p:nvCxnSpPr>
        <p:spPr>
          <a:xfrm flipH="1" flipV="1">
            <a:off x="5404444" y="5466092"/>
            <a:ext cx="2" cy="2027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연결선: 꺾임 367">
            <a:extLst>
              <a:ext uri="{FF2B5EF4-FFF2-40B4-BE49-F238E27FC236}">
                <a16:creationId xmlns:a16="http://schemas.microsoft.com/office/drawing/2014/main" id="{D4D6D058-966C-412F-9B6F-8E8D29266079}"/>
              </a:ext>
            </a:extLst>
          </p:cNvPr>
          <p:cNvCxnSpPr>
            <a:cxnSpLocks/>
            <a:stCxn id="364" idx="0"/>
            <a:endCxn id="355" idx="3"/>
          </p:cNvCxnSpPr>
          <p:nvPr/>
        </p:nvCxnSpPr>
        <p:spPr>
          <a:xfrm rot="16200000" flipV="1">
            <a:off x="4584280" y="4292245"/>
            <a:ext cx="264416" cy="1375912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TextBox 368">
            <a:extLst>
              <a:ext uri="{FF2B5EF4-FFF2-40B4-BE49-F238E27FC236}">
                <a16:creationId xmlns:a16="http://schemas.microsoft.com/office/drawing/2014/main" id="{1599FD8E-1E2F-45EB-A97D-590071E14742}"/>
              </a:ext>
            </a:extLst>
          </p:cNvPr>
          <p:cNvSpPr txBox="1"/>
          <p:nvPr/>
        </p:nvSpPr>
        <p:spPr>
          <a:xfrm>
            <a:off x="5404444" y="5453034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15436224-DC85-47D9-A58F-3E503F0C1EAD}"/>
              </a:ext>
            </a:extLst>
          </p:cNvPr>
          <p:cNvSpPr txBox="1"/>
          <p:nvPr/>
        </p:nvSpPr>
        <p:spPr>
          <a:xfrm>
            <a:off x="5419980" y="6012839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6AF6B752-F7B6-4059-B9BF-D5D95B07D33F}"/>
              </a:ext>
            </a:extLst>
          </p:cNvPr>
          <p:cNvSpPr txBox="1"/>
          <p:nvPr/>
        </p:nvSpPr>
        <p:spPr>
          <a:xfrm>
            <a:off x="4214728" y="5596656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cxnSp>
        <p:nvCxnSpPr>
          <p:cNvPr id="372" name="직선 화살표 연결선 371">
            <a:extLst>
              <a:ext uri="{FF2B5EF4-FFF2-40B4-BE49-F238E27FC236}">
                <a16:creationId xmlns:a16="http://schemas.microsoft.com/office/drawing/2014/main" id="{9CBC0256-B38E-4EC7-8B39-04DA0D9F132E}"/>
              </a:ext>
            </a:extLst>
          </p:cNvPr>
          <p:cNvCxnSpPr>
            <a:cxnSpLocks/>
            <a:stCxn id="358" idx="3"/>
            <a:endCxn id="365" idx="1"/>
          </p:cNvCxnSpPr>
          <p:nvPr/>
        </p:nvCxnSpPr>
        <p:spPr>
          <a:xfrm>
            <a:off x="4304577" y="5842341"/>
            <a:ext cx="301924" cy="335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A18E36C9-282E-4294-A1AE-FAB9AA1C414F}"/>
              </a:ext>
            </a:extLst>
          </p:cNvPr>
          <p:cNvCxnSpPr>
            <a:stCxn id="354" idx="3"/>
            <a:endCxn id="355" idx="0"/>
          </p:cNvCxnSpPr>
          <p:nvPr/>
        </p:nvCxnSpPr>
        <p:spPr>
          <a:xfrm>
            <a:off x="2061710" y="4494310"/>
            <a:ext cx="1375912" cy="17684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3F82E41-0740-4687-BFEC-D5579EFE0032}"/>
              </a:ext>
            </a:extLst>
          </p:cNvPr>
          <p:cNvCxnSpPr>
            <a:stCxn id="355" idx="2"/>
            <a:endCxn id="356" idx="0"/>
          </p:cNvCxnSpPr>
          <p:nvPr/>
        </p:nvCxnSpPr>
        <p:spPr>
          <a:xfrm>
            <a:off x="3437622" y="5024834"/>
            <a:ext cx="0" cy="14663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5959F29-7BC2-49DD-B5FD-0D677DE473D7}"/>
              </a:ext>
            </a:extLst>
          </p:cNvPr>
          <p:cNvCxnSpPr>
            <a:stCxn id="356" idx="2"/>
            <a:endCxn id="358" idx="0"/>
          </p:cNvCxnSpPr>
          <p:nvPr/>
        </p:nvCxnSpPr>
        <p:spPr>
          <a:xfrm>
            <a:off x="3437622" y="5525152"/>
            <a:ext cx="1" cy="1403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화살표 연결선 372">
            <a:extLst>
              <a:ext uri="{FF2B5EF4-FFF2-40B4-BE49-F238E27FC236}">
                <a16:creationId xmlns:a16="http://schemas.microsoft.com/office/drawing/2014/main" id="{F77FE61D-3B30-44D7-929A-68FF35C06BD3}"/>
              </a:ext>
            </a:extLst>
          </p:cNvPr>
          <p:cNvCxnSpPr>
            <a:stCxn id="358" idx="2"/>
            <a:endCxn id="359" idx="0"/>
          </p:cNvCxnSpPr>
          <p:nvPr/>
        </p:nvCxnSpPr>
        <p:spPr>
          <a:xfrm>
            <a:off x="3437623" y="6019182"/>
            <a:ext cx="0" cy="15983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연결선: 꺾임 374">
            <a:extLst>
              <a:ext uri="{FF2B5EF4-FFF2-40B4-BE49-F238E27FC236}">
                <a16:creationId xmlns:a16="http://schemas.microsoft.com/office/drawing/2014/main" id="{4FF9014B-AC43-405B-BB36-6DE135879CA1}"/>
              </a:ext>
            </a:extLst>
          </p:cNvPr>
          <p:cNvCxnSpPr>
            <a:stCxn id="355" idx="1"/>
            <a:endCxn id="357" idx="0"/>
          </p:cNvCxnSpPr>
          <p:nvPr/>
        </p:nvCxnSpPr>
        <p:spPr>
          <a:xfrm rot="10800000" flipV="1">
            <a:off x="1659126" y="4847993"/>
            <a:ext cx="1187587" cy="32347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>
            <a:extLst>
              <a:ext uri="{FF2B5EF4-FFF2-40B4-BE49-F238E27FC236}">
                <a16:creationId xmlns:a16="http://schemas.microsoft.com/office/drawing/2014/main" id="{8431EE13-EA2B-4CDC-AAFE-86B10963DBA2}"/>
              </a:ext>
            </a:extLst>
          </p:cNvPr>
          <p:cNvSpPr txBox="1"/>
          <p:nvPr/>
        </p:nvSpPr>
        <p:spPr>
          <a:xfrm>
            <a:off x="3437621" y="5975990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79" name="사각형: 둥근 모서리 378">
            <a:extLst>
              <a:ext uri="{FF2B5EF4-FFF2-40B4-BE49-F238E27FC236}">
                <a16:creationId xmlns:a16="http://schemas.microsoft.com/office/drawing/2014/main" id="{68DD8ACF-67D4-46D2-B826-E9571BBECC74}"/>
              </a:ext>
            </a:extLst>
          </p:cNvPr>
          <p:cNvSpPr/>
          <p:nvPr/>
        </p:nvSpPr>
        <p:spPr>
          <a:xfrm>
            <a:off x="6823489" y="1466478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소송서류열람등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제한신청</a:t>
            </a:r>
          </a:p>
        </p:txBody>
      </p:sp>
      <p:sp>
        <p:nvSpPr>
          <p:cNvPr id="380" name="사각형: 둥근 모서리 379">
            <a:extLst>
              <a:ext uri="{FF2B5EF4-FFF2-40B4-BE49-F238E27FC236}">
                <a16:creationId xmlns:a16="http://schemas.microsoft.com/office/drawing/2014/main" id="{CC9E1967-1209-4967-B1D3-970E23D832DF}"/>
              </a:ext>
            </a:extLst>
          </p:cNvPr>
          <p:cNvSpPr/>
          <p:nvPr/>
        </p:nvSpPr>
        <p:spPr>
          <a:xfrm>
            <a:off x="6823489" y="1999151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소송서류열람등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제한결정</a:t>
            </a:r>
          </a:p>
        </p:txBody>
      </p:sp>
      <p:sp>
        <p:nvSpPr>
          <p:cNvPr id="381" name="사각형: 둥근 모서리 380">
            <a:extLst>
              <a:ext uri="{FF2B5EF4-FFF2-40B4-BE49-F238E27FC236}">
                <a16:creationId xmlns:a16="http://schemas.microsoft.com/office/drawing/2014/main" id="{EE138FCD-5652-437B-8E7A-C802941C8860}"/>
              </a:ext>
            </a:extLst>
          </p:cNvPr>
          <p:cNvSpPr/>
          <p:nvPr/>
        </p:nvSpPr>
        <p:spPr>
          <a:xfrm>
            <a:off x="6823489" y="2618101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당사자 </a:t>
            </a:r>
            <a:r>
              <a:rPr lang="ko-KR" altLang="en-US" sz="1100" dirty="0" err="1">
                <a:solidFill>
                  <a:schemeClr val="tx1"/>
                </a:solidFill>
              </a:rPr>
              <a:t>열람등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84" name="다이아몬드 383">
            <a:extLst>
              <a:ext uri="{FF2B5EF4-FFF2-40B4-BE49-F238E27FC236}">
                <a16:creationId xmlns:a16="http://schemas.microsoft.com/office/drawing/2014/main" id="{8505872E-FD60-46F1-9C77-DE752B61D09C}"/>
              </a:ext>
            </a:extLst>
          </p:cNvPr>
          <p:cNvSpPr/>
          <p:nvPr/>
        </p:nvSpPr>
        <p:spPr>
          <a:xfrm>
            <a:off x="6616454" y="3177834"/>
            <a:ext cx="1595890" cy="603791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신청자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받은 자</a:t>
            </a:r>
          </a:p>
        </p:txBody>
      </p:sp>
      <p:sp>
        <p:nvSpPr>
          <p:cNvPr id="385" name="사각형: 둥근 모서리 384">
            <a:extLst>
              <a:ext uri="{FF2B5EF4-FFF2-40B4-BE49-F238E27FC236}">
                <a16:creationId xmlns:a16="http://schemas.microsoft.com/office/drawing/2014/main" id="{89CFC221-BAFA-406B-B626-09BB4043E43A}"/>
              </a:ext>
            </a:extLst>
          </p:cNvPr>
          <p:cNvSpPr/>
          <p:nvPr/>
        </p:nvSpPr>
        <p:spPr>
          <a:xfrm>
            <a:off x="6823489" y="3955171"/>
            <a:ext cx="1181820" cy="353683"/>
          </a:xfrm>
          <a:prstGeom prst="roundRect">
            <a:avLst>
              <a:gd name="adj" fmla="val 46341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소송서류열람등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실시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86" name="다이아몬드 385">
            <a:extLst>
              <a:ext uri="{FF2B5EF4-FFF2-40B4-BE49-F238E27FC236}">
                <a16:creationId xmlns:a16="http://schemas.microsoft.com/office/drawing/2014/main" id="{8DB7808B-0E27-4100-BED0-40E748F88596}"/>
              </a:ext>
            </a:extLst>
          </p:cNvPr>
          <p:cNvSpPr/>
          <p:nvPr/>
        </p:nvSpPr>
        <p:spPr>
          <a:xfrm>
            <a:off x="8350365" y="3955171"/>
            <a:ext cx="1595890" cy="353683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당사자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동의여부</a:t>
            </a:r>
          </a:p>
        </p:txBody>
      </p:sp>
      <p:sp>
        <p:nvSpPr>
          <p:cNvPr id="387" name="사각형: 둥근 모서리 386">
            <a:extLst>
              <a:ext uri="{FF2B5EF4-FFF2-40B4-BE49-F238E27FC236}">
                <a16:creationId xmlns:a16="http://schemas.microsoft.com/office/drawing/2014/main" id="{9E1F6198-A16D-4D53-8C67-A971D31D80B5}"/>
              </a:ext>
            </a:extLst>
          </p:cNvPr>
          <p:cNvSpPr/>
          <p:nvPr/>
        </p:nvSpPr>
        <p:spPr>
          <a:xfrm>
            <a:off x="8476888" y="3306259"/>
            <a:ext cx="1342844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서류열람제한신청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당사자에게 통지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88" name="다이아몬드 387">
            <a:extLst>
              <a:ext uri="{FF2B5EF4-FFF2-40B4-BE49-F238E27FC236}">
                <a16:creationId xmlns:a16="http://schemas.microsoft.com/office/drawing/2014/main" id="{FF0C2747-F3CB-4F25-BB64-98BC48692B68}"/>
              </a:ext>
            </a:extLst>
          </p:cNvPr>
          <p:cNvSpPr/>
          <p:nvPr/>
        </p:nvSpPr>
        <p:spPr>
          <a:xfrm>
            <a:off x="8350365" y="4485695"/>
            <a:ext cx="1595890" cy="353683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주일경과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또는 재판확정 </a:t>
            </a:r>
          </a:p>
        </p:txBody>
      </p:sp>
      <p:sp>
        <p:nvSpPr>
          <p:cNvPr id="389" name="사각형: 둥근 모서리 388">
            <a:extLst>
              <a:ext uri="{FF2B5EF4-FFF2-40B4-BE49-F238E27FC236}">
                <a16:creationId xmlns:a16="http://schemas.microsoft.com/office/drawing/2014/main" id="{790EEE6B-C78D-4B42-9B71-F614DCF76172}"/>
              </a:ext>
            </a:extLst>
          </p:cNvPr>
          <p:cNvSpPr/>
          <p:nvPr/>
        </p:nvSpPr>
        <p:spPr>
          <a:xfrm>
            <a:off x="10356024" y="4485695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소송서류열람등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금지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90" name="사각형: 둥근 모서리 389">
            <a:extLst>
              <a:ext uri="{FF2B5EF4-FFF2-40B4-BE49-F238E27FC236}">
                <a16:creationId xmlns:a16="http://schemas.microsoft.com/office/drawing/2014/main" id="{F354B9AA-1696-4180-8369-EEC553070C99}"/>
              </a:ext>
            </a:extLst>
          </p:cNvPr>
          <p:cNvSpPr/>
          <p:nvPr/>
        </p:nvSpPr>
        <p:spPr>
          <a:xfrm>
            <a:off x="8476888" y="5848697"/>
            <a:ext cx="1342844" cy="353683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고소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91" name="사각형: 둥근 모서리 390">
            <a:extLst>
              <a:ext uri="{FF2B5EF4-FFF2-40B4-BE49-F238E27FC236}">
                <a16:creationId xmlns:a16="http://schemas.microsoft.com/office/drawing/2014/main" id="{B99AC86E-78A6-4618-8988-76A96A6F401B}"/>
              </a:ext>
            </a:extLst>
          </p:cNvPr>
          <p:cNvSpPr/>
          <p:nvPr/>
        </p:nvSpPr>
        <p:spPr>
          <a:xfrm>
            <a:off x="10356022" y="5848697"/>
            <a:ext cx="1181821" cy="353683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형사처벌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1030" name="직선 화살표 연결선 1029">
            <a:extLst>
              <a:ext uri="{FF2B5EF4-FFF2-40B4-BE49-F238E27FC236}">
                <a16:creationId xmlns:a16="http://schemas.microsoft.com/office/drawing/2014/main" id="{31B65F2A-8C3C-4037-BE6C-7D423A6E5194}"/>
              </a:ext>
            </a:extLst>
          </p:cNvPr>
          <p:cNvCxnSpPr>
            <a:stCxn id="379" idx="2"/>
            <a:endCxn id="380" idx="0"/>
          </p:cNvCxnSpPr>
          <p:nvPr/>
        </p:nvCxnSpPr>
        <p:spPr>
          <a:xfrm>
            <a:off x="7414399" y="1820161"/>
            <a:ext cx="0" cy="17899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B24E83D7-474C-4CC0-90F0-C0D7B6B31C10}"/>
              </a:ext>
            </a:extLst>
          </p:cNvPr>
          <p:cNvCxnSpPr>
            <a:stCxn id="380" idx="2"/>
            <a:endCxn id="381" idx="0"/>
          </p:cNvCxnSpPr>
          <p:nvPr/>
        </p:nvCxnSpPr>
        <p:spPr>
          <a:xfrm>
            <a:off x="7414399" y="2352834"/>
            <a:ext cx="0" cy="26526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8D0CBC2F-935C-4934-B76C-C71277BDC8AA}"/>
              </a:ext>
            </a:extLst>
          </p:cNvPr>
          <p:cNvCxnSpPr>
            <a:stCxn id="381" idx="2"/>
            <a:endCxn id="384" idx="0"/>
          </p:cNvCxnSpPr>
          <p:nvPr/>
        </p:nvCxnSpPr>
        <p:spPr>
          <a:xfrm>
            <a:off x="7414399" y="2971784"/>
            <a:ext cx="0" cy="20605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직선 화살표 연결선 1035">
            <a:extLst>
              <a:ext uri="{FF2B5EF4-FFF2-40B4-BE49-F238E27FC236}">
                <a16:creationId xmlns:a16="http://schemas.microsoft.com/office/drawing/2014/main" id="{4B77180A-A2CC-4E14-8E99-A6A024741F75}"/>
              </a:ext>
            </a:extLst>
          </p:cNvPr>
          <p:cNvCxnSpPr>
            <a:stCxn id="384" idx="3"/>
            <a:endCxn id="387" idx="1"/>
          </p:cNvCxnSpPr>
          <p:nvPr/>
        </p:nvCxnSpPr>
        <p:spPr>
          <a:xfrm>
            <a:off x="8212344" y="3479730"/>
            <a:ext cx="264544" cy="337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직선 화살표 연결선 1037">
            <a:extLst>
              <a:ext uri="{FF2B5EF4-FFF2-40B4-BE49-F238E27FC236}">
                <a16:creationId xmlns:a16="http://schemas.microsoft.com/office/drawing/2014/main" id="{138A375B-371E-4384-BA54-21C2C4B760C1}"/>
              </a:ext>
            </a:extLst>
          </p:cNvPr>
          <p:cNvCxnSpPr>
            <a:stCxn id="384" idx="2"/>
            <a:endCxn id="385" idx="0"/>
          </p:cNvCxnSpPr>
          <p:nvPr/>
        </p:nvCxnSpPr>
        <p:spPr>
          <a:xfrm>
            <a:off x="7414399" y="3781625"/>
            <a:ext cx="0" cy="1735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직선 화살표 연결선 1039">
            <a:extLst>
              <a:ext uri="{FF2B5EF4-FFF2-40B4-BE49-F238E27FC236}">
                <a16:creationId xmlns:a16="http://schemas.microsoft.com/office/drawing/2014/main" id="{154EF832-1ADA-4319-87BC-743EFCDACBAA}"/>
              </a:ext>
            </a:extLst>
          </p:cNvPr>
          <p:cNvCxnSpPr>
            <a:stCxn id="387" idx="2"/>
            <a:endCxn id="386" idx="0"/>
          </p:cNvCxnSpPr>
          <p:nvPr/>
        </p:nvCxnSpPr>
        <p:spPr>
          <a:xfrm>
            <a:off x="9148310" y="3659942"/>
            <a:ext cx="0" cy="29522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직선 화살표 연결선 1041">
            <a:extLst>
              <a:ext uri="{FF2B5EF4-FFF2-40B4-BE49-F238E27FC236}">
                <a16:creationId xmlns:a16="http://schemas.microsoft.com/office/drawing/2014/main" id="{29609439-0E7F-48E3-A20D-5AC80DC4EBF3}"/>
              </a:ext>
            </a:extLst>
          </p:cNvPr>
          <p:cNvCxnSpPr>
            <a:stCxn id="386" idx="1"/>
            <a:endCxn id="385" idx="3"/>
          </p:cNvCxnSpPr>
          <p:nvPr/>
        </p:nvCxnSpPr>
        <p:spPr>
          <a:xfrm flipH="1">
            <a:off x="8005309" y="4132013"/>
            <a:ext cx="34505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직선 화살표 연결선 1043">
            <a:extLst>
              <a:ext uri="{FF2B5EF4-FFF2-40B4-BE49-F238E27FC236}">
                <a16:creationId xmlns:a16="http://schemas.microsoft.com/office/drawing/2014/main" id="{CE49F6D4-AF0A-4F6F-9CFD-909E2AABCAF8}"/>
              </a:ext>
            </a:extLst>
          </p:cNvPr>
          <p:cNvCxnSpPr>
            <a:stCxn id="386" idx="2"/>
            <a:endCxn id="388" idx="0"/>
          </p:cNvCxnSpPr>
          <p:nvPr/>
        </p:nvCxnSpPr>
        <p:spPr>
          <a:xfrm>
            <a:off x="9148310" y="4308854"/>
            <a:ext cx="0" cy="17684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직선 화살표 연결선 1045">
            <a:extLst>
              <a:ext uri="{FF2B5EF4-FFF2-40B4-BE49-F238E27FC236}">
                <a16:creationId xmlns:a16="http://schemas.microsoft.com/office/drawing/2014/main" id="{B3A5A1EF-0720-4E3D-83D0-B35FA8DF1DAB}"/>
              </a:ext>
            </a:extLst>
          </p:cNvPr>
          <p:cNvCxnSpPr>
            <a:stCxn id="388" idx="3"/>
            <a:endCxn id="389" idx="1"/>
          </p:cNvCxnSpPr>
          <p:nvPr/>
        </p:nvCxnSpPr>
        <p:spPr>
          <a:xfrm>
            <a:off x="9946255" y="4662537"/>
            <a:ext cx="409769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연결선: 꺾임 1049">
            <a:extLst>
              <a:ext uri="{FF2B5EF4-FFF2-40B4-BE49-F238E27FC236}">
                <a16:creationId xmlns:a16="http://schemas.microsoft.com/office/drawing/2014/main" id="{B778D65B-99C6-4C58-942C-9731B44B5D0E}"/>
              </a:ext>
            </a:extLst>
          </p:cNvPr>
          <p:cNvCxnSpPr>
            <a:stCxn id="387" idx="0"/>
            <a:endCxn id="6" idx="3"/>
          </p:cNvCxnSpPr>
          <p:nvPr/>
        </p:nvCxnSpPr>
        <p:spPr>
          <a:xfrm rot="16200000" flipV="1">
            <a:off x="5610305" y="-231747"/>
            <a:ext cx="2016619" cy="505939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연결선: 꺾임 1051">
            <a:extLst>
              <a:ext uri="{FF2B5EF4-FFF2-40B4-BE49-F238E27FC236}">
                <a16:creationId xmlns:a16="http://schemas.microsoft.com/office/drawing/2014/main" id="{BACCC47C-2B6D-454B-925F-446B38A627BB}"/>
              </a:ext>
            </a:extLst>
          </p:cNvPr>
          <p:cNvCxnSpPr>
            <a:cxnSpLocks/>
            <a:stCxn id="389" idx="2"/>
          </p:cNvCxnSpPr>
          <p:nvPr/>
        </p:nvCxnSpPr>
        <p:spPr>
          <a:xfrm rot="5400000" flipH="1">
            <a:off x="10072472" y="3964917"/>
            <a:ext cx="3095" cy="1745828"/>
          </a:xfrm>
          <a:prstGeom prst="bentConnector3">
            <a:avLst>
              <a:gd name="adj1" fmla="val -738610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화살표 연결선 392">
            <a:extLst>
              <a:ext uri="{FF2B5EF4-FFF2-40B4-BE49-F238E27FC236}">
                <a16:creationId xmlns:a16="http://schemas.microsoft.com/office/drawing/2014/main" id="{438AEFA0-F804-4F5D-B121-7B62A9937FCB}"/>
              </a:ext>
            </a:extLst>
          </p:cNvPr>
          <p:cNvCxnSpPr>
            <a:stCxn id="344" idx="2"/>
            <a:endCxn id="354" idx="0"/>
          </p:cNvCxnSpPr>
          <p:nvPr/>
        </p:nvCxnSpPr>
        <p:spPr>
          <a:xfrm>
            <a:off x="1470800" y="3084016"/>
            <a:ext cx="0" cy="123345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9DA38F82-2942-461B-BC08-7A1A539C4BAE}"/>
              </a:ext>
            </a:extLst>
          </p:cNvPr>
          <p:cNvSpPr txBox="1"/>
          <p:nvPr/>
        </p:nvSpPr>
        <p:spPr>
          <a:xfrm>
            <a:off x="8020625" y="3861092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87FD8A56-25A7-42C3-8BD4-85AB37BFBEF2}"/>
              </a:ext>
            </a:extLst>
          </p:cNvPr>
          <p:cNvSpPr txBox="1"/>
          <p:nvPr/>
        </p:nvSpPr>
        <p:spPr>
          <a:xfrm>
            <a:off x="7737793" y="4419570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BEAF20CB-9C59-4CA4-B030-69B30B0C9669}"/>
              </a:ext>
            </a:extLst>
          </p:cNvPr>
          <p:cNvSpPr txBox="1"/>
          <p:nvPr/>
        </p:nvSpPr>
        <p:spPr>
          <a:xfrm>
            <a:off x="7399141" y="3726923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7C7FE035-4979-49DC-8A82-FC0C883F8C0E}"/>
              </a:ext>
            </a:extLst>
          </p:cNvPr>
          <p:cNvSpPr txBox="1"/>
          <p:nvPr/>
        </p:nvSpPr>
        <p:spPr>
          <a:xfrm>
            <a:off x="8135128" y="3249814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2A1D90D7-C7B0-4A76-B7EB-390A3E893AB0}"/>
              </a:ext>
            </a:extLst>
          </p:cNvPr>
          <p:cNvSpPr txBox="1"/>
          <p:nvPr/>
        </p:nvSpPr>
        <p:spPr>
          <a:xfrm>
            <a:off x="9151607" y="4252409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0B04C39F-642A-4DFA-9009-DDD9EFF0E0F1}"/>
              </a:ext>
            </a:extLst>
          </p:cNvPr>
          <p:cNvSpPr txBox="1"/>
          <p:nvPr/>
        </p:nvSpPr>
        <p:spPr>
          <a:xfrm>
            <a:off x="9946255" y="4416869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cxnSp>
        <p:nvCxnSpPr>
          <p:cNvPr id="401" name="연결선: 꺾임 400">
            <a:extLst>
              <a:ext uri="{FF2B5EF4-FFF2-40B4-BE49-F238E27FC236}">
                <a16:creationId xmlns:a16="http://schemas.microsoft.com/office/drawing/2014/main" id="{8B8D041F-DD83-4332-BE01-F2E23AF1306A}"/>
              </a:ext>
            </a:extLst>
          </p:cNvPr>
          <p:cNvCxnSpPr>
            <a:stCxn id="388" idx="1"/>
            <a:endCxn id="385" idx="2"/>
          </p:cNvCxnSpPr>
          <p:nvPr/>
        </p:nvCxnSpPr>
        <p:spPr>
          <a:xfrm rot="10800000">
            <a:off x="7414399" y="4308855"/>
            <a:ext cx="935966" cy="35368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화살표 연결선 402">
            <a:extLst>
              <a:ext uri="{FF2B5EF4-FFF2-40B4-BE49-F238E27FC236}">
                <a16:creationId xmlns:a16="http://schemas.microsoft.com/office/drawing/2014/main" id="{A54039F1-C6AA-4DCC-ACFC-2E4C80E5D6FE}"/>
              </a:ext>
            </a:extLst>
          </p:cNvPr>
          <p:cNvCxnSpPr>
            <a:stCxn id="333" idx="3"/>
            <a:endCxn id="390" idx="1"/>
          </p:cNvCxnSpPr>
          <p:nvPr/>
        </p:nvCxnSpPr>
        <p:spPr>
          <a:xfrm flipV="1">
            <a:off x="8005309" y="6025539"/>
            <a:ext cx="471579" cy="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화살표 연결선 404">
            <a:extLst>
              <a:ext uri="{FF2B5EF4-FFF2-40B4-BE49-F238E27FC236}">
                <a16:creationId xmlns:a16="http://schemas.microsoft.com/office/drawing/2014/main" id="{E3827C35-2246-4E28-BB22-EBA318AD1029}"/>
              </a:ext>
            </a:extLst>
          </p:cNvPr>
          <p:cNvCxnSpPr>
            <a:stCxn id="390" idx="3"/>
            <a:endCxn id="391" idx="1"/>
          </p:cNvCxnSpPr>
          <p:nvPr/>
        </p:nvCxnSpPr>
        <p:spPr>
          <a:xfrm>
            <a:off x="9819732" y="6025539"/>
            <a:ext cx="53629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연결선: 꺾임 413">
            <a:extLst>
              <a:ext uri="{FF2B5EF4-FFF2-40B4-BE49-F238E27FC236}">
                <a16:creationId xmlns:a16="http://schemas.microsoft.com/office/drawing/2014/main" id="{7F425C0C-5A36-447D-BAC3-1449E3743D4A}"/>
              </a:ext>
            </a:extLst>
          </p:cNvPr>
          <p:cNvCxnSpPr>
            <a:cxnSpLocks/>
          </p:cNvCxnSpPr>
          <p:nvPr/>
        </p:nvCxnSpPr>
        <p:spPr>
          <a:xfrm rot="5400000">
            <a:off x="2052523" y="3172372"/>
            <a:ext cx="688864" cy="15925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연결선: 꺾임 1055">
            <a:extLst>
              <a:ext uri="{FF2B5EF4-FFF2-40B4-BE49-F238E27FC236}">
                <a16:creationId xmlns:a16="http://schemas.microsoft.com/office/drawing/2014/main" id="{A917839F-A040-4E63-B2A0-1373B4DD3B18}"/>
              </a:ext>
            </a:extLst>
          </p:cNvPr>
          <p:cNvCxnSpPr>
            <a:cxnSpLocks/>
            <a:endCxn id="379" idx="1"/>
          </p:cNvCxnSpPr>
          <p:nvPr/>
        </p:nvCxnSpPr>
        <p:spPr>
          <a:xfrm rot="5400000" flipH="1" flipV="1">
            <a:off x="4233922" y="1034661"/>
            <a:ext cx="1980907" cy="3198225"/>
          </a:xfrm>
          <a:prstGeom prst="bentConnector4">
            <a:avLst>
              <a:gd name="adj1" fmla="val -11540"/>
              <a:gd name="adj2" fmla="val 87155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자유형: 도형 1067">
            <a:extLst>
              <a:ext uri="{FF2B5EF4-FFF2-40B4-BE49-F238E27FC236}">
                <a16:creationId xmlns:a16="http://schemas.microsoft.com/office/drawing/2014/main" id="{6F377078-F3D2-4FDC-B689-0A48D42920F5}"/>
              </a:ext>
            </a:extLst>
          </p:cNvPr>
          <p:cNvSpPr/>
          <p:nvPr/>
        </p:nvSpPr>
        <p:spPr>
          <a:xfrm>
            <a:off x="3489980" y="3628850"/>
            <a:ext cx="5645150" cy="1447800"/>
          </a:xfrm>
          <a:custGeom>
            <a:avLst/>
            <a:gdLst>
              <a:gd name="connsiteX0" fmla="*/ 0 w 5645150"/>
              <a:gd name="connsiteY0" fmla="*/ 0 h 1447800"/>
              <a:gd name="connsiteX1" fmla="*/ 0 w 5645150"/>
              <a:gd name="connsiteY1" fmla="*/ 298450 h 1447800"/>
              <a:gd name="connsiteX2" fmla="*/ 2959100 w 5645150"/>
              <a:gd name="connsiteY2" fmla="*/ 298450 h 1447800"/>
              <a:gd name="connsiteX3" fmla="*/ 2959100 w 5645150"/>
              <a:gd name="connsiteY3" fmla="*/ 1447800 h 1447800"/>
              <a:gd name="connsiteX4" fmla="*/ 5645150 w 5645150"/>
              <a:gd name="connsiteY4" fmla="*/ 1447800 h 1447800"/>
              <a:gd name="connsiteX5" fmla="*/ 5645150 w 5645150"/>
              <a:gd name="connsiteY5" fmla="*/ 121920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45150" h="1447800">
                <a:moveTo>
                  <a:pt x="0" y="0"/>
                </a:moveTo>
                <a:lnTo>
                  <a:pt x="0" y="298450"/>
                </a:lnTo>
                <a:lnTo>
                  <a:pt x="2959100" y="298450"/>
                </a:lnTo>
                <a:lnTo>
                  <a:pt x="2959100" y="1447800"/>
                </a:lnTo>
                <a:lnTo>
                  <a:pt x="5645150" y="1447800"/>
                </a:lnTo>
                <a:lnTo>
                  <a:pt x="5645150" y="1219200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9" name="자유형: 도형 1068">
            <a:extLst>
              <a:ext uri="{FF2B5EF4-FFF2-40B4-BE49-F238E27FC236}">
                <a16:creationId xmlns:a16="http://schemas.microsoft.com/office/drawing/2014/main" id="{1C3ECA18-A027-4EB1-B897-848D21B66A42}"/>
              </a:ext>
            </a:extLst>
          </p:cNvPr>
          <p:cNvSpPr/>
          <p:nvPr/>
        </p:nvSpPr>
        <p:spPr>
          <a:xfrm>
            <a:off x="3318530" y="3628850"/>
            <a:ext cx="3498850" cy="2406650"/>
          </a:xfrm>
          <a:custGeom>
            <a:avLst/>
            <a:gdLst>
              <a:gd name="connsiteX0" fmla="*/ 0 w 3498850"/>
              <a:gd name="connsiteY0" fmla="*/ 0 h 2406650"/>
              <a:gd name="connsiteX1" fmla="*/ 0 w 3498850"/>
              <a:gd name="connsiteY1" fmla="*/ 361950 h 2406650"/>
              <a:gd name="connsiteX2" fmla="*/ 3079750 w 3498850"/>
              <a:gd name="connsiteY2" fmla="*/ 361950 h 2406650"/>
              <a:gd name="connsiteX3" fmla="*/ 3079750 w 3498850"/>
              <a:gd name="connsiteY3" fmla="*/ 2406650 h 2406650"/>
              <a:gd name="connsiteX4" fmla="*/ 3498850 w 3498850"/>
              <a:gd name="connsiteY4" fmla="*/ 2406650 h 240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8850" h="2406650">
                <a:moveTo>
                  <a:pt x="0" y="0"/>
                </a:moveTo>
                <a:lnTo>
                  <a:pt x="0" y="361950"/>
                </a:lnTo>
                <a:lnTo>
                  <a:pt x="3079750" y="361950"/>
                </a:lnTo>
                <a:lnTo>
                  <a:pt x="3079750" y="2406650"/>
                </a:lnTo>
                <a:lnTo>
                  <a:pt x="3498850" y="2406650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6" name="사각형: 둥근 모서리 415">
            <a:extLst>
              <a:ext uri="{FF2B5EF4-FFF2-40B4-BE49-F238E27FC236}">
                <a16:creationId xmlns:a16="http://schemas.microsoft.com/office/drawing/2014/main" id="{A584CE88-5A4F-46DE-8CE3-E2ACA62EC6D0}"/>
              </a:ext>
            </a:extLst>
          </p:cNvPr>
          <p:cNvSpPr/>
          <p:nvPr/>
        </p:nvSpPr>
        <p:spPr>
          <a:xfrm>
            <a:off x="439947" y="4099262"/>
            <a:ext cx="5911963" cy="2534452"/>
          </a:xfrm>
          <a:prstGeom prst="roundRect">
            <a:avLst>
              <a:gd name="adj" fmla="val 7809"/>
            </a:avLst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7" name="사각형: 둥근 모서리 416">
            <a:extLst>
              <a:ext uri="{FF2B5EF4-FFF2-40B4-BE49-F238E27FC236}">
                <a16:creationId xmlns:a16="http://schemas.microsoft.com/office/drawing/2014/main" id="{12938775-AC42-4B06-8BF3-EEA01C717514}"/>
              </a:ext>
            </a:extLst>
          </p:cNvPr>
          <p:cNvSpPr/>
          <p:nvPr/>
        </p:nvSpPr>
        <p:spPr>
          <a:xfrm>
            <a:off x="6528041" y="2497679"/>
            <a:ext cx="5224012" cy="2726825"/>
          </a:xfrm>
          <a:prstGeom prst="roundRect">
            <a:avLst>
              <a:gd name="adj" fmla="val 7809"/>
            </a:avLst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8" name="사각형: 둥근 모서리 417">
            <a:extLst>
              <a:ext uri="{FF2B5EF4-FFF2-40B4-BE49-F238E27FC236}">
                <a16:creationId xmlns:a16="http://schemas.microsoft.com/office/drawing/2014/main" id="{02EE567E-25B1-4398-BD4C-0D5852A40AA0}"/>
              </a:ext>
            </a:extLst>
          </p:cNvPr>
          <p:cNvSpPr/>
          <p:nvPr/>
        </p:nvSpPr>
        <p:spPr>
          <a:xfrm>
            <a:off x="6528041" y="5376839"/>
            <a:ext cx="5224012" cy="1256876"/>
          </a:xfrm>
          <a:prstGeom prst="roundRect">
            <a:avLst>
              <a:gd name="adj" fmla="val 7809"/>
            </a:avLst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A96EED17-8244-4569-8E7A-E63E8B403337}"/>
              </a:ext>
            </a:extLst>
          </p:cNvPr>
          <p:cNvSpPr txBox="1"/>
          <p:nvPr/>
        </p:nvSpPr>
        <p:spPr>
          <a:xfrm>
            <a:off x="642969" y="1026254"/>
            <a:ext cx="1290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 latinLnBrk="0"/>
            <a:r>
              <a:rPr lang="ko-KR" altLang="en-US" sz="1600" dirty="0">
                <a:solidFill>
                  <a:schemeClr val="accent2"/>
                </a:solidFill>
              </a:rPr>
              <a:t>비밀유지명령</a:t>
            </a:r>
          </a:p>
          <a:p>
            <a:pPr fontAlgn="base" latinLnBrk="0"/>
            <a:r>
              <a:rPr lang="en-US" altLang="ko-KR" sz="1600" dirty="0">
                <a:solidFill>
                  <a:schemeClr val="accent2"/>
                </a:solidFill>
              </a:rPr>
              <a:t>(</a:t>
            </a:r>
            <a:r>
              <a:rPr lang="ko-KR" altLang="en-US" sz="1600" dirty="0">
                <a:solidFill>
                  <a:schemeClr val="accent2"/>
                </a:solidFill>
              </a:rPr>
              <a:t>法 </a:t>
            </a:r>
            <a:r>
              <a:rPr lang="en-US" altLang="ko-KR" sz="1600" dirty="0">
                <a:solidFill>
                  <a:schemeClr val="accent2"/>
                </a:solidFill>
              </a:rPr>
              <a:t>224</a:t>
            </a:r>
            <a:r>
              <a:rPr lang="ko-KR" altLang="en-US" sz="1600" dirty="0">
                <a:solidFill>
                  <a:schemeClr val="accent2"/>
                </a:solidFill>
              </a:rPr>
              <a:t>의</a:t>
            </a:r>
            <a:r>
              <a:rPr lang="en-US" altLang="ko-KR" sz="1600" dirty="0">
                <a:solidFill>
                  <a:schemeClr val="accent2"/>
                </a:solidFill>
              </a:rPr>
              <a:t>3)</a:t>
            </a:r>
            <a:endParaRPr lang="ko-KR" altLang="en-US" sz="1600" dirty="0">
              <a:solidFill>
                <a:schemeClr val="accent2"/>
              </a:solidFill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A2A0884F-6842-4C30-8EAB-7C7009A345C7}"/>
              </a:ext>
            </a:extLst>
          </p:cNvPr>
          <p:cNvSpPr txBox="1"/>
          <p:nvPr/>
        </p:nvSpPr>
        <p:spPr>
          <a:xfrm>
            <a:off x="9817564" y="2572269"/>
            <a:ext cx="18325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 latinLnBrk="0"/>
            <a:r>
              <a:rPr lang="ko-KR" altLang="en-US" sz="1600" dirty="0">
                <a:solidFill>
                  <a:schemeClr val="accent2"/>
                </a:solidFill>
              </a:rPr>
              <a:t>소송기록 열람 등의 </a:t>
            </a:r>
          </a:p>
          <a:p>
            <a:pPr fontAlgn="base" latinLnBrk="0"/>
            <a:r>
              <a:rPr lang="ko-KR" altLang="en-US" sz="1600" dirty="0">
                <a:solidFill>
                  <a:schemeClr val="accent2"/>
                </a:solidFill>
              </a:rPr>
              <a:t>청구통지 등</a:t>
            </a:r>
          </a:p>
          <a:p>
            <a:pPr fontAlgn="base" latinLnBrk="0"/>
            <a:r>
              <a:rPr lang="en-US" altLang="ko-KR" sz="1600" dirty="0">
                <a:solidFill>
                  <a:schemeClr val="accent2"/>
                </a:solidFill>
              </a:rPr>
              <a:t>(</a:t>
            </a:r>
            <a:r>
              <a:rPr lang="ko-KR" altLang="en-US" sz="1600" dirty="0">
                <a:solidFill>
                  <a:schemeClr val="accent2"/>
                </a:solidFill>
              </a:rPr>
              <a:t>法 제</a:t>
            </a:r>
            <a:r>
              <a:rPr lang="en-US" altLang="ko-KR" sz="1600" dirty="0">
                <a:solidFill>
                  <a:schemeClr val="accent2"/>
                </a:solidFill>
              </a:rPr>
              <a:t>224</a:t>
            </a:r>
            <a:r>
              <a:rPr lang="ko-KR" altLang="en-US" sz="1600" dirty="0">
                <a:solidFill>
                  <a:schemeClr val="accent2"/>
                </a:solidFill>
              </a:rPr>
              <a:t>의</a:t>
            </a:r>
            <a:r>
              <a:rPr lang="en-US" altLang="ko-KR" sz="1600" dirty="0">
                <a:solidFill>
                  <a:schemeClr val="accent2"/>
                </a:solidFill>
              </a:rPr>
              <a:t>5)</a:t>
            </a:r>
            <a:endParaRPr lang="ko-KR" altLang="en-US" sz="1600" dirty="0">
              <a:solidFill>
                <a:schemeClr val="accent2"/>
              </a:solidFill>
            </a:endParaRP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45B5EE75-CF42-492B-BB1B-CC4F1552CF69}"/>
              </a:ext>
            </a:extLst>
          </p:cNvPr>
          <p:cNvSpPr txBox="1"/>
          <p:nvPr/>
        </p:nvSpPr>
        <p:spPr>
          <a:xfrm>
            <a:off x="512510" y="5887501"/>
            <a:ext cx="1901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 latinLnBrk="0"/>
            <a:r>
              <a:rPr lang="ko-KR" altLang="en-US" sz="1600" dirty="0">
                <a:solidFill>
                  <a:schemeClr val="accent2"/>
                </a:solidFill>
              </a:rPr>
              <a:t>비밀유지명령의 취소</a:t>
            </a:r>
          </a:p>
          <a:p>
            <a:pPr fontAlgn="base" latinLnBrk="0"/>
            <a:r>
              <a:rPr lang="en-US" altLang="ko-KR" sz="1600" dirty="0">
                <a:solidFill>
                  <a:schemeClr val="accent2"/>
                </a:solidFill>
              </a:rPr>
              <a:t>(</a:t>
            </a:r>
            <a:r>
              <a:rPr lang="ko-KR" altLang="en-US" sz="1600" dirty="0">
                <a:solidFill>
                  <a:schemeClr val="accent2"/>
                </a:solidFill>
              </a:rPr>
              <a:t>法 </a:t>
            </a:r>
            <a:r>
              <a:rPr lang="en-US" altLang="ko-KR" sz="1600" dirty="0">
                <a:solidFill>
                  <a:schemeClr val="accent2"/>
                </a:solidFill>
              </a:rPr>
              <a:t>224</a:t>
            </a:r>
            <a:r>
              <a:rPr lang="ko-KR" altLang="en-US" sz="1600" dirty="0">
                <a:solidFill>
                  <a:schemeClr val="accent2"/>
                </a:solidFill>
              </a:rPr>
              <a:t>의</a:t>
            </a:r>
            <a:r>
              <a:rPr lang="en-US" altLang="ko-KR" sz="1600" dirty="0">
                <a:solidFill>
                  <a:schemeClr val="accent2"/>
                </a:solidFill>
              </a:rPr>
              <a:t>4)</a:t>
            </a:r>
            <a:endParaRPr lang="ko-KR" altLang="en-US" sz="1600" dirty="0">
              <a:solidFill>
                <a:schemeClr val="accent2"/>
              </a:solidFill>
            </a:endParaRP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84BA9CE6-E97F-4229-AAB2-7DEC48163432}"/>
              </a:ext>
            </a:extLst>
          </p:cNvPr>
          <p:cNvSpPr txBox="1"/>
          <p:nvPr/>
        </p:nvSpPr>
        <p:spPr>
          <a:xfrm>
            <a:off x="6650646" y="5409369"/>
            <a:ext cx="29787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 latinLnBrk="0"/>
            <a:r>
              <a:rPr lang="ko-KR" altLang="en-US" sz="1600" dirty="0">
                <a:solidFill>
                  <a:schemeClr val="accent2"/>
                </a:solidFill>
              </a:rPr>
              <a:t>비밀유지명령 </a:t>
            </a:r>
            <a:r>
              <a:rPr lang="ko-KR" altLang="en-US" sz="1600" dirty="0" err="1">
                <a:solidFill>
                  <a:schemeClr val="accent2"/>
                </a:solidFill>
              </a:rPr>
              <a:t>위반죄</a:t>
            </a:r>
            <a:r>
              <a:rPr lang="en-US" altLang="ko-KR" sz="1600" dirty="0">
                <a:solidFill>
                  <a:schemeClr val="accent2"/>
                </a:solidFill>
              </a:rPr>
              <a:t>(</a:t>
            </a:r>
            <a:r>
              <a:rPr lang="ko-KR" altLang="en-US" sz="1600" dirty="0">
                <a:solidFill>
                  <a:schemeClr val="accent2"/>
                </a:solidFill>
              </a:rPr>
              <a:t>法 </a:t>
            </a:r>
            <a:r>
              <a:rPr lang="en-US" altLang="ko-KR" sz="1600" dirty="0">
                <a:solidFill>
                  <a:schemeClr val="accent2"/>
                </a:solidFill>
              </a:rPr>
              <a:t>229</a:t>
            </a:r>
            <a:r>
              <a:rPr lang="ko-KR" altLang="en-US" sz="1600" dirty="0">
                <a:solidFill>
                  <a:schemeClr val="accent2"/>
                </a:solidFill>
              </a:rPr>
              <a:t>의</a:t>
            </a:r>
            <a:r>
              <a:rPr lang="en-US" altLang="ko-KR" sz="1600" dirty="0">
                <a:solidFill>
                  <a:schemeClr val="accent2"/>
                </a:solidFill>
              </a:rPr>
              <a:t>2)</a:t>
            </a:r>
            <a:endParaRPr lang="ko-KR" altLang="en-US" sz="1600" dirty="0">
              <a:solidFill>
                <a:schemeClr val="accent2"/>
              </a:solidFill>
            </a:endParaRPr>
          </a:p>
        </p:txBody>
      </p:sp>
      <p:sp>
        <p:nvSpPr>
          <p:cNvPr id="1074" name="직사각형 1073">
            <a:extLst>
              <a:ext uri="{FF2B5EF4-FFF2-40B4-BE49-F238E27FC236}">
                <a16:creationId xmlns:a16="http://schemas.microsoft.com/office/drawing/2014/main" id="{0A91C662-3621-4DE9-A85B-5EFCF2C1A1FC}"/>
              </a:ext>
            </a:extLst>
          </p:cNvPr>
          <p:cNvSpPr/>
          <p:nvPr/>
        </p:nvSpPr>
        <p:spPr>
          <a:xfrm>
            <a:off x="9696091" y="1026254"/>
            <a:ext cx="388188" cy="1984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2" name="직사각형 421">
            <a:extLst>
              <a:ext uri="{FF2B5EF4-FFF2-40B4-BE49-F238E27FC236}">
                <a16:creationId xmlns:a16="http://schemas.microsoft.com/office/drawing/2014/main" id="{E1663C61-05F0-4DF8-98D9-D368760FEDAD}"/>
              </a:ext>
            </a:extLst>
          </p:cNvPr>
          <p:cNvSpPr/>
          <p:nvPr/>
        </p:nvSpPr>
        <p:spPr>
          <a:xfrm>
            <a:off x="9696091" y="1352575"/>
            <a:ext cx="388188" cy="1984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3" name="직사각형 422">
            <a:extLst>
              <a:ext uri="{FF2B5EF4-FFF2-40B4-BE49-F238E27FC236}">
                <a16:creationId xmlns:a16="http://schemas.microsoft.com/office/drawing/2014/main" id="{5AD6052F-3EB1-40E8-848F-92C97D7BA7F8}"/>
              </a:ext>
            </a:extLst>
          </p:cNvPr>
          <p:cNvSpPr/>
          <p:nvPr/>
        </p:nvSpPr>
        <p:spPr>
          <a:xfrm>
            <a:off x="9696091" y="1653535"/>
            <a:ext cx="388188" cy="1984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1F76EA22-FBD1-4520-9765-D627F9E08B06}"/>
              </a:ext>
            </a:extLst>
          </p:cNvPr>
          <p:cNvSpPr txBox="1"/>
          <p:nvPr/>
        </p:nvSpPr>
        <p:spPr>
          <a:xfrm>
            <a:off x="10164303" y="988852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신청당사자</a:t>
            </a: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095E882A-E25D-47CD-AB7D-683D6B228563}"/>
              </a:ext>
            </a:extLst>
          </p:cNvPr>
          <p:cNvSpPr txBox="1"/>
          <p:nvPr/>
        </p:nvSpPr>
        <p:spPr>
          <a:xfrm>
            <a:off x="10164303" y="1326505"/>
            <a:ext cx="12490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각 당사자</a:t>
            </a:r>
            <a:r>
              <a:rPr lang="en-US" altLang="ko-KR" sz="1000" dirty="0"/>
              <a:t>, </a:t>
            </a:r>
            <a:r>
              <a:rPr lang="ko-KR" altLang="en-US" sz="1000" dirty="0"/>
              <a:t>대리인 등</a:t>
            </a: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31CEF9F4-E092-4F50-8B8C-79EAA942579D}"/>
              </a:ext>
            </a:extLst>
          </p:cNvPr>
          <p:cNvSpPr txBox="1"/>
          <p:nvPr/>
        </p:nvSpPr>
        <p:spPr>
          <a:xfrm>
            <a:off x="10164303" y="1628269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법원</a:t>
            </a:r>
          </a:p>
        </p:txBody>
      </p:sp>
    </p:spTree>
    <p:extLst>
      <p:ext uri="{BB962C8B-B14F-4D97-AF65-F5344CB8AC3E}">
        <p14:creationId xmlns:p14="http://schemas.microsoft.com/office/powerpoint/2010/main" val="206978134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간접침해의 개념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-36242" y="173081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127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침해로 보는 행위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다음 각 호의 구분에 따른 행위를 업으로서 하는 경우에는 특허권 또는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전용실시권을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침해한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특허가 물건의 발명인 경우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물건의 생산에만 사용하는 물건을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생산ㆍ양도ㆍ대여</a:t>
            </a:r>
            <a:r>
              <a:rPr lang="ko-KR" altLang="en-US" sz="1400" dirty="0" err="1"/>
              <a:t>ㆍ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또는 수입하거나 그 물건의 양도 또는 대여의 청약을 하는 행위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특허가 방법의 발명인 경우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방법의 실시에만 사용하는 물건을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생산ㆍ양도ㆍ대여</a:t>
            </a:r>
            <a:r>
              <a:rPr lang="ko-KR" altLang="en-US" sz="1400" dirty="0" err="1"/>
              <a:t>ㆍ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또는 수입하거나 그 물건의 양도 또는 대여의 청약을 하는 행위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35712" y="2427481"/>
            <a:ext cx="4983988" cy="17281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9" name="TextBox 18"/>
          <p:cNvSpPr txBox="1"/>
          <p:nvPr/>
        </p:nvSpPr>
        <p:spPr>
          <a:xfrm>
            <a:off x="240895" y="2120368"/>
            <a:ext cx="1750800" cy="307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/>
              <a:t>甲</a:t>
            </a:r>
            <a:r>
              <a:rPr lang="en-US" altLang="ko-KR" sz="1400" dirty="0"/>
              <a:t>-</a:t>
            </a:r>
            <a:r>
              <a:rPr lang="ko-KR" altLang="en-US" sz="1400" dirty="0" err="1"/>
              <a:t>벤틀리의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특허권자</a:t>
            </a:r>
            <a:endParaRPr lang="ko-KR" altLang="en-US" sz="1400" dirty="0"/>
          </a:p>
        </p:txBody>
      </p:sp>
      <p:sp>
        <p:nvSpPr>
          <p:cNvPr id="22" name="직사각형 21"/>
          <p:cNvSpPr/>
          <p:nvPr/>
        </p:nvSpPr>
        <p:spPr>
          <a:xfrm>
            <a:off x="715764" y="2643505"/>
            <a:ext cx="1440160" cy="57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4" name="타원 23"/>
          <p:cNvSpPr/>
          <p:nvPr/>
        </p:nvSpPr>
        <p:spPr>
          <a:xfrm>
            <a:off x="907785" y="3111557"/>
            <a:ext cx="312035" cy="3240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6" name="타원 25"/>
          <p:cNvSpPr/>
          <p:nvPr/>
        </p:nvSpPr>
        <p:spPr>
          <a:xfrm>
            <a:off x="1579861" y="3111557"/>
            <a:ext cx="314768" cy="3240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포인트가 5개인 별 26"/>
          <p:cNvSpPr/>
          <p:nvPr/>
        </p:nvSpPr>
        <p:spPr>
          <a:xfrm>
            <a:off x="1219820" y="2769519"/>
            <a:ext cx="432048" cy="324036"/>
          </a:xfrm>
          <a:prstGeom prst="star5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/>
          <p:cNvSpPr txBox="1"/>
          <p:nvPr/>
        </p:nvSpPr>
        <p:spPr>
          <a:xfrm>
            <a:off x="2543363" y="257203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Body(a)</a:t>
            </a:r>
            <a:endParaRPr lang="ko-KR" alt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2476687" y="3173457"/>
            <a:ext cx="736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바퀴</a:t>
            </a:r>
            <a:r>
              <a:rPr lang="en-US" altLang="ko-KR" sz="1400" dirty="0"/>
              <a:t>(b)</a:t>
            </a:r>
            <a:endParaRPr lang="ko-KR" alt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447861" y="3744957"/>
            <a:ext cx="3172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오직</a:t>
            </a:r>
            <a:r>
              <a:rPr lang="en-US" altLang="ko-KR" sz="1400" dirty="0"/>
              <a:t> </a:t>
            </a:r>
            <a:r>
              <a:rPr lang="ko-KR" altLang="en-US" sz="1400" dirty="0" err="1"/>
              <a:t>벤틀리의</a:t>
            </a:r>
            <a:r>
              <a:rPr lang="ko-KR" altLang="en-US" sz="1400" dirty="0"/>
              <a:t> 생산에만 사용되는 엔진</a:t>
            </a:r>
            <a:r>
              <a:rPr lang="en-US" altLang="ko-KR" sz="1400" dirty="0"/>
              <a:t>(c)</a:t>
            </a:r>
            <a:endParaRPr lang="ko-KR" altLang="en-US" sz="1400" dirty="0"/>
          </a:p>
        </p:txBody>
      </p:sp>
      <p:cxnSp>
        <p:nvCxnSpPr>
          <p:cNvPr id="31" name="구부러진 연결선 30"/>
          <p:cNvCxnSpPr>
            <a:stCxn id="22" idx="3"/>
            <a:endCxn id="28" idx="1"/>
          </p:cNvCxnSpPr>
          <p:nvPr/>
        </p:nvCxnSpPr>
        <p:spPr>
          <a:xfrm flipV="1">
            <a:off x="2155924" y="2725928"/>
            <a:ext cx="387439" cy="205609"/>
          </a:xfrm>
          <a:prstGeom prst="curvedConnector3">
            <a:avLst/>
          </a:prstGeom>
          <a:ln w="1270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구부러진 연결선 31"/>
          <p:cNvCxnSpPr>
            <a:stCxn id="26" idx="5"/>
            <a:endCxn id="29" idx="1"/>
          </p:cNvCxnSpPr>
          <p:nvPr/>
        </p:nvCxnSpPr>
        <p:spPr>
          <a:xfrm rot="5400000" flipH="1" flipV="1">
            <a:off x="2132212" y="3043665"/>
            <a:ext cx="60793" cy="628155"/>
          </a:xfrm>
          <a:prstGeom prst="curvedConnector4">
            <a:avLst>
              <a:gd name="adj1" fmla="val -376030"/>
              <a:gd name="adj2" fmla="val 53669"/>
            </a:avLst>
          </a:prstGeom>
          <a:ln w="1270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구부러진 연결선 32"/>
          <p:cNvCxnSpPr/>
          <p:nvPr/>
        </p:nvCxnSpPr>
        <p:spPr>
          <a:xfrm rot="16200000" flipH="1">
            <a:off x="1097130" y="3432269"/>
            <a:ext cx="677433" cy="1"/>
          </a:xfrm>
          <a:prstGeom prst="curvedConnector3">
            <a:avLst>
              <a:gd name="adj1" fmla="val 86557"/>
            </a:avLst>
          </a:prstGeom>
          <a:ln w="1270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12649" y="2118205"/>
            <a:ext cx="213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rgbClr val="FF0000"/>
                </a:solidFill>
              </a:rPr>
              <a:t>벤틀리의</a:t>
            </a:r>
            <a:r>
              <a:rPr lang="ko-KR" altLang="en-US" sz="1400" dirty="0">
                <a:solidFill>
                  <a:srgbClr val="FF0000"/>
                </a:solidFill>
              </a:rPr>
              <a:t> 구성요소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en-US" altLang="ko-KR" sz="1400" dirty="0" err="1">
                <a:solidFill>
                  <a:srgbClr val="FF0000"/>
                </a:solidFill>
              </a:rPr>
              <a:t>a+b+c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35711" y="4538123"/>
            <a:ext cx="54505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600" dirty="0"/>
              <a:t> 乙이 </a:t>
            </a:r>
            <a:r>
              <a:rPr lang="en-US" altLang="ko-KR" sz="1600" dirty="0"/>
              <a:t>c</a:t>
            </a:r>
            <a:r>
              <a:rPr lang="ko-KR" altLang="en-US" sz="1600" dirty="0"/>
              <a:t>를 생산하는 행위는 침해인가</a:t>
            </a:r>
            <a:r>
              <a:rPr lang="en-US" altLang="ko-KR" sz="1600" dirty="0"/>
              <a:t>?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600" dirty="0"/>
              <a:t> 乙이 </a:t>
            </a:r>
            <a:r>
              <a:rPr lang="en-US" altLang="ko-KR" sz="1600" dirty="0"/>
              <a:t>c</a:t>
            </a:r>
            <a:r>
              <a:rPr lang="ko-KR" altLang="en-US" sz="1600" dirty="0"/>
              <a:t>를 사용하는 행위는 침해인가</a:t>
            </a:r>
            <a:r>
              <a:rPr lang="en-US" altLang="ko-KR" sz="1600" dirty="0"/>
              <a:t>?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600" dirty="0"/>
              <a:t> </a:t>
            </a:r>
            <a:r>
              <a:rPr lang="ko-KR" altLang="en-US" sz="1600" dirty="0"/>
              <a:t>甲으로부터 乙이 </a:t>
            </a:r>
            <a:r>
              <a:rPr lang="en-US" altLang="ko-KR" sz="1600" dirty="0"/>
              <a:t>c</a:t>
            </a:r>
            <a:r>
              <a:rPr lang="ko-KR" altLang="en-US" sz="1600" dirty="0"/>
              <a:t>를 구입하여 </a:t>
            </a:r>
            <a:r>
              <a:rPr lang="en-US" altLang="ko-KR" sz="1600" dirty="0"/>
              <a:t>c</a:t>
            </a:r>
            <a:r>
              <a:rPr lang="ko-KR" altLang="en-US" sz="1600" dirty="0"/>
              <a:t>를 사용하는 행위는 침해인가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cxnSp>
        <p:nvCxnSpPr>
          <p:cNvPr id="36" name="직선 연결선 35"/>
          <p:cNvCxnSpPr/>
          <p:nvPr/>
        </p:nvCxnSpPr>
        <p:spPr>
          <a:xfrm>
            <a:off x="6099416" y="2126815"/>
            <a:ext cx="0" cy="420731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94070" y="2120368"/>
            <a:ext cx="1484702" cy="307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/>
              <a:t>甲</a:t>
            </a:r>
            <a:r>
              <a:rPr lang="en-US" altLang="ko-KR" sz="1400" dirty="0"/>
              <a:t>-TV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특허권자</a:t>
            </a:r>
            <a:endParaRPr lang="ko-KR" altLang="en-US" sz="1400" dirty="0"/>
          </a:p>
        </p:txBody>
      </p:sp>
      <p:sp>
        <p:nvSpPr>
          <p:cNvPr id="38" name="직사각형 37"/>
          <p:cNvSpPr/>
          <p:nvPr/>
        </p:nvSpPr>
        <p:spPr>
          <a:xfrm>
            <a:off x="6594070" y="2427481"/>
            <a:ext cx="4983988" cy="17281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9" name="TextBox 38"/>
          <p:cNvSpPr txBox="1"/>
          <p:nvPr/>
        </p:nvSpPr>
        <p:spPr>
          <a:xfrm>
            <a:off x="8180074" y="2118205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TV</a:t>
            </a:r>
            <a:r>
              <a:rPr lang="ko-KR" altLang="en-US" sz="1400" dirty="0">
                <a:solidFill>
                  <a:srgbClr val="FF0000"/>
                </a:solidFill>
              </a:rPr>
              <a:t>의 구성요소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en-US" altLang="ko-KR" sz="1400" dirty="0" err="1">
                <a:solidFill>
                  <a:srgbClr val="FF0000"/>
                </a:solidFill>
              </a:rPr>
              <a:t>a+b+c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126089" y="3000317"/>
            <a:ext cx="1313061" cy="6540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43" name="직선 연결선 42"/>
          <p:cNvCxnSpPr>
            <a:stCxn id="41" idx="0"/>
          </p:cNvCxnSpPr>
          <p:nvPr/>
        </p:nvCxnSpPr>
        <p:spPr>
          <a:xfrm flipV="1">
            <a:off x="7782620" y="2643505"/>
            <a:ext cx="296152" cy="3568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41" idx="0"/>
          </p:cNvCxnSpPr>
          <p:nvPr/>
        </p:nvCxnSpPr>
        <p:spPr>
          <a:xfrm flipH="1" flipV="1">
            <a:off x="7486650" y="2643505"/>
            <a:ext cx="295970" cy="3568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모서리가 둥근 직사각형 45"/>
          <p:cNvSpPr/>
          <p:nvPr/>
        </p:nvSpPr>
        <p:spPr>
          <a:xfrm>
            <a:off x="7326896" y="3093555"/>
            <a:ext cx="940804" cy="468795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8671527" y="2686339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안테나</a:t>
            </a:r>
            <a:r>
              <a:rPr lang="en-US" altLang="ko-KR" sz="1400" dirty="0"/>
              <a:t>(b)</a:t>
            </a:r>
            <a:endParaRPr lang="ko-KR" alt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9217218" y="315767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Body(a)</a:t>
            </a:r>
            <a:endParaRPr lang="ko-KR" altLang="en-US" sz="1400" dirty="0"/>
          </a:p>
        </p:txBody>
      </p:sp>
      <p:sp>
        <p:nvSpPr>
          <p:cNvPr id="50" name="TextBox 49"/>
          <p:cNvSpPr txBox="1"/>
          <p:nvPr/>
        </p:nvSpPr>
        <p:spPr>
          <a:xfrm>
            <a:off x="8931468" y="3744957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브라운관</a:t>
            </a:r>
            <a:r>
              <a:rPr lang="en-US" altLang="ko-KR" sz="1400" dirty="0"/>
              <a:t>(c)</a:t>
            </a:r>
            <a:endParaRPr lang="ko-KR" altLang="en-US" sz="1400" dirty="0"/>
          </a:p>
        </p:txBody>
      </p:sp>
      <p:cxnSp>
        <p:nvCxnSpPr>
          <p:cNvPr id="53" name="구부러진 연결선 52"/>
          <p:cNvCxnSpPr>
            <a:endCxn id="48" idx="1"/>
          </p:cNvCxnSpPr>
          <p:nvPr/>
        </p:nvCxnSpPr>
        <p:spPr>
          <a:xfrm>
            <a:off x="8078772" y="2643505"/>
            <a:ext cx="592755" cy="196723"/>
          </a:xfrm>
          <a:prstGeom prst="curvedConnector3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구부러진 연결선 56"/>
          <p:cNvCxnSpPr>
            <a:stCxn id="41" idx="3"/>
            <a:endCxn id="49" idx="1"/>
          </p:cNvCxnSpPr>
          <p:nvPr/>
        </p:nvCxnSpPr>
        <p:spPr>
          <a:xfrm flipV="1">
            <a:off x="8439150" y="3311562"/>
            <a:ext cx="778068" cy="15783"/>
          </a:xfrm>
          <a:prstGeom prst="curvedConnector3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구부러진 연결선 58"/>
          <p:cNvCxnSpPr>
            <a:stCxn id="46" idx="2"/>
            <a:endCxn id="50" idx="1"/>
          </p:cNvCxnSpPr>
          <p:nvPr/>
        </p:nvCxnSpPr>
        <p:spPr>
          <a:xfrm rot="16200000" flipH="1">
            <a:off x="8196135" y="3163513"/>
            <a:ext cx="336496" cy="1134170"/>
          </a:xfrm>
          <a:prstGeom prst="curvedConnector2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743947" y="5069380"/>
            <a:ext cx="393056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43947" y="6126655"/>
            <a:ext cx="393056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丙</a:t>
            </a:r>
          </a:p>
        </p:txBody>
      </p:sp>
      <p:cxnSp>
        <p:nvCxnSpPr>
          <p:cNvPr id="63" name="직선 화살표 연결선 62"/>
          <p:cNvCxnSpPr>
            <a:stCxn id="60" idx="2"/>
            <a:endCxn id="61" idx="0"/>
          </p:cNvCxnSpPr>
          <p:nvPr/>
        </p:nvCxnSpPr>
        <p:spPr>
          <a:xfrm>
            <a:off x="6940475" y="5438712"/>
            <a:ext cx="0" cy="68794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064548" y="5502410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TV</a:t>
            </a:r>
            <a:r>
              <a:rPr lang="ko-KR" altLang="en-US" sz="1400" dirty="0"/>
              <a:t>의 조립세트 판매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0722" y="6123615"/>
            <a:ext cx="2182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구입 후 집에서 조립 </a:t>
            </a:r>
            <a:r>
              <a:rPr lang="en-US" altLang="ko-KR" sz="1400" dirty="0"/>
              <a:t>&amp; </a:t>
            </a:r>
            <a:r>
              <a:rPr lang="ko-KR" altLang="en-US" sz="1400" dirty="0"/>
              <a:t>시청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1952" y="4263268"/>
            <a:ext cx="2882520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600" dirty="0"/>
              <a:t> 乙</a:t>
            </a:r>
            <a:r>
              <a:rPr lang="en-US" altLang="ko-KR" sz="1600" dirty="0"/>
              <a:t>, </a:t>
            </a:r>
            <a:r>
              <a:rPr lang="ko-KR" altLang="en-US" sz="1600" dirty="0"/>
              <a:t>丙의 행위는 직접침해인가</a:t>
            </a:r>
            <a:r>
              <a:rPr lang="en-US" altLang="ko-KR" sz="1600" dirty="0"/>
              <a:t>?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600" dirty="0"/>
              <a:t> 어떻게 이를 막을 수 있는가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7320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간접침해의 논점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388</a:t>
            </a:fld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1570038" y="2269130"/>
            <a:ext cx="1041400" cy="419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특허가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물건발명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1570038" y="3504317"/>
            <a:ext cx="1041400" cy="419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특허가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방법발명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2611438" y="2269130"/>
            <a:ext cx="9204044" cy="41932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400" dirty="0"/>
              <a:t>그 물건의 생산에만 사용하는 물건을 </a:t>
            </a:r>
            <a:r>
              <a:rPr lang="ko-KR" altLang="en-US" sz="1400" dirty="0" err="1"/>
              <a:t>생산ㆍ양도ㆍ대여ㆍ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400" dirty="0"/>
              <a:t> 또는 수입하거나 그 물건의 양도 또는 대여의 청약을 하는 행위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611438" y="3504317"/>
            <a:ext cx="9204044" cy="41932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400" dirty="0"/>
              <a:t>그 방법의 실시에만 사용하는 물건을 </a:t>
            </a:r>
            <a:r>
              <a:rPr lang="ko-KR" altLang="en-US" sz="1400" dirty="0" err="1"/>
              <a:t>생산ㆍ양도ㆍ대여ㆍ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400" dirty="0"/>
              <a:t> 또는 수입하거나 그 물건의 양도 또는 대여의 청약을 하는 행위</a:t>
            </a:r>
          </a:p>
        </p:txBody>
      </p:sp>
      <p:cxnSp>
        <p:nvCxnSpPr>
          <p:cNvPr id="52" name="꺾인 연결선 51"/>
          <p:cNvCxnSpPr>
            <a:stCxn id="40" idx="3"/>
            <a:endCxn id="42" idx="1"/>
          </p:cNvCxnSpPr>
          <p:nvPr/>
        </p:nvCxnSpPr>
        <p:spPr>
          <a:xfrm flipV="1">
            <a:off x="1238251" y="2478792"/>
            <a:ext cx="331787" cy="6243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40" idx="3"/>
            <a:endCxn id="44" idx="1"/>
          </p:cNvCxnSpPr>
          <p:nvPr/>
        </p:nvCxnSpPr>
        <p:spPr>
          <a:xfrm>
            <a:off x="1238251" y="3103121"/>
            <a:ext cx="331787" cy="6108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3747653" y="2338866"/>
            <a:ext cx="340253" cy="318563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3765583" y="5715416"/>
            <a:ext cx="68515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다른 용도가 없을 것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전용성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專用性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))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실용적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경제적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상업적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사용사실설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지지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pPr marL="85725" indent="-85725">
              <a:buFont typeface="Arial" pitchFamily="34" charset="0"/>
              <a:buChar char="•"/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특허권자가 주장증명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다만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전용성의 증명은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1)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차적으로 특허권자가 공용성을 증명한 후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 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실시자가 타용도가 있음에 대하여 구체적으로 합리적인 주장을 하는 경우에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2)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발현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4774339" y="2338865"/>
            <a:ext cx="358643" cy="195690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4698228" y="4366154"/>
            <a:ext cx="423064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출원전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공지된 경우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?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간접침해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×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물건에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특허성이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있는 경우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?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간접침해 영향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×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물건과 균등한 물건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?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간접침해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O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물건에 대한 구성요소를 부가하여 그 다른 구성요소로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 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인해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타용도를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창출해 낸 경우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?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간접침해 영향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×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5641215" y="2145305"/>
            <a:ext cx="179321" cy="169522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5612640" y="1806763"/>
            <a:ext cx="5503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물건의 사용은 특허발명인 물건의 생산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방법의 실시에 해당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sym typeface="Wingdings" pitchFamily="2" charset="2"/>
              </a:rPr>
              <a:t>직접침해</a:t>
            </a:r>
            <a:endParaRPr lang="ko-KR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409951" y="1685925"/>
            <a:ext cx="323718" cy="9334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3409951" y="1035238"/>
            <a:ext cx="8730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부품의 교체가 생산에 해당하는지 여부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소모품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비소모품을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달리함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다만 최근 판례는 제품의 동일성 유지 관점 적용 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국내에서의 생산만 해당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반제품 사건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78896" y="3373809"/>
            <a:ext cx="323718" cy="93345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35518" y="4320940"/>
            <a:ext cx="2938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민사적 구제방안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126-132)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 中 하나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243259" y="2710567"/>
            <a:ext cx="994992" cy="785108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accent4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4"/>
                </a:solidFill>
                <a:latin typeface="+mn-ea"/>
              </a:rPr>
              <a:t>127</a:t>
            </a:r>
            <a:r>
              <a:rPr lang="ko-KR" altLang="en-US" sz="1400" dirty="0">
                <a:solidFill>
                  <a:schemeClr val="accent4"/>
                </a:solidFill>
                <a:latin typeface="+mn-ea"/>
              </a:rPr>
              <a:t>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7FED1A-2509-4B61-9733-F70B9E167954}"/>
              </a:ext>
            </a:extLst>
          </p:cNvPr>
          <p:cNvSpPr/>
          <p:nvPr/>
        </p:nvSpPr>
        <p:spPr>
          <a:xfrm>
            <a:off x="2643352" y="2114539"/>
            <a:ext cx="2489630" cy="1956909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2B447-F407-46B2-8D90-157C4C0A50C8}"/>
              </a:ext>
            </a:extLst>
          </p:cNvPr>
          <p:cNvSpPr txBox="1"/>
          <p:nvPr/>
        </p:nvSpPr>
        <p:spPr>
          <a:xfrm>
            <a:off x="725072" y="5268759"/>
            <a:ext cx="2932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공용성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供用性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(AER, </a:t>
            </a:r>
            <a:r>
              <a:rPr lang="ko-KR" altLang="en-US" sz="1400" dirty="0" err="1">
                <a:solidFill>
                  <a:srgbClr val="FF0000"/>
                </a:solidFill>
              </a:rPr>
              <a:t>균등론</a:t>
            </a:r>
            <a:r>
              <a:rPr lang="ko-KR" altLang="en-US" sz="1400" dirty="0">
                <a:solidFill>
                  <a:srgbClr val="FF0000"/>
                </a:solidFill>
              </a:rPr>
              <a:t> 적용에 의한 생산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실시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50B2D764-9173-4DB4-B3FB-E2381609ADA6}"/>
              </a:ext>
            </a:extLst>
          </p:cNvPr>
          <p:cNvCxnSpPr>
            <a:cxnSpLocks/>
            <a:stCxn id="6" idx="0"/>
            <a:endCxn id="3" idx="2"/>
          </p:cNvCxnSpPr>
          <p:nvPr/>
        </p:nvCxnSpPr>
        <p:spPr>
          <a:xfrm rot="5400000" flipH="1" flipV="1">
            <a:off x="2441018" y="3821610"/>
            <a:ext cx="1197311" cy="169698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31012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감광드럼</a:t>
            </a:r>
            <a:r>
              <a:rPr lang="ko-KR" altLang="en-US" dirty="0"/>
              <a:t> 카트리지의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389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27381" y="1133475"/>
            <a:ext cx="11233248" cy="27336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911424" y="2600245"/>
            <a:ext cx="1056117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1875" y="2179231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등록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45365" y="2936447"/>
            <a:ext cx="1235836" cy="2520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레이저 프린터</a:t>
            </a:r>
            <a:r>
              <a:rPr lang="en-US" altLang="ko-KR" sz="1200" dirty="0">
                <a:solidFill>
                  <a:schemeClr val="tx1"/>
                </a:solidFill>
              </a:rPr>
              <a:t>(A)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 bwMode="auto">
          <a:xfrm>
            <a:off x="727407" y="981888"/>
            <a:ext cx="223169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감광드럼</a:t>
            </a:r>
            <a:r>
              <a:rPr lang="ko-KR" altLang="en-US" sz="1400" dirty="0"/>
              <a:t> 카트리지 </a:t>
            </a:r>
            <a:r>
              <a:rPr lang="en-US" altLang="ko-KR" sz="1400" dirty="0"/>
              <a:t>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2088" y="2179231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판매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890938" y="3250865"/>
            <a:ext cx="2725704" cy="4500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레이저 프린터</a:t>
            </a:r>
            <a:r>
              <a:rPr lang="en-US" altLang="ko-KR" sz="1200" dirty="0">
                <a:solidFill>
                  <a:schemeClr val="tx1"/>
                </a:solidFill>
              </a:rPr>
              <a:t>(A)</a:t>
            </a:r>
            <a:r>
              <a:rPr lang="ko-KR" altLang="en-US" sz="1200" dirty="0">
                <a:solidFill>
                  <a:schemeClr val="tx1"/>
                </a:solidFill>
              </a:rPr>
              <a:t>와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이에 사용되는 카트리지</a:t>
            </a:r>
            <a:r>
              <a:rPr lang="en-US" altLang="ko-KR" sz="1200" dirty="0">
                <a:solidFill>
                  <a:schemeClr val="tx1"/>
                </a:solidFill>
              </a:rPr>
              <a:t>(B)</a:t>
            </a:r>
            <a:r>
              <a:rPr lang="ko-KR" altLang="en-US" sz="1200" dirty="0">
                <a:solidFill>
                  <a:schemeClr val="tx1"/>
                </a:solidFill>
              </a:rPr>
              <a:t> 판매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3819" y="2703563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판매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3244014" y="1522033"/>
            <a:ext cx="2899992" cy="47821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특허권자가 판매하는 카트리지</a:t>
            </a:r>
            <a:r>
              <a:rPr lang="en-US" altLang="ko-KR" sz="1200" dirty="0">
                <a:solidFill>
                  <a:schemeClr val="tx1"/>
                </a:solidFill>
              </a:rPr>
              <a:t>(B)</a:t>
            </a:r>
            <a:r>
              <a:rPr lang="ko-KR" altLang="en-US" sz="1200" dirty="0">
                <a:solidFill>
                  <a:schemeClr val="tx1"/>
                </a:solidFill>
              </a:rPr>
              <a:t>의 성능을 개선한 카트리지</a:t>
            </a:r>
            <a:r>
              <a:rPr lang="en-US" altLang="ko-KR" sz="1200" dirty="0">
                <a:solidFill>
                  <a:schemeClr val="tx1"/>
                </a:solidFill>
              </a:rPr>
              <a:t>(B+C)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933" y="2024733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적극적 </a:t>
            </a:r>
            <a:endParaRPr lang="en-US" altLang="ko-KR" sz="1200" dirty="0"/>
          </a:p>
          <a:p>
            <a:pPr algn="ctr"/>
            <a:r>
              <a:rPr lang="ko-KR" altLang="en-US" sz="1200" dirty="0"/>
              <a:t>권리범위확인심판청구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739720" y="3250865"/>
            <a:ext cx="2144386" cy="4596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개선된 카트리지</a:t>
            </a:r>
            <a:r>
              <a:rPr lang="en-US" altLang="ko-KR" sz="1200" dirty="0">
                <a:solidFill>
                  <a:schemeClr val="tx1"/>
                </a:solidFill>
              </a:rPr>
              <a:t>(B+C) </a:t>
            </a:r>
            <a:r>
              <a:rPr lang="ko-KR" altLang="en-US" sz="1200" dirty="0">
                <a:solidFill>
                  <a:schemeClr val="tx1"/>
                </a:solidFill>
              </a:rPr>
              <a:t>판매는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간접침해 주장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9220" y="2722613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항변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823957" y="1326281"/>
            <a:ext cx="3773052" cy="62634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 err="1">
                <a:solidFill>
                  <a:schemeClr val="tx1"/>
                </a:solidFill>
              </a:rPr>
              <a:t>특허성이</a:t>
            </a:r>
            <a:r>
              <a:rPr lang="ko-KR" altLang="en-US" sz="1200" dirty="0">
                <a:solidFill>
                  <a:schemeClr val="tx1"/>
                </a:solidFill>
              </a:rPr>
              <a:t> 있어 간접침해가 아니다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B+C</a:t>
            </a:r>
            <a:r>
              <a:rPr lang="ko-KR" altLang="en-US" sz="1200" dirty="0">
                <a:solidFill>
                  <a:schemeClr val="tx1"/>
                </a:solidFill>
              </a:rPr>
              <a:t>는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r>
              <a:rPr lang="ko-KR" altLang="en-US" sz="1200" dirty="0">
                <a:solidFill>
                  <a:schemeClr val="tx1"/>
                </a:solidFill>
              </a:rPr>
              <a:t>의 생산에만 사용되는 물건이 아니라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r>
              <a:rPr lang="ko-KR" altLang="en-US" sz="1200" dirty="0">
                <a:solidFill>
                  <a:schemeClr val="tx1"/>
                </a:solidFill>
              </a:rPr>
              <a:t>의 사용에 사용되는 물건이다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56365" y="2179231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인용심결</a:t>
            </a:r>
            <a:endParaRPr lang="ko-KR" altLang="en-US" sz="1200" dirty="0"/>
          </a:p>
        </p:txBody>
      </p:sp>
      <p:sp>
        <p:nvSpPr>
          <p:cNvPr id="26" name="타원 25"/>
          <p:cNvSpPr/>
          <p:nvPr/>
        </p:nvSpPr>
        <p:spPr>
          <a:xfrm>
            <a:off x="1284744" y="250273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3176421" y="250273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6730188" y="250273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10547045" y="250273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4616641" y="2502730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8632042" y="2502730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3" name="직선 연결선 32"/>
          <p:cNvCxnSpPr>
            <a:stCxn id="10" idx="0"/>
            <a:endCxn id="26" idx="4"/>
          </p:cNvCxnSpPr>
          <p:nvPr/>
        </p:nvCxnSpPr>
        <p:spPr>
          <a:xfrm flipH="1" flipV="1">
            <a:off x="1362113" y="2664068"/>
            <a:ext cx="1170" cy="2723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>
            <a:stCxn id="14" idx="0"/>
            <a:endCxn id="27" idx="4"/>
          </p:cNvCxnSpPr>
          <p:nvPr/>
        </p:nvCxnSpPr>
        <p:spPr>
          <a:xfrm flipV="1">
            <a:off x="3253790" y="2664068"/>
            <a:ext cx="0" cy="5867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>
            <a:stCxn id="17" idx="2"/>
            <a:endCxn id="30" idx="0"/>
          </p:cNvCxnSpPr>
          <p:nvPr/>
        </p:nvCxnSpPr>
        <p:spPr>
          <a:xfrm>
            <a:off x="4694010" y="2000250"/>
            <a:ext cx="0" cy="5024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20" idx="0"/>
            <a:endCxn id="28" idx="4"/>
          </p:cNvCxnSpPr>
          <p:nvPr/>
        </p:nvCxnSpPr>
        <p:spPr>
          <a:xfrm flipH="1" flipV="1">
            <a:off x="6807557" y="2664068"/>
            <a:ext cx="4356" cy="5867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>
            <a:stCxn id="23" idx="2"/>
            <a:endCxn id="31" idx="0"/>
          </p:cNvCxnSpPr>
          <p:nvPr/>
        </p:nvCxnSpPr>
        <p:spPr>
          <a:xfrm flipH="1">
            <a:off x="8709411" y="1952624"/>
            <a:ext cx="1072" cy="55010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1676399" y="4375112"/>
            <a:ext cx="6532033" cy="21377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pPr algn="just" eaLnBrk="1" latinLnBrk="0" hangingPunct="1">
              <a:spcBef>
                <a:spcPct val="50000"/>
              </a:spcBef>
            </a:pP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전자사진 방식의 화상기록 장치에 있어서, </a:t>
            </a:r>
            <a:endParaRPr kumimoji="0" lang="en-US" altLang="ko-KR" sz="12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 eaLnBrk="1" latinLnBrk="0" hangingPunct="1">
              <a:spcBef>
                <a:spcPct val="50000"/>
              </a:spcBef>
            </a:pP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감광드럼(4),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트리닝부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(16) 및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대전기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(5)를 일체로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유니트화한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kumimoji="0" lang="ko-KR" altLang="en-US" sz="1200" b="1" dirty="0" err="1">
                <a:solidFill>
                  <a:srgbClr val="FF0000"/>
                </a:solidFill>
                <a:latin typeface="+mn-ea"/>
                <a:ea typeface="+mn-ea"/>
              </a:rPr>
              <a:t>감광드럼유니트</a:t>
            </a:r>
            <a:r>
              <a:rPr kumimoji="0"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(40)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와</a:t>
            </a:r>
            <a:r>
              <a:rPr kumimoji="0"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</a:t>
            </a:r>
          </a:p>
          <a:p>
            <a:pPr algn="just" eaLnBrk="1" latinLnBrk="0" hangingPunct="1">
              <a:spcBef>
                <a:spcPct val="50000"/>
              </a:spcBef>
            </a:pP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상기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감광드럼유니트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(40)를 수납하는 드럼섹션(23)과 토너박스(21)를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착탈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가능하도록 하는 토너섹션(28)을 가진 </a:t>
            </a:r>
            <a:r>
              <a:rPr kumimoji="0" lang="ko-KR" altLang="en-US" sz="1200" b="1" dirty="0" err="1">
                <a:solidFill>
                  <a:srgbClr val="FF0000"/>
                </a:solidFill>
                <a:latin typeface="+mn-ea"/>
                <a:ea typeface="+mn-ea"/>
              </a:rPr>
              <a:t>현상유니트</a:t>
            </a:r>
            <a:r>
              <a:rPr kumimoji="0"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(20)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와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endParaRPr kumimoji="0" lang="en-US" altLang="ko-KR" sz="12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 eaLnBrk="1" latinLnBrk="0" hangingPunct="1">
              <a:spcBef>
                <a:spcPct val="50000"/>
              </a:spcBef>
            </a:pP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상기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감광드럼유니트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(40)의 위치결정 부재(41)와 상기 현상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유니트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(20)의 위치결정부재(28)를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가이드하는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가이드홈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(51,52)을 가진 기기 </a:t>
            </a:r>
            <a:r>
              <a:rPr kumimoji="0"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본체 프레임(50)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을 가지도록 구성하여, </a:t>
            </a:r>
            <a:endParaRPr kumimoji="0" lang="en-US" altLang="ko-KR" sz="12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 eaLnBrk="1" latinLnBrk="0" hangingPunct="1">
              <a:spcBef>
                <a:spcPct val="50000"/>
              </a:spcBef>
            </a:pP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소모품인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감광드럼유니트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, 토너박스,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현상유니트를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별도로 가져 경제적으로 함과 동시에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현상유니트의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위에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감광드럼유니트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, 토너박스가 수납가능 하도록 하여 사용자의 취급을 편리하게 한 것을 특징으로 하는 화상기록 장치</a:t>
            </a:r>
          </a:p>
        </p:txBody>
      </p:sp>
      <p:sp>
        <p:nvSpPr>
          <p:cNvPr id="48" name="모서리가 둥근 직사각형 47"/>
          <p:cNvSpPr/>
          <p:nvPr/>
        </p:nvSpPr>
        <p:spPr bwMode="auto">
          <a:xfrm>
            <a:off x="512086" y="4998559"/>
            <a:ext cx="1163184" cy="706916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특허발명</a:t>
            </a:r>
            <a:endParaRPr lang="en-US" altLang="ko-KR" sz="1400" dirty="0"/>
          </a:p>
          <a:p>
            <a:pPr algn="ctr"/>
            <a:r>
              <a:rPr lang="ko-KR" altLang="en-US" sz="1400" dirty="0"/>
              <a:t>구성</a:t>
            </a:r>
            <a:endParaRPr lang="en-US" altLang="ko-KR" sz="1400" dirty="0"/>
          </a:p>
        </p:txBody>
      </p:sp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433" y="3167694"/>
            <a:ext cx="3264163" cy="366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430908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감광드럼</a:t>
            </a:r>
            <a:r>
              <a:rPr lang="ko-KR" altLang="en-US" dirty="0"/>
              <a:t> 카트리지의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390</a:t>
            </a:fld>
            <a:endParaRPr lang="ko-KR" altLang="en-US"/>
          </a:p>
        </p:txBody>
      </p:sp>
      <p:sp>
        <p:nvSpPr>
          <p:cNvPr id="32" name="Text Box 4"/>
          <p:cNvSpPr txBox="1">
            <a:spLocks noChangeArrowheads="1"/>
          </p:cNvSpPr>
          <p:nvPr/>
        </p:nvSpPr>
        <p:spPr bwMode="auto">
          <a:xfrm>
            <a:off x="5715000" y="1416145"/>
            <a:ext cx="6100663" cy="19093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pPr algn="just" eaLnBrk="1" latinLnBrk="0" hangingPunct="1">
              <a:spcBef>
                <a:spcPct val="50000"/>
              </a:spcBef>
            </a:pP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가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호도면에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도시된 드럼 카트리지는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폐토너통을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별도로 구비하고 있는 여타의 드럼 카트리지들이 갖는 문제점을 개선하기 위해서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폐토너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적재공간을 드럼유니크와 일체로 형성시켜 놓았는데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특히 상기 드럼의 사용수명과 상기 드럼주변의 여유공간을 감안하여 상기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폐토너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적재공간을 적정크기로 형성시킴으로써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사용중에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폐토너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회수통을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교환해야 하는 불편함을 배제한다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.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즉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 (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가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호도면에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도시된 드럼 카트리지를 사용하는 경우는 드럼을 교체할 때까지 별도로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폐토너를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회수할 필요가 없고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상기한 바와 같은 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가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호도면의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드럼 카트리지로 교체하는 것에 의해 일괄적으로 교체가 이루어지도록 한다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35" name="모서리가 둥근 직사각형 34"/>
          <p:cNvSpPr/>
          <p:nvPr/>
        </p:nvSpPr>
        <p:spPr bwMode="auto">
          <a:xfrm>
            <a:off x="4525500" y="1991589"/>
            <a:ext cx="1189500" cy="703986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headEnd type="none" w="med" len="med"/>
            <a:tailEnd type="non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확인대상발명</a:t>
            </a:r>
            <a:endParaRPr lang="en-US" altLang="ko-KR" sz="1400" dirty="0"/>
          </a:p>
          <a:p>
            <a:pPr algn="ctr"/>
            <a:r>
              <a:rPr lang="ko-KR" altLang="en-US" sz="1400" dirty="0"/>
              <a:t>구성</a:t>
            </a:r>
            <a:endParaRPr lang="en-US" altLang="ko-KR" sz="1400" dirty="0"/>
          </a:p>
        </p:txBody>
      </p:sp>
      <p:pic>
        <p:nvPicPr>
          <p:cNvPr id="36" name="Picture 1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60" y="942975"/>
            <a:ext cx="4144011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직사각형 37"/>
          <p:cNvSpPr/>
          <p:nvPr/>
        </p:nvSpPr>
        <p:spPr bwMode="auto">
          <a:xfrm>
            <a:off x="527381" y="4352925"/>
            <a:ext cx="11233248" cy="221017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b"/>
          <a:lstStyle/>
          <a:p>
            <a:r>
              <a:rPr lang="en-US" altLang="ko-KR" sz="1200" dirty="0"/>
              <a:t>[1] </a:t>
            </a:r>
            <a:r>
              <a:rPr lang="ko-KR" altLang="en-US" sz="1200" dirty="0"/>
              <a:t>특허법 규정에서 말하는 「생산」이란 특허발명을 유형화하여 발명의 결과인 물건</a:t>
            </a:r>
            <a:r>
              <a:rPr lang="en-US" altLang="ko-KR" sz="1200" dirty="0"/>
              <a:t>(</a:t>
            </a:r>
            <a:r>
              <a:rPr lang="ko-KR" altLang="en-US" sz="1200" dirty="0"/>
              <a:t>物件</a:t>
            </a:r>
            <a:r>
              <a:rPr lang="en-US" altLang="ko-KR" sz="1200" dirty="0"/>
              <a:t>)</a:t>
            </a:r>
            <a:r>
              <a:rPr lang="ko-KR" altLang="en-US" sz="1200" dirty="0"/>
              <a:t>을 만들어 내는 모든 행위를 의미하고 공업적 생산물의 생산 이외에도 주요한 조립</a:t>
            </a:r>
            <a:r>
              <a:rPr lang="en-US" altLang="ko-KR" sz="1200" dirty="0"/>
              <a:t>, </a:t>
            </a:r>
            <a:r>
              <a:rPr lang="ko-KR" altLang="en-US" sz="1200" dirty="0"/>
              <a:t>핵심적인 부품을 기계 본체에 장착하는 것도 포함한다 할 것이며</a:t>
            </a:r>
            <a:r>
              <a:rPr lang="en-US" altLang="ko-KR" sz="1200" dirty="0"/>
              <a:t>, </a:t>
            </a:r>
            <a:r>
              <a:rPr lang="ko-KR" altLang="en-US" sz="1200" dirty="0"/>
              <a:t>특허발명의 대상 또는 그와 관련된 물건을 사용함에 따라 마모되거나 소진되어 자주 교체해 주어야 하는 소모부품일지라도</a:t>
            </a:r>
            <a:r>
              <a:rPr lang="en-US" altLang="ko-KR" sz="1200" dirty="0"/>
              <a:t>, </a:t>
            </a:r>
            <a:r>
              <a:rPr lang="ko-KR" altLang="en-US" sz="1200" dirty="0"/>
              <a:t>특허발명의 본질적인 구성요소에 해당하고 다른 용도로는 사용되지 아니하며 일반적으로 널리 쉽게 구할 수 없는 물품으로서 당해 발명에 관한 물건의 구입시에 이미 그러한 교체가 예정되어 있었고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특허권자</a:t>
            </a:r>
            <a:r>
              <a:rPr lang="ko-KR" altLang="en-US" sz="1200" dirty="0"/>
              <a:t> 측에 의하여 그러한 부품을 따로 </a:t>
            </a:r>
            <a:r>
              <a:rPr lang="ko-KR" altLang="en-US" sz="1200" dirty="0" err="1"/>
              <a:t>제조ㆍ판매하고</a:t>
            </a:r>
            <a:r>
              <a:rPr lang="ko-KR" altLang="en-US" sz="1200" dirty="0"/>
              <a:t> 있다면</a:t>
            </a:r>
            <a:r>
              <a:rPr lang="en-US" altLang="ko-KR" sz="1200" dirty="0"/>
              <a:t>, </a:t>
            </a:r>
            <a:r>
              <a:rPr lang="ko-KR" altLang="en-US" sz="1200" dirty="0"/>
              <a:t>그러한 물건은 특허권의 간접침해에서 말하는 특허 물건의 「생산」「에만」 사용하는 물건에 해당한다고 보아야 할 것이다</a:t>
            </a:r>
            <a:r>
              <a:rPr lang="en-US" altLang="ko-KR" sz="1200" dirty="0"/>
              <a:t>.</a:t>
            </a:r>
          </a:p>
          <a:p>
            <a:pPr marL="266700" indent="-266700"/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▶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  <a:sym typeface="Wingdings" pitchFamily="2" charset="2"/>
              </a:rPr>
              <a:t>생산에만에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 해당하기 위한 요건으로 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1)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본질적인 구성요소에 해당할 것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, 2)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다른 용도로 사용되지 않을 것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, 3)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널리 쉽게 구할 수 없는 물품일 것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, 4)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교체가 예정되어 있을 것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, 5)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특허권자가 제조 판매하고 있을 것의 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5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가지 요건을 설시</a:t>
            </a:r>
            <a:endParaRPr lang="en-US" altLang="ko-KR" sz="1200" dirty="0">
              <a:solidFill>
                <a:srgbClr val="FF0000"/>
              </a:solidFill>
              <a:sym typeface="Wingdings" pitchFamily="2" charset="2"/>
            </a:endParaRPr>
          </a:p>
          <a:p>
            <a:endParaRPr lang="en-US" altLang="ko-KR" sz="1200" dirty="0">
              <a:solidFill>
                <a:srgbClr val="FF0000"/>
              </a:solidFill>
              <a:sym typeface="Wingdings" pitchFamily="2" charset="2"/>
            </a:endParaRPr>
          </a:p>
          <a:p>
            <a:r>
              <a:rPr lang="en-US" altLang="ko-KR" sz="1200" dirty="0"/>
              <a:t>[2] </a:t>
            </a:r>
            <a:r>
              <a:rPr lang="ko-KR" altLang="en-US" sz="1200" dirty="0"/>
              <a:t>확인대상발명의 감광드럼카트리지가 이 사건 특허발명의 물건의 생산에만 사용되는 이상</a:t>
            </a:r>
            <a:r>
              <a:rPr lang="en-US" altLang="ko-KR" sz="1200" dirty="0"/>
              <a:t>, </a:t>
            </a:r>
            <a:r>
              <a:rPr lang="ko-KR" altLang="en-US" sz="1200" dirty="0"/>
              <a:t>확인대상발명이 공지의 감광드럼카트리지에 개선된 </a:t>
            </a:r>
            <a:r>
              <a:rPr lang="ko-KR" altLang="en-US" sz="1200" dirty="0" err="1"/>
              <a:t>폐토너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회수통을</a:t>
            </a:r>
            <a:r>
              <a:rPr lang="ko-KR" altLang="en-US" sz="1200" dirty="0"/>
              <a:t> 결합한 것이라고 하더라도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간접침해의 성립에는 아무런 지장이 없다</a:t>
            </a:r>
            <a:r>
              <a:rPr lang="en-US" altLang="ko-KR" sz="1200" dirty="0"/>
              <a:t>.</a:t>
            </a:r>
          </a:p>
          <a:p>
            <a:pPr marL="266700" indent="-266700"/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▶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특허요건 판단과 침해 판단은 무관함을 설시</a:t>
            </a:r>
            <a:endParaRPr lang="ko-KR" altLang="en-US" sz="1200" dirty="0"/>
          </a:p>
        </p:txBody>
      </p:sp>
      <p:sp>
        <p:nvSpPr>
          <p:cNvPr id="39" name="모서리가 둥근 직사각형 38"/>
          <p:cNvSpPr/>
          <p:nvPr/>
        </p:nvSpPr>
        <p:spPr bwMode="auto">
          <a:xfrm>
            <a:off x="527381" y="3992885"/>
            <a:ext cx="5472609" cy="36004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2001. 1. 30.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98</a:t>
            </a:r>
            <a:r>
              <a:rPr lang="ko-KR" altLang="en-US" sz="1400" dirty="0"/>
              <a:t>후</a:t>
            </a:r>
            <a:r>
              <a:rPr lang="en-US" altLang="ko-KR" sz="1400" dirty="0"/>
              <a:t>2580</a:t>
            </a:r>
          </a:p>
        </p:txBody>
      </p:sp>
    </p:spTree>
    <p:extLst>
      <p:ext uri="{BB962C8B-B14F-4D97-AF65-F5344CB8AC3E}">
        <p14:creationId xmlns:p14="http://schemas.microsoft.com/office/powerpoint/2010/main" val="20194877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7BE2CCEA-BEB6-46C6-A2AF-3E952ED5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186" y="4960278"/>
            <a:ext cx="1921464" cy="162159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연마패드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391</a:t>
            </a:fld>
            <a:endParaRPr lang="ko-KR" altLang="en-US"/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EA6D0AA3-A795-463F-A932-E97DEE7EE09B}"/>
              </a:ext>
            </a:extLst>
          </p:cNvPr>
          <p:cNvSpPr/>
          <p:nvPr/>
        </p:nvSpPr>
        <p:spPr bwMode="auto">
          <a:xfrm>
            <a:off x="378418" y="1002199"/>
            <a:ext cx="498123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2009. 9. 10.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2007</a:t>
            </a:r>
            <a:r>
              <a:rPr lang="ko-KR" altLang="en-US" sz="1400" dirty="0"/>
              <a:t>후</a:t>
            </a:r>
            <a:r>
              <a:rPr lang="en-US" altLang="ko-KR" sz="1400" dirty="0"/>
              <a:t>3356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297537-B24B-4300-B18D-EAD87B250EF1}"/>
              </a:ext>
            </a:extLst>
          </p:cNvPr>
          <p:cNvSpPr/>
          <p:nvPr/>
        </p:nvSpPr>
        <p:spPr>
          <a:xfrm>
            <a:off x="232372" y="1469453"/>
            <a:ext cx="1168198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확인대상발명은 </a:t>
            </a:r>
            <a:r>
              <a:rPr lang="ko-KR" altLang="en-US" sz="1200" dirty="0" err="1"/>
              <a:t>소형유동채널이</a:t>
            </a:r>
            <a:r>
              <a:rPr lang="ko-KR" altLang="en-US" sz="1200" dirty="0"/>
              <a:t> 결여되어 있고 마이크로 홀이 부가되어 있는 점에서 차이가 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/>
              <a:t>그러나 확인대상발명의 물건을 공급받은 사람이 연마패드를 사용하여 화학적 기계적 평탄화</a:t>
            </a:r>
            <a:r>
              <a:rPr lang="en-US" altLang="ko-KR" sz="1200" dirty="0"/>
              <a:t>(chemical mechanical planarization. </a:t>
            </a:r>
            <a:r>
              <a:rPr lang="ko-KR" altLang="en-US" sz="1200" dirty="0"/>
              <a:t>통상 </a:t>
            </a:r>
            <a:r>
              <a:rPr lang="en-US" altLang="ko-KR" sz="1200" dirty="0"/>
              <a:t>'CMP'</a:t>
            </a:r>
            <a:r>
              <a:rPr lang="ko-KR" altLang="en-US" sz="1200" dirty="0"/>
              <a:t>로 약칭된다</a:t>
            </a:r>
            <a:r>
              <a:rPr lang="en-US" altLang="ko-KR" sz="1200" dirty="0"/>
              <a:t>) </a:t>
            </a:r>
            <a:r>
              <a:rPr lang="ko-KR" altLang="en-US" sz="1200" dirty="0"/>
              <a:t>공정을 수행하는 때에는 다수의 다이아몬드입자가 부착된 </a:t>
            </a:r>
            <a:r>
              <a:rPr lang="ko-KR" altLang="en-US" sz="1200" dirty="0" err="1"/>
              <a:t>컨디셔너로</a:t>
            </a:r>
            <a:r>
              <a:rPr lang="ko-KR" altLang="en-US" sz="1200" dirty="0"/>
              <a:t> 연마패드의 표면을 압착하여 문지르는 브레이크 인</a:t>
            </a:r>
            <a:r>
              <a:rPr lang="en-US" altLang="ko-KR" sz="1200" dirty="0"/>
              <a:t>(break-in) </a:t>
            </a:r>
            <a:r>
              <a:rPr lang="ko-KR" altLang="en-US" sz="1200" dirty="0"/>
              <a:t>및 </a:t>
            </a:r>
            <a:r>
              <a:rPr lang="ko-KR" altLang="en-US" sz="1200" dirty="0" err="1"/>
              <a:t>컨디셔닝</a:t>
            </a:r>
            <a:r>
              <a:rPr lang="en-US" altLang="ko-KR" sz="1200" dirty="0"/>
              <a:t>(conditioning) </a:t>
            </a:r>
            <a:r>
              <a:rPr lang="ko-KR" altLang="en-US" sz="1200" dirty="0"/>
              <a:t>공정</a:t>
            </a:r>
            <a:r>
              <a:rPr lang="en-US" altLang="ko-KR" sz="1200" dirty="0"/>
              <a:t>(</a:t>
            </a:r>
            <a:r>
              <a:rPr lang="ko-KR" altLang="en-US" sz="1200" dirty="0"/>
              <a:t>이하 </a:t>
            </a:r>
            <a:r>
              <a:rPr lang="en-US" altLang="ko-KR" sz="1200" dirty="0"/>
              <a:t>'</a:t>
            </a:r>
            <a:r>
              <a:rPr lang="ko-KR" altLang="en-US" sz="1200" dirty="0" err="1"/>
              <a:t>컨디셔닝</a:t>
            </a:r>
            <a:r>
              <a:rPr lang="ko-KR" altLang="en-US" sz="1200" dirty="0"/>
              <a:t> 공정</a:t>
            </a:r>
            <a:r>
              <a:rPr lang="en-US" altLang="ko-KR" sz="1200" dirty="0"/>
              <a:t>'</a:t>
            </a:r>
            <a:r>
              <a:rPr lang="ko-KR" altLang="en-US" sz="1200" dirty="0"/>
              <a:t>이라 약칭한다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필수적으로 부가되고</a:t>
            </a:r>
            <a:r>
              <a:rPr lang="en-US" altLang="ko-KR" sz="1200" dirty="0"/>
              <a:t>, </a:t>
            </a:r>
            <a:r>
              <a:rPr lang="ko-KR" altLang="en-US" sz="1200" dirty="0"/>
              <a:t>이러한 </a:t>
            </a:r>
            <a:r>
              <a:rPr lang="ko-KR" altLang="en-US" sz="1200" dirty="0" err="1"/>
              <a:t>컨디셔닝</a:t>
            </a:r>
            <a:r>
              <a:rPr lang="ko-KR" altLang="en-US" sz="1200" dirty="0"/>
              <a:t> 공정을 수행하는 경우에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확인대상발명의 연마패드에는 이 사건 특허의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소형유동채널의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수치범위 내에 있는 폭과 길이 및 밀도를 가지고서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연마슬러리를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이동시키는 통로로 작용함으로써 이 사건 특허의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소형유동채널과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동일한 구조와 기능을 하는 원심 판시 줄무늬 홈이 반드시 형성된다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/>
              <a:t>그러므로 확인대상발명의 물건은 이 사건 특허 물건의 생산에만 사용되는 것이어서 원고가 업으로서 확인대상발명의 물건을 생산</a:t>
            </a:r>
            <a:r>
              <a:rPr lang="en-US" altLang="ko-KR" sz="1200" dirty="0"/>
              <a:t>·</a:t>
            </a:r>
            <a:r>
              <a:rPr lang="ko-KR" altLang="en-US" sz="1200" dirty="0"/>
              <a:t>판매한 행위는 이 사건 권리범위확인심판의 </a:t>
            </a:r>
            <a:r>
              <a:rPr lang="ko-KR" altLang="en-US" sz="1200" dirty="0" err="1"/>
              <a:t>심결시를</a:t>
            </a:r>
            <a:r>
              <a:rPr lang="ko-KR" altLang="en-US" sz="1200" dirty="0"/>
              <a:t> 기준으로 하여 이 사건 특허권에 대한 간접침해에 해당된다고 할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그 외에 </a:t>
            </a:r>
            <a:r>
              <a:rPr lang="ko-KR" altLang="en-US" sz="1200" dirty="0" err="1"/>
              <a:t>컨디셔닝이</a:t>
            </a:r>
            <a:r>
              <a:rPr lang="ko-KR" altLang="en-US" sz="1200" dirty="0"/>
              <a:t> 연마패드의 표면에 미치는 영향 내지 변화의 유무와 정도는 </a:t>
            </a:r>
            <a:r>
              <a:rPr lang="ko-KR" altLang="en-US" sz="1200" dirty="0" err="1"/>
              <a:t>컨디셔너의</a:t>
            </a:r>
            <a:r>
              <a:rPr lang="ko-KR" altLang="en-US" sz="1200" dirty="0"/>
              <a:t> 종류</a:t>
            </a:r>
            <a:r>
              <a:rPr lang="en-US" altLang="ko-KR" sz="1200" dirty="0"/>
              <a:t>, </a:t>
            </a:r>
            <a:r>
              <a:rPr lang="ko-KR" altLang="en-US" sz="1200" dirty="0"/>
              <a:t>연마패드의 경도</a:t>
            </a:r>
            <a:r>
              <a:rPr lang="en-US" altLang="ko-KR" sz="1200" dirty="0"/>
              <a:t>, </a:t>
            </a:r>
            <a:r>
              <a:rPr lang="ko-KR" altLang="en-US" sz="1200" dirty="0"/>
              <a:t>사용하는 </a:t>
            </a:r>
            <a:r>
              <a:rPr lang="ko-KR" altLang="en-US" sz="1200" dirty="0" err="1"/>
              <a:t>슬러리의</a:t>
            </a:r>
            <a:r>
              <a:rPr lang="ko-KR" altLang="en-US" sz="1200" dirty="0"/>
              <a:t> 종류 및 </a:t>
            </a:r>
            <a:r>
              <a:rPr lang="ko-KR" altLang="en-US" sz="1200" dirty="0" err="1"/>
              <a:t>슬러리에</a:t>
            </a:r>
            <a:r>
              <a:rPr lang="ko-KR" altLang="en-US" sz="1200" dirty="0"/>
              <a:t> 포함된 연마입자의 종류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컨디셔너에</a:t>
            </a:r>
            <a:r>
              <a:rPr lang="ko-KR" altLang="en-US" sz="1200" dirty="0"/>
              <a:t> 의하여 연마패드에 </a:t>
            </a:r>
            <a:r>
              <a:rPr lang="ko-KR" altLang="en-US" sz="1200" dirty="0" err="1"/>
              <a:t>가하여지는</a:t>
            </a:r>
            <a:r>
              <a:rPr lang="ko-KR" altLang="en-US" sz="1200" dirty="0"/>
              <a:t> 압력의 정도 등 여러 가지 요소에 따라 달라질 수 있다는 점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단순한 가능성에 불과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확인대상발명이 마이크로 홀이라는 기술수단에 의하여 이 사건 특허발명보다 더 우수한 작용효과를 기대할 수 있어 진보된 발명일 수 있다는 점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ko-KR" altLang="en-US" sz="1200" dirty="0"/>
              <a:t>등의 사정은 그러한 결론에 영향이 없다는 것이다</a:t>
            </a:r>
            <a:r>
              <a:rPr lang="en-US" altLang="ko-KR" sz="1200" dirty="0"/>
              <a:t>.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7560635-7B31-42FF-9B26-81D9C5FE6CE1}"/>
              </a:ext>
            </a:extLst>
          </p:cNvPr>
          <p:cNvCxnSpPr/>
          <p:nvPr/>
        </p:nvCxnSpPr>
        <p:spPr>
          <a:xfrm>
            <a:off x="0" y="3467481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E176CB-5A6B-4C3B-93FA-93B92D272747}"/>
              </a:ext>
            </a:extLst>
          </p:cNvPr>
          <p:cNvSpPr/>
          <p:nvPr/>
        </p:nvSpPr>
        <p:spPr>
          <a:xfrm>
            <a:off x="721250" y="3809738"/>
            <a:ext cx="2257331" cy="286232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특허발명의 청구항 </a:t>
            </a:r>
            <a:r>
              <a:rPr lang="en-US" altLang="ko-KR" sz="1200" dirty="0"/>
              <a:t>1</a:t>
            </a:r>
            <a:r>
              <a:rPr lang="ko-KR" altLang="en-US" sz="1200" dirty="0"/>
              <a:t>항</a:t>
            </a:r>
          </a:p>
          <a:p>
            <a:endParaRPr lang="ko-KR" altLang="en-US" sz="1200" dirty="0"/>
          </a:p>
          <a:p>
            <a:r>
              <a:rPr lang="ko-KR" altLang="en-US" sz="1200" dirty="0"/>
              <a:t>입자를 함유하는 연마 </a:t>
            </a:r>
            <a:r>
              <a:rPr lang="ko-KR" altLang="en-US" sz="1200" dirty="0" err="1"/>
              <a:t>슬러리를</a:t>
            </a:r>
            <a:r>
              <a:rPr lang="ko-KR" altLang="en-US" sz="1200" dirty="0"/>
              <a:t> 연마 패드의 전체 표면에 걸쳐 함께 이동시키는 </a:t>
            </a:r>
            <a:r>
              <a:rPr lang="ko-KR" altLang="en-US" sz="1200" dirty="0">
                <a:solidFill>
                  <a:srgbClr val="FF0000"/>
                </a:solidFill>
              </a:rPr>
              <a:t>대형 유동 채널</a:t>
            </a:r>
            <a:r>
              <a:rPr lang="ko-KR" altLang="en-US" sz="1200" dirty="0"/>
              <a:t>과 </a:t>
            </a:r>
            <a:r>
              <a:rPr lang="ko-KR" altLang="en-US" sz="1200" dirty="0">
                <a:solidFill>
                  <a:srgbClr val="FF0000"/>
                </a:solidFill>
              </a:rPr>
              <a:t>소형 유동 채널</a:t>
            </a:r>
            <a:r>
              <a:rPr lang="ko-KR" altLang="en-US" sz="1200" dirty="0"/>
              <a:t>을 둘 다 포함하는 </a:t>
            </a:r>
            <a:r>
              <a:rPr lang="ko-KR" altLang="en-US" sz="1200" dirty="0">
                <a:solidFill>
                  <a:srgbClr val="FF0000"/>
                </a:solidFill>
              </a:rPr>
              <a:t>표면 </a:t>
            </a:r>
            <a:r>
              <a:rPr lang="ko-KR" altLang="en-US" sz="1200" dirty="0" err="1">
                <a:solidFill>
                  <a:srgbClr val="FF0000"/>
                </a:solidFill>
              </a:rPr>
              <a:t>텍스쳐</a:t>
            </a:r>
            <a:r>
              <a:rPr lang="en-US" altLang="ko-KR" sz="1200" dirty="0">
                <a:solidFill>
                  <a:srgbClr val="FF0000"/>
                </a:solidFill>
              </a:rPr>
              <a:t>(texture)</a:t>
            </a:r>
            <a:r>
              <a:rPr lang="en-US" altLang="ko-KR" sz="1200" dirty="0"/>
              <a:t> </a:t>
            </a:r>
            <a:r>
              <a:rPr lang="ko-KR" altLang="en-US" sz="1200" dirty="0"/>
              <a:t>또는 패턴</a:t>
            </a:r>
            <a:r>
              <a:rPr lang="en-US" altLang="ko-KR" sz="1200" dirty="0"/>
              <a:t>(</a:t>
            </a:r>
            <a:r>
              <a:rPr lang="ko-KR" altLang="en-US" sz="1200" dirty="0"/>
              <a:t>여기서</a:t>
            </a:r>
            <a:r>
              <a:rPr lang="en-US" altLang="ko-KR" sz="1200" dirty="0"/>
              <a:t>, </a:t>
            </a:r>
            <a:r>
              <a:rPr lang="ko-KR" altLang="en-US" sz="1200" dirty="0"/>
              <a:t>표면 </a:t>
            </a:r>
            <a:r>
              <a:rPr lang="ko-KR" altLang="en-US" sz="1200" dirty="0" err="1"/>
              <a:t>텍스쳐는</a:t>
            </a:r>
            <a:r>
              <a:rPr lang="ko-KR" altLang="en-US" sz="1200" dirty="0"/>
              <a:t> 외부 수단에 의해서만 균일한 고체 </a:t>
            </a:r>
            <a:r>
              <a:rPr lang="ko-KR" altLang="en-US" sz="1200" dirty="0" err="1"/>
              <a:t>중합체</a:t>
            </a:r>
            <a:r>
              <a:rPr lang="ko-KR" altLang="en-US" sz="1200" dirty="0"/>
              <a:t> 시트의 표면에 형성된다</a:t>
            </a:r>
            <a:r>
              <a:rPr lang="en-US" altLang="ko-KR" sz="1200" dirty="0"/>
              <a:t>)</a:t>
            </a:r>
            <a:r>
              <a:rPr lang="ko-KR" altLang="en-US" sz="1200" dirty="0"/>
              <a:t>을 사용하는 동안 보유하는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슬러리</a:t>
            </a:r>
            <a:r>
              <a:rPr lang="ko-KR" altLang="en-US" sz="1200" dirty="0"/>
              <a:t> 입자를 흡착하거나 이동시키는 고유한 성능을 지니지 않는 균일한 고체 </a:t>
            </a:r>
            <a:r>
              <a:rPr lang="ko-KR" altLang="en-US" sz="1200" dirty="0" err="1"/>
              <a:t>중합체</a:t>
            </a:r>
            <a:r>
              <a:rPr lang="ko-KR" altLang="en-US" sz="1200" dirty="0"/>
              <a:t> 시트를 포함하는 개선된 연마 패드</a:t>
            </a:r>
            <a:r>
              <a:rPr lang="en-US" altLang="ko-KR" sz="1200" dirty="0"/>
              <a:t>.</a:t>
            </a:r>
          </a:p>
        </p:txBody>
      </p:sp>
      <p:pic>
        <p:nvPicPr>
          <p:cNvPr id="36" name="Picture 2" descr="http://203.236.86.23/kr_draw/kr1999/kf99020/0195831b1/kpo00004-6.jpg">
            <a:extLst>
              <a:ext uri="{FF2B5EF4-FFF2-40B4-BE49-F238E27FC236}">
                <a16:creationId xmlns:a16="http://schemas.microsoft.com/office/drawing/2014/main" id="{65265537-E52F-4A1A-99A3-CF4BB88AA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498" y="3481763"/>
            <a:ext cx="1619672" cy="151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38EC66C-EE56-4D02-A51E-7131B076FBD0}"/>
              </a:ext>
            </a:extLst>
          </p:cNvPr>
          <p:cNvCxnSpPr>
            <a:cxnSpLocks/>
          </p:cNvCxnSpPr>
          <p:nvPr/>
        </p:nvCxnSpPr>
        <p:spPr>
          <a:xfrm flipV="1">
            <a:off x="2661710" y="4157328"/>
            <a:ext cx="904024" cy="532367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F1E29FE-0E89-453A-937F-ABE8270DA252}"/>
              </a:ext>
            </a:extLst>
          </p:cNvPr>
          <p:cNvCxnSpPr>
            <a:cxnSpLocks/>
          </p:cNvCxnSpPr>
          <p:nvPr/>
        </p:nvCxnSpPr>
        <p:spPr>
          <a:xfrm flipV="1">
            <a:off x="1774780" y="3696258"/>
            <a:ext cx="1538829" cy="1174164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231CA67-7468-4CEC-BEFC-A4D67333F27B}"/>
              </a:ext>
            </a:extLst>
          </p:cNvPr>
          <p:cNvCxnSpPr>
            <a:cxnSpLocks/>
          </p:cNvCxnSpPr>
          <p:nvPr/>
        </p:nvCxnSpPr>
        <p:spPr>
          <a:xfrm flipV="1">
            <a:off x="2190929" y="4602990"/>
            <a:ext cx="1659363" cy="488383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1B4698-B375-4AA0-8EBF-9C0A9D3078A5}"/>
              </a:ext>
            </a:extLst>
          </p:cNvPr>
          <p:cNvSpPr txBox="1"/>
          <p:nvPr/>
        </p:nvSpPr>
        <p:spPr>
          <a:xfrm>
            <a:off x="3527779" y="4892927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본원발명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822A040-CCDA-4124-A157-F514A444F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452" y="4649613"/>
            <a:ext cx="5874559" cy="2176000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C672D013-600C-4185-AC81-E804373300D4}"/>
              </a:ext>
            </a:extLst>
          </p:cNvPr>
          <p:cNvSpPr/>
          <p:nvPr/>
        </p:nvSpPr>
        <p:spPr>
          <a:xfrm>
            <a:off x="5565010" y="3649496"/>
            <a:ext cx="5691612" cy="10156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CMP </a:t>
            </a:r>
            <a:r>
              <a:rPr lang="ko-KR" altLang="en-US" sz="1200" dirty="0"/>
              <a:t>공정이란 연마패드 대상물</a:t>
            </a:r>
            <a:r>
              <a:rPr lang="en-US" altLang="ko-KR" sz="1200" dirty="0"/>
              <a:t>(</a:t>
            </a:r>
            <a:r>
              <a:rPr lang="ko-KR" altLang="en-US" sz="1200" dirty="0"/>
              <a:t>웨이퍼</a:t>
            </a:r>
            <a:r>
              <a:rPr lang="en-US" altLang="ko-KR" sz="1200" dirty="0"/>
              <a:t>)</a:t>
            </a:r>
            <a:r>
              <a:rPr lang="ko-KR" altLang="en-US" sz="1200" dirty="0"/>
              <a:t>를 연마패드의 표면 위에 접촉시킨 상태에서 연마대상물과 연마패드를 각각 독립적으로 </a:t>
            </a:r>
            <a:r>
              <a:rPr lang="ko-KR" altLang="en-US" sz="1200" dirty="0" err="1"/>
              <a:t>고속회전시키면서</a:t>
            </a:r>
            <a:r>
              <a:rPr lang="ko-KR" altLang="en-US" sz="1200" dirty="0"/>
              <a:t> 미세한 연마입자를 포함하는 </a:t>
            </a:r>
            <a:r>
              <a:rPr lang="ko-KR" altLang="en-US" sz="1200" dirty="0" err="1"/>
              <a:t>슬러리</a:t>
            </a:r>
            <a:r>
              <a:rPr lang="ko-KR" altLang="en-US" sz="1200" dirty="0"/>
              <a:t> 용액을 연마패드에 떨어뜨려 연마패드와 대상물의 표면 사이로 흘러 들어가게 함으로써 </a:t>
            </a:r>
            <a:r>
              <a:rPr lang="ko-KR" altLang="en-US" sz="1200" dirty="0" err="1"/>
              <a:t>슬러리</a:t>
            </a:r>
            <a:r>
              <a:rPr lang="ko-KR" altLang="en-US" sz="1200" dirty="0"/>
              <a:t> 용액의 화학성분으로 대상물 표면을 </a:t>
            </a:r>
            <a:r>
              <a:rPr lang="ko-KR" altLang="en-US" sz="1200" dirty="0" err="1"/>
              <a:t>연화시키면서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슬러리</a:t>
            </a:r>
            <a:r>
              <a:rPr lang="ko-KR" altLang="en-US" sz="1200" dirty="0"/>
              <a:t> 내 연마입자의 유동을 통해 대상물의 표면을 연마하는 공정을 말한다</a:t>
            </a:r>
            <a:r>
              <a:rPr lang="en-US" altLang="ko-KR" sz="1200" dirty="0"/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32E042-4524-4937-A357-85E8AA4E417F}"/>
              </a:ext>
            </a:extLst>
          </p:cNvPr>
          <p:cNvSpPr txBox="1"/>
          <p:nvPr/>
        </p:nvSpPr>
        <p:spPr>
          <a:xfrm>
            <a:off x="3447978" y="6517836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확인대상발명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EF2A2650-CD25-4E6B-99E6-6FB58AAF7226}"/>
              </a:ext>
            </a:extLst>
          </p:cNvPr>
          <p:cNvGraphicFramePr>
            <a:graphicFrameLocks noGrp="1"/>
          </p:cNvGraphicFramePr>
          <p:nvPr/>
        </p:nvGraphicFramePr>
        <p:xfrm>
          <a:off x="6482278" y="731356"/>
          <a:ext cx="5311042" cy="10058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66250">
                  <a:extLst>
                    <a:ext uri="{9D8B030D-6E8A-4147-A177-3AD203B41FA5}">
                      <a16:colId xmlns:a16="http://schemas.microsoft.com/office/drawing/2014/main" val="3017133655"/>
                    </a:ext>
                  </a:extLst>
                </a:gridCol>
                <a:gridCol w="3744792">
                  <a:extLst>
                    <a:ext uri="{9D8B030D-6E8A-4147-A177-3AD203B41FA5}">
                      <a16:colId xmlns:a16="http://schemas.microsoft.com/office/drawing/2014/main" val="2244750595"/>
                    </a:ext>
                  </a:extLst>
                </a:gridCol>
              </a:tblGrid>
              <a:tr h="1581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이 사건 특허발명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확인대상발명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694743"/>
                  </a:ext>
                </a:extLst>
              </a:tr>
              <a:tr h="158136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A(</a:t>
                      </a:r>
                      <a:r>
                        <a:rPr lang="ko-KR" altLang="en-US" sz="1200" dirty="0" err="1"/>
                        <a:t>대형유동채널</a:t>
                      </a:r>
                      <a:r>
                        <a:rPr lang="en-US" altLang="ko-KR" sz="1200" dirty="0"/>
                        <a:t>)+</a:t>
                      </a:r>
                    </a:p>
                    <a:p>
                      <a:pPr latinLnBrk="1"/>
                      <a:r>
                        <a:rPr lang="en-US" altLang="ko-KR" sz="1200" dirty="0"/>
                        <a:t>B(</a:t>
                      </a:r>
                      <a:r>
                        <a:rPr lang="ko-KR" altLang="en-US" sz="1200" dirty="0" err="1"/>
                        <a:t>소형유동채널</a:t>
                      </a:r>
                      <a:r>
                        <a:rPr lang="en-US" altLang="ko-KR" sz="1200" dirty="0"/>
                        <a:t>)+</a:t>
                      </a:r>
                    </a:p>
                    <a:p>
                      <a:pPr latinLnBrk="1"/>
                      <a:r>
                        <a:rPr lang="en-US" altLang="ko-KR" sz="1200" dirty="0"/>
                        <a:t>P(</a:t>
                      </a:r>
                      <a:r>
                        <a:rPr lang="ko-KR" altLang="en-US" sz="1200" dirty="0" err="1"/>
                        <a:t>균일중합체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A(</a:t>
                      </a:r>
                      <a:r>
                        <a:rPr lang="ko-KR" altLang="en-US" sz="1200" dirty="0"/>
                        <a:t>그루브</a:t>
                      </a:r>
                      <a:r>
                        <a:rPr lang="en-US" altLang="ko-KR" sz="1200" dirty="0"/>
                        <a:t>)+M(</a:t>
                      </a:r>
                      <a:r>
                        <a:rPr lang="ko-KR" altLang="en-US" sz="1200" dirty="0" err="1"/>
                        <a:t>마이크로홀</a:t>
                      </a:r>
                      <a:r>
                        <a:rPr lang="en-US" altLang="ko-KR" sz="1200" dirty="0"/>
                        <a:t>)+P(</a:t>
                      </a:r>
                      <a:r>
                        <a:rPr lang="ko-KR" altLang="en-US" sz="1200" dirty="0" err="1"/>
                        <a:t>균일중합체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668417"/>
                  </a:ext>
                </a:extLst>
              </a:tr>
              <a:tr h="368985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브레이크인 및 </a:t>
                      </a:r>
                      <a:r>
                        <a:rPr lang="ko-KR" altLang="en-US" sz="1200" dirty="0" err="1"/>
                        <a:t>컨디셔닝후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A(</a:t>
                      </a:r>
                      <a:r>
                        <a:rPr lang="ko-KR" altLang="en-US" sz="1200" dirty="0"/>
                        <a:t>그루브</a:t>
                      </a:r>
                      <a:r>
                        <a:rPr lang="en-US" altLang="ko-KR" sz="1200" dirty="0"/>
                        <a:t>)+M(</a:t>
                      </a:r>
                      <a:r>
                        <a:rPr lang="ko-KR" altLang="en-US" sz="1200" dirty="0" err="1"/>
                        <a:t>마이크로홀</a:t>
                      </a:r>
                      <a:r>
                        <a:rPr lang="en-US" altLang="ko-KR" sz="1200" dirty="0"/>
                        <a:t>)+ b(</a:t>
                      </a:r>
                      <a:r>
                        <a:rPr lang="ko-KR" altLang="en-US" sz="1200" dirty="0"/>
                        <a:t>줄무늬홀</a:t>
                      </a:r>
                      <a:r>
                        <a:rPr lang="en-US" altLang="ko-KR" sz="1200" dirty="0"/>
                        <a:t>)+P(</a:t>
                      </a:r>
                      <a:r>
                        <a:rPr lang="ko-KR" altLang="en-US" sz="1200" dirty="0" err="1"/>
                        <a:t>균일중합체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778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1865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>
            <a:extLst>
              <a:ext uri="{FF2B5EF4-FFF2-40B4-BE49-F238E27FC236}">
                <a16:creationId xmlns:a16="http://schemas.microsoft.com/office/drawing/2014/main" id="{609E95C8-5D0A-4E03-8D1C-1BE13A12040C}"/>
              </a:ext>
            </a:extLst>
          </p:cNvPr>
          <p:cNvSpPr txBox="1"/>
          <p:nvPr/>
        </p:nvSpPr>
        <p:spPr>
          <a:xfrm>
            <a:off x="5910397" y="3291160"/>
            <a:ext cx="6003962" cy="29812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just"/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번 행위와 관련하여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특별한 사정이 없는 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통상실시권자가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스스로 전용품을 제작하여 방법을 실시하는 행위를 간접침해로 보기는 어렵다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마찬가지로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통상실시권자가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자를 통하여 전용품을 공급받아 방법발명을 실시하는 경우에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통상실시권자가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직접 전용품을 생산하여 방법발명을 실시하는 경우와 달리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자의 제작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납품행위가 곧바로 간접침해에 해당한다고 볼 수 없다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자에게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실시권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허락을 금하는 계약조건이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전용품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제작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납품까지 금지하는 것은 아니다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.) 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다만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실시계약에서 전용품을 스스로 생산하여 방법발명을 실시하는 행위를 금지하는 것으로 특별히 약정한 경우 이러한 약정에 위반하였다면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통상실시권자에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대하여는 채무불이행책임을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이러한 약정의 존재를 알면서 위반에 가담한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자에 대하여는 별도의 불법행위에 기한 손해배상책임을 묻는 것을 별론으로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한편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乙에게 납품하는 행위는 甲의 특허권을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간접침해하였다고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볼 수 없으므로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제작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납품행위에 불가분적으로 수반되는 검수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시연행위에 대하여 별도로 간접침해 및 직접침해가 성립된다고 할 수 없다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algn="just"/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번 행위와 관련하여 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특허발명의 효과나 유용성을 확인하거나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특정 분야에 적용될 수 있는지를 시험하고 특허발명을 개량하기 위한 것으로 보일 뿐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이 사건 특허발명을 다른 발명을 위한 도구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수단으로만 이용했다고 보기 어렵다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따라서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특허법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96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항제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호에 해당하여 침해가 아니다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마찰교반용접방법</a:t>
            </a:r>
            <a:r>
              <a:rPr lang="ko-KR" altLang="en-US" dirty="0">
                <a:solidFill>
                  <a:srgbClr val="525252"/>
                </a:solidFill>
              </a:rPr>
              <a:t>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392</a:t>
            </a:fld>
            <a:endParaRPr lang="ko-KR" altLang="en-US"/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EA6D0AA3-A795-463F-A932-E97DEE7EE09B}"/>
              </a:ext>
            </a:extLst>
          </p:cNvPr>
          <p:cNvSpPr/>
          <p:nvPr/>
        </p:nvSpPr>
        <p:spPr bwMode="auto">
          <a:xfrm>
            <a:off x="335289" y="1008637"/>
            <a:ext cx="4314352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2019. 2. 28.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2017</a:t>
            </a:r>
            <a:r>
              <a:rPr lang="ko-KR" altLang="en-US" sz="1200" dirty="0"/>
              <a:t>다</a:t>
            </a:r>
            <a:r>
              <a:rPr lang="en-US" altLang="ko-KR" sz="1200" dirty="0"/>
              <a:t>290095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손해배상</a:t>
            </a:r>
            <a:r>
              <a:rPr lang="en-US" altLang="ko-KR" sz="1200" dirty="0"/>
              <a:t>(</a:t>
            </a:r>
            <a:r>
              <a:rPr lang="ko-KR" altLang="en-US" sz="1200" dirty="0"/>
              <a:t>지</a:t>
            </a:r>
            <a:r>
              <a:rPr lang="en-US" altLang="ko-KR" sz="1200" dirty="0"/>
              <a:t>)】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297537-B24B-4300-B18D-EAD87B250EF1}"/>
              </a:ext>
            </a:extLst>
          </p:cNvPr>
          <p:cNvSpPr/>
          <p:nvPr/>
        </p:nvSpPr>
        <p:spPr>
          <a:xfrm>
            <a:off x="232372" y="1363747"/>
            <a:ext cx="11887741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방법의 발명</a:t>
            </a:r>
            <a:r>
              <a:rPr lang="en-US" altLang="ko-KR" sz="1100" dirty="0"/>
              <a:t>(</a:t>
            </a:r>
            <a:r>
              <a:rPr lang="ko-KR" altLang="en-US" sz="1100" dirty="0"/>
              <a:t>이하 ‘</a:t>
            </a:r>
            <a:r>
              <a:rPr lang="ko-KR" altLang="en-US" sz="1100" dirty="0" err="1"/>
              <a:t>방법발명’이라고</a:t>
            </a:r>
            <a:r>
              <a:rPr lang="ko-KR" altLang="en-US" sz="1100" dirty="0"/>
              <a:t> 한다</a:t>
            </a:r>
            <a:r>
              <a:rPr lang="en-US" altLang="ko-KR" sz="1100" dirty="0"/>
              <a:t>)</a:t>
            </a:r>
            <a:r>
              <a:rPr lang="ko-KR" altLang="en-US" sz="1100" dirty="0"/>
              <a:t>에 관한 특허권자로부터 허락을 받은 </a:t>
            </a:r>
            <a:r>
              <a:rPr lang="ko-KR" altLang="en-US" sz="1100" dirty="0" err="1"/>
              <a:t>실시권자가</a:t>
            </a:r>
            <a:r>
              <a:rPr lang="ko-KR" altLang="en-US" sz="1100" dirty="0"/>
              <a:t> 제</a:t>
            </a:r>
            <a:r>
              <a:rPr lang="en-US" altLang="ko-KR" sz="1100" dirty="0"/>
              <a:t>3</a:t>
            </a:r>
            <a:r>
              <a:rPr lang="ko-KR" altLang="en-US" sz="1100" dirty="0"/>
              <a:t>자에게 그 방법의 실시에만 사용하는 물건</a:t>
            </a:r>
            <a:r>
              <a:rPr lang="en-US" altLang="ko-KR" sz="1100" dirty="0"/>
              <a:t>(</a:t>
            </a:r>
            <a:r>
              <a:rPr lang="ko-KR" altLang="en-US" sz="1100" dirty="0"/>
              <a:t>이하 ‘</a:t>
            </a:r>
            <a:r>
              <a:rPr lang="ko-KR" altLang="en-US" sz="1100" dirty="0" err="1"/>
              <a:t>전용품’이라고</a:t>
            </a:r>
            <a:r>
              <a:rPr lang="ko-KR" altLang="en-US" sz="1100" dirty="0"/>
              <a:t> 한다</a:t>
            </a:r>
            <a:r>
              <a:rPr lang="en-US" altLang="ko-KR" sz="1100" dirty="0"/>
              <a:t>)</a:t>
            </a:r>
            <a:r>
              <a:rPr lang="ko-KR" altLang="en-US" sz="1100" dirty="0"/>
              <a:t>의 제작을 의뢰하여 그로부터 전용품을 공급받아 방법발명을 실시하는 경우에 있어서 그러한 제</a:t>
            </a:r>
            <a:r>
              <a:rPr lang="en-US" altLang="ko-KR" sz="1100" dirty="0"/>
              <a:t>3</a:t>
            </a:r>
            <a:r>
              <a:rPr lang="ko-KR" altLang="en-US" sz="1100" dirty="0"/>
              <a:t>자의 </a:t>
            </a:r>
            <a:r>
              <a:rPr lang="ko-KR" altLang="en-US" sz="1100" dirty="0" err="1"/>
              <a:t>전용품</a:t>
            </a:r>
            <a:r>
              <a:rPr lang="ko-KR" altLang="en-US" sz="1100" dirty="0"/>
              <a:t> 생산</a:t>
            </a:r>
            <a:r>
              <a:rPr lang="en-US" altLang="ko-KR" sz="1100" dirty="0"/>
              <a:t>․</a:t>
            </a:r>
            <a:r>
              <a:rPr lang="ko-KR" altLang="en-US" sz="1100" dirty="0"/>
              <a:t>양도 등의 행위를 특허권의 간접침해로 인정하면</a:t>
            </a:r>
            <a:r>
              <a:rPr lang="en-US" altLang="ko-KR" sz="1100" dirty="0"/>
              <a:t>, </a:t>
            </a:r>
            <a:r>
              <a:rPr lang="ko-KR" altLang="en-US" sz="11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실시권자의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실시권에 부당한 제약을 가하게 되고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특허권이 부당하게 확장되는 결과</a:t>
            </a:r>
            <a:r>
              <a:rPr lang="ko-KR" altLang="en-US" sz="1100" dirty="0"/>
              <a:t>를 초래한다</a:t>
            </a:r>
            <a:r>
              <a:rPr lang="en-US" altLang="ko-KR" sz="1100" dirty="0"/>
              <a:t>. </a:t>
            </a:r>
            <a:r>
              <a:rPr lang="ko-KR" altLang="en-US" sz="1100" dirty="0"/>
              <a:t>또한</a:t>
            </a:r>
            <a:r>
              <a:rPr lang="en-US" altLang="ko-KR" sz="1100" dirty="0"/>
              <a:t>, </a:t>
            </a:r>
            <a:r>
              <a:rPr lang="ko-KR" altLang="en-US" sz="1100" dirty="0"/>
              <a:t>특허권자는 실시권을 설정할 때 제</a:t>
            </a:r>
            <a:r>
              <a:rPr lang="en-US" altLang="ko-KR" sz="1100" dirty="0"/>
              <a:t>3</a:t>
            </a:r>
            <a:r>
              <a:rPr lang="ko-KR" altLang="en-US" sz="1100" dirty="0"/>
              <a:t>자로부터 전용품을 공급받아 방법발명을 실시할 것까지 예상하여 실시료를 책정하는 등의 방법으로 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당해 특허권의 가치에 상응하는 이윤을 회수할 </a:t>
            </a:r>
            <a:r>
              <a:rPr lang="ko-KR" altLang="en-US" sz="1100" dirty="0"/>
              <a:t>수 있으므로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실시권자가</a:t>
            </a:r>
            <a:r>
              <a:rPr lang="ko-KR" altLang="en-US" sz="1100" dirty="0"/>
              <a:t> 제</a:t>
            </a:r>
            <a:r>
              <a:rPr lang="en-US" altLang="ko-KR" sz="1100" dirty="0"/>
              <a:t>3</a:t>
            </a:r>
            <a:r>
              <a:rPr lang="ko-KR" altLang="en-US" sz="1100" dirty="0"/>
              <a:t>자로부터 전용품을 공급받는다고 하여 특허권자의 독점적 이익이 새롭게 침해된다고 보기도 어렵다</a:t>
            </a:r>
            <a:r>
              <a:rPr lang="en-US" altLang="ko-KR" sz="1100" dirty="0"/>
              <a:t>. </a:t>
            </a:r>
            <a:r>
              <a:rPr lang="ko-KR" altLang="en-US" sz="1100" dirty="0"/>
              <a:t>따라서 방법발명에 관한 특허권자로부터 허락을 받은 </a:t>
            </a:r>
            <a:r>
              <a:rPr lang="ko-KR" altLang="en-US" sz="1100" dirty="0" err="1"/>
              <a:t>실시권자가</a:t>
            </a:r>
            <a:r>
              <a:rPr lang="ko-KR" altLang="en-US" sz="1100" dirty="0"/>
              <a:t> 제</a:t>
            </a:r>
            <a:r>
              <a:rPr lang="en-US" altLang="ko-KR" sz="1100" dirty="0"/>
              <a:t>3</a:t>
            </a:r>
            <a:r>
              <a:rPr lang="ko-KR" altLang="en-US" sz="1100" dirty="0"/>
              <a:t>자에게 전용품의 제작을 의뢰하여 그로부터 전용품을 공급받아 방법발명을 실시하는 경우에 있어서 그러한 제</a:t>
            </a:r>
            <a:r>
              <a:rPr lang="en-US" altLang="ko-KR" sz="1100" dirty="0"/>
              <a:t>3</a:t>
            </a:r>
            <a:r>
              <a:rPr lang="ko-KR" altLang="en-US" sz="1100" dirty="0"/>
              <a:t>자의 </a:t>
            </a:r>
            <a:r>
              <a:rPr lang="ko-KR" altLang="en-US" sz="1100" dirty="0" err="1"/>
              <a:t>전용품</a:t>
            </a:r>
            <a:r>
              <a:rPr lang="ko-KR" altLang="en-US" sz="1100" dirty="0"/>
              <a:t> 생산</a:t>
            </a:r>
            <a:r>
              <a:rPr lang="en-US" altLang="ko-KR" sz="1100" dirty="0"/>
              <a:t>․</a:t>
            </a:r>
            <a:r>
              <a:rPr lang="ko-KR" altLang="en-US" sz="1100" dirty="0"/>
              <a:t>양도 등의 행위는 특허권의 간접침해에 해당한다고 볼 수 없다</a:t>
            </a:r>
            <a:r>
              <a:rPr lang="en-US" altLang="ko-KR" sz="1100" dirty="0"/>
              <a:t>.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7560635-7B31-42FF-9B26-81D9C5FE6CE1}"/>
              </a:ext>
            </a:extLst>
          </p:cNvPr>
          <p:cNvCxnSpPr/>
          <p:nvPr/>
        </p:nvCxnSpPr>
        <p:spPr>
          <a:xfrm>
            <a:off x="0" y="2360585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Line 5">
            <a:extLst>
              <a:ext uri="{FF2B5EF4-FFF2-40B4-BE49-F238E27FC236}">
                <a16:creationId xmlns:a16="http://schemas.microsoft.com/office/drawing/2014/main" id="{0BEAE8CA-D13F-4977-A54A-833036EDB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257" y="3012884"/>
            <a:ext cx="11555101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6D475-FAFA-4A69-BABE-E114DE552074}"/>
              </a:ext>
            </a:extLst>
          </p:cNvPr>
          <p:cNvSpPr txBox="1"/>
          <p:nvPr/>
        </p:nvSpPr>
        <p:spPr>
          <a:xfrm>
            <a:off x="626189" y="3269059"/>
            <a:ext cx="638315" cy="27699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등록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D8F240F-02EC-41B5-BA72-840A15F086A4}"/>
              </a:ext>
            </a:extLst>
          </p:cNvPr>
          <p:cNvSpPr/>
          <p:nvPr/>
        </p:nvSpPr>
        <p:spPr>
          <a:xfrm>
            <a:off x="867977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1B8DF3E-919A-4473-8D03-48A2196079D8}"/>
              </a:ext>
            </a:extLst>
          </p:cNvPr>
          <p:cNvCxnSpPr>
            <a:stCxn id="20" idx="0"/>
            <a:endCxn id="23" idx="4"/>
          </p:cNvCxnSpPr>
          <p:nvPr/>
        </p:nvCxnSpPr>
        <p:spPr>
          <a:xfrm flipH="1" flipV="1">
            <a:off x="945346" y="30802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A1F400C-EA48-4876-9FDE-A22E6F3F4695}"/>
              </a:ext>
            </a:extLst>
          </p:cNvPr>
          <p:cNvSpPr txBox="1"/>
          <p:nvPr/>
        </p:nvSpPr>
        <p:spPr>
          <a:xfrm>
            <a:off x="243056" y="3654866"/>
            <a:ext cx="140458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+mn-ea"/>
              </a:rPr>
              <a:t>마찰교반용접방법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6B11F7C-C520-4C40-AE96-8A5FDCFC7CB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945347" y="3546058"/>
            <a:ext cx="0" cy="1088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D880596-5377-47E7-B1A1-12758BAEE06A}"/>
              </a:ext>
            </a:extLst>
          </p:cNvPr>
          <p:cNvSpPr txBox="1"/>
          <p:nvPr/>
        </p:nvSpPr>
        <p:spPr>
          <a:xfrm>
            <a:off x="1528289" y="3269059"/>
            <a:ext cx="1229824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乙과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실시권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계약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25FBB2C-39BD-4FBE-A446-239C71A010F9}"/>
              </a:ext>
            </a:extLst>
          </p:cNvPr>
          <p:cNvSpPr/>
          <p:nvPr/>
        </p:nvSpPr>
        <p:spPr>
          <a:xfrm>
            <a:off x="2065830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8DC5584-BA3E-4B6E-B3AA-AEEB97BB7F1A}"/>
              </a:ext>
            </a:extLst>
          </p:cNvPr>
          <p:cNvCxnSpPr>
            <a:stCxn id="28" idx="0"/>
            <a:endCxn id="29" idx="4"/>
          </p:cNvCxnSpPr>
          <p:nvPr/>
        </p:nvCxnSpPr>
        <p:spPr>
          <a:xfrm flipH="1" flipV="1">
            <a:off x="2143199" y="3080288"/>
            <a:ext cx="2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94BAF2C-82E4-432A-A1E9-2D41735E4AE9}"/>
              </a:ext>
            </a:extLst>
          </p:cNvPr>
          <p:cNvSpPr txBox="1"/>
          <p:nvPr/>
        </p:nvSpPr>
        <p:spPr>
          <a:xfrm>
            <a:off x="214509" y="4267920"/>
            <a:ext cx="1640169" cy="14465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甲은 乙에게 구분 가능한 乙의 장소에서 이 사건 특허발명을 비독점적으로 사용할 것을 허락한다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228600" indent="-228600" algn="just"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乙은 다른 자에게 실시권을 허락할 수 없다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C67740-5B79-4DDC-84A1-3A8DD2041654}"/>
              </a:ext>
            </a:extLst>
          </p:cNvPr>
          <p:cNvSpPr txBox="1"/>
          <p:nvPr/>
        </p:nvSpPr>
        <p:spPr>
          <a:xfrm>
            <a:off x="2952027" y="3269059"/>
            <a:ext cx="638315" cy="276999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행위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2BF61E5-8B98-4840-91E2-546C37F9451A}"/>
              </a:ext>
            </a:extLst>
          </p:cNvPr>
          <p:cNvSpPr/>
          <p:nvPr/>
        </p:nvSpPr>
        <p:spPr>
          <a:xfrm>
            <a:off x="3193816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6E1D573-F133-411F-8759-CCB2D3680CA9}"/>
              </a:ext>
            </a:extLst>
          </p:cNvPr>
          <p:cNvCxnSpPr>
            <a:stCxn id="34" idx="0"/>
            <a:endCxn id="35" idx="4"/>
          </p:cNvCxnSpPr>
          <p:nvPr/>
        </p:nvCxnSpPr>
        <p:spPr>
          <a:xfrm flipV="1">
            <a:off x="3271185" y="3080288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9CB9059-D662-42C5-8B61-D5AB8BD8CA4F}"/>
              </a:ext>
            </a:extLst>
          </p:cNvPr>
          <p:cNvSpPr txBox="1"/>
          <p:nvPr/>
        </p:nvSpPr>
        <p:spPr>
          <a:xfrm>
            <a:off x="9895979" y="3200049"/>
            <a:ext cx="460382" cy="276999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판단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2251259-CCB1-45F1-8B5F-A3238466F5DE}"/>
              </a:ext>
            </a:extLst>
          </p:cNvPr>
          <p:cNvSpPr/>
          <p:nvPr/>
        </p:nvSpPr>
        <p:spPr>
          <a:xfrm>
            <a:off x="10048801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86A1B5D-764D-4029-962B-2DCB60A496DF}"/>
              </a:ext>
            </a:extLst>
          </p:cNvPr>
          <p:cNvCxnSpPr>
            <a:cxnSpLocks/>
            <a:stCxn id="39" idx="0"/>
            <a:endCxn id="40" idx="4"/>
          </p:cNvCxnSpPr>
          <p:nvPr/>
        </p:nvCxnSpPr>
        <p:spPr>
          <a:xfrm flipV="1">
            <a:off x="10126170" y="3080288"/>
            <a:ext cx="0" cy="119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3142002-6944-4E0A-B7CD-37AEDF1F8AB8}"/>
              </a:ext>
            </a:extLst>
          </p:cNvPr>
          <p:cNvSpPr txBox="1"/>
          <p:nvPr/>
        </p:nvSpPr>
        <p:spPr>
          <a:xfrm>
            <a:off x="2130229" y="4141694"/>
            <a:ext cx="1848302" cy="21307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228600" indent="-228600" algn="just">
              <a:buAutoNum type="arabicPeriod"/>
            </a:pP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마찰교반용접방법의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사용에만 사용되는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마찰교반용접기를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제작하여 乙에게 납품하고 그 과정에서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마찰교반용접방법을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사용하여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마찰교반용접기의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검수 및 시연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연구개발사업에 참여하면서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마찰교반용접방법을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사용</a:t>
            </a: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95384000-5938-4EA2-9A1E-F889A712D1DD}"/>
              </a:ext>
            </a:extLst>
          </p:cNvPr>
          <p:cNvCxnSpPr>
            <a:cxnSpLocks/>
            <a:stCxn id="31" idx="0"/>
            <a:endCxn id="28" idx="2"/>
          </p:cNvCxnSpPr>
          <p:nvPr/>
        </p:nvCxnSpPr>
        <p:spPr>
          <a:xfrm rot="5400000" flipH="1" flipV="1">
            <a:off x="1227966" y="3352686"/>
            <a:ext cx="721862" cy="1108607"/>
          </a:xfrm>
          <a:prstGeom prst="bentConnector3">
            <a:avLst>
              <a:gd name="adj1" fmla="val 3566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8B638C9-E05E-49F0-9B39-0B86A06F6F7F}"/>
              </a:ext>
            </a:extLst>
          </p:cNvPr>
          <p:cNvSpPr txBox="1"/>
          <p:nvPr/>
        </p:nvSpPr>
        <p:spPr>
          <a:xfrm>
            <a:off x="3674233" y="3269059"/>
            <a:ext cx="1366080" cy="436101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침해소송제기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B2547B6-75AA-4AD7-87EF-9D6FC9713D06}"/>
              </a:ext>
            </a:extLst>
          </p:cNvPr>
          <p:cNvSpPr/>
          <p:nvPr/>
        </p:nvSpPr>
        <p:spPr>
          <a:xfrm>
            <a:off x="4279903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D86EC74E-9A8D-4B70-9B36-3F3ED17C4142}"/>
              </a:ext>
            </a:extLst>
          </p:cNvPr>
          <p:cNvCxnSpPr>
            <a:cxnSpLocks/>
            <a:stCxn id="50" idx="0"/>
            <a:endCxn id="51" idx="4"/>
          </p:cNvCxnSpPr>
          <p:nvPr/>
        </p:nvCxnSpPr>
        <p:spPr>
          <a:xfrm flipH="1" flipV="1">
            <a:off x="4357272" y="30802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7B6460C3-DCEF-43EF-934E-2A9E9DBCB594}"/>
              </a:ext>
            </a:extLst>
          </p:cNvPr>
          <p:cNvCxnSpPr>
            <a:cxnSpLocks/>
            <a:stCxn id="43" idx="0"/>
            <a:endCxn id="34" idx="2"/>
          </p:cNvCxnSpPr>
          <p:nvPr/>
        </p:nvCxnSpPr>
        <p:spPr>
          <a:xfrm rot="5400000" flipH="1" flipV="1">
            <a:off x="2864964" y="3735474"/>
            <a:ext cx="595636" cy="21680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F0DBD96-7BFF-44D3-BE31-2D3003C54B2C}"/>
              </a:ext>
            </a:extLst>
          </p:cNvPr>
          <p:cNvSpPr txBox="1"/>
          <p:nvPr/>
        </p:nvSpPr>
        <p:spPr>
          <a:xfrm>
            <a:off x="5177680" y="3269059"/>
            <a:ext cx="638315" cy="276999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주장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6F448A18-541A-490F-886F-0246F8A2B52E}"/>
              </a:ext>
            </a:extLst>
          </p:cNvPr>
          <p:cNvSpPr/>
          <p:nvPr/>
        </p:nvSpPr>
        <p:spPr>
          <a:xfrm>
            <a:off x="5419470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899BE04-E117-4502-800C-FA46F071BEED}"/>
              </a:ext>
            </a:extLst>
          </p:cNvPr>
          <p:cNvCxnSpPr>
            <a:stCxn id="59" idx="0"/>
            <a:endCxn id="60" idx="4"/>
          </p:cNvCxnSpPr>
          <p:nvPr/>
        </p:nvCxnSpPr>
        <p:spPr>
          <a:xfrm flipV="1">
            <a:off x="5496838" y="30802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EC6CAA2-0933-4B4B-AF01-CD20A0340689}"/>
              </a:ext>
            </a:extLst>
          </p:cNvPr>
          <p:cNvSpPr txBox="1"/>
          <p:nvPr/>
        </p:nvSpPr>
        <p:spPr>
          <a:xfrm>
            <a:off x="4095079" y="4141693"/>
            <a:ext cx="1736371" cy="21307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just"/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번 행위와 관련하여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乙의 기관으로서 행위에 불과하여 침해가 아니다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乙이 특허발명을 실시하더라도 직접침해가 아니기 때문에 丙의 제작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납품행위는 간접침해가 아니다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algn="just"/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번 행위와 관련하여 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특허법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96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항제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호에 해당하여 침해가 아니다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5D32DC4B-F985-45C0-B75D-1A9F0E49FA94}"/>
              </a:ext>
            </a:extLst>
          </p:cNvPr>
          <p:cNvCxnSpPr>
            <a:cxnSpLocks/>
            <a:stCxn id="62" idx="0"/>
            <a:endCxn id="59" idx="2"/>
          </p:cNvCxnSpPr>
          <p:nvPr/>
        </p:nvCxnSpPr>
        <p:spPr>
          <a:xfrm rot="5400000" flipH="1" flipV="1">
            <a:off x="4932234" y="3577090"/>
            <a:ext cx="595635" cy="5335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10759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직접침해와의 관계</a:t>
            </a:r>
            <a:r>
              <a:rPr lang="en-US" altLang="ko-KR" dirty="0"/>
              <a:t>: </a:t>
            </a:r>
            <a:r>
              <a:rPr lang="ko-KR" altLang="en-US" dirty="0" err="1"/>
              <a:t>독립설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 err="1"/>
              <a:t>종속설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393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E34D99-CE36-40BE-A571-8BCB119D9B11}"/>
              </a:ext>
            </a:extLst>
          </p:cNvPr>
          <p:cNvSpPr/>
          <p:nvPr/>
        </p:nvSpPr>
        <p:spPr>
          <a:xfrm>
            <a:off x="77549" y="997080"/>
            <a:ext cx="4546209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 err="1"/>
              <a:t>실시권</a:t>
            </a:r>
            <a:r>
              <a:rPr lang="en-US" altLang="ko-KR" sz="1200" dirty="0"/>
              <a:t>, </a:t>
            </a:r>
            <a:r>
              <a:rPr lang="ko-KR" altLang="en-US" sz="1200" dirty="0"/>
              <a:t>권리소진이 적용되는 물건 등과 같이 정당한 </a:t>
            </a:r>
            <a:r>
              <a:rPr lang="ko-KR" altLang="en-US" sz="1200" dirty="0" err="1"/>
              <a:t>권원을</a:t>
            </a:r>
            <a:r>
              <a:rPr lang="ko-KR" altLang="en-US" sz="1200" dirty="0"/>
              <a:t> 가진 자가 특허발명을 실시하거나 특허권의 효력이 미치지 아니하는 범위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96) </a:t>
            </a:r>
            <a:r>
              <a:rPr lang="ko-KR" altLang="en-US" sz="1200" dirty="0"/>
              <a:t>등에서 특허발명을 실시하여 직접침해가 아닌데</a:t>
            </a:r>
            <a:r>
              <a:rPr lang="en-US" altLang="ko-KR" sz="1200" dirty="0"/>
              <a:t>, </a:t>
            </a:r>
            <a:r>
              <a:rPr lang="ko-KR" altLang="en-US" sz="1200" dirty="0"/>
              <a:t>그 자에게 간접침해행위에 해당하는 물건을 생산하여 양도 등을 하는 행위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0A5FF6-94FC-492D-B356-2892A3B94227}"/>
              </a:ext>
            </a:extLst>
          </p:cNvPr>
          <p:cNvSpPr/>
          <p:nvPr/>
        </p:nvSpPr>
        <p:spPr>
          <a:xfrm>
            <a:off x="4776070" y="997080"/>
            <a:ext cx="3557048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특허발명의 실시를 국외에서 하여 직접침해가 아닌데</a:t>
            </a:r>
            <a:r>
              <a:rPr lang="en-US" altLang="ko-KR" sz="1200" dirty="0"/>
              <a:t>, </a:t>
            </a:r>
            <a:r>
              <a:rPr lang="ko-KR" altLang="en-US" sz="1200" dirty="0"/>
              <a:t>그 자에게 국내에서 간접침해행위에 해당하는 물건을 생산하여 양도 등을 하는 행위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8D1C0CB-E895-4C25-8022-1BF02547A64A}"/>
              </a:ext>
            </a:extLst>
          </p:cNvPr>
          <p:cNvSpPr/>
          <p:nvPr/>
        </p:nvSpPr>
        <p:spPr>
          <a:xfrm>
            <a:off x="8494055" y="997080"/>
            <a:ext cx="355704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최종 특허발명의 실시를 업이 아닌 개인적</a:t>
            </a:r>
            <a:r>
              <a:rPr lang="en-US" altLang="ko-KR" sz="1200" dirty="0"/>
              <a:t>, </a:t>
            </a:r>
            <a:r>
              <a:rPr lang="ko-KR" altLang="en-US" sz="1200" dirty="0"/>
              <a:t>가정적으로 유도하여 직접침해가 아닌데</a:t>
            </a:r>
            <a:r>
              <a:rPr lang="en-US" altLang="ko-KR" sz="1200" dirty="0"/>
              <a:t>, </a:t>
            </a:r>
            <a:r>
              <a:rPr lang="ko-KR" altLang="en-US" sz="1200" dirty="0"/>
              <a:t>그 자에게 간접침해행위에 해당하는 물건을 생산하여 양도 등을 하는 행위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A5ABA2-E336-4DC1-B5B1-DD9F60A0C996}"/>
              </a:ext>
            </a:extLst>
          </p:cNvPr>
          <p:cNvSpPr/>
          <p:nvPr/>
        </p:nvSpPr>
        <p:spPr>
          <a:xfrm>
            <a:off x="67441" y="2408293"/>
            <a:ext cx="4546209" cy="282794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just"/>
            <a:r>
              <a:rPr lang="ko-KR" altLang="en-US" sz="1200" dirty="0"/>
              <a:t>방법의 발명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방법발명’이라고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에 관한 특허권자로부터 허락을 받은 </a:t>
            </a:r>
            <a:r>
              <a:rPr lang="ko-KR" altLang="en-US" sz="1200" dirty="0" err="1"/>
              <a:t>실시권자가</a:t>
            </a:r>
            <a:r>
              <a:rPr lang="ko-KR" altLang="en-US" sz="1200" dirty="0"/>
              <a:t> 제</a:t>
            </a:r>
            <a:r>
              <a:rPr lang="en-US" altLang="ko-KR" sz="1200" dirty="0"/>
              <a:t>3</a:t>
            </a:r>
            <a:r>
              <a:rPr lang="ko-KR" altLang="en-US" sz="1200" dirty="0"/>
              <a:t>자에게 그 방법의 실시에만 사용하는 물건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전용품’이라고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의 제작을 의뢰하여 그로부터 전용품을 공급받아 방법발명을 실시하는 경우에 있어서 그러한 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</a:t>
            </a:r>
            <a:r>
              <a:rPr lang="ko-KR" altLang="en-US" sz="1200" dirty="0" err="1"/>
              <a:t>전용품</a:t>
            </a:r>
            <a:r>
              <a:rPr lang="ko-KR" altLang="en-US" sz="1200" dirty="0"/>
              <a:t> 생산</a:t>
            </a:r>
            <a:r>
              <a:rPr lang="en-US" altLang="ko-KR" sz="1200" dirty="0"/>
              <a:t>․</a:t>
            </a:r>
            <a:r>
              <a:rPr lang="ko-KR" altLang="en-US" sz="1200" dirty="0"/>
              <a:t>양도 등의 행위를 특허권의 간접침해로 인정하면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실시권자의</a:t>
            </a:r>
            <a:r>
              <a:rPr lang="ko-KR" altLang="en-US" sz="1200" dirty="0"/>
              <a:t> 실시권에 부당한 제약을 가하게 되고</a:t>
            </a:r>
            <a:r>
              <a:rPr lang="en-US" altLang="ko-KR" sz="1200" dirty="0"/>
              <a:t>, </a:t>
            </a:r>
            <a:r>
              <a:rPr lang="ko-KR" altLang="en-US" sz="1200" dirty="0"/>
              <a:t>특허권이 부당하게 확장되는 결과를 초래한다</a:t>
            </a:r>
            <a:r>
              <a:rPr lang="en-US" altLang="ko-KR" sz="1200" dirty="0"/>
              <a:t>. </a:t>
            </a:r>
            <a:r>
              <a:rPr lang="ko-KR" altLang="en-US" sz="1200" dirty="0"/>
              <a:t>또한</a:t>
            </a:r>
            <a:r>
              <a:rPr lang="en-US" altLang="ko-KR" sz="1200" dirty="0"/>
              <a:t>, </a:t>
            </a:r>
            <a:r>
              <a:rPr lang="ko-KR" altLang="en-US" sz="1200" dirty="0"/>
              <a:t>특허권자는 실시권을 설정할 때 제</a:t>
            </a:r>
            <a:r>
              <a:rPr lang="en-US" altLang="ko-KR" sz="1200" dirty="0"/>
              <a:t>3</a:t>
            </a:r>
            <a:r>
              <a:rPr lang="ko-KR" altLang="en-US" sz="1200" dirty="0"/>
              <a:t>자로부터 전용품을 공급받아 방법발명을 실시할 것까지 예상하여 실시료를 책정하는 등의 방법으로 당해 특허권의 가치에 상응하는 이윤을 회수할 수 있으므로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실시권자가</a:t>
            </a:r>
            <a:r>
              <a:rPr lang="ko-KR" altLang="en-US" sz="1200" dirty="0"/>
              <a:t> 제</a:t>
            </a:r>
            <a:r>
              <a:rPr lang="en-US" altLang="ko-KR" sz="1200" dirty="0"/>
              <a:t>3</a:t>
            </a:r>
            <a:r>
              <a:rPr lang="ko-KR" altLang="en-US" sz="1200" dirty="0"/>
              <a:t>자로부터 전용품을 공급받는다고 하여 특허권자의 독점적 이익이 새롭게 침해된다고 보기도 어렵다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방법발명에 관한 특허권자로부터 허락을 받은 </a:t>
            </a:r>
            <a:r>
              <a:rPr lang="ko-KR" altLang="en-US" sz="1200" dirty="0" err="1"/>
              <a:t>실시권자가</a:t>
            </a:r>
            <a:r>
              <a:rPr lang="ko-KR" altLang="en-US" sz="1200" dirty="0"/>
              <a:t> 제</a:t>
            </a:r>
            <a:r>
              <a:rPr lang="en-US" altLang="ko-KR" sz="1200" dirty="0"/>
              <a:t>3</a:t>
            </a:r>
            <a:r>
              <a:rPr lang="ko-KR" altLang="en-US" sz="1200" dirty="0"/>
              <a:t>자에게 전용품의 제작을 의뢰하여 그 로부터 전용품을 공급받아 방법발명을 실시하는 경우에 있어서 그러한 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</a:t>
            </a:r>
            <a:r>
              <a:rPr lang="ko-KR" altLang="en-US" sz="1200" dirty="0" err="1"/>
              <a:t>전용품</a:t>
            </a:r>
            <a:r>
              <a:rPr lang="ko-KR" altLang="en-US" sz="1200" dirty="0"/>
              <a:t> 생산</a:t>
            </a:r>
            <a:r>
              <a:rPr lang="en-US" altLang="ko-KR" sz="1200" dirty="0"/>
              <a:t>․</a:t>
            </a:r>
            <a:r>
              <a:rPr lang="ko-KR" altLang="en-US" sz="1200" dirty="0"/>
              <a:t>양도 등의 행위는 특허권의 간접침해에 해당한다고 볼 수 없다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2019. 2. 28.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2017</a:t>
            </a:r>
            <a:r>
              <a:rPr lang="ko-KR" altLang="en-US" sz="1200" dirty="0"/>
              <a:t>다</a:t>
            </a:r>
            <a:r>
              <a:rPr lang="en-US" altLang="ko-KR" sz="1200" dirty="0"/>
              <a:t>290025).</a:t>
            </a:r>
            <a:endParaRPr lang="ko-KR" altLang="en-US" sz="1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20E6AC-FBEB-4EB7-95D0-1E6EE0E28B89}"/>
              </a:ext>
            </a:extLst>
          </p:cNvPr>
          <p:cNvSpPr/>
          <p:nvPr/>
        </p:nvSpPr>
        <p:spPr>
          <a:xfrm>
            <a:off x="4784697" y="2161944"/>
            <a:ext cx="3557048" cy="231480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just"/>
            <a:r>
              <a:rPr lang="ko-KR" altLang="en-US" sz="1200" dirty="0"/>
              <a:t>간접침해 제도는 어디까지나 특허권이 부당하게 확장되지 아니하는 범위에서 그 실효성을 확보하고자 하는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그런데 특허권의 속지주의 원칙상 물건의 발명에 관한 특허권자가 그 물건에 대하여 가지는 독점적인 </a:t>
            </a:r>
            <a:r>
              <a:rPr lang="ko-KR" altLang="en-US" sz="1200" dirty="0" err="1"/>
              <a:t>생산ㆍ사용ㆍ양도ㆍ대여</a:t>
            </a:r>
            <a:r>
              <a:rPr lang="ko-KR" altLang="en-US" sz="1200" dirty="0"/>
              <a:t> 또는 수입 등의 특허실시에 관한 권리는 특허권이 등록된 국가의 영역 내에서만 그 효력이 미치는 점을 고려하면</a:t>
            </a:r>
            <a:r>
              <a:rPr lang="en-US" altLang="ko-KR" sz="1200" dirty="0"/>
              <a:t>,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127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호의 ‘그 물건의 생산에만 사용하는 </a:t>
            </a:r>
            <a:r>
              <a:rPr lang="ko-KR" altLang="en-US" sz="1200" dirty="0" err="1"/>
              <a:t>물건’에서</a:t>
            </a:r>
            <a:r>
              <a:rPr lang="ko-KR" altLang="en-US" sz="1200" dirty="0"/>
              <a:t> 말하는 ‘</a:t>
            </a:r>
            <a:r>
              <a:rPr lang="ko-KR" altLang="en-US" sz="1200" dirty="0" err="1"/>
              <a:t>생산’이란</a:t>
            </a:r>
            <a:r>
              <a:rPr lang="ko-KR" altLang="en-US" sz="1200" dirty="0"/>
              <a:t> 국내에서의 생산을 의미한다고 봄이 타당하다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이러한 생산이 국외에서 일어나는 경우에는 그 전단계의 행위가 국내에서 이루어지더라도 간접침해가 성립할 수 없다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2015. 7. 23.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2014</a:t>
            </a:r>
            <a:r>
              <a:rPr lang="ko-KR" altLang="en-US" sz="1200" dirty="0"/>
              <a:t>다</a:t>
            </a:r>
            <a:r>
              <a:rPr lang="en-US" altLang="ko-KR" sz="1200" dirty="0"/>
              <a:t>42110).</a:t>
            </a:r>
            <a:endParaRPr lang="ko-KR" altLang="en-US" sz="12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5D91B0C-FECE-46BC-BAB8-50204A1524C5}"/>
              </a:ext>
            </a:extLst>
          </p:cNvPr>
          <p:cNvSpPr/>
          <p:nvPr/>
        </p:nvSpPr>
        <p:spPr>
          <a:xfrm>
            <a:off x="8494055" y="2170569"/>
            <a:ext cx="3557048" cy="193432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just"/>
            <a:r>
              <a:rPr lang="ko-KR" altLang="en-US" sz="1200" dirty="0"/>
              <a:t>특허발명을 채택한 레이저 프린터에 사용되는 소모부품인 확인대상발명의 </a:t>
            </a:r>
            <a:r>
              <a:rPr lang="ko-KR" altLang="en-US" sz="1200" dirty="0" err="1"/>
              <a:t>감광드럼카트리지가</a:t>
            </a:r>
            <a:r>
              <a:rPr lang="ko-KR" altLang="en-US" sz="1200" dirty="0"/>
              <a:t> 특허발명의 본질적 구성요소이고 타용도로는 사용되지도 아니하며 일반적으로 널리 쉽게 구입할 수도 없는 물품일 뿐만 아니라 레이저 프린터 구입시에 그 교체가 예정되어 있었고 특허권자가 그러한 </a:t>
            </a:r>
            <a:r>
              <a:rPr lang="ko-KR" altLang="en-US" sz="1200" dirty="0" err="1"/>
              <a:t>감광드럼카트리지를</a:t>
            </a:r>
            <a:r>
              <a:rPr lang="ko-KR" altLang="en-US" sz="1200" dirty="0"/>
              <a:t> 따로 </a:t>
            </a:r>
            <a:r>
              <a:rPr lang="ko-KR" altLang="en-US" sz="1200" dirty="0" err="1"/>
              <a:t>제조ㆍ판매하고</a:t>
            </a:r>
            <a:r>
              <a:rPr lang="ko-KR" altLang="en-US" sz="1200" dirty="0"/>
              <a:t> 있으므로 특허발명의 물건의 생산에만 사용하는 물건에 해당하여 확인대상발명이 특허발명의 권리범위를 벗어날 수 없다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2001. 1. 30. </a:t>
            </a:r>
            <a:r>
              <a:rPr lang="ko-KR" altLang="en-US" sz="1200" dirty="0"/>
              <a:t>선고 </a:t>
            </a:r>
            <a:r>
              <a:rPr lang="en-US" altLang="ko-KR" sz="1200" dirty="0"/>
              <a:t>98</a:t>
            </a:r>
            <a:r>
              <a:rPr lang="ko-KR" altLang="en-US" sz="1200" dirty="0"/>
              <a:t>후</a:t>
            </a:r>
            <a:r>
              <a:rPr lang="en-US" altLang="ko-KR" sz="1200" dirty="0"/>
              <a:t>2580).</a:t>
            </a:r>
            <a:endParaRPr lang="ko-KR" altLang="en-US" sz="12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FBAFC40-6F00-4CCA-A96C-0E7BEA4AA412}"/>
              </a:ext>
            </a:extLst>
          </p:cNvPr>
          <p:cNvCxnSpPr/>
          <p:nvPr/>
        </p:nvCxnSpPr>
        <p:spPr>
          <a:xfrm>
            <a:off x="4701396" y="828146"/>
            <a:ext cx="0" cy="596079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B708EF7-11A0-489B-80AF-2744CCB3D115}"/>
              </a:ext>
            </a:extLst>
          </p:cNvPr>
          <p:cNvCxnSpPr/>
          <p:nvPr/>
        </p:nvCxnSpPr>
        <p:spPr>
          <a:xfrm>
            <a:off x="8419381" y="828146"/>
            <a:ext cx="0" cy="596079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4C6F622-AA47-4F49-B266-A9F13BAB084D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flipH="1">
            <a:off x="2340546" y="1828077"/>
            <a:ext cx="10108" cy="58021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50564C2-BB82-427C-8E38-12687EE67ACF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6554594" y="1643411"/>
            <a:ext cx="8627" cy="5185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EB3F587-249C-4077-B17A-AABCF3400727}"/>
              </a:ext>
            </a:extLst>
          </p:cNvPr>
          <p:cNvCxnSpPr>
            <a:cxnSpLocks/>
            <a:stCxn id="31" idx="2"/>
            <a:endCxn id="37" idx="0"/>
          </p:cNvCxnSpPr>
          <p:nvPr/>
        </p:nvCxnSpPr>
        <p:spPr>
          <a:xfrm>
            <a:off x="10272579" y="1643411"/>
            <a:ext cx="0" cy="52715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9DFBF5B6-BADC-414A-873C-D2C58282F052}"/>
              </a:ext>
            </a:extLst>
          </p:cNvPr>
          <p:cNvSpPr/>
          <p:nvPr/>
        </p:nvSpPr>
        <p:spPr>
          <a:xfrm>
            <a:off x="77549" y="1920458"/>
            <a:ext cx="517338" cy="51733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종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5CE5EC3-8071-4CD6-B219-BBA9CAEA69E2}"/>
              </a:ext>
            </a:extLst>
          </p:cNvPr>
          <p:cNvSpPr/>
          <p:nvPr/>
        </p:nvSpPr>
        <p:spPr>
          <a:xfrm>
            <a:off x="4794628" y="1709556"/>
            <a:ext cx="517338" cy="51733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종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6F79AF6-F20A-4E22-AF11-DFE623B59AAF}"/>
              </a:ext>
            </a:extLst>
          </p:cNvPr>
          <p:cNvSpPr/>
          <p:nvPr/>
        </p:nvSpPr>
        <p:spPr>
          <a:xfrm>
            <a:off x="8607310" y="1696170"/>
            <a:ext cx="517338" cy="51733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D565C6-DD5E-4965-86BD-1C937A75D653}"/>
              </a:ext>
            </a:extLst>
          </p:cNvPr>
          <p:cNvSpPr/>
          <p:nvPr/>
        </p:nvSpPr>
        <p:spPr>
          <a:xfrm>
            <a:off x="4784697" y="4530515"/>
            <a:ext cx="3557048" cy="225843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just"/>
            <a:r>
              <a:rPr lang="en-US" altLang="ko-KR" sz="1200" dirty="0"/>
              <a:t>1) </a:t>
            </a:r>
            <a:r>
              <a:rPr lang="ko-KR" altLang="en-US" sz="1200" dirty="0"/>
              <a:t>국내에서 특허발명의 실시를 위한 부품 또는 구성 전부가 생산되거나 대부분의 생산단계를 마쳐 주요 구성을 모두 갖춘 반제품이 생산되고</a:t>
            </a:r>
            <a:r>
              <a:rPr lang="en-US" altLang="ko-KR" sz="1200" dirty="0"/>
              <a:t>, 2) </a:t>
            </a:r>
            <a:r>
              <a:rPr lang="ko-KR" altLang="en-US" sz="1200" dirty="0"/>
              <a:t>이것이 하나의 주체에게 수출되어 마지막 단계의 가공</a:t>
            </a:r>
            <a:r>
              <a:rPr lang="en-US" altLang="ko-KR" sz="1200" dirty="0"/>
              <a:t>·</a:t>
            </a:r>
            <a:r>
              <a:rPr lang="ko-KR" altLang="en-US" sz="1200" dirty="0"/>
              <a:t>조립이 이루어질 것이 예정되어 있으며</a:t>
            </a:r>
            <a:r>
              <a:rPr lang="en-US" altLang="ko-KR" sz="1200" dirty="0"/>
              <a:t>, 3) </a:t>
            </a:r>
            <a:r>
              <a:rPr lang="ko-KR" altLang="en-US" sz="1200" dirty="0"/>
              <a:t>그와 같은 가공</a:t>
            </a:r>
            <a:r>
              <a:rPr lang="en-US" altLang="ko-KR" sz="1200" dirty="0"/>
              <a:t>·</a:t>
            </a:r>
            <a:r>
              <a:rPr lang="ko-KR" altLang="en-US" sz="1200" dirty="0"/>
              <a:t>조립이 극히 사소하거나 간단하여 </a:t>
            </a:r>
            <a:r>
              <a:rPr lang="en-US" altLang="ko-KR" sz="1200" dirty="0">
                <a:solidFill>
                  <a:srgbClr val="FF0000"/>
                </a:solidFill>
              </a:rPr>
              <a:t>4) </a:t>
            </a:r>
            <a:r>
              <a:rPr lang="ko-KR" altLang="en-US" sz="1200" dirty="0">
                <a:solidFill>
                  <a:srgbClr val="FF0000"/>
                </a:solidFill>
              </a:rPr>
              <a:t>위와 같은 부품 전체의 생산 또는 반제품의 생산만으로도 특허발명의 각 구성요소가 유기적으로 결합한 일체로서 가지는 작용효과를 구현할 수 있는 상태에 이르렀다면</a:t>
            </a:r>
            <a:r>
              <a:rPr lang="en-US" altLang="ko-KR" sz="1200" dirty="0"/>
              <a:t>, </a:t>
            </a:r>
            <a:r>
              <a:rPr lang="ko-KR" altLang="en-US" sz="1200" dirty="0"/>
              <a:t>예외적으로 국내에서 특허발명의 실시 제품이 생산된 것과 같이 보는 것이 특허권의 실질적 보호에 부합한다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2019. 10. 17.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2019</a:t>
            </a:r>
            <a:r>
              <a:rPr lang="ko-KR" altLang="en-US" sz="1200" dirty="0"/>
              <a:t>다</a:t>
            </a:r>
            <a:r>
              <a:rPr lang="en-US" altLang="ko-KR" sz="1200" dirty="0"/>
              <a:t>222782, 2019</a:t>
            </a:r>
            <a:r>
              <a:rPr lang="ko-KR" altLang="en-US" sz="1200" dirty="0"/>
              <a:t>다</a:t>
            </a:r>
            <a:r>
              <a:rPr lang="en-US" altLang="ko-KR" sz="1200" dirty="0"/>
              <a:t>222799(</a:t>
            </a:r>
            <a:r>
              <a:rPr lang="ko-KR" altLang="en-US" sz="1200" dirty="0"/>
              <a:t>병합</a:t>
            </a:r>
            <a:r>
              <a:rPr lang="en-US" altLang="ko-KR" sz="1200" dirty="0"/>
              <a:t>) .</a:t>
            </a:r>
            <a:endParaRPr lang="ko-KR" altLang="en-US" sz="12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1B0A489-4F71-4204-B0CA-961B5850B6F1}"/>
              </a:ext>
            </a:extLst>
          </p:cNvPr>
          <p:cNvCxnSpPr>
            <a:cxnSpLocks/>
            <a:stCxn id="36" idx="2"/>
            <a:endCxn id="23" idx="0"/>
          </p:cNvCxnSpPr>
          <p:nvPr/>
        </p:nvCxnSpPr>
        <p:spPr>
          <a:xfrm>
            <a:off x="6563221" y="4476750"/>
            <a:ext cx="0" cy="537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15DB750-EC03-4295-AF7D-6845FE1D01CA}"/>
              </a:ext>
            </a:extLst>
          </p:cNvPr>
          <p:cNvSpPr txBox="1"/>
          <p:nvPr/>
        </p:nvSpPr>
        <p:spPr>
          <a:xfrm>
            <a:off x="8712680" y="4318966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속지주의의 원칙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2859FD2-6B15-45FC-81E3-03439153C582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8341745" y="4104892"/>
            <a:ext cx="370935" cy="39874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46B2485-7F28-44B8-B0AC-F28EC7DA028E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8341748" y="5105491"/>
            <a:ext cx="370932" cy="34069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C37D18-5AE7-48D3-BEA6-CB04D87A8960}"/>
              </a:ext>
            </a:extLst>
          </p:cNvPr>
          <p:cNvSpPr txBox="1"/>
          <p:nvPr/>
        </p:nvSpPr>
        <p:spPr>
          <a:xfrm>
            <a:off x="8712680" y="4920825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속지주의의 원칙의 예외 인정</a:t>
            </a:r>
          </a:p>
        </p:txBody>
      </p:sp>
    </p:spTree>
    <p:extLst>
      <p:ext uri="{BB962C8B-B14F-4D97-AF65-F5344CB8AC3E}">
        <p14:creationId xmlns:p14="http://schemas.microsoft.com/office/powerpoint/2010/main" val="35475925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반제품 사건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394</a:t>
            </a:fld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BDE3511-89E3-4A83-B9AF-60A521BCDBBF}"/>
              </a:ext>
            </a:extLst>
          </p:cNvPr>
          <p:cNvSpPr/>
          <p:nvPr/>
        </p:nvSpPr>
        <p:spPr>
          <a:xfrm>
            <a:off x="775712" y="1292708"/>
            <a:ext cx="1162024" cy="116202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甲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전용품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제작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납품 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18D7675-F226-47A3-BB65-9CDEAFD4419B}"/>
              </a:ext>
            </a:extLst>
          </p:cNvPr>
          <p:cNvSpPr/>
          <p:nvPr/>
        </p:nvSpPr>
        <p:spPr>
          <a:xfrm>
            <a:off x="775712" y="3074594"/>
            <a:ext cx="1162024" cy="116202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/>
              <a:t>乙 </a:t>
            </a:r>
            <a:endParaRPr lang="en-US" altLang="ko-KR" sz="1400" dirty="0"/>
          </a:p>
          <a:p>
            <a:pPr algn="ctr"/>
            <a:r>
              <a:rPr lang="ko-KR" altLang="en-US" sz="1400" dirty="0"/>
              <a:t>반제품</a:t>
            </a:r>
            <a:endParaRPr lang="en-US" altLang="ko-KR" sz="1400" dirty="0"/>
          </a:p>
          <a:p>
            <a:pPr algn="ctr"/>
            <a:r>
              <a:rPr lang="ko-KR" altLang="en-US" sz="1400" dirty="0"/>
              <a:t>생산</a:t>
            </a:r>
            <a:r>
              <a:rPr lang="en-US" altLang="ko-KR" sz="1400" dirty="0"/>
              <a:t>/</a:t>
            </a:r>
            <a:r>
              <a:rPr lang="ko-KR" altLang="en-US" sz="1400" dirty="0"/>
              <a:t>수출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E0D47953-5EE5-4478-B3A1-48A6D87A41B7}"/>
              </a:ext>
            </a:extLst>
          </p:cNvPr>
          <p:cNvSpPr/>
          <p:nvPr/>
        </p:nvSpPr>
        <p:spPr>
          <a:xfrm>
            <a:off x="775712" y="4922600"/>
            <a:ext cx="1162024" cy="1162024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/>
              <a:t>丙</a:t>
            </a:r>
            <a:endParaRPr lang="en-US" altLang="ko-KR" sz="1400" dirty="0"/>
          </a:p>
          <a:p>
            <a:pPr algn="ctr"/>
            <a:r>
              <a:rPr lang="ko-KR" altLang="en-US" sz="1400" dirty="0"/>
              <a:t>외국 </a:t>
            </a:r>
            <a:endParaRPr lang="en-US" altLang="ko-KR" sz="1400" dirty="0"/>
          </a:p>
          <a:p>
            <a:pPr algn="ctr"/>
            <a:r>
              <a:rPr lang="ko-KR" altLang="en-US" sz="1400" dirty="0"/>
              <a:t>완제품생산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7F55335-4454-4294-BFC4-703F294C606C}"/>
              </a:ext>
            </a:extLst>
          </p:cNvPr>
          <p:cNvCxnSpPr>
            <a:cxnSpLocks/>
            <a:stCxn id="29" idx="4"/>
            <a:endCxn id="30" idx="0"/>
          </p:cNvCxnSpPr>
          <p:nvPr/>
        </p:nvCxnSpPr>
        <p:spPr>
          <a:xfrm>
            <a:off x="1356724" y="2454732"/>
            <a:ext cx="0" cy="61986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20CEA58-A65B-4EB7-A41A-FE431D8EA53E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>
            <a:off x="1356724" y="4236618"/>
            <a:ext cx="0" cy="68598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순서도: 판단 27">
            <a:extLst>
              <a:ext uri="{FF2B5EF4-FFF2-40B4-BE49-F238E27FC236}">
                <a16:creationId xmlns:a16="http://schemas.microsoft.com/office/drawing/2014/main" id="{9AFDB2DF-E991-4262-A0DF-AF032833C840}"/>
              </a:ext>
            </a:extLst>
          </p:cNvPr>
          <p:cNvSpPr/>
          <p:nvPr/>
        </p:nvSpPr>
        <p:spPr>
          <a:xfrm>
            <a:off x="2840455" y="2943512"/>
            <a:ext cx="2434070" cy="1448077"/>
          </a:xfrm>
          <a:prstGeom prst="flowChartDecision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반제품 생산이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특허발명 생산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9A8298F-4A23-4D7F-98AE-46D45C34ECD0}"/>
              </a:ext>
            </a:extLst>
          </p:cNvPr>
          <p:cNvCxnSpPr>
            <a:cxnSpLocks/>
            <a:stCxn id="30" idx="6"/>
            <a:endCxn id="28" idx="1"/>
          </p:cNvCxnSpPr>
          <p:nvPr/>
        </p:nvCxnSpPr>
        <p:spPr>
          <a:xfrm>
            <a:off x="1937736" y="3655606"/>
            <a:ext cx="902719" cy="1194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8D5BDA5-EE6C-4675-ABC8-B35E0ECA58BF}"/>
              </a:ext>
            </a:extLst>
          </p:cNvPr>
          <p:cNvSpPr/>
          <p:nvPr/>
        </p:nvSpPr>
        <p:spPr>
          <a:xfrm>
            <a:off x="6413060" y="3260037"/>
            <a:ext cx="1708727" cy="3544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甲 간접침해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6267ADC-5DF9-4EBC-8A67-5EAD1416AAF4}"/>
              </a:ext>
            </a:extLst>
          </p:cNvPr>
          <p:cNvSpPr/>
          <p:nvPr/>
        </p:nvSpPr>
        <p:spPr>
          <a:xfrm>
            <a:off x="6413060" y="3711740"/>
            <a:ext cx="1708727" cy="3544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乙 직접침해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6759D5-EE01-4CB6-8D9F-233D7B49EFDD}"/>
              </a:ext>
            </a:extLst>
          </p:cNvPr>
          <p:cNvSpPr txBox="1"/>
          <p:nvPr/>
        </p:nvSpPr>
        <p:spPr>
          <a:xfrm>
            <a:off x="3209332" y="1295795"/>
            <a:ext cx="66936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arenR"/>
            </a:pPr>
            <a:r>
              <a:rPr lang="ko-KR" altLang="en-US" sz="1200" dirty="0"/>
              <a:t>국내에서 특허발명의 실시를 위한 부품 또는 구성 전부가 생산되거나 대부분의 생산단계를 마쳐 주요 구성을 모두 갖춘 반제품이 생산되고</a:t>
            </a:r>
            <a:r>
              <a:rPr lang="en-US" altLang="ko-KR" sz="1200" dirty="0"/>
              <a:t> </a:t>
            </a:r>
          </a:p>
          <a:p>
            <a:pPr marL="228600" indent="-228600">
              <a:buAutoNum type="arabicParenR"/>
            </a:pPr>
            <a:r>
              <a:rPr lang="ko-KR" altLang="en-US" sz="1200" dirty="0"/>
              <a:t>이것이 하나의 주체에게 수출되어 마지막 단계의 가공</a:t>
            </a:r>
            <a:r>
              <a:rPr lang="en-US" altLang="ko-KR" sz="1200" dirty="0"/>
              <a:t>·</a:t>
            </a:r>
            <a:r>
              <a:rPr lang="ko-KR" altLang="en-US" sz="1200" dirty="0"/>
              <a:t>조립이 이루어질 것이 예정되어 있으며</a:t>
            </a:r>
            <a:r>
              <a:rPr lang="en-US" altLang="ko-KR" sz="1200" dirty="0"/>
              <a:t> </a:t>
            </a:r>
          </a:p>
          <a:p>
            <a:pPr marL="228600" indent="-228600">
              <a:buAutoNum type="arabicParenR"/>
            </a:pPr>
            <a:r>
              <a:rPr lang="ko-KR" altLang="en-US" sz="1200" dirty="0"/>
              <a:t>그와 같은 가공</a:t>
            </a:r>
            <a:r>
              <a:rPr lang="en-US" altLang="ko-KR" sz="1200" dirty="0"/>
              <a:t>·</a:t>
            </a:r>
            <a:r>
              <a:rPr lang="ko-KR" altLang="en-US" sz="1200" dirty="0"/>
              <a:t>조립이 극히 사소하거나 간단하여 </a:t>
            </a:r>
            <a:endParaRPr lang="en-US" altLang="ko-KR" sz="1200" dirty="0"/>
          </a:p>
          <a:p>
            <a:endParaRPr lang="en-US" altLang="ko-KR" sz="1200" dirty="0"/>
          </a:p>
          <a:p>
            <a:pPr marL="215900" indent="-215900"/>
            <a:r>
              <a:rPr lang="en-US" altLang="ko-KR" sz="1200" dirty="0">
                <a:solidFill>
                  <a:srgbClr val="FF0000"/>
                </a:solidFill>
              </a:rPr>
              <a:t>4)  </a:t>
            </a:r>
            <a:r>
              <a:rPr lang="ko-KR" altLang="en-US" sz="1200" dirty="0">
                <a:solidFill>
                  <a:srgbClr val="FF0000"/>
                </a:solidFill>
              </a:rPr>
              <a:t>위와 같은 부품 전체의 생산 또는 반제품의 생산만으로도 특허발명의 각 구성요소가 유기적으로 결합한 일체로서 가지는 작용효과를 구현할 수 있는 상태에 이를 것</a:t>
            </a:r>
            <a:endParaRPr lang="ko-KR" altLang="en-US" sz="120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B931862-5009-44E9-94BF-E093D90BFE57}"/>
              </a:ext>
            </a:extLst>
          </p:cNvPr>
          <p:cNvSpPr/>
          <p:nvPr/>
        </p:nvSpPr>
        <p:spPr>
          <a:xfrm>
            <a:off x="6413060" y="5191283"/>
            <a:ext cx="1708727" cy="3544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甲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비침해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4C8C89E2-B2E5-4AC3-87F3-613CA730826C}"/>
              </a:ext>
            </a:extLst>
          </p:cNvPr>
          <p:cNvCxnSpPr>
            <a:cxnSpLocks/>
            <a:stCxn id="28" idx="3"/>
            <a:endCxn id="49" idx="1"/>
          </p:cNvCxnSpPr>
          <p:nvPr/>
        </p:nvCxnSpPr>
        <p:spPr>
          <a:xfrm flipV="1">
            <a:off x="5274525" y="3437240"/>
            <a:ext cx="1138535" cy="230311"/>
          </a:xfrm>
          <a:prstGeom prst="bentConnector3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CBE03A90-A22F-420D-B6AA-256C3C28B1CE}"/>
              </a:ext>
            </a:extLst>
          </p:cNvPr>
          <p:cNvCxnSpPr>
            <a:cxnSpLocks/>
            <a:stCxn id="28" idx="3"/>
            <a:endCxn id="51" idx="1"/>
          </p:cNvCxnSpPr>
          <p:nvPr/>
        </p:nvCxnSpPr>
        <p:spPr>
          <a:xfrm>
            <a:off x="5274525" y="3667551"/>
            <a:ext cx="1138535" cy="221392"/>
          </a:xfrm>
          <a:prstGeom prst="bentConnector3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4FEDC30A-50F1-490B-9D0D-E009852F62F5}"/>
              </a:ext>
            </a:extLst>
          </p:cNvPr>
          <p:cNvCxnSpPr>
            <a:cxnSpLocks/>
            <a:stCxn id="28" idx="2"/>
            <a:endCxn id="54" idx="1"/>
          </p:cNvCxnSpPr>
          <p:nvPr/>
        </p:nvCxnSpPr>
        <p:spPr>
          <a:xfrm rot="16200000" flipH="1">
            <a:off x="4746827" y="3702252"/>
            <a:ext cx="976897" cy="2355570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122D463-1D4B-4129-9A8D-FEB56B6B56F5}"/>
              </a:ext>
            </a:extLst>
          </p:cNvPr>
          <p:cNvSpPr/>
          <p:nvPr/>
        </p:nvSpPr>
        <p:spPr>
          <a:xfrm>
            <a:off x="4537790" y="3286591"/>
            <a:ext cx="1708727" cy="354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Y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D2D68DB-D392-4AB1-96AF-87F7929B9FB1}"/>
              </a:ext>
            </a:extLst>
          </p:cNvPr>
          <p:cNvSpPr/>
          <p:nvPr/>
        </p:nvSpPr>
        <p:spPr>
          <a:xfrm>
            <a:off x="3565797" y="4379454"/>
            <a:ext cx="1708727" cy="354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N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CE690B-B0F1-193A-5F86-CAC0B490FE37}"/>
              </a:ext>
            </a:extLst>
          </p:cNvPr>
          <p:cNvSpPr/>
          <p:nvPr/>
        </p:nvSpPr>
        <p:spPr>
          <a:xfrm>
            <a:off x="3209332" y="2170065"/>
            <a:ext cx="6628435" cy="5228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C2E49-5F87-E6D7-2B22-B14A4BE81365}"/>
              </a:ext>
            </a:extLst>
          </p:cNvPr>
          <p:cNvSpPr txBox="1"/>
          <p:nvPr/>
        </p:nvSpPr>
        <p:spPr>
          <a:xfrm>
            <a:off x="8785235" y="2754333"/>
            <a:ext cx="2105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일체성을 유지하여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All Elements Rule</a:t>
            </a:r>
            <a:r>
              <a:rPr lang="ko-KR" altLang="en-US" sz="1600" dirty="0">
                <a:solidFill>
                  <a:srgbClr val="FF0000"/>
                </a:solidFill>
              </a:rPr>
              <a:t>을 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ko-KR" altLang="en-US" sz="1600" dirty="0">
                <a:solidFill>
                  <a:srgbClr val="FF0000"/>
                </a:solidFill>
              </a:rPr>
              <a:t>적용할 수 있는 상태</a:t>
            </a:r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9F02A64E-CE99-7FDC-5148-7A4542EB1386}"/>
              </a:ext>
            </a:extLst>
          </p:cNvPr>
          <p:cNvSpPr/>
          <p:nvPr/>
        </p:nvSpPr>
        <p:spPr>
          <a:xfrm>
            <a:off x="8274422" y="3767601"/>
            <a:ext cx="3227296" cy="552060"/>
          </a:xfrm>
          <a:prstGeom prst="wedgeRoundRectCallout">
            <a:avLst>
              <a:gd name="adj1" fmla="val -18704"/>
              <a:gd name="adj2" fmla="val -8040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특허권의 속지주의 원칙과 구성요소 완비의 원칙을 고려하여 엄격하게 판단</a:t>
            </a:r>
          </a:p>
        </p:txBody>
      </p:sp>
    </p:spTree>
    <p:extLst>
      <p:ext uri="{BB962C8B-B14F-4D97-AF65-F5344CB8AC3E}">
        <p14:creationId xmlns:p14="http://schemas.microsoft.com/office/powerpoint/2010/main" val="225766541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22F4D-1AA5-BD8D-7A46-A0576FC33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A6DF8AA-3888-E09A-ED74-78BA29CC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96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1</a:t>
            </a:r>
            <a:r>
              <a:rPr lang="ko-KR" altLang="en-US" sz="1600" dirty="0"/>
              <a:t>호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127</a:t>
            </a:r>
            <a:r>
              <a:rPr lang="ko-KR" altLang="en-US" sz="1600" dirty="0"/>
              <a:t>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E97349-61C7-6431-C8C2-B53EEFC330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간접침해 </a:t>
            </a:r>
            <a:r>
              <a:rPr lang="en-US" altLang="ko-KR" dirty="0"/>
              <a:t>CASE: </a:t>
            </a:r>
            <a:r>
              <a:rPr lang="en-US" altLang="ko-KR" sz="2000" dirty="0"/>
              <a:t>13</a:t>
            </a:r>
            <a:r>
              <a:rPr lang="ko-KR" altLang="en-US" sz="2000" dirty="0"/>
              <a:t>가 백신 사건</a:t>
            </a:r>
            <a:r>
              <a:rPr lang="en-US" altLang="ko-KR" sz="1700" dirty="0"/>
              <a:t>(</a:t>
            </a:r>
            <a:r>
              <a:rPr lang="ko-KR" altLang="en-US" sz="1700" dirty="0"/>
              <a:t>대법원 </a:t>
            </a:r>
            <a:r>
              <a:rPr lang="en-US" altLang="ko-KR" sz="1700" dirty="0"/>
              <a:t>2025. 5. 15. </a:t>
            </a:r>
            <a:r>
              <a:rPr lang="ko-KR" altLang="en-US" sz="1700" dirty="0"/>
              <a:t>선고 </a:t>
            </a:r>
            <a:r>
              <a:rPr lang="en-US" altLang="ko-KR" sz="1700" dirty="0"/>
              <a:t>2025</a:t>
            </a:r>
            <a:r>
              <a:rPr lang="ko-KR" altLang="en-US" sz="1700" dirty="0"/>
              <a:t>다</a:t>
            </a:r>
            <a:r>
              <a:rPr lang="en-US" altLang="ko-KR" sz="1700" dirty="0"/>
              <a:t>202970)</a:t>
            </a:r>
            <a:endParaRPr lang="ko-KR" altLang="en-US" sz="17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52A82A-3E85-FC79-3337-77EDAE0386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395</a:t>
            </a:fld>
            <a:endParaRPr lang="ko-KR" alt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C6EB0B08-C7E0-E9A6-3A9D-1F9558B18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906" y="2860486"/>
            <a:ext cx="11483788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45773-D9ED-46A6-6DD0-A0B8F97C52EC}"/>
              </a:ext>
            </a:extLst>
          </p:cNvPr>
          <p:cNvSpPr txBox="1"/>
          <p:nvPr/>
        </p:nvSpPr>
        <p:spPr>
          <a:xfrm>
            <a:off x="1684023" y="3098729"/>
            <a:ext cx="638316" cy="27699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甲 등록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6FA632F-0202-73F8-2629-3C8AB721B884}"/>
              </a:ext>
            </a:extLst>
          </p:cNvPr>
          <p:cNvSpPr/>
          <p:nvPr/>
        </p:nvSpPr>
        <p:spPr>
          <a:xfrm>
            <a:off x="1925816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2D717-2FAC-2E08-D85F-56D51281EE13}"/>
              </a:ext>
            </a:extLst>
          </p:cNvPr>
          <p:cNvSpPr txBox="1"/>
          <p:nvPr/>
        </p:nvSpPr>
        <p:spPr>
          <a:xfrm>
            <a:off x="5732868" y="2054458"/>
            <a:ext cx="137128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乙과 丙이 라이선스 계약 체결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7CD3C0A-A28C-F0F2-5583-00741D3D6E7D}"/>
              </a:ext>
            </a:extLst>
          </p:cNvPr>
          <p:cNvSpPr/>
          <p:nvPr/>
        </p:nvSpPr>
        <p:spPr>
          <a:xfrm>
            <a:off x="6265099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C923713-C486-9936-3575-4EAB7FCB9C13}"/>
              </a:ext>
            </a:extLst>
          </p:cNvPr>
          <p:cNvSpPr/>
          <p:nvPr/>
        </p:nvSpPr>
        <p:spPr>
          <a:xfrm>
            <a:off x="761999" y="3562816"/>
            <a:ext cx="2877669" cy="4877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폐렴구균 백신으로 사용하기 위한 </a:t>
            </a:r>
            <a:r>
              <a:rPr lang="en-US" altLang="ko-KR" sz="1200" dirty="0">
                <a:solidFill>
                  <a:schemeClr val="tx1"/>
                </a:solidFill>
              </a:rPr>
              <a:t>13</a:t>
            </a:r>
            <a:r>
              <a:rPr lang="ko-KR" altLang="en-US" sz="1200" dirty="0">
                <a:solidFill>
                  <a:schemeClr val="tx1"/>
                </a:solidFill>
              </a:rPr>
              <a:t>가 면역원성 </a:t>
            </a:r>
            <a:r>
              <a:rPr lang="ko-KR" altLang="en-US" sz="1200" dirty="0" err="1">
                <a:solidFill>
                  <a:schemeClr val="tx1"/>
                </a:solidFill>
              </a:rPr>
              <a:t>조성물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024DB1-F87A-B7B9-5B9D-386EB58D3D49}"/>
              </a:ext>
            </a:extLst>
          </p:cNvPr>
          <p:cNvSpPr txBox="1"/>
          <p:nvPr/>
        </p:nvSpPr>
        <p:spPr>
          <a:xfrm>
            <a:off x="764614" y="4210739"/>
            <a:ext cx="2877669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직접 인체에 투약할 수 있는 형태인 최종 원액 등에 이르지 않더라도 제형화 등을 거칠 경우 폐렴구균 백신으로 사용할 수 있을 정도로 </a:t>
            </a:r>
            <a:r>
              <a:rPr lang="en-US" altLang="ko-KR" sz="1200" dirty="0">
                <a:solidFill>
                  <a:srgbClr val="FF0000"/>
                </a:solidFill>
              </a:rPr>
              <a:t>13</a:t>
            </a:r>
            <a:r>
              <a:rPr lang="ko-KR" altLang="en-US" sz="1200" dirty="0">
                <a:solidFill>
                  <a:srgbClr val="FF0000"/>
                </a:solidFill>
              </a:rPr>
              <a:t>개 혈청형 모두에 대하여 면역원성* </a:t>
            </a:r>
            <a:r>
              <a:rPr lang="ko-KR" altLang="en-US" sz="1200" dirty="0"/>
              <a:t>을 가지는 다당류</a:t>
            </a:r>
            <a:r>
              <a:rPr lang="en-US" altLang="ko-KR" sz="1200" dirty="0"/>
              <a:t>-</a:t>
            </a:r>
            <a:r>
              <a:rPr lang="ko-KR" altLang="en-US" sz="1200" dirty="0"/>
              <a:t>단백질 조성물을 의미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425CCC-41AA-6744-ECEF-A145BBB43BB7}"/>
              </a:ext>
            </a:extLst>
          </p:cNvPr>
          <p:cNvSpPr txBox="1"/>
          <p:nvPr/>
        </p:nvSpPr>
        <p:spPr>
          <a:xfrm>
            <a:off x="1392435" y="2054458"/>
            <a:ext cx="223715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종 폐렴구균 접합백신 개발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식약처로부터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품목허가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09194FE-F635-B5E9-E9A7-550CAB130F71}"/>
              </a:ext>
            </a:extLst>
          </p:cNvPr>
          <p:cNvSpPr/>
          <p:nvPr/>
        </p:nvSpPr>
        <p:spPr>
          <a:xfrm>
            <a:off x="2539468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AC115A-C8AA-8075-7D0A-073BCB0E16FF}"/>
              </a:ext>
            </a:extLst>
          </p:cNvPr>
          <p:cNvSpPr txBox="1"/>
          <p:nvPr/>
        </p:nvSpPr>
        <p:spPr>
          <a:xfrm>
            <a:off x="4677450" y="995209"/>
            <a:ext cx="3482118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/>
              <a:t>乙이 </a:t>
            </a:r>
            <a:r>
              <a:rPr lang="en-US" altLang="ko-KR" sz="1200" dirty="0"/>
              <a:t>13</a:t>
            </a:r>
            <a:r>
              <a:rPr lang="ko-KR" altLang="en-US" sz="1200" dirty="0"/>
              <a:t>종 개별 접합체 원액 및 완성 백신을 기술이전</a:t>
            </a:r>
            <a:r>
              <a:rPr lang="en-US" altLang="ko-KR" sz="1200" dirty="0"/>
              <a:t>, </a:t>
            </a:r>
            <a:r>
              <a:rPr lang="ko-KR" altLang="en-US" sz="1200" dirty="0"/>
              <a:t>비임상 및 임상 공급</a:t>
            </a:r>
            <a:r>
              <a:rPr lang="en-US" altLang="ko-KR" sz="1200" dirty="0"/>
              <a:t>, </a:t>
            </a:r>
            <a:r>
              <a:rPr lang="ko-KR" altLang="en-US" sz="1200" dirty="0"/>
              <a:t>상업용 공급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丙은 </a:t>
            </a:r>
            <a:r>
              <a:rPr lang="ko-KR" altLang="en-US" sz="1200" dirty="0" err="1"/>
              <a:t>이전받은</a:t>
            </a:r>
            <a:r>
              <a:rPr lang="ko-KR" altLang="en-US" sz="1200" dirty="0"/>
              <a:t> 기술 및 </a:t>
            </a:r>
            <a:r>
              <a:rPr lang="en-US" altLang="ko-KR" sz="1200" dirty="0"/>
              <a:t>13</a:t>
            </a:r>
            <a:r>
              <a:rPr lang="ko-KR" altLang="en-US" sz="1200" dirty="0"/>
              <a:t>종 개발 접합체 원액을 이용하여 러시아에서 완제품 제조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33C1E9-5E31-EEF2-7680-23B496FEB4B4}"/>
              </a:ext>
            </a:extLst>
          </p:cNvPr>
          <p:cNvSpPr txBox="1"/>
          <p:nvPr/>
        </p:nvSpPr>
        <p:spPr>
          <a:xfrm>
            <a:off x="7328562" y="2054457"/>
            <a:ext cx="415496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乙이 丙에게 계약 이행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(13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종 개별 접합체 원액 및 완성 백신 공급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丙이 러시아에서 품목허가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생산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BE78602-DD11-464F-E8CF-CA8A901F6297}"/>
              </a:ext>
            </a:extLst>
          </p:cNvPr>
          <p:cNvSpPr/>
          <p:nvPr/>
        </p:nvSpPr>
        <p:spPr>
          <a:xfrm>
            <a:off x="9128432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6716FA-4138-F406-353F-90E88D61060C}"/>
              </a:ext>
            </a:extLst>
          </p:cNvPr>
          <p:cNvSpPr txBox="1"/>
          <p:nvPr/>
        </p:nvSpPr>
        <p:spPr>
          <a:xfrm>
            <a:off x="8502780" y="3143554"/>
            <a:ext cx="339836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특허권 침해금지 및 부정경쟁행위 금지 소송제기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0C10395D-40AA-2E75-FD91-C84531B86F2A}"/>
              </a:ext>
            </a:extLst>
          </p:cNvPr>
          <p:cNvSpPr/>
          <p:nvPr/>
        </p:nvSpPr>
        <p:spPr>
          <a:xfrm>
            <a:off x="9931529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7BD1962-F8DC-D919-1577-BEF6D952AAAB}"/>
              </a:ext>
            </a:extLst>
          </p:cNvPr>
          <p:cNvSpPr/>
          <p:nvPr/>
        </p:nvSpPr>
        <p:spPr>
          <a:xfrm>
            <a:off x="8497216" y="3691809"/>
            <a:ext cx="3398368" cy="11436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13</a:t>
            </a:r>
            <a:r>
              <a:rPr lang="ko-KR" altLang="en-US" sz="1200" dirty="0">
                <a:solidFill>
                  <a:schemeClr val="tx1"/>
                </a:solidFill>
              </a:rPr>
              <a:t>종 개별 접합체 원액 생산 </a:t>
            </a:r>
            <a:r>
              <a:rPr lang="en-US" altLang="ko-KR" sz="1200" dirty="0">
                <a:solidFill>
                  <a:schemeClr val="tx1"/>
                </a:solidFill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</a:rPr>
              <a:t>수출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(1) </a:t>
            </a:r>
            <a:r>
              <a:rPr lang="ko-KR" altLang="en-US" sz="1200" dirty="0">
                <a:solidFill>
                  <a:schemeClr val="tx1"/>
                </a:solidFill>
              </a:rPr>
              <a:t>특허권 직접침해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(2) </a:t>
            </a:r>
            <a:r>
              <a:rPr lang="ko-KR" altLang="en-US" sz="1200" dirty="0">
                <a:solidFill>
                  <a:schemeClr val="tx1"/>
                </a:solidFill>
              </a:rPr>
              <a:t>특허권 간접침해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r>
              <a:rPr lang="en-US" altLang="ko-KR" sz="1200" dirty="0">
                <a:solidFill>
                  <a:schemeClr val="tx1"/>
                </a:solidFill>
              </a:rPr>
              <a:t>(3) </a:t>
            </a:r>
            <a:r>
              <a:rPr lang="ko-KR" altLang="en-US" sz="1200" dirty="0">
                <a:solidFill>
                  <a:srgbClr val="FF0000"/>
                </a:solidFill>
              </a:rPr>
              <a:t>성과 등 무단사용 부정경쟁행위</a:t>
            </a:r>
            <a:r>
              <a:rPr lang="ko-KR" altLang="en-US" sz="1200" dirty="0">
                <a:solidFill>
                  <a:schemeClr val="tx1"/>
                </a:solidFill>
              </a:rPr>
              <a:t>**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>
                <a:solidFill>
                  <a:schemeClr val="tx1"/>
                </a:solidFill>
              </a:rPr>
              <a:t>완성 백신 생산 </a:t>
            </a:r>
            <a:r>
              <a:rPr lang="en-US" altLang="ko-KR" sz="1200" dirty="0">
                <a:solidFill>
                  <a:schemeClr val="tx1"/>
                </a:solidFill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</a:rPr>
              <a:t>수출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</a:p>
          <a:p>
            <a:r>
              <a:rPr lang="en-US" altLang="ko-KR" sz="1200" dirty="0">
                <a:solidFill>
                  <a:schemeClr val="tx1"/>
                </a:solidFill>
              </a:rPr>
              <a:t>  – </a:t>
            </a:r>
            <a:r>
              <a:rPr lang="ko-KR" altLang="en-US" sz="1200" dirty="0">
                <a:solidFill>
                  <a:srgbClr val="FF0000"/>
                </a:solidFill>
              </a:rPr>
              <a:t>특허권 직접침해</a:t>
            </a:r>
            <a:r>
              <a:rPr lang="ko-KR" altLang="en-US" sz="1200" dirty="0">
                <a:solidFill>
                  <a:schemeClr val="tx1"/>
                </a:solidFill>
              </a:rPr>
              <a:t>***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E6B8E169-E18D-DB9D-2843-345F1A4B22FA}"/>
              </a:ext>
            </a:extLst>
          </p:cNvPr>
          <p:cNvCxnSpPr>
            <a:stCxn id="8" idx="0"/>
            <a:endCxn id="9" idx="4"/>
          </p:cNvCxnSpPr>
          <p:nvPr/>
        </p:nvCxnSpPr>
        <p:spPr>
          <a:xfrm rot="5400000" flipH="1" flipV="1">
            <a:off x="1917764" y="3013308"/>
            <a:ext cx="170839" cy="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AEA8397B-B598-7430-C94D-61E3951FD7BC}"/>
              </a:ext>
            </a:extLst>
          </p:cNvPr>
          <p:cNvCxnSpPr>
            <a:stCxn id="39" idx="0"/>
            <a:endCxn id="8" idx="2"/>
          </p:cNvCxnSpPr>
          <p:nvPr/>
        </p:nvCxnSpPr>
        <p:spPr>
          <a:xfrm rot="16200000" flipV="1">
            <a:off x="2008464" y="3370445"/>
            <a:ext cx="187088" cy="19765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34B36870-9755-756C-7B92-1908E4C26112}"/>
              </a:ext>
            </a:extLst>
          </p:cNvPr>
          <p:cNvCxnSpPr>
            <a:cxnSpLocks/>
            <a:stCxn id="43" idx="0"/>
            <a:endCxn id="39" idx="2"/>
          </p:cNvCxnSpPr>
          <p:nvPr/>
        </p:nvCxnSpPr>
        <p:spPr>
          <a:xfrm rot="16200000" flipV="1">
            <a:off x="2122049" y="4129338"/>
            <a:ext cx="160187" cy="261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13DF9574-1BA8-8463-DB18-4F60B938C733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rot="16200000" flipH="1">
            <a:off x="2438710" y="2588424"/>
            <a:ext cx="250429" cy="105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98294214-24E5-E30D-F346-944247C0608A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6255275" y="2603317"/>
            <a:ext cx="250429" cy="760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03EB2C35-EFBD-4E79-690C-5ACC9B0F4BD4}"/>
              </a:ext>
            </a:extLst>
          </p:cNvPr>
          <p:cNvCxnSpPr>
            <a:cxnSpLocks/>
            <a:stCxn id="47" idx="2"/>
            <a:endCxn id="13" idx="0"/>
          </p:cNvCxnSpPr>
          <p:nvPr/>
        </p:nvCxnSpPr>
        <p:spPr>
          <a:xfrm>
            <a:off x="6418509" y="1826206"/>
            <a:ext cx="0" cy="22825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6F168BFF-A453-50A8-5050-4F861F402571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 rot="5400000">
            <a:off x="9180707" y="2541216"/>
            <a:ext cx="250430" cy="2002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9EDDE055-8C9E-E1F9-A49F-FCE20FB9C5D7}"/>
              </a:ext>
            </a:extLst>
          </p:cNvPr>
          <p:cNvCxnSpPr>
            <a:stCxn id="51" idx="4"/>
            <a:endCxn id="50" idx="0"/>
          </p:cNvCxnSpPr>
          <p:nvPr/>
        </p:nvCxnSpPr>
        <p:spPr>
          <a:xfrm rot="16200000" flipH="1">
            <a:off x="9997599" y="2939189"/>
            <a:ext cx="215664" cy="1930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5E958922-6704-9C52-35DD-00EE8189176C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 rot="5400000">
            <a:off x="10063554" y="3553399"/>
            <a:ext cx="271256" cy="55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EE53C9AE-1674-9A58-5758-ECE2B8D15FD2}"/>
              </a:ext>
            </a:extLst>
          </p:cNvPr>
          <p:cNvSpPr/>
          <p:nvPr/>
        </p:nvSpPr>
        <p:spPr>
          <a:xfrm>
            <a:off x="9931530" y="3906179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116F1B24-0666-CB0E-5F91-9AEEA37CC0CB}"/>
              </a:ext>
            </a:extLst>
          </p:cNvPr>
          <p:cNvSpPr/>
          <p:nvPr/>
        </p:nvSpPr>
        <p:spPr>
          <a:xfrm>
            <a:off x="9931530" y="4091085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 dirty="0"/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D4431D77-B794-20CE-E3F4-D26268334264}"/>
              </a:ext>
            </a:extLst>
          </p:cNvPr>
          <p:cNvSpPr/>
          <p:nvPr/>
        </p:nvSpPr>
        <p:spPr>
          <a:xfrm>
            <a:off x="10980122" y="4286745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C86DF82A-7F49-CA85-5933-6BEE5BDDE15E}"/>
              </a:ext>
            </a:extLst>
          </p:cNvPr>
          <p:cNvSpPr/>
          <p:nvPr/>
        </p:nvSpPr>
        <p:spPr>
          <a:xfrm>
            <a:off x="10066000" y="4641560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4</a:t>
            </a:r>
            <a:endParaRPr lang="ko-KR" altLang="en-US" sz="1200" dirty="0"/>
          </a:p>
        </p:txBody>
      </p:sp>
      <p:sp>
        <p:nvSpPr>
          <p:cNvPr id="114" name="말풍선: 모서리가 둥근 사각형 113">
            <a:extLst>
              <a:ext uri="{FF2B5EF4-FFF2-40B4-BE49-F238E27FC236}">
                <a16:creationId xmlns:a16="http://schemas.microsoft.com/office/drawing/2014/main" id="{699F7A32-91E8-6A67-8966-281830963CB4}"/>
              </a:ext>
            </a:extLst>
          </p:cNvPr>
          <p:cNvSpPr/>
          <p:nvPr/>
        </p:nvSpPr>
        <p:spPr>
          <a:xfrm>
            <a:off x="941294" y="1683971"/>
            <a:ext cx="1472724" cy="228252"/>
          </a:xfrm>
          <a:prstGeom prst="wedgeRoundRectCallout">
            <a:avLst>
              <a:gd name="adj1" fmla="val -6593"/>
              <a:gd name="adj2" fmla="val 126564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OK</a:t>
            </a:r>
            <a:r>
              <a:rPr lang="ko-KR" altLang="en-US" sz="1200" dirty="0" err="1">
                <a:solidFill>
                  <a:srgbClr val="FF0000"/>
                </a:solidFill>
              </a:rPr>
              <a:t>바이오사이언스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4F332F6-E42C-15FE-8E82-3E0AEE093915}"/>
              </a:ext>
            </a:extLst>
          </p:cNvPr>
          <p:cNvSpPr txBox="1"/>
          <p:nvPr/>
        </p:nvSpPr>
        <p:spPr>
          <a:xfrm>
            <a:off x="143102" y="5368113"/>
            <a:ext cx="118516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* 폐렴구균 다가 접합체 백신을 </a:t>
            </a:r>
            <a:r>
              <a:rPr lang="ko-KR" altLang="en-US" sz="1000" dirty="0" err="1"/>
              <a:t>연구·개발하는</a:t>
            </a:r>
            <a:r>
              <a:rPr lang="ko-KR" altLang="en-US" sz="1000" dirty="0"/>
              <a:t> 기술 분야에서 기술적 어려움으로 인식되어 오던 </a:t>
            </a:r>
            <a:r>
              <a:rPr lang="ko-KR" altLang="en-US" sz="1000" dirty="0">
                <a:solidFill>
                  <a:srgbClr val="FF0000"/>
                </a:solidFill>
              </a:rPr>
              <a:t>가수의 증가에 따른 면역반응 저하 내지 억제</a:t>
            </a:r>
            <a:r>
              <a:rPr lang="ko-KR" altLang="en-US" sz="1000" dirty="0"/>
              <a:t> 등을 극복하고, 13종의 폐렴구균 항원에 대해 면역원성을 가지는 조성물을 발명함으로써, 폐렴구균 백신의 적용범위(</a:t>
            </a:r>
            <a:r>
              <a:rPr lang="ko-KR" altLang="en-US" sz="1000" dirty="0" err="1"/>
              <a:t>coverage</a:t>
            </a:r>
            <a:r>
              <a:rPr lang="ko-KR" altLang="en-US" sz="1000" dirty="0"/>
              <a:t>)</a:t>
            </a:r>
            <a:r>
              <a:rPr lang="ko-KR" altLang="en-US" sz="1000" dirty="0" err="1"/>
              <a:t>를</a:t>
            </a:r>
            <a:r>
              <a:rPr lang="ko-KR" altLang="en-US" sz="1000" dirty="0"/>
              <a:t> 넓힘</a:t>
            </a:r>
            <a:endParaRPr lang="en-US" altLang="ko-KR" sz="1000" dirty="0"/>
          </a:p>
          <a:p>
            <a:r>
              <a:rPr lang="ko-KR" altLang="en-US" sz="1000" dirty="0"/>
              <a:t>** 부정경쟁방지법 제</a:t>
            </a:r>
            <a:r>
              <a:rPr lang="en-US" altLang="ko-KR" sz="1000" dirty="0"/>
              <a:t>2</a:t>
            </a:r>
            <a:r>
              <a:rPr lang="ko-KR" altLang="en-US" sz="1000" dirty="0"/>
              <a:t>조제</a:t>
            </a:r>
            <a:r>
              <a:rPr lang="en-US" altLang="ko-KR" sz="1000" dirty="0"/>
              <a:t>1</a:t>
            </a:r>
            <a:r>
              <a:rPr lang="ko-KR" altLang="en-US" sz="1000" dirty="0"/>
              <a:t>호</a:t>
            </a:r>
            <a:r>
              <a:rPr lang="en-US" altLang="ko-KR" sz="1000" dirty="0"/>
              <a:t>(</a:t>
            </a:r>
            <a:r>
              <a:rPr lang="ko-KR" altLang="en-US" sz="1000" dirty="0"/>
              <a:t>파</a:t>
            </a:r>
            <a:r>
              <a:rPr lang="en-US" altLang="ko-KR" sz="1000" dirty="0"/>
              <a:t>)</a:t>
            </a:r>
            <a:r>
              <a:rPr lang="ko-KR" altLang="en-US" sz="1000" dirty="0"/>
              <a:t>목</a:t>
            </a:r>
            <a:r>
              <a:rPr lang="en-US" altLang="ko-KR" sz="1000" dirty="0"/>
              <a:t>:</a:t>
            </a:r>
            <a:r>
              <a:rPr lang="ko-KR" altLang="en-US" sz="1000" dirty="0"/>
              <a:t> 그 밖에 타인의 상당한 투자나 노력으로 만들어진 성과 등을 공정한 상거래 관행이나 경쟁질서에 반하는 방법으로 자신의 영업을 위하여 무단으로 사용함으로써 타인의 경제적 이익을 침해하는 행위</a:t>
            </a:r>
            <a:endParaRPr lang="en-US" altLang="ko-KR" sz="1000" dirty="0"/>
          </a:p>
          <a:p>
            <a:r>
              <a:rPr lang="ko-KR" altLang="en-US" sz="1000" dirty="0"/>
              <a:t>***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96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호가 쟁점이 된 사건</a:t>
            </a:r>
            <a:r>
              <a:rPr lang="ko-KR" altLang="en-US" sz="1000" dirty="0"/>
              <a:t>으로</a:t>
            </a:r>
            <a:r>
              <a:rPr lang="en-US" altLang="ko-KR" sz="1000" dirty="0"/>
              <a:t>, </a:t>
            </a:r>
            <a:r>
              <a:rPr lang="ko-KR" altLang="en-US" sz="1000" dirty="0"/>
              <a:t>원고 甲은 </a:t>
            </a:r>
            <a:r>
              <a:rPr lang="en-US" altLang="ko-KR" sz="1000" dirty="0"/>
              <a:t>1) </a:t>
            </a:r>
            <a:r>
              <a:rPr lang="ko-KR" altLang="en-US" sz="1000" dirty="0"/>
              <a:t>乙이 연구</a:t>
            </a:r>
            <a:r>
              <a:rPr lang="en-US" altLang="ko-KR" sz="1000" dirty="0"/>
              <a:t>·</a:t>
            </a:r>
            <a:r>
              <a:rPr lang="ko-KR" altLang="en-US" sz="1000" dirty="0"/>
              <a:t>시험의 주체인 </a:t>
            </a:r>
            <a:r>
              <a:rPr lang="ko-KR" altLang="en-US" sz="1000" dirty="0">
                <a:solidFill>
                  <a:srgbClr val="FF0000"/>
                </a:solidFill>
              </a:rPr>
              <a:t>丙과 별개의 법적 지위</a:t>
            </a:r>
            <a:r>
              <a:rPr lang="ko-KR" altLang="en-US" sz="1000" dirty="0"/>
              <a:t>에서 자신의 경제적 이익을 위하여 제</a:t>
            </a:r>
            <a:r>
              <a:rPr lang="en-US" altLang="ko-KR" sz="1000" dirty="0"/>
              <a:t>1</a:t>
            </a:r>
            <a:r>
              <a:rPr lang="ko-KR" altLang="en-US" sz="1000" dirty="0"/>
              <a:t>차 내지 제</a:t>
            </a:r>
            <a:r>
              <a:rPr lang="en-US" altLang="ko-KR" sz="1000" dirty="0"/>
              <a:t>4</a:t>
            </a:r>
            <a:r>
              <a:rPr lang="ko-KR" altLang="en-US" sz="1000" dirty="0"/>
              <a:t>차 백신을 생산하였고 연구</a:t>
            </a:r>
            <a:r>
              <a:rPr lang="en-US" altLang="ko-KR" sz="1000" dirty="0"/>
              <a:t>·</a:t>
            </a:r>
            <a:r>
              <a:rPr lang="ko-KR" altLang="en-US" sz="1000" dirty="0"/>
              <a:t>시험 결과에 대한 직접적 이익은 오로지 丙에게만 귀속되었으므로 특허법 제</a:t>
            </a:r>
            <a:r>
              <a:rPr lang="en-US" altLang="ko-KR" sz="1000" dirty="0"/>
              <a:t>96</a:t>
            </a:r>
            <a:r>
              <a:rPr lang="ko-KR" altLang="en-US" sz="1000" dirty="0"/>
              <a:t>조제</a:t>
            </a:r>
            <a:r>
              <a:rPr lang="en-US" altLang="ko-KR" sz="1000" dirty="0"/>
              <a:t>1</a:t>
            </a:r>
            <a:r>
              <a:rPr lang="ko-KR" altLang="en-US" sz="1000" dirty="0" err="1"/>
              <a:t>항제</a:t>
            </a:r>
            <a:r>
              <a:rPr lang="en-US" altLang="ko-KR" sz="1000" dirty="0"/>
              <a:t>1</a:t>
            </a:r>
            <a:r>
              <a:rPr lang="ko-KR" altLang="en-US" sz="1000" dirty="0"/>
              <a:t>호가 적용될 수 없다는 취지의 주장과  </a:t>
            </a:r>
            <a:r>
              <a:rPr lang="en-US" altLang="ko-KR" sz="1000" dirty="0"/>
              <a:t>2) </a:t>
            </a:r>
            <a:r>
              <a:rPr lang="ko-KR" altLang="en-US" sz="1000" dirty="0"/>
              <a:t>특허법 제</a:t>
            </a:r>
            <a:r>
              <a:rPr lang="en-US" altLang="ko-KR" sz="1000" dirty="0"/>
              <a:t>96</a:t>
            </a:r>
            <a:r>
              <a:rPr lang="ko-KR" altLang="en-US" sz="1000" dirty="0"/>
              <a:t>조 제</a:t>
            </a:r>
            <a:r>
              <a:rPr lang="en-US" altLang="ko-KR" sz="1000" dirty="0"/>
              <a:t>1</a:t>
            </a:r>
            <a:r>
              <a:rPr lang="ko-KR" altLang="en-US" sz="1000" dirty="0"/>
              <a:t>항 제</a:t>
            </a:r>
            <a:r>
              <a:rPr lang="en-US" altLang="ko-KR" sz="1000" dirty="0"/>
              <a:t>1</a:t>
            </a:r>
            <a:r>
              <a:rPr lang="ko-KR" altLang="en-US" sz="1000" dirty="0"/>
              <a:t>호에서 말하는 연구</a:t>
            </a:r>
            <a:r>
              <a:rPr lang="en-US" altLang="ko-KR" sz="1000" dirty="0"/>
              <a:t>·</a:t>
            </a:r>
            <a:r>
              <a:rPr lang="ko-KR" altLang="en-US" sz="1000" dirty="0"/>
              <a:t>시험은 특허법의 속지주의 원칙에 따라 </a:t>
            </a:r>
            <a:r>
              <a:rPr lang="ko-KR" altLang="en-US" sz="1000" dirty="0">
                <a:solidFill>
                  <a:srgbClr val="FF0000"/>
                </a:solidFill>
              </a:rPr>
              <a:t>국내</a:t>
            </a:r>
            <a:r>
              <a:rPr lang="ko-KR" altLang="en-US" sz="1000" dirty="0"/>
              <a:t>에서의 연구</a:t>
            </a:r>
            <a:r>
              <a:rPr lang="en-US" altLang="ko-KR" sz="1000" dirty="0"/>
              <a:t>·</a:t>
            </a:r>
            <a:r>
              <a:rPr lang="ko-KR" altLang="en-US" sz="1000" dirty="0"/>
              <a:t>시험을 의미하므로</a:t>
            </a:r>
            <a:r>
              <a:rPr lang="en-US" altLang="ko-KR" sz="1000" dirty="0"/>
              <a:t>, </a:t>
            </a:r>
            <a:r>
              <a:rPr lang="ko-KR" altLang="en-US" sz="1000" dirty="0"/>
              <a:t>러시아에서의 품목허가를 위하여 생산된 제</a:t>
            </a:r>
            <a:r>
              <a:rPr lang="en-US" altLang="ko-KR" sz="1000" dirty="0"/>
              <a:t>1</a:t>
            </a:r>
            <a:r>
              <a:rPr lang="ko-KR" altLang="en-US" sz="1000" dirty="0"/>
              <a:t>차 내지 제</a:t>
            </a:r>
            <a:r>
              <a:rPr lang="en-US" altLang="ko-KR" sz="1000" dirty="0"/>
              <a:t>4</a:t>
            </a:r>
            <a:r>
              <a:rPr lang="ko-KR" altLang="en-US" sz="1000" dirty="0"/>
              <a:t>차 백신에는 특허법 제</a:t>
            </a:r>
            <a:r>
              <a:rPr lang="en-US" altLang="ko-KR" sz="1000" dirty="0"/>
              <a:t>96</a:t>
            </a:r>
            <a:r>
              <a:rPr lang="ko-KR" altLang="en-US" sz="1000" dirty="0"/>
              <a:t>조제</a:t>
            </a:r>
            <a:r>
              <a:rPr lang="en-US" altLang="ko-KR" sz="1000" dirty="0"/>
              <a:t>1</a:t>
            </a:r>
            <a:r>
              <a:rPr lang="ko-KR" altLang="en-US" sz="1000" dirty="0" err="1"/>
              <a:t>항제</a:t>
            </a:r>
            <a:r>
              <a:rPr lang="en-US" altLang="ko-KR" sz="1000" dirty="0"/>
              <a:t>1</a:t>
            </a:r>
            <a:r>
              <a:rPr lang="ko-KR" altLang="en-US" sz="1000" dirty="0"/>
              <a:t>호가 적용될 수 없다고 주장 및 </a:t>
            </a:r>
            <a:r>
              <a:rPr lang="en-US" altLang="ko-KR" sz="1000" dirty="0"/>
              <a:t>3) </a:t>
            </a:r>
            <a:r>
              <a:rPr lang="ko-KR" altLang="en-US" sz="1000" dirty="0"/>
              <a:t>특허법 제</a:t>
            </a:r>
            <a:r>
              <a:rPr lang="en-US" altLang="ko-KR" sz="1000" dirty="0"/>
              <a:t>96</a:t>
            </a:r>
            <a:r>
              <a:rPr lang="ko-KR" altLang="en-US" sz="1000" dirty="0"/>
              <a:t>조 제</a:t>
            </a:r>
            <a:r>
              <a:rPr lang="en-US" altLang="ko-KR" sz="1000" dirty="0"/>
              <a:t>1</a:t>
            </a:r>
            <a:r>
              <a:rPr lang="ko-KR" altLang="en-US" sz="1000" dirty="0"/>
              <a:t>항 제</a:t>
            </a:r>
            <a:r>
              <a:rPr lang="en-US" altLang="ko-KR" sz="1000" dirty="0"/>
              <a:t>1</a:t>
            </a:r>
            <a:r>
              <a:rPr lang="ko-KR" altLang="en-US" sz="1000" dirty="0"/>
              <a:t>호의 연구 또는 시험에 해당한다고 하기 위해서는 특허발명의 실시 행위 자체가 연구</a:t>
            </a:r>
            <a:r>
              <a:rPr lang="en-US" altLang="ko-KR" sz="1000" dirty="0"/>
              <a:t>·</a:t>
            </a:r>
            <a:r>
              <a:rPr lang="ko-KR" altLang="en-US" sz="1000" dirty="0"/>
              <a:t>시험을 하기 위한 경우</a:t>
            </a:r>
            <a:r>
              <a:rPr lang="en-US" altLang="ko-KR" sz="1000" dirty="0"/>
              <a:t>, </a:t>
            </a:r>
            <a:r>
              <a:rPr lang="ko-KR" altLang="en-US" sz="1000" dirty="0"/>
              <a:t>예컨대 특허성의 확인이나 개량발명 등을 목적으로 한 것이어야 하는데</a:t>
            </a:r>
            <a:r>
              <a:rPr lang="en-US" altLang="ko-KR" sz="1000" dirty="0"/>
              <a:t>, </a:t>
            </a:r>
            <a:r>
              <a:rPr lang="ko-KR" altLang="en-US" sz="1000" dirty="0"/>
              <a:t>丙이 러시아에서 수행한 </a:t>
            </a:r>
            <a:r>
              <a:rPr lang="ko-KR" altLang="en-US" sz="1000" dirty="0" err="1"/>
              <a:t>비임상시험</a:t>
            </a:r>
            <a:r>
              <a:rPr lang="ko-KR" altLang="en-US" sz="1000" dirty="0"/>
              <a:t> 또는 임상시험 등의 목적은 러시아에서 의약품 품목허가를 취득하여 궁극적으로 </a:t>
            </a:r>
            <a:r>
              <a:rPr lang="ko-KR" altLang="en-US" sz="1000" dirty="0">
                <a:solidFill>
                  <a:srgbClr val="FF0000"/>
                </a:solidFill>
              </a:rPr>
              <a:t>상업적 이익</a:t>
            </a:r>
            <a:r>
              <a:rPr lang="ko-KR" altLang="en-US" sz="1000" dirty="0"/>
              <a:t>을 얻기 위한 것이므로</a:t>
            </a:r>
            <a:r>
              <a:rPr lang="en-US" altLang="ko-KR" sz="1000" dirty="0"/>
              <a:t>, </a:t>
            </a:r>
            <a:r>
              <a:rPr lang="ko-KR" altLang="en-US" sz="1000" dirty="0"/>
              <a:t>위 규정의 연구 또는 시험으로 볼 수 없다고 주장하였다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0C813A7F-4BA5-5CB5-48BA-42079B0BA005}"/>
              </a:ext>
            </a:extLst>
          </p:cNvPr>
          <p:cNvCxnSpPr/>
          <p:nvPr/>
        </p:nvCxnSpPr>
        <p:spPr>
          <a:xfrm>
            <a:off x="0" y="5359148"/>
            <a:ext cx="516809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675A0D8C-56B7-C384-BAA1-3DA27EE197EB}"/>
              </a:ext>
            </a:extLst>
          </p:cNvPr>
          <p:cNvSpPr/>
          <p:nvPr/>
        </p:nvSpPr>
        <p:spPr>
          <a:xfrm>
            <a:off x="957862" y="3082835"/>
            <a:ext cx="638306" cy="228252"/>
          </a:xfrm>
          <a:prstGeom prst="wedgeRoundRectCallout">
            <a:avLst>
              <a:gd name="adj1" fmla="val 69247"/>
              <a:gd name="adj2" fmla="val 2837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화</a:t>
            </a:r>
            <a:r>
              <a:rPr lang="en-US" altLang="ko-KR" sz="1200" dirty="0">
                <a:solidFill>
                  <a:srgbClr val="FF0000"/>
                </a:solidFill>
              </a:rPr>
              <a:t>O</a:t>
            </a:r>
            <a:r>
              <a:rPr lang="ko-KR" altLang="en-US" sz="1200" dirty="0">
                <a:solidFill>
                  <a:srgbClr val="FF0000"/>
                </a:solidFill>
              </a:rPr>
              <a:t>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0C2AB-D6FC-1E80-4055-25FEA9FAA7C0}"/>
              </a:ext>
            </a:extLst>
          </p:cNvPr>
          <p:cNvSpPr txBox="1"/>
          <p:nvPr/>
        </p:nvSpPr>
        <p:spPr>
          <a:xfrm>
            <a:off x="3744075" y="2054458"/>
            <a:ext cx="65722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乙 판매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B4AD9A5-A047-1555-45D6-540AB1FE8DD9}"/>
              </a:ext>
            </a:extLst>
          </p:cNvPr>
          <p:cNvSpPr/>
          <p:nvPr/>
        </p:nvSpPr>
        <p:spPr>
          <a:xfrm>
            <a:off x="4101141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A43FCBD6-0D8E-4229-862A-E7C1C59BE5F2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3908050" y="2496091"/>
            <a:ext cx="435095" cy="105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222E598-AF3C-C6FF-BCAB-7FAA41BAC6A0}"/>
              </a:ext>
            </a:extLst>
          </p:cNvPr>
          <p:cNvSpPr txBox="1"/>
          <p:nvPr/>
        </p:nvSpPr>
        <p:spPr>
          <a:xfrm>
            <a:off x="3726265" y="3098729"/>
            <a:ext cx="213979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특허권 침해소송 승소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(2027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년까지 乙 국내판매 중지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2F8D9B7-EF7A-7FF3-A788-8C5256A111EA}"/>
              </a:ext>
            </a:extLst>
          </p:cNvPr>
          <p:cNvSpPr/>
          <p:nvPr/>
        </p:nvSpPr>
        <p:spPr>
          <a:xfrm>
            <a:off x="4589672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6BA9479B-EF24-BE99-ECAB-EAEEA221945B}"/>
              </a:ext>
            </a:extLst>
          </p:cNvPr>
          <p:cNvCxnSpPr>
            <a:cxnSpLocks/>
            <a:stCxn id="16" idx="0"/>
            <a:endCxn id="17" idx="4"/>
          </p:cNvCxnSpPr>
          <p:nvPr/>
        </p:nvCxnSpPr>
        <p:spPr>
          <a:xfrm rot="16200000" flipV="1">
            <a:off x="4646182" y="2948750"/>
            <a:ext cx="170839" cy="1291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674934B-023A-2D86-57CA-190C4BCE5ECF}"/>
              </a:ext>
            </a:extLst>
          </p:cNvPr>
          <p:cNvSpPr/>
          <p:nvPr/>
        </p:nvSpPr>
        <p:spPr>
          <a:xfrm>
            <a:off x="3826664" y="3933825"/>
            <a:ext cx="775412" cy="27699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원액</a:t>
            </a:r>
          </a:p>
        </p:txBody>
      </p:sp>
      <p:sp>
        <p:nvSpPr>
          <p:cNvPr id="23" name="말풍선: 모서리가 둥근 사각형 22">
            <a:extLst>
              <a:ext uri="{FF2B5EF4-FFF2-40B4-BE49-F238E27FC236}">
                <a16:creationId xmlns:a16="http://schemas.microsoft.com/office/drawing/2014/main" id="{1FF6E1E0-E7B7-77A3-5948-3E80867520C2}"/>
              </a:ext>
            </a:extLst>
          </p:cNvPr>
          <p:cNvSpPr/>
          <p:nvPr/>
        </p:nvSpPr>
        <p:spPr>
          <a:xfrm>
            <a:off x="3744075" y="3846895"/>
            <a:ext cx="3499407" cy="419534"/>
          </a:xfrm>
          <a:prstGeom prst="wedgeRoundRectCallout">
            <a:avLst>
              <a:gd name="adj1" fmla="val -80270"/>
              <a:gd name="adj2" fmla="val -3446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B151419-7F7A-E283-2E3B-60E1642F453A}"/>
              </a:ext>
            </a:extLst>
          </p:cNvPr>
          <p:cNvSpPr/>
          <p:nvPr/>
        </p:nvSpPr>
        <p:spPr>
          <a:xfrm>
            <a:off x="5090643" y="3933825"/>
            <a:ext cx="775412" cy="27699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조성물</a:t>
            </a:r>
            <a:endParaRPr lang="ko-KR" altLang="en-US" sz="1200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D316605-C329-8636-E3F1-2CFB8452B45A}"/>
              </a:ext>
            </a:extLst>
          </p:cNvPr>
          <p:cNvSpPr/>
          <p:nvPr/>
        </p:nvSpPr>
        <p:spPr>
          <a:xfrm>
            <a:off x="6299052" y="3933825"/>
            <a:ext cx="845502" cy="27699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완성 백신</a:t>
            </a:r>
            <a:endParaRPr lang="ko-KR" altLang="en-US" sz="12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9CD70EB-B653-61C5-729D-1A917B137E77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4602076" y="4072324"/>
            <a:ext cx="48856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D87C7FB-FCD9-1939-35A2-EE225EA42663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5866055" y="4072324"/>
            <a:ext cx="43299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595998"/>
      </p:ext>
    </p:extLst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9851-C5EF-1D93-2E32-E46B8573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492C994-07C9-62FB-3E61-A3DBF37A4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96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1</a:t>
            </a:r>
            <a:r>
              <a:rPr lang="ko-KR" altLang="en-US" sz="1600" dirty="0"/>
              <a:t>호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127</a:t>
            </a:r>
            <a:r>
              <a:rPr lang="ko-KR" altLang="en-US" sz="1600" dirty="0"/>
              <a:t>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1C3B6F-8573-F07D-1A71-9652FA86D1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간접침해 </a:t>
            </a:r>
            <a:r>
              <a:rPr lang="en-US" altLang="ko-KR" dirty="0"/>
              <a:t>CASE: </a:t>
            </a:r>
            <a:r>
              <a:rPr lang="en-US" altLang="ko-KR" sz="2000" dirty="0"/>
              <a:t>13</a:t>
            </a:r>
            <a:r>
              <a:rPr lang="ko-KR" altLang="en-US" sz="2000" dirty="0"/>
              <a:t>가 백신 사건</a:t>
            </a:r>
            <a:r>
              <a:rPr lang="en-US" altLang="ko-KR" sz="1700" dirty="0"/>
              <a:t>(</a:t>
            </a:r>
            <a:r>
              <a:rPr lang="ko-KR" altLang="en-US" sz="1700" dirty="0"/>
              <a:t>대법원 </a:t>
            </a:r>
            <a:r>
              <a:rPr lang="en-US" altLang="ko-KR" sz="1700" dirty="0"/>
              <a:t>2025. 5. 15. </a:t>
            </a:r>
            <a:r>
              <a:rPr lang="ko-KR" altLang="en-US" sz="1700" dirty="0"/>
              <a:t>선고 </a:t>
            </a:r>
            <a:r>
              <a:rPr lang="en-US" altLang="ko-KR" sz="1700" dirty="0"/>
              <a:t>2025</a:t>
            </a:r>
            <a:r>
              <a:rPr lang="ko-KR" altLang="en-US" sz="1700" dirty="0"/>
              <a:t>다</a:t>
            </a:r>
            <a:r>
              <a:rPr lang="en-US" altLang="ko-KR" sz="1700" dirty="0"/>
              <a:t>202970)</a:t>
            </a:r>
            <a:endParaRPr lang="ko-KR" altLang="en-US" sz="17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EB12CF-CEC2-867F-2E65-66F0C7C0B5E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396</a:t>
            </a:fld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75EE3E-C790-5FCA-1A95-10A47CBF8ECD}"/>
              </a:ext>
            </a:extLst>
          </p:cNvPr>
          <p:cNvSpPr txBox="1"/>
          <p:nvPr/>
        </p:nvSpPr>
        <p:spPr>
          <a:xfrm>
            <a:off x="0" y="923269"/>
            <a:ext cx="121920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50" dirty="0"/>
              <a:t>      물건의 발명에 관한 특허권자가 물건에 대하여 가지는 독점적인 생산 </a:t>
            </a:r>
            <a:r>
              <a:rPr lang="en-US" altLang="ko-KR" sz="950" dirty="0"/>
              <a:t>· </a:t>
            </a:r>
            <a:r>
              <a:rPr lang="ko-KR" altLang="en-US" sz="950" dirty="0"/>
              <a:t>사용 </a:t>
            </a:r>
            <a:r>
              <a:rPr lang="en-US" altLang="ko-KR" sz="950" dirty="0"/>
              <a:t>·</a:t>
            </a:r>
            <a:r>
              <a:rPr lang="ko-KR" altLang="en-US" sz="950" dirty="0"/>
              <a:t>양도 </a:t>
            </a:r>
            <a:r>
              <a:rPr lang="en-US" altLang="ko-KR" sz="950" dirty="0"/>
              <a:t>· </a:t>
            </a:r>
            <a:r>
              <a:rPr lang="ko-KR" altLang="en-US" sz="950" dirty="0"/>
              <a:t>대여 또는 수입 등의 특허실시에 관한 권리는 특허권이 등록된 국가의 영역 내에서만 효력이 미치고</a:t>
            </a:r>
            <a:r>
              <a:rPr lang="en-US" altLang="ko-KR" sz="950" dirty="0"/>
              <a:t>(</a:t>
            </a:r>
            <a:r>
              <a:rPr lang="ko-KR" altLang="en-US" sz="950" dirty="0"/>
              <a:t>이른바 </a:t>
            </a:r>
            <a:r>
              <a:rPr lang="en-US" altLang="ko-KR" sz="950" dirty="0"/>
              <a:t>'</a:t>
            </a:r>
            <a:r>
              <a:rPr lang="ko-KR" altLang="en-US" sz="950" dirty="0"/>
              <a:t>특허권의 속지주의 원칙</a:t>
            </a:r>
            <a:r>
              <a:rPr lang="en-US" altLang="ko-KR" sz="950" dirty="0"/>
              <a:t>'), </a:t>
            </a:r>
            <a:r>
              <a:rPr lang="ko-KR" altLang="en-US" sz="950" dirty="0"/>
              <a:t>특허권침해소송의 상대방이 제조하는 물건이 특허권을 침해하는 물건에 해당하려면 특허발명의 청구범위에 기재된 각 구성요소와 그 구성요소 간의 유기적 결합관계가 그 물건에 그대로 포함되어 있어야 한다</a:t>
            </a:r>
            <a:r>
              <a:rPr lang="en-US" altLang="ko-KR" sz="950" dirty="0"/>
              <a:t>(</a:t>
            </a:r>
            <a:r>
              <a:rPr lang="ko-KR" altLang="en-US" sz="950" dirty="0"/>
              <a:t>이른바 </a:t>
            </a:r>
            <a:r>
              <a:rPr lang="en-US" altLang="ko-KR" sz="950" dirty="0"/>
              <a:t>'</a:t>
            </a:r>
            <a:r>
              <a:rPr lang="ko-KR" altLang="en-US" sz="950" dirty="0"/>
              <a:t>구성요소 완비의 원칙</a:t>
            </a:r>
            <a:r>
              <a:rPr lang="en-US" altLang="ko-KR" sz="950" dirty="0"/>
              <a:t>’). </a:t>
            </a:r>
            <a:r>
              <a:rPr lang="ko-KR" altLang="en-US" sz="950" dirty="0"/>
              <a:t>한편 국내에서 특허발명의 실시를 위한 부품 또는 구성 전부가 생산되거나 대부분의 생산단계를 마쳐 주요 구성을 모두 갖춘 반제품이 생산되고</a:t>
            </a:r>
            <a:r>
              <a:rPr lang="en-US" altLang="ko-KR" sz="950" dirty="0"/>
              <a:t>, </a:t>
            </a:r>
            <a:r>
              <a:rPr lang="ko-KR" altLang="en-US" sz="950" dirty="0"/>
              <a:t>이것이 하나의 주체에게 수출되어 마지막 단계의 가공 </a:t>
            </a:r>
            <a:r>
              <a:rPr lang="en-US" altLang="ko-KR" sz="950" dirty="0"/>
              <a:t>· </a:t>
            </a:r>
            <a:r>
              <a:rPr lang="ko-KR" altLang="en-US" sz="950" dirty="0"/>
              <a:t>조립이 이루어질 것이 예정되어 있으며</a:t>
            </a:r>
            <a:r>
              <a:rPr lang="en-US" altLang="ko-KR" sz="950" dirty="0"/>
              <a:t>, </a:t>
            </a:r>
            <a:r>
              <a:rPr lang="ko-KR" altLang="en-US" sz="950" dirty="0"/>
              <a:t>그와 같은 가공 </a:t>
            </a:r>
            <a:r>
              <a:rPr lang="en-US" altLang="ko-KR" sz="950" dirty="0"/>
              <a:t>· </a:t>
            </a:r>
            <a:r>
              <a:rPr lang="ko-KR" altLang="en-US" sz="950" dirty="0"/>
              <a:t>조립이 극히 사소하거나 간단하여 위와 같은 부품 전체의 생산 또는 반제품의 생산만으로도 특허발명의 각 구성요소가 유기적으로 결합한 일체로서 가지는 작용효과를 구현할 수 있는 상태에 이른 경우에는 특허권의 실질적 보호를 위해 국내에서 특허발명의 실시제품이 생산된 것과 같이 볼 수 있다</a:t>
            </a:r>
            <a:r>
              <a:rPr lang="en-US" altLang="ko-KR" sz="950" dirty="0">
                <a:highlight>
                  <a:srgbClr val="FFFF00"/>
                </a:highlight>
              </a:rPr>
              <a:t>. </a:t>
            </a:r>
            <a:r>
              <a:rPr lang="ko-KR" altLang="en-US" sz="950" dirty="0">
                <a:highlight>
                  <a:srgbClr val="FFFF00"/>
                </a:highlight>
              </a:rPr>
              <a:t>이러한 경우에 해당하는지는 특허권의 속지주의 원칙과 구성요소 완비의 원칙을 고려하여 엄격하게 판단하여야 한다</a:t>
            </a:r>
            <a:r>
              <a:rPr lang="en-US" altLang="ko-KR" sz="950" dirty="0">
                <a:highlight>
                  <a:srgbClr val="FFFF00"/>
                </a:highlight>
              </a:rPr>
              <a:t>.</a:t>
            </a:r>
            <a:endParaRPr lang="ko-KR" altLang="en-US" sz="950" dirty="0">
              <a:highlight>
                <a:srgbClr val="FFFF00"/>
              </a:highlight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E943FE-639B-0919-02DE-205977F4822F}"/>
              </a:ext>
            </a:extLst>
          </p:cNvPr>
          <p:cNvSpPr txBox="1"/>
          <p:nvPr/>
        </p:nvSpPr>
        <p:spPr>
          <a:xfrm>
            <a:off x="71595" y="1688098"/>
            <a:ext cx="12039049" cy="8233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50" dirty="0"/>
              <a:t>1) 13</a:t>
            </a:r>
            <a:r>
              <a:rPr lang="ko-KR" altLang="en-US" sz="950" dirty="0"/>
              <a:t>종의 각 개별 접합체 원액을 혼합하는 공정 과정에서 </a:t>
            </a:r>
            <a:r>
              <a:rPr lang="en-US" altLang="ko-KR" sz="950" dirty="0">
                <a:solidFill>
                  <a:srgbClr val="FF0000"/>
                </a:solidFill>
              </a:rPr>
              <a:t>13</a:t>
            </a:r>
            <a:r>
              <a:rPr lang="ko-KR" altLang="en-US" sz="950" dirty="0">
                <a:solidFill>
                  <a:srgbClr val="FF0000"/>
                </a:solidFill>
              </a:rPr>
              <a:t>종 개별 접합체 원액의 투입량</a:t>
            </a:r>
            <a:r>
              <a:rPr lang="en-US" altLang="ko-KR" sz="950" dirty="0">
                <a:solidFill>
                  <a:srgbClr val="FF0000"/>
                </a:solidFill>
              </a:rPr>
              <a:t>, </a:t>
            </a:r>
            <a:r>
              <a:rPr lang="ko-KR" altLang="en-US" sz="950" dirty="0">
                <a:solidFill>
                  <a:srgbClr val="FF0000"/>
                </a:solidFill>
              </a:rPr>
              <a:t>혼합비율 및 혼합순서</a:t>
            </a:r>
            <a:r>
              <a:rPr lang="en-US" altLang="ko-KR" sz="950" dirty="0">
                <a:solidFill>
                  <a:srgbClr val="FF0000"/>
                </a:solidFill>
              </a:rPr>
              <a:t>, </a:t>
            </a:r>
            <a:r>
              <a:rPr lang="ko-KR" altLang="en-US" sz="950" dirty="0">
                <a:solidFill>
                  <a:srgbClr val="FF0000"/>
                </a:solidFill>
              </a:rPr>
              <a:t>혼합할 때의 </a:t>
            </a:r>
            <a:r>
              <a:rPr lang="en-US" altLang="ko-KR" sz="950" dirty="0">
                <a:solidFill>
                  <a:srgbClr val="FF0000"/>
                </a:solidFill>
              </a:rPr>
              <a:t>pH, </a:t>
            </a:r>
            <a:r>
              <a:rPr lang="ko-KR" altLang="en-US" sz="950" dirty="0">
                <a:solidFill>
                  <a:srgbClr val="FF0000"/>
                </a:solidFill>
              </a:rPr>
              <a:t>온도</a:t>
            </a:r>
            <a:r>
              <a:rPr lang="en-US" altLang="ko-KR" sz="950" dirty="0">
                <a:solidFill>
                  <a:srgbClr val="FF0000"/>
                </a:solidFill>
              </a:rPr>
              <a:t>, </a:t>
            </a:r>
            <a:r>
              <a:rPr lang="ko-KR" altLang="en-US" sz="950" dirty="0" err="1">
                <a:solidFill>
                  <a:srgbClr val="FF0000"/>
                </a:solidFill>
              </a:rPr>
              <a:t>교반속도</a:t>
            </a:r>
            <a:r>
              <a:rPr lang="en-US" altLang="ko-KR" sz="950" dirty="0">
                <a:solidFill>
                  <a:srgbClr val="FF0000"/>
                </a:solidFill>
              </a:rPr>
              <a:t>, </a:t>
            </a:r>
            <a:r>
              <a:rPr lang="ko-KR" altLang="en-US" sz="950" dirty="0" err="1">
                <a:solidFill>
                  <a:srgbClr val="FF0000"/>
                </a:solidFill>
              </a:rPr>
              <a:t>교반시간</a:t>
            </a:r>
            <a:r>
              <a:rPr lang="ko-KR" altLang="en-US" sz="950" dirty="0">
                <a:solidFill>
                  <a:srgbClr val="FF0000"/>
                </a:solidFill>
              </a:rPr>
              <a:t> 등 혼합조건은 폐렴구균 백신으로 사용하기 위한 </a:t>
            </a:r>
            <a:r>
              <a:rPr lang="en-US" altLang="ko-KR" sz="950" dirty="0">
                <a:solidFill>
                  <a:srgbClr val="FF0000"/>
                </a:solidFill>
              </a:rPr>
              <a:t>13</a:t>
            </a:r>
            <a:r>
              <a:rPr lang="ko-KR" altLang="en-US" sz="950" dirty="0">
                <a:solidFill>
                  <a:srgbClr val="FF0000"/>
                </a:solidFill>
              </a:rPr>
              <a:t>가 면역원성 조성물을 구현하는 데에 적지 않은 영향</a:t>
            </a:r>
            <a:r>
              <a:rPr lang="ko-KR" altLang="en-US" sz="950" dirty="0"/>
              <a:t>을 미칠 수 있으므로</a:t>
            </a:r>
            <a:r>
              <a:rPr lang="en-US" altLang="ko-KR" sz="950" dirty="0"/>
              <a:t>, 13</a:t>
            </a:r>
            <a:r>
              <a:rPr lang="ko-KR" altLang="en-US" sz="950" dirty="0"/>
              <a:t>종의 각 개별 접합체 원액을 혼합하여 </a:t>
            </a:r>
            <a:r>
              <a:rPr lang="en-US" altLang="ko-KR" sz="950" dirty="0"/>
              <a:t>13</a:t>
            </a:r>
            <a:r>
              <a:rPr lang="ko-KR" altLang="en-US" sz="950" dirty="0"/>
              <a:t>가 면역원성 조성물을 제조하는 마지막 단계의 공정이 극히 사소하거나 간단하다고 볼 수 없다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2) </a:t>
            </a:r>
            <a:r>
              <a:rPr lang="ko-KR" altLang="en-US" sz="950" dirty="0"/>
              <a:t>위 혼합 공정에서 </a:t>
            </a:r>
            <a:r>
              <a:rPr lang="en-US" altLang="ko-KR" sz="950" dirty="0"/>
              <a:t>13</a:t>
            </a:r>
            <a:r>
              <a:rPr lang="ko-KR" altLang="en-US" sz="950" dirty="0"/>
              <a:t>종 개별 접합체 원액의 투입량</a:t>
            </a:r>
            <a:r>
              <a:rPr lang="en-US" altLang="ko-KR" sz="950" dirty="0"/>
              <a:t>, </a:t>
            </a:r>
            <a:r>
              <a:rPr lang="ko-KR" altLang="en-US" sz="950" dirty="0"/>
              <a:t>혼합비율</a:t>
            </a:r>
            <a:r>
              <a:rPr lang="en-US" altLang="ko-KR" sz="950" dirty="0"/>
              <a:t>, </a:t>
            </a:r>
            <a:r>
              <a:rPr lang="ko-KR" altLang="en-US" sz="950" dirty="0"/>
              <a:t>혼합순서</a:t>
            </a:r>
            <a:r>
              <a:rPr lang="en-US" altLang="ko-KR" sz="950" dirty="0"/>
              <a:t>, </a:t>
            </a:r>
            <a:r>
              <a:rPr lang="ko-KR" altLang="en-US" sz="950" dirty="0"/>
              <a:t>혼합조건이 제대로 갖춰지지 않으면 </a:t>
            </a:r>
            <a:r>
              <a:rPr lang="en-US" altLang="ko-KR" sz="950" dirty="0">
                <a:solidFill>
                  <a:srgbClr val="FF0000"/>
                </a:solidFill>
              </a:rPr>
              <a:t>13</a:t>
            </a:r>
            <a:r>
              <a:rPr lang="ko-KR" altLang="en-US" sz="950" dirty="0">
                <a:solidFill>
                  <a:srgbClr val="FF0000"/>
                </a:solidFill>
              </a:rPr>
              <a:t>가 면역원성이 구현되지 않을 수 있으므로</a:t>
            </a:r>
            <a:r>
              <a:rPr lang="en-US" altLang="ko-KR" sz="950" dirty="0">
                <a:solidFill>
                  <a:srgbClr val="FF0000"/>
                </a:solidFill>
              </a:rPr>
              <a:t>,</a:t>
            </a:r>
            <a:r>
              <a:rPr lang="en-US" altLang="ko-KR" sz="950" dirty="0"/>
              <a:t> 13</a:t>
            </a:r>
            <a:r>
              <a:rPr lang="ko-KR" altLang="en-US" sz="950" dirty="0"/>
              <a:t>종 개별 접합체 원액의 생산만으로도 이 사건 제</a:t>
            </a:r>
            <a:r>
              <a:rPr lang="en-US" altLang="ko-KR" sz="950" dirty="0"/>
              <a:t>1</a:t>
            </a:r>
            <a:r>
              <a:rPr lang="ko-KR" altLang="en-US" sz="950" dirty="0"/>
              <a:t>항 발명의 작용효과인 </a:t>
            </a:r>
            <a:r>
              <a:rPr lang="en-US" altLang="ko-KR" sz="950" dirty="0"/>
              <a:t>13</a:t>
            </a:r>
            <a:r>
              <a:rPr lang="ko-KR" altLang="en-US" sz="950" dirty="0"/>
              <a:t>가 면역원성을 구현할 수 있는 상태에 이르렀다고 할 수 없다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3) </a:t>
            </a:r>
            <a:r>
              <a:rPr lang="ko-KR" altLang="en-US" sz="950" dirty="0"/>
              <a:t>피고가 </a:t>
            </a:r>
            <a:r>
              <a:rPr lang="en-US" altLang="ko-KR" sz="950" dirty="0"/>
              <a:t>13</a:t>
            </a:r>
            <a:r>
              <a:rPr lang="ko-KR" altLang="en-US" sz="950" dirty="0"/>
              <a:t>종 개별 접합체 원액을 생산한 행위는 이 사건 특허권에 대한 직접침해에 해당하지 않는다</a:t>
            </a:r>
            <a:r>
              <a:rPr lang="en-US" altLang="ko-KR" sz="950" dirty="0"/>
              <a:t>.</a:t>
            </a:r>
            <a:endParaRPr lang="ko-KR" altLang="en-US" sz="95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CCEAA7-2002-1B27-6399-FAFE48BAEBDF}"/>
              </a:ext>
            </a:extLst>
          </p:cNvPr>
          <p:cNvSpPr txBox="1"/>
          <p:nvPr/>
        </p:nvSpPr>
        <p:spPr>
          <a:xfrm>
            <a:off x="-1" y="2504829"/>
            <a:ext cx="1219199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50" dirty="0"/>
              <a:t>      간접침해 제도는 어디까지나 특허권이 부당하게 확장되지 아니하는 범위에서 그 실효성을 확보하고자 하는 것이다</a:t>
            </a:r>
            <a:r>
              <a:rPr lang="en-US" altLang="ko-KR" sz="950" dirty="0"/>
              <a:t>. </a:t>
            </a:r>
            <a:r>
              <a:rPr lang="ko-KR" altLang="en-US" sz="950" dirty="0"/>
              <a:t>그런데 특허권의 속지주의 원칙상 특허법 제</a:t>
            </a:r>
            <a:r>
              <a:rPr lang="en-US" altLang="ko-KR" sz="950" dirty="0"/>
              <a:t>127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호의 </a:t>
            </a:r>
            <a:r>
              <a:rPr lang="en-US" altLang="ko-KR" sz="950" dirty="0"/>
              <a:t>'</a:t>
            </a:r>
            <a:r>
              <a:rPr lang="ko-KR" altLang="en-US" sz="950" dirty="0"/>
              <a:t>그 물건의 생산에만 사용하는 물건</a:t>
            </a:r>
            <a:r>
              <a:rPr lang="en-US" altLang="ko-KR" sz="950" dirty="0"/>
              <a:t>'</a:t>
            </a:r>
            <a:r>
              <a:rPr lang="ko-KR" altLang="en-US" sz="950" dirty="0"/>
              <a:t>에서 말하는 </a:t>
            </a:r>
            <a:r>
              <a:rPr lang="en-US" altLang="ko-KR" sz="950" dirty="0"/>
              <a:t>'</a:t>
            </a:r>
            <a:r>
              <a:rPr lang="ko-KR" altLang="en-US" sz="950" dirty="0"/>
              <a:t>생산</a:t>
            </a:r>
            <a:r>
              <a:rPr lang="en-US" altLang="ko-KR" sz="950" dirty="0"/>
              <a:t>'</a:t>
            </a:r>
            <a:r>
              <a:rPr lang="ko-KR" altLang="en-US" sz="950" dirty="0"/>
              <a:t>이란 국내에서의 생산을 의미하므로 이러한 생산이 국외에서 일어나는 경우에는 그 전 단계의 행위가 국내에서 이루어지더라도 간접침해가 성립할 수 없다</a:t>
            </a:r>
            <a:r>
              <a:rPr lang="en-US" altLang="ko-KR" sz="950" dirty="0"/>
              <a:t>(</a:t>
            </a:r>
            <a:r>
              <a:rPr lang="ko-KR" altLang="en-US" sz="950" dirty="0"/>
              <a:t>대법원 </a:t>
            </a:r>
            <a:r>
              <a:rPr lang="en-US" altLang="ko-KR" sz="950" dirty="0"/>
              <a:t>2015. 7. 23. </a:t>
            </a:r>
            <a:r>
              <a:rPr lang="ko-KR" altLang="en-US" sz="950" dirty="0"/>
              <a:t>선고 </a:t>
            </a:r>
            <a:r>
              <a:rPr lang="en-US" altLang="ko-KR" sz="950" dirty="0"/>
              <a:t>2014</a:t>
            </a:r>
            <a:r>
              <a:rPr lang="ko-KR" altLang="en-US" sz="950" dirty="0"/>
              <a:t>다</a:t>
            </a:r>
            <a:r>
              <a:rPr lang="en-US" altLang="ko-KR" sz="950" dirty="0"/>
              <a:t>42110 </a:t>
            </a:r>
            <a:r>
              <a:rPr lang="ko-KR" altLang="en-US" sz="950" dirty="0"/>
              <a:t>판결 등 참조</a:t>
            </a:r>
            <a:r>
              <a:rPr lang="en-US" altLang="ko-KR" sz="950" dirty="0"/>
              <a:t>).</a:t>
            </a:r>
            <a:endParaRPr lang="ko-KR" altLang="en-US" sz="95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B6C93B-38E1-A072-CB79-1AD48FAE46C3}"/>
              </a:ext>
            </a:extLst>
          </p:cNvPr>
          <p:cNvSpPr txBox="1"/>
          <p:nvPr/>
        </p:nvSpPr>
        <p:spPr>
          <a:xfrm>
            <a:off x="71595" y="2862605"/>
            <a:ext cx="12030758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950" dirty="0"/>
              <a:t>피고가 생산한 </a:t>
            </a:r>
            <a:r>
              <a:rPr lang="en-US" altLang="ko-KR" sz="950" dirty="0"/>
              <a:t>13</a:t>
            </a:r>
            <a:r>
              <a:rPr lang="ko-KR" altLang="en-US" sz="950" dirty="0"/>
              <a:t>종 개별 접합체 원액은 </a:t>
            </a:r>
            <a:r>
              <a:rPr lang="ko-KR" altLang="en-US" sz="950" dirty="0">
                <a:solidFill>
                  <a:srgbClr val="FF0000"/>
                </a:solidFill>
              </a:rPr>
              <a:t>모두 수출되어 국외에서 완성품으로 생산</a:t>
            </a:r>
            <a:r>
              <a:rPr lang="ko-KR" altLang="en-US" sz="950" dirty="0"/>
              <a:t>되었으므로 이 사건 특허권에 대한 간접침해가 성립하지 않는다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EFC6FD-2B68-82B0-DB3B-C1033326E94A}"/>
              </a:ext>
            </a:extLst>
          </p:cNvPr>
          <p:cNvSpPr txBox="1"/>
          <p:nvPr/>
        </p:nvSpPr>
        <p:spPr>
          <a:xfrm>
            <a:off x="71595" y="3115661"/>
            <a:ext cx="12102353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50" dirty="0"/>
              <a:t>    부정경쟁방지법</a:t>
            </a:r>
            <a:r>
              <a:rPr lang="en-US" altLang="ko-KR" sz="950" dirty="0"/>
              <a:t> </a:t>
            </a:r>
            <a:r>
              <a:rPr lang="ko-KR" altLang="en-US" sz="950" dirty="0"/>
              <a:t>제</a:t>
            </a:r>
            <a:r>
              <a:rPr lang="en-US" altLang="ko-KR" sz="950" dirty="0"/>
              <a:t>2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호 </a:t>
            </a:r>
            <a:r>
              <a:rPr lang="en-US" altLang="ko-KR" sz="950" dirty="0"/>
              <a:t>(</a:t>
            </a:r>
            <a:r>
              <a:rPr lang="ko-KR" altLang="en-US" sz="950" dirty="0"/>
              <a:t>파</a:t>
            </a:r>
            <a:r>
              <a:rPr lang="en-US" altLang="ko-KR" sz="950" dirty="0"/>
              <a:t>)</a:t>
            </a:r>
            <a:r>
              <a:rPr lang="ko-KR" altLang="en-US" sz="950" dirty="0"/>
              <a:t>목은 보호대상인 </a:t>
            </a:r>
            <a:r>
              <a:rPr lang="en-US" altLang="ko-KR" sz="950" dirty="0"/>
              <a:t>'</a:t>
            </a:r>
            <a:r>
              <a:rPr lang="ko-KR" altLang="en-US" sz="950" dirty="0"/>
              <a:t>성과 등</a:t>
            </a:r>
            <a:r>
              <a:rPr lang="en-US" altLang="ko-KR" sz="950" dirty="0"/>
              <a:t>'</a:t>
            </a:r>
            <a:r>
              <a:rPr lang="ko-KR" altLang="en-US" sz="950" dirty="0"/>
              <a:t>의 유형에 제한을 두고 있지 않으므로</a:t>
            </a:r>
            <a:r>
              <a:rPr lang="en-US" altLang="ko-KR" sz="950" dirty="0"/>
              <a:t>, </a:t>
            </a:r>
            <a:r>
              <a:rPr lang="ko-KR" altLang="en-US" sz="950" dirty="0" err="1"/>
              <a:t>유형물뿐만</a:t>
            </a:r>
            <a:r>
              <a:rPr lang="ko-KR" altLang="en-US" sz="950" dirty="0"/>
              <a:t> 아니라 무형물도 이에 포함되고 종래 지식재산권법에 따라 보호받기 어려웠던 새로운 형태의 결과물도 포함될 수 있다</a:t>
            </a:r>
            <a:r>
              <a:rPr lang="en-US" altLang="ko-KR" sz="950" dirty="0"/>
              <a:t>. '</a:t>
            </a:r>
            <a:r>
              <a:rPr lang="ko-KR" altLang="en-US" sz="950" dirty="0"/>
              <a:t>성과 등</a:t>
            </a:r>
            <a:r>
              <a:rPr lang="en-US" altLang="ko-KR" sz="950" dirty="0"/>
              <a:t>'</a:t>
            </a:r>
            <a:r>
              <a:rPr lang="ko-KR" altLang="en-US" sz="950" dirty="0"/>
              <a:t>을 판단할 때에는 </a:t>
            </a:r>
            <a:r>
              <a:rPr lang="ko-KR" altLang="en-US" sz="950" dirty="0">
                <a:highlight>
                  <a:srgbClr val="FFFF00"/>
                </a:highlight>
              </a:rPr>
              <a:t>위와 같은 결과물이 갖게 된 명성이나 경제적 가치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결과물에 </a:t>
            </a:r>
            <a:r>
              <a:rPr lang="ko-KR" altLang="en-US" sz="950" dirty="0" err="1">
                <a:highlight>
                  <a:srgbClr val="FFFF00"/>
                </a:highlight>
              </a:rPr>
              <a:t>화체된</a:t>
            </a:r>
            <a:r>
              <a:rPr lang="ko-KR" altLang="en-US" sz="950" dirty="0">
                <a:highlight>
                  <a:srgbClr val="FFFF00"/>
                </a:highlight>
              </a:rPr>
              <a:t> </a:t>
            </a:r>
            <a:r>
              <a:rPr lang="ko-KR" altLang="en-US" sz="950" dirty="0" err="1">
                <a:highlight>
                  <a:srgbClr val="FFFF00"/>
                </a:highlight>
              </a:rPr>
              <a:t>고객흡인력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해당 사업 분야에서 결과물이 차지하는 비중과 경쟁력 등을 종합적으로 고려</a:t>
            </a:r>
            <a:r>
              <a:rPr lang="ko-KR" altLang="en-US" sz="950" dirty="0"/>
              <a:t>해야 한다</a:t>
            </a:r>
            <a:r>
              <a:rPr lang="en-US" altLang="ko-KR" sz="950" dirty="0"/>
              <a:t>. </a:t>
            </a:r>
            <a:r>
              <a:rPr lang="ko-KR" altLang="en-US" sz="950" dirty="0"/>
              <a:t>이러한 성과 등이 </a:t>
            </a:r>
            <a:r>
              <a:rPr lang="en-US" altLang="ko-KR" sz="950" dirty="0"/>
              <a:t>'</a:t>
            </a:r>
            <a:r>
              <a:rPr lang="ko-KR" altLang="en-US" sz="950" dirty="0"/>
              <a:t>상당한 투자나 노력으로 만들어진</a:t>
            </a:r>
            <a:r>
              <a:rPr lang="en-US" altLang="ko-KR" sz="950" dirty="0"/>
              <a:t>' </a:t>
            </a:r>
            <a:r>
              <a:rPr lang="ko-KR" altLang="en-US" sz="950" dirty="0"/>
              <a:t>것인지는 </a:t>
            </a:r>
            <a:r>
              <a:rPr lang="ko-KR" altLang="en-US" sz="950" dirty="0">
                <a:highlight>
                  <a:srgbClr val="FFFF00"/>
                </a:highlight>
              </a:rPr>
              <a:t>권리자가 투입한 투자나 노력의 내용과 정도를 그 성과 등이 속한 산업분야의 관행이나 실태에 비추어 구체적 </a:t>
            </a:r>
            <a:r>
              <a:rPr lang="en-US" altLang="ko-KR" sz="950" dirty="0">
                <a:highlight>
                  <a:srgbClr val="FFFF00"/>
                </a:highlight>
              </a:rPr>
              <a:t>· </a:t>
            </a:r>
            <a:r>
              <a:rPr lang="ko-KR" altLang="en-US" sz="950" dirty="0">
                <a:highlight>
                  <a:srgbClr val="FFFF00"/>
                </a:highlight>
              </a:rPr>
              <a:t>개별적으로 판단하되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성과 등을 무단으로 사용함으로써 침해된 경제적 이익이 누구나 자유롭게 이용할 수 있는 이른바 공공영역</a:t>
            </a:r>
            <a:r>
              <a:rPr lang="en-US" altLang="ko-KR" sz="950" dirty="0">
                <a:highlight>
                  <a:srgbClr val="FFFF00"/>
                </a:highlight>
              </a:rPr>
              <a:t>(</a:t>
            </a:r>
            <a:r>
              <a:rPr lang="ko-KR" altLang="en-US" sz="950" dirty="0">
                <a:highlight>
                  <a:srgbClr val="FFFF00"/>
                </a:highlight>
              </a:rPr>
              <a:t>公共領域</a:t>
            </a:r>
            <a:r>
              <a:rPr lang="en-US" altLang="ko-KR" sz="950" dirty="0">
                <a:highlight>
                  <a:srgbClr val="FFFF00"/>
                </a:highlight>
              </a:rPr>
              <a:t>, public domain)</a:t>
            </a:r>
            <a:r>
              <a:rPr lang="ko-KR" altLang="en-US" sz="950" dirty="0">
                <a:highlight>
                  <a:srgbClr val="FFFF00"/>
                </a:highlight>
              </a:rPr>
              <a:t>에 속하지 않는다고 평가</a:t>
            </a:r>
            <a:r>
              <a:rPr lang="ko-KR" altLang="en-US" sz="950" dirty="0"/>
              <a:t>할 수 있어야 한다</a:t>
            </a:r>
            <a:r>
              <a:rPr lang="en-US" altLang="ko-KR" sz="950" dirty="0"/>
              <a:t>. </a:t>
            </a:r>
            <a:r>
              <a:rPr lang="ko-KR" altLang="en-US" sz="950" dirty="0"/>
              <a:t>또한 위 </a:t>
            </a:r>
            <a:r>
              <a:rPr lang="en-US" altLang="ko-KR" sz="950" dirty="0"/>
              <a:t>(</a:t>
            </a:r>
            <a:r>
              <a:rPr lang="ko-KR" altLang="en-US" sz="950" dirty="0"/>
              <a:t>파</a:t>
            </a:r>
            <a:r>
              <a:rPr lang="en-US" altLang="ko-KR" sz="950" dirty="0"/>
              <a:t>)</a:t>
            </a:r>
            <a:r>
              <a:rPr lang="ko-KR" altLang="en-US" sz="950" dirty="0"/>
              <a:t>목이 정하는 </a:t>
            </a:r>
            <a:r>
              <a:rPr lang="en-US" altLang="ko-KR" sz="950" dirty="0"/>
              <a:t>'</a:t>
            </a:r>
            <a:r>
              <a:rPr lang="ko-KR" altLang="en-US" sz="950" dirty="0"/>
              <a:t>공정한 상거래 관행이나 경쟁질서에 반하는 방법으로 자신의 영업을 위하여 무단으로 사용</a:t>
            </a:r>
            <a:r>
              <a:rPr lang="en-US" altLang="ko-KR" sz="950" dirty="0"/>
              <a:t>'</a:t>
            </a:r>
            <a:r>
              <a:rPr lang="ko-KR" altLang="en-US" sz="950" dirty="0"/>
              <a:t>한 경우에 해당하기 위해서는</a:t>
            </a:r>
            <a:r>
              <a:rPr lang="ko-KR" altLang="en-US" sz="950" dirty="0">
                <a:highlight>
                  <a:srgbClr val="FFFF00"/>
                </a:highlight>
              </a:rPr>
              <a:t> 권리자와 침해자가 경쟁관계에 있거나 가까운 장래에 경쟁관계에 놓일 가능성이 있는지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권리자가 주장하는 성과 등이 포함된 산업분야의 상거래 관행이나 경쟁질서의 내용과 그 내용이 공정한지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위와 같은 성과 등이 침해자의 상품이나 서비스에 의해 시장에서 대체될 수 있는지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수요자나 거래자들에게 성과 등이 어느 정도 알려졌는지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수요자나 거래자들의 혼동가능성이 있는지 등을 종합적으로 고려</a:t>
            </a:r>
            <a:r>
              <a:rPr lang="ko-KR" altLang="en-US" sz="950" dirty="0"/>
              <a:t>해야 한다</a:t>
            </a:r>
            <a:r>
              <a:rPr lang="en-US" altLang="ko-KR" sz="950" dirty="0"/>
              <a:t>(</a:t>
            </a:r>
            <a:r>
              <a:rPr lang="ko-KR" altLang="en-US" sz="950" dirty="0"/>
              <a:t>대법원 </a:t>
            </a:r>
            <a:r>
              <a:rPr lang="en-US" altLang="ko-KR" sz="950" dirty="0"/>
              <a:t>2020. 6. 25. </a:t>
            </a:r>
            <a:r>
              <a:rPr lang="ko-KR" altLang="en-US" sz="950" dirty="0"/>
              <a:t>선고 </a:t>
            </a:r>
            <a:r>
              <a:rPr lang="en-US" altLang="ko-KR" sz="950" dirty="0"/>
              <a:t>2019</a:t>
            </a:r>
            <a:r>
              <a:rPr lang="ko-KR" altLang="en-US" sz="950" dirty="0"/>
              <a:t>다</a:t>
            </a:r>
            <a:r>
              <a:rPr lang="en-US" altLang="ko-KR" sz="950" dirty="0"/>
              <a:t>282449 </a:t>
            </a:r>
            <a:r>
              <a:rPr lang="ko-KR" altLang="en-US" sz="950" dirty="0"/>
              <a:t>판결</a:t>
            </a:r>
            <a:r>
              <a:rPr lang="en-US" altLang="ko-KR" sz="950" dirty="0"/>
              <a:t>, </a:t>
            </a:r>
            <a:r>
              <a:rPr lang="ko-KR" altLang="en-US" sz="950" dirty="0"/>
              <a:t>대법원 </a:t>
            </a:r>
            <a:r>
              <a:rPr lang="en-US" altLang="ko-KR" sz="950" dirty="0"/>
              <a:t>2022. 10. 14. </a:t>
            </a:r>
            <a:r>
              <a:rPr lang="ko-KR" altLang="en-US" sz="950" dirty="0"/>
              <a:t>선고 </a:t>
            </a:r>
            <a:r>
              <a:rPr lang="en-US" altLang="ko-KR" sz="950" dirty="0"/>
              <a:t>2020</a:t>
            </a:r>
            <a:r>
              <a:rPr lang="ko-KR" altLang="en-US" sz="950" dirty="0"/>
              <a:t>다</a:t>
            </a:r>
            <a:r>
              <a:rPr lang="en-US" altLang="ko-KR" sz="950" dirty="0"/>
              <a:t>268807 </a:t>
            </a:r>
            <a:r>
              <a:rPr lang="ko-KR" altLang="en-US" sz="950" dirty="0"/>
              <a:t>판결 등 참조</a:t>
            </a:r>
            <a:r>
              <a:rPr lang="en-US" altLang="ko-KR" sz="950" dirty="0"/>
              <a:t>).</a:t>
            </a:r>
            <a:endParaRPr lang="ko-KR" altLang="en-US" sz="9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4CFBA4-6AEF-2DDD-C39A-8AB7B22B890B}"/>
              </a:ext>
            </a:extLst>
          </p:cNvPr>
          <p:cNvSpPr txBox="1"/>
          <p:nvPr/>
        </p:nvSpPr>
        <p:spPr>
          <a:xfrm>
            <a:off x="71595" y="4065238"/>
            <a:ext cx="12039049" cy="677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50" dirty="0"/>
              <a:t>1) 13</a:t>
            </a:r>
            <a:r>
              <a:rPr lang="ko-KR" altLang="en-US" sz="950" dirty="0"/>
              <a:t>종 개별 접합체를 생산하는 것은 </a:t>
            </a:r>
            <a:r>
              <a:rPr lang="ko-KR" altLang="en-US" sz="950" dirty="0">
                <a:solidFill>
                  <a:srgbClr val="FF0000"/>
                </a:solidFill>
              </a:rPr>
              <a:t>누구나 자유롭게 이용할 수 있는 공공영역</a:t>
            </a:r>
            <a:r>
              <a:rPr lang="ko-KR" altLang="en-US" sz="950" dirty="0"/>
              <a:t>에 속한다고 보아야 하므로</a:t>
            </a:r>
            <a:r>
              <a:rPr lang="en-US" altLang="ko-KR" sz="950" dirty="0"/>
              <a:t>, 13</a:t>
            </a:r>
            <a:r>
              <a:rPr lang="ko-KR" altLang="en-US" sz="950" dirty="0"/>
              <a:t>종의 각 개별 접합체 그 자체는 원고의 상당한 투자나 노력으로 만들어진 성과 등이라고 할 수 없다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2) </a:t>
            </a:r>
            <a:r>
              <a:rPr lang="ko-KR" altLang="en-US" sz="950" dirty="0"/>
              <a:t>설령 </a:t>
            </a:r>
            <a:r>
              <a:rPr lang="en-US" altLang="ko-KR" sz="950" dirty="0"/>
              <a:t>13</a:t>
            </a:r>
            <a:r>
              <a:rPr lang="ko-KR" altLang="en-US" sz="950" dirty="0"/>
              <a:t>종 개별 접합체가 원고의 </a:t>
            </a:r>
            <a:r>
              <a:rPr lang="en-US" altLang="ko-KR" sz="950" dirty="0"/>
              <a:t>'</a:t>
            </a:r>
            <a:r>
              <a:rPr lang="ko-KR" altLang="en-US" sz="950" dirty="0"/>
              <a:t>성과 등</a:t>
            </a:r>
            <a:r>
              <a:rPr lang="en-US" altLang="ko-KR" sz="950" dirty="0"/>
              <a:t>'</a:t>
            </a:r>
            <a:r>
              <a:rPr lang="ko-KR" altLang="en-US" sz="950" dirty="0"/>
              <a:t>에 해당한다고 하더라도</a:t>
            </a:r>
            <a:r>
              <a:rPr lang="en-US" altLang="ko-KR" sz="950" dirty="0"/>
              <a:t>, </a:t>
            </a:r>
            <a:r>
              <a:rPr lang="ko-KR" altLang="en-US" sz="950" dirty="0"/>
              <a:t>원고들이 제출한 증거만으로는 피고가 원고의 성과 등을 공정한 상거래 관행이나 경쟁질서에 반하는 방법으로 자신의 영업을 위하여 무단으로 사용하였다고 인정하기에도 부족하다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3) </a:t>
            </a:r>
            <a:r>
              <a:rPr lang="ko-KR" altLang="en-US" sz="950" dirty="0"/>
              <a:t>피고가 </a:t>
            </a:r>
            <a:r>
              <a:rPr lang="en-US" altLang="ko-KR" sz="950" dirty="0"/>
              <a:t>13</a:t>
            </a:r>
            <a:r>
              <a:rPr lang="ko-KR" altLang="en-US" sz="950" dirty="0"/>
              <a:t>종 개별 접합체 원액을 생산한 행위는 부정경쟁방지법 제</a:t>
            </a:r>
            <a:r>
              <a:rPr lang="en-US" altLang="ko-KR" sz="950" dirty="0"/>
              <a:t>2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호</a:t>
            </a:r>
            <a:r>
              <a:rPr lang="en-US" altLang="ko-KR" sz="950" dirty="0"/>
              <a:t>(</a:t>
            </a:r>
            <a:r>
              <a:rPr lang="ko-KR" altLang="en-US" sz="950" dirty="0"/>
              <a:t>파</a:t>
            </a:r>
            <a:r>
              <a:rPr lang="en-US" altLang="ko-KR" sz="950" dirty="0"/>
              <a:t>)</a:t>
            </a:r>
            <a:r>
              <a:rPr lang="ko-KR" altLang="en-US" sz="950" dirty="0"/>
              <a:t>목에서 정한 부정경쟁행위에 해당하지 않는다</a:t>
            </a:r>
            <a:r>
              <a:rPr lang="en-US" altLang="ko-KR" sz="950" dirty="0"/>
              <a:t>.</a:t>
            </a:r>
            <a:endParaRPr lang="ko-KR" altLang="en-US" sz="95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B3379F-5F56-AEB7-6563-2A9AE059FFFD}"/>
              </a:ext>
            </a:extLst>
          </p:cNvPr>
          <p:cNvSpPr txBox="1"/>
          <p:nvPr/>
        </p:nvSpPr>
        <p:spPr>
          <a:xfrm>
            <a:off x="0" y="4746523"/>
            <a:ext cx="12191999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50" dirty="0"/>
              <a:t>      특허법은 발명을 보호 </a:t>
            </a:r>
            <a:r>
              <a:rPr lang="en-US" altLang="ko-KR" sz="950" dirty="0"/>
              <a:t>· </a:t>
            </a:r>
            <a:r>
              <a:rPr lang="ko-KR" altLang="en-US" sz="950" dirty="0"/>
              <a:t>장려하는 한편 그 이용을 도모함으로써 기술의 발전을 촉진하여 산업발전에 이바지함을 목적으로 한다</a:t>
            </a:r>
            <a:r>
              <a:rPr lang="en-US" altLang="ko-KR" sz="950" dirty="0"/>
              <a:t>(</a:t>
            </a:r>
            <a:r>
              <a:rPr lang="ko-KR" altLang="en-US" sz="950" dirty="0"/>
              <a:t>특허법 제</a:t>
            </a:r>
            <a:r>
              <a:rPr lang="en-US" altLang="ko-KR" sz="950" dirty="0"/>
              <a:t>1</a:t>
            </a:r>
            <a:r>
              <a:rPr lang="ko-KR" altLang="en-US" sz="950" dirty="0"/>
              <a:t>조</a:t>
            </a:r>
            <a:r>
              <a:rPr lang="en-US" altLang="ko-KR" sz="950" dirty="0"/>
              <a:t>). </a:t>
            </a:r>
            <a:r>
              <a:rPr lang="ko-KR" altLang="en-US" sz="950" dirty="0"/>
              <a:t>이에 특허법은 특허권자가 업으로서 특허발명을 실시할 권리를 독점한다고 하면서도</a:t>
            </a:r>
            <a:r>
              <a:rPr lang="en-US" altLang="ko-KR" sz="950" dirty="0"/>
              <a:t>(</a:t>
            </a:r>
            <a:r>
              <a:rPr lang="ko-KR" altLang="en-US" sz="950" dirty="0"/>
              <a:t>특허법 제</a:t>
            </a:r>
            <a:r>
              <a:rPr lang="en-US" altLang="ko-KR" sz="950" dirty="0"/>
              <a:t>94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항 본문</a:t>
            </a:r>
            <a:r>
              <a:rPr lang="en-US" altLang="ko-KR" sz="950" dirty="0"/>
              <a:t>) </a:t>
            </a:r>
            <a:r>
              <a:rPr lang="ko-KR" altLang="en-US" sz="950" dirty="0"/>
              <a:t>제</a:t>
            </a:r>
            <a:r>
              <a:rPr lang="en-US" altLang="ko-KR" sz="950" dirty="0"/>
              <a:t>96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항 제</a:t>
            </a:r>
            <a:r>
              <a:rPr lang="en-US" altLang="ko-KR" sz="950" dirty="0"/>
              <a:t>1</a:t>
            </a:r>
            <a:r>
              <a:rPr lang="ko-KR" altLang="en-US" sz="950" dirty="0"/>
              <a:t>호에서 연구 또는 시험</a:t>
            </a:r>
            <a:r>
              <a:rPr lang="en-US" altLang="ko-KR" sz="950" dirty="0"/>
              <a:t>(</a:t>
            </a:r>
            <a:r>
              <a:rPr lang="ko-KR" altLang="en-US" sz="950" dirty="0"/>
              <a:t>약사법에 따른 의약품의 품목허가 </a:t>
            </a:r>
            <a:r>
              <a:rPr lang="en-US" altLang="ko-KR" sz="950" dirty="0"/>
              <a:t>· </a:t>
            </a:r>
            <a:r>
              <a:rPr lang="ko-KR" altLang="en-US" sz="950" dirty="0"/>
              <a:t>품목신고 및 농약관리법에 따른 농약의 등록을 위한 연구 또는 시험을 포함한다</a:t>
            </a:r>
            <a:r>
              <a:rPr lang="en-US" altLang="ko-KR" sz="950" dirty="0"/>
              <a:t>. </a:t>
            </a:r>
            <a:r>
              <a:rPr lang="ko-KR" altLang="en-US" sz="950" dirty="0"/>
              <a:t>이하 같다</a:t>
            </a:r>
            <a:r>
              <a:rPr lang="en-US" altLang="ko-KR" sz="950" dirty="0"/>
              <a:t>)</a:t>
            </a:r>
            <a:r>
              <a:rPr lang="ko-KR" altLang="en-US" sz="950" dirty="0"/>
              <a:t>을 하기 위한 특허발명의 실시에는 특허권의 효력이 미치지 않는다고 규정하고 있다</a:t>
            </a:r>
            <a:r>
              <a:rPr lang="en-US" altLang="ko-KR" sz="950" dirty="0"/>
              <a:t>. </a:t>
            </a:r>
            <a:r>
              <a:rPr lang="ko-KR" altLang="en-US" sz="950" dirty="0"/>
              <a:t>특허법 제</a:t>
            </a:r>
            <a:r>
              <a:rPr lang="en-US" altLang="ko-KR" sz="950" dirty="0"/>
              <a:t>96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항 제</a:t>
            </a:r>
            <a:r>
              <a:rPr lang="en-US" altLang="ko-KR" sz="950" dirty="0"/>
              <a:t>1</a:t>
            </a:r>
            <a:r>
              <a:rPr lang="ko-KR" altLang="en-US" sz="950" dirty="0"/>
              <a:t>호는 특허권의 효력이 미치지 않는 특허발명 실시의 요건으로 </a:t>
            </a:r>
            <a:r>
              <a:rPr lang="ko-KR" altLang="en-US" sz="950" dirty="0">
                <a:highlight>
                  <a:srgbClr val="FFFF00"/>
                </a:highlight>
              </a:rPr>
              <a:t>그 실시의 목적이 연구 또는 시험일 것을 정하고 있을 뿐</a:t>
            </a:r>
            <a:r>
              <a:rPr lang="ko-KR" altLang="en-US" sz="950" dirty="0"/>
              <a:t>이다</a:t>
            </a:r>
            <a:r>
              <a:rPr lang="en-US" altLang="ko-KR" sz="950" dirty="0"/>
              <a:t>. </a:t>
            </a:r>
            <a:r>
              <a:rPr lang="ko-KR" altLang="en-US" sz="950" dirty="0"/>
              <a:t>다만 </a:t>
            </a:r>
            <a:r>
              <a:rPr lang="ko-KR" altLang="en-US" sz="950" dirty="0">
                <a:highlight>
                  <a:srgbClr val="FFFF00"/>
                </a:highlight>
              </a:rPr>
              <a:t>이는 누구든지 특허발명을 연구 또는 시험하여 그 내용을 확인 </a:t>
            </a:r>
            <a:r>
              <a:rPr lang="en-US" altLang="ko-KR" sz="950" dirty="0">
                <a:highlight>
                  <a:srgbClr val="FFFF00"/>
                </a:highlight>
              </a:rPr>
              <a:t>· </a:t>
            </a:r>
            <a:r>
              <a:rPr lang="ko-KR" altLang="en-US" sz="950" dirty="0">
                <a:highlight>
                  <a:srgbClr val="FFFF00"/>
                </a:highlight>
              </a:rPr>
              <a:t>검증하고 더욱 개량된 발명을 </a:t>
            </a:r>
            <a:r>
              <a:rPr lang="ko-KR" altLang="en-US" sz="950" dirty="0" err="1">
                <a:highlight>
                  <a:srgbClr val="FFFF00"/>
                </a:highlight>
              </a:rPr>
              <a:t>이어나갈</a:t>
            </a:r>
            <a:r>
              <a:rPr lang="ko-KR" altLang="en-US" sz="950" dirty="0">
                <a:highlight>
                  <a:srgbClr val="FFFF00"/>
                </a:highlight>
              </a:rPr>
              <a:t> 수 있도록 특허권의 효력을 제한함으로써 특허법이 추구하는 </a:t>
            </a:r>
            <a:r>
              <a:rPr lang="en-US" altLang="ko-KR" sz="950" dirty="0">
                <a:highlight>
                  <a:srgbClr val="FFFF00"/>
                </a:highlight>
              </a:rPr>
              <a:t>'</a:t>
            </a:r>
            <a:r>
              <a:rPr lang="ko-KR" altLang="en-US" sz="950" dirty="0">
                <a:highlight>
                  <a:srgbClr val="FFFF00"/>
                </a:highlight>
              </a:rPr>
              <a:t>발명의 보호</a:t>
            </a:r>
            <a:r>
              <a:rPr lang="en-US" altLang="ko-KR" sz="950" dirty="0">
                <a:highlight>
                  <a:srgbClr val="FFFF00"/>
                </a:highlight>
              </a:rPr>
              <a:t>'</a:t>
            </a:r>
            <a:r>
              <a:rPr lang="ko-KR" altLang="en-US" sz="950" dirty="0">
                <a:highlight>
                  <a:srgbClr val="FFFF00"/>
                </a:highlight>
              </a:rPr>
              <a:t>와</a:t>
            </a:r>
            <a:r>
              <a:rPr lang="en-US" altLang="ko-KR" sz="950" dirty="0">
                <a:highlight>
                  <a:srgbClr val="FFFF00"/>
                </a:highlight>
              </a:rPr>
              <a:t>'</a:t>
            </a:r>
            <a:r>
              <a:rPr lang="ko-KR" altLang="en-US" sz="950" dirty="0">
                <a:highlight>
                  <a:srgbClr val="FFFF00"/>
                </a:highlight>
              </a:rPr>
              <a:t>발명의 이용 도모</a:t>
            </a:r>
            <a:r>
              <a:rPr lang="en-US" altLang="ko-KR" sz="950" dirty="0">
                <a:highlight>
                  <a:srgbClr val="FFFF00"/>
                </a:highlight>
              </a:rPr>
              <a:t>' </a:t>
            </a:r>
            <a:r>
              <a:rPr lang="ko-KR" altLang="en-US" sz="950" dirty="0">
                <a:highlight>
                  <a:srgbClr val="FFFF00"/>
                </a:highlight>
              </a:rPr>
              <a:t>사이에 조화와 균형을 이루기 위한 규정이므로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위 규정의 적용 여부를 판단할 때에는 업으로서 특허발명을 실시할 권리를 독점하는 특허권자 등의 정당한 이익도 함께 고려</a:t>
            </a:r>
            <a:r>
              <a:rPr lang="ko-KR" altLang="en-US" sz="950" dirty="0"/>
              <a:t>할 필요가 있다</a:t>
            </a:r>
            <a:r>
              <a:rPr lang="en-US" altLang="ko-KR" sz="950" dirty="0"/>
              <a:t>. </a:t>
            </a:r>
            <a:r>
              <a:rPr lang="ko-KR" altLang="en-US" sz="950" dirty="0"/>
              <a:t>이와 같은 규정의 문언과 취지 등을 종합하면</a:t>
            </a:r>
            <a:r>
              <a:rPr lang="en-US" altLang="ko-KR" sz="950" dirty="0"/>
              <a:t>, </a:t>
            </a:r>
            <a:r>
              <a:rPr lang="ko-KR" altLang="en-US" sz="950" dirty="0"/>
              <a:t>특허권자 등의 독점적 </a:t>
            </a:r>
            <a:r>
              <a:rPr lang="en-US" altLang="ko-KR" sz="950" dirty="0"/>
              <a:t>· </a:t>
            </a:r>
            <a:r>
              <a:rPr lang="ko-KR" altLang="en-US" sz="950" dirty="0"/>
              <a:t>배타적 이익을 불합리하게 훼손하지 않으면서 특허발명을 연구 또는 시험하기 위해 그 특허발명을 실시하는 행위에는 특허법 제</a:t>
            </a:r>
            <a:r>
              <a:rPr lang="en-US" altLang="ko-KR" sz="950" dirty="0"/>
              <a:t>96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항 제</a:t>
            </a:r>
            <a:r>
              <a:rPr lang="en-US" altLang="ko-KR" sz="950" dirty="0"/>
              <a:t>1</a:t>
            </a:r>
            <a:r>
              <a:rPr lang="ko-KR" altLang="en-US" sz="950" dirty="0"/>
              <a:t>호가 적용되어 특허권의 효력이 미치지 않는다</a:t>
            </a:r>
            <a:r>
              <a:rPr lang="en-US" altLang="ko-KR" sz="950" dirty="0"/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E320AD-3933-0254-B617-E6C91E18C498}"/>
              </a:ext>
            </a:extLst>
          </p:cNvPr>
          <p:cNvSpPr txBox="1"/>
          <p:nvPr/>
        </p:nvSpPr>
        <p:spPr>
          <a:xfrm>
            <a:off x="71595" y="5712850"/>
            <a:ext cx="12039049" cy="11156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50" dirty="0"/>
              <a:t>1) </a:t>
            </a:r>
            <a:r>
              <a:rPr lang="ko-KR" altLang="en-US" sz="950" dirty="0"/>
              <a:t>피고는 </a:t>
            </a:r>
            <a:r>
              <a:rPr lang="en-US" altLang="ko-KR" sz="950" dirty="0"/>
              <a:t>2018. 11. 7.</a:t>
            </a:r>
            <a:r>
              <a:rPr lang="ko-KR" altLang="en-US" sz="950" dirty="0"/>
              <a:t>부터 </a:t>
            </a:r>
            <a:r>
              <a:rPr lang="en-US" altLang="ko-KR" sz="950" dirty="0"/>
              <a:t>2020. 5. 27.</a:t>
            </a:r>
            <a:r>
              <a:rPr lang="ko-KR" altLang="en-US" sz="950" dirty="0"/>
              <a:t>까지 이 사건 제</a:t>
            </a:r>
            <a:r>
              <a:rPr lang="en-US" altLang="ko-KR" sz="950" dirty="0"/>
              <a:t>1</a:t>
            </a:r>
            <a:r>
              <a:rPr lang="ko-KR" altLang="en-US" sz="950" dirty="0"/>
              <a:t>항 발명의 보호범위에 속하는 제</a:t>
            </a:r>
            <a:r>
              <a:rPr lang="en-US" altLang="ko-KR" sz="950" dirty="0"/>
              <a:t>1</a:t>
            </a:r>
            <a:r>
              <a:rPr lang="ko-KR" altLang="en-US" sz="950" dirty="0"/>
              <a:t>차부터 제</a:t>
            </a:r>
            <a:r>
              <a:rPr lang="en-US" altLang="ko-KR" sz="950" dirty="0"/>
              <a:t>4</a:t>
            </a:r>
            <a:r>
              <a:rPr lang="ko-KR" altLang="en-US" sz="950" dirty="0"/>
              <a:t>차까지 네 차례 백신을 생산하여 러시아 제약회사인 丙에 무상으로 제공하였다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2) </a:t>
            </a:r>
            <a:r>
              <a:rPr lang="ko-KR" altLang="en-US" sz="950" dirty="0"/>
              <a:t>제</a:t>
            </a:r>
            <a:r>
              <a:rPr lang="en-US" altLang="ko-KR" sz="950" dirty="0"/>
              <a:t>1, 2, 4</a:t>
            </a:r>
            <a:r>
              <a:rPr lang="ko-KR" altLang="en-US" sz="950" dirty="0"/>
              <a:t>차 백신은 모두 완성 백신의 유효성과 안정성 등을 확인하는 </a:t>
            </a:r>
            <a:r>
              <a:rPr lang="ko-KR" altLang="en-US" sz="950" dirty="0">
                <a:solidFill>
                  <a:srgbClr val="FF0000"/>
                </a:solidFill>
              </a:rPr>
              <a:t>러시아에서의 </a:t>
            </a:r>
            <a:r>
              <a:rPr lang="ko-KR" altLang="en-US" sz="950" dirty="0" err="1">
                <a:solidFill>
                  <a:srgbClr val="FF0000"/>
                </a:solidFill>
              </a:rPr>
              <a:t>비임상시험</a:t>
            </a:r>
            <a:r>
              <a:rPr lang="ko-KR" altLang="en-US" sz="950" dirty="0">
                <a:solidFill>
                  <a:srgbClr val="FF0000"/>
                </a:solidFill>
              </a:rPr>
              <a:t> 또는 임상시험에 사용하기 위하여 생산</a:t>
            </a:r>
            <a:r>
              <a:rPr lang="ko-KR" altLang="en-US" sz="950" dirty="0"/>
              <a:t>되었고</a:t>
            </a:r>
            <a:r>
              <a:rPr lang="en-US" altLang="ko-KR" sz="950" dirty="0"/>
              <a:t>, </a:t>
            </a:r>
            <a:r>
              <a:rPr lang="ko-KR" altLang="en-US" sz="950" dirty="0"/>
              <a:t>제</a:t>
            </a:r>
            <a:r>
              <a:rPr lang="en-US" altLang="ko-KR" sz="950" dirty="0"/>
              <a:t>3</a:t>
            </a:r>
            <a:r>
              <a:rPr lang="ko-KR" altLang="en-US" sz="950" dirty="0"/>
              <a:t>차 백신은 </a:t>
            </a:r>
            <a:r>
              <a:rPr lang="ko-KR" altLang="en-US" sz="950" dirty="0">
                <a:solidFill>
                  <a:srgbClr val="FF0000"/>
                </a:solidFill>
              </a:rPr>
              <a:t>완성 백신 제조기술이 丙에게 제대로 이전되었는지를 확인하는 분석시험에 사용하기 위하여 생산</a:t>
            </a:r>
            <a:r>
              <a:rPr lang="ko-KR" altLang="en-US" sz="950" dirty="0"/>
              <a:t>되었다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3) </a:t>
            </a:r>
            <a:r>
              <a:rPr lang="ko-KR" altLang="en-US" sz="950" dirty="0"/>
              <a:t>피고는 丙에 제</a:t>
            </a:r>
            <a:r>
              <a:rPr lang="en-US" altLang="ko-KR" sz="950" dirty="0"/>
              <a:t>4</a:t>
            </a:r>
            <a:r>
              <a:rPr lang="ko-KR" altLang="en-US" sz="950" dirty="0"/>
              <a:t>차까지 </a:t>
            </a:r>
            <a:r>
              <a:rPr lang="ko-KR" altLang="en-US" sz="950" dirty="0">
                <a:solidFill>
                  <a:srgbClr val="FF0000"/>
                </a:solidFill>
              </a:rPr>
              <a:t>네 차례 백신을 제공하면서 그 백신의 용도가 연구 또는 시험을 위한 것이고 판매용이나 유통용이 아님을 표시</a:t>
            </a:r>
            <a:r>
              <a:rPr lang="ko-KR" altLang="en-US" sz="950" dirty="0"/>
              <a:t>하였다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4) </a:t>
            </a:r>
            <a:r>
              <a:rPr lang="ko-KR" altLang="en-US" sz="950" dirty="0"/>
              <a:t>제</a:t>
            </a:r>
            <a:r>
              <a:rPr lang="en-US" altLang="ko-KR" sz="950" dirty="0"/>
              <a:t>1</a:t>
            </a:r>
            <a:r>
              <a:rPr lang="ko-KR" altLang="en-US" sz="950" dirty="0"/>
              <a:t>차부터 제</a:t>
            </a:r>
            <a:r>
              <a:rPr lang="en-US" altLang="ko-KR" sz="950" dirty="0"/>
              <a:t>4</a:t>
            </a:r>
            <a:r>
              <a:rPr lang="ko-KR" altLang="en-US" sz="950" dirty="0"/>
              <a:t>차까지 백신이 판매용이나 유통용으로 </a:t>
            </a:r>
            <a:r>
              <a:rPr lang="ko-KR" altLang="en-US" sz="950" dirty="0" err="1"/>
              <a:t>제공되었다거나</a:t>
            </a:r>
            <a:r>
              <a:rPr lang="en-US" altLang="ko-KR" sz="950" dirty="0"/>
              <a:t>, </a:t>
            </a:r>
            <a:r>
              <a:rPr lang="ko-KR" altLang="en-US" sz="950" dirty="0"/>
              <a:t>피고가 위 제</a:t>
            </a:r>
            <a:r>
              <a:rPr lang="en-US" altLang="ko-KR" sz="950" dirty="0"/>
              <a:t>4</a:t>
            </a:r>
            <a:r>
              <a:rPr lang="ko-KR" altLang="en-US" sz="950" dirty="0"/>
              <a:t>차까지의 백신 이외에 다른 완성 백신을 생산하였다고 볼 만한 자료는 없다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5) </a:t>
            </a:r>
            <a:r>
              <a:rPr lang="ko-KR" altLang="en-US" sz="950" dirty="0"/>
              <a:t>이러한 사정을 앞서 본 법리에 비추어 살펴보면</a:t>
            </a:r>
            <a:r>
              <a:rPr lang="en-US" altLang="ko-KR" sz="950" dirty="0"/>
              <a:t>, </a:t>
            </a:r>
            <a:r>
              <a:rPr lang="ko-KR" altLang="en-US" sz="950" dirty="0"/>
              <a:t>피고가 위와 같이 네 차례 백신을 생산한 행위는 특허발명인 이 사건 제</a:t>
            </a:r>
            <a:r>
              <a:rPr lang="en-US" altLang="ko-KR" sz="950" dirty="0"/>
              <a:t>1</a:t>
            </a:r>
            <a:r>
              <a:rPr lang="ko-KR" altLang="en-US" sz="950" dirty="0"/>
              <a:t>항 발명을 연구 또는 시험하기 위하여 그 특허발명을 실시한 것에 해당하고</a:t>
            </a:r>
            <a:r>
              <a:rPr lang="en-US" altLang="ko-KR" sz="950" dirty="0"/>
              <a:t>, </a:t>
            </a:r>
            <a:r>
              <a:rPr lang="ko-KR" altLang="en-US" sz="950" dirty="0"/>
              <a:t>그로 인하여 특허권자 또는 </a:t>
            </a:r>
            <a:r>
              <a:rPr lang="ko-KR" altLang="en-US" sz="950" dirty="0" err="1"/>
              <a:t>전용실시권자인</a:t>
            </a:r>
            <a:r>
              <a:rPr lang="ko-KR" altLang="en-US" sz="950" dirty="0"/>
              <a:t> 원고들의 독점적 </a:t>
            </a:r>
            <a:r>
              <a:rPr lang="en-US" altLang="ko-KR" sz="950" dirty="0"/>
              <a:t>· </a:t>
            </a:r>
            <a:r>
              <a:rPr lang="ko-KR" altLang="en-US" sz="950" dirty="0"/>
              <a:t>배타적 이익을 불합리하게 훼손하였다고 보기는 어려우므로</a:t>
            </a:r>
            <a:r>
              <a:rPr lang="en-US" altLang="ko-KR" sz="950" dirty="0"/>
              <a:t>, </a:t>
            </a:r>
            <a:r>
              <a:rPr lang="ko-KR" altLang="en-US" sz="950" dirty="0"/>
              <a:t>피고의 위 행위에는 특허법 제</a:t>
            </a:r>
            <a:r>
              <a:rPr lang="en-US" altLang="ko-KR" sz="950" dirty="0"/>
              <a:t>96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항 제</a:t>
            </a:r>
            <a:r>
              <a:rPr lang="en-US" altLang="ko-KR" sz="950" dirty="0"/>
              <a:t>1</a:t>
            </a:r>
            <a:r>
              <a:rPr lang="ko-KR" altLang="en-US" sz="950" dirty="0"/>
              <a:t>호가 적용되어 특허권의 효력이 미치지 않는다</a:t>
            </a:r>
            <a:r>
              <a:rPr lang="en-US" altLang="ko-KR" sz="950" dirty="0"/>
              <a:t>.</a:t>
            </a:r>
            <a:endParaRPr lang="ko-KR" altLang="en-US" sz="95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1B229A2-CE0D-F467-AC28-220BE3125BDA}"/>
              </a:ext>
            </a:extLst>
          </p:cNvPr>
          <p:cNvSpPr/>
          <p:nvPr/>
        </p:nvSpPr>
        <p:spPr>
          <a:xfrm>
            <a:off x="86621" y="949592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601F1C1-E88E-5515-EEAF-F9AAF22A0AC4}"/>
              </a:ext>
            </a:extLst>
          </p:cNvPr>
          <p:cNvSpPr/>
          <p:nvPr/>
        </p:nvSpPr>
        <p:spPr>
          <a:xfrm>
            <a:off x="86621" y="2540961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26A2C0C-167C-F2A6-230B-4EDBE575F5F3}"/>
              </a:ext>
            </a:extLst>
          </p:cNvPr>
          <p:cNvSpPr/>
          <p:nvPr/>
        </p:nvSpPr>
        <p:spPr>
          <a:xfrm>
            <a:off x="86621" y="3135364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95904FF-8A5D-2D98-78C3-722081AB90BB}"/>
              </a:ext>
            </a:extLst>
          </p:cNvPr>
          <p:cNvSpPr/>
          <p:nvPr/>
        </p:nvSpPr>
        <p:spPr>
          <a:xfrm>
            <a:off x="86621" y="4771014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4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95279278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생산 </a:t>
            </a:r>
            <a:r>
              <a:rPr lang="en-US" altLang="ko-KR" dirty="0"/>
              <a:t>vs </a:t>
            </a:r>
            <a:r>
              <a:rPr lang="ko-KR" altLang="en-US" dirty="0"/>
              <a:t>권리소진</a:t>
            </a:r>
            <a:r>
              <a:rPr lang="en-US" altLang="ko-KR" dirty="0"/>
              <a:t>, </a:t>
            </a:r>
            <a:r>
              <a:rPr lang="ko-KR" altLang="en-US" dirty="0"/>
              <a:t>간접침해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31AF3-E1F6-AB2F-A81A-9B568657BEDE}"/>
              </a:ext>
            </a:extLst>
          </p:cNvPr>
          <p:cNvSpPr txBox="1"/>
          <p:nvPr/>
        </p:nvSpPr>
        <p:spPr>
          <a:xfrm>
            <a:off x="1512513" y="1586474"/>
            <a:ext cx="10092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의의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4083C-DDA5-D79D-DA58-225B5BEE48E5}"/>
              </a:ext>
            </a:extLst>
          </p:cNvPr>
          <p:cNvSpPr txBox="1"/>
          <p:nvPr/>
        </p:nvSpPr>
        <p:spPr>
          <a:xfrm>
            <a:off x="1512513" y="2751125"/>
            <a:ext cx="100929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부품의 교체와 생산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08C6E-A3F7-0C28-57CE-C0EAFF91FF1C}"/>
              </a:ext>
            </a:extLst>
          </p:cNvPr>
          <p:cNvSpPr txBox="1"/>
          <p:nvPr/>
        </p:nvSpPr>
        <p:spPr>
          <a:xfrm>
            <a:off x="1512513" y="4551919"/>
            <a:ext cx="100929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속지주의와 생산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92B07-24E1-27A4-0CCF-7E78432202CC}"/>
              </a:ext>
            </a:extLst>
          </p:cNvPr>
          <p:cNvSpPr txBox="1"/>
          <p:nvPr/>
        </p:nvSpPr>
        <p:spPr>
          <a:xfrm>
            <a:off x="3039628" y="2190038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판단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4BD3D2-CD26-DE9A-3D2D-91CA88F4E2DF}"/>
              </a:ext>
            </a:extLst>
          </p:cNvPr>
          <p:cNvSpPr txBox="1"/>
          <p:nvPr/>
        </p:nvSpPr>
        <p:spPr>
          <a:xfrm>
            <a:off x="4824040" y="2912701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권리소진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C796A-3A45-36BF-B957-38318807FF6E}"/>
              </a:ext>
            </a:extLst>
          </p:cNvPr>
          <p:cNvSpPr txBox="1"/>
          <p:nvPr/>
        </p:nvSpPr>
        <p:spPr>
          <a:xfrm>
            <a:off x="3039628" y="3257167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문제되는 형태</a:t>
            </a: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C7ED0349-0CC9-4F2D-1874-7F6DED763FBD}"/>
              </a:ext>
            </a:extLst>
          </p:cNvPr>
          <p:cNvCxnSpPr>
            <a:stCxn id="7" idx="3"/>
            <a:endCxn id="10" idx="1"/>
          </p:cNvCxnSpPr>
          <p:nvPr/>
        </p:nvCxnSpPr>
        <p:spPr>
          <a:xfrm flipV="1">
            <a:off x="2521803" y="2328538"/>
            <a:ext cx="517825" cy="88425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55173B3-E819-40A9-285A-5A3DC2DF422A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2521803" y="3212790"/>
            <a:ext cx="517825" cy="1828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2CF4A9E0-2EC6-1EC5-60BB-F6EF4175392B}"/>
              </a:ext>
            </a:extLst>
          </p:cNvPr>
          <p:cNvCxnSpPr>
            <a:cxnSpLocks/>
            <a:stCxn id="8" idx="3"/>
            <a:endCxn id="124" idx="1"/>
          </p:cNvCxnSpPr>
          <p:nvPr/>
        </p:nvCxnSpPr>
        <p:spPr>
          <a:xfrm>
            <a:off x="2521803" y="4875085"/>
            <a:ext cx="517825" cy="10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51C6701-8A33-1D84-CDE8-0DB22D72A76B}"/>
              </a:ext>
            </a:extLst>
          </p:cNvPr>
          <p:cNvSpPr txBox="1"/>
          <p:nvPr/>
        </p:nvSpPr>
        <p:spPr>
          <a:xfrm>
            <a:off x="244311" y="2991186"/>
            <a:ext cx="750377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생산</a:t>
            </a: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8599E787-C07D-AE0E-99C3-2AEDD910E484}"/>
              </a:ext>
            </a:extLst>
          </p:cNvPr>
          <p:cNvCxnSpPr>
            <a:stCxn id="61" idx="3"/>
            <a:endCxn id="6" idx="1"/>
          </p:cNvCxnSpPr>
          <p:nvPr/>
        </p:nvCxnSpPr>
        <p:spPr>
          <a:xfrm flipV="1">
            <a:off x="994688" y="1771140"/>
            <a:ext cx="517825" cy="14047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91EE88C8-757E-EE6F-53C8-BAC898E4DFFB}"/>
              </a:ext>
            </a:extLst>
          </p:cNvPr>
          <p:cNvCxnSpPr>
            <a:cxnSpLocks/>
            <a:stCxn id="61" idx="3"/>
            <a:endCxn id="7" idx="1"/>
          </p:cNvCxnSpPr>
          <p:nvPr/>
        </p:nvCxnSpPr>
        <p:spPr>
          <a:xfrm>
            <a:off x="994688" y="3175852"/>
            <a:ext cx="517825" cy="369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8723F15C-2434-40E0-76C4-0FB61DAF8036}"/>
              </a:ext>
            </a:extLst>
          </p:cNvPr>
          <p:cNvCxnSpPr>
            <a:cxnSpLocks/>
            <a:stCxn id="61" idx="3"/>
            <a:endCxn id="8" idx="1"/>
          </p:cNvCxnSpPr>
          <p:nvPr/>
        </p:nvCxnSpPr>
        <p:spPr>
          <a:xfrm>
            <a:off x="994688" y="3175852"/>
            <a:ext cx="517825" cy="169923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F31ACE1-3B2B-9992-48E5-E94848477A17}"/>
              </a:ext>
            </a:extLst>
          </p:cNvPr>
          <p:cNvSpPr txBox="1"/>
          <p:nvPr/>
        </p:nvSpPr>
        <p:spPr>
          <a:xfrm>
            <a:off x="4824040" y="1790662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기존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9662109-D482-47BA-7736-187F0F92BBB7}"/>
              </a:ext>
            </a:extLst>
          </p:cNvPr>
          <p:cNvSpPr txBox="1"/>
          <p:nvPr/>
        </p:nvSpPr>
        <p:spPr>
          <a:xfrm>
            <a:off x="4824040" y="2429568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최근</a:t>
            </a:r>
          </a:p>
        </p:txBody>
      </p: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8271EC96-8514-1F05-BC34-1CC18726A50E}"/>
              </a:ext>
            </a:extLst>
          </p:cNvPr>
          <p:cNvCxnSpPr>
            <a:cxnSpLocks/>
            <a:stCxn id="10" idx="3"/>
            <a:endCxn id="76" idx="1"/>
          </p:cNvCxnSpPr>
          <p:nvPr/>
        </p:nvCxnSpPr>
        <p:spPr>
          <a:xfrm flipV="1">
            <a:off x="4506118" y="1929162"/>
            <a:ext cx="317922" cy="3993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91D94C9B-274B-EB74-9151-93C9492AA9E5}"/>
              </a:ext>
            </a:extLst>
          </p:cNvPr>
          <p:cNvCxnSpPr>
            <a:cxnSpLocks/>
            <a:stCxn id="10" idx="3"/>
            <a:endCxn id="77" idx="1"/>
          </p:cNvCxnSpPr>
          <p:nvPr/>
        </p:nvCxnSpPr>
        <p:spPr>
          <a:xfrm>
            <a:off x="4506118" y="2328538"/>
            <a:ext cx="317922" cy="23953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43FE8D6-8538-C4DA-BA23-01D3FDEBB376}"/>
              </a:ext>
            </a:extLst>
          </p:cNvPr>
          <p:cNvSpPr txBox="1"/>
          <p:nvPr/>
        </p:nvSpPr>
        <p:spPr>
          <a:xfrm>
            <a:off x="6910292" y="1471930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비소모품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5DBC3AF-B5B9-2F16-2D2A-A845F4868C1E}"/>
              </a:ext>
            </a:extLst>
          </p:cNvPr>
          <p:cNvSpPr txBox="1"/>
          <p:nvPr/>
        </p:nvSpPr>
        <p:spPr>
          <a:xfrm>
            <a:off x="6910292" y="2064799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소모품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C40DCFB-BD0A-9709-380C-E162805C47A6}"/>
              </a:ext>
            </a:extLst>
          </p:cNvPr>
          <p:cNvSpPr txBox="1"/>
          <p:nvPr/>
        </p:nvSpPr>
        <p:spPr>
          <a:xfrm>
            <a:off x="4824040" y="3646559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간접침해</a:t>
            </a: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95998256-070B-23C3-8F28-E70699748B38}"/>
              </a:ext>
            </a:extLst>
          </p:cNvPr>
          <p:cNvCxnSpPr>
            <a:cxnSpLocks/>
            <a:stCxn id="76" idx="3"/>
            <a:endCxn id="87" idx="1"/>
          </p:cNvCxnSpPr>
          <p:nvPr/>
        </p:nvCxnSpPr>
        <p:spPr>
          <a:xfrm flipV="1">
            <a:off x="6290530" y="1610430"/>
            <a:ext cx="619762" cy="31873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5330E19A-BBC9-5792-7C54-5A51F3D91CAF}"/>
              </a:ext>
            </a:extLst>
          </p:cNvPr>
          <p:cNvCxnSpPr>
            <a:cxnSpLocks/>
            <a:stCxn id="76" idx="3"/>
            <a:endCxn id="88" idx="1"/>
          </p:cNvCxnSpPr>
          <p:nvPr/>
        </p:nvCxnSpPr>
        <p:spPr>
          <a:xfrm>
            <a:off x="6290530" y="1929162"/>
            <a:ext cx="619762" cy="27413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59F846DC-941F-12A6-E666-890E7161AD73}"/>
              </a:ext>
            </a:extLst>
          </p:cNvPr>
          <p:cNvCxnSpPr>
            <a:cxnSpLocks/>
            <a:stCxn id="12" idx="3"/>
            <a:endCxn id="89" idx="1"/>
          </p:cNvCxnSpPr>
          <p:nvPr/>
        </p:nvCxnSpPr>
        <p:spPr>
          <a:xfrm>
            <a:off x="4506118" y="3395667"/>
            <a:ext cx="317922" cy="38939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27237AD2-A630-E940-45CD-BBE726765B38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 flipV="1">
            <a:off x="4506118" y="3051201"/>
            <a:ext cx="317922" cy="34446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29A6F03A-0198-C02E-555B-068BAA5AC4BC}"/>
              </a:ext>
            </a:extLst>
          </p:cNvPr>
          <p:cNvSpPr txBox="1"/>
          <p:nvPr/>
        </p:nvSpPr>
        <p:spPr>
          <a:xfrm>
            <a:off x="3039628" y="4736692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문제되는 형태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FD540E4-66A0-6652-8451-D988200DAEB4}"/>
              </a:ext>
            </a:extLst>
          </p:cNvPr>
          <p:cNvSpPr txBox="1"/>
          <p:nvPr/>
        </p:nvSpPr>
        <p:spPr>
          <a:xfrm>
            <a:off x="4824040" y="4316348"/>
            <a:ext cx="146649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권리소진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진정상품병행수입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0DE5E45-173B-A23F-CC85-FF62A9253D39}"/>
              </a:ext>
            </a:extLst>
          </p:cNvPr>
          <p:cNvSpPr txBox="1"/>
          <p:nvPr/>
        </p:nvSpPr>
        <p:spPr>
          <a:xfrm>
            <a:off x="6608452" y="4933020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속지주의 원칙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E456044-1B77-304C-8135-3A6A7F6B3836}"/>
              </a:ext>
            </a:extLst>
          </p:cNvPr>
          <p:cNvSpPr txBox="1"/>
          <p:nvPr/>
        </p:nvSpPr>
        <p:spPr>
          <a:xfrm>
            <a:off x="6608452" y="5385491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역외주의 보완</a:t>
            </a:r>
          </a:p>
        </p:txBody>
      </p:sp>
      <p:cxnSp>
        <p:nvCxnSpPr>
          <p:cNvPr id="137" name="연결선: 꺾임 136">
            <a:extLst>
              <a:ext uri="{FF2B5EF4-FFF2-40B4-BE49-F238E27FC236}">
                <a16:creationId xmlns:a16="http://schemas.microsoft.com/office/drawing/2014/main" id="{2BE91F0D-68D5-85FA-47A9-EAEB9F790E5B}"/>
              </a:ext>
            </a:extLst>
          </p:cNvPr>
          <p:cNvCxnSpPr>
            <a:cxnSpLocks/>
            <a:stCxn id="142" idx="3"/>
            <a:endCxn id="134" idx="1"/>
          </p:cNvCxnSpPr>
          <p:nvPr/>
        </p:nvCxnSpPr>
        <p:spPr>
          <a:xfrm flipV="1">
            <a:off x="6290530" y="5071520"/>
            <a:ext cx="317922" cy="20951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연결선: 꺾임 140">
            <a:extLst>
              <a:ext uri="{FF2B5EF4-FFF2-40B4-BE49-F238E27FC236}">
                <a16:creationId xmlns:a16="http://schemas.microsoft.com/office/drawing/2014/main" id="{8F0671E6-E5E9-9277-B1B5-94C2AE2F5F1C}"/>
              </a:ext>
            </a:extLst>
          </p:cNvPr>
          <p:cNvCxnSpPr>
            <a:cxnSpLocks/>
            <a:stCxn id="142" idx="3"/>
            <a:endCxn id="135" idx="1"/>
          </p:cNvCxnSpPr>
          <p:nvPr/>
        </p:nvCxnSpPr>
        <p:spPr>
          <a:xfrm>
            <a:off x="6290530" y="5281039"/>
            <a:ext cx="317922" cy="24295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1204CE7-0F4C-624B-4402-360D85746E77}"/>
              </a:ext>
            </a:extLst>
          </p:cNvPr>
          <p:cNvSpPr txBox="1"/>
          <p:nvPr/>
        </p:nvSpPr>
        <p:spPr>
          <a:xfrm>
            <a:off x="4824040" y="5050206"/>
            <a:ext cx="146649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직접침해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간접침해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반제품 사건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4FD94E74-AF66-290A-0F31-BC6CFE3EBBE8}"/>
              </a:ext>
            </a:extLst>
          </p:cNvPr>
          <p:cNvCxnSpPr>
            <a:cxnSpLocks/>
            <a:stCxn id="124" idx="3"/>
            <a:endCxn id="142" idx="1"/>
          </p:cNvCxnSpPr>
          <p:nvPr/>
        </p:nvCxnSpPr>
        <p:spPr>
          <a:xfrm>
            <a:off x="4506118" y="4875192"/>
            <a:ext cx="317922" cy="40584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4068CD54-F9A6-DA2C-A8FE-4029040232FC}"/>
              </a:ext>
            </a:extLst>
          </p:cNvPr>
          <p:cNvCxnSpPr>
            <a:cxnSpLocks/>
            <a:stCxn id="124" idx="3"/>
            <a:endCxn id="133" idx="1"/>
          </p:cNvCxnSpPr>
          <p:nvPr/>
        </p:nvCxnSpPr>
        <p:spPr>
          <a:xfrm flipV="1">
            <a:off x="4506118" y="4547181"/>
            <a:ext cx="317922" cy="3280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DBABF93-0B05-3AB6-A333-C1D613FE5B50}"/>
              </a:ext>
            </a:extLst>
          </p:cNvPr>
          <p:cNvSpPr txBox="1"/>
          <p:nvPr/>
        </p:nvSpPr>
        <p:spPr>
          <a:xfrm>
            <a:off x="6299404" y="2838568"/>
            <a:ext cx="5768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특허발명인 받침대</a:t>
            </a:r>
            <a:r>
              <a:rPr lang="en-US" altLang="ko-KR" sz="1200" dirty="0"/>
              <a:t>, </a:t>
            </a:r>
            <a:r>
              <a:rPr lang="ko-KR" altLang="en-US" sz="1200" dirty="0"/>
              <a:t>다리</a:t>
            </a:r>
            <a:r>
              <a:rPr lang="en-US" altLang="ko-KR" sz="1200" dirty="0"/>
              <a:t>, </a:t>
            </a:r>
            <a:r>
              <a:rPr lang="ko-KR" altLang="en-US" sz="1200" dirty="0"/>
              <a:t>등받이로 구성된 의자를 특허권자로부터 구매하여 사용하던 도중 등받이를 교체하는 것이 특허권의 침해에 해당하는지 여부</a:t>
            </a:r>
            <a:endParaRPr lang="en-US" altLang="ko-KR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7F01D5-2E33-4077-CF37-9A00CDD46BFE}"/>
              </a:ext>
            </a:extLst>
          </p:cNvPr>
          <p:cNvSpPr txBox="1"/>
          <p:nvPr/>
        </p:nvSpPr>
        <p:spPr>
          <a:xfrm>
            <a:off x="6308282" y="3563017"/>
            <a:ext cx="5759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특허발명인 받침대</a:t>
            </a:r>
            <a:r>
              <a:rPr lang="en-US" altLang="ko-KR" sz="1200" dirty="0"/>
              <a:t>, </a:t>
            </a:r>
            <a:r>
              <a:rPr lang="ko-KR" altLang="en-US" sz="1200" dirty="0"/>
              <a:t>다리</a:t>
            </a:r>
            <a:r>
              <a:rPr lang="en-US" altLang="ko-KR" sz="1200" dirty="0"/>
              <a:t>, </a:t>
            </a:r>
            <a:r>
              <a:rPr lang="ko-KR" altLang="en-US" sz="1200" dirty="0"/>
              <a:t>등받이로 구성된 의자의 등받이를 교체하였는데</a:t>
            </a:r>
            <a:r>
              <a:rPr lang="en-US" altLang="ko-KR" sz="1200" dirty="0"/>
              <a:t>, </a:t>
            </a:r>
            <a:r>
              <a:rPr lang="ko-KR" altLang="en-US" sz="1200" dirty="0"/>
              <a:t>그 등받이를 생산하여 판매하는 행위가 간접침해에 해당하는지 여부</a:t>
            </a:r>
            <a:endParaRPr lang="en-US" altLang="ko-KR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ABB12-127A-63D0-920F-4E3886BF48A6}"/>
              </a:ext>
            </a:extLst>
          </p:cNvPr>
          <p:cNvSpPr txBox="1"/>
          <p:nvPr/>
        </p:nvSpPr>
        <p:spPr>
          <a:xfrm>
            <a:off x="6308282" y="4336604"/>
            <a:ext cx="5759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국내의 특허발명인 의자를 외국에서 생산하여 국내에 수입하는 행위가 직접침해에  해당하는지 여부 </a:t>
            </a:r>
            <a:endParaRPr lang="en-US" altLang="ko-KR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C6EEDA-DBCF-3EB1-8FAD-0FC683A57A80}"/>
              </a:ext>
            </a:extLst>
          </p:cNvPr>
          <p:cNvSpPr txBox="1"/>
          <p:nvPr/>
        </p:nvSpPr>
        <p:spPr>
          <a:xfrm>
            <a:off x="4577393" y="5792321"/>
            <a:ext cx="721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국내의 특허발명인 받침대</a:t>
            </a:r>
            <a:r>
              <a:rPr lang="en-US" altLang="ko-KR" sz="1200" dirty="0"/>
              <a:t>, </a:t>
            </a:r>
            <a:r>
              <a:rPr lang="ko-KR" altLang="en-US" sz="1200" dirty="0"/>
              <a:t>다리</a:t>
            </a:r>
            <a:r>
              <a:rPr lang="en-US" altLang="ko-KR" sz="1200" dirty="0"/>
              <a:t>, </a:t>
            </a:r>
            <a:r>
              <a:rPr lang="ko-KR" altLang="en-US" sz="1200" dirty="0"/>
              <a:t>등받이로 구성된 의자의 구성 대부분을 국내에서 생산하여 수출한 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최종 가공</a:t>
            </a:r>
            <a:r>
              <a:rPr lang="en-US" altLang="ko-KR" sz="1200" dirty="0"/>
              <a:t>, </a:t>
            </a:r>
            <a:r>
              <a:rPr lang="ko-KR" altLang="en-US" sz="1200" dirty="0"/>
              <a:t>조립만이 외국에서 이루어진 경우 국내에서 생산하는 것이 직접침해</a:t>
            </a:r>
            <a:r>
              <a:rPr lang="en-US" altLang="ko-KR" sz="1200" dirty="0"/>
              <a:t>/</a:t>
            </a:r>
            <a:r>
              <a:rPr lang="ko-KR" altLang="en-US" sz="1200" dirty="0"/>
              <a:t>간접침해에 해당하는지 여부 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36906875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398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lvl="0" fontAlgn="base" latinLnBrk="0"/>
            <a:r>
              <a:rPr lang="en-US" altLang="ko-KR" sz="2400" dirty="0"/>
              <a:t>A(1) vs A</a:t>
            </a:r>
            <a:r>
              <a:rPr lang="ko-KR" altLang="en-US" sz="2400" dirty="0"/>
              <a:t>의 제조장치</a:t>
            </a:r>
            <a:r>
              <a:rPr lang="en-US" altLang="ko-KR" sz="2400" dirty="0"/>
              <a:t>(</a:t>
            </a:r>
            <a:r>
              <a:rPr lang="ko-KR" altLang="en-US" sz="2400" dirty="0"/>
              <a:t>多</a:t>
            </a:r>
            <a:r>
              <a:rPr lang="en-US" altLang="ko-KR" sz="2400" dirty="0"/>
              <a:t>)</a:t>
            </a:r>
            <a:r>
              <a:rPr lang="ko-KR" altLang="en-US" sz="2400" dirty="0"/>
              <a:t> </a:t>
            </a:r>
            <a:r>
              <a:rPr lang="en-US" altLang="ko-KR" sz="2400" dirty="0"/>
              <a:t>vs</a:t>
            </a:r>
            <a:r>
              <a:rPr lang="ko-KR" altLang="en-US" sz="2400" dirty="0"/>
              <a:t> </a:t>
            </a:r>
            <a:r>
              <a:rPr lang="en-US" altLang="ko-KR" sz="2400" dirty="0"/>
              <a:t>A</a:t>
            </a:r>
            <a:r>
              <a:rPr lang="ko-KR" altLang="en-US" sz="2400" dirty="0"/>
              <a:t>의 제조방법</a:t>
            </a:r>
            <a:r>
              <a:rPr lang="en-US" altLang="ko-KR" sz="2400" dirty="0"/>
              <a:t>(</a:t>
            </a:r>
            <a:r>
              <a:rPr lang="ko-KR" altLang="en-US" sz="2400" dirty="0"/>
              <a:t>多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E84B2DC-111D-477A-8506-7F61B68A3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170A41-CBAF-4876-BAEB-4B84B29CA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291077"/>
              </p:ext>
            </p:extLst>
          </p:nvPr>
        </p:nvGraphicFramePr>
        <p:xfrm>
          <a:off x="654753" y="2951314"/>
          <a:ext cx="10945575" cy="37800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47420">
                  <a:extLst>
                    <a:ext uri="{9D8B030D-6E8A-4147-A177-3AD203B41FA5}">
                      <a16:colId xmlns:a16="http://schemas.microsoft.com/office/drawing/2014/main" val="3059594399"/>
                    </a:ext>
                  </a:extLst>
                </a:gridCol>
                <a:gridCol w="3236767">
                  <a:extLst>
                    <a:ext uri="{9D8B030D-6E8A-4147-A177-3AD203B41FA5}">
                      <a16:colId xmlns:a16="http://schemas.microsoft.com/office/drawing/2014/main" val="3158936253"/>
                    </a:ext>
                  </a:extLst>
                </a:gridCol>
                <a:gridCol w="3130694">
                  <a:extLst>
                    <a:ext uri="{9D8B030D-6E8A-4147-A177-3AD203B41FA5}">
                      <a16:colId xmlns:a16="http://schemas.microsoft.com/office/drawing/2014/main" val="267936053"/>
                    </a:ext>
                  </a:extLst>
                </a:gridCol>
                <a:gridCol w="3130694">
                  <a:extLst>
                    <a:ext uri="{9D8B030D-6E8A-4147-A177-3AD203B41FA5}">
                      <a16:colId xmlns:a16="http://schemas.microsoft.com/office/drawing/2014/main" val="3260108901"/>
                    </a:ext>
                  </a:extLst>
                </a:gridCol>
              </a:tblGrid>
              <a:tr h="381747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effectLst/>
                        </a:rPr>
                        <a:t>특허발명</a:t>
                      </a: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 err="1">
                          <a:effectLst/>
                        </a:rPr>
                        <a:t>실시중</a:t>
                      </a:r>
                      <a:endParaRPr lang="ko-KR" altLang="en-US" sz="11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lnTlToB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100" dirty="0">
                          <a:effectLst/>
                        </a:rPr>
                        <a:t>A</a:t>
                      </a:r>
                      <a:endParaRPr lang="en-US" sz="11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 dirty="0">
                          <a:effectLst/>
                        </a:rPr>
                        <a:t>A</a:t>
                      </a:r>
                      <a:r>
                        <a:rPr lang="ko-KR" altLang="en-US" sz="1100" kern="0" spc="-100" dirty="0">
                          <a:effectLst/>
                        </a:rPr>
                        <a:t>의 제조방법</a:t>
                      </a:r>
                      <a:r>
                        <a:rPr lang="en-US" altLang="ko-KR" sz="1100" kern="0" spc="-100" dirty="0">
                          <a:effectLst/>
                        </a:rPr>
                        <a:t>(</a:t>
                      </a:r>
                      <a:r>
                        <a:rPr lang="ko-KR" altLang="en-US" sz="1100" kern="0" spc="-100" dirty="0">
                          <a:effectLst/>
                        </a:rPr>
                        <a:t>方</a:t>
                      </a:r>
                      <a:r>
                        <a:rPr lang="en-US" altLang="ko-KR" sz="1100" kern="0" spc="-100" dirty="0">
                          <a:effectLst/>
                        </a:rPr>
                        <a:t>1)</a:t>
                      </a:r>
                      <a:endParaRPr lang="ko-KR" altLang="en-US" sz="11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 dirty="0">
                          <a:effectLst/>
                        </a:rPr>
                        <a:t>A</a:t>
                      </a:r>
                      <a:r>
                        <a:rPr lang="ko-KR" altLang="en-US" sz="1100" kern="0" spc="-100" dirty="0">
                          <a:effectLst/>
                        </a:rPr>
                        <a:t>의 제조장치</a:t>
                      </a:r>
                      <a:r>
                        <a:rPr lang="en-US" altLang="ko-KR" sz="1100" kern="0" spc="-100" dirty="0">
                          <a:effectLst/>
                        </a:rPr>
                        <a:t>(</a:t>
                      </a:r>
                      <a:r>
                        <a:rPr lang="ko-KR" altLang="en-US" sz="1100" kern="0" spc="-100" dirty="0">
                          <a:effectLst/>
                        </a:rPr>
                        <a:t>裝</a:t>
                      </a:r>
                      <a:r>
                        <a:rPr lang="en-US" altLang="ko-KR" sz="1100" kern="0" spc="-100" dirty="0">
                          <a:effectLst/>
                        </a:rPr>
                        <a:t>1)</a:t>
                      </a:r>
                      <a:endParaRPr lang="ko-KR" altLang="en-US" sz="11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20914"/>
                  </a:ext>
                </a:extLst>
              </a:tr>
              <a:tr h="748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100">
                          <a:effectLst/>
                        </a:rPr>
                        <a:t>A</a:t>
                      </a:r>
                      <a:endParaRPr lang="en-US" sz="110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▪직접침해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▪方</a:t>
                      </a:r>
                      <a:r>
                        <a:rPr lang="en-US" altLang="ko-KR" sz="1100" kern="0" spc="-50" dirty="0">
                          <a:effectLst/>
                        </a:rPr>
                        <a:t>1</a:t>
                      </a:r>
                      <a:r>
                        <a:rPr lang="ko-KR" altLang="en-US" sz="1100" kern="0" spc="-50" dirty="0">
                          <a:effectLst/>
                        </a:rPr>
                        <a:t>의 실시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>
                          <a:effectLst/>
                        </a:rPr>
                        <a:t>직접침해</a:t>
                      </a: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▪다른 方의 실시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생산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裝</a:t>
                      </a:r>
                      <a:r>
                        <a:rPr lang="en-US" altLang="ko-KR" sz="1100" kern="0" spc="-50" dirty="0">
                          <a:effectLst/>
                        </a:rPr>
                        <a:t>1</a:t>
                      </a:r>
                      <a:r>
                        <a:rPr lang="ko-KR" altLang="en-US" sz="1100" kern="0" spc="-50" dirty="0">
                          <a:effectLst/>
                        </a:rPr>
                        <a:t>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>
                          <a:effectLst/>
                        </a:rPr>
                        <a:t>직접침해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다른 裝의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</a:t>
                      </a:r>
                      <a:r>
                        <a:rPr lang="ko-KR" altLang="en-US" sz="1100" kern="0" spc="-50" dirty="0" err="1">
                          <a:effectLst/>
                        </a:rPr>
                        <a:t>사용ㆍ양도ㆍ대여</a:t>
                      </a:r>
                      <a:r>
                        <a:rPr lang="ko-KR" altLang="en-US" sz="1100" dirty="0" err="1"/>
                        <a:t>ㆍ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수출</a:t>
                      </a:r>
                      <a:r>
                        <a:rPr lang="ko-KR" altLang="en-US" sz="1100" kern="0" spc="-50" dirty="0" err="1">
                          <a:effectLst/>
                        </a:rPr>
                        <a:t>ㆍ수입ㆍ청약</a:t>
                      </a:r>
                      <a:r>
                        <a:rPr lang="ko-KR" altLang="en-US" sz="1100" kern="0" spc="-50" dirty="0">
                          <a:effectLst/>
                        </a:rPr>
                        <a:t>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416023832"/>
                  </a:ext>
                </a:extLst>
              </a:tr>
              <a:tr h="9329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>
                          <a:effectLst/>
                        </a:rPr>
                        <a:t>A</a:t>
                      </a:r>
                      <a:r>
                        <a:rPr lang="ko-KR" altLang="en-US" sz="1100" kern="0" spc="-100">
                          <a:effectLst/>
                        </a:rPr>
                        <a:t>의 제조방법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>
                          <a:effectLst/>
                        </a:rPr>
                        <a:t>(</a:t>
                      </a:r>
                      <a:r>
                        <a:rPr lang="ko-KR" altLang="en-US" sz="1100" kern="0" spc="-100">
                          <a:effectLst/>
                        </a:rPr>
                        <a:t>方</a:t>
                      </a:r>
                      <a:r>
                        <a:rPr lang="en-US" altLang="ko-KR" sz="1100" kern="0" spc="-100">
                          <a:effectLst/>
                        </a:rPr>
                        <a:t>1)</a:t>
                      </a:r>
                      <a:endParaRPr lang="ko-KR" altLang="en-US" sz="110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▪직접침해</a:t>
                      </a:r>
                      <a:r>
                        <a:rPr lang="en-US" altLang="ko-KR" sz="1100" kern="0" spc="-70" dirty="0">
                          <a:effectLst/>
                        </a:rPr>
                        <a:t>(</a:t>
                      </a:r>
                      <a:r>
                        <a:rPr lang="ko-KR" altLang="en-US" sz="1100" kern="0" spc="-70" dirty="0">
                          <a:effectLst/>
                        </a:rPr>
                        <a:t>∵</a:t>
                      </a:r>
                      <a:r>
                        <a:rPr lang="en-US" altLang="ko-KR" sz="1100" kern="0" spc="-70" dirty="0">
                          <a:effectLst/>
                        </a:rPr>
                        <a:t>A</a:t>
                      </a:r>
                      <a:r>
                        <a:rPr lang="ko-KR" altLang="en-US" sz="1100" kern="0" spc="-70" dirty="0">
                          <a:effectLst/>
                        </a:rPr>
                        <a:t>의 제조방법의 실시는</a:t>
                      </a:r>
                      <a:r>
                        <a:rPr lang="ko-KR" altLang="en-US" sz="1100" kern="0" spc="-70" dirty="0">
                          <a:solidFill>
                            <a:srgbClr val="FF0000"/>
                          </a:solidFill>
                          <a:effectLst/>
                        </a:rPr>
                        <a:t> 물건생산의 청약을 제외하고는 </a:t>
                      </a:r>
                      <a:r>
                        <a:rPr lang="ko-KR" altLang="en-US" sz="1100" kern="0" spc="-70" dirty="0">
                          <a:effectLst/>
                        </a:rPr>
                        <a:t>모두 </a:t>
                      </a:r>
                      <a:r>
                        <a:rPr lang="en-US" altLang="ko-KR" sz="1100" kern="0" spc="-70" dirty="0">
                          <a:effectLst/>
                        </a:rPr>
                        <a:t>A</a:t>
                      </a:r>
                      <a:r>
                        <a:rPr lang="ko-KR" altLang="en-US" sz="1100" kern="0" spc="-70" dirty="0">
                          <a:effectLst/>
                        </a:rPr>
                        <a:t>의 실시에 해당함</a:t>
                      </a:r>
                      <a:r>
                        <a:rPr lang="en-US" altLang="ko-KR" sz="1100" kern="0" spc="-70" dirty="0">
                          <a:effectLst/>
                        </a:rPr>
                        <a:t>)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▪직접침해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제조방법의 사용 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裝</a:t>
                      </a:r>
                      <a:r>
                        <a:rPr lang="en-US" altLang="ko-KR" sz="1100" kern="0" spc="-50" dirty="0">
                          <a:effectLst/>
                        </a:rPr>
                        <a:t>1</a:t>
                      </a:r>
                      <a:r>
                        <a:rPr lang="ko-KR" altLang="en-US" sz="1100" kern="0" spc="-50" dirty="0">
                          <a:effectLst/>
                        </a:rPr>
                        <a:t>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>
                          <a:effectLst/>
                        </a:rPr>
                        <a:t>직접침해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다른 裝의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150" dirty="0">
                          <a:effectLst/>
                        </a:rPr>
                        <a:t>A</a:t>
                      </a:r>
                      <a:r>
                        <a:rPr lang="ko-KR" altLang="en-US" sz="1100" kern="0" spc="-150" dirty="0">
                          <a:effectLst/>
                        </a:rPr>
                        <a:t>의 제조방법의 사용에 의한 </a:t>
                      </a:r>
                      <a:r>
                        <a:rPr lang="en-US" altLang="ko-KR" sz="1100" kern="0" spc="-150" dirty="0">
                          <a:effectLst/>
                        </a:rPr>
                        <a:t>A</a:t>
                      </a:r>
                      <a:r>
                        <a:rPr lang="ko-KR" altLang="en-US" sz="1100" kern="0" spc="-150" dirty="0">
                          <a:effectLst/>
                        </a:rPr>
                        <a:t>의 </a:t>
                      </a:r>
                      <a:r>
                        <a:rPr lang="ko-KR" altLang="en-US" sz="1100" kern="0" spc="-150" dirty="0" err="1">
                          <a:effectLst/>
                        </a:rPr>
                        <a:t>사용ㆍ양도ㆍ대여</a:t>
                      </a:r>
                      <a:r>
                        <a:rPr lang="ko-KR" altLang="en-US" sz="1100" dirty="0" err="1"/>
                        <a:t>ㆍ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수출</a:t>
                      </a:r>
                      <a:r>
                        <a:rPr lang="ko-KR" altLang="en-US" sz="1100" kern="0" spc="-150" dirty="0" err="1">
                          <a:effectLst/>
                        </a:rPr>
                        <a:t>ㆍ수입ㆍ청약</a:t>
                      </a:r>
                      <a:r>
                        <a:rPr lang="ko-KR" altLang="en-US" sz="1100" kern="0" spc="-150" dirty="0">
                          <a:effectLst/>
                        </a:rPr>
                        <a:t> </a:t>
                      </a:r>
                      <a:r>
                        <a:rPr lang="en-US" altLang="ko-KR" sz="1100" kern="0" spc="-150" dirty="0">
                          <a:effectLst/>
                        </a:rPr>
                        <a:t>: </a:t>
                      </a:r>
                      <a:r>
                        <a:rPr lang="ko-KR" altLang="en-US" sz="1100" kern="0" spc="-150" dirty="0" err="1">
                          <a:effectLst/>
                        </a:rPr>
                        <a:t>비침해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29468670"/>
                  </a:ext>
                </a:extLst>
              </a:tr>
              <a:tr h="11168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 dirty="0">
                          <a:effectLst/>
                        </a:rPr>
                        <a:t>A</a:t>
                      </a:r>
                      <a:r>
                        <a:rPr lang="ko-KR" altLang="en-US" sz="1100" kern="0" spc="-100" dirty="0">
                          <a:effectLst/>
                        </a:rPr>
                        <a:t>의 제조장치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 dirty="0">
                          <a:effectLst/>
                        </a:rPr>
                        <a:t>(</a:t>
                      </a:r>
                      <a:r>
                        <a:rPr lang="ko-KR" altLang="en-US" sz="1100" kern="0" spc="-100" dirty="0">
                          <a:effectLst/>
                        </a:rPr>
                        <a:t>裝</a:t>
                      </a:r>
                      <a:r>
                        <a:rPr lang="en-US" altLang="ko-KR" sz="1100" kern="0" spc="-100" dirty="0">
                          <a:effectLst/>
                        </a:rPr>
                        <a:t>1)</a:t>
                      </a:r>
                      <a:endParaRPr lang="ko-KR" altLang="en-US" sz="11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제조장치의 사용 </a:t>
                      </a:r>
                      <a:r>
                        <a:rPr lang="en-US" altLang="ko-KR" sz="1100" kern="0" spc="-50" dirty="0">
                          <a:effectLst/>
                        </a:rPr>
                        <a:t>– </a:t>
                      </a:r>
                      <a:r>
                        <a:rPr lang="ko-KR" altLang="en-US" sz="1100" kern="0" spc="-50" dirty="0">
                          <a:effectLst/>
                        </a:rPr>
                        <a:t>직접침해</a:t>
                      </a:r>
                      <a:r>
                        <a:rPr lang="en-US" altLang="ko-KR" sz="1100" kern="0" spc="-50" dirty="0">
                          <a:effectLst/>
                        </a:rPr>
                        <a:t> </a:t>
                      </a: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  (</a:t>
                      </a:r>
                      <a:r>
                        <a:rPr lang="ko-KR" altLang="en-US" sz="1100" kern="0" spc="-50" dirty="0">
                          <a:effectLst/>
                        </a:rPr>
                        <a:t>∵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생산에 해당</a:t>
                      </a:r>
                      <a:r>
                        <a:rPr lang="en-US" altLang="ko-KR" sz="1100" kern="0" spc="-50" dirty="0">
                          <a:effectLst/>
                        </a:rPr>
                        <a:t>)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제조장치의 </a:t>
                      </a:r>
                      <a:r>
                        <a:rPr lang="ko-KR" altLang="en-US" sz="1100" kern="0" spc="-50" dirty="0" err="1">
                          <a:effectLst/>
                        </a:rPr>
                        <a:t>생산ㆍ양도ㆍ대여</a:t>
                      </a:r>
                      <a:r>
                        <a:rPr lang="ko-KR" altLang="en-US" sz="1100" dirty="0" err="1"/>
                        <a:t>ㆍ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수출</a:t>
                      </a:r>
                      <a:r>
                        <a:rPr lang="ko-KR" altLang="en-US" sz="1100" kern="0" spc="-50" dirty="0" err="1">
                          <a:effectLst/>
                        </a:rPr>
                        <a:t>ㆍ수입ㆍ청약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137160" marR="17780" indent="-1371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140" dirty="0">
                          <a:effectLst/>
                        </a:rPr>
                        <a:t>타용도가 있는 경우 </a:t>
                      </a:r>
                      <a:r>
                        <a:rPr lang="en-US" altLang="ko-KR" sz="1100" kern="0" spc="-140" dirty="0">
                          <a:effectLst/>
                        </a:rPr>
                        <a:t>: </a:t>
                      </a:r>
                      <a:r>
                        <a:rPr lang="ko-KR" altLang="en-US" sz="1100" kern="0" spc="-14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124460" marR="17780" indent="-1244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</a:t>
                      </a:r>
                      <a:r>
                        <a:rPr lang="ko-KR" altLang="en-US" sz="1100" kern="0" spc="-80" dirty="0">
                          <a:effectLst/>
                        </a:rPr>
                        <a:t> 타용도가 없는 경우 </a:t>
                      </a:r>
                      <a:r>
                        <a:rPr lang="en-US" altLang="ko-KR" sz="1100" kern="0" spc="-80" dirty="0">
                          <a:effectLst/>
                        </a:rPr>
                        <a:t>: </a:t>
                      </a:r>
                      <a:r>
                        <a:rPr lang="ko-KR" altLang="en-US" sz="1100" kern="0" spc="-80" dirty="0">
                          <a:effectLst/>
                        </a:rPr>
                        <a:t>간접침해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제조장치의 사용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方</a:t>
                      </a:r>
                      <a:r>
                        <a:rPr lang="en-US" altLang="ko-KR" sz="1100" kern="0" spc="-50" dirty="0">
                          <a:effectLst/>
                        </a:rPr>
                        <a:t>1</a:t>
                      </a:r>
                      <a:r>
                        <a:rPr lang="ko-KR" altLang="en-US" sz="1100" kern="0" spc="-50" dirty="0">
                          <a:effectLst/>
                        </a:rPr>
                        <a:t>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>
                          <a:effectLst/>
                        </a:rPr>
                        <a:t>직접침해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다른 方의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제조장치의 </a:t>
                      </a:r>
                      <a:r>
                        <a:rPr lang="ko-KR" altLang="en-US" sz="1100" kern="0" spc="-50" dirty="0" err="1">
                          <a:effectLst/>
                        </a:rPr>
                        <a:t>생산ㆍ양도ㆍ대여ㆍ수출ㆍ수입ㆍ청약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137160" marR="17780" indent="-1371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140" dirty="0">
                          <a:effectLst/>
                        </a:rPr>
                        <a:t>타용도가 있는 경우 </a:t>
                      </a:r>
                      <a:r>
                        <a:rPr lang="en-US" altLang="ko-KR" sz="1100" kern="0" spc="-140" dirty="0">
                          <a:effectLst/>
                        </a:rPr>
                        <a:t>: </a:t>
                      </a:r>
                      <a:r>
                        <a:rPr lang="ko-KR" altLang="en-US" sz="1100" kern="0" spc="-14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137160" marR="17780" indent="-1371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타용도가 없는 경우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>
                          <a:effectLst/>
                        </a:rPr>
                        <a:t>간접침해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▪직접침해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476621320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5F4BEE1D-DF3A-E7F5-A3FD-151C77E7DD38}"/>
              </a:ext>
            </a:extLst>
          </p:cNvPr>
          <p:cNvSpPr/>
          <p:nvPr/>
        </p:nvSpPr>
        <p:spPr>
          <a:xfrm>
            <a:off x="633507" y="1214420"/>
            <a:ext cx="1866900" cy="1353359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74FF6EA-B3BE-3F59-BE4A-651A805B73B3}"/>
              </a:ext>
            </a:extLst>
          </p:cNvPr>
          <p:cNvSpPr/>
          <p:nvPr/>
        </p:nvSpPr>
        <p:spPr>
          <a:xfrm>
            <a:off x="1848415" y="1204309"/>
            <a:ext cx="1866900" cy="1363470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F83F9C-DDFC-39B4-D7B7-D84DF2929E9E}"/>
              </a:ext>
            </a:extLst>
          </p:cNvPr>
          <p:cNvSpPr/>
          <p:nvPr/>
        </p:nvSpPr>
        <p:spPr>
          <a:xfrm>
            <a:off x="1144021" y="1050579"/>
            <a:ext cx="568236" cy="31757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endParaRPr lang="ko-KR" altLang="en-US" sz="1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A907FB-1BFE-E969-0995-43E6BB653FD9}"/>
              </a:ext>
            </a:extLst>
          </p:cNvPr>
          <p:cNvSpPr/>
          <p:nvPr/>
        </p:nvSpPr>
        <p:spPr>
          <a:xfrm>
            <a:off x="2222771" y="1034232"/>
            <a:ext cx="1168400" cy="312871"/>
          </a:xfrm>
          <a:prstGeom prst="rect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의 제조장치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D4AE004-4AEE-6996-E74D-BA7E2AE5D1E5}"/>
              </a:ext>
            </a:extLst>
          </p:cNvPr>
          <p:cNvSpPr/>
          <p:nvPr/>
        </p:nvSpPr>
        <p:spPr>
          <a:xfrm>
            <a:off x="792725" y="1515484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F5B48A2-0F1A-AA5D-F5B3-53349024CBFA}"/>
              </a:ext>
            </a:extLst>
          </p:cNvPr>
          <p:cNvSpPr/>
          <p:nvPr/>
        </p:nvSpPr>
        <p:spPr>
          <a:xfrm>
            <a:off x="1979253" y="1541632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생산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31E8DB1-3568-0D43-1BD6-C76D5D98F5AA}"/>
              </a:ext>
            </a:extLst>
          </p:cNvPr>
          <p:cNvSpPr/>
          <p:nvPr/>
        </p:nvSpPr>
        <p:spPr>
          <a:xfrm>
            <a:off x="1215661" y="1452729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양도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39C3C14-5690-96B6-B096-E5F03151EE61}"/>
              </a:ext>
            </a:extLst>
          </p:cNvPr>
          <p:cNvSpPr/>
          <p:nvPr/>
        </p:nvSpPr>
        <p:spPr>
          <a:xfrm>
            <a:off x="860793" y="1955466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대여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EEA389D-F02E-5230-DC69-E0D1154BDACD}"/>
              </a:ext>
            </a:extLst>
          </p:cNvPr>
          <p:cNvSpPr/>
          <p:nvPr/>
        </p:nvSpPr>
        <p:spPr>
          <a:xfrm>
            <a:off x="1434404" y="1793285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925B076-1F03-589C-5E64-DA379AE688DC}"/>
              </a:ext>
            </a:extLst>
          </p:cNvPr>
          <p:cNvSpPr/>
          <p:nvPr/>
        </p:nvSpPr>
        <p:spPr>
          <a:xfrm>
            <a:off x="1150202" y="2191425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69FFD21-5BE3-085D-E201-C3BAC208F913}"/>
              </a:ext>
            </a:extLst>
          </p:cNvPr>
          <p:cNvSpPr/>
          <p:nvPr/>
        </p:nvSpPr>
        <p:spPr>
          <a:xfrm>
            <a:off x="2000495" y="1963720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ECDAA64-F2F9-3297-D03A-9832452B8F18}"/>
              </a:ext>
            </a:extLst>
          </p:cNvPr>
          <p:cNvSpPr/>
          <p:nvPr/>
        </p:nvSpPr>
        <p:spPr>
          <a:xfrm>
            <a:off x="2483977" y="1417686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생산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B9CD10F-F636-26D3-A95D-9EBCA62772D5}"/>
              </a:ext>
            </a:extLst>
          </p:cNvPr>
          <p:cNvSpPr/>
          <p:nvPr/>
        </p:nvSpPr>
        <p:spPr>
          <a:xfrm>
            <a:off x="2906913" y="1401270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양도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98BC20C-C31D-E050-988F-AFB331E5D0C3}"/>
              </a:ext>
            </a:extLst>
          </p:cNvPr>
          <p:cNvSpPr/>
          <p:nvPr/>
        </p:nvSpPr>
        <p:spPr>
          <a:xfrm>
            <a:off x="2543084" y="1841252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대여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ECCEB13-632D-7660-E8CC-38D7009335D1}"/>
              </a:ext>
            </a:extLst>
          </p:cNvPr>
          <p:cNvSpPr/>
          <p:nvPr/>
        </p:nvSpPr>
        <p:spPr>
          <a:xfrm>
            <a:off x="2948093" y="2137087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8AAB080-25AE-AC6C-F433-19EDEF6F09D2}"/>
              </a:ext>
            </a:extLst>
          </p:cNvPr>
          <p:cNvSpPr/>
          <p:nvPr/>
        </p:nvSpPr>
        <p:spPr>
          <a:xfrm>
            <a:off x="2560537" y="2212187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DD3129E-1321-0B42-9920-4587BD21CF33}"/>
              </a:ext>
            </a:extLst>
          </p:cNvPr>
          <p:cNvSpPr/>
          <p:nvPr/>
        </p:nvSpPr>
        <p:spPr>
          <a:xfrm>
            <a:off x="4244061" y="1214420"/>
            <a:ext cx="1866900" cy="1353359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BE89728-0329-EC0A-C4F8-1D0F59DBDDA8}"/>
              </a:ext>
            </a:extLst>
          </p:cNvPr>
          <p:cNvSpPr/>
          <p:nvPr/>
        </p:nvSpPr>
        <p:spPr>
          <a:xfrm>
            <a:off x="5458969" y="1204309"/>
            <a:ext cx="1866900" cy="1363470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22B5011-905F-32E4-A211-61259AFCD805}"/>
              </a:ext>
            </a:extLst>
          </p:cNvPr>
          <p:cNvSpPr/>
          <p:nvPr/>
        </p:nvSpPr>
        <p:spPr>
          <a:xfrm>
            <a:off x="4465556" y="1050579"/>
            <a:ext cx="1182134" cy="31757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의 제조방법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F24D55D-3D2F-042A-02EE-EC1C2945A02D}"/>
              </a:ext>
            </a:extLst>
          </p:cNvPr>
          <p:cNvSpPr/>
          <p:nvPr/>
        </p:nvSpPr>
        <p:spPr>
          <a:xfrm>
            <a:off x="5869185" y="1034232"/>
            <a:ext cx="1168400" cy="312871"/>
          </a:xfrm>
          <a:prstGeom prst="rect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의 제조장치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2D8AF68-2322-3D7A-5516-0711B62504A0}"/>
              </a:ext>
            </a:extLst>
          </p:cNvPr>
          <p:cNvSpPr/>
          <p:nvPr/>
        </p:nvSpPr>
        <p:spPr>
          <a:xfrm>
            <a:off x="4403279" y="1515484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05F200D-8DF3-3DAF-B705-590ABFD232A2}"/>
              </a:ext>
            </a:extLst>
          </p:cNvPr>
          <p:cNvSpPr/>
          <p:nvPr/>
        </p:nvSpPr>
        <p:spPr>
          <a:xfrm>
            <a:off x="5589807" y="1541632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080C38C-73C5-7E5C-8D6E-DB418D7CB682}"/>
              </a:ext>
            </a:extLst>
          </p:cNvPr>
          <p:cNvSpPr/>
          <p:nvPr/>
        </p:nvSpPr>
        <p:spPr>
          <a:xfrm>
            <a:off x="4798490" y="1401269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양도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6CD5F99-D94F-4BDE-A18E-7729AD86D694}"/>
              </a:ext>
            </a:extLst>
          </p:cNvPr>
          <p:cNvSpPr/>
          <p:nvPr/>
        </p:nvSpPr>
        <p:spPr>
          <a:xfrm>
            <a:off x="4336817" y="1897254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대여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369DA63-8747-9C58-2E9D-188E78F04A99}"/>
              </a:ext>
            </a:extLst>
          </p:cNvPr>
          <p:cNvSpPr/>
          <p:nvPr/>
        </p:nvSpPr>
        <p:spPr>
          <a:xfrm>
            <a:off x="5089758" y="1704557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3A78661-28A9-909E-D4C8-8E38DE7E1CCC}"/>
              </a:ext>
            </a:extLst>
          </p:cNvPr>
          <p:cNvSpPr/>
          <p:nvPr/>
        </p:nvSpPr>
        <p:spPr>
          <a:xfrm>
            <a:off x="5100535" y="2155681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DA2941C-7A95-7216-D176-58F1556742F4}"/>
              </a:ext>
            </a:extLst>
          </p:cNvPr>
          <p:cNvSpPr/>
          <p:nvPr/>
        </p:nvSpPr>
        <p:spPr>
          <a:xfrm>
            <a:off x="5611049" y="1963720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6B24D76-82FE-D3CC-4C60-B5C3CCF10ACF}"/>
              </a:ext>
            </a:extLst>
          </p:cNvPr>
          <p:cNvSpPr/>
          <p:nvPr/>
        </p:nvSpPr>
        <p:spPr>
          <a:xfrm>
            <a:off x="6094531" y="1417686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 생산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0B33438-B9B0-19D2-249F-E1C6833F8BD6}"/>
              </a:ext>
            </a:extLst>
          </p:cNvPr>
          <p:cNvSpPr/>
          <p:nvPr/>
        </p:nvSpPr>
        <p:spPr>
          <a:xfrm>
            <a:off x="6517467" y="1401270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 양도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D0E46C0-1313-08F1-DBAB-BD7682A39C69}"/>
              </a:ext>
            </a:extLst>
          </p:cNvPr>
          <p:cNvSpPr/>
          <p:nvPr/>
        </p:nvSpPr>
        <p:spPr>
          <a:xfrm>
            <a:off x="6270179" y="1841252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 대여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1876FE3-F431-86E5-0E39-F3C98B930822}"/>
              </a:ext>
            </a:extLst>
          </p:cNvPr>
          <p:cNvSpPr/>
          <p:nvPr/>
        </p:nvSpPr>
        <p:spPr>
          <a:xfrm>
            <a:off x="6314526" y="2212187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 청약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1E0DB26D-9763-7501-E300-C6773E1610DD}"/>
              </a:ext>
            </a:extLst>
          </p:cNvPr>
          <p:cNvSpPr/>
          <p:nvPr/>
        </p:nvSpPr>
        <p:spPr>
          <a:xfrm>
            <a:off x="4723588" y="1805473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>
                <a:solidFill>
                  <a:schemeClr val="tx1"/>
                </a:solidFill>
              </a:rPr>
              <a:t>사용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910BD56-15FE-ECF3-856D-4EC97150B97A}"/>
              </a:ext>
            </a:extLst>
          </p:cNvPr>
          <p:cNvSpPr/>
          <p:nvPr/>
        </p:nvSpPr>
        <p:spPr>
          <a:xfrm>
            <a:off x="7735325" y="1214420"/>
            <a:ext cx="2456180" cy="1353359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DCF9F7BA-E2CB-CE49-06A6-52EB57C32E0D}"/>
              </a:ext>
            </a:extLst>
          </p:cNvPr>
          <p:cNvSpPr/>
          <p:nvPr/>
        </p:nvSpPr>
        <p:spPr>
          <a:xfrm>
            <a:off x="8125704" y="1204309"/>
            <a:ext cx="2691429" cy="1363470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C12E138-075F-42EC-CC77-422063EFBB9D}"/>
              </a:ext>
            </a:extLst>
          </p:cNvPr>
          <p:cNvSpPr/>
          <p:nvPr/>
        </p:nvSpPr>
        <p:spPr>
          <a:xfrm>
            <a:off x="8036289" y="1050579"/>
            <a:ext cx="568236" cy="31757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endParaRPr lang="ko-KR" altLang="en-US" sz="14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7CC6427-4B11-7009-43F7-64E4A53A667E}"/>
              </a:ext>
            </a:extLst>
          </p:cNvPr>
          <p:cNvSpPr/>
          <p:nvPr/>
        </p:nvSpPr>
        <p:spPr>
          <a:xfrm>
            <a:off x="9324589" y="1034232"/>
            <a:ext cx="1168400" cy="31287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의 제조방법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764D32-25D2-D415-C035-1FBF347B01BC}"/>
              </a:ext>
            </a:extLst>
          </p:cNvPr>
          <p:cNvSpPr/>
          <p:nvPr/>
        </p:nvSpPr>
        <p:spPr>
          <a:xfrm>
            <a:off x="8775827" y="2073047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(A</a:t>
            </a:r>
            <a:r>
              <a:rPr lang="ko-KR" altLang="en-US" sz="600" dirty="0">
                <a:solidFill>
                  <a:schemeClr val="tx1"/>
                </a:solidFill>
              </a:rPr>
              <a:t>생산</a:t>
            </a:r>
            <a:r>
              <a:rPr lang="en-US" altLang="ko-KR" sz="6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D0535D56-E0E5-DC2C-5B18-5C1C113666F0}"/>
              </a:ext>
            </a:extLst>
          </p:cNvPr>
          <p:cNvSpPr/>
          <p:nvPr/>
        </p:nvSpPr>
        <p:spPr>
          <a:xfrm>
            <a:off x="8907154" y="1349505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양도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96DB342F-61C9-D6C6-AF38-9EBC1AE9BAD5}"/>
              </a:ext>
            </a:extLst>
          </p:cNvPr>
          <p:cNvSpPr/>
          <p:nvPr/>
        </p:nvSpPr>
        <p:spPr>
          <a:xfrm>
            <a:off x="9082802" y="1708489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대여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48C9AA6D-F53C-354D-2189-151CBC1ADB03}"/>
              </a:ext>
            </a:extLst>
          </p:cNvPr>
          <p:cNvSpPr/>
          <p:nvPr/>
        </p:nvSpPr>
        <p:spPr>
          <a:xfrm>
            <a:off x="9564188" y="1584812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E316CE98-4021-E4A7-F508-C3E2EA9FBA93}"/>
              </a:ext>
            </a:extLst>
          </p:cNvPr>
          <p:cNvSpPr/>
          <p:nvPr/>
        </p:nvSpPr>
        <p:spPr>
          <a:xfrm>
            <a:off x="9149739" y="2144007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A6A5C2FE-57F1-6D1A-6A29-3C1F1F7CA443}"/>
              </a:ext>
            </a:extLst>
          </p:cNvPr>
          <p:cNvSpPr/>
          <p:nvPr/>
        </p:nvSpPr>
        <p:spPr>
          <a:xfrm>
            <a:off x="8447035" y="1667076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D79795D-3729-7EA4-FEFD-D3EA0C7879AA}"/>
              </a:ext>
            </a:extLst>
          </p:cNvPr>
          <p:cNvSpPr/>
          <p:nvPr/>
        </p:nvSpPr>
        <p:spPr>
          <a:xfrm>
            <a:off x="10273849" y="1719780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>
                <a:solidFill>
                  <a:schemeClr val="tx1"/>
                </a:solidFill>
              </a:rPr>
              <a:t>사용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8ED2105-B091-B62B-CB4C-3AB4770259DB}"/>
              </a:ext>
            </a:extLst>
          </p:cNvPr>
          <p:cNvSpPr/>
          <p:nvPr/>
        </p:nvSpPr>
        <p:spPr>
          <a:xfrm>
            <a:off x="5458969" y="1417686"/>
            <a:ext cx="637031" cy="96183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9DE809-5DEA-6E94-FAA6-E5F2C8A13A9E}"/>
              </a:ext>
            </a:extLst>
          </p:cNvPr>
          <p:cNvSpPr txBox="1"/>
          <p:nvPr/>
        </p:nvSpPr>
        <p:spPr>
          <a:xfrm>
            <a:off x="5376625" y="2389234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임의적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B74406E-8D4E-FC10-1C8C-502C87A43EF1}"/>
              </a:ext>
            </a:extLst>
          </p:cNvPr>
          <p:cNvSpPr/>
          <p:nvPr/>
        </p:nvSpPr>
        <p:spPr>
          <a:xfrm>
            <a:off x="1559006" y="2186612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수출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97904266-32A3-8B50-A68E-99988DB95911}"/>
              </a:ext>
            </a:extLst>
          </p:cNvPr>
          <p:cNvSpPr/>
          <p:nvPr/>
        </p:nvSpPr>
        <p:spPr>
          <a:xfrm>
            <a:off x="3179460" y="1769795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수출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480C275-7DEA-08E3-C09B-66A81CBCFFE4}"/>
              </a:ext>
            </a:extLst>
          </p:cNvPr>
          <p:cNvSpPr/>
          <p:nvPr/>
        </p:nvSpPr>
        <p:spPr>
          <a:xfrm>
            <a:off x="4721502" y="2186612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수출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0F81EA7-9C74-013B-EE83-F5B6173885B5}"/>
              </a:ext>
            </a:extLst>
          </p:cNvPr>
          <p:cNvSpPr/>
          <p:nvPr/>
        </p:nvSpPr>
        <p:spPr>
          <a:xfrm>
            <a:off x="6686951" y="2083297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CB340C4-CCA2-0BA5-EE08-1F13AAEEE706}"/>
              </a:ext>
            </a:extLst>
          </p:cNvPr>
          <p:cNvSpPr/>
          <p:nvPr/>
        </p:nvSpPr>
        <p:spPr>
          <a:xfrm>
            <a:off x="6918318" y="1707040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수출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FD6D98C-D44D-746A-BA7E-A2462E67B77C}"/>
              </a:ext>
            </a:extLst>
          </p:cNvPr>
          <p:cNvSpPr/>
          <p:nvPr/>
        </p:nvSpPr>
        <p:spPr>
          <a:xfrm>
            <a:off x="9630622" y="1978301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수출</a:t>
            </a:r>
          </a:p>
        </p:txBody>
      </p:sp>
    </p:spTree>
    <p:extLst>
      <p:ext uri="{BB962C8B-B14F-4D97-AF65-F5344CB8AC3E}">
        <p14:creationId xmlns:p14="http://schemas.microsoft.com/office/powerpoint/2010/main" val="356964427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126</a:t>
            </a:r>
            <a:r>
              <a:rPr lang="ko-KR" altLang="en-US" sz="2000" dirty="0"/>
              <a:t>조의</a:t>
            </a:r>
            <a:r>
              <a:rPr lang="en-US" altLang="ko-KR" sz="2000" dirty="0"/>
              <a:t>2, </a:t>
            </a:r>
            <a:r>
              <a:rPr lang="ko-KR" altLang="en-US" sz="2000" dirty="0"/>
              <a:t>제</a:t>
            </a:r>
            <a:r>
              <a:rPr lang="en-US" altLang="ko-KR" sz="2000" dirty="0"/>
              <a:t>132</a:t>
            </a:r>
            <a:r>
              <a:rPr lang="ko-KR" altLang="en-US" sz="2000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자료의 제출</a:t>
            </a:r>
            <a:r>
              <a:rPr lang="en-US" altLang="ko-KR" dirty="0"/>
              <a:t>, </a:t>
            </a:r>
            <a:r>
              <a:rPr lang="ko-KR" altLang="en-US" dirty="0"/>
              <a:t>구체적 행위의 </a:t>
            </a:r>
            <a:r>
              <a:rPr lang="ko-KR" altLang="en-US" dirty="0" err="1"/>
              <a:t>내용ㆍ방식ㆍ형태</a:t>
            </a:r>
            <a:r>
              <a:rPr lang="ko-KR" altLang="en-US" dirty="0"/>
              <a:t> 제시 의무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875" y="986046"/>
            <a:ext cx="603717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132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자료의 제출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 ① 법원은 특허권 또는 전용실시권 침해소송에서 당사자의 신청에 의하여 상대방 당사자에게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해당 침해의 증명 또는 침해로 인한 손해액의 산정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 필요한 자료의 제출을 명할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 자료의 소지자가 그 자료의 제출을 거절할 정당한 이유가 있으면 그러하지 아니하다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 </a:t>
            </a:r>
            <a:endParaRPr lang="ko-KR" altLang="en-US" sz="1200" dirty="0">
              <a:solidFill>
                <a:schemeClr val="tx2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② 법원은 자료의 소지자가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항에 따른 제출을 거부할 정당한 이유가 있다고 주장하는 경우에는 그 주장의 당부를 판단하기 위하여 자료의 제시를 명할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 경우 법원은 그 자료를 다른 사람이 보게 하여서는 아니 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 </a:t>
            </a:r>
            <a:endParaRPr lang="ko-KR" altLang="en-US" sz="1200" dirty="0">
              <a:solidFill>
                <a:schemeClr val="tx2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③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항에 따라 제출되어야 할 자료가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영업비밀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「부정경쟁방지 및 영업비밀보호에 관한 법률」 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호에 따른 영업비밀을 말한다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이하 같다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에 해당하나 침해의 증명 또는 손해액의 산정에 반드시 필요한 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 단서에 따른 정당한 이유로 보지 아니한다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 경우 법원은 제출명령의 목적 내에서 열람할 수 있는 범위 또는 열람할 수 있는 사람을 지정하여야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 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④ 당사자가 정당한 이유 없이 자료제출명령에 따르지 아니한 때에는 법원은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자료의 기재에 대한 상대방의 주장을 진실한 것으로 인정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 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⑤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항에 해당하는 경우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자료의 제출을 신청한 당사자가 자료의 기재에 관하여 구체적으로 주장하기에 현저히 곤란한 사정이 있고 자료로 증명할 사실을 다른 증거로 증명하는 것을 기대하기도 어려운 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에는 법원은 그 당사자가 자료의 기재에 의하여 증명하고자 하는 사실에 관한 주장을 진실한 것으로 인정할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 </a:t>
            </a:r>
            <a:endParaRPr lang="ko-KR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1139" y="5158909"/>
            <a:ext cx="1360400" cy="44587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accent4"/>
                </a:solidFill>
              </a:rPr>
              <a:t>자료의 제출</a:t>
            </a:r>
            <a:endParaRPr lang="en-US" altLang="ko-KR" sz="1400" dirty="0">
              <a:solidFill>
                <a:schemeClr val="accent4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accent4"/>
                </a:solidFill>
              </a:rPr>
              <a:t>(</a:t>
            </a:r>
            <a:r>
              <a:rPr lang="ko-KR" altLang="en-US" sz="1400" dirty="0">
                <a:solidFill>
                  <a:schemeClr val="accent4"/>
                </a:solidFill>
              </a:rPr>
              <a:t>제</a:t>
            </a:r>
            <a:r>
              <a:rPr lang="en-US" altLang="ko-KR" sz="1400" dirty="0">
                <a:solidFill>
                  <a:schemeClr val="accent4"/>
                </a:solidFill>
              </a:rPr>
              <a:t>132</a:t>
            </a:r>
            <a:r>
              <a:rPr lang="ko-KR" altLang="en-US" sz="1400" dirty="0">
                <a:solidFill>
                  <a:schemeClr val="accent4"/>
                </a:solidFill>
              </a:rPr>
              <a:t>조</a:t>
            </a:r>
            <a:r>
              <a:rPr lang="en-US" altLang="ko-KR" sz="1400" dirty="0">
                <a:solidFill>
                  <a:schemeClr val="accent4"/>
                </a:solidFill>
              </a:rPr>
              <a:t>)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08890" y="4280888"/>
            <a:ext cx="167253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자료제출명령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2108889" y="4810570"/>
            <a:ext cx="167253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정당한 이유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2108888" y="5365327"/>
            <a:ext cx="167253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영업비밀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08888" y="5884342"/>
            <a:ext cx="1672536" cy="4021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제재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4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4128188" y="5365327"/>
            <a:ext cx="1672536" cy="445874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비밀유지명령제도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224</a:t>
            </a:r>
            <a:r>
              <a:rPr lang="ko-KR" altLang="en-US" sz="1400" dirty="0"/>
              <a:t>조의</a:t>
            </a:r>
            <a:r>
              <a:rPr lang="en-US" altLang="ko-KR" sz="1400" dirty="0"/>
              <a:t>3)</a:t>
            </a:r>
            <a:endParaRPr lang="ko-KR" altLang="en-US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399</a:t>
            </a:fld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47FAAE9-FCBB-4055-BE3E-CDD0743AE652}"/>
              </a:ext>
            </a:extLst>
          </p:cNvPr>
          <p:cNvCxnSpPr>
            <a:cxnSpLocks/>
          </p:cNvCxnSpPr>
          <p:nvPr/>
        </p:nvCxnSpPr>
        <p:spPr>
          <a:xfrm>
            <a:off x="-36242" y="4205437"/>
            <a:ext cx="3493817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F56B33C-1F0D-46DC-BC0C-C40DCB6F502A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1721539" y="4503825"/>
            <a:ext cx="387351" cy="87802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8846FB45-FD74-441D-B165-D2E7BFEF9030}"/>
              </a:ext>
            </a:extLst>
          </p:cNvPr>
          <p:cNvCxnSpPr>
            <a:stCxn id="8" idx="3"/>
            <a:endCxn id="13" idx="1"/>
          </p:cNvCxnSpPr>
          <p:nvPr/>
        </p:nvCxnSpPr>
        <p:spPr>
          <a:xfrm>
            <a:off x="1721539" y="5381846"/>
            <a:ext cx="387349" cy="7035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3B99309C-C10B-4A76-81D5-634BDBCA4A79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1721539" y="5033507"/>
            <a:ext cx="387350" cy="3483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364C087A-4E36-44AA-9956-516C24340F33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1721539" y="5381846"/>
            <a:ext cx="387349" cy="20641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B6A7334-7A62-45AA-B36B-640DA17BAFBB}"/>
              </a:ext>
            </a:extLst>
          </p:cNvPr>
          <p:cNvCxnSpPr>
            <a:stCxn id="12" idx="3"/>
            <a:endCxn id="23" idx="1"/>
          </p:cNvCxnSpPr>
          <p:nvPr/>
        </p:nvCxnSpPr>
        <p:spPr>
          <a:xfrm>
            <a:off x="3781424" y="5588264"/>
            <a:ext cx="34676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11F9EE8-662F-46A0-AF82-2526C39CAB08}"/>
              </a:ext>
            </a:extLst>
          </p:cNvPr>
          <p:cNvCxnSpPr>
            <a:cxnSpLocks/>
          </p:cNvCxnSpPr>
          <p:nvPr/>
        </p:nvCxnSpPr>
        <p:spPr>
          <a:xfrm>
            <a:off x="6096000" y="866775"/>
            <a:ext cx="19050" cy="58388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BE20EDF-6533-4BBE-95D6-0ABC88D961F8}"/>
              </a:ext>
            </a:extLst>
          </p:cNvPr>
          <p:cNvSpPr txBox="1"/>
          <p:nvPr/>
        </p:nvSpPr>
        <p:spPr>
          <a:xfrm>
            <a:off x="6096001" y="986046"/>
            <a:ext cx="603717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126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조의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2(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구체적 행위의 </a:t>
            </a:r>
            <a:r>
              <a:rPr lang="ko-KR" altLang="en-US" sz="1200" b="1" dirty="0" err="1">
                <a:solidFill>
                  <a:schemeClr val="accent1"/>
                </a:solidFill>
                <a:latin typeface="+mn-ea"/>
              </a:rPr>
              <a:t>내용ㆍ방식ㆍ형태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 제시 의무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)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특허권 또는 전용실시권 침해소송에서 특허권자 또는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전용실시권자가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주장하는 침해행위의 구체적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부인하는 당사자는 자기의 구체적 행위의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제시하여야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법원은 당사자가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항에도 불구하고 자기의 구체적 행위의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제시할 수 없는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정당한 이유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가 있다고 주장하는 경우에는 그 주장의 당부를 판단하기 위하여 그 당사자에게 자료의 제출을 명할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 자료의 소지자가 그 자료의 제출을 거절할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정당한 이유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가 있으면 그러하지 아니하다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항에 따른 자료제출명령에 관하여는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132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 및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항을 준용한다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 경우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132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 중 “침해의 증명 또는 손해액의 산정에 반드시 필요한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때”를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“구체적 행위의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제시할 수 없는 정당한 이유의 유무 판단에 반드시 필요한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때”로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당사자가 정당한 이유 없이 자기의 구체적 행위의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제시하지 않는 경우에는 법원은 특허권자 또는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전용실시권자가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주장하는 침해행위의 구체적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진실한 것으로 인정할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36651AF-0B68-486A-BE26-1B5F6235EDAC}"/>
              </a:ext>
            </a:extLst>
          </p:cNvPr>
          <p:cNvCxnSpPr>
            <a:cxnSpLocks/>
          </p:cNvCxnSpPr>
          <p:nvPr/>
        </p:nvCxnSpPr>
        <p:spPr>
          <a:xfrm>
            <a:off x="6115050" y="3886040"/>
            <a:ext cx="3493817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B51D7D5-372F-4F73-8EB1-0F9C7E5096A9}"/>
              </a:ext>
            </a:extLst>
          </p:cNvPr>
          <p:cNvSpPr txBox="1"/>
          <p:nvPr/>
        </p:nvSpPr>
        <p:spPr>
          <a:xfrm>
            <a:off x="9341224" y="4935972"/>
            <a:ext cx="2565026" cy="44587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accent4"/>
                </a:solidFill>
              </a:rPr>
              <a:t>구체적 행위의 </a:t>
            </a:r>
            <a:r>
              <a:rPr lang="ko-KR" altLang="en-US" sz="1400" dirty="0" err="1">
                <a:solidFill>
                  <a:schemeClr val="accent4"/>
                </a:solidFill>
              </a:rPr>
              <a:t>내용ㆍ방식ㆍ형태</a:t>
            </a:r>
            <a:r>
              <a:rPr lang="ko-KR" altLang="en-US" sz="1400" dirty="0">
                <a:solidFill>
                  <a:schemeClr val="accent4"/>
                </a:solidFill>
              </a:rPr>
              <a:t> 제시 의무</a:t>
            </a:r>
            <a:r>
              <a:rPr lang="en-US" altLang="ko-KR" sz="1400" dirty="0">
                <a:solidFill>
                  <a:schemeClr val="accent4"/>
                </a:solidFill>
              </a:rPr>
              <a:t>(</a:t>
            </a:r>
            <a:r>
              <a:rPr lang="ko-KR" altLang="en-US" sz="1400" dirty="0">
                <a:solidFill>
                  <a:schemeClr val="accent4"/>
                </a:solidFill>
              </a:rPr>
              <a:t>제</a:t>
            </a:r>
            <a:r>
              <a:rPr lang="en-US" altLang="ko-KR" sz="1400" dirty="0">
                <a:solidFill>
                  <a:schemeClr val="accent4"/>
                </a:solidFill>
              </a:rPr>
              <a:t>126</a:t>
            </a:r>
            <a:r>
              <a:rPr lang="ko-KR" altLang="en-US" sz="1400" dirty="0">
                <a:solidFill>
                  <a:schemeClr val="accent4"/>
                </a:solidFill>
              </a:rPr>
              <a:t>조의</a:t>
            </a:r>
            <a:r>
              <a:rPr lang="en-US" altLang="ko-KR" sz="1400" dirty="0">
                <a:solidFill>
                  <a:schemeClr val="accent4"/>
                </a:solidFill>
              </a:rPr>
              <a:t>2)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624D51-A32F-444C-B4E1-49FDCA0CC5DF}"/>
              </a:ext>
            </a:extLst>
          </p:cNvPr>
          <p:cNvSpPr txBox="1"/>
          <p:nvPr/>
        </p:nvSpPr>
        <p:spPr>
          <a:xfrm>
            <a:off x="6791325" y="4277026"/>
            <a:ext cx="204787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행위 </a:t>
            </a:r>
            <a:r>
              <a:rPr lang="ko-KR" altLang="en-US" sz="1400" dirty="0" err="1"/>
              <a:t>내용ㆍ방식ㆍ형태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algn="ctr"/>
            <a:r>
              <a:rPr lang="ko-KR" altLang="en-US" sz="1400" dirty="0"/>
              <a:t>제시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28E04B-7D96-4D34-91F4-18BBD8DD8060}"/>
              </a:ext>
            </a:extLst>
          </p:cNvPr>
          <p:cNvSpPr txBox="1"/>
          <p:nvPr/>
        </p:nvSpPr>
        <p:spPr>
          <a:xfrm>
            <a:off x="6791324" y="4806708"/>
            <a:ext cx="204787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자료제출명령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0CFC7D-5185-45F9-8B44-BE2E6DC2168C}"/>
              </a:ext>
            </a:extLst>
          </p:cNvPr>
          <p:cNvSpPr txBox="1"/>
          <p:nvPr/>
        </p:nvSpPr>
        <p:spPr>
          <a:xfrm>
            <a:off x="6791323" y="5361465"/>
            <a:ext cx="204787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정당한 이유 및 영업비밀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30AED1-DF7A-44A6-BF62-92030A4ECDF4}"/>
              </a:ext>
            </a:extLst>
          </p:cNvPr>
          <p:cNvSpPr txBox="1"/>
          <p:nvPr/>
        </p:nvSpPr>
        <p:spPr>
          <a:xfrm>
            <a:off x="6791323" y="5918580"/>
            <a:ext cx="2047876" cy="4021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제재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4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FB8DC235-38B1-4F15-82C4-25497918AF94}"/>
              </a:ext>
            </a:extLst>
          </p:cNvPr>
          <p:cNvCxnSpPr>
            <a:cxnSpLocks/>
            <a:stCxn id="47" idx="1"/>
            <a:endCxn id="48" idx="3"/>
          </p:cNvCxnSpPr>
          <p:nvPr/>
        </p:nvCxnSpPr>
        <p:spPr>
          <a:xfrm rot="10800000">
            <a:off x="8839202" y="4499963"/>
            <a:ext cx="502023" cy="65894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509B0B7F-9A09-4602-B005-A5C0348C07E6}"/>
              </a:ext>
            </a:extLst>
          </p:cNvPr>
          <p:cNvCxnSpPr>
            <a:cxnSpLocks/>
            <a:stCxn id="47" idx="1"/>
            <a:endCxn id="51" idx="3"/>
          </p:cNvCxnSpPr>
          <p:nvPr/>
        </p:nvCxnSpPr>
        <p:spPr>
          <a:xfrm rot="10800000" flipV="1">
            <a:off x="8839200" y="5158909"/>
            <a:ext cx="502025" cy="96075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B88D09D8-E219-44C4-BCD8-0E2D026BADD2}"/>
              </a:ext>
            </a:extLst>
          </p:cNvPr>
          <p:cNvCxnSpPr>
            <a:cxnSpLocks/>
            <a:stCxn id="47" idx="1"/>
            <a:endCxn id="49" idx="3"/>
          </p:cNvCxnSpPr>
          <p:nvPr/>
        </p:nvCxnSpPr>
        <p:spPr>
          <a:xfrm rot="10800000">
            <a:off x="8839200" y="5029645"/>
            <a:ext cx="502024" cy="12926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D3AA9864-66DB-4C6A-8F35-34D7E70B3984}"/>
              </a:ext>
            </a:extLst>
          </p:cNvPr>
          <p:cNvCxnSpPr>
            <a:cxnSpLocks/>
            <a:stCxn id="47" idx="1"/>
            <a:endCxn id="50" idx="3"/>
          </p:cNvCxnSpPr>
          <p:nvPr/>
        </p:nvCxnSpPr>
        <p:spPr>
          <a:xfrm rot="10800000" flipV="1">
            <a:off x="8839200" y="5158908"/>
            <a:ext cx="502025" cy="42549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694B093-E88D-48DE-8035-6B9D03CBB370}"/>
              </a:ext>
            </a:extLst>
          </p:cNvPr>
          <p:cNvSpPr txBox="1"/>
          <p:nvPr/>
        </p:nvSpPr>
        <p:spPr>
          <a:xfrm>
            <a:off x="2108888" y="6371171"/>
            <a:ext cx="1672536" cy="4021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제재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5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41A6DCB3-4F73-42AF-BF01-23D5D03A452A}"/>
              </a:ext>
            </a:extLst>
          </p:cNvPr>
          <p:cNvCxnSpPr>
            <a:stCxn id="8" idx="3"/>
            <a:endCxn id="85" idx="1"/>
          </p:cNvCxnSpPr>
          <p:nvPr/>
        </p:nvCxnSpPr>
        <p:spPr>
          <a:xfrm>
            <a:off x="1721539" y="5381846"/>
            <a:ext cx="387349" cy="11904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47BA823-5BEC-47EC-BB7D-C072D541B182}"/>
              </a:ext>
            </a:extLst>
          </p:cNvPr>
          <p:cNvCxnSpPr>
            <a:stCxn id="10" idx="3"/>
            <a:endCxn id="49" idx="1"/>
          </p:cNvCxnSpPr>
          <p:nvPr/>
        </p:nvCxnSpPr>
        <p:spPr>
          <a:xfrm>
            <a:off x="3781426" y="4503825"/>
            <a:ext cx="3009898" cy="52582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8AFBA2E9-99C2-4726-AC31-B1C1503A5E2F}"/>
              </a:ext>
            </a:extLst>
          </p:cNvPr>
          <p:cNvCxnSpPr>
            <a:cxnSpLocks/>
            <a:stCxn id="11" idx="3"/>
            <a:endCxn id="50" idx="1"/>
          </p:cNvCxnSpPr>
          <p:nvPr/>
        </p:nvCxnSpPr>
        <p:spPr>
          <a:xfrm>
            <a:off x="3781425" y="5033507"/>
            <a:ext cx="3009898" cy="55089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DF7B41CB-BCB4-4940-8921-15A515F2A5C8}"/>
              </a:ext>
            </a:extLst>
          </p:cNvPr>
          <p:cNvCxnSpPr>
            <a:cxnSpLocks/>
            <a:stCxn id="12" idx="3"/>
            <a:endCxn id="50" idx="1"/>
          </p:cNvCxnSpPr>
          <p:nvPr/>
        </p:nvCxnSpPr>
        <p:spPr>
          <a:xfrm flipV="1">
            <a:off x="3781424" y="5584402"/>
            <a:ext cx="3009899" cy="386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E1501C82-0168-4EBC-8E59-B50311C43F6A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3781426" y="6094406"/>
            <a:ext cx="3009897" cy="2525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59247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225</a:t>
            </a:r>
            <a:r>
              <a:rPr lang="ko-KR" altLang="en-US" sz="2000" dirty="0"/>
              <a:t>조</a:t>
            </a:r>
            <a:r>
              <a:rPr lang="en-US" altLang="ko-KR" sz="2000" dirty="0"/>
              <a:t>~</a:t>
            </a:r>
            <a:r>
              <a:rPr lang="ko-KR" altLang="en-US" sz="2000" dirty="0"/>
              <a:t>제</a:t>
            </a:r>
            <a:r>
              <a:rPr lang="en-US" altLang="ko-KR" sz="2000" dirty="0"/>
              <a:t>232</a:t>
            </a:r>
            <a:r>
              <a:rPr lang="ko-KR" altLang="en-US" sz="2000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벌칙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400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0741BD5-FFB6-4265-9F20-A44F9D2E9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35808"/>
              </p:ext>
            </p:extLst>
          </p:nvPr>
        </p:nvGraphicFramePr>
        <p:xfrm>
          <a:off x="349624" y="990869"/>
          <a:ext cx="11525895" cy="520404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9105">
                  <a:extLst>
                    <a:ext uri="{9D8B030D-6E8A-4147-A177-3AD203B41FA5}">
                      <a16:colId xmlns:a16="http://schemas.microsoft.com/office/drawing/2014/main" val="403048828"/>
                    </a:ext>
                  </a:extLst>
                </a:gridCol>
                <a:gridCol w="3814752">
                  <a:extLst>
                    <a:ext uri="{9D8B030D-6E8A-4147-A177-3AD203B41FA5}">
                      <a16:colId xmlns:a16="http://schemas.microsoft.com/office/drawing/2014/main" val="337503801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600250988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794633405"/>
                    </a:ext>
                  </a:extLst>
                </a:gridCol>
                <a:gridCol w="698808">
                  <a:extLst>
                    <a:ext uri="{9D8B030D-6E8A-4147-A177-3AD203B41FA5}">
                      <a16:colId xmlns:a16="http://schemas.microsoft.com/office/drawing/2014/main" val="231912993"/>
                    </a:ext>
                  </a:extLst>
                </a:gridCol>
                <a:gridCol w="698808">
                  <a:extLst>
                    <a:ext uri="{9D8B030D-6E8A-4147-A177-3AD203B41FA5}">
                      <a16:colId xmlns:a16="http://schemas.microsoft.com/office/drawing/2014/main" val="3431876037"/>
                    </a:ext>
                  </a:extLst>
                </a:gridCol>
                <a:gridCol w="1188493">
                  <a:extLst>
                    <a:ext uri="{9D8B030D-6E8A-4147-A177-3AD203B41FA5}">
                      <a16:colId xmlns:a16="http://schemas.microsoft.com/office/drawing/2014/main" val="661053040"/>
                    </a:ext>
                  </a:extLst>
                </a:gridCol>
                <a:gridCol w="1188493">
                  <a:extLst>
                    <a:ext uri="{9D8B030D-6E8A-4147-A177-3AD203B41FA5}">
                      <a16:colId xmlns:a16="http://schemas.microsoft.com/office/drawing/2014/main" val="1534238529"/>
                    </a:ext>
                  </a:extLst>
                </a:gridCol>
              </a:tblGrid>
              <a:tr h="15874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</a:rPr>
                        <a:t>죄 명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</a:rPr>
                        <a:t>구성요건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706" marB="14706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처 벌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반의사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불벌죄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친고죄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err="1">
                          <a:solidFill>
                            <a:srgbClr val="000000"/>
                          </a:solidFill>
                          <a:effectLst/>
                        </a:rPr>
                        <a:t>양벌규정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비 고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942655"/>
                  </a:ext>
                </a:extLst>
              </a:tr>
              <a:tr h="1587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징역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금고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</a:rPr>
                        <a:t>벌금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675165"/>
                  </a:ext>
                </a:extLst>
              </a:tr>
              <a:tr h="2953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침해죄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225)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특허권 또는 전용실시권을 침해한자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7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징역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억원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이하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○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○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몰수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*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ㆍ교부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058062"/>
                  </a:ext>
                </a:extLst>
              </a:tr>
              <a:tr h="56860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비밀누설죄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226, 226</a:t>
                      </a: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의</a:t>
                      </a: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2)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지식재산처 또는 특허심판원 소속 직원이거나 직원 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전문기관 또는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전담기관 의 임직원이거나 임직원이었던 사람 포함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이었던 사람이 특허출원 중인 발명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국제출원 중인 발명을 포함한다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에 관하여 직무상 알게 된 비밀을 누설하거나 도용한 경우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징역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천만원이하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578705"/>
                  </a:ext>
                </a:extLst>
              </a:tr>
              <a:tr h="4319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전문심리위원 또는 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전문심리위원이었던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자가 그 직무수행 중에 알게 된 다른 사람의 비밀을 누설하는 경우*</a:t>
                      </a:r>
                      <a:endParaRPr lang="ko-KR" altLang="en-US" sz="1200" kern="0" spc="-6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징역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/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금고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이하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24476"/>
                  </a:ext>
                </a:extLst>
              </a:tr>
              <a:tr h="7052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위증죄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227)</a:t>
                      </a:r>
                      <a:endParaRPr lang="ko-KR" altLang="en-US" sz="1200" kern="0" spc="-1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이 법에 따라 선서한 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증인ㆍ감정인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또는 통역인이 특허심판원에 대하여 허위의 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진술ㆍ감정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또는 통역을 한 경우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 징역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천만원이하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특허취소신청에 대한 결정 또는 심결 확정전 자수시 감경</a:t>
                      </a: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․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면제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656776"/>
                  </a:ext>
                </a:extLst>
              </a:tr>
              <a:tr h="2953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허위표시죄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228)</a:t>
                      </a:r>
                      <a:endParaRPr lang="ko-KR" altLang="en-US" sz="1200" kern="0" spc="-1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허위표시의 금지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224)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에 위반한 자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 징역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천만원이하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○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827514"/>
                  </a:ext>
                </a:extLst>
              </a:tr>
              <a:tr h="2953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거짓행위죄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229)</a:t>
                      </a:r>
                      <a:endParaRPr lang="ko-KR" altLang="en-US" sz="1200" kern="0" spc="-1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거짓이나 그 밖의 부정한 행위로써 특허</a:t>
                      </a: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특허권의 존속기간의 연장등록 특허취소신청에 대한 결정 또는 심결을 받은 자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징역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천만원이하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○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496495"/>
                  </a:ext>
                </a:extLst>
              </a:tr>
              <a:tr h="4319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비밀유지명령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위반죄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229</a:t>
                      </a: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의</a:t>
                      </a: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2)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국내외에서 정당한 사유 없이 제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224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 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항에 따른 비밀유지명령을 위반한 자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징역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 이하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○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3008"/>
                  </a:ext>
                </a:extLst>
              </a:tr>
              <a:tr h="7238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외국에의 특허출원 금지</a:t>
                      </a:r>
                      <a:r>
                        <a:rPr lang="en-US" altLang="ko-KR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endParaRPr lang="ko-KR" altLang="en-US" sz="1200" kern="0" spc="-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비밀취급명령 </a:t>
                      </a:r>
                      <a:r>
                        <a:rPr lang="ko-KR" altLang="en-US" sz="1200" kern="0" spc="-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위반죄</a:t>
                      </a:r>
                      <a:endParaRPr lang="ko-KR" altLang="en-US" sz="1200" kern="0" spc="-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altLang="ko-KR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229</a:t>
                      </a:r>
                      <a:r>
                        <a:rPr lang="ko-KR" altLang="en-US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3)</a:t>
                      </a:r>
                      <a:endParaRPr lang="ko-KR" altLang="en-US" sz="1200" kern="0" spc="-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41</a:t>
                      </a: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항에 따른 외국에의 특허출원 금지 또는 비밀취급명령을 위반한 자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altLang="ko-KR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년이하</a:t>
                      </a:r>
                      <a:endParaRPr lang="ko-KR" altLang="en-US" sz="12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징역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altLang="ko-KR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천만원</a:t>
                      </a:r>
                    </a:p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이하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45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7FDAA39-71A7-4107-ACE9-EBAAC49FDFC7}"/>
              </a:ext>
            </a:extLst>
          </p:cNvPr>
          <p:cNvSpPr txBox="1"/>
          <p:nvPr/>
        </p:nvSpPr>
        <p:spPr>
          <a:xfrm>
            <a:off x="438410" y="6217211"/>
            <a:ext cx="33586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* 특허법은 필요적 몰수</a:t>
            </a:r>
            <a:r>
              <a:rPr lang="en-US" altLang="ko-KR" sz="1100" dirty="0"/>
              <a:t>, </a:t>
            </a:r>
            <a:r>
              <a:rPr lang="ko-KR" altLang="en-US" sz="1100" dirty="0"/>
              <a:t>실용신안법은 임의적 몰수</a:t>
            </a:r>
            <a:endParaRPr lang="en-US" altLang="ko-KR" sz="1100" dirty="0"/>
          </a:p>
          <a:p>
            <a:r>
              <a:rPr lang="ko-KR" altLang="en-US" sz="1100" dirty="0"/>
              <a:t>** 실용신안법은 전문심리위원에 대한 벌칙 규정이 없음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96665382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228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납골함 </a:t>
            </a:r>
            <a:r>
              <a:rPr lang="ko-KR" altLang="en-US" dirty="0" err="1"/>
              <a:t>안치대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401</a:t>
            </a:fld>
            <a:endParaRPr lang="ko-KR" altLang="en-US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498123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2015. 8. 13.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2013</a:t>
            </a:r>
            <a:r>
              <a:rPr lang="ko-KR" altLang="en-US" sz="1400" dirty="0"/>
              <a:t>도</a:t>
            </a:r>
            <a:r>
              <a:rPr lang="en-US" altLang="ko-KR" sz="1400" dirty="0"/>
              <a:t>10265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특허법 위반</a:t>
            </a:r>
            <a:r>
              <a:rPr lang="en-US" altLang="ko-KR" sz="1400" dirty="0"/>
              <a:t>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80682" y="1335588"/>
            <a:ext cx="11949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특허법 제</a:t>
            </a:r>
            <a:r>
              <a:rPr lang="en-US" altLang="ko-KR" sz="1200" dirty="0"/>
              <a:t>224</a:t>
            </a:r>
            <a:r>
              <a:rPr lang="ko-KR" altLang="en-US" sz="1200" dirty="0"/>
              <a:t>조 제</a:t>
            </a:r>
            <a:r>
              <a:rPr lang="en-US" altLang="ko-KR" sz="1200" dirty="0"/>
              <a:t>3</a:t>
            </a:r>
            <a:r>
              <a:rPr lang="ko-KR" altLang="en-US" sz="1200" dirty="0"/>
              <a:t>호는 같은 조 제</a:t>
            </a:r>
            <a:r>
              <a:rPr lang="en-US" altLang="ko-KR" sz="1200" dirty="0"/>
              <a:t>1</a:t>
            </a:r>
            <a:r>
              <a:rPr lang="ko-KR" altLang="en-US" sz="1200" dirty="0"/>
              <a:t>호의 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것이 아닌 물건</a:t>
            </a:r>
            <a:r>
              <a:rPr lang="en-US" altLang="ko-KR" sz="1200" dirty="0"/>
              <a:t>, </a:t>
            </a:r>
            <a:r>
              <a:rPr lang="ko-KR" altLang="en-US" sz="1200" dirty="0"/>
              <a:t>특허출원 중이 아닌 물건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것이 아닌 방법이나 특허출원 중이 아닌 방법에 의하여 생산한 물건을 생산</a:t>
            </a:r>
            <a:r>
              <a:rPr lang="en-US" altLang="ko-KR" sz="1200" dirty="0"/>
              <a:t>․</a:t>
            </a:r>
            <a:r>
              <a:rPr lang="ko-KR" altLang="en-US" sz="1200" dirty="0"/>
              <a:t>사용</a:t>
            </a:r>
            <a:r>
              <a:rPr lang="en-US" altLang="ko-KR" sz="1200" dirty="0"/>
              <a:t>․</a:t>
            </a:r>
            <a:r>
              <a:rPr lang="ko-KR" altLang="en-US" sz="1200" dirty="0"/>
              <a:t>양도하기 위하여 광고 등에 그 물건이 특허나 </a:t>
            </a:r>
            <a:r>
              <a:rPr lang="ko-KR" altLang="en-US" sz="1200" dirty="0" err="1"/>
              <a:t>특허출원된</a:t>
            </a:r>
            <a:r>
              <a:rPr lang="ko-KR" altLang="en-US" sz="1200" dirty="0"/>
              <a:t> 것 또는 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방법이나 특허출원 중인 방법에 따라 생산한 것으로 표시하거나 이와 혼동하기 쉬운 표시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것 등으로 </a:t>
            </a:r>
            <a:r>
              <a:rPr lang="ko-KR" altLang="en-US" sz="1200" dirty="0" err="1"/>
              <a:t>표시’라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를 하는 행위를 금지하고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위 규정의 취지는 </a:t>
            </a:r>
            <a:r>
              <a:rPr lang="ko-KR" altLang="en-US" sz="1200" dirty="0">
                <a:highlight>
                  <a:srgbClr val="FFFF00"/>
                </a:highlight>
              </a:rPr>
              <a:t>특허로 인한 거래상의 유리함과 특허에 관한 공중의 신뢰를 악용하여 공중을 </a:t>
            </a:r>
            <a:r>
              <a:rPr lang="ko-KR" altLang="en-US" sz="1200" dirty="0" err="1">
                <a:highlight>
                  <a:srgbClr val="FFFF00"/>
                </a:highlight>
              </a:rPr>
              <a:t>오인시키는</a:t>
            </a:r>
            <a:r>
              <a:rPr lang="ko-KR" altLang="en-US" sz="1200" dirty="0">
                <a:highlight>
                  <a:srgbClr val="FFFF00"/>
                </a:highlight>
              </a:rPr>
              <a:t> 행위를 처벌함으로써 거래의 안전을 보호</a:t>
            </a:r>
            <a:r>
              <a:rPr lang="ko-KR" altLang="en-US" sz="1200" dirty="0"/>
              <a:t>하는 데에 있다고 할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취지에 비추어 볼 때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것 등으로 표시한 물건의 기술적 구성이 청구범위에 기재된 발명의 구성을 일부 변경한 것이라고 하더라도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그러한 변경이 해당 기술분야에서 통상의 지식을 가진 사람</a:t>
            </a:r>
            <a:r>
              <a:rPr lang="en-US" altLang="ko-KR" sz="1200" dirty="0">
                <a:highlight>
                  <a:srgbClr val="FFFF00"/>
                </a:highlight>
              </a:rPr>
              <a:t>(</a:t>
            </a:r>
            <a:r>
              <a:rPr lang="ko-KR" altLang="en-US" sz="1200" dirty="0">
                <a:highlight>
                  <a:srgbClr val="FFFF00"/>
                </a:highlight>
              </a:rPr>
              <a:t>이하 ‘통상의 </a:t>
            </a:r>
            <a:r>
              <a:rPr lang="ko-KR" altLang="en-US" sz="1200" dirty="0" err="1">
                <a:highlight>
                  <a:srgbClr val="FFFF00"/>
                </a:highlight>
              </a:rPr>
              <a:t>기술자’라고</a:t>
            </a:r>
            <a:r>
              <a:rPr lang="ko-KR" altLang="en-US" sz="1200" dirty="0">
                <a:highlight>
                  <a:srgbClr val="FFFF00"/>
                </a:highlight>
              </a:rPr>
              <a:t> 한다</a:t>
            </a:r>
            <a:r>
              <a:rPr lang="en-US" altLang="ko-KR" sz="1200" dirty="0">
                <a:highlight>
                  <a:srgbClr val="FFFF00"/>
                </a:highlight>
              </a:rPr>
              <a:t>)</a:t>
            </a:r>
            <a:r>
              <a:rPr lang="ko-KR" altLang="en-US" sz="1200" dirty="0">
                <a:highlight>
                  <a:srgbClr val="FFFF00"/>
                </a:highlight>
              </a:rPr>
              <a:t>이 보통 채용하는 정도로 기술적 구성을 부가</a:t>
            </a:r>
            <a:r>
              <a:rPr lang="en-US" altLang="ko-KR" sz="1200" dirty="0">
                <a:highlight>
                  <a:srgbClr val="FFFF00"/>
                </a:highlight>
              </a:rPr>
              <a:t>․</a:t>
            </a:r>
            <a:r>
              <a:rPr lang="ko-KR" altLang="en-US" sz="1200" dirty="0">
                <a:highlight>
                  <a:srgbClr val="FFFF00"/>
                </a:highlight>
              </a:rPr>
              <a:t>삭제</a:t>
            </a:r>
            <a:r>
              <a:rPr lang="en-US" altLang="ko-KR" sz="1200" dirty="0">
                <a:highlight>
                  <a:srgbClr val="FFFF00"/>
                </a:highlight>
              </a:rPr>
              <a:t>․</a:t>
            </a:r>
            <a:r>
              <a:rPr lang="ko-KR" altLang="en-US" sz="1200" dirty="0">
                <a:highlight>
                  <a:srgbClr val="FFFF00"/>
                </a:highlight>
              </a:rPr>
              <a:t>변경한 것에 지나지 아니하고 그로 인하여 발명의 효과에 특별한 차이가 생기지도 아니하는 등 공중을 </a:t>
            </a:r>
            <a:r>
              <a:rPr lang="ko-KR" altLang="en-US" sz="1200" dirty="0" err="1">
                <a:highlight>
                  <a:srgbClr val="FFFF00"/>
                </a:highlight>
              </a:rPr>
              <a:t>오인시킬</a:t>
            </a:r>
            <a:r>
              <a:rPr lang="ko-KR" altLang="en-US" sz="1200" dirty="0">
                <a:highlight>
                  <a:srgbClr val="FFFF00"/>
                </a:highlight>
              </a:rPr>
              <a:t> 정도에 이르지 아니한 경우</a:t>
            </a:r>
            <a:r>
              <a:rPr lang="ko-KR" altLang="en-US" sz="1200" dirty="0"/>
              <a:t>에는</a:t>
            </a:r>
            <a:r>
              <a:rPr lang="en-US" altLang="ko-KR" sz="1200" dirty="0"/>
              <a:t>, </a:t>
            </a:r>
            <a:r>
              <a:rPr lang="ko-KR" altLang="en-US" sz="1200" dirty="0"/>
              <a:t>위 물건에 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것 등으로 표시를 하는 행위가 위 규정에서 금지하는 표시행위에 해당한다고 볼 수 없다</a:t>
            </a:r>
            <a:r>
              <a:rPr lang="en-US" altLang="ko-KR" sz="1200" dirty="0"/>
              <a:t>.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B7D8B57-08E9-4752-8D90-0D1D0602B6B2}"/>
              </a:ext>
            </a:extLst>
          </p:cNvPr>
          <p:cNvCxnSpPr/>
          <p:nvPr/>
        </p:nvCxnSpPr>
        <p:spPr>
          <a:xfrm>
            <a:off x="0" y="258147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21701B8-7B79-9EA8-4BA6-F40252C22D61}"/>
              </a:ext>
            </a:extLst>
          </p:cNvPr>
          <p:cNvSpPr txBox="1"/>
          <p:nvPr/>
        </p:nvSpPr>
        <p:spPr>
          <a:xfrm>
            <a:off x="197225" y="2732690"/>
            <a:ext cx="2710883" cy="38754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/>
              <a:t>[</a:t>
            </a:r>
            <a:r>
              <a:rPr lang="ko-KR" altLang="en-US" sz="1100" dirty="0"/>
              <a:t>청구항 </a:t>
            </a:r>
            <a:r>
              <a:rPr lang="en-US" altLang="ko-KR" sz="1100" dirty="0"/>
              <a:t>9]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일면이 개방된 수용공간부로 유골이 넣어진 납골함을 안치한 후</a:t>
            </a:r>
            <a:r>
              <a:rPr lang="en-US" altLang="ko-KR" sz="1100" dirty="0"/>
              <a:t>, </a:t>
            </a:r>
            <a:r>
              <a:rPr lang="ko-KR" altLang="en-US" sz="1100" dirty="0"/>
              <a:t>위 수용공간부의 전면으로 그 수용공간부와 대응되는 개폐판이 결합되는 본체로 구성된 납골함 안치대에 있어서</a:t>
            </a:r>
            <a:r>
              <a:rPr lang="en-US" altLang="ko-KR" sz="11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위 </a:t>
            </a:r>
            <a:r>
              <a:rPr lang="ko-KR" altLang="en-US" sz="1100" dirty="0" err="1">
                <a:solidFill>
                  <a:srgbClr val="FF0000"/>
                </a:solidFill>
              </a:rPr>
              <a:t>개폐판</a:t>
            </a:r>
            <a:r>
              <a:rPr lang="en-US" altLang="ko-KR" sz="1100" dirty="0">
                <a:solidFill>
                  <a:srgbClr val="FF0000"/>
                </a:solidFill>
              </a:rPr>
              <a:t>(120a)</a:t>
            </a:r>
            <a:r>
              <a:rPr lang="en-US" altLang="ko-KR" sz="1100" dirty="0"/>
              <a:t> </a:t>
            </a:r>
            <a:r>
              <a:rPr lang="ko-KR" altLang="en-US" sz="1100" dirty="0"/>
              <a:t>과 </a:t>
            </a:r>
            <a:r>
              <a:rPr lang="ko-KR" altLang="en-US" sz="1100" dirty="0">
                <a:solidFill>
                  <a:srgbClr val="FF0000"/>
                </a:solidFill>
              </a:rPr>
              <a:t>수용공간부</a:t>
            </a:r>
            <a:r>
              <a:rPr lang="en-US" altLang="ko-KR" sz="1100" dirty="0">
                <a:solidFill>
                  <a:srgbClr val="FF0000"/>
                </a:solidFill>
              </a:rPr>
              <a:t>(110a)</a:t>
            </a:r>
            <a:r>
              <a:rPr lang="ko-KR" altLang="en-US" sz="1100" dirty="0"/>
              <a:t>의 테두리 </a:t>
            </a:r>
            <a:r>
              <a:rPr lang="ko-KR" altLang="en-US" sz="1100" dirty="0">
                <a:solidFill>
                  <a:srgbClr val="FF0000"/>
                </a:solidFill>
              </a:rPr>
              <a:t>본체</a:t>
            </a:r>
            <a:r>
              <a:rPr lang="en-US" altLang="ko-KR" sz="1100" dirty="0">
                <a:solidFill>
                  <a:srgbClr val="FF0000"/>
                </a:solidFill>
              </a:rPr>
              <a:t>(100a)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/>
              <a:t>사이에는 </a:t>
            </a:r>
            <a:r>
              <a:rPr lang="ko-KR" altLang="en-US" sz="1100" dirty="0">
                <a:solidFill>
                  <a:srgbClr val="FF0000"/>
                </a:solidFill>
              </a:rPr>
              <a:t>기밀부재</a:t>
            </a:r>
            <a:r>
              <a:rPr lang="en-US" altLang="ko-KR" sz="1100" dirty="0">
                <a:solidFill>
                  <a:srgbClr val="FF0000"/>
                </a:solidFill>
              </a:rPr>
              <a:t>(10)</a:t>
            </a:r>
            <a:r>
              <a:rPr lang="ko-KR" altLang="en-US" sz="1100" dirty="0"/>
              <a:t>를 구비하여 위 개폐판이 볼트에 의해 결합되고</a:t>
            </a:r>
            <a:r>
              <a:rPr lang="en-US" altLang="ko-KR" sz="11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위 수용공간부의 본체 </a:t>
            </a:r>
            <a:r>
              <a:rPr lang="ko-KR" altLang="en-US" sz="1100" dirty="0">
                <a:highlight>
                  <a:srgbClr val="FF00FF"/>
                </a:highlight>
              </a:rPr>
              <a:t>후방면</a:t>
            </a:r>
            <a:r>
              <a:rPr lang="ko-KR" altLang="en-US" sz="1100" dirty="0"/>
              <a:t>에는 그 수용공간부와 통하도록 돌출되게 형성된 </a:t>
            </a:r>
            <a:r>
              <a:rPr lang="ko-KR" altLang="en-US" sz="1100" dirty="0" err="1">
                <a:solidFill>
                  <a:srgbClr val="FF0000"/>
                </a:solidFill>
              </a:rPr>
              <a:t>주입구</a:t>
            </a:r>
            <a:r>
              <a:rPr lang="en-US" altLang="ko-KR" sz="1100" dirty="0">
                <a:solidFill>
                  <a:srgbClr val="FF0000"/>
                </a:solidFill>
              </a:rPr>
              <a:t>(20)</a:t>
            </a:r>
            <a:r>
              <a:rPr lang="ko-KR" altLang="en-US" sz="1100" dirty="0"/>
              <a:t>와</a:t>
            </a:r>
            <a:r>
              <a:rPr lang="en-US" altLang="ko-KR" sz="11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위 주입구에 중앙으로 그 주입구와 통하여 가스가 주입되어 지는 </a:t>
            </a:r>
            <a:r>
              <a:rPr lang="ko-KR" altLang="en-US" sz="1100" dirty="0">
                <a:solidFill>
                  <a:srgbClr val="FF0000"/>
                </a:solidFill>
              </a:rPr>
              <a:t>주입밸브</a:t>
            </a:r>
            <a:r>
              <a:rPr lang="en-US" altLang="ko-KR" sz="1100" dirty="0">
                <a:solidFill>
                  <a:srgbClr val="FF0000"/>
                </a:solidFill>
              </a:rPr>
              <a:t>(40)</a:t>
            </a:r>
            <a:r>
              <a:rPr lang="ko-KR" altLang="en-US" sz="1100" dirty="0"/>
              <a:t>가 결합되는 </a:t>
            </a:r>
            <a:r>
              <a:rPr lang="ko-KR" altLang="en-US" sz="1100" dirty="0">
                <a:solidFill>
                  <a:srgbClr val="FF0000"/>
                </a:solidFill>
              </a:rPr>
              <a:t>장착부재</a:t>
            </a:r>
            <a:r>
              <a:rPr lang="en-US" altLang="ko-KR" sz="1100" dirty="0">
                <a:solidFill>
                  <a:srgbClr val="FF0000"/>
                </a:solidFill>
              </a:rPr>
              <a:t>(30)</a:t>
            </a:r>
            <a:r>
              <a:rPr lang="ko-KR" altLang="en-US" sz="1100" dirty="0"/>
              <a:t>가 장착되는 것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을 특징으로 하는 납골함 </a:t>
            </a:r>
            <a:r>
              <a:rPr lang="ko-KR" altLang="en-US" sz="1100" dirty="0" err="1"/>
              <a:t>안치대</a:t>
            </a:r>
            <a:endParaRPr lang="ko-KR" altLang="en-US" sz="11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6ABC2C9-0010-E332-C853-6E8099B90551}"/>
              </a:ext>
            </a:extLst>
          </p:cNvPr>
          <p:cNvGrpSpPr/>
          <p:nvPr/>
        </p:nvGrpSpPr>
        <p:grpSpPr>
          <a:xfrm>
            <a:off x="2813453" y="2580708"/>
            <a:ext cx="5518465" cy="2897338"/>
            <a:chOff x="3478306" y="3067698"/>
            <a:chExt cx="6028785" cy="353515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8FC7BC0-BED4-F10A-F926-BA27CE6CC2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6311" t="6483" r="6311" b="-216"/>
            <a:stretch/>
          </p:blipFill>
          <p:spPr>
            <a:xfrm>
              <a:off x="3478306" y="3272224"/>
              <a:ext cx="3105583" cy="3330625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32BB3C3-68F0-F470-B606-E95B6F551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7297" y="3370068"/>
              <a:ext cx="2819794" cy="283884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F944BE-B51E-EE01-056C-789A4F8E1026}"/>
                </a:ext>
              </a:extLst>
            </p:cNvPr>
            <p:cNvSpPr txBox="1"/>
            <p:nvPr/>
          </p:nvSpPr>
          <p:spPr>
            <a:xfrm>
              <a:off x="3581714" y="4876800"/>
              <a:ext cx="53091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rgbClr val="FF0000"/>
                  </a:solidFill>
                </a:rPr>
                <a:t>개폐판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95EA05-6716-BE2D-E453-FD9A60F006CE}"/>
                </a:ext>
              </a:extLst>
            </p:cNvPr>
            <p:cNvSpPr txBox="1"/>
            <p:nvPr/>
          </p:nvSpPr>
          <p:spPr>
            <a:xfrm>
              <a:off x="4357307" y="3495675"/>
              <a:ext cx="7617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solidFill>
                    <a:srgbClr val="FF0000"/>
                  </a:solidFill>
                </a:rPr>
                <a:t>수용공간부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5F40DB-DCA2-2BCD-20E8-2274DBF90DAD}"/>
                </a:ext>
              </a:extLst>
            </p:cNvPr>
            <p:cNvSpPr txBox="1"/>
            <p:nvPr/>
          </p:nvSpPr>
          <p:spPr>
            <a:xfrm>
              <a:off x="4823348" y="3067698"/>
              <a:ext cx="4154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0000"/>
                  </a:solidFill>
                </a:rPr>
                <a:t>본체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67C2F7-8E5D-91C0-63AA-98E3F541C52D}"/>
                </a:ext>
              </a:extLst>
            </p:cNvPr>
            <p:cNvSpPr txBox="1"/>
            <p:nvPr/>
          </p:nvSpPr>
          <p:spPr>
            <a:xfrm>
              <a:off x="4357307" y="5013277"/>
              <a:ext cx="6463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0000"/>
                  </a:solidFill>
                </a:rPr>
                <a:t>기밀부재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9A8CEA-F926-6452-5DA2-A412C7E8F0CC}"/>
                </a:ext>
              </a:extLst>
            </p:cNvPr>
            <p:cNvSpPr txBox="1"/>
            <p:nvPr/>
          </p:nvSpPr>
          <p:spPr>
            <a:xfrm>
              <a:off x="7598297" y="3555952"/>
              <a:ext cx="53091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rgbClr val="FF0000"/>
                  </a:solidFill>
                </a:rPr>
                <a:t>주입구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739265-203F-2FF3-FF17-632A742714CF}"/>
                </a:ext>
              </a:extLst>
            </p:cNvPr>
            <p:cNvSpPr txBox="1"/>
            <p:nvPr/>
          </p:nvSpPr>
          <p:spPr>
            <a:xfrm>
              <a:off x="5877144" y="3802173"/>
              <a:ext cx="6463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solidFill>
                    <a:srgbClr val="FF0000"/>
                  </a:solidFill>
                </a:rPr>
                <a:t>주입밸브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378518C-C2FA-294D-D8CC-38F54D40D664}"/>
                </a:ext>
              </a:extLst>
            </p:cNvPr>
            <p:cNvSpPr txBox="1"/>
            <p:nvPr/>
          </p:nvSpPr>
          <p:spPr>
            <a:xfrm>
              <a:off x="5834660" y="4006699"/>
              <a:ext cx="6463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0000"/>
                  </a:solidFill>
                </a:rPr>
                <a:t>장착부재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423F20E-DDEA-8AC2-56F5-E2173912BB74}"/>
              </a:ext>
            </a:extLst>
          </p:cNvPr>
          <p:cNvSpPr txBox="1"/>
          <p:nvPr/>
        </p:nvSpPr>
        <p:spPr>
          <a:xfrm>
            <a:off x="8760012" y="2831699"/>
            <a:ext cx="3234763" cy="24929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⑶ 피고인들이 실제 제조한 물건을 이 사건 제</a:t>
            </a:r>
            <a:r>
              <a:rPr lang="en-US" altLang="ko-KR" sz="1200" dirty="0"/>
              <a:t>9</a:t>
            </a:r>
            <a:r>
              <a:rPr lang="ko-KR" altLang="en-US" sz="1200" dirty="0"/>
              <a:t>항 발명과 대비하여 </a:t>
            </a:r>
            <a:r>
              <a:rPr lang="ko-KR" altLang="en-US" sz="1200" dirty="0">
                <a:highlight>
                  <a:srgbClr val="CCECFF"/>
                </a:highlight>
              </a:rPr>
              <a:t>보면 가스주입구와 주입밸브가 수용공간부 ‘</a:t>
            </a:r>
            <a:r>
              <a:rPr lang="ko-KR" altLang="en-US" sz="1200" dirty="0" err="1">
                <a:highlight>
                  <a:srgbClr val="FF00FF"/>
                </a:highlight>
              </a:rPr>
              <a:t>전방면</a:t>
            </a:r>
            <a:r>
              <a:rPr lang="ko-KR" altLang="en-US" sz="1200" dirty="0" err="1">
                <a:highlight>
                  <a:srgbClr val="CCECFF"/>
                </a:highlight>
              </a:rPr>
              <a:t>’에</a:t>
            </a:r>
            <a:r>
              <a:rPr lang="ko-KR" altLang="en-US" sz="1200" dirty="0">
                <a:highlight>
                  <a:srgbClr val="CCECFF"/>
                </a:highlight>
              </a:rPr>
              <a:t> 형성되어 있다는 점</a:t>
            </a:r>
            <a:r>
              <a:rPr lang="ko-KR" altLang="en-US" sz="1200" dirty="0"/>
              <a:t>에서만 차이가 있고 나머지 구성은 동일하다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⑸ </a:t>
            </a:r>
            <a:r>
              <a:rPr lang="ko-KR" altLang="en-US" sz="1200" dirty="0"/>
              <a:t>이 사건 제</a:t>
            </a:r>
            <a:r>
              <a:rPr lang="en-US" altLang="ko-KR" sz="1200" dirty="0"/>
              <a:t>9</a:t>
            </a:r>
            <a:r>
              <a:rPr lang="ko-KR" altLang="en-US" sz="1200" dirty="0"/>
              <a:t>항 발명의 핵심적인 기술적 과제는 </a:t>
            </a:r>
            <a:r>
              <a:rPr lang="ko-KR" altLang="en-US" sz="1200" dirty="0" err="1"/>
              <a:t>간이한</a:t>
            </a:r>
            <a:r>
              <a:rPr lang="ko-KR" altLang="en-US" sz="1200" dirty="0"/>
              <a:t> 구조로 납골함 보관공간을 진공 또는 </a:t>
            </a:r>
            <a:r>
              <a:rPr lang="ko-KR" altLang="en-US" sz="1200" dirty="0" err="1"/>
              <a:t>고압력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질소충천</a:t>
            </a:r>
            <a:r>
              <a:rPr lang="en-US" altLang="ko-KR" sz="1200" dirty="0"/>
              <a:t>)</a:t>
            </a:r>
            <a:r>
              <a:rPr lang="ko-KR" altLang="en-US" sz="1200" dirty="0"/>
              <a:t> 상태로 유지하여 유골의 부패와 변질을 최소화하는 데에 있고</a:t>
            </a:r>
            <a:r>
              <a:rPr lang="en-US" altLang="ko-KR" sz="1200" dirty="0"/>
              <a:t>, </a:t>
            </a:r>
            <a:r>
              <a:rPr lang="ko-KR" altLang="en-US" sz="1200" dirty="0"/>
              <a:t>가스주입구와 주입밸브의 설치 위치 변경은 통상의 기술자가 보통 채용하는 정도의 기술적 구성의 변경에 불과하며</a:t>
            </a:r>
            <a:r>
              <a:rPr lang="en-US" altLang="ko-KR" sz="1200" dirty="0"/>
              <a:t>, </a:t>
            </a:r>
            <a:r>
              <a:rPr lang="ko-KR" altLang="en-US" sz="1200" dirty="0"/>
              <a:t>그로 인하여 발명의 효과에 특별한 차이가 생기지도 아니한다고 보인다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EFBDF3-98E8-FE18-5FC2-AF7BC52A1A98}"/>
              </a:ext>
            </a:extLst>
          </p:cNvPr>
          <p:cNvSpPr txBox="1"/>
          <p:nvPr/>
        </p:nvSpPr>
        <p:spPr>
          <a:xfrm>
            <a:off x="3033938" y="5532956"/>
            <a:ext cx="90832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허위</a:t>
            </a:r>
            <a:r>
              <a:rPr lang="en-US" altLang="ko-KR" sz="1200" dirty="0"/>
              <a:t>, </a:t>
            </a:r>
            <a:r>
              <a:rPr lang="ko-KR" altLang="en-US" sz="1200" dirty="0"/>
              <a:t>과장광고에 대하여 대법원 </a:t>
            </a:r>
            <a:r>
              <a:rPr lang="en-US" altLang="ko-KR" sz="1200" dirty="0"/>
              <a:t>1993. 8.13.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92</a:t>
            </a:r>
            <a:r>
              <a:rPr lang="ko-KR" altLang="en-US" sz="1200" dirty="0"/>
              <a:t>다</a:t>
            </a:r>
            <a:r>
              <a:rPr lang="en-US" altLang="ko-KR" sz="1200" dirty="0"/>
              <a:t>52665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2008. 10. 23.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2007</a:t>
            </a:r>
            <a:r>
              <a:rPr lang="ko-KR" altLang="en-US" sz="1200" dirty="0"/>
              <a:t>다</a:t>
            </a:r>
            <a:r>
              <a:rPr lang="en-US" altLang="ko-KR" sz="1200" dirty="0"/>
              <a:t>44194 </a:t>
            </a:r>
            <a:r>
              <a:rPr lang="ko-KR" altLang="en-US" sz="1200" dirty="0"/>
              <a:t>판결 등은 “</a:t>
            </a:r>
            <a:r>
              <a:rPr lang="ko-KR" altLang="en-US" sz="1200" dirty="0">
                <a:highlight>
                  <a:srgbClr val="CCECFF"/>
                </a:highlight>
              </a:rPr>
              <a:t>상품의 선전</a:t>
            </a:r>
            <a:r>
              <a:rPr lang="en-US" altLang="ko-KR" sz="1200" dirty="0">
                <a:highlight>
                  <a:srgbClr val="CCECFF"/>
                </a:highlight>
              </a:rPr>
              <a:t>․</a:t>
            </a:r>
            <a:r>
              <a:rPr lang="ko-KR" altLang="en-US" sz="1200" dirty="0">
                <a:highlight>
                  <a:srgbClr val="CCECFF"/>
                </a:highlight>
              </a:rPr>
              <a:t>광고에 있어 다소의 과장이나 허위가 수반되는 것은 그것이 일반 상거래의 관행과 </a:t>
            </a:r>
            <a:r>
              <a:rPr lang="ko-KR" altLang="en-US" sz="1200" dirty="0" err="1">
                <a:highlight>
                  <a:srgbClr val="CCECFF"/>
                </a:highlight>
              </a:rPr>
              <a:t>신의칙에</a:t>
            </a:r>
            <a:r>
              <a:rPr lang="ko-KR" altLang="en-US" sz="1200" dirty="0">
                <a:highlight>
                  <a:srgbClr val="CCECFF"/>
                </a:highlight>
              </a:rPr>
              <a:t> 비추어 </a:t>
            </a:r>
            <a:r>
              <a:rPr lang="ko-KR" altLang="en-US" sz="1200" dirty="0" err="1">
                <a:highlight>
                  <a:srgbClr val="CCECFF"/>
                </a:highlight>
              </a:rPr>
              <a:t>시인될</a:t>
            </a:r>
            <a:r>
              <a:rPr lang="ko-KR" altLang="en-US" sz="1200" dirty="0">
                <a:highlight>
                  <a:srgbClr val="CCECFF"/>
                </a:highlight>
              </a:rPr>
              <a:t> 수 있는 한 기망성이 결여된다고 </a:t>
            </a:r>
            <a:r>
              <a:rPr lang="ko-KR" altLang="en-US" sz="1200" dirty="0" err="1">
                <a:highlight>
                  <a:srgbClr val="CCECFF"/>
                </a:highlight>
              </a:rPr>
              <a:t>하겠으나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거래에 있어서 중요한 사항에 관하여 구체적 사실을 신의성실의 의무에 비추어 </a:t>
            </a:r>
            <a:r>
              <a:rPr lang="ko-KR" altLang="en-US" sz="1200" dirty="0" err="1">
                <a:highlight>
                  <a:srgbClr val="CCECFF"/>
                </a:highlight>
              </a:rPr>
              <a:t>비난받을</a:t>
            </a:r>
            <a:r>
              <a:rPr lang="ko-KR" altLang="en-US" sz="1200" dirty="0">
                <a:highlight>
                  <a:srgbClr val="CCECFF"/>
                </a:highlight>
              </a:rPr>
              <a:t> 정도의 방법으로 허위로 고지한 경우에는 기망행위에 해당한다</a:t>
            </a:r>
            <a:r>
              <a:rPr lang="en-US" altLang="ko-KR" sz="1200" dirty="0"/>
              <a:t>.”</a:t>
            </a:r>
            <a:r>
              <a:rPr lang="ko-KR" altLang="en-US" sz="1200" dirty="0"/>
              <a:t>고 판시하고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위와 같은 판결의 취지에 따르면</a:t>
            </a:r>
            <a:r>
              <a:rPr lang="en-US" altLang="ko-KR" sz="1200" dirty="0"/>
              <a:t>, </a:t>
            </a:r>
            <a:r>
              <a:rPr lang="ko-KR" altLang="en-US" sz="1200" dirty="0"/>
              <a:t>모든 허위 표시 행위가 처벌의 대상이 되는 것은 아니고</a:t>
            </a:r>
            <a:r>
              <a:rPr lang="en-US" altLang="ko-KR" sz="1200" dirty="0"/>
              <a:t>, </a:t>
            </a:r>
            <a:r>
              <a:rPr lang="ko-KR" altLang="en-US" sz="1200" dirty="0"/>
              <a:t>일반 수요자의 관점에서 </a:t>
            </a:r>
            <a:r>
              <a:rPr lang="ko-KR" altLang="en-US" sz="1200" dirty="0" err="1"/>
              <a:t>신의칙에</a:t>
            </a:r>
            <a:r>
              <a:rPr lang="ko-KR" altLang="en-US" sz="1200" dirty="0"/>
              <a:t> 비추어 </a:t>
            </a:r>
            <a:r>
              <a:rPr lang="ko-KR" altLang="en-US" sz="1200" dirty="0" err="1"/>
              <a:t>비난받을</a:t>
            </a:r>
            <a:r>
              <a:rPr lang="ko-KR" altLang="en-US" sz="1200" dirty="0"/>
              <a:t> 정도에 이르렀는지 여부에 따라 판단되어야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</a:t>
            </a:r>
            <a:r>
              <a:rPr lang="en-US" altLang="ko-KR" sz="1200" dirty="0"/>
              <a:t>,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228</a:t>
            </a:r>
            <a:r>
              <a:rPr lang="ko-KR" altLang="en-US" sz="1200" dirty="0"/>
              <a:t>조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224</a:t>
            </a:r>
            <a:r>
              <a:rPr lang="ko-KR" altLang="en-US" sz="1200" dirty="0"/>
              <a:t>조의 허위표시의 죄에 있어서도 위 입법 취지와 일반법리를 고려하면 “일반 공중의 오인 우려 </a:t>
            </a:r>
            <a:r>
              <a:rPr lang="ko-KR" altLang="en-US" sz="1200" dirty="0" err="1"/>
              <a:t>여부”가</a:t>
            </a:r>
            <a:r>
              <a:rPr lang="ko-KR" altLang="en-US" sz="1200" dirty="0"/>
              <a:t> 그 판단 기준이 될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3798856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출원발명을 제</a:t>
            </a:r>
            <a:r>
              <a:rPr lang="en-US" altLang="ko-KR" dirty="0"/>
              <a:t>3</a:t>
            </a:r>
            <a:r>
              <a:rPr lang="ko-KR" altLang="en-US" dirty="0"/>
              <a:t>자가 실시할 때 출원인의 대응방안</a:t>
            </a: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607488" y="1158727"/>
            <a:ext cx="1668987" cy="450998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실시의 적법성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판단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293538" y="1152303"/>
            <a:ext cx="8517461" cy="450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대응방안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반응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8" name="직선 연결선 7"/>
          <p:cNvCxnSpPr>
            <a:stCxn id="5" idx="3"/>
            <a:endCxn id="6" idx="1"/>
          </p:cNvCxnSpPr>
          <p:nvPr/>
        </p:nvCxnSpPr>
        <p:spPr>
          <a:xfrm flipV="1">
            <a:off x="2276475" y="1377802"/>
            <a:ext cx="1017063" cy="64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2867025" y="1057275"/>
            <a:ext cx="0" cy="5505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순서도: 판단 12"/>
          <p:cNvSpPr/>
          <p:nvPr/>
        </p:nvSpPr>
        <p:spPr bwMode="auto">
          <a:xfrm>
            <a:off x="481874" y="1964450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</a:rPr>
              <a:t>침해성립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kumimoji="1" lang="ko-KR" altLang="en-US" sz="1200" dirty="0">
                <a:solidFill>
                  <a:schemeClr val="tx2"/>
                </a:solidFill>
                <a:latin typeface="+mn-ea"/>
              </a:rPr>
              <a:t>판단</a:t>
            </a: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endParaRPr kumimoji="1" lang="ko-KR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</p:txBody>
      </p:sp>
      <p:cxnSp>
        <p:nvCxnSpPr>
          <p:cNvPr id="56" name="꺾인 연결선 55"/>
          <p:cNvCxnSpPr>
            <a:stCxn id="13" idx="2"/>
            <a:endCxn id="31" idx="1"/>
          </p:cNvCxnSpPr>
          <p:nvPr/>
        </p:nvCxnSpPr>
        <p:spPr>
          <a:xfrm rot="16200000" flipH="1">
            <a:off x="611813" y="3555381"/>
            <a:ext cx="3521418" cy="1861083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441981" y="2728124"/>
            <a:ext cx="3802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 bwMode="auto">
          <a:xfrm>
            <a:off x="2393624" y="2344832"/>
            <a:ext cx="65437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382941" y="2071517"/>
            <a:ext cx="4238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03064" y="1707225"/>
            <a:ext cx="1611836" cy="397054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특허권의 행사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03064" y="3845575"/>
            <a:ext cx="1611836" cy="397054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보상금청구권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의 행사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03064" y="5177219"/>
            <a:ext cx="1611836" cy="397054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기타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93789" y="170722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전제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조기권리화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3789" y="2272463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행사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93789" y="3845575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전제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93789" y="4719006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행사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93789" y="5177219"/>
            <a:ext cx="1878535" cy="228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경고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93789" y="5444181"/>
            <a:ext cx="1878535" cy="228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적극적 권리범위확인심판청구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93789" y="5710607"/>
            <a:ext cx="1878535" cy="228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실시권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설정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93789" y="5982646"/>
            <a:ext cx="1878535" cy="228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크로스 라이선스 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03064" y="6048105"/>
            <a:ext cx="1611836" cy="3970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별도조치 불가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08364" y="170722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심사청구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608364" y="1973651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우선심사신청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08364" y="2272463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민사적 조치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08364" y="283606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형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사적 조치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94364" y="2272463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신용회복청구권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94364" y="2538890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부당이득반환청구</a:t>
            </a:r>
            <a:r>
              <a:rPr lang="ko-KR" altLang="en-US" sz="1200" dirty="0">
                <a:latin typeface="+mn-ea"/>
              </a:rPr>
              <a:t>권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894364" y="170722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침해금지청구권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94364" y="1973651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손해배상청구권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894364" y="3380727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양벌규정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894364" y="283606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침해죄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894364" y="3102492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몰수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608364" y="3845575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조기공개신청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08364" y="4112001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 err="1">
                <a:latin typeface="+mn-ea"/>
              </a:rPr>
              <a:t>필요시</a:t>
            </a:r>
            <a:r>
              <a:rPr lang="ko-KR" altLang="en-US" sz="1200" dirty="0">
                <a:latin typeface="+mn-ea"/>
              </a:rPr>
              <a:t> 보정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08364" y="4371792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경고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08364" y="4719006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보상금액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08364" y="5000035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행사시기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08364" y="5266461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독립성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08364" y="5526251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준용규정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608364" y="5804466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소멸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9" name="꺾인 연결선 58"/>
          <p:cNvCxnSpPr>
            <a:stCxn id="18" idx="1"/>
            <a:endCxn id="20" idx="1"/>
          </p:cNvCxnSpPr>
          <p:nvPr/>
        </p:nvCxnSpPr>
        <p:spPr>
          <a:xfrm rot="10800000" flipV="1">
            <a:off x="3303064" y="1905752"/>
            <a:ext cx="12700" cy="3469994"/>
          </a:xfrm>
          <a:prstGeom prst="bentConnector3">
            <a:avLst>
              <a:gd name="adj1" fmla="val 18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18" idx="1"/>
            <a:endCxn id="19" idx="1"/>
          </p:cNvCxnSpPr>
          <p:nvPr/>
        </p:nvCxnSpPr>
        <p:spPr>
          <a:xfrm rot="10800000" flipV="1">
            <a:off x="3303064" y="1905752"/>
            <a:ext cx="12700" cy="2138350"/>
          </a:xfrm>
          <a:prstGeom prst="bentConnector3">
            <a:avLst>
              <a:gd name="adj1" fmla="val 18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18" idx="3"/>
            <a:endCxn id="22" idx="1"/>
          </p:cNvCxnSpPr>
          <p:nvPr/>
        </p:nvCxnSpPr>
        <p:spPr>
          <a:xfrm>
            <a:off x="4914900" y="1905752"/>
            <a:ext cx="378889" cy="4811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22" idx="3"/>
            <a:endCxn id="37" idx="1"/>
          </p:cNvCxnSpPr>
          <p:nvPr/>
        </p:nvCxnSpPr>
        <p:spPr>
          <a:xfrm>
            <a:off x="7172324" y="2386898"/>
            <a:ext cx="436040" cy="56360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37" idx="3"/>
            <a:endCxn id="42" idx="1"/>
          </p:cNvCxnSpPr>
          <p:nvPr/>
        </p:nvCxnSpPr>
        <p:spPr>
          <a:xfrm>
            <a:off x="9486899" y="2950500"/>
            <a:ext cx="407465" cy="5446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>
            <a:stCxn id="21" idx="3"/>
            <a:endCxn id="34" idx="1"/>
          </p:cNvCxnSpPr>
          <p:nvPr/>
        </p:nvCxnSpPr>
        <p:spPr>
          <a:xfrm>
            <a:off x="7172324" y="1821660"/>
            <a:ext cx="43604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21" idx="3"/>
            <a:endCxn id="35" idx="1"/>
          </p:cNvCxnSpPr>
          <p:nvPr/>
        </p:nvCxnSpPr>
        <p:spPr>
          <a:xfrm>
            <a:off x="7172324" y="1821660"/>
            <a:ext cx="436040" cy="2664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>
            <a:stCxn id="22" idx="3"/>
            <a:endCxn id="36" idx="1"/>
          </p:cNvCxnSpPr>
          <p:nvPr/>
        </p:nvCxnSpPr>
        <p:spPr>
          <a:xfrm>
            <a:off x="7172324" y="2386898"/>
            <a:ext cx="43604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36" idx="3"/>
            <a:endCxn id="38" idx="1"/>
          </p:cNvCxnSpPr>
          <p:nvPr/>
        </p:nvCxnSpPr>
        <p:spPr>
          <a:xfrm>
            <a:off x="9486899" y="2386898"/>
            <a:ext cx="40746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83"/>
          <p:cNvCxnSpPr>
            <a:stCxn id="36" idx="3"/>
            <a:endCxn id="41" idx="1"/>
          </p:cNvCxnSpPr>
          <p:nvPr/>
        </p:nvCxnSpPr>
        <p:spPr>
          <a:xfrm flipV="1">
            <a:off x="9486899" y="2088087"/>
            <a:ext cx="407465" cy="2988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stCxn id="36" idx="3"/>
            <a:endCxn id="40" idx="1"/>
          </p:cNvCxnSpPr>
          <p:nvPr/>
        </p:nvCxnSpPr>
        <p:spPr>
          <a:xfrm flipV="1">
            <a:off x="9486899" y="1821660"/>
            <a:ext cx="407465" cy="5652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36" idx="3"/>
            <a:endCxn id="39" idx="1"/>
          </p:cNvCxnSpPr>
          <p:nvPr/>
        </p:nvCxnSpPr>
        <p:spPr>
          <a:xfrm>
            <a:off x="9486899" y="2386898"/>
            <a:ext cx="407465" cy="2664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>
            <a:stCxn id="37" idx="3"/>
            <a:endCxn id="44" idx="1"/>
          </p:cNvCxnSpPr>
          <p:nvPr/>
        </p:nvCxnSpPr>
        <p:spPr>
          <a:xfrm>
            <a:off x="9486899" y="2950500"/>
            <a:ext cx="40746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1"/>
          <p:cNvCxnSpPr>
            <a:stCxn id="37" idx="3"/>
            <a:endCxn id="45" idx="1"/>
          </p:cNvCxnSpPr>
          <p:nvPr/>
        </p:nvCxnSpPr>
        <p:spPr>
          <a:xfrm>
            <a:off x="9486899" y="2950500"/>
            <a:ext cx="407465" cy="2664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>
            <a:stCxn id="23" idx="3"/>
            <a:endCxn id="46" idx="1"/>
          </p:cNvCxnSpPr>
          <p:nvPr/>
        </p:nvCxnSpPr>
        <p:spPr>
          <a:xfrm>
            <a:off x="7172324" y="3960010"/>
            <a:ext cx="43604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>
            <a:stCxn id="24" idx="3"/>
            <a:endCxn id="49" idx="1"/>
          </p:cNvCxnSpPr>
          <p:nvPr/>
        </p:nvCxnSpPr>
        <p:spPr>
          <a:xfrm>
            <a:off x="7172324" y="4833441"/>
            <a:ext cx="43604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stCxn id="19" idx="3"/>
            <a:endCxn id="24" idx="1"/>
          </p:cNvCxnSpPr>
          <p:nvPr/>
        </p:nvCxnSpPr>
        <p:spPr>
          <a:xfrm>
            <a:off x="4914900" y="4044102"/>
            <a:ext cx="378889" cy="7893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23" idx="3"/>
            <a:endCxn id="48" idx="1"/>
          </p:cNvCxnSpPr>
          <p:nvPr/>
        </p:nvCxnSpPr>
        <p:spPr>
          <a:xfrm>
            <a:off x="7172324" y="3960010"/>
            <a:ext cx="436040" cy="52621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23" idx="3"/>
            <a:endCxn id="47" idx="1"/>
          </p:cNvCxnSpPr>
          <p:nvPr/>
        </p:nvCxnSpPr>
        <p:spPr>
          <a:xfrm>
            <a:off x="7172324" y="3960010"/>
            <a:ext cx="436040" cy="2664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24" idx="3"/>
            <a:endCxn id="54" idx="1"/>
          </p:cNvCxnSpPr>
          <p:nvPr/>
        </p:nvCxnSpPr>
        <p:spPr>
          <a:xfrm>
            <a:off x="7172324" y="4833441"/>
            <a:ext cx="436040" cy="108546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24" idx="3"/>
            <a:endCxn id="51" idx="1"/>
          </p:cNvCxnSpPr>
          <p:nvPr/>
        </p:nvCxnSpPr>
        <p:spPr>
          <a:xfrm>
            <a:off x="7172324" y="4833441"/>
            <a:ext cx="436040" cy="2810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>
            <a:stCxn id="52" idx="1"/>
            <a:endCxn id="24" idx="3"/>
          </p:cNvCxnSpPr>
          <p:nvPr/>
        </p:nvCxnSpPr>
        <p:spPr>
          <a:xfrm rot="10800000">
            <a:off x="7172324" y="4833442"/>
            <a:ext cx="436040" cy="5474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53" idx="1"/>
            <a:endCxn id="24" idx="3"/>
          </p:cNvCxnSpPr>
          <p:nvPr/>
        </p:nvCxnSpPr>
        <p:spPr>
          <a:xfrm rot="10800000">
            <a:off x="7172324" y="4833442"/>
            <a:ext cx="436040" cy="8072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7"/>
          <p:cNvCxnSpPr>
            <a:stCxn id="30" idx="1"/>
            <a:endCxn id="20" idx="3"/>
          </p:cNvCxnSpPr>
          <p:nvPr/>
        </p:nvCxnSpPr>
        <p:spPr>
          <a:xfrm rot="10800000">
            <a:off x="4914901" y="5375747"/>
            <a:ext cx="378889" cy="7213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꺾인 연결선 119"/>
          <p:cNvCxnSpPr>
            <a:stCxn id="27" idx="1"/>
            <a:endCxn id="20" idx="3"/>
          </p:cNvCxnSpPr>
          <p:nvPr/>
        </p:nvCxnSpPr>
        <p:spPr>
          <a:xfrm rot="10800000">
            <a:off x="4914901" y="5375746"/>
            <a:ext cx="378889" cy="4492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꺾인 연결선 121"/>
          <p:cNvCxnSpPr>
            <a:stCxn id="26" idx="1"/>
            <a:endCxn id="20" idx="3"/>
          </p:cNvCxnSpPr>
          <p:nvPr/>
        </p:nvCxnSpPr>
        <p:spPr>
          <a:xfrm rot="10800000">
            <a:off x="4914901" y="5375746"/>
            <a:ext cx="378889" cy="1828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8" idx="3"/>
            <a:endCxn id="21" idx="1"/>
          </p:cNvCxnSpPr>
          <p:nvPr/>
        </p:nvCxnSpPr>
        <p:spPr>
          <a:xfrm flipV="1">
            <a:off x="4914900" y="1821660"/>
            <a:ext cx="378889" cy="84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9" idx="3"/>
            <a:endCxn id="23" idx="1"/>
          </p:cNvCxnSpPr>
          <p:nvPr/>
        </p:nvCxnSpPr>
        <p:spPr>
          <a:xfrm flipV="1">
            <a:off x="4914900" y="3960010"/>
            <a:ext cx="378889" cy="84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20" idx="3"/>
            <a:endCxn id="25" idx="1"/>
          </p:cNvCxnSpPr>
          <p:nvPr/>
        </p:nvCxnSpPr>
        <p:spPr>
          <a:xfrm flipV="1">
            <a:off x="4914900" y="5291654"/>
            <a:ext cx="378889" cy="84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3726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출원발명을 제</a:t>
            </a:r>
            <a:r>
              <a:rPr lang="en-US" altLang="ko-KR" dirty="0"/>
              <a:t>3</a:t>
            </a:r>
            <a:r>
              <a:rPr lang="ko-KR" altLang="en-US" dirty="0"/>
              <a:t>자가 실시할 때 제</a:t>
            </a:r>
            <a:r>
              <a:rPr lang="en-US" altLang="ko-KR" dirty="0"/>
              <a:t>3</a:t>
            </a:r>
            <a:r>
              <a:rPr lang="ko-KR" altLang="en-US" dirty="0"/>
              <a:t>자의 대응방안</a:t>
            </a: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607488" y="1158727"/>
            <a:ext cx="1668987" cy="450998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실시의 적법성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판단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293538" y="1152303"/>
            <a:ext cx="8517461" cy="450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대응방안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반응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8" name="직선 연결선 7"/>
          <p:cNvCxnSpPr>
            <a:stCxn id="5" idx="3"/>
            <a:endCxn id="6" idx="1"/>
          </p:cNvCxnSpPr>
          <p:nvPr/>
        </p:nvCxnSpPr>
        <p:spPr>
          <a:xfrm flipV="1">
            <a:off x="2276475" y="1377802"/>
            <a:ext cx="1017063" cy="64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2867025" y="1057275"/>
            <a:ext cx="0" cy="5505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순서도: 판단 12"/>
          <p:cNvSpPr/>
          <p:nvPr/>
        </p:nvSpPr>
        <p:spPr bwMode="auto">
          <a:xfrm>
            <a:off x="481874" y="1964450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</a:rPr>
              <a:t>침해성립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kumimoji="1" lang="ko-KR" altLang="en-US" sz="1200" dirty="0">
                <a:solidFill>
                  <a:schemeClr val="tx2"/>
                </a:solidFill>
                <a:latin typeface="+mn-ea"/>
              </a:rPr>
              <a:t>판단</a:t>
            </a: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endParaRPr kumimoji="1" lang="ko-KR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420148" y="2728124"/>
            <a:ext cx="4238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 bwMode="auto">
          <a:xfrm>
            <a:off x="2393624" y="2344832"/>
            <a:ext cx="65437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404774" y="2071517"/>
            <a:ext cx="38023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03063" y="1707224"/>
            <a:ext cx="2592911" cy="36429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상대방의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조치에 대한 적극적 대응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예를 들어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경고에 대한 답변서 제출</a:t>
            </a:r>
            <a:r>
              <a:rPr lang="en-US" altLang="ko-KR" sz="1200" dirty="0">
                <a:latin typeface="+mn-ea"/>
              </a:rPr>
              <a:t>)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579664" y="2075306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침해의 성립요건 부정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579664" y="2372392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권리남용의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579664" y="177493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침해부인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비실시주장</a:t>
            </a:r>
            <a:r>
              <a:rPr lang="en-US" altLang="ko-KR" sz="1200" dirty="0">
                <a:latin typeface="+mn-ea"/>
              </a:rPr>
              <a:t>)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208564" y="2075306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실시권의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208564" y="2372392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소진이론의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208564" y="2671478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업이 아니라는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208564" y="2957228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특허권 하자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무효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208564" y="3237356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자유기술의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208564" y="3534442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효력제한의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208564" y="3833528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실효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303063" y="2146311"/>
            <a:ext cx="2592911" cy="36429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>
                <a:solidFill>
                  <a:schemeClr val="tx1"/>
                </a:solidFill>
                <a:latin typeface="+mn-ea"/>
              </a:rPr>
              <a:t>소극적 권리범위확인심판청구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303063" y="2612120"/>
            <a:ext cx="2592911" cy="36429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별도의 소 제기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예를 들어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선사용권</a:t>
            </a:r>
            <a:r>
              <a:rPr lang="ko-KR" altLang="en-US" sz="1200" dirty="0">
                <a:latin typeface="+mn-ea"/>
              </a:rPr>
              <a:t> 확인의 소</a:t>
            </a:r>
            <a:r>
              <a:rPr lang="en-US" altLang="ko-KR" sz="1200" dirty="0">
                <a:latin typeface="+mn-ea"/>
              </a:rPr>
              <a:t>)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303063" y="3074394"/>
            <a:ext cx="2592911" cy="36429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소송절차 중지 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순서도: 판단 100"/>
          <p:cNvSpPr/>
          <p:nvPr/>
        </p:nvSpPr>
        <p:spPr bwMode="auto">
          <a:xfrm>
            <a:off x="481874" y="3504858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200" dirty="0" err="1">
                <a:solidFill>
                  <a:schemeClr val="tx2"/>
                </a:solidFill>
                <a:latin typeface="+mn-ea"/>
              </a:rPr>
              <a:t>특허요건흠결</a:t>
            </a:r>
            <a:endParaRPr kumimoji="1" lang="en-US" altLang="ko-KR" sz="1200" dirty="0">
              <a:solidFill>
                <a:schemeClr val="tx2"/>
              </a:solidFill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kumimoji="1" lang="ko-KR" altLang="en-US" sz="1200" dirty="0">
                <a:solidFill>
                  <a:schemeClr val="tx2"/>
                </a:solidFill>
                <a:latin typeface="+mn-ea"/>
              </a:rPr>
              <a:t>판단</a:t>
            </a: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endParaRPr kumimoji="1" lang="ko-KR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</p:txBody>
      </p:sp>
      <p:cxnSp>
        <p:nvCxnSpPr>
          <p:cNvPr id="102" name="직선 화살표 연결선 101"/>
          <p:cNvCxnSpPr>
            <a:stCxn id="13" idx="2"/>
            <a:endCxn id="101" idx="0"/>
          </p:cNvCxnSpPr>
          <p:nvPr/>
        </p:nvCxnSpPr>
        <p:spPr bwMode="auto">
          <a:xfrm>
            <a:off x="1441981" y="2725214"/>
            <a:ext cx="0" cy="77964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3303063" y="5383639"/>
            <a:ext cx="2592911" cy="364293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조기권리저지방안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3303063" y="6057806"/>
            <a:ext cx="2592911" cy="364293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심사관여방안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579664" y="5434892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우선심사신청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579664" y="5134521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심사청구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579664" y="6103063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특허취소신청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579664" y="5802692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정보제공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579664" y="6391140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특허무효심판청구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303063" y="3530537"/>
            <a:ext cx="2592911" cy="36429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latin typeface="+mn-ea"/>
              </a:rPr>
              <a:t>실시중지</a:t>
            </a:r>
            <a:endParaRPr lang="en-US" altLang="ko-KR" sz="1200" b="0" dirty="0">
              <a:latin typeface="+mn-ea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303063" y="3969624"/>
            <a:ext cx="2592911" cy="36429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latin typeface="+mn-ea"/>
              </a:rPr>
              <a:t>정당한 권원 획득 후 실시</a:t>
            </a:r>
            <a:endParaRPr lang="en-US" altLang="ko-KR" sz="1200" b="0" dirty="0">
              <a:latin typeface="+mn-ea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3303063" y="4435433"/>
            <a:ext cx="2592911" cy="36429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latin typeface="+mn-ea"/>
              </a:rPr>
              <a:t>회피설계</a:t>
            </a:r>
            <a:r>
              <a:rPr lang="en-US" altLang="ko-KR" sz="1200" b="0" dirty="0">
                <a:latin typeface="+mn-ea"/>
              </a:rPr>
              <a:t>(Design-Around)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03063" y="4897707"/>
            <a:ext cx="2592911" cy="36429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대응특허 매입한 후 </a:t>
            </a:r>
            <a:r>
              <a:rPr lang="ko-KR" altLang="en-US" sz="1200" dirty="0" err="1">
                <a:latin typeface="+mn-ea"/>
              </a:rPr>
              <a:t>역공격</a:t>
            </a:r>
            <a:endParaRPr lang="en-US" altLang="ko-KR" sz="1200" b="0" dirty="0">
              <a:latin typeface="+mn-ea"/>
            </a:endParaRPr>
          </a:p>
        </p:txBody>
      </p:sp>
      <p:cxnSp>
        <p:nvCxnSpPr>
          <p:cNvPr id="15" name="꺾인 연결선 14"/>
          <p:cNvCxnSpPr>
            <a:stCxn id="18" idx="1"/>
            <a:endCxn id="99" idx="1"/>
          </p:cNvCxnSpPr>
          <p:nvPr/>
        </p:nvCxnSpPr>
        <p:spPr>
          <a:xfrm rot="10800000" flipV="1">
            <a:off x="3303063" y="1889371"/>
            <a:ext cx="12700" cy="1367170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18" idx="1"/>
            <a:endCxn id="95" idx="1"/>
          </p:cNvCxnSpPr>
          <p:nvPr/>
        </p:nvCxnSpPr>
        <p:spPr>
          <a:xfrm rot="10800000" flipV="1">
            <a:off x="3303063" y="1889370"/>
            <a:ext cx="12700" cy="439087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18" idx="1"/>
            <a:endCxn id="97" idx="1"/>
          </p:cNvCxnSpPr>
          <p:nvPr/>
        </p:nvCxnSpPr>
        <p:spPr>
          <a:xfrm rot="10800000" flipV="1">
            <a:off x="3303063" y="1889371"/>
            <a:ext cx="12700" cy="904896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121" idx="1"/>
            <a:endCxn id="126" idx="1"/>
          </p:cNvCxnSpPr>
          <p:nvPr/>
        </p:nvCxnSpPr>
        <p:spPr>
          <a:xfrm rot="10800000" flipV="1">
            <a:off x="3303063" y="3712684"/>
            <a:ext cx="12700" cy="1367170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127"/>
          <p:cNvCxnSpPr>
            <a:stCxn id="101" idx="2"/>
          </p:cNvCxnSpPr>
          <p:nvPr/>
        </p:nvCxnSpPr>
        <p:spPr>
          <a:xfrm rot="16200000" flipH="1">
            <a:off x="1476454" y="4231148"/>
            <a:ext cx="1537072" cy="1606019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stCxn id="121" idx="1"/>
            <a:endCxn id="125" idx="1"/>
          </p:cNvCxnSpPr>
          <p:nvPr/>
        </p:nvCxnSpPr>
        <p:spPr>
          <a:xfrm rot="10800000" flipV="1">
            <a:off x="3303063" y="3712684"/>
            <a:ext cx="12700" cy="904896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105" idx="1"/>
            <a:endCxn id="107" idx="1"/>
          </p:cNvCxnSpPr>
          <p:nvPr/>
        </p:nvCxnSpPr>
        <p:spPr>
          <a:xfrm rot="10800000" flipV="1">
            <a:off x="3303063" y="5565785"/>
            <a:ext cx="12700" cy="674167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1" idx="1"/>
            <a:endCxn id="124" idx="1"/>
          </p:cNvCxnSpPr>
          <p:nvPr/>
        </p:nvCxnSpPr>
        <p:spPr>
          <a:xfrm rot="10800000" flipV="1">
            <a:off x="3303063" y="3712683"/>
            <a:ext cx="12700" cy="439087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/>
          <p:cNvCxnSpPr/>
          <p:nvPr/>
        </p:nvCxnSpPr>
        <p:spPr bwMode="auto">
          <a:xfrm>
            <a:off x="2393624" y="3880225"/>
            <a:ext cx="65437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2404774" y="3606910"/>
            <a:ext cx="38023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420148" y="4319615"/>
            <a:ext cx="4238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3" name="꺾인 연결선 72"/>
          <p:cNvCxnSpPr>
            <a:stCxn id="18" idx="3"/>
            <a:endCxn id="77" idx="1"/>
          </p:cNvCxnSpPr>
          <p:nvPr/>
        </p:nvCxnSpPr>
        <p:spPr>
          <a:xfrm flipV="1">
            <a:off x="5895974" y="1889370"/>
            <a:ext cx="683690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꺾인 연결선 135"/>
          <p:cNvCxnSpPr>
            <a:stCxn id="18" idx="3"/>
            <a:endCxn id="75" idx="1"/>
          </p:cNvCxnSpPr>
          <p:nvPr/>
        </p:nvCxnSpPr>
        <p:spPr>
          <a:xfrm>
            <a:off x="5895974" y="1889371"/>
            <a:ext cx="683690" cy="3003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 139"/>
          <p:cNvCxnSpPr>
            <a:stCxn id="18" idx="3"/>
            <a:endCxn id="76" idx="1"/>
          </p:cNvCxnSpPr>
          <p:nvPr/>
        </p:nvCxnSpPr>
        <p:spPr>
          <a:xfrm>
            <a:off x="5895974" y="1889371"/>
            <a:ext cx="683690" cy="5974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 141"/>
          <p:cNvCxnSpPr>
            <a:stCxn id="75" idx="3"/>
            <a:endCxn id="79" idx="1"/>
          </p:cNvCxnSpPr>
          <p:nvPr/>
        </p:nvCxnSpPr>
        <p:spPr>
          <a:xfrm>
            <a:off x="8458199" y="2189741"/>
            <a:ext cx="750365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/>
          <p:cNvCxnSpPr>
            <a:stCxn id="75" idx="3"/>
            <a:endCxn id="91" idx="1"/>
          </p:cNvCxnSpPr>
          <p:nvPr/>
        </p:nvCxnSpPr>
        <p:spPr>
          <a:xfrm>
            <a:off x="8458199" y="2189741"/>
            <a:ext cx="750365" cy="17582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81" idx="1"/>
            <a:endCxn id="75" idx="3"/>
          </p:cNvCxnSpPr>
          <p:nvPr/>
        </p:nvCxnSpPr>
        <p:spPr>
          <a:xfrm rot="10800000">
            <a:off x="8458200" y="2189741"/>
            <a:ext cx="750365" cy="2970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75" idx="3"/>
            <a:endCxn id="83" idx="1"/>
          </p:cNvCxnSpPr>
          <p:nvPr/>
        </p:nvCxnSpPr>
        <p:spPr>
          <a:xfrm>
            <a:off x="8458199" y="2189741"/>
            <a:ext cx="750365" cy="5961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75" idx="3"/>
            <a:endCxn id="89" idx="1"/>
          </p:cNvCxnSpPr>
          <p:nvPr/>
        </p:nvCxnSpPr>
        <p:spPr>
          <a:xfrm>
            <a:off x="8458199" y="2189741"/>
            <a:ext cx="750365" cy="145913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꺾인 연결선 152"/>
          <p:cNvCxnSpPr>
            <a:stCxn id="75" idx="3"/>
            <a:endCxn id="85" idx="1"/>
          </p:cNvCxnSpPr>
          <p:nvPr/>
        </p:nvCxnSpPr>
        <p:spPr>
          <a:xfrm>
            <a:off x="8458199" y="2189741"/>
            <a:ext cx="750365" cy="8819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 154"/>
          <p:cNvCxnSpPr>
            <a:stCxn id="75" idx="3"/>
            <a:endCxn id="87" idx="1"/>
          </p:cNvCxnSpPr>
          <p:nvPr/>
        </p:nvCxnSpPr>
        <p:spPr>
          <a:xfrm>
            <a:off x="8458199" y="2189741"/>
            <a:ext cx="750365" cy="11620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꺾인 연결선 156"/>
          <p:cNvCxnSpPr>
            <a:stCxn id="105" idx="3"/>
            <a:endCxn id="113" idx="1"/>
          </p:cNvCxnSpPr>
          <p:nvPr/>
        </p:nvCxnSpPr>
        <p:spPr>
          <a:xfrm flipV="1">
            <a:off x="5895974" y="5248956"/>
            <a:ext cx="683690" cy="3168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158"/>
          <p:cNvCxnSpPr>
            <a:stCxn id="105" idx="3"/>
            <a:endCxn id="109" idx="1"/>
          </p:cNvCxnSpPr>
          <p:nvPr/>
        </p:nvCxnSpPr>
        <p:spPr>
          <a:xfrm flipV="1">
            <a:off x="5895974" y="5549327"/>
            <a:ext cx="683690" cy="164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꺾인 연결선 160"/>
          <p:cNvCxnSpPr>
            <a:stCxn id="107" idx="3"/>
            <a:endCxn id="117" idx="1"/>
          </p:cNvCxnSpPr>
          <p:nvPr/>
        </p:nvCxnSpPr>
        <p:spPr>
          <a:xfrm flipV="1">
            <a:off x="5895974" y="5917127"/>
            <a:ext cx="683690" cy="3228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62"/>
          <p:cNvCxnSpPr>
            <a:stCxn id="107" idx="3"/>
            <a:endCxn id="119" idx="1"/>
          </p:cNvCxnSpPr>
          <p:nvPr/>
        </p:nvCxnSpPr>
        <p:spPr>
          <a:xfrm>
            <a:off x="5895974" y="6239953"/>
            <a:ext cx="683690" cy="2656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꺾인 연결선 164"/>
          <p:cNvCxnSpPr>
            <a:endCxn id="115" idx="1"/>
          </p:cNvCxnSpPr>
          <p:nvPr/>
        </p:nvCxnSpPr>
        <p:spPr>
          <a:xfrm flipV="1">
            <a:off x="6229350" y="6217498"/>
            <a:ext cx="350314" cy="224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87179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변동 개괄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85825" y="2914650"/>
            <a:ext cx="738640" cy="7905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변동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465631" y="1495425"/>
            <a:ext cx="2001593" cy="4786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이전 및 공유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99, 99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0" name="꺾인 연결선 39"/>
          <p:cNvCxnSpPr>
            <a:stCxn id="6" idx="3"/>
            <a:endCxn id="7" idx="1"/>
          </p:cNvCxnSpPr>
          <p:nvPr/>
        </p:nvCxnSpPr>
        <p:spPr>
          <a:xfrm flipV="1">
            <a:off x="1624465" y="1734741"/>
            <a:ext cx="841166" cy="157519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6" idx="3"/>
            <a:endCxn id="80" idx="1"/>
          </p:cNvCxnSpPr>
          <p:nvPr/>
        </p:nvCxnSpPr>
        <p:spPr>
          <a:xfrm>
            <a:off x="1624465" y="3309938"/>
            <a:ext cx="841166" cy="173712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2465631" y="3112293"/>
            <a:ext cx="2001593" cy="4786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실시권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100~118)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465631" y="4807743"/>
            <a:ext cx="2001593" cy="4786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질권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121~123)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꺾인 연결선 44"/>
          <p:cNvCxnSpPr>
            <a:stCxn id="6" idx="3"/>
            <a:endCxn id="78" idx="1"/>
          </p:cNvCxnSpPr>
          <p:nvPr/>
        </p:nvCxnSpPr>
        <p:spPr>
          <a:xfrm>
            <a:off x="1624465" y="3309938"/>
            <a:ext cx="841166" cy="416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5151681" y="2511623"/>
            <a:ext cx="3411294" cy="478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일반론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100~102, 118)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5151681" y="3112292"/>
            <a:ext cx="3411294" cy="478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법정실시권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81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3, 103~105, 122, 182,183, </a:t>
            </a:r>
            <a:r>
              <a:rPr lang="ko-KR" altLang="en-US" sz="1200" dirty="0" err="1">
                <a:solidFill>
                  <a:schemeClr val="tx1"/>
                </a:solidFill>
              </a:rPr>
              <a:t>발진법</a:t>
            </a:r>
            <a:r>
              <a:rPr lang="en-US" altLang="ko-KR" sz="1200" dirty="0">
                <a:solidFill>
                  <a:schemeClr val="tx1"/>
                </a:solidFill>
              </a:rPr>
              <a:t>10①)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151681" y="3694509"/>
            <a:ext cx="3411294" cy="478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강제실시권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106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2, 107~115, 138)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9047406" y="2276475"/>
            <a:ext cx="1506294" cy="478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일반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100, 102)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9047406" y="2825948"/>
            <a:ext cx="1506294" cy="478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등록의 효과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101, 118)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7" name="꺾인 연결선 56"/>
          <p:cNvCxnSpPr>
            <a:stCxn id="78" idx="3"/>
            <a:endCxn id="88" idx="1"/>
          </p:cNvCxnSpPr>
          <p:nvPr/>
        </p:nvCxnSpPr>
        <p:spPr>
          <a:xfrm flipV="1">
            <a:off x="4467224" y="2750939"/>
            <a:ext cx="684457" cy="6006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78" idx="3"/>
            <a:endCxn id="90" idx="1"/>
          </p:cNvCxnSpPr>
          <p:nvPr/>
        </p:nvCxnSpPr>
        <p:spPr>
          <a:xfrm>
            <a:off x="4467224" y="3351609"/>
            <a:ext cx="684457" cy="58221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78" idx="3"/>
            <a:endCxn id="89" idx="1"/>
          </p:cNvCxnSpPr>
          <p:nvPr/>
        </p:nvCxnSpPr>
        <p:spPr>
          <a:xfrm flipV="1">
            <a:off x="4467224" y="3351608"/>
            <a:ext cx="684457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88" idx="3"/>
            <a:endCxn id="91" idx="1"/>
          </p:cNvCxnSpPr>
          <p:nvPr/>
        </p:nvCxnSpPr>
        <p:spPr>
          <a:xfrm flipV="1">
            <a:off x="8562975" y="2515791"/>
            <a:ext cx="484431" cy="2351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>
            <a:stCxn id="88" idx="3"/>
            <a:endCxn id="93" idx="1"/>
          </p:cNvCxnSpPr>
          <p:nvPr/>
        </p:nvCxnSpPr>
        <p:spPr>
          <a:xfrm>
            <a:off x="8562975" y="2750939"/>
            <a:ext cx="484431" cy="3143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4780206" y="1444992"/>
            <a:ext cx="4371975" cy="242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99</a:t>
            </a:r>
            <a:r>
              <a:rPr lang="ko-KR" altLang="en-US" sz="1200" dirty="0">
                <a:solidFill>
                  <a:schemeClr val="tx1"/>
                </a:solidFill>
              </a:rPr>
              <a:t>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특허권의 이전 및 공유 등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780206" y="1745413"/>
            <a:ext cx="4371975" cy="242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99</a:t>
            </a:r>
            <a:r>
              <a:rPr lang="ko-KR" altLang="en-US" sz="1200" dirty="0">
                <a:solidFill>
                  <a:schemeClr val="tx1"/>
                </a:solidFill>
              </a:rPr>
              <a:t>조의</a:t>
            </a:r>
            <a:r>
              <a:rPr lang="en-US" altLang="ko-KR" sz="1200" dirty="0">
                <a:solidFill>
                  <a:schemeClr val="tx1"/>
                </a:solidFill>
              </a:rPr>
              <a:t>2(</a:t>
            </a:r>
            <a:r>
              <a:rPr lang="ko-KR" altLang="en-US" sz="1200" dirty="0">
                <a:solidFill>
                  <a:schemeClr val="tx1"/>
                </a:solidFill>
              </a:rPr>
              <a:t>특허권의 이전청구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3" name="꺾인 연결선 82"/>
          <p:cNvCxnSpPr>
            <a:stCxn id="7" idx="3"/>
            <a:endCxn id="105" idx="1"/>
          </p:cNvCxnSpPr>
          <p:nvPr/>
        </p:nvCxnSpPr>
        <p:spPr>
          <a:xfrm flipV="1">
            <a:off x="4467224" y="1566479"/>
            <a:ext cx="312982" cy="1682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7" idx="3"/>
            <a:endCxn id="107" idx="1"/>
          </p:cNvCxnSpPr>
          <p:nvPr/>
        </p:nvCxnSpPr>
        <p:spPr>
          <a:xfrm>
            <a:off x="4467224" y="1734741"/>
            <a:ext cx="312982" cy="1321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4780206" y="4810124"/>
            <a:ext cx="4371975" cy="242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121</a:t>
            </a:r>
            <a:r>
              <a:rPr lang="ko-KR" altLang="en-US" sz="1200" dirty="0">
                <a:solidFill>
                  <a:schemeClr val="tx1"/>
                </a:solidFill>
              </a:rPr>
              <a:t>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질권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4780206" y="5110545"/>
            <a:ext cx="4371975" cy="242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122</a:t>
            </a:r>
            <a:r>
              <a:rPr lang="ko-KR" altLang="en-US" sz="1200" dirty="0">
                <a:solidFill>
                  <a:schemeClr val="tx1"/>
                </a:solidFill>
              </a:rPr>
              <a:t>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질권행사로 특허권의 이전에 따른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4780206" y="5405820"/>
            <a:ext cx="4371975" cy="242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123</a:t>
            </a:r>
            <a:r>
              <a:rPr lang="ko-KR" altLang="en-US" sz="1200" dirty="0">
                <a:solidFill>
                  <a:schemeClr val="tx1"/>
                </a:solidFill>
              </a:rPr>
              <a:t>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질권자의 물상대위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8" name="꺾인 연결선 107"/>
          <p:cNvCxnSpPr>
            <a:stCxn id="80" idx="3"/>
            <a:endCxn id="114" idx="1"/>
          </p:cNvCxnSpPr>
          <p:nvPr/>
        </p:nvCxnSpPr>
        <p:spPr>
          <a:xfrm flipV="1">
            <a:off x="4467224" y="4931611"/>
            <a:ext cx="312982" cy="1154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80" idx="3"/>
            <a:endCxn id="117" idx="1"/>
          </p:cNvCxnSpPr>
          <p:nvPr/>
        </p:nvCxnSpPr>
        <p:spPr>
          <a:xfrm>
            <a:off x="4467224" y="5047059"/>
            <a:ext cx="312982" cy="4802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꺾인 연결선 119"/>
          <p:cNvCxnSpPr>
            <a:stCxn id="80" idx="3"/>
            <a:endCxn id="116" idx="1"/>
          </p:cNvCxnSpPr>
          <p:nvPr/>
        </p:nvCxnSpPr>
        <p:spPr>
          <a:xfrm>
            <a:off x="4467224" y="5047059"/>
            <a:ext cx="312982" cy="1849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74388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조와 제</a:t>
            </a:r>
            <a:r>
              <a:rPr lang="en-US" altLang="ko-KR" dirty="0"/>
              <a:t>99</a:t>
            </a:r>
            <a:r>
              <a:rPr lang="ko-KR" altLang="en-US" dirty="0"/>
              <a:t>조 법조문의 비교</a:t>
            </a:r>
          </a:p>
        </p:txBody>
      </p:sp>
      <p:cxnSp>
        <p:nvCxnSpPr>
          <p:cNvPr id="31" name="직선 연결선 30"/>
          <p:cNvCxnSpPr/>
          <p:nvPr/>
        </p:nvCxnSpPr>
        <p:spPr>
          <a:xfrm flipH="1" flipV="1">
            <a:off x="6091328" y="1050924"/>
            <a:ext cx="1" cy="553085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33372" y="1893192"/>
            <a:ext cx="55149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제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37</a:t>
            </a: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조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특허를 받을 수 있는 권리의 이전 등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 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05562" y="1876523"/>
            <a:ext cx="54625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제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99</a:t>
            </a: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조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특허권의 이전 및 공유 등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 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33" name="Rectangle 1"/>
          <p:cNvSpPr>
            <a:spLocks noChangeArrowheads="1"/>
          </p:cNvSpPr>
          <p:nvPr/>
        </p:nvSpPr>
        <p:spPr bwMode="auto">
          <a:xfrm>
            <a:off x="333372" y="3138020"/>
            <a:ext cx="551497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③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특허를 받을 수 있는 권리가 공유인 경우에는 각 공유자는 다른 공유자 모두의 동의를 받아야만 그 지분을 양도할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42" name="Rectangle 1"/>
          <p:cNvSpPr>
            <a:spLocks noChangeArrowheads="1"/>
          </p:cNvSpPr>
          <p:nvPr/>
        </p:nvSpPr>
        <p:spPr bwMode="auto">
          <a:xfrm>
            <a:off x="333372" y="2362296"/>
            <a:ext cx="551497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①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특허를 받을 수 있는 권리는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이전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44" name="Rectangle 1"/>
          <p:cNvSpPr>
            <a:spLocks noChangeArrowheads="1"/>
          </p:cNvSpPr>
          <p:nvPr/>
        </p:nvSpPr>
        <p:spPr bwMode="auto">
          <a:xfrm>
            <a:off x="333372" y="2753834"/>
            <a:ext cx="551497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②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특허를 받을 수 있는 권리는 질권의 목적으로 할 수 없다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47" name="Rectangle 2"/>
          <p:cNvSpPr>
            <a:spLocks noChangeArrowheads="1"/>
          </p:cNvSpPr>
          <p:nvPr/>
        </p:nvSpPr>
        <p:spPr bwMode="auto">
          <a:xfrm>
            <a:off x="6405562" y="3595339"/>
            <a:ext cx="5462588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③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특허권이 공유인 경우에는 각 공유자는 계약으로 특별히 약정한 경우를 제외하고는 다른 공유자의 동의를 받지 아니하고 그 특허발명을 자신이 실시할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④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특허권이 공유인 경우에는 각 공유자는 다른 공유자 모두의 동의를 받아야만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그 특허권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에 대하여 </a:t>
            </a:r>
            <a:r>
              <a:rPr kumimoji="1" lang="ko-KR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전용실시권을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설정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하거나 </a:t>
            </a:r>
            <a:r>
              <a:rPr kumimoji="1" lang="ko-KR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통상실시권을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허락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48" name="Rectangle 2"/>
          <p:cNvSpPr>
            <a:spLocks noChangeArrowheads="1"/>
          </p:cNvSpPr>
          <p:nvPr/>
        </p:nvSpPr>
        <p:spPr bwMode="auto">
          <a:xfrm>
            <a:off x="6405562" y="2354356"/>
            <a:ext cx="546258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①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특허권은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이전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50" name="Rectangle 2"/>
          <p:cNvSpPr>
            <a:spLocks noChangeArrowheads="1"/>
          </p:cNvSpPr>
          <p:nvPr/>
        </p:nvSpPr>
        <p:spPr bwMode="auto">
          <a:xfrm>
            <a:off x="6405562" y="2749526"/>
            <a:ext cx="5462588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②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특허권이 공유인 경우에는 각 공유자는 다른 공유자 모두의 동의를 받아야만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그 지분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을 양도하거나 그 지분을 목적으로 하는 질권을 설정할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cxnSp>
        <p:nvCxnSpPr>
          <p:cNvPr id="8" name="직선 연결선 7"/>
          <p:cNvCxnSpPr>
            <a:stCxn id="44" idx="3"/>
            <a:endCxn id="50" idx="1"/>
          </p:cNvCxnSpPr>
          <p:nvPr/>
        </p:nvCxnSpPr>
        <p:spPr>
          <a:xfrm>
            <a:off x="5848347" y="2907723"/>
            <a:ext cx="557215" cy="211135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stCxn id="50" idx="1"/>
            <a:endCxn id="33" idx="3"/>
          </p:cNvCxnSpPr>
          <p:nvPr/>
        </p:nvCxnSpPr>
        <p:spPr>
          <a:xfrm flipH="1">
            <a:off x="5848347" y="3118858"/>
            <a:ext cx="557215" cy="280772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>
            <a:stCxn id="48" idx="1"/>
            <a:endCxn id="42" idx="3"/>
          </p:cNvCxnSpPr>
          <p:nvPr/>
        </p:nvCxnSpPr>
        <p:spPr>
          <a:xfrm flipH="1">
            <a:off x="5848347" y="2508245"/>
            <a:ext cx="557215" cy="7940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사각형 설명선 12"/>
          <p:cNvSpPr/>
          <p:nvPr/>
        </p:nvSpPr>
        <p:spPr>
          <a:xfrm>
            <a:off x="3962397" y="1276350"/>
            <a:ext cx="1885950" cy="574575"/>
          </a:xfrm>
          <a:prstGeom prst="wedgeRoundRectCallout">
            <a:avLst>
              <a:gd name="adj1" fmla="val -105681"/>
              <a:gd name="adj2" fmla="val 14685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일반승계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상속</a:t>
            </a:r>
            <a:r>
              <a:rPr lang="en-US" altLang="ko-KR" sz="1400" dirty="0">
                <a:solidFill>
                  <a:schemeClr val="tx1"/>
                </a:solidFill>
              </a:rPr>
              <a:t>)+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특정승계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양도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모서리가 둥근 사각형 설명선 55"/>
          <p:cNvSpPr/>
          <p:nvPr/>
        </p:nvSpPr>
        <p:spPr>
          <a:xfrm>
            <a:off x="6201623" y="5780826"/>
            <a:ext cx="2091351" cy="574575"/>
          </a:xfrm>
          <a:prstGeom prst="wedgeRoundRectCallout">
            <a:avLst>
              <a:gd name="adj1" fmla="val 22297"/>
              <a:gd name="adj2" fmla="val -244147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특허권 일부 지분에 대한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실시권</a:t>
            </a:r>
            <a:r>
              <a:rPr lang="ko-KR" altLang="en-US" sz="1400" dirty="0">
                <a:solidFill>
                  <a:schemeClr val="tx1"/>
                </a:solidFill>
              </a:rPr>
              <a:t> 설정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허락은 불가</a:t>
            </a:r>
          </a:p>
        </p:txBody>
      </p:sp>
      <p:sp>
        <p:nvSpPr>
          <p:cNvPr id="57" name="모서리가 둥근 사각형 설명선 56"/>
          <p:cNvSpPr/>
          <p:nvPr/>
        </p:nvSpPr>
        <p:spPr>
          <a:xfrm>
            <a:off x="9558336" y="5591174"/>
            <a:ext cx="1185864" cy="574575"/>
          </a:xfrm>
          <a:prstGeom prst="wedgeRoundRectCallout">
            <a:avLst>
              <a:gd name="adj1" fmla="val -23236"/>
              <a:gd name="adj2" fmla="val -21288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계약</a:t>
            </a:r>
            <a:r>
              <a:rPr lang="en-US" altLang="ko-KR" sz="1400" dirty="0">
                <a:solidFill>
                  <a:schemeClr val="tx1"/>
                </a:solidFill>
              </a:rPr>
              <a:t>+</a:t>
            </a:r>
            <a:r>
              <a:rPr lang="ko-KR" altLang="en-US" sz="1400" dirty="0">
                <a:solidFill>
                  <a:schemeClr val="tx1"/>
                </a:solidFill>
              </a:rPr>
              <a:t>등록을 의미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405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5B7146-6F15-463F-8D8F-83A7D2D75641}"/>
              </a:ext>
            </a:extLst>
          </p:cNvPr>
          <p:cNvSpPr/>
          <p:nvPr/>
        </p:nvSpPr>
        <p:spPr>
          <a:xfrm>
            <a:off x="9558336" y="1380226"/>
            <a:ext cx="2035565" cy="3632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</a:rPr>
              <a:t>101</a:t>
            </a:r>
            <a:r>
              <a:rPr lang="ko-KR" altLang="en-US" sz="1200" dirty="0">
                <a:solidFill>
                  <a:schemeClr val="bg1"/>
                </a:solidFill>
              </a:rPr>
              <a:t>조제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 err="1">
                <a:solidFill>
                  <a:schemeClr val="bg1"/>
                </a:solidFill>
              </a:rPr>
              <a:t>항제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호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</a:rPr>
              <a:t>2</a:t>
            </a:r>
            <a:r>
              <a:rPr lang="ko-KR" altLang="en-US" sz="1200" dirty="0">
                <a:solidFill>
                  <a:schemeClr val="bg1"/>
                </a:solidFill>
              </a:rPr>
              <a:t>항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FAF62623-6588-4915-911D-0F8AD8A539B7}"/>
              </a:ext>
            </a:extLst>
          </p:cNvPr>
          <p:cNvCxnSpPr>
            <a:stCxn id="48" idx="0"/>
            <a:endCxn id="7" idx="2"/>
          </p:cNvCxnSpPr>
          <p:nvPr/>
        </p:nvCxnSpPr>
        <p:spPr>
          <a:xfrm rot="5400000" flipH="1" flipV="1">
            <a:off x="9551067" y="1329305"/>
            <a:ext cx="610840" cy="1439263"/>
          </a:xfrm>
          <a:prstGeom prst="bentConnector3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6FEE33-993E-4BEB-B694-25C5FD6D909F}"/>
              </a:ext>
            </a:extLst>
          </p:cNvPr>
          <p:cNvSpPr txBox="1"/>
          <p:nvPr/>
        </p:nvSpPr>
        <p:spPr>
          <a:xfrm>
            <a:off x="10589628" y="186854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효력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162B50-C68D-4C76-85C3-BAFE3F9AD774}"/>
              </a:ext>
            </a:extLst>
          </p:cNvPr>
          <p:cNvSpPr/>
          <p:nvPr/>
        </p:nvSpPr>
        <p:spPr>
          <a:xfrm>
            <a:off x="1861680" y="3881886"/>
            <a:ext cx="762642" cy="36329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</a:rPr>
              <a:t>38</a:t>
            </a:r>
            <a:r>
              <a:rPr lang="ko-KR" altLang="en-US" sz="1200" dirty="0">
                <a:solidFill>
                  <a:schemeClr val="bg1"/>
                </a:solidFill>
              </a:rPr>
              <a:t>조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68832A9-EA42-421C-8074-9ECE710CD48C}"/>
              </a:ext>
            </a:extLst>
          </p:cNvPr>
          <p:cNvCxnSpPr>
            <a:cxnSpLocks/>
            <a:stCxn id="42" idx="1"/>
            <a:endCxn id="24" idx="2"/>
          </p:cNvCxnSpPr>
          <p:nvPr/>
        </p:nvCxnSpPr>
        <p:spPr>
          <a:xfrm rot="10800000" flipH="1" flipV="1">
            <a:off x="333371" y="2516184"/>
            <a:ext cx="1909629" cy="1728991"/>
          </a:xfrm>
          <a:prstGeom prst="bentConnector4">
            <a:avLst>
              <a:gd name="adj1" fmla="val -11971"/>
              <a:gd name="adj2" fmla="val 113222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7090B14-0617-465B-BB32-145002896539}"/>
              </a:ext>
            </a:extLst>
          </p:cNvPr>
          <p:cNvSpPr txBox="1"/>
          <p:nvPr/>
        </p:nvSpPr>
        <p:spPr>
          <a:xfrm>
            <a:off x="686738" y="4075354"/>
            <a:ext cx="601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효력</a:t>
            </a:r>
          </a:p>
        </p:txBody>
      </p:sp>
    </p:spTree>
    <p:extLst>
      <p:ext uri="{BB962C8B-B14F-4D97-AF65-F5344CB8AC3E}">
        <p14:creationId xmlns:p14="http://schemas.microsoft.com/office/powerpoint/2010/main" val="107823579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 내지 제</a:t>
            </a:r>
            <a:r>
              <a:rPr lang="en-US" altLang="ko-KR" dirty="0"/>
              <a:t>4</a:t>
            </a:r>
            <a:r>
              <a:rPr lang="ko-KR" altLang="en-US" dirty="0"/>
              <a:t>항의 개념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967" y="1746507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dirty="0"/>
              <a:t>발명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67" y="3980749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/>
              <a:t>무체물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695968" y="5084930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점유 수반</a:t>
            </a:r>
            <a:r>
              <a:rPr lang="en-US" altLang="ko-KR" sz="1400" dirty="0"/>
              <a:t>×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2312157" y="1427453"/>
            <a:ext cx="3436861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공유자 모두</a:t>
            </a:r>
            <a:r>
              <a:rPr lang="en-US" altLang="ko-KR" sz="1400" dirty="0"/>
              <a:t>/</a:t>
            </a:r>
            <a:r>
              <a:rPr lang="ko-KR" altLang="en-US" sz="1400" dirty="0"/>
              <a:t>지분 비율 무관</a:t>
            </a:r>
            <a:r>
              <a:rPr lang="en-US" altLang="ko-KR" sz="1400" dirty="0"/>
              <a:t>/</a:t>
            </a:r>
            <a:r>
              <a:rPr lang="ko-KR" altLang="en-US" sz="1400" dirty="0"/>
              <a:t>발명 전체 실시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99</a:t>
            </a:r>
            <a:r>
              <a:rPr lang="ko-KR" altLang="en-US" sz="1400" dirty="0"/>
              <a:t>③</a:t>
            </a:r>
            <a:r>
              <a:rPr lang="en-US" altLang="ko-KR" sz="1400" dirty="0"/>
              <a:t>) 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2312159" y="2985788"/>
            <a:ext cx="3436860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지분 비율보다는 자본력</a:t>
            </a:r>
            <a:r>
              <a:rPr lang="en-US" altLang="ko-KR" sz="1400" dirty="0"/>
              <a:t>, </a:t>
            </a:r>
            <a:r>
              <a:rPr lang="ko-KR" altLang="en-US" sz="1400" dirty="0"/>
              <a:t>기술력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신용력</a:t>
            </a:r>
            <a:r>
              <a:rPr lang="ko-KR" altLang="en-US" sz="1400" dirty="0"/>
              <a:t> 등 다른 요인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967" y="2807556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기술적 사상</a:t>
            </a:r>
          </a:p>
        </p:txBody>
      </p:sp>
      <p:cxnSp>
        <p:nvCxnSpPr>
          <p:cNvPr id="7" name="직선 화살표 연결선 6"/>
          <p:cNvCxnSpPr>
            <a:stCxn id="18" idx="2"/>
            <a:endCxn id="23" idx="0"/>
          </p:cNvCxnSpPr>
          <p:nvPr/>
        </p:nvCxnSpPr>
        <p:spPr>
          <a:xfrm>
            <a:off x="1217905" y="2339179"/>
            <a:ext cx="0" cy="46837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23" idx="2"/>
          </p:cNvCxnSpPr>
          <p:nvPr/>
        </p:nvCxnSpPr>
        <p:spPr>
          <a:xfrm>
            <a:off x="1217905" y="3400228"/>
            <a:ext cx="1" cy="58052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19" idx="2"/>
            <a:endCxn id="20" idx="0"/>
          </p:cNvCxnSpPr>
          <p:nvPr/>
        </p:nvCxnSpPr>
        <p:spPr>
          <a:xfrm>
            <a:off x="1217905" y="4573421"/>
            <a:ext cx="1" cy="5115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20" idx="2"/>
            <a:endCxn id="21" idx="0"/>
          </p:cNvCxnSpPr>
          <p:nvPr/>
        </p:nvCxnSpPr>
        <p:spPr>
          <a:xfrm rot="5400000" flipH="1" flipV="1">
            <a:off x="499172" y="2146187"/>
            <a:ext cx="4250149" cy="2812682"/>
          </a:xfrm>
          <a:prstGeom prst="bentConnector5">
            <a:avLst>
              <a:gd name="adj1" fmla="val -5379"/>
              <a:gd name="adj2" fmla="val 28730"/>
              <a:gd name="adj3" fmla="val 105379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>
            <a:stCxn id="22" idx="0"/>
            <a:endCxn id="21" idx="2"/>
          </p:cNvCxnSpPr>
          <p:nvPr/>
        </p:nvCxnSpPr>
        <p:spPr>
          <a:xfrm flipH="1" flipV="1">
            <a:off x="4030588" y="2020125"/>
            <a:ext cx="1" cy="9656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33409" y="2332095"/>
            <a:ext cx="80983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영향력</a:t>
            </a:r>
          </a:p>
        </p:txBody>
      </p:sp>
      <p:sp>
        <p:nvSpPr>
          <p:cNvPr id="36" name="왼쪽 화살표 35"/>
          <p:cNvSpPr/>
          <p:nvPr/>
        </p:nvSpPr>
        <p:spPr>
          <a:xfrm>
            <a:off x="4571998" y="2332095"/>
            <a:ext cx="575733" cy="369332"/>
          </a:xfrm>
          <a:prstGeom prst="leftArrow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5242075" y="2332095"/>
            <a:ext cx="601447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제한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2609" y="1561841"/>
            <a:ext cx="67037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ko-KR" altLang="en-US" sz="1400" b="1">
                <a:solidFill>
                  <a:schemeClr val="accent1">
                    <a:lumMod val="50000"/>
                  </a:schemeClr>
                </a:solidFill>
              </a:rPr>
              <a:t>등록전</a:t>
            </a:r>
            <a:endParaRPr lang="ko-KR" alt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22609" y="2517534"/>
            <a:ext cx="67037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ko-KR" altLang="en-US" sz="1400" b="1" dirty="0" err="1">
                <a:solidFill>
                  <a:schemeClr val="accent1">
                    <a:lumMod val="50000"/>
                  </a:schemeClr>
                </a:solidFill>
              </a:rPr>
              <a:t>등록후</a:t>
            </a:r>
            <a:endParaRPr lang="ko-KR" alt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883400" y="1492956"/>
            <a:ext cx="4960668" cy="4616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37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3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특허를 받을 수 있는 권리가 공유인 경우에는 각 공유자는 다른 공유자 모두의 동의를 받아야만 그 지분을 양도할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6874933" y="2186579"/>
            <a:ext cx="4960668" cy="1200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99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2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특허권이 공유인 경우에는 각 공유자는 다른 공유자 모두의 동의를 받아야만 그 지분을 양도하거나 그 지분을 목적으로 하는 질권을 설정할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99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4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특허권이 공유인 경우에는 각 공유자는 다른 공유자 모두의 동의를 받아야만 그 특허권에 대하여 </a:t>
            </a:r>
            <a:r>
              <a:rPr lang="ko-KR" altLang="en-US" sz="12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200" dirty="0">
                <a:solidFill>
                  <a:schemeClr val="tx2"/>
                </a:solidFill>
              </a:rPr>
              <a:t> 설정하거나 </a:t>
            </a:r>
            <a:r>
              <a:rPr lang="ko-KR" altLang="en-US" sz="12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200" dirty="0">
                <a:solidFill>
                  <a:schemeClr val="tx2"/>
                </a:solidFill>
              </a:rPr>
              <a:t> 허락할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43" name="꺾인 연결선 42"/>
          <p:cNvCxnSpPr>
            <a:stCxn id="37" idx="3"/>
            <a:endCxn id="38" idx="1"/>
          </p:cNvCxnSpPr>
          <p:nvPr/>
        </p:nvCxnSpPr>
        <p:spPr>
          <a:xfrm flipV="1">
            <a:off x="5843522" y="1715730"/>
            <a:ext cx="279087" cy="80103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7" idx="3"/>
            <a:endCxn id="39" idx="1"/>
          </p:cNvCxnSpPr>
          <p:nvPr/>
        </p:nvCxnSpPr>
        <p:spPr>
          <a:xfrm>
            <a:off x="5843522" y="2516761"/>
            <a:ext cx="279087" cy="15466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2312159" y="3886200"/>
            <a:ext cx="953190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112897"/>
              </p:ext>
            </p:extLst>
          </p:nvPr>
        </p:nvGraphicFramePr>
        <p:xfrm>
          <a:off x="2428427" y="4421024"/>
          <a:ext cx="3489772" cy="156972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87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상대적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백만원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천만원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일억원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4" name="그룹 53"/>
          <p:cNvGrpSpPr/>
          <p:nvPr/>
        </p:nvGrpSpPr>
        <p:grpSpPr>
          <a:xfrm>
            <a:off x="6244163" y="4622800"/>
            <a:ext cx="1443571" cy="982134"/>
            <a:chOff x="6659029" y="4622800"/>
            <a:chExt cx="1443571" cy="982134"/>
          </a:xfrm>
        </p:grpSpPr>
        <p:sp>
          <p:nvSpPr>
            <p:cNvPr id="51" name="오른쪽 화살표 50"/>
            <p:cNvSpPr/>
            <p:nvPr/>
          </p:nvSpPr>
          <p:spPr>
            <a:xfrm>
              <a:off x="6680200" y="4622800"/>
              <a:ext cx="1422400" cy="982134"/>
            </a:xfrm>
            <a:prstGeom prst="rightArrow">
              <a:avLst>
                <a:gd name="adj1" fmla="val 71348"/>
                <a:gd name="adj2" fmla="val 51191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659029" y="4823320"/>
              <a:ext cx="12784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甲이 丁에게 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지분 </a:t>
              </a:r>
              <a:r>
                <a:rPr lang="en-US" altLang="ko-KR" sz="1400" dirty="0"/>
                <a:t>5% </a:t>
              </a:r>
              <a:r>
                <a:rPr lang="ko-KR" altLang="en-US" sz="1400" dirty="0"/>
                <a:t>양도</a:t>
              </a:r>
            </a:p>
          </p:txBody>
        </p:sp>
      </p:grp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191136"/>
              </p:ext>
            </p:extLst>
          </p:nvPr>
        </p:nvGraphicFramePr>
        <p:xfrm>
          <a:off x="8024893" y="4421024"/>
          <a:ext cx="3489772" cy="194056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87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상대적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55%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백만원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천만원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일억원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일조원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23579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공유물의 분할청구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407</a:t>
            </a:fld>
            <a:endParaRPr lang="ko-KR" altLang="en-US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498123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2014. 8. 20.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2013</a:t>
            </a:r>
            <a:r>
              <a:rPr lang="ko-KR" altLang="en-US" sz="1400" dirty="0"/>
              <a:t>다</a:t>
            </a:r>
            <a:r>
              <a:rPr lang="en-US" altLang="ko-KR" sz="1400" dirty="0"/>
              <a:t>41578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공유물분할</a:t>
            </a:r>
            <a:r>
              <a:rPr lang="en-US" altLang="ko-KR" sz="1400" dirty="0"/>
              <a:t>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469453"/>
            <a:ext cx="116819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특허법 제</a:t>
            </a:r>
            <a:r>
              <a:rPr lang="en-US" altLang="ko-KR" sz="1200" dirty="0"/>
              <a:t>99</a:t>
            </a:r>
            <a:r>
              <a:rPr lang="ko-KR" altLang="en-US" sz="1200" dirty="0"/>
              <a:t>조 제</a:t>
            </a:r>
            <a:r>
              <a:rPr lang="en-US" altLang="ko-KR" sz="1200" dirty="0"/>
              <a:t>2</a:t>
            </a:r>
            <a:r>
              <a:rPr lang="ko-KR" altLang="en-US" sz="1200" dirty="0"/>
              <a:t>항 및 제</a:t>
            </a:r>
            <a:r>
              <a:rPr lang="en-US" altLang="ko-KR" sz="1200" dirty="0"/>
              <a:t>4</a:t>
            </a:r>
            <a:r>
              <a:rPr lang="ko-KR" altLang="en-US" sz="1200" dirty="0"/>
              <a:t>항의 규정 취지는</a:t>
            </a:r>
            <a:r>
              <a:rPr lang="en-US" altLang="ko-KR" sz="1200" dirty="0"/>
              <a:t>, </a:t>
            </a:r>
            <a:r>
              <a:rPr lang="ko-KR" altLang="en-US" sz="1200" dirty="0"/>
              <a:t>공유자 외의 제</a:t>
            </a:r>
            <a:r>
              <a:rPr lang="en-US" altLang="ko-KR" sz="1200" dirty="0"/>
              <a:t>3</a:t>
            </a:r>
            <a:r>
              <a:rPr lang="ko-KR" altLang="en-US" sz="1200" dirty="0"/>
              <a:t>자가 특허권 지분을 양도받거나 그에 관한 실시권을 </a:t>
            </a:r>
            <a:r>
              <a:rPr lang="ko-KR" altLang="en-US" sz="1200" dirty="0" err="1"/>
              <a:t>설정받을</a:t>
            </a:r>
            <a:r>
              <a:rPr lang="ko-KR" altLang="en-US" sz="1200" dirty="0"/>
              <a:t> 경우 그 제</a:t>
            </a:r>
            <a:r>
              <a:rPr lang="en-US" altLang="ko-KR" sz="1200" dirty="0"/>
              <a:t>3</a:t>
            </a:r>
            <a:r>
              <a:rPr lang="ko-KR" altLang="en-US" sz="1200" dirty="0"/>
              <a:t>자가 투입하는 자본의 </a:t>
            </a:r>
            <a:r>
              <a:rPr lang="ko-KR" altLang="en-US" sz="1200" dirty="0" err="1"/>
              <a:t>규모ㆍ기술</a:t>
            </a:r>
            <a:r>
              <a:rPr lang="ko-KR" altLang="en-US" sz="1200" dirty="0"/>
              <a:t> 및 능력 등에 따라 그 경제적 효과가 현저하게 달라지게 되어 다른 공유자 지분의 경제적 가치에도 상당한 변동을 가져올 수 있는 특허권의 공유관계의 특수성을 고려하여</a:t>
            </a:r>
            <a:r>
              <a:rPr lang="en-US" altLang="ko-KR" sz="1200" dirty="0"/>
              <a:t>, </a:t>
            </a:r>
            <a:r>
              <a:rPr lang="ko-KR" altLang="en-US" sz="1200" dirty="0"/>
              <a:t>다른 공유자의 동의 없는 지분의 양도 및 </a:t>
            </a:r>
            <a:r>
              <a:rPr lang="ko-KR" altLang="en-US" sz="1200" dirty="0" err="1"/>
              <a:t>실시권</a:t>
            </a:r>
            <a:r>
              <a:rPr lang="ko-KR" altLang="en-US" sz="1200" dirty="0"/>
              <a:t> 설정 등을 금지한다는 데에 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그렇다면 </a:t>
            </a:r>
            <a:r>
              <a:rPr lang="en-US" altLang="ko-KR" sz="1200" dirty="0"/>
              <a:t>1) </a:t>
            </a:r>
            <a:r>
              <a:rPr lang="ko-KR" altLang="en-US" sz="1200" dirty="0"/>
              <a:t>특허권의 공유자 상호간에 이해관계가 대립되는 경우 등에 그 공유관계를 해소하기 위한 수단으로서 각 공유자에게 민법상의 공유물분할청구권을 인정하더라도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공유자 이외의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자에 의하여 다른 공유자 지분의 경제적 가치에 위와 같은 변동이 발생한다고 보기 어려워서 위 특허법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99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조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 및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항에 반하지 아니하고</a:t>
            </a:r>
            <a:r>
              <a:rPr lang="en-US" altLang="ko-KR" sz="1200" dirty="0"/>
              <a:t>, 2) </a:t>
            </a:r>
            <a:r>
              <a:rPr lang="ko-KR" altLang="en-US" sz="1200" dirty="0"/>
              <a:t>달리 분할청구를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CCECFF"/>
                </a:highlight>
              </a:rPr>
              <a:t>금지하는 특허법 규정도 없으므로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/>
              <a:t>특허권의 공유관계에 민법상 공유물분할청구에 관한 규정이 적용될 수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다만 특허권은 발명실시에 대한 독점권으로서 그 대상은 형체가 없을 뿐만 아니라 각 공유자에게 특허권을 부여하는 방식의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현물분할을 인정하면 하나의 특허권이 사실상 내용이 동일한 복수의 특허권으로 증가하는 부당한 결과를 초래하게 되므로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특허권의 성질상 그러한 현물분할은 허용되지 아니한다</a:t>
            </a:r>
            <a:r>
              <a:rPr lang="ko-KR" altLang="en-US" sz="1200" dirty="0"/>
              <a:t>고 봄이 상당하다</a:t>
            </a:r>
            <a:endParaRPr lang="en-US" altLang="ko-KR" sz="1200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B7D8B57-08E9-4752-8D90-0D1D0602B6B2}"/>
              </a:ext>
            </a:extLst>
          </p:cNvPr>
          <p:cNvCxnSpPr/>
          <p:nvPr/>
        </p:nvCxnSpPr>
        <p:spPr>
          <a:xfrm>
            <a:off x="0" y="2879008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576" y="3259730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1288217" y="3515905"/>
            <a:ext cx="1871436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개인발명자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와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기업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 특허권 공유 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2146565" y="31657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2223934" y="332713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06C7183-3A8A-4CA0-89EE-E9F87C3CAAC7}"/>
              </a:ext>
            </a:extLst>
          </p:cNvPr>
          <p:cNvSpPr txBox="1"/>
          <p:nvPr/>
        </p:nvSpPr>
        <p:spPr>
          <a:xfrm>
            <a:off x="1150762" y="4674749"/>
            <a:ext cx="2146346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乙이 실시사업을 진행하여 상당한 매출을 올리고 있으며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甲에게 자문료를 지급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4EAA1F7-D529-4AA7-9717-4E841CCFA88C}"/>
              </a:ext>
            </a:extLst>
          </p:cNvPr>
          <p:cNvSpPr/>
          <p:nvPr/>
        </p:nvSpPr>
        <p:spPr>
          <a:xfrm>
            <a:off x="4773233" y="31657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D16809-C4A7-44CE-9A18-97BA633F6083}"/>
              </a:ext>
            </a:extLst>
          </p:cNvPr>
          <p:cNvSpPr txBox="1"/>
          <p:nvPr/>
        </p:nvSpPr>
        <p:spPr>
          <a:xfrm>
            <a:off x="6216951" y="3515905"/>
            <a:ext cx="1737975" cy="52322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丙이 공유물 분할청구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소송제기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E7E84DE-983F-469F-B385-5DD99D3002FB}"/>
              </a:ext>
            </a:extLst>
          </p:cNvPr>
          <p:cNvSpPr/>
          <p:nvPr/>
        </p:nvSpPr>
        <p:spPr>
          <a:xfrm>
            <a:off x="7008567" y="31657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E261082-147B-40B2-927C-0F24B41D5FCE}"/>
              </a:ext>
            </a:extLst>
          </p:cNvPr>
          <p:cNvCxnSpPr>
            <a:stCxn id="62" idx="0"/>
            <a:endCxn id="63" idx="4"/>
          </p:cNvCxnSpPr>
          <p:nvPr/>
        </p:nvCxnSpPr>
        <p:spPr>
          <a:xfrm flipH="1" flipV="1">
            <a:off x="7085936" y="3327134"/>
            <a:ext cx="3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6DCC2D84-C776-4113-8BB2-E7990440EE5E}"/>
              </a:ext>
            </a:extLst>
          </p:cNvPr>
          <p:cNvSpPr/>
          <p:nvPr/>
        </p:nvSpPr>
        <p:spPr>
          <a:xfrm>
            <a:off x="9503993" y="31657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DE85959-105F-4189-96D0-83C390BEC4F9}"/>
              </a:ext>
            </a:extLst>
          </p:cNvPr>
          <p:cNvCxnSpPr>
            <a:stCxn id="65" idx="0"/>
            <a:endCxn id="66" idx="4"/>
          </p:cNvCxnSpPr>
          <p:nvPr/>
        </p:nvCxnSpPr>
        <p:spPr>
          <a:xfrm flipH="1" flipV="1">
            <a:off x="9581362" y="332713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D153D81-5D9C-4AFA-8718-9C080C141B39}"/>
              </a:ext>
            </a:extLst>
          </p:cNvPr>
          <p:cNvCxnSpPr>
            <a:stCxn id="44" idx="2"/>
            <a:endCxn id="50" idx="0"/>
          </p:cNvCxnSpPr>
          <p:nvPr/>
        </p:nvCxnSpPr>
        <p:spPr>
          <a:xfrm>
            <a:off x="2223935" y="4039125"/>
            <a:ext cx="0" cy="6356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0943674-B4FC-4356-A58A-C4F12CCD367F}"/>
              </a:ext>
            </a:extLst>
          </p:cNvPr>
          <p:cNvSpPr txBox="1"/>
          <p:nvPr/>
        </p:nvSpPr>
        <p:spPr>
          <a:xfrm>
            <a:off x="3922007" y="3515905"/>
            <a:ext cx="1871436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사망으로 丙이 상속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1FE06F-7DAC-4598-8300-D7104B6B4D51}"/>
              </a:ext>
            </a:extLst>
          </p:cNvPr>
          <p:cNvSpPr txBox="1"/>
          <p:nvPr/>
        </p:nvSpPr>
        <p:spPr>
          <a:xfrm>
            <a:off x="3784552" y="4674749"/>
            <a:ext cx="214634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乙이 더 이상 丙에게 자문료를 지급하지 않음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7CA3ACF-753F-4556-BAC8-D2F58DF8930B}"/>
              </a:ext>
            </a:extLst>
          </p:cNvPr>
          <p:cNvCxnSpPr>
            <a:stCxn id="68" idx="2"/>
            <a:endCxn id="69" idx="0"/>
          </p:cNvCxnSpPr>
          <p:nvPr/>
        </p:nvCxnSpPr>
        <p:spPr>
          <a:xfrm>
            <a:off x="4857725" y="3823682"/>
            <a:ext cx="0" cy="8510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9F54EACA-7168-48FD-9C82-13C062D99775}"/>
              </a:ext>
            </a:extLst>
          </p:cNvPr>
          <p:cNvCxnSpPr>
            <a:cxnSpLocks/>
            <a:stCxn id="68" idx="0"/>
            <a:endCxn id="57" idx="4"/>
          </p:cNvCxnSpPr>
          <p:nvPr/>
        </p:nvCxnSpPr>
        <p:spPr>
          <a:xfrm flipH="1" flipV="1">
            <a:off x="4850602" y="3327134"/>
            <a:ext cx="7123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1C02078-6C4F-4F1C-8610-22DCE684B2F3}"/>
              </a:ext>
            </a:extLst>
          </p:cNvPr>
          <p:cNvSpPr txBox="1"/>
          <p:nvPr/>
        </p:nvSpPr>
        <p:spPr>
          <a:xfrm>
            <a:off x="8144519" y="4039169"/>
            <a:ext cx="2873686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분할가능하나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무체성으로 인해 현물분할은 불인정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5220A345-F9B8-4BA7-96C6-2C5E2D0086E6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9581362" y="3188102"/>
            <a:ext cx="0" cy="8510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6DCFA2-4E7D-4635-92CA-3580B1AE8CD4}"/>
              </a:ext>
            </a:extLst>
          </p:cNvPr>
          <p:cNvSpPr txBox="1"/>
          <p:nvPr/>
        </p:nvSpPr>
        <p:spPr>
          <a:xfrm>
            <a:off x="6418342" y="5330989"/>
            <a:ext cx="2784737" cy="369332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乙은 어떻게 보호할 것인가</a:t>
            </a:r>
            <a:r>
              <a:rPr lang="en-US" altLang="ko-KR" dirty="0">
                <a:solidFill>
                  <a:schemeClr val="bg1"/>
                </a:solidFill>
              </a:rPr>
              <a:t>?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D0BB0B-1F8E-4831-9E42-BE222378E1EC}"/>
              </a:ext>
            </a:extLst>
          </p:cNvPr>
          <p:cNvSpPr txBox="1"/>
          <p:nvPr/>
        </p:nvSpPr>
        <p:spPr>
          <a:xfrm>
            <a:off x="9327126" y="3515905"/>
            <a:ext cx="508473" cy="307777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판단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A61FE-FEE6-4862-AD6F-013BC53F8123}"/>
              </a:ext>
            </a:extLst>
          </p:cNvPr>
          <p:cNvSpPr txBox="1"/>
          <p:nvPr/>
        </p:nvSpPr>
        <p:spPr>
          <a:xfrm>
            <a:off x="9327126" y="5261501"/>
            <a:ext cx="19447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우선매수청구권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rgbClr val="FF0000"/>
                </a:solidFill>
              </a:rPr>
              <a:t>법정실시권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개정법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7CEC8B8-C2A8-4E4C-B322-5C37CC966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34" y="5988475"/>
            <a:ext cx="11464329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제122조(질권행사 등으로 인한 특허권의 이전에 따른 통상실시권)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특허권자(공유인 특허권을 분할청구한 경우에는 분할청구를 한 공유자를 제외한 나머지 공유자를 말한다)는 특허권을 목적으로 하는 질권설정 또는 공유인 특허권의 분할청구 이전에 그 특허발명을 실시하고 있는 경우에는 그 특허권이 경매 등에 의하여 이전되더라도 그 특허발명에 대하여 통상실시권을 가진다. 이 경우 특허권자는 경매 등에 의하여 특허권을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이전받은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자에게 상당한 대가를 지급하여야 한다.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ko-KR" altLang="ko-K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183901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특허권의 공유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408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7875" y="1341693"/>
            <a:ext cx="119363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[1] </a:t>
            </a:r>
            <a:r>
              <a:rPr lang="ko-KR" altLang="en-US" sz="1400" dirty="0"/>
              <a:t>특허권의 일부 공유지분의 이전청구권을 보전하기 위한 </a:t>
            </a:r>
            <a:r>
              <a:rPr lang="ko-KR" altLang="en-US" sz="1400" dirty="0" err="1"/>
              <a:t>처분금지가처분결정에</a:t>
            </a:r>
            <a:r>
              <a:rPr lang="ko-KR" altLang="en-US" sz="1400" dirty="0"/>
              <a:t> 기하여 가처분등록이 </a:t>
            </a:r>
            <a:r>
              <a:rPr lang="ko-KR" altLang="en-US" sz="1400" dirty="0" err="1"/>
              <a:t>경료된</a:t>
            </a:r>
            <a:r>
              <a:rPr lang="ko-KR" altLang="en-US" sz="1400" dirty="0"/>
              <a:t> 후 특허권이 전부 제</a:t>
            </a:r>
            <a:r>
              <a:rPr lang="en-US" altLang="ko-KR" sz="1400" dirty="0"/>
              <a:t>3</a:t>
            </a:r>
            <a:r>
              <a:rPr lang="ko-KR" altLang="en-US" sz="1400" dirty="0"/>
              <a:t>자에게 이전된 상태에서 </a:t>
            </a:r>
            <a:r>
              <a:rPr lang="ko-KR" altLang="en-US" sz="1400" dirty="0" err="1"/>
              <a:t>가처분권자인</a:t>
            </a:r>
            <a:r>
              <a:rPr lang="ko-KR" altLang="en-US" sz="1400" dirty="0"/>
              <a:t> 그 지분의 양수인이 본안소송에서 승소하여 그 지분에 대한 이전등록이 이루어졌다면</a:t>
            </a:r>
            <a:r>
              <a:rPr lang="en-US" altLang="ko-KR" sz="1400" dirty="0"/>
              <a:t>, </a:t>
            </a:r>
            <a:r>
              <a:rPr lang="ko-KR" altLang="en-US" sz="1400" dirty="0"/>
              <a:t>위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가처분등록 이후의 특허권 이전은 양수인 앞으로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이전등록된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지분의 범위 내에서만 무효가 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</a:p>
          <a:p>
            <a:pPr fontAlgn="base"/>
            <a:r>
              <a:rPr lang="en-US" altLang="ko-KR" sz="1400" dirty="0"/>
              <a:t>[2] </a:t>
            </a:r>
            <a:r>
              <a:rPr lang="ko-KR" altLang="en-US" sz="1400" dirty="0"/>
              <a:t>특허권을 공유하는 경우에 각 공유자는 다른 공유자의 동의를 얻지 아니하면 그 지분을 양도하거나 그 지분을 목적으로 하는 질권을 설정할 수 없고</a:t>
            </a:r>
            <a:r>
              <a:rPr lang="en-US" altLang="ko-KR" sz="1400" dirty="0"/>
              <a:t>, </a:t>
            </a:r>
            <a:r>
              <a:rPr lang="ko-KR" altLang="en-US" sz="1400" dirty="0"/>
              <a:t>그 특허권에 대하여 전용실시권을 설정하거나 통상실시권을 허락할 수 없는 등 특허권의 공유관계는 </a:t>
            </a:r>
            <a:r>
              <a:rPr lang="ko-KR" altLang="en-US" sz="1400" dirty="0" err="1"/>
              <a:t>합유에</a:t>
            </a:r>
            <a:r>
              <a:rPr lang="ko-KR" altLang="en-US" sz="1400" dirty="0"/>
              <a:t> 준하는 성질을 가진다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dirty="0"/>
              <a:t>[3] </a:t>
            </a:r>
            <a:r>
              <a:rPr lang="ko-KR" altLang="en-US" sz="1400" dirty="0"/>
              <a:t>특허권의 일부 지분을 양수하기로 한 자는 그 지분의 이전등록이 있기까지는 특허권의 공유자로서 양수의 목적이 되지 아니한 다른 지분의 양도에 대하여 동의권을 행사할 수 없는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다른 지분의 처분을 저지할 수 있는 특약이 존재하는 등의 특별한 사정이 있는 경우가 아니라면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양수의 목적이 된 지분의 이전등록 이전에 그러한 동의권의 보전을 위한 가처분이나 다른 지분에 대한 처분금지의 가처분을 구하는 것은 허용되지 않는다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</a:p>
          <a:p>
            <a:pPr fontAlgn="base"/>
            <a:r>
              <a:rPr lang="en-US" altLang="ko-KR" sz="1400" dirty="0"/>
              <a:t>[4] </a:t>
            </a:r>
            <a:r>
              <a:rPr lang="ko-KR" altLang="en-US" sz="1400" dirty="0"/>
              <a:t>특허권의 </a:t>
            </a:r>
            <a:r>
              <a:rPr lang="ko-KR" altLang="en-US" sz="1400" dirty="0" err="1"/>
              <a:t>전용실시권자는</a:t>
            </a:r>
            <a:r>
              <a:rPr lang="ko-KR" altLang="en-US" sz="1400" dirty="0"/>
              <a:t> 그 설정행위로 정한 범위 안에서 업으로서 그 특허발명을 실시할 권리를 독점하고 그 범위 내에서는 </a:t>
            </a:r>
            <a:r>
              <a:rPr lang="ko-KR" altLang="en-US" sz="1400" dirty="0" err="1"/>
              <a:t>특허권자일지라도</a:t>
            </a:r>
            <a:r>
              <a:rPr lang="ko-KR" altLang="en-US" sz="1400" dirty="0"/>
              <a:t> 그 특허권을 실시할 수 없는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특허권이 공유인 경우 각 공유자는 다른 공유자의 동의를 얻지 아니하면 그 특허권에 대하여 전용실시권을 설정할 수 없는 </a:t>
            </a:r>
            <a:r>
              <a:rPr lang="ko-KR" altLang="en-US" sz="1400" dirty="0" err="1"/>
              <a:t>것인바</a:t>
            </a:r>
            <a:r>
              <a:rPr lang="en-US" altLang="ko-KR" sz="1400" dirty="0"/>
              <a:t>, </a:t>
            </a:r>
            <a:r>
              <a:rPr lang="ko-KR" altLang="en-US" sz="1400" dirty="0"/>
              <a:t>공유자의 한 사람이 다른 공유자의 동의를 얻어 전용실시권을 설정하는 경우에도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전용실시권의 설정은 특허권의 일부 지분에 국한된 처분이 아니라 특허권 자체에 대한 처분행위에 해당하는 것이며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전용실시권의 성질상 특허권의 일부 지분에 대한 전용실시권의 설정은 상정할 수 없는 것이므로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특허권의 일부 지분에 대하여만 처분행위를 금하는 가처분등록이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경료된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후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 앞으로 당해 특허권에 대한 전용실시권이 설정된 경우에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가처분권자가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본안소송에서 승소하여 그 앞으로 위 일부 지분에 관한 이전등록이 이루어졌다면 그 전용실시권의 설정은 그 전부가 위 가처분의 취지에 반하는 것으로서 무효가 된다고 보아야 할 것이고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/>
              <a:t>이는 전용실시권 설정 당시 </a:t>
            </a:r>
            <a:r>
              <a:rPr lang="ko-KR" altLang="en-US" sz="1400" dirty="0" err="1"/>
              <a:t>가처분권자가</a:t>
            </a:r>
            <a:r>
              <a:rPr lang="ko-KR" altLang="en-US" sz="1400" dirty="0"/>
              <a:t> 그 설정에 대하여 동의를 할 지위에 있지 아니하였다고 하더라도 마찬가지이다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ACCDA59F-2AF7-4FC8-9236-82288B8FB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5674863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4A9B38-9CBF-428C-922A-DB33022A9147}"/>
              </a:ext>
            </a:extLst>
          </p:cNvPr>
          <p:cNvSpPr txBox="1"/>
          <p:nvPr/>
        </p:nvSpPr>
        <p:spPr>
          <a:xfrm>
            <a:off x="878336" y="5127081"/>
            <a:ext cx="70892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등록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DE53CC-C4D9-422B-AF3A-7B30A9EA5F60}"/>
              </a:ext>
            </a:extLst>
          </p:cNvPr>
          <p:cNvSpPr/>
          <p:nvPr/>
        </p:nvSpPr>
        <p:spPr>
          <a:xfrm>
            <a:off x="1162223" y="5588014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08FCD3A-E182-4831-A770-42918078B18B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1232797" y="5404080"/>
            <a:ext cx="1" cy="1839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3D1C3A-9892-4861-9E7D-128450D07D78}"/>
              </a:ext>
            </a:extLst>
          </p:cNvPr>
          <p:cNvSpPr/>
          <p:nvPr/>
        </p:nvSpPr>
        <p:spPr>
          <a:xfrm>
            <a:off x="113937" y="964867"/>
            <a:ext cx="6273653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1999. 3. 26. </a:t>
            </a:r>
            <a:r>
              <a:rPr lang="ko-KR" altLang="en-US" sz="1600" dirty="0"/>
              <a:t>선고 </a:t>
            </a:r>
            <a:r>
              <a:rPr lang="en-US" altLang="ko-KR" sz="1600" dirty="0"/>
              <a:t>97</a:t>
            </a:r>
            <a:r>
              <a:rPr lang="ko-KR" altLang="en-US" sz="1600" dirty="0"/>
              <a:t>다</a:t>
            </a:r>
            <a:r>
              <a:rPr lang="en-US" altLang="ko-KR" sz="1600" dirty="0"/>
              <a:t>41295 </a:t>
            </a:r>
            <a:r>
              <a:rPr lang="ko-KR" altLang="en-US" sz="1600" dirty="0"/>
              <a:t>판결 </a:t>
            </a:r>
            <a:r>
              <a:rPr lang="en-US" altLang="ko-KR" sz="1600" dirty="0"/>
              <a:t>【</a:t>
            </a:r>
            <a:r>
              <a:rPr lang="ko-KR" altLang="en-US" sz="1600" dirty="0" err="1"/>
              <a:t>특허권이전등록말소등</a:t>
            </a:r>
            <a:r>
              <a:rPr lang="en-US" altLang="ko-KR" sz="1600" dirty="0"/>
              <a:t>】</a:t>
            </a:r>
            <a:endParaRPr lang="ko-KR" altLang="en-US" sz="1600" dirty="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5DA65B5-3277-4ADF-95AF-47AB4FD658B7}"/>
              </a:ext>
            </a:extLst>
          </p:cNvPr>
          <p:cNvCxnSpPr/>
          <p:nvPr/>
        </p:nvCxnSpPr>
        <p:spPr>
          <a:xfrm>
            <a:off x="0" y="4665680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999B311-108C-4360-B404-112176F90F45}"/>
              </a:ext>
            </a:extLst>
          </p:cNvPr>
          <p:cNvSpPr txBox="1"/>
          <p:nvPr/>
        </p:nvSpPr>
        <p:spPr>
          <a:xfrm>
            <a:off x="1161554" y="5931038"/>
            <a:ext cx="122460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지분처분금지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가처분신청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9A5A288-5FA6-46E6-BC75-43B7FB32100D}"/>
              </a:ext>
            </a:extLst>
          </p:cNvPr>
          <p:cNvSpPr/>
          <p:nvPr/>
        </p:nvSpPr>
        <p:spPr>
          <a:xfrm>
            <a:off x="1703281" y="5588014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A0317E4-1917-4596-8F89-DE15A2F8693F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1773855" y="5735182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AB214D8-931B-4BB3-A124-6E6705FABAD5}"/>
              </a:ext>
            </a:extLst>
          </p:cNvPr>
          <p:cNvSpPr txBox="1"/>
          <p:nvPr/>
        </p:nvSpPr>
        <p:spPr>
          <a:xfrm>
            <a:off x="3862354" y="5931038"/>
            <a:ext cx="1224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가처분결정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CC08926-976F-40F3-A94F-F23E1F51991B}"/>
              </a:ext>
            </a:extLst>
          </p:cNvPr>
          <p:cNvSpPr/>
          <p:nvPr/>
        </p:nvSpPr>
        <p:spPr>
          <a:xfrm>
            <a:off x="4404081" y="5588014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1B931D4-40CF-4CEB-BF92-481163D513F4}"/>
              </a:ext>
            </a:extLst>
          </p:cNvPr>
          <p:cNvCxnSpPr>
            <a:cxnSpLocks/>
            <a:stCxn id="32" idx="0"/>
            <a:endCxn id="33" idx="4"/>
          </p:cNvCxnSpPr>
          <p:nvPr/>
        </p:nvCxnSpPr>
        <p:spPr>
          <a:xfrm flipH="1" flipV="1">
            <a:off x="4474655" y="5735182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A40FF4B-94C3-4A7E-B155-367688F02EF3}"/>
              </a:ext>
            </a:extLst>
          </p:cNvPr>
          <p:cNvSpPr txBox="1"/>
          <p:nvPr/>
        </p:nvSpPr>
        <p:spPr>
          <a:xfrm>
            <a:off x="4221534" y="5127081"/>
            <a:ext cx="1692826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丙에게 전용실시권 설정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A0FB48A-E8A6-4FA8-82E8-35B2F2E3A82E}"/>
              </a:ext>
            </a:extLst>
          </p:cNvPr>
          <p:cNvSpPr/>
          <p:nvPr/>
        </p:nvSpPr>
        <p:spPr>
          <a:xfrm>
            <a:off x="4997372" y="5588014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417D011-868E-44E6-8957-4E1BC62E9D22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5067946" y="5404080"/>
            <a:ext cx="1" cy="1839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7BE132B-AD0A-4F1A-9FAA-71045A2ECA31}"/>
              </a:ext>
            </a:extLst>
          </p:cNvPr>
          <p:cNvSpPr txBox="1"/>
          <p:nvPr/>
        </p:nvSpPr>
        <p:spPr>
          <a:xfrm>
            <a:off x="6062279" y="5127081"/>
            <a:ext cx="148444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丁에게 특허권 이전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6521B08C-3631-4A44-930F-87FEC238810C}"/>
              </a:ext>
            </a:extLst>
          </p:cNvPr>
          <p:cNvSpPr/>
          <p:nvPr/>
        </p:nvSpPr>
        <p:spPr>
          <a:xfrm>
            <a:off x="6733926" y="5588014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8AE8CA0-5E29-47FA-A606-321D1F1C5FDF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flipH="1">
            <a:off x="6804500" y="5404080"/>
            <a:ext cx="1" cy="1839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6E071B4-E48C-46B9-91BD-A2A18DB0491F}"/>
              </a:ext>
            </a:extLst>
          </p:cNvPr>
          <p:cNvSpPr txBox="1"/>
          <p:nvPr/>
        </p:nvSpPr>
        <p:spPr>
          <a:xfrm>
            <a:off x="2490380" y="5931038"/>
            <a:ext cx="122460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지분이전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소송제기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7DE80D1-B72C-4C6A-98BE-80D58825955E}"/>
              </a:ext>
            </a:extLst>
          </p:cNvPr>
          <p:cNvSpPr/>
          <p:nvPr/>
        </p:nvSpPr>
        <p:spPr>
          <a:xfrm>
            <a:off x="3032107" y="5588014"/>
            <a:ext cx="141148" cy="14716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54A13B5-8B33-4ED1-AA4B-047EDDA2514F}"/>
              </a:ext>
            </a:extLst>
          </p:cNvPr>
          <p:cNvCxnSpPr>
            <a:cxnSpLocks/>
            <a:stCxn id="47" idx="0"/>
            <a:endCxn id="48" idx="4"/>
          </p:cNvCxnSpPr>
          <p:nvPr/>
        </p:nvCxnSpPr>
        <p:spPr>
          <a:xfrm flipH="1" flipV="1">
            <a:off x="3102681" y="5735182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F9AC92B-B913-442A-913C-22422CF26F9D}"/>
              </a:ext>
            </a:extLst>
          </p:cNvPr>
          <p:cNvSpPr txBox="1"/>
          <p:nvPr/>
        </p:nvSpPr>
        <p:spPr>
          <a:xfrm>
            <a:off x="6860714" y="5931038"/>
            <a:ext cx="123087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승소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乙에게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지분이전등록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E078EF0B-6318-4E6F-987D-15EC027C44C1}"/>
              </a:ext>
            </a:extLst>
          </p:cNvPr>
          <p:cNvSpPr/>
          <p:nvPr/>
        </p:nvSpPr>
        <p:spPr>
          <a:xfrm>
            <a:off x="7405575" y="5588014"/>
            <a:ext cx="141148" cy="14716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ABEE451-11F6-47A4-A416-FAFB98DABBBA}"/>
              </a:ext>
            </a:extLst>
          </p:cNvPr>
          <p:cNvCxnSpPr>
            <a:cxnSpLocks/>
            <a:stCxn id="50" idx="0"/>
            <a:endCxn id="51" idx="4"/>
          </p:cNvCxnSpPr>
          <p:nvPr/>
        </p:nvCxnSpPr>
        <p:spPr>
          <a:xfrm flipH="1" flipV="1">
            <a:off x="7476149" y="5735182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A3A19E3-0A45-424A-817B-B132FD8DDE77}"/>
              </a:ext>
            </a:extLst>
          </p:cNvPr>
          <p:cNvSpPr txBox="1"/>
          <p:nvPr/>
        </p:nvSpPr>
        <p:spPr>
          <a:xfrm>
            <a:off x="8431419" y="4957325"/>
            <a:ext cx="2244525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95000"/>
                  </a:schemeClr>
                </a:solidFill>
              </a:rPr>
              <a:t>* </a:t>
            </a:r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</a:rPr>
              <a:t>丙 전용실시권 무효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 -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지분만큼 전용실시권 설정 불가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D634BF-5828-407D-9887-95D0D96C832D}"/>
              </a:ext>
            </a:extLst>
          </p:cNvPr>
          <p:cNvSpPr txBox="1"/>
          <p:nvPr/>
        </p:nvSpPr>
        <p:spPr>
          <a:xfrm>
            <a:off x="8431419" y="5869482"/>
            <a:ext cx="3225563" cy="769441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95000"/>
                  </a:schemeClr>
                </a:solidFill>
              </a:rPr>
              <a:t>* </a:t>
            </a:r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</a:rPr>
              <a:t>丁 특허권 이전은 甲 지분만큼 유효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지분만큼 특허권 이전 가능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 -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양도에 대한 </a:t>
            </a:r>
            <a:r>
              <a:rPr lang="ko-KR" altLang="en-US" sz="1200" dirty="0" err="1">
                <a:solidFill>
                  <a:schemeClr val="bg1">
                    <a:lumMod val="95000"/>
                  </a:schemeClr>
                </a:solidFill>
              </a:rPr>
              <a:t>동의권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 가처분 불가</a:t>
            </a:r>
          </a:p>
        </p:txBody>
      </p:sp>
    </p:spTree>
    <p:extLst>
      <p:ext uri="{BB962C8B-B14F-4D97-AF65-F5344CB8AC3E}">
        <p14:creationId xmlns:p14="http://schemas.microsoft.com/office/powerpoint/2010/main" val="308546121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실시권의</a:t>
            </a:r>
            <a:r>
              <a:rPr lang="ko-KR" altLang="en-US" dirty="0"/>
              <a:t> 종류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-36242" y="15092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실시권이란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400" dirty="0">
                <a:solidFill>
                  <a:schemeClr val="tx2"/>
                </a:solidFill>
              </a:rPr>
              <a:t> 이외의 자가 업으로서 특허발명을 실시할 수 있는 권리를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특허권의 침해가 되지 아니한 정당한 권원 중 하나</a:t>
            </a:r>
            <a:r>
              <a:rPr lang="ko-KR" altLang="en-US" sz="1400" dirty="0">
                <a:solidFill>
                  <a:schemeClr val="tx2"/>
                </a:solidFill>
              </a:rPr>
              <a:t>로서 특허권에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부수적인 권리</a:t>
            </a:r>
            <a:r>
              <a:rPr lang="ko-KR" altLang="en-US" sz="1400" dirty="0">
                <a:solidFill>
                  <a:schemeClr val="tx2"/>
                </a:solidFill>
              </a:rPr>
              <a:t>이기 때문에 특허권이 존재하여야만 발생할 수 있고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특허권이 소멸하면 </a:t>
            </a:r>
            <a:r>
              <a:rPr lang="ko-KR" altLang="en-US" sz="1400" dirty="0" err="1">
                <a:solidFill>
                  <a:schemeClr val="tx2"/>
                </a:solidFill>
              </a:rPr>
              <a:t>실시권도</a:t>
            </a:r>
            <a:r>
              <a:rPr lang="ko-KR" altLang="en-US" sz="1400" dirty="0">
                <a:solidFill>
                  <a:schemeClr val="tx2"/>
                </a:solidFill>
              </a:rPr>
              <a:t> 소멸한다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33375" y="3544441"/>
            <a:ext cx="868363" cy="57608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실시권</a:t>
            </a:r>
            <a:endParaRPr lang="ko-KR" altLang="en-US" dirty="0"/>
          </a:p>
        </p:txBody>
      </p:sp>
      <p:sp>
        <p:nvSpPr>
          <p:cNvPr id="42" name="직사각형 41"/>
          <p:cNvSpPr/>
          <p:nvPr/>
        </p:nvSpPr>
        <p:spPr>
          <a:xfrm>
            <a:off x="2161845" y="2572333"/>
            <a:ext cx="1322256" cy="32403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전용실시권</a:t>
            </a:r>
            <a:endParaRPr lang="ko-KR" altLang="en-US" sz="1600" dirty="0"/>
          </a:p>
        </p:txBody>
      </p:sp>
      <p:sp>
        <p:nvSpPr>
          <p:cNvPr id="44" name="직사각형 43"/>
          <p:cNvSpPr/>
          <p:nvPr/>
        </p:nvSpPr>
        <p:spPr>
          <a:xfrm>
            <a:off x="2161845" y="4372533"/>
            <a:ext cx="1322256" cy="32403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통상실시권</a:t>
            </a:r>
            <a:endParaRPr lang="ko-KR" altLang="en-US" sz="1600" dirty="0"/>
          </a:p>
        </p:txBody>
      </p:sp>
      <p:sp>
        <p:nvSpPr>
          <p:cNvPr id="47" name="직사각형 46"/>
          <p:cNvSpPr/>
          <p:nvPr/>
        </p:nvSpPr>
        <p:spPr>
          <a:xfrm>
            <a:off x="2161845" y="2896369"/>
            <a:ext cx="1322256" cy="54006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독점배타성 有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물권적 권리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2161845" y="4703043"/>
            <a:ext cx="1322256" cy="54006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독점배타성 無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채권적 권리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562111" y="2248297"/>
            <a:ext cx="1322256" cy="32403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허락실시권</a:t>
            </a:r>
            <a:endParaRPr lang="en-US" altLang="ko-KR" sz="1600" dirty="0"/>
          </a:p>
        </p:txBody>
      </p:sp>
      <p:sp>
        <p:nvSpPr>
          <p:cNvPr id="53" name="직사각형 52"/>
          <p:cNvSpPr/>
          <p:nvPr/>
        </p:nvSpPr>
        <p:spPr>
          <a:xfrm>
            <a:off x="4562111" y="2572333"/>
            <a:ext cx="1322256" cy="54006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특허권자의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의사에 의하여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562111" y="3724461"/>
            <a:ext cx="1322256" cy="32403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법정실시권</a:t>
            </a:r>
            <a:endParaRPr lang="ko-KR" altLang="en-US" sz="1600" dirty="0"/>
          </a:p>
        </p:txBody>
      </p:sp>
      <p:sp>
        <p:nvSpPr>
          <p:cNvPr id="57" name="직사각형 56"/>
          <p:cNvSpPr/>
          <p:nvPr/>
        </p:nvSpPr>
        <p:spPr>
          <a:xfrm>
            <a:off x="4562111" y="4048497"/>
            <a:ext cx="1322256" cy="54006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법률규정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만족에 의하여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562111" y="5243103"/>
            <a:ext cx="1322256" cy="32403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강제실시권</a:t>
            </a:r>
            <a:endParaRPr lang="ko-KR" altLang="en-US" sz="1600" dirty="0"/>
          </a:p>
        </p:txBody>
      </p:sp>
      <p:sp>
        <p:nvSpPr>
          <p:cNvPr id="59" name="직사각형 58"/>
          <p:cNvSpPr/>
          <p:nvPr/>
        </p:nvSpPr>
        <p:spPr>
          <a:xfrm>
            <a:off x="4562111" y="5567139"/>
            <a:ext cx="1322256" cy="54006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행정처분에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의하여 발생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60" name="직선 연결선 59"/>
          <p:cNvCxnSpPr>
            <a:stCxn id="42" idx="3"/>
            <a:endCxn id="50" idx="1"/>
          </p:cNvCxnSpPr>
          <p:nvPr/>
        </p:nvCxnSpPr>
        <p:spPr>
          <a:xfrm flipV="1">
            <a:off x="3484101" y="2410315"/>
            <a:ext cx="1078011" cy="3240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>
            <a:stCxn id="44" idx="3"/>
            <a:endCxn id="50" idx="1"/>
          </p:cNvCxnSpPr>
          <p:nvPr/>
        </p:nvCxnSpPr>
        <p:spPr>
          <a:xfrm flipV="1">
            <a:off x="3484101" y="2410315"/>
            <a:ext cx="1078011" cy="21242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>
            <a:stCxn id="44" idx="3"/>
            <a:endCxn id="56" idx="1"/>
          </p:cNvCxnSpPr>
          <p:nvPr/>
        </p:nvCxnSpPr>
        <p:spPr>
          <a:xfrm flipV="1">
            <a:off x="3484101" y="3886479"/>
            <a:ext cx="1078011" cy="6480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>
            <a:stCxn id="44" idx="3"/>
            <a:endCxn id="58" idx="1"/>
          </p:cNvCxnSpPr>
          <p:nvPr/>
        </p:nvCxnSpPr>
        <p:spPr>
          <a:xfrm>
            <a:off x="3484101" y="4534551"/>
            <a:ext cx="1078011" cy="87057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33" idx="3"/>
            <a:endCxn id="42" idx="1"/>
          </p:cNvCxnSpPr>
          <p:nvPr/>
        </p:nvCxnSpPr>
        <p:spPr>
          <a:xfrm flipV="1">
            <a:off x="1201738" y="2734351"/>
            <a:ext cx="960107" cy="109813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>
            <a:stCxn id="33" idx="3"/>
            <a:endCxn id="44" idx="1"/>
          </p:cNvCxnSpPr>
          <p:nvPr/>
        </p:nvCxnSpPr>
        <p:spPr>
          <a:xfrm>
            <a:off x="1201738" y="3832481"/>
            <a:ext cx="960107" cy="70207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56" idx="3"/>
            <a:endCxn id="78" idx="1"/>
          </p:cNvCxnSpPr>
          <p:nvPr/>
        </p:nvCxnSpPr>
        <p:spPr>
          <a:xfrm flipV="1">
            <a:off x="5884367" y="2244158"/>
            <a:ext cx="811708" cy="164232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56" idx="3"/>
            <a:endCxn id="79" idx="1"/>
          </p:cNvCxnSpPr>
          <p:nvPr/>
        </p:nvCxnSpPr>
        <p:spPr>
          <a:xfrm flipV="1">
            <a:off x="5884367" y="2535727"/>
            <a:ext cx="811708" cy="135075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56" idx="3"/>
            <a:endCxn id="85" idx="1"/>
          </p:cNvCxnSpPr>
          <p:nvPr/>
        </p:nvCxnSpPr>
        <p:spPr>
          <a:xfrm>
            <a:off x="5884367" y="3886479"/>
            <a:ext cx="811708" cy="68441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56" idx="3"/>
            <a:endCxn id="80" idx="1"/>
          </p:cNvCxnSpPr>
          <p:nvPr/>
        </p:nvCxnSpPr>
        <p:spPr>
          <a:xfrm flipV="1">
            <a:off x="5884367" y="2826337"/>
            <a:ext cx="811708" cy="106014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56" idx="3"/>
            <a:endCxn id="81" idx="1"/>
          </p:cNvCxnSpPr>
          <p:nvPr/>
        </p:nvCxnSpPr>
        <p:spPr>
          <a:xfrm flipV="1">
            <a:off x="5884367" y="3404615"/>
            <a:ext cx="811708" cy="48186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56" idx="3"/>
            <a:endCxn id="82" idx="1"/>
          </p:cNvCxnSpPr>
          <p:nvPr/>
        </p:nvCxnSpPr>
        <p:spPr>
          <a:xfrm flipV="1">
            <a:off x="5884367" y="3696183"/>
            <a:ext cx="811708" cy="19029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56" idx="3"/>
            <a:endCxn id="83" idx="1"/>
          </p:cNvCxnSpPr>
          <p:nvPr/>
        </p:nvCxnSpPr>
        <p:spPr>
          <a:xfrm>
            <a:off x="5884367" y="3886479"/>
            <a:ext cx="811708" cy="10127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56" idx="3"/>
            <a:endCxn id="84" idx="1"/>
          </p:cNvCxnSpPr>
          <p:nvPr/>
        </p:nvCxnSpPr>
        <p:spPr>
          <a:xfrm>
            <a:off x="5884367" y="3886479"/>
            <a:ext cx="811708" cy="39188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58" idx="3"/>
            <a:endCxn id="86" idx="1"/>
          </p:cNvCxnSpPr>
          <p:nvPr/>
        </p:nvCxnSpPr>
        <p:spPr>
          <a:xfrm flipV="1">
            <a:off x="5884367" y="5246755"/>
            <a:ext cx="811708" cy="15836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58" idx="3"/>
            <a:endCxn id="88" idx="1"/>
          </p:cNvCxnSpPr>
          <p:nvPr/>
        </p:nvCxnSpPr>
        <p:spPr>
          <a:xfrm>
            <a:off x="5884367" y="5405121"/>
            <a:ext cx="811708" cy="42381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>
            <a:stCxn id="58" idx="3"/>
            <a:endCxn id="87" idx="1"/>
          </p:cNvCxnSpPr>
          <p:nvPr/>
        </p:nvCxnSpPr>
        <p:spPr>
          <a:xfrm>
            <a:off x="5884367" y="5405121"/>
            <a:ext cx="811708" cy="13320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6696075" y="2122671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직무발명에 대한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696075" y="2414240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추가납부 또는 보전에 의하여 회복한 특허출원과 특허권에 대한 통상실시권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6696075" y="2704850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선사용에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696075" y="3283128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무효심판청구 등록 전의 실시에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6696075" y="3574696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디자인권의</a:t>
            </a:r>
            <a:r>
              <a:rPr lang="ko-KR" altLang="en-US" sz="1200" dirty="0">
                <a:solidFill>
                  <a:schemeClr val="tx1"/>
                </a:solidFill>
              </a:rPr>
              <a:t> 존속기간 만료 후의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6696075" y="3866265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질권행사 등으로 인한 특허권의 이전에 따른 통상실시권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6696075" y="4156876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재심에 의하여 회복한 특허권에 대한 선사용자의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696075" y="4449403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재심에 의하여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통상실시권을</a:t>
            </a:r>
            <a:r>
              <a:rPr lang="ko-KR" altLang="en-US" sz="1200" dirty="0">
                <a:solidFill>
                  <a:schemeClr val="tx1"/>
                </a:solidFill>
              </a:rPr>
              <a:t> 상실한 </a:t>
            </a:r>
            <a:r>
              <a:rPr lang="ko-KR" altLang="en-US" sz="1200" dirty="0" err="1">
                <a:solidFill>
                  <a:schemeClr val="tx1"/>
                </a:solidFill>
              </a:rPr>
              <a:t>원권리자의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696075" y="5125268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국가의 비상사태 등에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696075" y="5416837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재정에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696075" y="5707447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통상실시권허락심판에</a:t>
            </a:r>
            <a:r>
              <a:rPr lang="ko-KR" altLang="en-US" sz="1200" dirty="0">
                <a:solidFill>
                  <a:schemeClr val="tx1"/>
                </a:solidFill>
              </a:rPr>
              <a:t> 의한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6696075" y="2995449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특허권의 이전청구에 따른 이전등록 전의 실시에 의한 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2" name="꺾인 연결선 91"/>
          <p:cNvCxnSpPr>
            <a:stCxn id="56" idx="3"/>
            <a:endCxn id="91" idx="1"/>
          </p:cNvCxnSpPr>
          <p:nvPr/>
        </p:nvCxnSpPr>
        <p:spPr>
          <a:xfrm flipV="1">
            <a:off x="5884367" y="3116936"/>
            <a:ext cx="811708" cy="76954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33260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독점적 </a:t>
            </a:r>
            <a:r>
              <a:rPr lang="ko-KR" altLang="en-US" dirty="0" err="1"/>
              <a:t>통상실시권자의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410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8A4446-9A84-44CF-BF8E-778825646662}"/>
              </a:ext>
            </a:extLst>
          </p:cNvPr>
          <p:cNvSpPr/>
          <p:nvPr/>
        </p:nvSpPr>
        <p:spPr>
          <a:xfrm>
            <a:off x="103517" y="1353610"/>
            <a:ext cx="1199071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050" b="1" dirty="0">
                <a:solidFill>
                  <a:schemeClr val="accent1"/>
                </a:solidFill>
              </a:rPr>
              <a:t>[1] </a:t>
            </a:r>
            <a:r>
              <a:rPr lang="ko-KR" altLang="en-US" sz="1050" b="1" dirty="0">
                <a:solidFill>
                  <a:schemeClr val="accent1"/>
                </a:solidFill>
              </a:rPr>
              <a:t>원고가 독점적 </a:t>
            </a:r>
            <a:r>
              <a:rPr lang="ko-KR" altLang="en-US" sz="1050" b="1" dirty="0" err="1">
                <a:solidFill>
                  <a:schemeClr val="accent1"/>
                </a:solidFill>
              </a:rPr>
              <a:t>통상실시권자인지</a:t>
            </a:r>
            <a:r>
              <a:rPr lang="ko-KR" altLang="en-US" sz="1050" b="1" dirty="0">
                <a:solidFill>
                  <a:schemeClr val="accent1"/>
                </a:solidFill>
              </a:rPr>
              <a:t> 여부</a:t>
            </a:r>
            <a:r>
              <a:rPr lang="en-US" altLang="ko-KR" sz="1050" dirty="0"/>
              <a:t>:</a:t>
            </a:r>
          </a:p>
          <a:p>
            <a:pPr marL="180975" indent="-180975" algn="just" fontAlgn="base"/>
            <a:r>
              <a:rPr lang="ko-KR" altLang="en-US" sz="1050" dirty="0"/>
              <a:t>가</a:t>
            </a:r>
            <a:r>
              <a:rPr lang="en-US" altLang="ko-KR" sz="1050" dirty="0"/>
              <a:t>. </a:t>
            </a:r>
            <a:r>
              <a:rPr lang="ko-KR" altLang="en-US" sz="1050" dirty="0"/>
              <a:t>원고와 특허권자 릴리 </a:t>
            </a:r>
            <a:r>
              <a:rPr lang="ko-KR" altLang="en-US" sz="1050" dirty="0" err="1"/>
              <a:t>리미티드는</a:t>
            </a:r>
            <a:r>
              <a:rPr lang="ko-KR" altLang="en-US" sz="1050" dirty="0"/>
              <a:t> 모두 </a:t>
            </a:r>
            <a:r>
              <a:rPr lang="ko-KR" altLang="en-US" sz="1050" dirty="0" err="1"/>
              <a:t>일라이</a:t>
            </a:r>
            <a:r>
              <a:rPr lang="ko-KR" altLang="en-US" sz="1050" dirty="0"/>
              <a:t> 릴리 </a:t>
            </a:r>
            <a:r>
              <a:rPr lang="ko-KR" altLang="en-US" sz="1050" dirty="0" err="1"/>
              <a:t>앤드</a:t>
            </a:r>
            <a:r>
              <a:rPr lang="ko-KR" altLang="en-US" sz="1050" dirty="0"/>
              <a:t> 컴퍼니</a:t>
            </a:r>
            <a:r>
              <a:rPr lang="en-US" altLang="ko-KR" sz="1050" dirty="0"/>
              <a:t>(</a:t>
            </a:r>
            <a:r>
              <a:rPr lang="ko-KR" altLang="en-US" sz="1050" dirty="0"/>
              <a:t>이하 ‘릴리 </a:t>
            </a:r>
            <a:r>
              <a:rPr lang="ko-KR" altLang="en-US" sz="1050" dirty="0" err="1"/>
              <a:t>컴퍼니’라고</a:t>
            </a:r>
            <a:r>
              <a:rPr lang="ko-KR" altLang="en-US" sz="1050" dirty="0"/>
              <a:t> 한다</a:t>
            </a:r>
            <a:r>
              <a:rPr lang="en-US" altLang="ko-KR" sz="1050" dirty="0"/>
              <a:t>)</a:t>
            </a:r>
            <a:r>
              <a:rPr lang="ko-KR" altLang="en-US" sz="1050" dirty="0"/>
              <a:t>의 자회사로서 서로 계열회사 관계에 있고</a:t>
            </a:r>
            <a:r>
              <a:rPr lang="en-US" altLang="ko-KR" sz="1050" dirty="0"/>
              <a:t>, </a:t>
            </a:r>
            <a:r>
              <a:rPr lang="ko-KR" altLang="en-US" sz="1050" dirty="0"/>
              <a:t>원고만이 이 사건 특허발명의 특허권 존속기간 동안 특허제품인 원고 제품을 국내로 수입</a:t>
            </a:r>
            <a:r>
              <a:rPr lang="en-US" altLang="ko-KR" sz="1050" dirty="0"/>
              <a:t>·</a:t>
            </a:r>
            <a:r>
              <a:rPr lang="ko-KR" altLang="en-US" sz="1050" dirty="0"/>
              <a:t>판매해 왔으므로</a:t>
            </a:r>
            <a:r>
              <a:rPr lang="en-US" altLang="ko-KR" sz="1050" dirty="0"/>
              <a:t>, </a:t>
            </a:r>
            <a:r>
              <a:rPr lang="ko-KR" altLang="en-US" sz="1050" dirty="0"/>
              <a:t>원고가 유일하게 이 사건 특허발명의 국내 수입</a:t>
            </a:r>
            <a:r>
              <a:rPr lang="en-US" altLang="ko-KR" sz="1050" dirty="0"/>
              <a:t>·</a:t>
            </a:r>
            <a:r>
              <a:rPr lang="ko-KR" altLang="en-US" sz="1050" dirty="0"/>
              <a:t>양도에 관한 허락을 받았다고 볼 수는 있다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나</a:t>
            </a:r>
            <a:r>
              <a:rPr lang="en-US" altLang="ko-KR" sz="1050" dirty="0"/>
              <a:t>. </a:t>
            </a:r>
            <a:r>
              <a:rPr lang="ko-KR" altLang="en-US" sz="1050" dirty="0"/>
              <a:t>그러나 제출된 증거만으로는 특허권자인 릴리 </a:t>
            </a:r>
            <a:r>
              <a:rPr lang="ko-KR" altLang="en-US" sz="1050" dirty="0" err="1"/>
              <a:t>리미티드가</a:t>
            </a:r>
            <a:r>
              <a:rPr lang="ko-KR" altLang="en-US" sz="1050" dirty="0"/>
              <a:t> 원고에 대하여 원고 외의 제</a:t>
            </a:r>
            <a:r>
              <a:rPr lang="en-US" altLang="ko-KR" sz="1050" dirty="0"/>
              <a:t>3</a:t>
            </a:r>
            <a:r>
              <a:rPr lang="ko-KR" altLang="en-US" sz="1050" dirty="0"/>
              <a:t>자에게 이 사건 특허발명의 특허권에 대한 통상실시권을 부여하지 않을 부작위 의무를 부담하기로 약정하였다고 보기 어렵다</a:t>
            </a:r>
            <a:r>
              <a:rPr lang="en-US" altLang="ko-KR" sz="1050" dirty="0"/>
              <a:t>. </a:t>
            </a:r>
            <a:r>
              <a:rPr lang="ko-KR" altLang="en-US" sz="1050" dirty="0"/>
              <a:t>원고가 원고 제품에 관한 수입품목 허가를 받고 이를 국내에서 수입</a:t>
            </a:r>
            <a:r>
              <a:rPr lang="en-US" altLang="ko-KR" sz="1050" dirty="0"/>
              <a:t>·</a:t>
            </a:r>
            <a:r>
              <a:rPr lang="ko-KR" altLang="en-US" sz="1050" dirty="0"/>
              <a:t>판매할 수 있었던 근거는 릴리 컴퍼니와 체결한 공급유통 기본계약 제</a:t>
            </a:r>
            <a:r>
              <a:rPr lang="en-US" altLang="ko-KR" sz="1050" dirty="0"/>
              <a:t>2.4</a:t>
            </a:r>
            <a:r>
              <a:rPr lang="ko-KR" altLang="en-US" sz="1050" dirty="0"/>
              <a:t>조</a:t>
            </a:r>
            <a:r>
              <a:rPr lang="en-US" altLang="ko-KR" sz="1050" dirty="0"/>
              <a:t>(Section 2.4) </a:t>
            </a:r>
            <a:r>
              <a:rPr lang="ko-KR" altLang="en-US" sz="1050" dirty="0"/>
              <a:t>등에 따른 것으로 보이는데</a:t>
            </a:r>
            <a:r>
              <a:rPr lang="en-US" altLang="ko-KR" sz="1050" dirty="0"/>
              <a:t>, </a:t>
            </a:r>
            <a:r>
              <a:rPr lang="ko-KR" altLang="en-US" sz="1050" u="sng" dirty="0"/>
              <a:t>위 </a:t>
            </a:r>
            <a:r>
              <a:rPr lang="ko-KR" altLang="en-US" sz="1050" u="sng" dirty="0">
                <a:highlight>
                  <a:srgbClr val="FFFF00"/>
                </a:highlight>
              </a:rPr>
              <a:t>공급유통 기본계약은 이 사건 특허발명의 특허권에 대한 실시허락계약이 아니다</a:t>
            </a:r>
            <a:r>
              <a:rPr lang="en-US" altLang="ko-KR" sz="1050" u="sng" dirty="0">
                <a:highlight>
                  <a:srgbClr val="FFFF00"/>
                </a:highlight>
              </a:rPr>
              <a:t>.</a:t>
            </a:r>
            <a:r>
              <a:rPr lang="en-US" altLang="ko-KR" sz="1050" dirty="0"/>
              <a:t> </a:t>
            </a:r>
            <a:r>
              <a:rPr lang="ko-KR" altLang="en-US" sz="1050" dirty="0"/>
              <a:t>릴리 </a:t>
            </a:r>
            <a:r>
              <a:rPr lang="ko-KR" altLang="en-US" sz="1050" dirty="0" err="1"/>
              <a:t>리미티드에게</a:t>
            </a:r>
            <a:r>
              <a:rPr lang="ko-KR" altLang="en-US" sz="1050" dirty="0"/>
              <a:t> 특허 실시에 관한 대가인 실시료를 지급한 주체는 원고가 아니라 </a:t>
            </a:r>
            <a:r>
              <a:rPr lang="ko-KR" altLang="en-US" sz="1050" dirty="0" err="1"/>
              <a:t>일라이</a:t>
            </a:r>
            <a:r>
              <a:rPr lang="ko-KR" altLang="en-US" sz="1050" dirty="0"/>
              <a:t> 릴리 </a:t>
            </a:r>
            <a:r>
              <a:rPr lang="ko-KR" altLang="en-US" sz="1050" dirty="0" err="1"/>
              <a:t>에스에이</a:t>
            </a:r>
            <a:r>
              <a:rPr lang="en-US" altLang="ko-KR" sz="1050" dirty="0"/>
              <a:t>(Eli Lilly S.A.)</a:t>
            </a:r>
            <a:r>
              <a:rPr lang="ko-KR" altLang="en-US" sz="1050" dirty="0"/>
              <a:t>이고 </a:t>
            </a:r>
            <a:r>
              <a:rPr lang="ko-KR" altLang="en-US" sz="1050" dirty="0" err="1"/>
              <a:t>실시료율이나</a:t>
            </a:r>
            <a:r>
              <a:rPr lang="ko-KR" altLang="en-US" sz="1050" dirty="0"/>
              <a:t> </a:t>
            </a:r>
            <a:r>
              <a:rPr lang="ko-KR" altLang="en-US" sz="1050" dirty="0" err="1"/>
              <a:t>실시료</a:t>
            </a:r>
            <a:r>
              <a:rPr lang="ko-KR" altLang="en-US" sz="1050" dirty="0"/>
              <a:t> 액수를 알 수 있는 객관적인 자료도 없어</a:t>
            </a:r>
            <a:r>
              <a:rPr lang="en-US" altLang="ko-KR" sz="1050" dirty="0"/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릴리 </a:t>
            </a:r>
            <a:r>
              <a:rPr lang="ko-KR" altLang="en-US" sz="1050" u="sng" dirty="0" err="1">
                <a:highlight>
                  <a:srgbClr val="FFFF00"/>
                </a:highlight>
              </a:rPr>
              <a:t>리미티드가</a:t>
            </a:r>
            <a:r>
              <a:rPr lang="ko-KR" altLang="en-US" sz="1050" u="sng" dirty="0">
                <a:highlight>
                  <a:srgbClr val="FFFF00"/>
                </a:highlight>
              </a:rPr>
              <a:t> 원고에 대하여 위와 같은 부작위 의무를 부담하는 대가로 원고로부터 높은 실시료를 받아왔다고 보기도 어렵다</a:t>
            </a:r>
            <a:r>
              <a:rPr lang="en-US" altLang="ko-KR" sz="1050" dirty="0"/>
              <a:t>. </a:t>
            </a:r>
            <a:r>
              <a:rPr lang="ko-KR" altLang="en-US" sz="1050" dirty="0"/>
              <a:t>릴리 </a:t>
            </a:r>
            <a:r>
              <a:rPr lang="ko-KR" altLang="en-US" sz="1050" dirty="0" err="1"/>
              <a:t>리미티드가</a:t>
            </a:r>
            <a:r>
              <a:rPr lang="ko-KR" altLang="en-US" sz="1050" dirty="0"/>
              <a:t> 원고에 대하여 원고 외의 제</a:t>
            </a:r>
            <a:r>
              <a:rPr lang="en-US" altLang="ko-KR" sz="1050" dirty="0"/>
              <a:t>3</a:t>
            </a:r>
            <a:r>
              <a:rPr lang="ko-KR" altLang="en-US" sz="1050" dirty="0"/>
              <a:t>자에게 통상실시권을 부여하지 않을 부작위 의무까지 부담할 사정을 찾기 어렵다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다</a:t>
            </a:r>
            <a:r>
              <a:rPr lang="en-US" altLang="ko-KR" sz="1050" dirty="0"/>
              <a:t>. </a:t>
            </a:r>
            <a:r>
              <a:rPr lang="ko-KR" altLang="en-US" sz="1050" dirty="0"/>
              <a:t>위와 같은 사정을 관련 법리에 비추어 살펴보면</a:t>
            </a:r>
            <a:r>
              <a:rPr lang="en-US" altLang="ko-KR" sz="1050" dirty="0"/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특허권자 릴리 </a:t>
            </a:r>
            <a:r>
              <a:rPr lang="ko-KR" altLang="en-US" sz="1050" u="sng" dirty="0" err="1">
                <a:highlight>
                  <a:srgbClr val="FFFF00"/>
                </a:highlight>
              </a:rPr>
              <a:t>리미티드가</a:t>
            </a:r>
            <a:r>
              <a:rPr lang="ko-KR" altLang="en-US" sz="1050" u="sng" dirty="0">
                <a:highlight>
                  <a:srgbClr val="FFFF00"/>
                </a:highlight>
              </a:rPr>
              <a:t> 원고에 대하여 원고 외의 제</a:t>
            </a:r>
            <a:r>
              <a:rPr lang="en-US" altLang="ko-KR" sz="1050" u="sng" dirty="0">
                <a:highlight>
                  <a:srgbClr val="FFFF00"/>
                </a:highlight>
              </a:rPr>
              <a:t>3</a:t>
            </a:r>
            <a:r>
              <a:rPr lang="ko-KR" altLang="en-US" sz="1050" u="sng" dirty="0">
                <a:highlight>
                  <a:srgbClr val="FFFF00"/>
                </a:highlight>
              </a:rPr>
              <a:t>자에게 통상실시권을 부여하지 않을 부작위 의무를 부담하기로 명시적 또는 묵시적으로 약정했다고 단정하기 어려우므로</a:t>
            </a:r>
            <a:r>
              <a:rPr lang="en-US" altLang="ko-KR" sz="1050" dirty="0"/>
              <a:t>, </a:t>
            </a:r>
            <a:r>
              <a:rPr lang="ko-KR" altLang="en-US" sz="1050" dirty="0"/>
              <a:t>원고를 이 사건 특허발명의 독점적 </a:t>
            </a:r>
            <a:r>
              <a:rPr lang="ko-KR" altLang="en-US" sz="1050" dirty="0" err="1"/>
              <a:t>통상실시권자로</a:t>
            </a:r>
            <a:r>
              <a:rPr lang="ko-KR" altLang="en-US" sz="1050" dirty="0"/>
              <a:t> 볼 수는 없다</a:t>
            </a:r>
            <a:r>
              <a:rPr lang="en-US" altLang="ko-KR" sz="1050" dirty="0"/>
              <a:t>.</a:t>
            </a: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1EB2F813-B207-4574-BC6A-9E0259FF1206}"/>
              </a:ext>
            </a:extLst>
          </p:cNvPr>
          <p:cNvSpPr/>
          <p:nvPr/>
        </p:nvSpPr>
        <p:spPr bwMode="auto">
          <a:xfrm>
            <a:off x="378417" y="998802"/>
            <a:ext cx="6496835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2020. 11. 26.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2018</a:t>
            </a:r>
            <a:r>
              <a:rPr lang="ko-KR" altLang="en-US" sz="1400" dirty="0"/>
              <a:t>다</a:t>
            </a:r>
            <a:r>
              <a:rPr lang="en-US" altLang="ko-KR" sz="1400" dirty="0"/>
              <a:t>221676 </a:t>
            </a:r>
            <a:r>
              <a:rPr lang="ko-KR" altLang="en-US" sz="1400" dirty="0"/>
              <a:t>판결</a:t>
            </a:r>
            <a:r>
              <a:rPr lang="en-US" altLang="ko-KR" sz="1400" dirty="0"/>
              <a:t>, 2016</a:t>
            </a:r>
            <a:r>
              <a:rPr lang="ko-KR" altLang="en-US" sz="1400" dirty="0"/>
              <a:t>다</a:t>
            </a:r>
            <a:r>
              <a:rPr lang="en-US" altLang="ko-KR" sz="1400" dirty="0"/>
              <a:t>260707 【</a:t>
            </a:r>
            <a:r>
              <a:rPr lang="ko-KR" altLang="en-US" sz="1400" dirty="0"/>
              <a:t>손해배상</a:t>
            </a:r>
            <a:r>
              <a:rPr lang="en-US" altLang="ko-KR" sz="1400" dirty="0"/>
              <a:t>(</a:t>
            </a:r>
            <a:r>
              <a:rPr lang="ko-KR" altLang="en-US" sz="1400" dirty="0"/>
              <a:t>지</a:t>
            </a:r>
            <a:r>
              <a:rPr lang="en-US" altLang="ko-KR" sz="1400" dirty="0"/>
              <a:t>)】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B876D2-3854-4F12-B595-0A8BEC6D8976}"/>
              </a:ext>
            </a:extLst>
          </p:cNvPr>
          <p:cNvSpPr/>
          <p:nvPr/>
        </p:nvSpPr>
        <p:spPr>
          <a:xfrm>
            <a:off x="232372" y="3017949"/>
            <a:ext cx="11681987" cy="57708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050" dirty="0">
                <a:solidFill>
                  <a:srgbClr val="FF0000"/>
                </a:solidFill>
              </a:rPr>
              <a:t>특허권자와 </a:t>
            </a:r>
            <a:r>
              <a:rPr lang="ko-KR" altLang="en-US" sz="1050" dirty="0" err="1">
                <a:solidFill>
                  <a:srgbClr val="FF0000"/>
                </a:solidFill>
              </a:rPr>
              <a:t>실시권자</a:t>
            </a:r>
            <a:r>
              <a:rPr lang="ko-KR" altLang="en-US" sz="1050" dirty="0">
                <a:solidFill>
                  <a:srgbClr val="FF0000"/>
                </a:solidFill>
              </a:rPr>
              <a:t> 사이에 체결된 계약이 독점적 통상실시권을 부여하는 계약에 해당하기 위해서는 계약의 내용상 특허권자가 </a:t>
            </a:r>
            <a:r>
              <a:rPr lang="ko-KR" altLang="en-US" sz="1050" dirty="0" err="1">
                <a:solidFill>
                  <a:srgbClr val="FF0000"/>
                </a:solidFill>
              </a:rPr>
              <a:t>실시권자</a:t>
            </a:r>
            <a:r>
              <a:rPr lang="ko-KR" altLang="en-US" sz="1050" dirty="0">
                <a:solidFill>
                  <a:srgbClr val="FF0000"/>
                </a:solidFill>
              </a:rPr>
              <a:t> 외의 제</a:t>
            </a:r>
            <a:r>
              <a:rPr lang="en-US" altLang="ko-KR" sz="1050" dirty="0">
                <a:solidFill>
                  <a:srgbClr val="FF0000"/>
                </a:solidFill>
              </a:rPr>
              <a:t>3</a:t>
            </a:r>
            <a:r>
              <a:rPr lang="ko-KR" altLang="en-US" sz="1050" dirty="0">
                <a:solidFill>
                  <a:srgbClr val="FF0000"/>
                </a:solidFill>
              </a:rPr>
              <a:t>자에게 통상실시권을 부여하지 아니할 의무를 부담하여야 하고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단지 특허권자가 어느 한 </a:t>
            </a:r>
            <a:r>
              <a:rPr lang="ko-KR" altLang="en-US" sz="1050" dirty="0" err="1">
                <a:solidFill>
                  <a:srgbClr val="FF0000"/>
                </a:solidFill>
              </a:rPr>
              <a:t>실시권자에게만</a:t>
            </a:r>
            <a:r>
              <a:rPr lang="ko-KR" altLang="en-US" sz="1050" dirty="0">
                <a:solidFill>
                  <a:srgbClr val="FF0000"/>
                </a:solidFill>
              </a:rPr>
              <a:t> 실시권을 부여함에 따라 그 </a:t>
            </a:r>
            <a:r>
              <a:rPr lang="ko-KR" altLang="en-US" sz="1050" dirty="0" err="1">
                <a:solidFill>
                  <a:srgbClr val="FF0000"/>
                </a:solidFill>
              </a:rPr>
              <a:t>실시권자가</a:t>
            </a:r>
            <a:r>
              <a:rPr lang="ko-KR" altLang="en-US" sz="1050" dirty="0">
                <a:solidFill>
                  <a:srgbClr val="FF0000"/>
                </a:solidFill>
              </a:rPr>
              <a:t> 사실상 독점적인 지위를 향유하고 있다는 사정만으로 그러한 계약이 있었다고 보기 어렵다</a:t>
            </a:r>
            <a:r>
              <a:rPr lang="en-US" altLang="ko-KR" sz="1050" dirty="0">
                <a:solidFill>
                  <a:srgbClr val="FF0000"/>
                </a:solidFill>
              </a:rPr>
              <a:t>. </a:t>
            </a:r>
            <a:r>
              <a:rPr lang="ko-KR" altLang="en-US" sz="1050" dirty="0">
                <a:solidFill>
                  <a:srgbClr val="FF0000"/>
                </a:solidFill>
              </a:rPr>
              <a:t>그러나 </a:t>
            </a:r>
            <a:r>
              <a:rPr lang="ko-KR" altLang="en-US" sz="1050" dirty="0" err="1">
                <a:solidFill>
                  <a:srgbClr val="FF0000"/>
                </a:solidFill>
              </a:rPr>
              <a:t>등록하여야만</a:t>
            </a:r>
            <a:r>
              <a:rPr lang="ko-KR" altLang="en-US" sz="1050" dirty="0">
                <a:solidFill>
                  <a:srgbClr val="FF0000"/>
                </a:solidFill>
              </a:rPr>
              <a:t> 그 효력이 발생하는 전용실시권 설정과 달리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독점적 통상실시권의 허락은 당사자 간 의사의 합치만 있으면 성립되고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이러한 의사의 합치는 명시적으로는 물론 묵시적으로도 이루어질 수 있다</a:t>
            </a:r>
            <a:r>
              <a:rPr lang="en-US" altLang="ko-KR" sz="1050" dirty="0">
                <a:solidFill>
                  <a:srgbClr val="FF0000"/>
                </a:solidFill>
              </a:rPr>
              <a:t>(</a:t>
            </a:r>
            <a:r>
              <a:rPr lang="ko-KR" altLang="en-US" sz="1050" dirty="0">
                <a:solidFill>
                  <a:srgbClr val="FF0000"/>
                </a:solidFill>
              </a:rPr>
              <a:t>특허법원 </a:t>
            </a:r>
            <a:r>
              <a:rPr lang="en-US" altLang="ko-KR" sz="1050" dirty="0">
                <a:solidFill>
                  <a:srgbClr val="FF0000"/>
                </a:solidFill>
              </a:rPr>
              <a:t>2018. 2. 8. </a:t>
            </a:r>
            <a:r>
              <a:rPr lang="ko-KR" altLang="en-US" sz="1050" dirty="0">
                <a:solidFill>
                  <a:srgbClr val="FF0000"/>
                </a:solidFill>
              </a:rPr>
              <a:t>선고 </a:t>
            </a:r>
            <a:r>
              <a:rPr lang="en-US" altLang="ko-KR" sz="1050" dirty="0">
                <a:solidFill>
                  <a:srgbClr val="FF0000"/>
                </a:solidFill>
              </a:rPr>
              <a:t>2017</a:t>
            </a:r>
            <a:r>
              <a:rPr lang="ko-KR" altLang="en-US" sz="1050" dirty="0">
                <a:solidFill>
                  <a:srgbClr val="FF0000"/>
                </a:solidFill>
              </a:rPr>
              <a:t>나</a:t>
            </a:r>
            <a:r>
              <a:rPr lang="en-US" altLang="ko-KR" sz="1050" dirty="0">
                <a:solidFill>
                  <a:srgbClr val="FF0000"/>
                </a:solidFill>
              </a:rPr>
              <a:t>2332).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D22648-52C5-4A11-BFA3-F88605289408}"/>
              </a:ext>
            </a:extLst>
          </p:cNvPr>
          <p:cNvSpPr/>
          <p:nvPr/>
        </p:nvSpPr>
        <p:spPr>
          <a:xfrm>
            <a:off x="103517" y="3569014"/>
            <a:ext cx="1199071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050" b="1" dirty="0">
                <a:solidFill>
                  <a:schemeClr val="accent1"/>
                </a:solidFill>
              </a:rPr>
              <a:t>[2] </a:t>
            </a:r>
            <a:r>
              <a:rPr lang="ko-KR" altLang="en-US" sz="1050" b="1" dirty="0">
                <a:solidFill>
                  <a:schemeClr val="accent1"/>
                </a:solidFill>
              </a:rPr>
              <a:t>피고가 위법행위로 원고에게 원고 제품의 상한금액 인하라는 손해를 가하였는지 여부에 관하여</a:t>
            </a:r>
            <a:r>
              <a:rPr lang="en-US" altLang="ko-KR" sz="1050" b="1" dirty="0">
                <a:solidFill>
                  <a:schemeClr val="accent1"/>
                </a:solidFill>
              </a:rPr>
              <a:t>(</a:t>
            </a:r>
            <a:r>
              <a:rPr lang="ko-KR" altLang="en-US" sz="1050" b="1" dirty="0">
                <a:solidFill>
                  <a:schemeClr val="accent1"/>
                </a:solidFill>
              </a:rPr>
              <a:t>위법성과 인과관계</a:t>
            </a:r>
            <a:r>
              <a:rPr lang="en-US" altLang="ko-KR" sz="1050" b="1" dirty="0">
                <a:solidFill>
                  <a:schemeClr val="accent1"/>
                </a:solidFill>
              </a:rPr>
              <a:t>): </a:t>
            </a:r>
          </a:p>
          <a:p>
            <a:pPr algn="just" fontAlgn="base"/>
            <a:r>
              <a:rPr lang="ko-KR" altLang="en-US" sz="1050" dirty="0"/>
              <a:t>가</a:t>
            </a:r>
            <a:r>
              <a:rPr lang="en-US" altLang="ko-KR" sz="1050" dirty="0"/>
              <a:t>. </a:t>
            </a:r>
            <a:r>
              <a:rPr lang="ko-KR" altLang="en-US" sz="1050" dirty="0"/>
              <a:t>원고가 약제급여목록표에 등재된 원고 제품의 상한금액에 관하여 가지는 이익은 국민건강보험법령에서 정한 약제 상한금액 조정사유가 있는 경우 보건복지부장관의 적법한 조정에 따라 변동될 수도 있는 이익이다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나</a:t>
            </a:r>
            <a:r>
              <a:rPr lang="en-US" altLang="ko-KR" sz="1050" dirty="0"/>
              <a:t>. </a:t>
            </a:r>
            <a:r>
              <a:rPr lang="ko-KR" altLang="en-US" sz="1050" dirty="0"/>
              <a:t>피고는 원래 피고 제품을 이 사건 특허발명의 특허권 존속기간 만료 후 요양급여대상 약제로 판매하고자 이 사건 요양급여대상 결정신청을 하여 피고 제품이 약제급여목록표에 등재</a:t>
            </a:r>
            <a:r>
              <a:rPr lang="en-US" altLang="ko-KR" sz="1050" dirty="0"/>
              <a:t>·</a:t>
            </a:r>
            <a:r>
              <a:rPr lang="ko-KR" altLang="en-US" sz="1050" dirty="0"/>
              <a:t>고시되었고</a:t>
            </a:r>
            <a:r>
              <a:rPr lang="en-US" altLang="ko-KR" sz="1050" dirty="0"/>
              <a:t>, </a:t>
            </a:r>
            <a:r>
              <a:rPr lang="ko-KR" altLang="en-US" sz="1050" dirty="0"/>
              <a:t>이는 관련 규정에 따른 것으로서 피고의 이 사건 요양급여대상 결정신청이 위법하다고 할 수 없다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다</a:t>
            </a:r>
            <a:r>
              <a:rPr lang="en-US" altLang="ko-KR" sz="1050" dirty="0"/>
              <a:t>. </a:t>
            </a:r>
            <a:r>
              <a:rPr lang="ko-KR" altLang="en-US" sz="1050" dirty="0"/>
              <a:t>특허를 무효로 한다는 </a:t>
            </a:r>
            <a:r>
              <a:rPr lang="ko-KR" altLang="en-US" sz="1050" dirty="0" err="1"/>
              <a:t>심결이</a:t>
            </a:r>
            <a:r>
              <a:rPr lang="ko-KR" altLang="en-US" sz="1050" dirty="0"/>
              <a:t> 확정되어야 그 특허권은 처음부터 없었던 것으로 되므로</a:t>
            </a:r>
            <a:r>
              <a:rPr lang="en-US" altLang="ko-KR" sz="1050" dirty="0"/>
              <a:t>(</a:t>
            </a:r>
            <a:r>
              <a:rPr lang="ko-KR" altLang="en-US" sz="1050" dirty="0"/>
              <a:t>특허법 제</a:t>
            </a:r>
            <a:r>
              <a:rPr lang="en-US" altLang="ko-KR" sz="1050" dirty="0"/>
              <a:t>133</a:t>
            </a:r>
            <a:r>
              <a:rPr lang="ko-KR" altLang="en-US" sz="1050" dirty="0"/>
              <a:t>조 제</a:t>
            </a:r>
            <a:r>
              <a:rPr lang="en-US" altLang="ko-KR" sz="1050" dirty="0"/>
              <a:t>3</a:t>
            </a:r>
            <a:r>
              <a:rPr lang="ko-KR" altLang="en-US" sz="1050" dirty="0"/>
              <a:t>항</a:t>
            </a:r>
            <a:r>
              <a:rPr lang="en-US" altLang="ko-KR" sz="1050" dirty="0"/>
              <a:t>), </a:t>
            </a:r>
            <a:r>
              <a:rPr lang="ko-KR" altLang="en-US" sz="1050" dirty="0" err="1"/>
              <a:t>특허무효심결이</a:t>
            </a:r>
            <a:r>
              <a:rPr lang="ko-KR" altLang="en-US" sz="1050" dirty="0"/>
              <a:t> 확정되기 전까지는 특허는 무효가 아니다</a:t>
            </a:r>
            <a:r>
              <a:rPr lang="en-US" altLang="ko-KR" sz="1050" dirty="0"/>
              <a:t>. </a:t>
            </a:r>
            <a:r>
              <a:rPr lang="ko-KR" altLang="en-US" sz="1050" dirty="0"/>
              <a:t>그렇지만 피고는 특허법원이 진보성을 부정하는 판결을 선고하자 이를 근거로 관련 규정에서 원고 제품의 특허권에도 불구하고 피고 제품을 약제급여목록표 등재 후 즉시 요양급여대상 약제로 판매할 수 있는 사유로 예시한 </a:t>
            </a:r>
            <a:r>
              <a:rPr lang="ko-KR" altLang="en-US" sz="1050" dirty="0">
                <a:highlight>
                  <a:srgbClr val="FFFF00"/>
                </a:highlight>
              </a:rPr>
              <a:t>‘특허분쟁의 승소가능성 등’ 을 소명하여 이 사건 판매예정시기 변경신청을 한 것으로</a:t>
            </a:r>
            <a:r>
              <a:rPr lang="en-US" altLang="ko-KR" sz="1050" dirty="0"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highlight>
                  <a:srgbClr val="FFFF00"/>
                </a:highlight>
              </a:rPr>
              <a:t>이러한 피고의 행위를 위법하다고 평가하기는 어렵다</a:t>
            </a:r>
            <a:r>
              <a:rPr lang="en-US" altLang="ko-KR" sz="1050" dirty="0">
                <a:highlight>
                  <a:srgbClr val="FFFF00"/>
                </a:highlight>
              </a:rPr>
              <a:t>.</a:t>
            </a:r>
          </a:p>
          <a:p>
            <a:pPr marL="180975" indent="-180975" algn="just" fontAlgn="base"/>
            <a:r>
              <a:rPr lang="ko-KR" altLang="en-US" sz="1050" dirty="0"/>
              <a:t>라</a:t>
            </a:r>
            <a:r>
              <a:rPr lang="en-US" altLang="ko-KR" sz="1050" dirty="0"/>
              <a:t>. </a:t>
            </a:r>
            <a:r>
              <a:rPr lang="ko-KR" altLang="en-US" sz="1050" dirty="0"/>
              <a:t>피고 제품의 제조판매품목 신고 이전에 보건복지가족부 고시 제</a:t>
            </a:r>
            <a:r>
              <a:rPr lang="en-US" altLang="ko-KR" sz="1050" dirty="0"/>
              <a:t>2009-182</a:t>
            </a:r>
            <a:r>
              <a:rPr lang="ko-KR" altLang="en-US" sz="1050" dirty="0"/>
              <a:t>호로 원고 제품의 상한금액이 특허권 존속기간 만료일 다음날에 인하될 예정이라고 고시된 것은 피고가 아닌 다른 업체가 원고 제품의 제네릭 의약품을 요양급여대상으로 </a:t>
            </a:r>
            <a:r>
              <a:rPr lang="ko-KR" altLang="en-US" sz="1050" dirty="0" err="1"/>
              <a:t>결정신청하였기</a:t>
            </a:r>
            <a:r>
              <a:rPr lang="ko-KR" altLang="en-US" sz="1050" dirty="0"/>
              <a:t> 때문으로 보인다</a:t>
            </a:r>
            <a:r>
              <a:rPr lang="en-US" altLang="ko-KR" sz="1050" dirty="0"/>
              <a:t>. </a:t>
            </a:r>
            <a:r>
              <a:rPr lang="ko-KR" altLang="en-US" sz="1050" dirty="0"/>
              <a:t>또한 피고의 이 사건 판매예정시기 변경신청은 원고 제품의 상한금액을 인하해 달라는 약제 상한금액 조정신청이 아니고</a:t>
            </a:r>
            <a:r>
              <a:rPr lang="en-US" altLang="ko-KR" sz="1050" dirty="0"/>
              <a:t>, </a:t>
            </a:r>
            <a:r>
              <a:rPr lang="ko-KR" altLang="en-US" sz="1050" dirty="0"/>
              <a:t>제네릭 의약품인 피고 제품의 상한금액은 관련 규정에 따라 </a:t>
            </a:r>
            <a:r>
              <a:rPr lang="ko-KR" altLang="en-US" sz="1050" dirty="0" err="1"/>
              <a:t>최초등재제품인</a:t>
            </a:r>
            <a:r>
              <a:rPr lang="ko-KR" altLang="en-US" sz="1050" dirty="0"/>
              <a:t> 원고 제품 상한금액의 일정 비율로 정해지므로</a:t>
            </a:r>
            <a:r>
              <a:rPr lang="en-US" altLang="ko-KR" sz="1050" dirty="0"/>
              <a:t>, </a:t>
            </a:r>
            <a:r>
              <a:rPr lang="ko-KR" altLang="en-US" sz="1050" dirty="0"/>
              <a:t>피고가 원고에게 원고 제품의 상한금액 인하라는 손해를 가할 의도로 이 사건 판매예정시기 변경신청을 했다고 보기도 어렵다</a:t>
            </a:r>
            <a:r>
              <a:rPr lang="en-US" altLang="ko-KR" sz="1050" dirty="0"/>
              <a:t>. </a:t>
            </a:r>
            <a:r>
              <a:rPr lang="ko-KR" altLang="en-US" sz="1050" dirty="0"/>
              <a:t>나아가 원고 제품의 상한금액 인하 시행시기를 언제로 정할 지는 보건복지부장관의 재량에 달려 있다는 점은 앞서 본 바와 같다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마</a:t>
            </a:r>
            <a:r>
              <a:rPr lang="en-US" altLang="ko-KR" sz="1050" dirty="0"/>
              <a:t>. </a:t>
            </a:r>
            <a:r>
              <a:rPr lang="ko-KR" altLang="en-US" sz="1050" dirty="0"/>
              <a:t>원고 제품의 상한금액이 </a:t>
            </a:r>
            <a:r>
              <a:rPr lang="en-US" altLang="ko-KR" sz="1050" dirty="0"/>
              <a:t>2011. 2. 1.</a:t>
            </a:r>
            <a:r>
              <a:rPr lang="ko-KR" altLang="en-US" sz="1050" dirty="0"/>
              <a:t>부터 인하된 것은 보건복지부장관이 이 사건 고시를 했기 때문이지 피고가 피고 제품을 제조</a:t>
            </a:r>
            <a:r>
              <a:rPr lang="en-US" altLang="ko-KR" sz="1050" dirty="0"/>
              <a:t>·</a:t>
            </a:r>
            <a:r>
              <a:rPr lang="ko-KR" altLang="en-US" sz="1050" dirty="0"/>
              <a:t>판매했기 때문이 아니므로</a:t>
            </a:r>
            <a:r>
              <a:rPr lang="en-US" altLang="ko-KR" sz="1050" dirty="0"/>
              <a:t>, </a:t>
            </a:r>
            <a:r>
              <a:rPr lang="ko-KR" altLang="en-US" sz="1050" dirty="0"/>
              <a:t>원고가 주장하는 일련의 피고 제품 출시행위 중 피고 제품의 제조</a:t>
            </a:r>
            <a:r>
              <a:rPr lang="en-US" altLang="ko-KR" sz="1050" dirty="0"/>
              <a:t>·</a:t>
            </a:r>
            <a:r>
              <a:rPr lang="ko-KR" altLang="en-US" sz="1050" dirty="0"/>
              <a:t>판매행위를 원고 제품 상한금액 인하의 원인이라고 볼 수 없다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바</a:t>
            </a:r>
            <a:r>
              <a:rPr lang="en-US" altLang="ko-KR" sz="1050" dirty="0">
                <a:highlight>
                  <a:srgbClr val="FFFF00"/>
                </a:highlight>
              </a:rPr>
              <a:t>.</a:t>
            </a:r>
            <a:r>
              <a:rPr lang="en-US" altLang="ko-KR" sz="1050" u="sng" dirty="0">
                <a:highlight>
                  <a:srgbClr val="FFFF00"/>
                </a:highlight>
              </a:rPr>
              <a:t> </a:t>
            </a:r>
            <a:r>
              <a:rPr lang="ko-KR" altLang="en-US" sz="1050" u="sng" dirty="0">
                <a:highlight>
                  <a:srgbClr val="FFFF00"/>
                </a:highlight>
              </a:rPr>
              <a:t>피고가 제네릭 의약품인 피고 제품에 관하여 이 사건 요양급여대상 결정신청과 이 사건 판매예정시기 변경신청을 한 이후 보건복지부장관이 이 사건 고시로써 원고 제품의 상한금액 인하 시행시기를 변경하여 원고가 원고 제품의 상한금액 인하라는 불이익을 입게 된 측면은 있다</a:t>
            </a:r>
            <a:r>
              <a:rPr lang="en-US" altLang="ko-KR" sz="1050" u="sng" dirty="0">
                <a:highlight>
                  <a:srgbClr val="FFFF00"/>
                </a:highlight>
              </a:rPr>
              <a:t>. </a:t>
            </a:r>
            <a:r>
              <a:rPr lang="ko-KR" altLang="en-US" sz="1050" u="sng" dirty="0">
                <a:highlight>
                  <a:srgbClr val="FFFF00"/>
                </a:highlight>
              </a:rPr>
              <a:t>그렇지만 피고의 신청행위를 위법하다고 보기 어려운 점</a:t>
            </a:r>
            <a:r>
              <a:rPr lang="en-US" altLang="ko-KR" sz="1050" u="sng" dirty="0">
                <a:highlight>
                  <a:srgbClr val="FFFF00"/>
                </a:highlight>
              </a:rPr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보건복지부장관의 이 사건 고시를 위법한 처분이라고 볼만한 자료도 없는 점</a:t>
            </a:r>
            <a:r>
              <a:rPr lang="en-US" altLang="ko-KR" sz="1050" u="sng" dirty="0">
                <a:highlight>
                  <a:srgbClr val="FFFF00"/>
                </a:highlight>
              </a:rPr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관련 규정의 취지가 국민건강보험 재정을 </a:t>
            </a:r>
            <a:r>
              <a:rPr lang="ko-KR" altLang="en-US" sz="1050" u="sng" dirty="0" err="1">
                <a:highlight>
                  <a:srgbClr val="FFFF00"/>
                </a:highlight>
              </a:rPr>
              <a:t>건전화하여</a:t>
            </a:r>
            <a:r>
              <a:rPr lang="ko-KR" altLang="en-US" sz="1050" u="sng" dirty="0">
                <a:highlight>
                  <a:srgbClr val="FFFF00"/>
                </a:highlight>
              </a:rPr>
              <a:t> 원활한 요양급여를 지속적으로 보장하는 데에 있다는 점과 국민건강보험제도의 공익적 성격 등을 고려하면</a:t>
            </a:r>
            <a:r>
              <a:rPr lang="en-US" altLang="ko-KR" sz="1050" u="sng" dirty="0">
                <a:highlight>
                  <a:srgbClr val="FFFF00"/>
                </a:highlight>
              </a:rPr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위와 같은 원고의 불이익은 제네릭 의약품의 요양급여대상 결정신청이 있으면 보건복지부장관이 </a:t>
            </a:r>
            <a:r>
              <a:rPr lang="ko-KR" altLang="en-US" sz="1050" u="sng" dirty="0" err="1">
                <a:highlight>
                  <a:srgbClr val="FFFF00"/>
                </a:highlight>
              </a:rPr>
              <a:t>최초등재제품의</a:t>
            </a:r>
            <a:r>
              <a:rPr lang="ko-KR" altLang="en-US" sz="1050" u="sng" dirty="0">
                <a:highlight>
                  <a:srgbClr val="FFFF00"/>
                </a:highlight>
              </a:rPr>
              <a:t> 상한금액을 인하할 수 있고</a:t>
            </a:r>
            <a:r>
              <a:rPr lang="en-US" altLang="ko-KR" sz="1050" u="sng" dirty="0">
                <a:highlight>
                  <a:srgbClr val="FFFF00"/>
                </a:highlight>
              </a:rPr>
              <a:t>, </a:t>
            </a:r>
            <a:r>
              <a:rPr lang="ko-KR" altLang="en-US" sz="1050" u="sng" dirty="0" err="1">
                <a:highlight>
                  <a:srgbClr val="FFFF00"/>
                </a:highlight>
              </a:rPr>
              <a:t>최초등재제품</a:t>
            </a:r>
            <a:r>
              <a:rPr lang="ko-KR" altLang="en-US" sz="1050" u="sng" dirty="0">
                <a:highlight>
                  <a:srgbClr val="FFFF00"/>
                </a:highlight>
              </a:rPr>
              <a:t> 특허의 무효가능성이 소명되면 제네릭 의약품을 약제급여목록표 등재 후 즉시 요양급여대상 약제로 판매할 수 있도록 한 관련 제도를 채택한 결과에 따른 것이다</a:t>
            </a:r>
            <a:r>
              <a:rPr lang="en-US" altLang="ko-KR" sz="1050" u="sng" dirty="0">
                <a:highlight>
                  <a:srgbClr val="FFFF00"/>
                </a:highlight>
              </a:rPr>
              <a:t>. </a:t>
            </a:r>
            <a:r>
              <a:rPr lang="ko-KR" altLang="en-US" sz="1050" u="sng" dirty="0">
                <a:highlight>
                  <a:srgbClr val="FFFF00"/>
                </a:highlight>
              </a:rPr>
              <a:t>결국 원고가 원고 제품의 상한금액에 관하여 갖는 이익은 이러한 제도의 테두리 내에서 보호될 수 있는 것에 불과하고</a:t>
            </a:r>
            <a:r>
              <a:rPr lang="en-US" altLang="ko-KR" sz="1050" u="sng" dirty="0">
                <a:highlight>
                  <a:srgbClr val="FFFF00"/>
                </a:highlight>
              </a:rPr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그 제도에서 정한 절차에 따른 결과가 원고에게 불리하게 작용하더라도 이를 피고의 책임으로 돌릴 것은 아니다</a:t>
            </a:r>
            <a:r>
              <a:rPr lang="en-US" altLang="ko-KR" sz="1050" u="sng" dirty="0">
                <a:highlight>
                  <a:srgbClr val="FFFF00"/>
                </a:highlight>
              </a:rPr>
              <a:t>.</a:t>
            </a:r>
          </a:p>
          <a:p>
            <a:pPr marL="180975" indent="-180975" algn="just" fontAlgn="base"/>
            <a:r>
              <a:rPr lang="ko-KR" altLang="en-US" sz="1050" dirty="0"/>
              <a:t>사</a:t>
            </a:r>
            <a:r>
              <a:rPr lang="en-US" altLang="ko-KR" sz="1050" dirty="0"/>
              <a:t>. </a:t>
            </a:r>
            <a:r>
              <a:rPr lang="ko-KR" altLang="en-US" sz="1050" dirty="0"/>
              <a:t>따라서 피고의 행위가 </a:t>
            </a:r>
            <a:r>
              <a:rPr lang="ko-KR" altLang="en-US" sz="1050" dirty="0" err="1"/>
              <a:t>위법하다거나</a:t>
            </a:r>
            <a:r>
              <a:rPr lang="ko-KR" altLang="en-US" sz="1050" dirty="0"/>
              <a:t> 피고의 행위와 원고 제품의 상한금액 인하 사이에 상당인과관계가 있다고 볼 수 없다</a:t>
            </a:r>
            <a:r>
              <a:rPr lang="en-US" altLang="ko-KR" sz="10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22418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04504324-05C8-44EE-906C-4BFD4627B46D}"/>
              </a:ext>
            </a:extLst>
          </p:cNvPr>
          <p:cNvSpPr/>
          <p:nvPr/>
        </p:nvSpPr>
        <p:spPr>
          <a:xfrm>
            <a:off x="2622430" y="1500996"/>
            <a:ext cx="6354952" cy="5003321"/>
          </a:xfrm>
          <a:custGeom>
            <a:avLst/>
            <a:gdLst>
              <a:gd name="connsiteX0" fmla="*/ 0 w 6633713"/>
              <a:gd name="connsiteY0" fmla="*/ 43132 h 5003321"/>
              <a:gd name="connsiteX1" fmla="*/ 0 w 6633713"/>
              <a:gd name="connsiteY1" fmla="*/ 5003321 h 5003321"/>
              <a:gd name="connsiteX2" fmla="*/ 6633713 w 6633713"/>
              <a:gd name="connsiteY2" fmla="*/ 5003321 h 5003321"/>
              <a:gd name="connsiteX3" fmla="*/ 6633713 w 6633713"/>
              <a:gd name="connsiteY3" fmla="*/ 0 h 5003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3713" h="5003321">
                <a:moveTo>
                  <a:pt x="0" y="43132"/>
                </a:moveTo>
                <a:lnTo>
                  <a:pt x="0" y="5003321"/>
                </a:lnTo>
                <a:lnTo>
                  <a:pt x="6633713" y="5003321"/>
                </a:lnTo>
                <a:lnTo>
                  <a:pt x="6633713" y="0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sz="2400" dirty="0"/>
              <a:t>독점적 </a:t>
            </a:r>
            <a:r>
              <a:rPr lang="ko-KR" altLang="en-US" sz="2400" dirty="0" err="1"/>
              <a:t>통상실시권자의</a:t>
            </a:r>
            <a:r>
              <a:rPr lang="ko-KR" altLang="en-US" sz="2400" dirty="0"/>
              <a:t> </a:t>
            </a:r>
            <a:r>
              <a:rPr lang="en-US" altLang="ko-KR" sz="2400" dirty="0"/>
              <a:t>CASE: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한국릴리의</a:t>
            </a:r>
            <a:r>
              <a:rPr lang="ko-KR" altLang="en-US" sz="2400" dirty="0"/>
              <a:t> 약가 인하에 대한 보상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411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F5D4168-136B-4AB7-BC55-ED019DE4DE7A}"/>
              </a:ext>
            </a:extLst>
          </p:cNvPr>
          <p:cNvSpPr/>
          <p:nvPr/>
        </p:nvSpPr>
        <p:spPr>
          <a:xfrm>
            <a:off x="2553898" y="229514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CA120A-CEEC-4143-862F-756DABA1D2AA}"/>
              </a:ext>
            </a:extLst>
          </p:cNvPr>
          <p:cNvSpPr txBox="1"/>
          <p:nvPr/>
        </p:nvSpPr>
        <p:spPr>
          <a:xfrm>
            <a:off x="232371" y="976832"/>
            <a:ext cx="5421669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indent="0" algn="just" fontAlgn="base" latinLnBrk="1">
              <a:spcBef>
                <a:spcPts val="0"/>
              </a:spcBef>
              <a:spcAft>
                <a:spcPts val="600"/>
              </a:spcAft>
              <a:tabLst>
                <a:tab pos="408940" algn="l"/>
                <a:tab pos="624840" algn="l"/>
                <a:tab pos="4561840" algn="r"/>
                <a:tab pos="273050" algn="l"/>
                <a:tab pos="408940" algn="l"/>
                <a:tab pos="624840" algn="l"/>
                <a:tab pos="4561840" algn="r"/>
              </a:tabLst>
            </a:pPr>
            <a:r>
              <a:rPr lang="en-US" altLang="ko-KR" sz="1100" kern="0" spc="-90" dirty="0"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lang="ko-KR" altLang="en-US" sz="1100" kern="0" spc="-90" dirty="0" err="1">
                <a:solidFill>
                  <a:srgbClr val="000000"/>
                </a:solidFill>
                <a:effectLst/>
                <a:latin typeface="+mn-ea"/>
              </a:rPr>
              <a:t>영국릴리는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100" kern="0" spc="-50" dirty="0">
                <a:solidFill>
                  <a:srgbClr val="000000"/>
                </a:solidFill>
                <a:effectLst/>
                <a:latin typeface="+mn-ea"/>
              </a:rPr>
              <a:t>‘</a:t>
            </a:r>
            <a:r>
              <a:rPr lang="ko-KR" altLang="en-US" sz="1100" kern="0" spc="-90" dirty="0" err="1">
                <a:solidFill>
                  <a:srgbClr val="000000"/>
                </a:solidFill>
                <a:effectLst/>
                <a:latin typeface="+mn-ea"/>
              </a:rPr>
              <a:t>올란자핀</a:t>
            </a:r>
            <a:r>
              <a:rPr lang="ko-KR" altLang="en-US" sz="1100" kern="0" spc="-50" dirty="0">
                <a:solidFill>
                  <a:srgbClr val="000000"/>
                </a:solidFill>
                <a:effectLst/>
                <a:latin typeface="+mn-ea"/>
              </a:rPr>
              <a:t>’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 특허발명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특허번호 제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195566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호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특허권 존속기간 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2011. 4. 24.)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의 특허권자</a:t>
            </a:r>
            <a:endParaRPr lang="en-US" altLang="ko-KR" sz="1100" kern="0" spc="-90" dirty="0">
              <a:solidFill>
                <a:srgbClr val="000000"/>
              </a:solidFill>
              <a:effectLst/>
              <a:latin typeface="+mn-ea"/>
            </a:endParaRPr>
          </a:p>
          <a:p>
            <a:pPr algn="just" fontAlgn="base">
              <a:spcAft>
                <a:spcPts val="600"/>
              </a:spcAft>
              <a:tabLst>
                <a:tab pos="408940" algn="l"/>
                <a:tab pos="624840" algn="l"/>
                <a:tab pos="4561840" algn="r"/>
                <a:tab pos="273050" algn="l"/>
                <a:tab pos="408940" algn="l"/>
                <a:tab pos="624840" algn="l"/>
                <a:tab pos="4561840" algn="r"/>
              </a:tabLst>
            </a:pP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lang="ko-KR" altLang="en-US" sz="1100" kern="0" spc="-50" dirty="0" err="1">
                <a:solidFill>
                  <a:srgbClr val="000000"/>
                </a:solidFill>
                <a:effectLst/>
                <a:latin typeface="+mn-ea"/>
              </a:rPr>
              <a:t>한국릴리는</a:t>
            </a:r>
            <a:r>
              <a:rPr lang="ko-KR" altLang="en-US" sz="1100" kern="0" spc="-5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1997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년 이후로 국내 유일한 수입자로서 원고 제품을 국내에 수입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판매</a:t>
            </a:r>
            <a:endParaRPr lang="ko-KR" altLang="en-US" sz="11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2EABB-34DA-4F98-A4D7-48662E151957}"/>
              </a:ext>
            </a:extLst>
          </p:cNvPr>
          <p:cNvSpPr txBox="1"/>
          <p:nvPr/>
        </p:nvSpPr>
        <p:spPr>
          <a:xfrm>
            <a:off x="943856" y="2162158"/>
            <a:ext cx="1077542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한미약품 </a:t>
            </a:r>
            <a:endParaRPr lang="en-US" altLang="ko-KR" sz="1100" dirty="0"/>
          </a:p>
          <a:p>
            <a:pPr algn="ctr"/>
            <a:r>
              <a:rPr lang="ko-KR" altLang="en-US" sz="1100" dirty="0"/>
              <a:t>무효심판청구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65AF651-D371-46E9-807F-D22D48075FB3}"/>
              </a:ext>
            </a:extLst>
          </p:cNvPr>
          <p:cNvSpPr/>
          <p:nvPr/>
        </p:nvSpPr>
        <p:spPr>
          <a:xfrm>
            <a:off x="2553898" y="271627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064101-1DB6-4DE3-849F-1E84484CD2DA}"/>
              </a:ext>
            </a:extLst>
          </p:cNvPr>
          <p:cNvSpPr txBox="1"/>
          <p:nvPr/>
        </p:nvSpPr>
        <p:spPr>
          <a:xfrm>
            <a:off x="943855" y="2658448"/>
            <a:ext cx="1077542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(2009.12.31)</a:t>
            </a:r>
            <a:endParaRPr lang="ko-KR" altLang="en-US" sz="11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4A37EE6-614A-448C-B665-9C0977E23A19}"/>
              </a:ext>
            </a:extLst>
          </p:cNvPr>
          <p:cNvSpPr/>
          <p:nvPr/>
        </p:nvSpPr>
        <p:spPr>
          <a:xfrm>
            <a:off x="2553898" y="314210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3CD166-C380-486F-89C8-8725C2EC44D6}"/>
              </a:ext>
            </a:extLst>
          </p:cNvPr>
          <p:cNvSpPr txBox="1"/>
          <p:nvPr/>
        </p:nvSpPr>
        <p:spPr>
          <a:xfrm>
            <a:off x="943855" y="3138584"/>
            <a:ext cx="1077542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심결취소소송</a:t>
            </a:r>
            <a:endParaRPr lang="en-US" altLang="ko-KR" sz="1100" dirty="0"/>
          </a:p>
          <a:p>
            <a:pPr algn="ctr"/>
            <a:r>
              <a:rPr lang="ko-KR" altLang="en-US" sz="1100" dirty="0"/>
              <a:t>제기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374AD15-FB0C-45A5-879A-9037F23DBC63}"/>
              </a:ext>
            </a:extLst>
          </p:cNvPr>
          <p:cNvSpPr/>
          <p:nvPr/>
        </p:nvSpPr>
        <p:spPr>
          <a:xfrm>
            <a:off x="2553898" y="370089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17A833-3B8F-49AC-A479-E4430114913D}"/>
              </a:ext>
            </a:extLst>
          </p:cNvPr>
          <p:cNvSpPr txBox="1"/>
          <p:nvPr/>
        </p:nvSpPr>
        <p:spPr>
          <a:xfrm>
            <a:off x="943856" y="3643063"/>
            <a:ext cx="1077542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인용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(2010.11.5)</a:t>
            </a:r>
            <a:endParaRPr lang="ko-KR" altLang="en-US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05182CC-60EE-46E0-A93F-BBD8E1ABA8A6}"/>
              </a:ext>
            </a:extLst>
          </p:cNvPr>
          <p:cNvSpPr/>
          <p:nvPr/>
        </p:nvSpPr>
        <p:spPr>
          <a:xfrm>
            <a:off x="2553898" y="45462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ADDBBF-500F-4AEA-8D87-85D6F3B7AD31}"/>
              </a:ext>
            </a:extLst>
          </p:cNvPr>
          <p:cNvSpPr txBox="1"/>
          <p:nvPr/>
        </p:nvSpPr>
        <p:spPr>
          <a:xfrm>
            <a:off x="943856" y="4413333"/>
            <a:ext cx="1077541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영국릴리</a:t>
            </a:r>
            <a:endParaRPr lang="en-US" altLang="ko-KR" sz="1100" dirty="0"/>
          </a:p>
          <a:p>
            <a:pPr algn="ctr"/>
            <a:r>
              <a:rPr lang="ko-KR" altLang="en-US" sz="1100" dirty="0"/>
              <a:t>상고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58632EC-6401-420C-97F1-D6479D57069E}"/>
              </a:ext>
            </a:extLst>
          </p:cNvPr>
          <p:cNvSpPr/>
          <p:nvPr/>
        </p:nvSpPr>
        <p:spPr>
          <a:xfrm>
            <a:off x="2553898" y="522580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7BC770-7B39-4E32-96EF-DBC5B7B950E6}"/>
              </a:ext>
            </a:extLst>
          </p:cNvPr>
          <p:cNvSpPr txBox="1"/>
          <p:nvPr/>
        </p:nvSpPr>
        <p:spPr>
          <a:xfrm>
            <a:off x="943856" y="5142092"/>
            <a:ext cx="1037465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/>
              <a:t>인용</a:t>
            </a:r>
            <a:r>
              <a:rPr lang="en-US" altLang="ko-KR" sz="1100" dirty="0"/>
              <a:t>(</a:t>
            </a:r>
            <a:r>
              <a:rPr lang="ko-KR" altLang="en-US" sz="1100" dirty="0" err="1"/>
              <a:t>파기환송</a:t>
            </a:r>
            <a:r>
              <a:rPr lang="en-US" altLang="ko-KR" sz="1100" dirty="0"/>
              <a:t>)</a:t>
            </a:r>
          </a:p>
          <a:p>
            <a:pPr algn="ctr"/>
            <a:r>
              <a:rPr lang="en-US" altLang="ko-KR" sz="1100" dirty="0"/>
              <a:t>(2012.8.23)</a:t>
            </a:r>
            <a:endParaRPr lang="ko-KR" altLang="en-US" sz="110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80161B6-56DC-4AE1-A878-BAF8B68CD4DF}"/>
              </a:ext>
            </a:extLst>
          </p:cNvPr>
          <p:cNvSpPr/>
          <p:nvPr/>
        </p:nvSpPr>
        <p:spPr>
          <a:xfrm>
            <a:off x="2553898" y="56787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921652-DB3D-4DE0-8F0C-C99C9145D510}"/>
              </a:ext>
            </a:extLst>
          </p:cNvPr>
          <p:cNvSpPr txBox="1"/>
          <p:nvPr/>
        </p:nvSpPr>
        <p:spPr>
          <a:xfrm>
            <a:off x="943856" y="5620894"/>
            <a:ext cx="1037465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(2012.12.19)</a:t>
            </a:r>
            <a:endParaRPr lang="ko-KR" altLang="en-US" sz="110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5D046CC-8262-456D-B7AC-EA9583E7F5F0}"/>
              </a:ext>
            </a:extLst>
          </p:cNvPr>
          <p:cNvSpPr/>
          <p:nvPr/>
        </p:nvSpPr>
        <p:spPr>
          <a:xfrm>
            <a:off x="2553898" y="624747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E6BAF7-5CC1-4FD7-8643-5A5CF8A5568B}"/>
              </a:ext>
            </a:extLst>
          </p:cNvPr>
          <p:cNvSpPr txBox="1"/>
          <p:nvPr/>
        </p:nvSpPr>
        <p:spPr>
          <a:xfrm>
            <a:off x="943855" y="6189646"/>
            <a:ext cx="1037465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확정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(2012.12.21)</a:t>
            </a:r>
            <a:endParaRPr lang="ko-KR" altLang="en-US" sz="1100" dirty="0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D3FF88C0-4A3B-462E-8C2B-0534FA493793}"/>
              </a:ext>
            </a:extLst>
          </p:cNvPr>
          <p:cNvCxnSpPr>
            <a:stCxn id="8" idx="3"/>
            <a:endCxn id="13" idx="2"/>
          </p:cNvCxnSpPr>
          <p:nvPr/>
        </p:nvCxnSpPr>
        <p:spPr>
          <a:xfrm flipV="1">
            <a:off x="2021398" y="2375816"/>
            <a:ext cx="532500" cy="17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E36C933-36C9-4C35-BCAA-77DADBAC7D98}"/>
              </a:ext>
            </a:extLst>
          </p:cNvPr>
          <p:cNvCxnSpPr>
            <a:stCxn id="26" idx="3"/>
            <a:endCxn id="25" idx="2"/>
          </p:cNvCxnSpPr>
          <p:nvPr/>
        </p:nvCxnSpPr>
        <p:spPr>
          <a:xfrm flipV="1">
            <a:off x="2021397" y="2796948"/>
            <a:ext cx="532501" cy="76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A19D6D86-3726-46F3-8CF5-1C9E2D5826F4}"/>
              </a:ext>
            </a:extLst>
          </p:cNvPr>
          <p:cNvCxnSpPr>
            <a:stCxn id="28" idx="3"/>
            <a:endCxn id="27" idx="2"/>
          </p:cNvCxnSpPr>
          <p:nvPr/>
        </p:nvCxnSpPr>
        <p:spPr>
          <a:xfrm flipV="1">
            <a:off x="2021397" y="3222774"/>
            <a:ext cx="532501" cy="1312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B8154D24-D026-4223-9C3B-F144D34C39AD}"/>
              </a:ext>
            </a:extLst>
          </p:cNvPr>
          <p:cNvCxnSpPr>
            <a:stCxn id="30" idx="3"/>
            <a:endCxn id="29" idx="2"/>
          </p:cNvCxnSpPr>
          <p:nvPr/>
        </p:nvCxnSpPr>
        <p:spPr>
          <a:xfrm flipV="1">
            <a:off x="2021398" y="3781563"/>
            <a:ext cx="532500" cy="76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24B1347B-9CA3-432B-B51D-02573E6E9722}"/>
              </a:ext>
            </a:extLst>
          </p:cNvPr>
          <p:cNvCxnSpPr>
            <a:stCxn id="32" idx="3"/>
            <a:endCxn id="31" idx="2"/>
          </p:cNvCxnSpPr>
          <p:nvPr/>
        </p:nvCxnSpPr>
        <p:spPr>
          <a:xfrm flipV="1">
            <a:off x="2021397" y="4626914"/>
            <a:ext cx="532501" cy="18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D9045E82-B25C-4F5D-966F-772C7C147AD0}"/>
              </a:ext>
            </a:extLst>
          </p:cNvPr>
          <p:cNvCxnSpPr>
            <a:stCxn id="34" idx="3"/>
            <a:endCxn id="33" idx="2"/>
          </p:cNvCxnSpPr>
          <p:nvPr/>
        </p:nvCxnSpPr>
        <p:spPr>
          <a:xfrm flipV="1">
            <a:off x="1981321" y="5306470"/>
            <a:ext cx="572577" cy="510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14FF034F-69B0-432D-82C0-9D696F47A2A0}"/>
              </a:ext>
            </a:extLst>
          </p:cNvPr>
          <p:cNvCxnSpPr>
            <a:stCxn id="36" idx="3"/>
            <a:endCxn id="35" idx="2"/>
          </p:cNvCxnSpPr>
          <p:nvPr/>
        </p:nvCxnSpPr>
        <p:spPr>
          <a:xfrm flipV="1">
            <a:off x="1981321" y="5759394"/>
            <a:ext cx="572577" cy="76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B94EDD56-8CF3-4D1C-B4C0-6BC7BCF60608}"/>
              </a:ext>
            </a:extLst>
          </p:cNvPr>
          <p:cNvCxnSpPr>
            <a:stCxn id="38" idx="3"/>
            <a:endCxn id="37" idx="1"/>
          </p:cNvCxnSpPr>
          <p:nvPr/>
        </p:nvCxnSpPr>
        <p:spPr>
          <a:xfrm flipV="1">
            <a:off x="1981320" y="6328146"/>
            <a:ext cx="572578" cy="76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E07BDBE-C007-47E7-8AA7-755BCADF08F0}"/>
              </a:ext>
            </a:extLst>
          </p:cNvPr>
          <p:cNvCxnSpPr/>
          <p:nvPr/>
        </p:nvCxnSpPr>
        <p:spPr>
          <a:xfrm>
            <a:off x="646981" y="4942936"/>
            <a:ext cx="3821502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86B3162-1733-4B53-B1EE-722BF88800AA}"/>
              </a:ext>
            </a:extLst>
          </p:cNvPr>
          <p:cNvSpPr txBox="1"/>
          <p:nvPr/>
        </p:nvSpPr>
        <p:spPr>
          <a:xfrm>
            <a:off x="2859385" y="4789047"/>
            <a:ext cx="2069797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존속기간만료</a:t>
            </a:r>
            <a:r>
              <a:rPr lang="en-US" altLang="ko-KR" sz="1400" dirty="0"/>
              <a:t>(2011.4.24)</a:t>
            </a:r>
            <a:endParaRPr lang="ko-KR" altLang="en-US" sz="1400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9B7F3C1-E7B0-4482-B113-810B92F93248}"/>
              </a:ext>
            </a:extLst>
          </p:cNvPr>
          <p:cNvSpPr/>
          <p:nvPr/>
        </p:nvSpPr>
        <p:spPr>
          <a:xfrm>
            <a:off x="2553898" y="1586958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B7331B-6A34-4438-BCAF-CDC1AA9B4FEC}"/>
              </a:ext>
            </a:extLst>
          </p:cNvPr>
          <p:cNvSpPr txBox="1"/>
          <p:nvPr/>
        </p:nvSpPr>
        <p:spPr>
          <a:xfrm>
            <a:off x="3355512" y="1631740"/>
            <a:ext cx="2235319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건강보험심사평가원에 </a:t>
            </a:r>
            <a:endParaRPr lang="en-US" altLang="ko-KR" sz="1100" dirty="0"/>
          </a:p>
          <a:p>
            <a:pPr algn="ctr"/>
            <a:r>
              <a:rPr lang="ko-KR" altLang="en-US" sz="1100"/>
              <a:t>명인제약</a:t>
            </a:r>
            <a:r>
              <a:rPr lang="en-US" altLang="ko-KR" sz="1100"/>
              <a:t>, </a:t>
            </a:r>
            <a:r>
              <a:rPr lang="ko-KR" altLang="en-US" sz="1100" dirty="0"/>
              <a:t>한미약품 </a:t>
            </a:r>
            <a:r>
              <a:rPr lang="ko-KR" altLang="en-US" sz="1100" dirty="0" err="1"/>
              <a:t>복제약</a:t>
            </a:r>
            <a:r>
              <a:rPr lang="ko-KR" altLang="en-US" sz="1100" dirty="0"/>
              <a:t> 요양급여 등재 신청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(2011.4.24 </a:t>
            </a:r>
            <a:r>
              <a:rPr lang="ko-KR" altLang="en-US" sz="1100" dirty="0"/>
              <a:t>이후 판매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965996D-F263-4363-BF30-AEF3F31BB7AD}"/>
              </a:ext>
            </a:extLst>
          </p:cNvPr>
          <p:cNvSpPr/>
          <p:nvPr/>
        </p:nvSpPr>
        <p:spPr>
          <a:xfrm>
            <a:off x="2553898" y="1949413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67BBF2-C94A-430F-A165-33578C66A588}"/>
              </a:ext>
            </a:extLst>
          </p:cNvPr>
          <p:cNvSpPr txBox="1"/>
          <p:nvPr/>
        </p:nvSpPr>
        <p:spPr>
          <a:xfrm>
            <a:off x="3355512" y="2442133"/>
            <a:ext cx="2235319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보건복지부 장관</a:t>
            </a:r>
            <a:r>
              <a:rPr lang="en-US" altLang="ko-KR" sz="1100" dirty="0"/>
              <a:t>)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영국릴리제품의</a:t>
            </a:r>
            <a:r>
              <a:rPr lang="ko-KR" altLang="en-US" sz="1100" dirty="0"/>
              <a:t> 약가 인하 고시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(2011.4.25</a:t>
            </a:r>
            <a:r>
              <a:rPr lang="ko-KR" altLang="en-US" sz="1100" dirty="0"/>
              <a:t>부터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A0800B3-FA66-44EA-8A6A-F2F0334453DB}"/>
              </a:ext>
            </a:extLst>
          </p:cNvPr>
          <p:cNvSpPr txBox="1"/>
          <p:nvPr/>
        </p:nvSpPr>
        <p:spPr>
          <a:xfrm>
            <a:off x="3355512" y="3114715"/>
            <a:ext cx="2235319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건강보험심사평가원에 </a:t>
            </a:r>
            <a:endParaRPr lang="en-US" altLang="ko-KR" sz="1100" dirty="0"/>
          </a:p>
          <a:p>
            <a:pPr algn="ctr"/>
            <a:r>
              <a:rPr lang="ko-KR" altLang="en-US" sz="1100" dirty="0"/>
              <a:t>명인제약</a:t>
            </a:r>
            <a:r>
              <a:rPr lang="en-US" altLang="ko-KR" sz="1100" dirty="0"/>
              <a:t>, </a:t>
            </a:r>
            <a:r>
              <a:rPr lang="ko-KR" altLang="en-US" sz="1100" dirty="0"/>
              <a:t>한미약품 </a:t>
            </a:r>
            <a:r>
              <a:rPr lang="ko-KR" altLang="en-US" sz="1100" dirty="0" err="1"/>
              <a:t>복제약</a:t>
            </a:r>
            <a:r>
              <a:rPr lang="ko-KR" altLang="en-US" sz="1100" dirty="0"/>
              <a:t> 요양급여 변경 신청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(2010.11.10 </a:t>
            </a:r>
            <a:r>
              <a:rPr lang="ko-KR" altLang="en-US" sz="1100" dirty="0"/>
              <a:t>즉시 판매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DB27E68-B7E2-47FC-BD8C-B1675EE997E2}"/>
              </a:ext>
            </a:extLst>
          </p:cNvPr>
          <p:cNvSpPr/>
          <p:nvPr/>
        </p:nvSpPr>
        <p:spPr>
          <a:xfrm>
            <a:off x="2553898" y="4027342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EE232F-6524-487E-AA84-5F75911239C3}"/>
              </a:ext>
            </a:extLst>
          </p:cNvPr>
          <p:cNvSpPr txBox="1"/>
          <p:nvPr/>
        </p:nvSpPr>
        <p:spPr>
          <a:xfrm>
            <a:off x="3355512" y="3973220"/>
            <a:ext cx="2235319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보건복지부 장관</a:t>
            </a:r>
            <a:r>
              <a:rPr lang="en-US" altLang="ko-KR" sz="1100" dirty="0"/>
              <a:t>)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영국릴리제품의</a:t>
            </a:r>
            <a:r>
              <a:rPr lang="ko-KR" altLang="en-US" sz="1100" dirty="0"/>
              <a:t> 약가 인하 변경 고시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(2011.1.1</a:t>
            </a:r>
            <a:r>
              <a:rPr lang="ko-KR" altLang="en-US" sz="1100" dirty="0"/>
              <a:t>부터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395F48E8-58E0-4B40-B176-FAEB50527AD9}"/>
              </a:ext>
            </a:extLst>
          </p:cNvPr>
          <p:cNvSpPr/>
          <p:nvPr/>
        </p:nvSpPr>
        <p:spPr>
          <a:xfrm>
            <a:off x="2553898" y="4286042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C9B0D4E-7042-4EF5-8A34-C9FE31C4E446}"/>
              </a:ext>
            </a:extLst>
          </p:cNvPr>
          <p:cNvSpPr/>
          <p:nvPr/>
        </p:nvSpPr>
        <p:spPr>
          <a:xfrm>
            <a:off x="8902725" y="565796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F826A778-6777-407F-906A-EEFB91B9F57E}"/>
              </a:ext>
            </a:extLst>
          </p:cNvPr>
          <p:cNvCxnSpPr>
            <a:cxnSpLocks/>
            <a:endCxn id="58" idx="6"/>
          </p:cNvCxnSpPr>
          <p:nvPr/>
        </p:nvCxnSpPr>
        <p:spPr>
          <a:xfrm rot="10800000">
            <a:off x="2708636" y="1667628"/>
            <a:ext cx="646874" cy="17955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549549E1-F9E3-4B3F-B19A-116999FF6B24}"/>
              </a:ext>
            </a:extLst>
          </p:cNvPr>
          <p:cNvCxnSpPr>
            <a:cxnSpLocks/>
            <a:stCxn id="63" idx="1"/>
            <a:endCxn id="64" idx="6"/>
          </p:cNvCxnSpPr>
          <p:nvPr/>
        </p:nvCxnSpPr>
        <p:spPr>
          <a:xfrm rot="10800000" flipV="1">
            <a:off x="2708636" y="3499435"/>
            <a:ext cx="646876" cy="6085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18664F3E-3110-4B6B-A410-2AFECEE2C343}"/>
              </a:ext>
            </a:extLst>
          </p:cNvPr>
          <p:cNvCxnSpPr>
            <a:cxnSpLocks/>
            <a:stCxn id="62" idx="1"/>
            <a:endCxn id="61" idx="6"/>
          </p:cNvCxnSpPr>
          <p:nvPr/>
        </p:nvCxnSpPr>
        <p:spPr>
          <a:xfrm rot="10800000">
            <a:off x="2708636" y="2030083"/>
            <a:ext cx="646876" cy="71213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DE0623C2-4CFA-4DE0-9EEA-9307CC65DBBE}"/>
              </a:ext>
            </a:extLst>
          </p:cNvPr>
          <p:cNvCxnSpPr>
            <a:cxnSpLocks/>
            <a:stCxn id="65" idx="1"/>
            <a:endCxn id="66" idx="6"/>
          </p:cNvCxnSpPr>
          <p:nvPr/>
        </p:nvCxnSpPr>
        <p:spPr>
          <a:xfrm rot="10800000" flipV="1">
            <a:off x="2708636" y="4273301"/>
            <a:ext cx="646876" cy="9340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45E0076-FD89-449D-8351-A15CA7CAD3B6}"/>
              </a:ext>
            </a:extLst>
          </p:cNvPr>
          <p:cNvSpPr txBox="1"/>
          <p:nvPr/>
        </p:nvSpPr>
        <p:spPr>
          <a:xfrm>
            <a:off x="6337099" y="5667491"/>
            <a:ext cx="2147166" cy="600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영국릴리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한국릴리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algn="ctr"/>
            <a:r>
              <a:rPr lang="ko-KR" altLang="en-US" sz="1100" dirty="0"/>
              <a:t>한미약품 상대로 손해배상 소송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(2014.4.18)</a:t>
            </a:r>
            <a:endParaRPr lang="ko-KR" altLang="en-US" sz="1100" dirty="0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D04E3322-A349-44F9-A795-B86BD08E5526}"/>
              </a:ext>
            </a:extLst>
          </p:cNvPr>
          <p:cNvSpPr/>
          <p:nvPr/>
        </p:nvSpPr>
        <p:spPr>
          <a:xfrm>
            <a:off x="8902725" y="5004080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2C540C6-BEFB-4EE3-B195-8DC46DE97DA1}"/>
              </a:ext>
            </a:extLst>
          </p:cNvPr>
          <p:cNvSpPr txBox="1"/>
          <p:nvPr/>
        </p:nvSpPr>
        <p:spPr>
          <a:xfrm>
            <a:off x="6337099" y="4763448"/>
            <a:ext cx="2147166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영국릴리</a:t>
            </a:r>
            <a:r>
              <a:rPr lang="ko-KR" altLang="en-US" sz="1100" dirty="0"/>
              <a:t> 인용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한국릴리</a:t>
            </a:r>
            <a:r>
              <a:rPr lang="ko-KR" altLang="en-US" sz="1100" dirty="0"/>
              <a:t> 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서울중앙지방법원 </a:t>
            </a:r>
            <a:r>
              <a:rPr lang="en-US" altLang="ko-KR" sz="1100" dirty="0"/>
              <a:t>2015. 6. 19.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2014</a:t>
            </a:r>
            <a:r>
              <a:rPr lang="ko-KR" altLang="en-US" sz="1100" dirty="0"/>
              <a:t>가합</a:t>
            </a:r>
            <a:r>
              <a:rPr lang="en-US" altLang="ko-KR" sz="1100" dirty="0"/>
              <a:t>526972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890EEE3-E07F-442E-B251-D8E5AC27171D}"/>
              </a:ext>
            </a:extLst>
          </p:cNvPr>
          <p:cNvSpPr txBox="1"/>
          <p:nvPr/>
        </p:nvSpPr>
        <p:spPr>
          <a:xfrm>
            <a:off x="6337099" y="4210650"/>
            <a:ext cx="2147166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한국릴리</a:t>
            </a:r>
            <a:r>
              <a:rPr lang="ko-KR" altLang="en-US" sz="1100" dirty="0"/>
              <a:t> 항소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(2015.7.9)</a:t>
            </a:r>
            <a:endParaRPr lang="ko-KR" altLang="en-US" sz="11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585A82C-ABBE-4406-9AF1-CBADB5E0DC54}"/>
              </a:ext>
            </a:extLst>
          </p:cNvPr>
          <p:cNvSpPr txBox="1"/>
          <p:nvPr/>
        </p:nvSpPr>
        <p:spPr>
          <a:xfrm>
            <a:off x="6337099" y="3514453"/>
            <a:ext cx="2147166" cy="600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서울고등법원 </a:t>
            </a:r>
            <a:r>
              <a:rPr lang="en-US" altLang="ko-KR" sz="1100" dirty="0"/>
              <a:t>2016. 10. 6.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2015</a:t>
            </a:r>
            <a:r>
              <a:rPr lang="ko-KR" altLang="en-US" sz="1100" dirty="0"/>
              <a:t>나</a:t>
            </a:r>
            <a:r>
              <a:rPr lang="en-US" altLang="ko-KR" sz="1100" dirty="0"/>
              <a:t>2040348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D816325-5A39-4EE0-B115-6FF31D00319F}"/>
              </a:ext>
            </a:extLst>
          </p:cNvPr>
          <p:cNvSpPr txBox="1"/>
          <p:nvPr/>
        </p:nvSpPr>
        <p:spPr>
          <a:xfrm>
            <a:off x="6337099" y="3082674"/>
            <a:ext cx="21471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한국릴리</a:t>
            </a:r>
            <a:r>
              <a:rPr lang="ko-KR" altLang="en-US" sz="1100" dirty="0"/>
              <a:t> 상고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8292C4-834F-4519-9A3C-772949E8B090}"/>
              </a:ext>
            </a:extLst>
          </p:cNvPr>
          <p:cNvSpPr txBox="1"/>
          <p:nvPr/>
        </p:nvSpPr>
        <p:spPr>
          <a:xfrm>
            <a:off x="6337099" y="2013961"/>
            <a:ext cx="2147166" cy="600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대법원 </a:t>
            </a:r>
            <a:r>
              <a:rPr lang="en-US" altLang="ko-KR" sz="1100" dirty="0"/>
              <a:t>2020. 11. 26.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2015</a:t>
            </a:r>
            <a:r>
              <a:rPr lang="ko-KR" altLang="en-US" sz="1100" dirty="0"/>
              <a:t>다</a:t>
            </a:r>
            <a:r>
              <a:rPr lang="en-US" altLang="ko-KR" sz="1100" dirty="0"/>
              <a:t>260707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9BD4DA98-7BA3-40B2-947A-6541051F441D}"/>
              </a:ext>
            </a:extLst>
          </p:cNvPr>
          <p:cNvSpPr/>
          <p:nvPr/>
        </p:nvSpPr>
        <p:spPr>
          <a:xfrm>
            <a:off x="8902725" y="473582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124E0653-9D13-414D-90AE-7E4F499898FF}"/>
              </a:ext>
            </a:extLst>
          </p:cNvPr>
          <p:cNvSpPr/>
          <p:nvPr/>
        </p:nvSpPr>
        <p:spPr>
          <a:xfrm>
            <a:off x="8902725" y="416041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55B9748E-EDD1-48AE-8B3C-4483C4239B8A}"/>
              </a:ext>
            </a:extLst>
          </p:cNvPr>
          <p:cNvSpPr/>
          <p:nvPr/>
        </p:nvSpPr>
        <p:spPr>
          <a:xfrm>
            <a:off x="8902725" y="365733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8835AC98-58C3-4F0B-90E9-8A783DDDA763}"/>
              </a:ext>
            </a:extLst>
          </p:cNvPr>
          <p:cNvSpPr/>
          <p:nvPr/>
        </p:nvSpPr>
        <p:spPr>
          <a:xfrm>
            <a:off x="8902725" y="179336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200B8229-B56E-4F25-BD67-1363F34015A0}"/>
              </a:ext>
            </a:extLst>
          </p:cNvPr>
          <p:cNvCxnSpPr>
            <a:cxnSpLocks/>
            <a:stCxn id="86" idx="3"/>
            <a:endCxn id="67" idx="2"/>
          </p:cNvCxnSpPr>
          <p:nvPr/>
        </p:nvCxnSpPr>
        <p:spPr>
          <a:xfrm flipV="1">
            <a:off x="8484265" y="5738631"/>
            <a:ext cx="418460" cy="22894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A1ADFF48-4B44-4BD1-BFB7-DE708B8D4B0A}"/>
              </a:ext>
            </a:extLst>
          </p:cNvPr>
          <p:cNvCxnSpPr>
            <a:cxnSpLocks/>
            <a:stCxn id="93" idx="3"/>
            <a:endCxn id="92" idx="2"/>
          </p:cNvCxnSpPr>
          <p:nvPr/>
        </p:nvCxnSpPr>
        <p:spPr>
          <a:xfrm flipV="1">
            <a:off x="8484265" y="5084749"/>
            <a:ext cx="418460" cy="6342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A86998D4-291F-4F9B-9809-69B79C0028DF}"/>
              </a:ext>
            </a:extLst>
          </p:cNvPr>
          <p:cNvCxnSpPr>
            <a:cxnSpLocks/>
            <a:stCxn id="94" idx="3"/>
            <a:endCxn id="98" idx="2"/>
          </p:cNvCxnSpPr>
          <p:nvPr/>
        </p:nvCxnSpPr>
        <p:spPr>
          <a:xfrm>
            <a:off x="8484265" y="4426094"/>
            <a:ext cx="418460" cy="39040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3024D2D5-B0A6-4A93-8E40-D682420BD6B3}"/>
              </a:ext>
            </a:extLst>
          </p:cNvPr>
          <p:cNvCxnSpPr>
            <a:cxnSpLocks/>
            <a:stCxn id="95" idx="3"/>
            <a:endCxn id="99" idx="2"/>
          </p:cNvCxnSpPr>
          <p:nvPr/>
        </p:nvCxnSpPr>
        <p:spPr>
          <a:xfrm>
            <a:off x="8484265" y="3814535"/>
            <a:ext cx="418460" cy="42654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69ED5A70-D4B7-418F-9FD0-995A5372E062}"/>
              </a:ext>
            </a:extLst>
          </p:cNvPr>
          <p:cNvCxnSpPr>
            <a:cxnSpLocks/>
            <a:stCxn id="96" idx="3"/>
            <a:endCxn id="100" idx="2"/>
          </p:cNvCxnSpPr>
          <p:nvPr/>
        </p:nvCxnSpPr>
        <p:spPr>
          <a:xfrm>
            <a:off x="8484265" y="3213479"/>
            <a:ext cx="418460" cy="52452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32963B00-53B8-4FA3-8664-5B53962A1A26}"/>
              </a:ext>
            </a:extLst>
          </p:cNvPr>
          <p:cNvCxnSpPr>
            <a:cxnSpLocks/>
            <a:stCxn id="97" idx="3"/>
            <a:endCxn id="101" idx="2"/>
          </p:cNvCxnSpPr>
          <p:nvPr/>
        </p:nvCxnSpPr>
        <p:spPr>
          <a:xfrm flipV="1">
            <a:off x="8484265" y="1874037"/>
            <a:ext cx="418460" cy="44000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80498797-60D8-4CC3-AC58-DCAF151A5217}"/>
              </a:ext>
            </a:extLst>
          </p:cNvPr>
          <p:cNvSpPr txBox="1"/>
          <p:nvPr/>
        </p:nvSpPr>
        <p:spPr>
          <a:xfrm>
            <a:off x="9511434" y="5107295"/>
            <a:ext cx="2147166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영국릴리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한국릴리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algn="ctr"/>
            <a:r>
              <a:rPr lang="ko-KR" altLang="en-US" sz="1100" dirty="0"/>
              <a:t>명인제약 상대로 손해배상 소송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(2014.8.6)</a:t>
            </a:r>
            <a:endParaRPr lang="ko-KR" altLang="en-US" sz="11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DAA358D-686A-40BD-90A2-AFCC7482B6AF}"/>
              </a:ext>
            </a:extLst>
          </p:cNvPr>
          <p:cNvSpPr txBox="1"/>
          <p:nvPr/>
        </p:nvSpPr>
        <p:spPr>
          <a:xfrm>
            <a:off x="9511434" y="3652646"/>
            <a:ext cx="2147166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영국릴리</a:t>
            </a:r>
            <a:r>
              <a:rPr lang="en-US" altLang="ko-KR" sz="1100" dirty="0"/>
              <a:t> </a:t>
            </a:r>
            <a:r>
              <a:rPr lang="ko-KR" altLang="en-US" sz="1100" dirty="0"/>
              <a:t>인용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한국릴리</a:t>
            </a:r>
            <a:r>
              <a:rPr lang="ko-KR" altLang="en-US" sz="1100" dirty="0"/>
              <a:t> 일부인용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서울중앙지방법원 </a:t>
            </a:r>
            <a:r>
              <a:rPr lang="en-US" altLang="ko-KR" sz="1100" dirty="0"/>
              <a:t>2017. 9. 15.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2014</a:t>
            </a:r>
            <a:r>
              <a:rPr lang="ko-KR" altLang="en-US" sz="1100" dirty="0"/>
              <a:t>가합</a:t>
            </a:r>
            <a:r>
              <a:rPr lang="en-US" altLang="ko-KR" sz="1100" dirty="0"/>
              <a:t>556560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4100F1-6F2E-404E-A529-80B615ABFEF9}"/>
              </a:ext>
            </a:extLst>
          </p:cNvPr>
          <p:cNvSpPr txBox="1"/>
          <p:nvPr/>
        </p:nvSpPr>
        <p:spPr>
          <a:xfrm>
            <a:off x="9511434" y="3038516"/>
            <a:ext cx="2147166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명인제약 항소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(2017.10.10)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7B0FA40-965B-4714-8AB8-347B770EE2D2}"/>
              </a:ext>
            </a:extLst>
          </p:cNvPr>
          <p:cNvSpPr txBox="1"/>
          <p:nvPr/>
        </p:nvSpPr>
        <p:spPr>
          <a:xfrm>
            <a:off x="9511434" y="2283332"/>
            <a:ext cx="2147166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특허법원 </a:t>
            </a:r>
            <a:r>
              <a:rPr lang="en-US" altLang="ko-KR" sz="1100" dirty="0"/>
              <a:t>2018. 2. 8.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2017</a:t>
            </a:r>
            <a:r>
              <a:rPr lang="ko-KR" altLang="en-US" sz="1100" dirty="0"/>
              <a:t>나</a:t>
            </a:r>
            <a:r>
              <a:rPr lang="en-US" altLang="ko-KR" sz="1100" dirty="0"/>
              <a:t>2332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242A304-F8B9-4C1E-A2F3-301FFD143F5C}"/>
              </a:ext>
            </a:extLst>
          </p:cNvPr>
          <p:cNvSpPr txBox="1"/>
          <p:nvPr/>
        </p:nvSpPr>
        <p:spPr>
          <a:xfrm>
            <a:off x="9511434" y="1846232"/>
            <a:ext cx="2147166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명인제약 상고</a:t>
            </a:r>
            <a:endParaRPr lang="en-US" altLang="ko-KR" sz="11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09810C0-C542-4E3E-9C51-FB88C62FACCB}"/>
              </a:ext>
            </a:extLst>
          </p:cNvPr>
          <p:cNvSpPr txBox="1"/>
          <p:nvPr/>
        </p:nvSpPr>
        <p:spPr>
          <a:xfrm>
            <a:off x="9511434" y="1062409"/>
            <a:ext cx="2147166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인용</a:t>
            </a:r>
            <a:r>
              <a:rPr lang="en-US" altLang="ko-KR" sz="1100" dirty="0"/>
              <a:t>(</a:t>
            </a:r>
            <a:r>
              <a:rPr lang="ko-KR" altLang="en-US" sz="1100" dirty="0" err="1"/>
              <a:t>파기환송</a:t>
            </a:r>
            <a:r>
              <a:rPr lang="en-US" altLang="ko-KR" sz="1100" dirty="0"/>
              <a:t>)</a:t>
            </a:r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대법원 </a:t>
            </a:r>
            <a:r>
              <a:rPr lang="en-US" altLang="ko-KR" sz="1100" dirty="0"/>
              <a:t>2020. 11. 26. </a:t>
            </a:r>
            <a:r>
              <a:rPr lang="ko-KR" altLang="en-US" sz="1100" dirty="0"/>
              <a:t>선고</a:t>
            </a:r>
            <a:r>
              <a:rPr lang="en-US" altLang="ko-KR" sz="1100" dirty="0"/>
              <a:t>2018</a:t>
            </a:r>
            <a:r>
              <a:rPr lang="ko-KR" altLang="en-US" sz="1100" dirty="0"/>
              <a:t>다</a:t>
            </a:r>
            <a:r>
              <a:rPr lang="en-US" altLang="ko-KR" sz="1100" dirty="0"/>
              <a:t>221676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D0C38523-0F0A-4880-AF40-B6FC2BFC5EC7}"/>
              </a:ext>
            </a:extLst>
          </p:cNvPr>
          <p:cNvSpPr/>
          <p:nvPr/>
        </p:nvSpPr>
        <p:spPr>
          <a:xfrm>
            <a:off x="8902725" y="5239058"/>
            <a:ext cx="154738" cy="1613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BF3801E5-9B3E-4189-8D79-E878FC874EA8}"/>
              </a:ext>
            </a:extLst>
          </p:cNvPr>
          <p:cNvSpPr/>
          <p:nvPr/>
        </p:nvSpPr>
        <p:spPr>
          <a:xfrm>
            <a:off x="8902725" y="3419369"/>
            <a:ext cx="154738" cy="1613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C68B0177-EE57-4B97-AF18-DB268125B1D7}"/>
              </a:ext>
            </a:extLst>
          </p:cNvPr>
          <p:cNvSpPr/>
          <p:nvPr/>
        </p:nvSpPr>
        <p:spPr>
          <a:xfrm>
            <a:off x="8902725" y="3098306"/>
            <a:ext cx="154738" cy="1613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C1FF5CD1-DF11-48DA-A0E6-BF338A65F34B}"/>
              </a:ext>
            </a:extLst>
          </p:cNvPr>
          <p:cNvSpPr/>
          <p:nvPr/>
        </p:nvSpPr>
        <p:spPr>
          <a:xfrm>
            <a:off x="8902725" y="2435637"/>
            <a:ext cx="154738" cy="1613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92FD9310-1D51-42A6-BF24-81CBC30761C2}"/>
              </a:ext>
            </a:extLst>
          </p:cNvPr>
          <p:cNvSpPr/>
          <p:nvPr/>
        </p:nvSpPr>
        <p:spPr>
          <a:xfrm>
            <a:off x="8902725" y="2081489"/>
            <a:ext cx="154738" cy="1613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F43872C2-75B5-402C-A8AB-AE0542E64419}"/>
              </a:ext>
            </a:extLst>
          </p:cNvPr>
          <p:cNvCxnSpPr>
            <a:cxnSpLocks/>
            <a:stCxn id="133" idx="1"/>
            <a:endCxn id="101" idx="6"/>
          </p:cNvCxnSpPr>
          <p:nvPr/>
        </p:nvCxnSpPr>
        <p:spPr>
          <a:xfrm rot="10800000" flipV="1">
            <a:off x="9057464" y="1362491"/>
            <a:ext cx="453971" cy="51154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3A63990C-2733-4190-81DF-24B99C74E712}"/>
              </a:ext>
            </a:extLst>
          </p:cNvPr>
          <p:cNvCxnSpPr>
            <a:cxnSpLocks/>
            <a:stCxn id="127" idx="1"/>
            <a:endCxn id="135" idx="6"/>
          </p:cNvCxnSpPr>
          <p:nvPr/>
        </p:nvCxnSpPr>
        <p:spPr>
          <a:xfrm rot="10800000">
            <a:off x="9057464" y="5319727"/>
            <a:ext cx="453971" cy="8765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14A4D0B3-E31C-4C25-8B60-D6CE8AEAFA0E}"/>
              </a:ext>
            </a:extLst>
          </p:cNvPr>
          <p:cNvCxnSpPr>
            <a:cxnSpLocks/>
            <a:stCxn id="128" idx="1"/>
            <a:endCxn id="136" idx="6"/>
          </p:cNvCxnSpPr>
          <p:nvPr/>
        </p:nvCxnSpPr>
        <p:spPr>
          <a:xfrm rot="10800000">
            <a:off x="9057464" y="3500039"/>
            <a:ext cx="453971" cy="53732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연결선: 꺾임 148">
            <a:extLst>
              <a:ext uri="{FF2B5EF4-FFF2-40B4-BE49-F238E27FC236}">
                <a16:creationId xmlns:a16="http://schemas.microsoft.com/office/drawing/2014/main" id="{DD467AB8-409C-4536-A5A3-58456ABD1826}"/>
              </a:ext>
            </a:extLst>
          </p:cNvPr>
          <p:cNvCxnSpPr>
            <a:cxnSpLocks/>
            <a:stCxn id="130" idx="1"/>
            <a:endCxn id="137" idx="6"/>
          </p:cNvCxnSpPr>
          <p:nvPr/>
        </p:nvCxnSpPr>
        <p:spPr>
          <a:xfrm rot="10800000">
            <a:off x="9057464" y="3178976"/>
            <a:ext cx="453971" cy="7498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연결선: 꺾임 151">
            <a:extLst>
              <a:ext uri="{FF2B5EF4-FFF2-40B4-BE49-F238E27FC236}">
                <a16:creationId xmlns:a16="http://schemas.microsoft.com/office/drawing/2014/main" id="{D700402E-9981-4F06-A126-8F6530EFAFC5}"/>
              </a:ext>
            </a:extLst>
          </p:cNvPr>
          <p:cNvCxnSpPr>
            <a:cxnSpLocks/>
            <a:stCxn id="131" idx="1"/>
            <a:endCxn id="138" idx="6"/>
          </p:cNvCxnSpPr>
          <p:nvPr/>
        </p:nvCxnSpPr>
        <p:spPr>
          <a:xfrm rot="10800000">
            <a:off x="9057464" y="2516306"/>
            <a:ext cx="453971" cy="6710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연결선: 꺾임 154">
            <a:extLst>
              <a:ext uri="{FF2B5EF4-FFF2-40B4-BE49-F238E27FC236}">
                <a16:creationId xmlns:a16="http://schemas.microsoft.com/office/drawing/2014/main" id="{28809000-3230-43E4-8D8F-B0A7E67E7281}"/>
              </a:ext>
            </a:extLst>
          </p:cNvPr>
          <p:cNvCxnSpPr>
            <a:cxnSpLocks/>
            <a:stCxn id="132" idx="1"/>
            <a:endCxn id="139" idx="6"/>
          </p:cNvCxnSpPr>
          <p:nvPr/>
        </p:nvCxnSpPr>
        <p:spPr>
          <a:xfrm rot="10800000" flipV="1">
            <a:off x="9057464" y="1977036"/>
            <a:ext cx="453971" cy="18512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1365FBD-EC7C-4356-AD90-4BE7928DC5B9}"/>
              </a:ext>
            </a:extLst>
          </p:cNvPr>
          <p:cNvSpPr txBox="1"/>
          <p:nvPr/>
        </p:nvSpPr>
        <p:spPr>
          <a:xfrm>
            <a:off x="2708635" y="6148361"/>
            <a:ext cx="6120440" cy="31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indent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100" kern="100" spc="-100" dirty="0">
                <a:solidFill>
                  <a:srgbClr val="000000"/>
                </a:solidFill>
                <a:effectLst/>
                <a:latin typeface="+mn-ea"/>
              </a:rPr>
              <a:t>대법원 </a:t>
            </a:r>
            <a:r>
              <a:rPr lang="en-US" altLang="ko-KR" sz="1100" kern="100" spc="-100" dirty="0">
                <a:solidFill>
                  <a:srgbClr val="000000"/>
                </a:solidFill>
                <a:effectLst/>
                <a:latin typeface="+mn-ea"/>
              </a:rPr>
              <a:t>2012. 8. 23. </a:t>
            </a:r>
            <a:r>
              <a:rPr lang="ko-KR" altLang="en-US" sz="1100" kern="100" spc="-100" dirty="0">
                <a:solidFill>
                  <a:srgbClr val="000000"/>
                </a:solidFill>
                <a:effectLst/>
                <a:latin typeface="+mn-ea"/>
              </a:rPr>
              <a:t>선고 </a:t>
            </a:r>
            <a:r>
              <a:rPr lang="en-US" altLang="ko-KR" sz="1100" kern="100" spc="-100" dirty="0">
                <a:solidFill>
                  <a:srgbClr val="000000"/>
                </a:solidFill>
                <a:effectLst/>
                <a:latin typeface="+mn-ea"/>
              </a:rPr>
              <a:t>2010</a:t>
            </a:r>
            <a:r>
              <a:rPr lang="ko-KR" altLang="en-US" sz="1100" kern="100" spc="-100" dirty="0">
                <a:solidFill>
                  <a:srgbClr val="000000"/>
                </a:solidFill>
                <a:effectLst/>
                <a:latin typeface="+mn-ea"/>
              </a:rPr>
              <a:t>후</a:t>
            </a:r>
            <a:r>
              <a:rPr lang="en-US" altLang="ko-KR" sz="1100" kern="100" spc="-100" dirty="0">
                <a:solidFill>
                  <a:srgbClr val="000000"/>
                </a:solidFill>
                <a:effectLst/>
                <a:latin typeface="+mn-ea"/>
              </a:rPr>
              <a:t>3424(</a:t>
            </a:r>
            <a:r>
              <a:rPr lang="ko-KR" altLang="en-US" sz="1100" kern="100" spc="-100" dirty="0">
                <a:solidFill>
                  <a:srgbClr val="000000"/>
                </a:solidFill>
                <a:effectLst/>
                <a:latin typeface="+mn-ea"/>
              </a:rPr>
              <a:t>선택발명의 진보성</a:t>
            </a:r>
            <a:r>
              <a:rPr lang="en-US" altLang="ko-KR" sz="1100" kern="100" spc="-100">
                <a:solidFill>
                  <a:srgbClr val="000000"/>
                </a:solidFill>
                <a:effectLst/>
                <a:latin typeface="+mn-ea"/>
              </a:rPr>
              <a:t>)</a:t>
            </a:r>
            <a:endParaRPr lang="ko-KR" altLang="en-US" sz="1100" kern="100" spc="-10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9971A-48D1-A9DA-F154-D5F006944D2A}"/>
              </a:ext>
            </a:extLst>
          </p:cNvPr>
          <p:cNvSpPr txBox="1"/>
          <p:nvPr/>
        </p:nvSpPr>
        <p:spPr>
          <a:xfrm>
            <a:off x="9152706" y="5889519"/>
            <a:ext cx="2664825" cy="83099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- </a:t>
            </a:r>
            <a:r>
              <a:rPr lang="ko-KR" altLang="en-US" sz="1200" dirty="0" err="1">
                <a:solidFill>
                  <a:schemeClr val="accent2">
                    <a:lumMod val="50000"/>
                  </a:schemeClr>
                </a:solidFill>
              </a:rPr>
              <a:t>영국릴리는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 판매에 대한 손해배상</a:t>
            </a:r>
            <a:endParaRPr lang="en-US" altLang="ko-KR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  (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특허권의 침해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)</a:t>
            </a:r>
          </a:p>
          <a:p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- </a:t>
            </a:r>
            <a:r>
              <a:rPr lang="ko-KR" altLang="en-US" sz="1200" dirty="0" err="1">
                <a:solidFill>
                  <a:schemeClr val="accent2">
                    <a:lumMod val="50000"/>
                  </a:schemeClr>
                </a:solidFill>
              </a:rPr>
              <a:t>한국릴리는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 약가 인하에 대한 손해배상</a:t>
            </a:r>
            <a:endParaRPr lang="en-US" altLang="ko-KR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  (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독점적 통상실시권에 대한 불법행위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91748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41D0BB0B-1F8E-4831-9E42-BE222378E1EC}"/>
              </a:ext>
            </a:extLst>
          </p:cNvPr>
          <p:cNvSpPr txBox="1"/>
          <p:nvPr/>
        </p:nvSpPr>
        <p:spPr>
          <a:xfrm>
            <a:off x="10848727" y="3159959"/>
            <a:ext cx="508473" cy="307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판단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전용실시권 등록의 제한 </a:t>
            </a:r>
            <a:r>
              <a:rPr lang="en-US" altLang="ko-KR" dirty="0"/>
              <a:t>CASE(</a:t>
            </a:r>
            <a:r>
              <a:rPr lang="ko-KR" altLang="en-US" dirty="0"/>
              <a:t>제</a:t>
            </a:r>
            <a:r>
              <a:rPr lang="en-US" altLang="ko-KR" dirty="0"/>
              <a:t>101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412</a:t>
            </a:fld>
            <a:endParaRPr lang="ko-KR" altLang="en-US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498123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2013. 1. 24.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2011</a:t>
            </a:r>
            <a:r>
              <a:rPr lang="ko-KR" altLang="en-US" sz="1400" dirty="0"/>
              <a:t>도</a:t>
            </a:r>
            <a:r>
              <a:rPr lang="en-US" altLang="ko-KR" sz="1400" dirty="0"/>
              <a:t>4645 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특허법위반</a:t>
            </a:r>
            <a:r>
              <a:rPr lang="en-US" altLang="ko-KR" sz="1400" dirty="0"/>
              <a:t>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53497" y="1324605"/>
            <a:ext cx="116608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특허법 제</a:t>
            </a:r>
            <a:r>
              <a:rPr lang="en-US" altLang="ko-KR" sz="1400" dirty="0"/>
              <a:t>101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항은 “다음 각 호에 해당하는 사항은 이를 등록하지 아니하면 그 효력이 발생하지 </a:t>
            </a:r>
            <a:r>
              <a:rPr lang="ko-KR" altLang="en-US" sz="1400" dirty="0" err="1"/>
              <a:t>아니한다”고</a:t>
            </a:r>
            <a:r>
              <a:rPr lang="ko-KR" altLang="en-US" sz="1400" dirty="0"/>
              <a:t> 하면서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호에 “전용실시권의 </a:t>
            </a:r>
            <a:r>
              <a:rPr lang="ko-KR" altLang="en-US" sz="1400" dirty="0" err="1"/>
              <a:t>설정･이전</a:t>
            </a:r>
            <a:r>
              <a:rPr lang="en-US" altLang="ko-KR" sz="1400" dirty="0"/>
              <a:t>(</a:t>
            </a:r>
            <a:r>
              <a:rPr lang="ko-KR" altLang="en-US" sz="1400" dirty="0"/>
              <a:t>상속 기타 일반승계에 의한 경우를 제외한다</a:t>
            </a:r>
            <a:r>
              <a:rPr lang="en-US" altLang="ko-KR" sz="1400" dirty="0"/>
              <a:t>)</a:t>
            </a:r>
            <a:r>
              <a:rPr lang="ko-KR" altLang="en-US" sz="1400" dirty="0"/>
              <a:t>･</a:t>
            </a:r>
            <a:r>
              <a:rPr lang="ko-KR" altLang="en-US" sz="1400" dirty="0" err="1"/>
              <a:t>변경･소멸</a:t>
            </a:r>
            <a:r>
              <a:rPr lang="en-US" altLang="ko-KR" sz="1400" dirty="0"/>
              <a:t>(</a:t>
            </a:r>
            <a:r>
              <a:rPr lang="ko-KR" altLang="en-US" sz="1400" dirty="0"/>
              <a:t>혼동에 의한 경우를 제외한다</a:t>
            </a:r>
            <a:r>
              <a:rPr lang="en-US" altLang="ko-KR" sz="1400" dirty="0"/>
              <a:t>) </a:t>
            </a:r>
            <a:r>
              <a:rPr lang="ko-KR" altLang="en-US" sz="1400" dirty="0"/>
              <a:t>또는 처분의 </a:t>
            </a:r>
            <a:r>
              <a:rPr lang="ko-KR" altLang="en-US" sz="1400" dirty="0" err="1"/>
              <a:t>제한”을</a:t>
            </a:r>
            <a:r>
              <a:rPr lang="ko-KR" altLang="en-US" sz="1400" dirty="0"/>
              <a:t> 규정하고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</a:t>
            </a:r>
            <a:r>
              <a:rPr lang="ko-KR" altLang="en-US" sz="1400" dirty="0">
                <a:highlight>
                  <a:srgbClr val="FFFF00"/>
                </a:highlight>
              </a:rPr>
              <a:t>설정계약으로 전용실시권의 범위에 관하여 특별한 제한을 두고도 이를 등록하지 않으면 그 효력이 발생하지 않는 것이므로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전용실시권자가</a:t>
            </a:r>
            <a:r>
              <a:rPr lang="ko-KR" altLang="en-US" sz="1400" dirty="0"/>
              <a:t> 등록되어 있지 않은 제한을 넘어 특허발명을 실시하더라도</a:t>
            </a:r>
            <a:r>
              <a:rPr lang="en-US" altLang="ko-KR" sz="1400" dirty="0"/>
              <a:t>,</a:t>
            </a:r>
            <a:r>
              <a:rPr lang="en-US" altLang="ko-KR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특허권자에 대하여 채무불이행 책임을 지게 됨은 별론으로 하고 특허권 침해가 성립하는 것은 아니다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B7D8B57-08E9-4752-8D90-0D1D0602B6B2}"/>
              </a:ext>
            </a:extLst>
          </p:cNvPr>
          <p:cNvCxnSpPr/>
          <p:nvPr/>
        </p:nvCxnSpPr>
        <p:spPr>
          <a:xfrm>
            <a:off x="0" y="2314900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2903784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704164" y="3159959"/>
            <a:ext cx="1871436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甲과 乙의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전용실시권 계약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1562512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1639881" y="29711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06C7183-3A8A-4CA0-89EE-E9F87C3CAAC7}"/>
              </a:ext>
            </a:extLst>
          </p:cNvPr>
          <p:cNvSpPr txBox="1"/>
          <p:nvPr/>
        </p:nvSpPr>
        <p:spPr>
          <a:xfrm>
            <a:off x="566709" y="3838963"/>
            <a:ext cx="2146346" cy="26776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상기 본인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2007. 10. 8.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귀하 명의 공기정화제 특허를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설정하였는바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이에 관련하여 설정기간에 타인으로부터 특허 침해가 되지 않도록 관리의무를 철저히 할 것이며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또한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귀하의 승낙 없이 특허를 임의대로 사용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하지 않을 것입니다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그리고 언제든지 귀하로부터 본인의 채권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현재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억 원 및 추가 채권이 있는 경우 포함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을 변제하고 설정 해지 요구가 있을 경우 즉시 해지해 드릴 것을 약속하며 이에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서명날인합니다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D16809-C4A7-44CE-9A18-97BA633F6083}"/>
              </a:ext>
            </a:extLst>
          </p:cNvPr>
          <p:cNvSpPr txBox="1"/>
          <p:nvPr/>
        </p:nvSpPr>
        <p:spPr>
          <a:xfrm>
            <a:off x="5041478" y="3159960"/>
            <a:ext cx="1947970" cy="7738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乙이 공기정화제 사용한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침대용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카트리지를 생산하여 거래처 납품 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E7E84DE-983F-469F-B385-5DD99D3002FB}"/>
              </a:ext>
            </a:extLst>
          </p:cNvPr>
          <p:cNvSpPr/>
          <p:nvPr/>
        </p:nvSpPr>
        <p:spPr>
          <a:xfrm>
            <a:off x="5938090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E261082-147B-40B2-927C-0F24B41D5FCE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6015459" y="2971188"/>
            <a:ext cx="4" cy="188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6DCC2D84-C776-4113-8BB2-E7990440EE5E}"/>
              </a:ext>
            </a:extLst>
          </p:cNvPr>
          <p:cNvSpPr/>
          <p:nvPr/>
        </p:nvSpPr>
        <p:spPr>
          <a:xfrm>
            <a:off x="11025594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DE85959-105F-4189-96D0-83C390BEC4F9}"/>
              </a:ext>
            </a:extLst>
          </p:cNvPr>
          <p:cNvCxnSpPr>
            <a:stCxn id="65" idx="0"/>
            <a:endCxn id="66" idx="4"/>
          </p:cNvCxnSpPr>
          <p:nvPr/>
        </p:nvCxnSpPr>
        <p:spPr>
          <a:xfrm flipH="1" flipV="1">
            <a:off x="11102963" y="29711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D153D81-5D9C-4AFA-8718-9C080C141B39}"/>
              </a:ext>
            </a:extLst>
          </p:cNvPr>
          <p:cNvCxnSpPr>
            <a:stCxn id="44" idx="2"/>
            <a:endCxn id="50" idx="0"/>
          </p:cNvCxnSpPr>
          <p:nvPr/>
        </p:nvCxnSpPr>
        <p:spPr>
          <a:xfrm>
            <a:off x="1639882" y="3683179"/>
            <a:ext cx="0" cy="1557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1C02078-6C4F-4F1C-8610-22DCE684B2F3}"/>
              </a:ext>
            </a:extLst>
          </p:cNvPr>
          <p:cNvSpPr txBox="1"/>
          <p:nvPr/>
        </p:nvSpPr>
        <p:spPr>
          <a:xfrm>
            <a:off x="5162515" y="4388073"/>
            <a:ext cx="6524660" cy="16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乙이 비록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2009. 3. 27.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丙에게 전용실시권 전부를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이전등록하였다고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하더라도 甲의 동의를 받지 아니한 이상 위 이전은 무효이므로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乙은 여전히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전용실시권자라고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할 것이다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그런데 乙의 이 사건 공소사실의 행위는 등록된 위 전용실시권의 범위 내에서 행해진 특허발명 실시행위에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해당하는바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비록 乙이 甲로부터 위 전용실시권을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설정받으면서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이를 사용하지 않겠다고 약정하였다고 하더라도 이와 같은 제한을 등록하지 아니한 이상 특허법상의 효력은 발생하지 아니하므로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乙이 민사상 채무불이행책임을 부담함은 별론으로 하고 甲의 특허권을 침해하였다고는 볼 수 없다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2959037" y="3159959"/>
            <a:ext cx="1871436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甲과 乙의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전용실시권 설정등록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3817385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3894754" y="29711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CB4771D-BF3B-492C-95F9-DCB37C299291}"/>
              </a:ext>
            </a:extLst>
          </p:cNvPr>
          <p:cNvSpPr txBox="1"/>
          <p:nvPr/>
        </p:nvSpPr>
        <p:spPr>
          <a:xfrm>
            <a:off x="2821582" y="3838963"/>
            <a:ext cx="2146346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전용실시권자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2007. 10. 8.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부터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2018. 5. 26.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까지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지역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대한민국 전역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실시내용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생산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사용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양도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수입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양도의 청약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양도를 위한 전시를 포함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대여의 청약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대여를 위한 전시를 포함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), 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27181A7-F4D3-4C31-BA4C-4E3C8CB77898}"/>
              </a:ext>
            </a:extLst>
          </p:cNvPr>
          <p:cNvCxnSpPr>
            <a:stCxn id="28" idx="2"/>
            <a:endCxn id="34" idx="0"/>
          </p:cNvCxnSpPr>
          <p:nvPr/>
        </p:nvCxnSpPr>
        <p:spPr>
          <a:xfrm>
            <a:off x="3894755" y="3683179"/>
            <a:ext cx="0" cy="1557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A622D5C-DE1E-4FB9-97F5-2CF4E797AE62}"/>
              </a:ext>
            </a:extLst>
          </p:cNvPr>
          <p:cNvSpPr txBox="1"/>
          <p:nvPr/>
        </p:nvSpPr>
        <p:spPr>
          <a:xfrm>
            <a:off x="7047567" y="3159960"/>
            <a:ext cx="1341604" cy="7738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乙이 丙에게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전용실시권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이전 등록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90433F7-878C-46A9-853D-367C91F30463}"/>
              </a:ext>
            </a:extLst>
          </p:cNvPr>
          <p:cNvSpPr/>
          <p:nvPr/>
        </p:nvSpPr>
        <p:spPr>
          <a:xfrm>
            <a:off x="7640996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6EE59D0-619E-4B91-93B0-2B5828ADB0DA}"/>
              </a:ext>
            </a:extLst>
          </p:cNvPr>
          <p:cNvCxnSpPr>
            <a:cxnSpLocks/>
            <a:stCxn id="36" idx="0"/>
            <a:endCxn id="37" idx="4"/>
          </p:cNvCxnSpPr>
          <p:nvPr/>
        </p:nvCxnSpPr>
        <p:spPr>
          <a:xfrm flipH="1" flipV="1">
            <a:off x="7718365" y="2971188"/>
            <a:ext cx="4" cy="188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B6ABFDA-A16E-405E-AC7F-FA0C1C598A71}"/>
              </a:ext>
            </a:extLst>
          </p:cNvPr>
          <p:cNvSpPr txBox="1"/>
          <p:nvPr/>
        </p:nvSpPr>
        <p:spPr>
          <a:xfrm>
            <a:off x="8472466" y="3159959"/>
            <a:ext cx="1871436" cy="52322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甲 특허권 침해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형사고소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1D86C29C-6710-463A-A12E-EE485DFFC247}"/>
              </a:ext>
            </a:extLst>
          </p:cNvPr>
          <p:cNvSpPr/>
          <p:nvPr/>
        </p:nvSpPr>
        <p:spPr>
          <a:xfrm>
            <a:off x="9330814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13C43141-704A-45BC-9A89-4A001717BFBC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9408183" y="29711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24CB9F9B-D0EF-4BFE-97B2-709E2F6123F5}"/>
              </a:ext>
            </a:extLst>
          </p:cNvPr>
          <p:cNvCxnSpPr>
            <a:stCxn id="72" idx="0"/>
            <a:endCxn id="65" idx="2"/>
          </p:cNvCxnSpPr>
          <p:nvPr/>
        </p:nvCxnSpPr>
        <p:spPr>
          <a:xfrm rot="5400000" flipH="1" flipV="1">
            <a:off x="9303736" y="2588846"/>
            <a:ext cx="920337" cy="2678119"/>
          </a:xfrm>
          <a:prstGeom prst="bentConnector3">
            <a:avLst>
              <a:gd name="adj1" fmla="val 30336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D119CC-A4C0-B72A-4ECD-F615FA91DF56}"/>
              </a:ext>
            </a:extLst>
          </p:cNvPr>
          <p:cNvSpPr/>
          <p:nvPr/>
        </p:nvSpPr>
        <p:spPr>
          <a:xfrm>
            <a:off x="504825" y="4789714"/>
            <a:ext cx="2243204" cy="5573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곱하기 기호 5">
            <a:extLst>
              <a:ext uri="{FF2B5EF4-FFF2-40B4-BE49-F238E27FC236}">
                <a16:creationId xmlns:a16="http://schemas.microsoft.com/office/drawing/2014/main" id="{3D9F19BF-8E78-8E83-F762-1DA12F94FAF3}"/>
              </a:ext>
            </a:extLst>
          </p:cNvPr>
          <p:cNvSpPr/>
          <p:nvPr/>
        </p:nvSpPr>
        <p:spPr>
          <a:xfrm>
            <a:off x="3328458" y="5389637"/>
            <a:ext cx="842682" cy="932329"/>
          </a:xfrm>
          <a:prstGeom prst="mathMultiply">
            <a:avLst>
              <a:gd name="adj1" fmla="val 649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70923-861C-2D21-68B3-7A9E36B5A005}"/>
              </a:ext>
            </a:extLst>
          </p:cNvPr>
          <p:cNvSpPr txBox="1"/>
          <p:nvPr/>
        </p:nvSpPr>
        <p:spPr>
          <a:xfrm>
            <a:off x="3200978" y="6208842"/>
            <a:ext cx="3533900" cy="307777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chemeClr val="accent4">
                    <a:lumMod val="50000"/>
                  </a:schemeClr>
                </a:solidFill>
              </a:rPr>
              <a:t>계약서의 제한이 등록원부에 기재되지 않음</a:t>
            </a:r>
            <a:endParaRPr lang="ko-KR" alt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3AD5C7C-54DB-D2FB-5172-0CC0730E7F56}"/>
              </a:ext>
            </a:extLst>
          </p:cNvPr>
          <p:cNvCxnSpPr>
            <a:stCxn id="5" idx="3"/>
          </p:cNvCxnSpPr>
          <p:nvPr/>
        </p:nvCxnSpPr>
        <p:spPr>
          <a:xfrm>
            <a:off x="2748029" y="5068389"/>
            <a:ext cx="761525" cy="787412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78374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119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120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동의권에 대한 계층도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-36242" y="302032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86046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119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 등의 포기의 제한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b="1" dirty="0">
                <a:solidFill>
                  <a:schemeClr val="tx2"/>
                </a:solidFill>
              </a:rPr>
              <a:t> 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특허권자는</a:t>
            </a:r>
            <a:r>
              <a:rPr lang="ko-KR" altLang="en-US" sz="1400" dirty="0">
                <a:solidFill>
                  <a:schemeClr val="tx2"/>
                </a:solidFill>
              </a:rPr>
              <a:t> 다음 각 호의 모두의 동의를 받아야만 특허권을 포기할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 err="1">
                <a:solidFill>
                  <a:schemeClr val="tx2"/>
                </a:solidFill>
              </a:rPr>
              <a:t>질권자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102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5. </a:t>
            </a:r>
            <a:r>
              <a:rPr lang="ko-KR" altLang="en-US" sz="1400" dirty="0">
                <a:solidFill>
                  <a:schemeClr val="tx2"/>
                </a:solidFill>
              </a:rPr>
              <a:t>「발명진흥법」 제</a:t>
            </a:r>
            <a:r>
              <a:rPr lang="en-US" altLang="ko-KR" sz="1400" dirty="0">
                <a:solidFill>
                  <a:schemeClr val="tx2"/>
                </a:solidFill>
              </a:rPr>
              <a:t>10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전용실시권자는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질권자</a:t>
            </a:r>
            <a:r>
              <a:rPr lang="ko-KR" altLang="en-US" sz="1400" dirty="0">
                <a:solidFill>
                  <a:schemeClr val="tx2"/>
                </a:solidFill>
              </a:rPr>
              <a:t> 또는 제</a:t>
            </a:r>
            <a:r>
              <a:rPr lang="en-US" altLang="ko-KR" sz="1400" dirty="0">
                <a:solidFill>
                  <a:schemeClr val="tx2"/>
                </a:solidFill>
              </a:rPr>
              <a:t>100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통상실시권자의</a:t>
            </a:r>
            <a:r>
              <a:rPr lang="ko-KR" altLang="en-US" sz="1400" dirty="0">
                <a:solidFill>
                  <a:schemeClr val="tx2"/>
                </a:solidFill>
              </a:rPr>
              <a:t> 동의를 받아야만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400" dirty="0">
                <a:solidFill>
                  <a:schemeClr val="tx2"/>
                </a:solidFill>
              </a:rPr>
              <a:t> 포기할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통상실시권자는</a:t>
            </a:r>
            <a:r>
              <a:rPr lang="ko-KR" altLang="en-US" sz="1400" dirty="0">
                <a:solidFill>
                  <a:schemeClr val="tx2"/>
                </a:solidFill>
              </a:rPr>
              <a:t> 질권자의 동의를 받아야만 통상실시권을 포기할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120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포기의 효과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특허권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전용실시권 또는 통상실시권을 포기한 때에는 특허권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전용실시권 또는 통상실시권은 그때부터 소멸된다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E81F8C-5F47-4424-9181-C3775C84254A}"/>
              </a:ext>
            </a:extLst>
          </p:cNvPr>
          <p:cNvGrpSpPr/>
          <p:nvPr/>
        </p:nvGrpSpPr>
        <p:grpSpPr>
          <a:xfrm>
            <a:off x="247650" y="3115128"/>
            <a:ext cx="11766548" cy="3609522"/>
            <a:chOff x="247650" y="2913876"/>
            <a:chExt cx="11766548" cy="3810774"/>
          </a:xfrm>
        </p:grpSpPr>
        <p:sp>
          <p:nvSpPr>
            <p:cNvPr id="89" name="직사각형 88"/>
            <p:cNvSpPr/>
            <p:nvPr/>
          </p:nvSpPr>
          <p:spPr>
            <a:xfrm>
              <a:off x="10518773" y="2916229"/>
              <a:ext cx="1495425" cy="38084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1" name="직선 연결선 90"/>
            <p:cNvCxnSpPr/>
            <p:nvPr/>
          </p:nvCxnSpPr>
          <p:spPr>
            <a:xfrm flipH="1">
              <a:off x="10144125" y="3740945"/>
              <a:ext cx="187007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10144125" y="5479634"/>
              <a:ext cx="187007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flipH="1">
              <a:off x="10144125" y="4626770"/>
              <a:ext cx="187007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직사각형 83"/>
            <p:cNvSpPr/>
            <p:nvPr/>
          </p:nvSpPr>
          <p:spPr>
            <a:xfrm>
              <a:off x="2500835" y="2916229"/>
              <a:ext cx="7335583" cy="4908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247650" y="2916229"/>
              <a:ext cx="1707478" cy="38084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939916" y="3498058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특허권자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(A)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186916" y="438388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전용실시권자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(B)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5192516" y="438388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허락통상실시권자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(C)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6853642" y="438388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직무발명에 대한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통상실시권자</a:t>
              </a:r>
              <a:r>
                <a:rPr lang="en-US" altLang="ko-KR" sz="1200" dirty="0">
                  <a:solidFill>
                    <a:schemeClr val="tx1"/>
                  </a:solidFill>
                </a:rPr>
                <a:t>(D)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516342" y="438388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(E)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095499" y="522445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허락통상실시권자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(F)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693044" y="522445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(G)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2095499" y="607933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(J)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196720" y="5224465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(H)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853641" y="5224465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(I)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꺾인 연결선 26"/>
            <p:cNvCxnSpPr>
              <a:stCxn id="13" idx="2"/>
              <a:endCxn id="14" idx="0"/>
            </p:cNvCxnSpPr>
            <p:nvPr/>
          </p:nvCxnSpPr>
          <p:spPr>
            <a:xfrm rot="5400000">
              <a:off x="5023430" y="2807357"/>
              <a:ext cx="400051" cy="2753000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꺾인 연결선 28"/>
            <p:cNvCxnSpPr>
              <a:stCxn id="13" idx="2"/>
              <a:endCxn id="17" idx="0"/>
            </p:cNvCxnSpPr>
            <p:nvPr/>
          </p:nvCxnSpPr>
          <p:spPr>
            <a:xfrm rot="16200000" flipH="1">
              <a:off x="7688143" y="2895644"/>
              <a:ext cx="400051" cy="2576426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꺾인 연결선 30"/>
            <p:cNvCxnSpPr>
              <a:stCxn id="13" idx="2"/>
              <a:endCxn id="16" idx="0"/>
            </p:cNvCxnSpPr>
            <p:nvPr/>
          </p:nvCxnSpPr>
          <p:spPr>
            <a:xfrm rot="16200000" flipH="1">
              <a:off x="6856793" y="3726994"/>
              <a:ext cx="400051" cy="913726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꺾인 연결선 32"/>
            <p:cNvCxnSpPr>
              <a:stCxn id="13" idx="2"/>
              <a:endCxn id="15" idx="0"/>
            </p:cNvCxnSpPr>
            <p:nvPr/>
          </p:nvCxnSpPr>
          <p:spPr>
            <a:xfrm rot="5400000">
              <a:off x="6026230" y="3810157"/>
              <a:ext cx="400051" cy="747400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꺾인 연결선 34"/>
            <p:cNvCxnSpPr>
              <a:stCxn id="14" idx="2"/>
              <a:endCxn id="19" idx="0"/>
            </p:cNvCxnSpPr>
            <p:nvPr/>
          </p:nvCxnSpPr>
          <p:spPr>
            <a:xfrm rot="5400000">
              <a:off x="3123849" y="4501346"/>
              <a:ext cx="354796" cy="1091417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14" idx="2"/>
              <a:endCxn id="20" idx="0"/>
            </p:cNvCxnSpPr>
            <p:nvPr/>
          </p:nvCxnSpPr>
          <p:spPr>
            <a:xfrm rot="16200000" flipH="1">
              <a:off x="3922621" y="4793991"/>
              <a:ext cx="354796" cy="5061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>
              <a:stCxn id="19" idx="2"/>
              <a:endCxn id="21" idx="0"/>
            </p:cNvCxnSpPr>
            <p:nvPr/>
          </p:nvCxnSpPr>
          <p:spPr>
            <a:xfrm>
              <a:off x="2755538" y="5710227"/>
              <a:ext cx="0" cy="3691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>
              <a:stCxn id="15" idx="2"/>
              <a:endCxn id="22" idx="0"/>
            </p:cNvCxnSpPr>
            <p:nvPr/>
          </p:nvCxnSpPr>
          <p:spPr>
            <a:xfrm>
              <a:off x="5852555" y="4869657"/>
              <a:ext cx="4204" cy="35480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>
              <a:stCxn id="16" idx="2"/>
              <a:endCxn id="23" idx="0"/>
            </p:cNvCxnSpPr>
            <p:nvPr/>
          </p:nvCxnSpPr>
          <p:spPr>
            <a:xfrm flipH="1">
              <a:off x="7513680" y="4869657"/>
              <a:ext cx="1" cy="35480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2679864" y="4826395"/>
              <a:ext cx="542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A </a:t>
              </a:r>
              <a:r>
                <a:rPr lang="ko-KR" altLang="en-US" sz="1200" dirty="0">
                  <a:solidFill>
                    <a:srgbClr val="FF0000"/>
                  </a:solidFill>
                </a:rPr>
                <a:t>동의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47431" y="4826395"/>
              <a:ext cx="542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A </a:t>
              </a:r>
              <a:r>
                <a:rPr lang="ko-KR" altLang="en-US" sz="1200" dirty="0">
                  <a:solidFill>
                    <a:srgbClr val="FF0000"/>
                  </a:solidFill>
                </a:rPr>
                <a:t>동의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299561" y="4921645"/>
              <a:ext cx="542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A </a:t>
              </a:r>
              <a:r>
                <a:rPr lang="ko-KR" altLang="en-US" sz="1200" dirty="0">
                  <a:solidFill>
                    <a:srgbClr val="FF0000"/>
                  </a:solidFill>
                </a:rPr>
                <a:t>동의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971093" y="4912120"/>
              <a:ext cx="542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A </a:t>
              </a:r>
              <a:r>
                <a:rPr lang="ko-KR" altLang="en-US" sz="1200" dirty="0">
                  <a:solidFill>
                    <a:srgbClr val="FF0000"/>
                  </a:solidFill>
                </a:rPr>
                <a:t>동의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756064" y="5756280"/>
              <a:ext cx="7021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A, B </a:t>
              </a:r>
              <a:r>
                <a:rPr lang="ko-KR" altLang="en-US" sz="1200" dirty="0">
                  <a:solidFill>
                    <a:srgbClr val="FF0000"/>
                  </a:solidFill>
                </a:rPr>
                <a:t>동의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693516" y="3028175"/>
              <a:ext cx="1112805" cy="27699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포기</a:t>
              </a:r>
              <a:r>
                <a:rPr lang="en-US" altLang="ko-KR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: B~J </a:t>
              </a:r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동의</a:t>
              </a:r>
            </a:p>
          </p:txBody>
        </p:sp>
        <p:cxnSp>
          <p:nvCxnSpPr>
            <p:cNvPr id="53" name="직선 연결선 52"/>
            <p:cNvCxnSpPr>
              <a:stCxn id="13" idx="3"/>
              <a:endCxn id="51" idx="1"/>
            </p:cNvCxnSpPr>
            <p:nvPr/>
          </p:nvCxnSpPr>
          <p:spPr>
            <a:xfrm flipV="1">
              <a:off x="7259993" y="3166675"/>
              <a:ext cx="433523" cy="57427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/>
            <p:cNvCxnSpPr>
              <a:stCxn id="14" idx="0"/>
              <a:endCxn id="58" idx="2"/>
            </p:cNvCxnSpPr>
            <p:nvPr/>
          </p:nvCxnSpPr>
          <p:spPr>
            <a:xfrm flipH="1" flipV="1">
              <a:off x="3534831" y="3305175"/>
              <a:ext cx="312124" cy="1078708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2901805" y="3028176"/>
              <a:ext cx="1266052" cy="27699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포기</a:t>
              </a:r>
              <a:r>
                <a:rPr lang="en-US" altLang="ko-KR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: F, G, J </a:t>
              </a:r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동의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704883" y="3037701"/>
              <a:ext cx="976549" cy="27699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포기</a:t>
              </a:r>
              <a:r>
                <a:rPr lang="en-US" altLang="ko-KR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: H </a:t>
              </a:r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동의</a:t>
              </a:r>
            </a:p>
          </p:txBody>
        </p:sp>
        <p:cxnSp>
          <p:nvCxnSpPr>
            <p:cNvPr id="60" name="직선 연결선 59"/>
            <p:cNvCxnSpPr>
              <a:stCxn id="15" idx="0"/>
              <a:endCxn id="59" idx="2"/>
            </p:cNvCxnSpPr>
            <p:nvPr/>
          </p:nvCxnSpPr>
          <p:spPr>
            <a:xfrm flipH="1" flipV="1">
              <a:off x="5193158" y="3314700"/>
              <a:ext cx="659397" cy="106918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330055" y="4303604"/>
              <a:ext cx="1511952" cy="646331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2"/>
                  </a:solidFill>
                </a:rPr>
                <a:t>이전</a:t>
              </a:r>
              <a:r>
                <a:rPr lang="en-US" altLang="ko-KR" sz="1200" dirty="0">
                  <a:solidFill>
                    <a:schemeClr val="tx2"/>
                  </a:solidFill>
                </a:rPr>
                <a:t>: A </a:t>
              </a:r>
              <a:r>
                <a:rPr lang="ko-KR" altLang="en-US" sz="1200" dirty="0">
                  <a:solidFill>
                    <a:schemeClr val="tx2"/>
                  </a:solidFill>
                </a:rPr>
                <a:t>동의</a:t>
              </a:r>
              <a:endParaRPr lang="en-US" altLang="ko-KR" sz="1200" dirty="0">
                <a:solidFill>
                  <a:schemeClr val="tx2"/>
                </a:solidFill>
              </a:endParaRPr>
            </a:p>
            <a:p>
              <a:r>
                <a:rPr lang="en-US" altLang="ko-KR" sz="1200" dirty="0">
                  <a:solidFill>
                    <a:schemeClr val="tx2"/>
                  </a:solidFill>
                </a:rPr>
                <a:t>(</a:t>
              </a:r>
              <a:r>
                <a:rPr lang="ko-KR" altLang="en-US" sz="1200" dirty="0">
                  <a:solidFill>
                    <a:schemeClr val="tx2"/>
                  </a:solidFill>
                </a:rPr>
                <a:t>단 실시사업과 함께</a:t>
              </a:r>
              <a:r>
                <a:rPr lang="en-US" altLang="ko-KR" sz="1200" dirty="0">
                  <a:solidFill>
                    <a:schemeClr val="tx2"/>
                  </a:solidFill>
                </a:rPr>
                <a:t>/</a:t>
              </a:r>
            </a:p>
            <a:p>
              <a:r>
                <a:rPr lang="ko-KR" altLang="en-US" sz="1200" dirty="0">
                  <a:solidFill>
                    <a:schemeClr val="tx2"/>
                  </a:solidFill>
                </a:rPr>
                <a:t>상속은 제외</a:t>
              </a:r>
              <a:r>
                <a:rPr lang="en-US" altLang="ko-KR" sz="1200" dirty="0">
                  <a:solidFill>
                    <a:schemeClr val="tx2"/>
                  </a:solidFill>
                </a:rPr>
                <a:t>)</a:t>
              </a:r>
              <a:endParaRPr lang="ko-KR" altLang="en-US" sz="1200" dirty="0">
                <a:solidFill>
                  <a:schemeClr val="tx2"/>
                </a:solidFill>
              </a:endParaRPr>
            </a:p>
          </p:txBody>
        </p:sp>
        <p:cxnSp>
          <p:nvCxnSpPr>
            <p:cNvPr id="69" name="직선 연결선 68"/>
            <p:cNvCxnSpPr>
              <a:stCxn id="19" idx="1"/>
              <a:endCxn id="74" idx="3"/>
            </p:cNvCxnSpPr>
            <p:nvPr/>
          </p:nvCxnSpPr>
          <p:spPr>
            <a:xfrm flipH="1">
              <a:off x="1814757" y="5467340"/>
              <a:ext cx="280742" cy="5149"/>
            </a:xfrm>
            <a:prstGeom prst="line">
              <a:avLst/>
            </a:prstGeom>
            <a:ln w="3810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330055" y="5149323"/>
              <a:ext cx="1484702" cy="646331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2"/>
                  </a:solidFill>
                </a:rPr>
                <a:t>이전</a:t>
              </a:r>
              <a:r>
                <a:rPr lang="en-US" altLang="ko-KR" sz="1200" dirty="0">
                  <a:solidFill>
                    <a:schemeClr val="tx2"/>
                  </a:solidFill>
                </a:rPr>
                <a:t>: A, B </a:t>
              </a:r>
              <a:r>
                <a:rPr lang="ko-KR" altLang="en-US" sz="1200" dirty="0">
                  <a:solidFill>
                    <a:schemeClr val="tx2"/>
                  </a:solidFill>
                </a:rPr>
                <a:t>동의</a:t>
              </a:r>
              <a:endParaRPr lang="en-US" altLang="ko-KR" sz="1200" dirty="0">
                <a:solidFill>
                  <a:schemeClr val="tx2"/>
                </a:solidFill>
              </a:endParaRPr>
            </a:p>
            <a:p>
              <a:r>
                <a:rPr lang="en-US" altLang="ko-KR" sz="1200" dirty="0">
                  <a:solidFill>
                    <a:schemeClr val="tx2"/>
                  </a:solidFill>
                </a:rPr>
                <a:t>(</a:t>
              </a:r>
              <a:r>
                <a:rPr lang="ko-KR" altLang="en-US" sz="1200" dirty="0">
                  <a:solidFill>
                    <a:schemeClr val="tx2"/>
                  </a:solidFill>
                </a:rPr>
                <a:t>단 실시사업과 함께</a:t>
              </a:r>
              <a:r>
                <a:rPr lang="en-US" altLang="ko-KR" sz="1200" dirty="0">
                  <a:solidFill>
                    <a:schemeClr val="tx2"/>
                  </a:solidFill>
                </a:rPr>
                <a:t>/</a:t>
              </a:r>
            </a:p>
            <a:p>
              <a:r>
                <a:rPr lang="ko-KR" altLang="en-US" sz="1200" dirty="0">
                  <a:solidFill>
                    <a:schemeClr val="tx2"/>
                  </a:solidFill>
                </a:rPr>
                <a:t>상속은 제외</a:t>
              </a:r>
              <a:r>
                <a:rPr lang="en-US" altLang="ko-KR" sz="1200" dirty="0">
                  <a:solidFill>
                    <a:schemeClr val="tx2"/>
                  </a:solidFill>
                </a:rPr>
                <a:t>)</a:t>
              </a:r>
              <a:endParaRPr lang="ko-KR" altLang="en-US" sz="1200" dirty="0">
                <a:solidFill>
                  <a:schemeClr val="tx2"/>
                </a:solidFill>
              </a:endParaRPr>
            </a:p>
          </p:txBody>
        </p:sp>
        <p:cxnSp>
          <p:nvCxnSpPr>
            <p:cNvPr id="77" name="직선 연결선 76"/>
            <p:cNvCxnSpPr>
              <a:stCxn id="14" idx="1"/>
              <a:endCxn id="68" idx="3"/>
            </p:cNvCxnSpPr>
            <p:nvPr/>
          </p:nvCxnSpPr>
          <p:spPr>
            <a:xfrm flipH="1">
              <a:off x="1842007" y="4626770"/>
              <a:ext cx="1344909" cy="0"/>
            </a:xfrm>
            <a:prstGeom prst="line">
              <a:avLst/>
            </a:prstGeom>
            <a:ln w="3810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247650" y="2932926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이전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233530" y="2924859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포기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0518773" y="2913876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소멸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0633459" y="3602445"/>
              <a:ext cx="1192955" cy="27699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4"/>
                  </a:solidFill>
                </a:rPr>
                <a:t>소멸원인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0633459" y="4488270"/>
              <a:ext cx="1192955" cy="27699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4"/>
                  </a:solidFill>
                </a:rPr>
                <a:t>자체의 소멸원인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633459" y="5328840"/>
              <a:ext cx="1192955" cy="27699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4"/>
                  </a:solidFill>
                </a:rPr>
                <a:t>자체의 소멸원인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0633459" y="4026605"/>
              <a:ext cx="1192955" cy="27699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4"/>
                  </a:solidFill>
                </a:rPr>
                <a:t>특허권의 수용</a:t>
              </a: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413</a:t>
            </a:fld>
            <a:endParaRPr lang="ko-KR" altLang="en-US"/>
          </a:p>
        </p:txBody>
      </p:sp>
      <p:sp>
        <p:nvSpPr>
          <p:cNvPr id="55" name="모서리가 둥근 사각형 설명선 5">
            <a:extLst>
              <a:ext uri="{FF2B5EF4-FFF2-40B4-BE49-F238E27FC236}">
                <a16:creationId xmlns:a16="http://schemas.microsoft.com/office/drawing/2014/main" id="{C1C728B5-E129-4924-99FE-16CC434F6746}"/>
              </a:ext>
            </a:extLst>
          </p:cNvPr>
          <p:cNvSpPr/>
          <p:nvPr/>
        </p:nvSpPr>
        <p:spPr>
          <a:xfrm>
            <a:off x="7513337" y="1371280"/>
            <a:ext cx="4500861" cy="528009"/>
          </a:xfrm>
          <a:prstGeom prst="wedgeRoundRectCallout">
            <a:avLst>
              <a:gd name="adj1" fmla="val 40708"/>
              <a:gd name="adj2" fmla="val 367499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 err="1">
                <a:solidFill>
                  <a:schemeClr val="tx1"/>
                </a:solidFill>
              </a:rPr>
              <a:t>장래효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특허료 불납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존속기간 만료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특허권의 포기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상속인 </a:t>
            </a:r>
            <a:r>
              <a:rPr lang="ko-KR" altLang="en-US" sz="1200" dirty="0" err="1">
                <a:solidFill>
                  <a:schemeClr val="tx1"/>
                </a:solidFill>
              </a:rPr>
              <a:t>부존재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소급효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취소결정확정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무효심결확정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단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후발적 사유는 제외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E4AFB539-482D-4BC2-8CEB-6B8DC785CFA5}"/>
              </a:ext>
            </a:extLst>
          </p:cNvPr>
          <p:cNvSpPr/>
          <p:nvPr/>
        </p:nvSpPr>
        <p:spPr>
          <a:xfrm>
            <a:off x="8739534" y="911379"/>
            <a:ext cx="1339648" cy="306702"/>
          </a:xfrm>
          <a:prstGeom prst="wedgeRoundRectCallout">
            <a:avLst>
              <a:gd name="adj1" fmla="val -72543"/>
              <a:gd name="adj2" fmla="val 17328"/>
              <a:gd name="adj3" fmla="val 16667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136</a:t>
            </a:r>
            <a:r>
              <a:rPr lang="ko-KR" altLang="en-US" sz="1400" dirty="0"/>
              <a:t>조제</a:t>
            </a:r>
            <a:r>
              <a:rPr lang="en-US" altLang="ko-KR" sz="1400" dirty="0"/>
              <a:t>8</a:t>
            </a:r>
            <a:r>
              <a:rPr lang="ko-KR" altLang="en-US" sz="1400" dirty="0"/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339347979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통상실시권의</a:t>
            </a:r>
            <a:r>
              <a:rPr lang="ko-KR" altLang="en-US" dirty="0"/>
              <a:t> 성질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3660696" y="1681028"/>
            <a:ext cx="0" cy="49911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ine 5"/>
          <p:cNvSpPr>
            <a:spLocks noChangeShapeType="1"/>
          </p:cNvSpPr>
          <p:nvPr/>
        </p:nvSpPr>
        <p:spPr bwMode="auto">
          <a:xfrm>
            <a:off x="4105276" y="3013063"/>
            <a:ext cx="76104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-36242" y="15092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통상실시권은</a:t>
            </a:r>
            <a:r>
              <a:rPr lang="ko-KR" altLang="en-US" sz="1400" dirty="0">
                <a:solidFill>
                  <a:schemeClr val="tx2"/>
                </a:solidFill>
              </a:rPr>
              <a:t> 특허권에 부수적인 권리이며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특허발명을 </a:t>
            </a:r>
            <a:r>
              <a:rPr lang="ko-KR" altLang="en-US" sz="1400" dirty="0" err="1">
                <a:solidFill>
                  <a:schemeClr val="tx2"/>
                </a:solidFill>
              </a:rPr>
              <a:t>독점ㆍ배타적으로</a:t>
            </a:r>
            <a:r>
              <a:rPr lang="ko-KR" altLang="en-US" sz="1400" dirty="0">
                <a:solidFill>
                  <a:schemeClr val="tx2"/>
                </a:solidFill>
              </a:rPr>
              <a:t> 실시할 수 없는 채권적 권리이다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허락한 후에도 중복되는 범위에서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특허권자가 스스로 실시할 수 있고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같은 내용의 복수의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통상실시권이</a:t>
            </a:r>
            <a:r>
              <a:rPr lang="ko-KR" altLang="en-US" sz="1400" dirty="0">
                <a:solidFill>
                  <a:schemeClr val="tx2"/>
                </a:solidFill>
              </a:rPr>
              <a:t> 동시에 존재할 수 있으며</a:t>
            </a:r>
            <a:r>
              <a:rPr lang="en-US" altLang="ko-KR" sz="1400" dirty="0">
                <a:solidFill>
                  <a:schemeClr val="tx2"/>
                </a:solidFill>
              </a:rPr>
              <a:t>, ⅲ) </a:t>
            </a:r>
            <a:r>
              <a:rPr lang="ko-KR" altLang="en-US" sz="1400" dirty="0">
                <a:solidFill>
                  <a:schemeClr val="tx2"/>
                </a:solidFill>
              </a:rPr>
              <a:t>특허권자가 다시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400" dirty="0">
                <a:solidFill>
                  <a:schemeClr val="tx2"/>
                </a:solidFill>
              </a:rPr>
              <a:t> 설정할 수도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4305939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24318" y="3347669"/>
            <a:ext cx="72006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甲 등록</a:t>
            </a:r>
          </a:p>
        </p:txBody>
      </p:sp>
      <p:cxnSp>
        <p:nvCxnSpPr>
          <p:cNvPr id="27" name="직선 연결선 26"/>
          <p:cNvCxnSpPr>
            <a:stCxn id="26" idx="0"/>
            <a:endCxn id="25" idx="4"/>
          </p:cNvCxnSpPr>
          <p:nvPr/>
        </p:nvCxnSpPr>
        <p:spPr>
          <a:xfrm flipH="1" flipV="1">
            <a:off x="4383308" y="3099565"/>
            <a:ext cx="1045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/>
          <p:cNvSpPr/>
          <p:nvPr/>
        </p:nvSpPr>
        <p:spPr>
          <a:xfrm>
            <a:off x="5239389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28167" y="3776294"/>
            <a:ext cx="157927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乙 </a:t>
            </a:r>
            <a:r>
              <a:rPr lang="ko-KR" altLang="en-US" sz="1400" dirty="0" err="1"/>
              <a:t>전용실시권</a:t>
            </a:r>
            <a:r>
              <a:rPr lang="ko-KR" altLang="en-US" sz="1400" dirty="0"/>
              <a:t> 설정</a:t>
            </a:r>
          </a:p>
        </p:txBody>
      </p:sp>
      <p:cxnSp>
        <p:nvCxnSpPr>
          <p:cNvPr id="30" name="직선 연결선 29"/>
          <p:cNvCxnSpPr>
            <a:stCxn id="29" idx="0"/>
            <a:endCxn id="28" idx="4"/>
          </p:cNvCxnSpPr>
          <p:nvPr/>
        </p:nvCxnSpPr>
        <p:spPr>
          <a:xfrm flipH="1" flipV="1">
            <a:off x="5316758" y="3099565"/>
            <a:ext cx="1048" cy="6767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34844" y="4232373"/>
            <a:ext cx="176593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甲과 乙의 계약 </a:t>
            </a:r>
            <a:r>
              <a:rPr lang="en-US" altLang="ko-KR" sz="1200" dirty="0"/>
              <a:t>&amp; </a:t>
            </a:r>
            <a:r>
              <a:rPr lang="ko-KR" altLang="en-US" sz="1200" dirty="0"/>
              <a:t>등록</a:t>
            </a:r>
          </a:p>
        </p:txBody>
      </p:sp>
      <p:cxnSp>
        <p:nvCxnSpPr>
          <p:cNvPr id="33" name="직선 연결선 32"/>
          <p:cNvCxnSpPr>
            <a:stCxn id="32" idx="0"/>
            <a:endCxn id="29" idx="2"/>
          </p:cNvCxnSpPr>
          <p:nvPr/>
        </p:nvCxnSpPr>
        <p:spPr>
          <a:xfrm flipH="1" flipV="1">
            <a:off x="5317806" y="4084071"/>
            <a:ext cx="4" cy="1483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/>
          <p:cNvSpPr/>
          <p:nvPr/>
        </p:nvSpPr>
        <p:spPr>
          <a:xfrm>
            <a:off x="6296664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85442" y="2114736"/>
            <a:ext cx="157927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丙 </a:t>
            </a:r>
            <a:r>
              <a:rPr lang="ko-KR" altLang="en-US" sz="1400" dirty="0" err="1"/>
              <a:t>통상실시권</a:t>
            </a:r>
            <a:r>
              <a:rPr lang="ko-KR" altLang="en-US" sz="1400" dirty="0"/>
              <a:t> 허락</a:t>
            </a:r>
          </a:p>
        </p:txBody>
      </p:sp>
      <p:cxnSp>
        <p:nvCxnSpPr>
          <p:cNvPr id="37" name="직선 연결선 36"/>
          <p:cNvCxnSpPr>
            <a:stCxn id="36" idx="2"/>
            <a:endCxn id="35" idx="0"/>
          </p:cNvCxnSpPr>
          <p:nvPr/>
        </p:nvCxnSpPr>
        <p:spPr>
          <a:xfrm flipH="1">
            <a:off x="6374033" y="2422513"/>
            <a:ext cx="1048" cy="515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1620" y="1731926"/>
            <a:ext cx="214693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乙과 丙의 계약</a:t>
            </a:r>
            <a:r>
              <a:rPr lang="en-US" altLang="ko-KR" sz="1200" dirty="0"/>
              <a:t>(</a:t>
            </a:r>
            <a:r>
              <a:rPr lang="ko-KR" altLang="en-US" sz="1200" dirty="0"/>
              <a:t>단</a:t>
            </a:r>
            <a:r>
              <a:rPr lang="en-US" altLang="ko-KR" sz="1200" dirty="0"/>
              <a:t>, </a:t>
            </a:r>
            <a:r>
              <a:rPr lang="ko-KR" altLang="en-US" sz="1200" dirty="0"/>
              <a:t>甲의 동의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9" name="직선 연결선 38"/>
          <p:cNvCxnSpPr>
            <a:stCxn id="38" idx="2"/>
            <a:endCxn id="36" idx="0"/>
          </p:cNvCxnSpPr>
          <p:nvPr/>
        </p:nvCxnSpPr>
        <p:spPr>
          <a:xfrm flipH="1">
            <a:off x="6375081" y="2008925"/>
            <a:ext cx="4" cy="1058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/>
          <p:cNvSpPr/>
          <p:nvPr/>
        </p:nvSpPr>
        <p:spPr>
          <a:xfrm>
            <a:off x="7477764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66542" y="3776294"/>
            <a:ext cx="157927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丁 </a:t>
            </a:r>
            <a:r>
              <a:rPr lang="ko-KR" altLang="en-US" sz="1400" dirty="0" err="1"/>
              <a:t>통상실시권</a:t>
            </a:r>
            <a:r>
              <a:rPr lang="ko-KR" altLang="en-US" sz="1400" dirty="0"/>
              <a:t> 허락</a:t>
            </a:r>
          </a:p>
        </p:txBody>
      </p:sp>
      <p:cxnSp>
        <p:nvCxnSpPr>
          <p:cNvPr id="50" name="직선 연결선 49"/>
          <p:cNvCxnSpPr>
            <a:stCxn id="49" idx="0"/>
            <a:endCxn id="48" idx="4"/>
          </p:cNvCxnSpPr>
          <p:nvPr/>
        </p:nvCxnSpPr>
        <p:spPr>
          <a:xfrm flipH="1" flipV="1">
            <a:off x="7555133" y="3099565"/>
            <a:ext cx="1048" cy="6767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73219" y="4232373"/>
            <a:ext cx="176593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甲과 丁의 계약</a:t>
            </a:r>
          </a:p>
        </p:txBody>
      </p:sp>
      <p:cxnSp>
        <p:nvCxnSpPr>
          <p:cNvPr id="52" name="직선 연결선 51"/>
          <p:cNvCxnSpPr>
            <a:stCxn id="51" idx="0"/>
            <a:endCxn id="49" idx="2"/>
          </p:cNvCxnSpPr>
          <p:nvPr/>
        </p:nvCxnSpPr>
        <p:spPr>
          <a:xfrm flipH="1" flipV="1">
            <a:off x="7556181" y="4084071"/>
            <a:ext cx="4" cy="1483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/>
          <p:cNvSpPr/>
          <p:nvPr/>
        </p:nvSpPr>
        <p:spPr>
          <a:xfrm>
            <a:off x="8820789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109567" y="2114736"/>
            <a:ext cx="157927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戊 </a:t>
            </a:r>
            <a:r>
              <a:rPr lang="ko-KR" altLang="en-US" sz="1400" dirty="0" err="1"/>
              <a:t>전용실시권</a:t>
            </a:r>
            <a:r>
              <a:rPr lang="ko-KR" altLang="en-US" sz="1400" dirty="0"/>
              <a:t> 설정</a:t>
            </a:r>
          </a:p>
        </p:txBody>
      </p:sp>
      <p:cxnSp>
        <p:nvCxnSpPr>
          <p:cNvPr id="55" name="직선 연결선 54"/>
          <p:cNvCxnSpPr>
            <a:stCxn id="54" idx="2"/>
            <a:endCxn id="53" idx="0"/>
          </p:cNvCxnSpPr>
          <p:nvPr/>
        </p:nvCxnSpPr>
        <p:spPr>
          <a:xfrm flipH="1">
            <a:off x="8898158" y="2422513"/>
            <a:ext cx="1048" cy="515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825745" y="1731926"/>
            <a:ext cx="214693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甲과 戊의 계약 </a:t>
            </a:r>
            <a:r>
              <a:rPr lang="en-US" altLang="ko-KR" sz="1200" dirty="0"/>
              <a:t>&amp; </a:t>
            </a:r>
            <a:r>
              <a:rPr lang="ko-KR" altLang="en-US" sz="1200" dirty="0"/>
              <a:t>등록</a:t>
            </a:r>
          </a:p>
        </p:txBody>
      </p:sp>
      <p:cxnSp>
        <p:nvCxnSpPr>
          <p:cNvPr id="57" name="직선 연결선 56"/>
          <p:cNvCxnSpPr>
            <a:stCxn id="56" idx="2"/>
            <a:endCxn id="54" idx="0"/>
          </p:cNvCxnSpPr>
          <p:nvPr/>
        </p:nvCxnSpPr>
        <p:spPr>
          <a:xfrm flipH="1">
            <a:off x="8899206" y="2008925"/>
            <a:ext cx="4" cy="1058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10068564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949068" y="5296812"/>
            <a:ext cx="3032757" cy="1256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❹의 </a:t>
            </a:r>
            <a:r>
              <a:rPr lang="ko-KR" altLang="en-US" sz="1600" dirty="0" err="1">
                <a:solidFill>
                  <a:schemeClr val="accent2">
                    <a:lumMod val="50000"/>
                  </a:schemeClr>
                </a:solidFill>
              </a:rPr>
              <a:t>범위내에서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 丁의 실시가 戊의 </a:t>
            </a:r>
            <a:r>
              <a:rPr lang="ko-KR" altLang="en-US" sz="1600" dirty="0" err="1">
                <a:solidFill>
                  <a:schemeClr val="accent2">
                    <a:lumMod val="50000"/>
                  </a:schemeClr>
                </a:solidFill>
              </a:rPr>
              <a:t>전용실시권의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 침해인가</a:t>
            </a:r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?</a:t>
            </a:r>
          </a:p>
          <a:p>
            <a:pPr fontAlgn="base"/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丁이 </a:t>
            </a:r>
            <a:r>
              <a:rPr lang="ko-KR" altLang="en-US" sz="1600" dirty="0" err="1">
                <a:solidFill>
                  <a:schemeClr val="accent2">
                    <a:lumMod val="50000"/>
                  </a:schemeClr>
                </a:solidFill>
              </a:rPr>
              <a:t>통상실시권의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 효력을 戊에게 주장할 수 있는가</a:t>
            </a:r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?)</a:t>
            </a:r>
            <a:endParaRPr lang="ko-KR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66" name="꺾인 연결선 65"/>
          <p:cNvCxnSpPr>
            <a:stCxn id="63" idx="4"/>
            <a:endCxn id="65" idx="0"/>
          </p:cNvCxnSpPr>
          <p:nvPr/>
        </p:nvCxnSpPr>
        <p:spPr>
          <a:xfrm rot="5400000">
            <a:off x="6707067" y="1857945"/>
            <a:ext cx="2197247" cy="4680486"/>
          </a:xfrm>
          <a:prstGeom prst="bentConnector3">
            <a:avLst>
              <a:gd name="adj1" fmla="val 74709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461867" y="5366761"/>
            <a:ext cx="231345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戊 등록 전 丁이 등록된 경우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61867" y="6100186"/>
            <a:ext cx="231345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/>
              <a:t>Otherwise</a:t>
            </a:r>
            <a:endParaRPr lang="ko-KR" altLang="en-US" sz="1400" dirty="0"/>
          </a:p>
        </p:txBody>
      </p:sp>
      <p:sp>
        <p:nvSpPr>
          <p:cNvPr id="74" name="TextBox 73"/>
          <p:cNvSpPr txBox="1"/>
          <p:nvPr/>
        </p:nvSpPr>
        <p:spPr>
          <a:xfrm>
            <a:off x="9785841" y="5366761"/>
            <a:ext cx="231345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ko-KR" altLang="en-US" sz="1400" dirty="0" err="1"/>
              <a:t>비침해</a:t>
            </a:r>
            <a:endParaRPr lang="ko-KR" alt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9785841" y="6100185"/>
            <a:ext cx="231345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ko-KR" altLang="en-US" sz="1400" dirty="0"/>
              <a:t>침해</a:t>
            </a:r>
          </a:p>
        </p:txBody>
      </p:sp>
      <p:cxnSp>
        <p:nvCxnSpPr>
          <p:cNvPr id="76" name="꺾인 연결선 75"/>
          <p:cNvCxnSpPr>
            <a:stCxn id="65" idx="3"/>
            <a:endCxn id="71" idx="1"/>
          </p:cNvCxnSpPr>
          <p:nvPr/>
        </p:nvCxnSpPr>
        <p:spPr>
          <a:xfrm flipV="1">
            <a:off x="6981825" y="5520650"/>
            <a:ext cx="480042" cy="4043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65" idx="3"/>
            <a:endCxn id="73" idx="1"/>
          </p:cNvCxnSpPr>
          <p:nvPr/>
        </p:nvCxnSpPr>
        <p:spPr>
          <a:xfrm>
            <a:off x="6981825" y="5925006"/>
            <a:ext cx="480042" cy="3290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414</a:t>
            </a:fld>
            <a:endParaRPr lang="ko-KR" altLang="en-US"/>
          </a:p>
        </p:txBody>
      </p:sp>
      <p:pic>
        <p:nvPicPr>
          <p:cNvPr id="62" name="Picture 2" descr="남한 지도에 대한 이미지 검색결과">
            <a:extLst>
              <a:ext uri="{FF2B5EF4-FFF2-40B4-BE49-F238E27FC236}">
                <a16:creationId xmlns:a16="http://schemas.microsoft.com/office/drawing/2014/main" id="{088E2D3B-F24C-4BAD-914E-16B3F47153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3" r="18629"/>
          <a:stretch/>
        </p:blipFill>
        <p:spPr bwMode="auto">
          <a:xfrm>
            <a:off x="85726" y="2324100"/>
            <a:ext cx="2766615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타원 63">
            <a:extLst>
              <a:ext uri="{FF2B5EF4-FFF2-40B4-BE49-F238E27FC236}">
                <a16:creationId xmlns:a16="http://schemas.microsoft.com/office/drawing/2014/main" id="{23DD6659-E8B9-40E8-97BA-028846156A57}"/>
              </a:ext>
            </a:extLst>
          </p:cNvPr>
          <p:cNvSpPr/>
          <p:nvPr/>
        </p:nvSpPr>
        <p:spPr>
          <a:xfrm>
            <a:off x="637449" y="2625067"/>
            <a:ext cx="1135432" cy="10649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0297F349-4FCE-4BB1-8C71-73B7A6068623}"/>
              </a:ext>
            </a:extLst>
          </p:cNvPr>
          <p:cNvSpPr/>
          <p:nvPr/>
        </p:nvSpPr>
        <p:spPr>
          <a:xfrm>
            <a:off x="1485025" y="4284241"/>
            <a:ext cx="1135432" cy="1064959"/>
          </a:xfrm>
          <a:prstGeom prst="ellipse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03DAE59A-318C-4621-9B66-872E539EC32D}"/>
              </a:ext>
            </a:extLst>
          </p:cNvPr>
          <p:cNvSpPr/>
          <p:nvPr/>
        </p:nvSpPr>
        <p:spPr>
          <a:xfrm>
            <a:off x="989273" y="2976194"/>
            <a:ext cx="647676" cy="607476"/>
          </a:xfrm>
          <a:prstGeom prst="ellipse">
            <a:avLst/>
          </a:prstGeom>
          <a:solidFill>
            <a:schemeClr val="tx2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27135EFD-C2DC-4D0A-A1A2-71E5AE7852F9}"/>
              </a:ext>
            </a:extLst>
          </p:cNvPr>
          <p:cNvSpPr/>
          <p:nvPr/>
        </p:nvSpPr>
        <p:spPr>
          <a:xfrm>
            <a:off x="1728902" y="4357553"/>
            <a:ext cx="647676" cy="607476"/>
          </a:xfrm>
          <a:prstGeom prst="ellipse">
            <a:avLst/>
          </a:prstGeom>
          <a:solidFill>
            <a:schemeClr val="accent4">
              <a:lumMod val="5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1887E0D-BE9B-458E-857D-55A593C1A9CE}"/>
              </a:ext>
            </a:extLst>
          </p:cNvPr>
          <p:cNvSpPr/>
          <p:nvPr/>
        </p:nvSpPr>
        <p:spPr>
          <a:xfrm>
            <a:off x="2052741" y="4650584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❹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F9B9B52-D16B-4E11-A0B4-5C6181A0BC93}"/>
              </a:ext>
            </a:extLst>
          </p:cNvPr>
          <p:cNvSpPr/>
          <p:nvPr/>
        </p:nvSpPr>
        <p:spPr>
          <a:xfrm>
            <a:off x="691987" y="2467734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❶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F666A16-60EF-407A-8D38-EEFF79175787}"/>
              </a:ext>
            </a:extLst>
          </p:cNvPr>
          <p:cNvSpPr/>
          <p:nvPr/>
        </p:nvSpPr>
        <p:spPr>
          <a:xfrm>
            <a:off x="1092504" y="2802003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❷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31F703B-EEDF-42A3-A36A-641A65EA7876}"/>
              </a:ext>
            </a:extLst>
          </p:cNvPr>
          <p:cNvSpPr/>
          <p:nvPr/>
        </p:nvSpPr>
        <p:spPr>
          <a:xfrm>
            <a:off x="1692205" y="5144962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❸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5045940" y="3223617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❶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6116095" y="2380121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❷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7277346" y="3239947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❸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8626288" y="2395667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❹</a:t>
            </a:r>
          </a:p>
        </p:txBody>
      </p:sp>
    </p:spTree>
    <p:extLst>
      <p:ext uri="{BB962C8B-B14F-4D97-AF65-F5344CB8AC3E}">
        <p14:creationId xmlns:p14="http://schemas.microsoft.com/office/powerpoint/2010/main" val="50898045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법정실시권의</a:t>
            </a:r>
            <a:r>
              <a:rPr lang="ko-KR" altLang="en-US" dirty="0"/>
              <a:t> 성립요건 및 효력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098459"/>
              </p:ext>
            </p:extLst>
          </p:nvPr>
        </p:nvGraphicFramePr>
        <p:xfrm>
          <a:off x="295275" y="1031500"/>
          <a:ext cx="11649075" cy="573701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74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2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4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4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485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구 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성립요건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효력범위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효력내용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252">
                <a:tc rowSpan="3"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특수한 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경우</a:t>
                      </a:r>
                    </a:p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규칙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×)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發振法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①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85725" marR="31750" indent="-53975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직무발명일 것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31750" indent="-53975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종업원 등이 특허를 받았거나 특허를 받을 수 있는 권리를 승계한 자가 특허를 받았을 것 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180975" marR="31750" indent="-149225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사용자 등이 「중소기업기본법」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조에 따른 중소기업이 아닌 기업인 경우 종업원 등과의 협의를 거쳐 미리 예약승계에 해당하는 계약 또는 근무규정을 체결 또는 작성하였을 것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특허발명 전체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rowSpan="7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통상</a:t>
                      </a:r>
                    </a:p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실시권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1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특허출원일 전 또는 같은 날에 출원되어 등록되었을 것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디자인권이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특허권과 저촉될 것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존속기간 만료로 소멸할 것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110490" marR="31750" indent="-11049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디자인권자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원디자인권의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범위</a:t>
                      </a:r>
                    </a:p>
                    <a:p>
                      <a:pPr marL="124460" marR="31750" indent="-12446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등록된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실시권자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단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법정실시권은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등록 不要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원실시권의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범위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</a:rPr>
                        <a:t>122</a:t>
                      </a:r>
                      <a:endParaRPr lang="ko-KR" altLang="en-US" sz="10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특허권자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공유인 특허권을 분할청구한 경우에는 분할청구를 한 공유자를 제외한 나머지 공유자를 말한다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가 특허권을 목적으로 하는 질권설정 또는 공유인 특허권의 분할청구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이전에 그 특허발명을 실시하고 있을 것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그 특허권이 경매 등에 의하여 이전될 것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특허발명전체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무제한설이 통설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9918">
                <a:tc rowSpan="4"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일반적인 경우</a:t>
                      </a:r>
                    </a:p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규칙○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시기적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ysClr val="windowText" lastClr="000000"/>
                          </a:solidFill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ysClr val="windowText" lastClr="000000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ysClr val="windowText" lastClr="000000"/>
                          </a:solidFill>
                        </a:rPr>
                        <a:t>81</a:t>
                      </a:r>
                      <a:r>
                        <a:rPr lang="ko-KR" altLang="en-US" sz="1050" kern="1200" dirty="0">
                          <a:solidFill>
                            <a:sysClr val="windowText" lastClr="000000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ysClr val="windowText" lastClr="000000"/>
                          </a:solidFill>
                        </a:rPr>
                        <a:t>⑤ → </a:t>
                      </a:r>
                      <a:r>
                        <a:rPr lang="ko-KR" altLang="en-US" sz="1050" kern="1200" dirty="0" err="1">
                          <a:solidFill>
                            <a:sysClr val="windowText" lastClr="000000"/>
                          </a:solidFill>
                        </a:rPr>
                        <a:t>효력제한기간중</a:t>
                      </a:r>
                      <a:r>
                        <a:rPr lang="en-US" altLang="ko-KR" sz="1050" kern="12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ysClr val="windowText" lastClr="000000"/>
                          </a:solidFill>
                        </a:rPr>
                        <a:t>추가납부기간 또는 보전기간이 지난 날로부터 납부하거나 보전한 날</a:t>
                      </a:r>
                      <a:r>
                        <a:rPr lang="en-US" altLang="ko-KR" sz="1050" kern="12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050" kern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특허출원 시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→ 특허권의 이전등록이 있기 전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무효심판청구의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등록전에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180975" marR="31750" indent="-1492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182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① 무효가 된 특허권이 재심에 의하여 회복된 경우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② 특허권의 권리범위에 속하지 아니한다는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확정된 후 재심에 의하여 그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심결과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상반되는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확정된 경우 및 ③ 거절한다는 취지의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있었던 특허출원 또는 특허권의 존속기간의 연장등록출원이 재심에 의하여 특허권의 설정등록 또는 특허권의 존속기간의 연장등록이 된 경우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ko-KR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④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취소가 된 특허권이 재심에 의하여 회복된 경우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중 어느 하나에 해당하는 경우 결정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심결확정후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재심청구등록전</a:t>
                      </a:r>
                    </a:p>
                    <a:p>
                      <a:pPr marL="180975" marR="31750" indent="-1492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183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통상실시권을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허락한다는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확정된 후 재심에 의하여 이에 상반되는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심결의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확정이 있는 경우에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심결확정후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재심청구등록전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rowSpan="4">
                  <a:txBody>
                    <a:bodyPr/>
                    <a:lstStyle/>
                    <a:p>
                      <a:pPr marL="135890" marR="31750" indent="-13589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81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, 103, 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2, 104, 182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실시 또는 준비를 하고 있는 발명 및 사업목적의 범위 </a:t>
                      </a:r>
                    </a:p>
                    <a:p>
                      <a:pPr marL="135890" marR="31750" indent="-13589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183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원통상실시권의 사업목적 및 발명의 범위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9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주체적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선의일 것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선의의 해석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① 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그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특허출원된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발명의 내용의 알지 못하고 그 발명을 하거나 그 발명을 한 사람으로부터 알게 된 자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② 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 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무효사유에 해당하는 것을 알지 못하고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취득할 수 있는 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①각호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에 해당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③ 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무효사유에 해당되는 것을 알지 못하고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취득할 수 있는 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①각호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에 해당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지역적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국내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객체적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실시사업을 하거나 그 사업의 준비를 하고 있을 것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852">
                <a:tc gridSpan="2"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대가</a:t>
                      </a:r>
                    </a:p>
                  </a:txBody>
                  <a:tcPr marL="10515" marR="10515" marT="10515" marB="10515" anchor="ctr"/>
                </a:tc>
                <a:tc hMerge="1"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發振法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103,</a:t>
                      </a:r>
                      <a:r>
                        <a:rPr lang="en-US" altLang="ko-KR" sz="1050" kern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105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원디자인권자에</a:t>
                      </a:r>
                      <a:r>
                        <a:rPr lang="ko-KR" altLang="en-US" sz="105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한함</a:t>
                      </a:r>
                      <a:r>
                        <a:rPr lang="en-US" altLang="ko-KR" sz="105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05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05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182</a:t>
                      </a:r>
                      <a:r>
                        <a:rPr lang="ko-KR" altLang="en-US" sz="105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 경우 무상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135890" marR="31750" indent="-13589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38878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선의의 해석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416</a:t>
            </a:fld>
            <a:endParaRPr lang="ko-KR" alt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>
            <a:off x="1369112" y="5194288"/>
            <a:ext cx="10469659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0" y="215991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「선의」란 </a:t>
            </a:r>
            <a:r>
              <a:rPr lang="ko-KR" altLang="en-US" sz="1400" dirty="0" err="1">
                <a:highlight>
                  <a:srgbClr val="FFFF00"/>
                </a:highlight>
                <a:latin typeface="+mn-ea"/>
              </a:rPr>
              <a:t>특허출원된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 발명의 내용을 알지 못하고 발명을 하거나 그 발명을 한 사람으로부터 알게 된 것</a:t>
            </a:r>
            <a:r>
              <a:rPr lang="ko-KR" altLang="en-US" sz="1400" dirty="0">
                <a:latin typeface="+mn-ea"/>
              </a:rPr>
              <a:t>을 말한다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en-US" altLang="ko-KR" sz="1400" dirty="0" err="1">
                <a:latin typeface="+mn-ea"/>
              </a:rPr>
              <a:t>타인으로부터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발명을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알게</a:t>
            </a:r>
            <a:r>
              <a:rPr lang="en-US" altLang="ko-KR" sz="1400" dirty="0">
                <a:latin typeface="+mn-ea"/>
              </a:rPr>
              <a:t> 된 </a:t>
            </a:r>
            <a:r>
              <a:rPr lang="en-US" altLang="ko-KR" sz="1400" dirty="0" err="1">
                <a:latin typeface="+mn-ea"/>
              </a:rPr>
              <a:t>경우에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그것이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선의인</a:t>
            </a:r>
            <a:r>
              <a:rPr lang="en-US" altLang="ko-KR" sz="1400" dirty="0">
                <a:latin typeface="+mn-ea"/>
              </a:rPr>
              <a:t> 한 그 </a:t>
            </a:r>
            <a:r>
              <a:rPr lang="en-US" altLang="ko-KR" sz="1400" dirty="0" err="1">
                <a:latin typeface="+mn-ea"/>
              </a:rPr>
              <a:t>발명을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알게</a:t>
            </a:r>
            <a:r>
              <a:rPr lang="en-US" altLang="ko-KR" sz="1400" dirty="0">
                <a:latin typeface="+mn-ea"/>
              </a:rPr>
              <a:t> 된 </a:t>
            </a:r>
            <a:r>
              <a:rPr lang="en-US" altLang="ko-KR" sz="1400" dirty="0" err="1">
                <a:latin typeface="+mn-ea"/>
              </a:rPr>
              <a:t>경로</a:t>
            </a:r>
            <a:r>
              <a:rPr lang="en-US" altLang="ko-KR" sz="1400" dirty="0">
                <a:latin typeface="+mn-ea"/>
              </a:rPr>
              <a:t>(route)는 </a:t>
            </a:r>
            <a:r>
              <a:rPr lang="en-US" altLang="ko-KR" sz="1400" dirty="0" err="1">
                <a:latin typeface="+mn-ea"/>
              </a:rPr>
              <a:t>문제되지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않으나</a:t>
            </a:r>
            <a:r>
              <a:rPr lang="en-US" altLang="ko-KR" sz="1400" dirty="0">
                <a:latin typeface="+mn-ea"/>
              </a:rPr>
              <a:t>, </a:t>
            </a:r>
            <a:r>
              <a:rPr lang="en-US" altLang="ko-KR" sz="1400" dirty="0" err="1">
                <a:latin typeface="+mn-ea"/>
              </a:rPr>
              <a:t>선사용되는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발명의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과도한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보호를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방지하기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위하여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특허출원한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발명자로부터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발명을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알게</a:t>
            </a:r>
            <a:r>
              <a:rPr lang="en-US" altLang="ko-KR" sz="1400" dirty="0">
                <a:latin typeface="+mn-ea"/>
              </a:rPr>
              <a:t> 된 </a:t>
            </a:r>
            <a:r>
              <a:rPr lang="en-US" altLang="ko-KR" sz="1400" dirty="0" err="1">
                <a:latin typeface="+mn-ea"/>
              </a:rPr>
              <a:t>경우는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제외되는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것으로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해석함이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일반적이다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한편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정당한 권리자인 발명자 또는 이로부터 발명을 알게 된 자가 실시사업 등을 하고 있는 경우 모인하여 </a:t>
            </a:r>
            <a:r>
              <a:rPr lang="ko-KR" altLang="en-US" sz="1400" dirty="0" err="1">
                <a:latin typeface="+mn-ea"/>
              </a:rPr>
              <a:t>특허출원되고</a:t>
            </a:r>
            <a:r>
              <a:rPr lang="ko-KR" altLang="en-US" sz="1400" dirty="0">
                <a:latin typeface="+mn-ea"/>
              </a:rPr>
              <a:t> 특허된 무권리자의 특허에 대하여 선사용권이 </a:t>
            </a:r>
            <a:r>
              <a:rPr lang="ko-KR" altLang="en-US" sz="1400" dirty="0" err="1">
                <a:latin typeface="+mn-ea"/>
              </a:rPr>
              <a:t>인정되는지와</a:t>
            </a:r>
            <a:r>
              <a:rPr lang="ko-KR" altLang="en-US" sz="1400" dirty="0">
                <a:latin typeface="+mn-ea"/>
              </a:rPr>
              <a:t> 관련하여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무권리자의 특허가 제</a:t>
            </a:r>
            <a:r>
              <a:rPr lang="en-US" altLang="ko-KR" sz="1400" dirty="0">
                <a:latin typeface="+mn-ea"/>
              </a:rPr>
              <a:t>33</a:t>
            </a:r>
            <a:r>
              <a:rPr lang="ko-KR" altLang="en-US" sz="1400" dirty="0">
                <a:latin typeface="+mn-ea"/>
              </a:rPr>
              <a:t>조제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항 본문의 특허요건의 </a:t>
            </a:r>
            <a:r>
              <a:rPr lang="ko-KR" altLang="en-US" sz="1400" dirty="0" err="1">
                <a:latin typeface="+mn-ea"/>
              </a:rPr>
              <a:t>흠결이</a:t>
            </a:r>
            <a:r>
              <a:rPr lang="ko-KR" altLang="en-US" sz="1400" dirty="0">
                <a:latin typeface="+mn-ea"/>
              </a:rPr>
              <a:t> 있다고 하더라도 특허무효심판에 의한 </a:t>
            </a:r>
            <a:r>
              <a:rPr lang="ko-KR" altLang="en-US" sz="1400" dirty="0" err="1">
                <a:latin typeface="+mn-ea"/>
              </a:rPr>
              <a:t>무효심결이</a:t>
            </a:r>
            <a:r>
              <a:rPr lang="ko-KR" altLang="en-US" sz="1400" dirty="0">
                <a:latin typeface="+mn-ea"/>
              </a:rPr>
              <a:t> 확정되기 전까지는 유효한 권리이므로 </a:t>
            </a:r>
            <a:r>
              <a:rPr lang="ko-KR" altLang="en-US" sz="1400" dirty="0" err="1">
                <a:latin typeface="+mn-ea"/>
              </a:rPr>
              <a:t>선사용권이</a:t>
            </a:r>
            <a:r>
              <a:rPr lang="ko-KR" altLang="en-US" sz="1400" dirty="0">
                <a:latin typeface="+mn-ea"/>
              </a:rPr>
              <a:t> 인정된다고 해석된다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1893625" y="51194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53922" y="5528894"/>
            <a:ext cx="123623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甲이 丙에게</a:t>
            </a:r>
            <a:endParaRPr lang="en-US" altLang="ko-KR" sz="1200" dirty="0"/>
          </a:p>
          <a:p>
            <a:pPr algn="ctr"/>
            <a:r>
              <a:rPr lang="ko-KR" altLang="en-US" sz="1200" dirty="0"/>
              <a:t>은수저 제작 의뢰</a:t>
            </a:r>
          </a:p>
        </p:txBody>
      </p:sp>
      <p:cxnSp>
        <p:nvCxnSpPr>
          <p:cNvPr id="27" name="직선 연결선 26"/>
          <p:cNvCxnSpPr>
            <a:stCxn id="26" idx="0"/>
            <a:endCxn id="25" idx="4"/>
          </p:cNvCxnSpPr>
          <p:nvPr/>
        </p:nvCxnSpPr>
        <p:spPr>
          <a:xfrm flipH="1" flipV="1">
            <a:off x="1970994" y="5280790"/>
            <a:ext cx="1046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/>
          <p:cNvSpPr/>
          <p:nvPr/>
        </p:nvSpPr>
        <p:spPr>
          <a:xfrm>
            <a:off x="2560375" y="511945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6225" y="2245568"/>
            <a:ext cx="60144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선의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2525" y="2268767"/>
            <a:ext cx="216437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원칙</a:t>
            </a:r>
            <a:r>
              <a:rPr lang="en-US" altLang="ko-KR" sz="1400" dirty="0"/>
              <a:t>: </a:t>
            </a:r>
            <a:r>
              <a:rPr lang="ko-KR" altLang="en-US" sz="1400" dirty="0"/>
              <a:t>발명루트가 다른 경우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2525" y="3807726"/>
            <a:ext cx="216437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예외</a:t>
            </a:r>
            <a:r>
              <a:rPr lang="en-US" altLang="ko-KR" sz="1400" dirty="0"/>
              <a:t>: </a:t>
            </a:r>
            <a:r>
              <a:rPr lang="ko-KR" altLang="en-US" sz="1400" dirty="0"/>
              <a:t>발명루트가 같은 경우</a:t>
            </a:r>
            <a:endParaRPr lang="en-US" altLang="ko-KR" sz="1400" dirty="0"/>
          </a:p>
          <a:p>
            <a:r>
              <a:rPr lang="en-US" altLang="ko-KR" sz="1400" dirty="0"/>
              <a:t>(</a:t>
            </a:r>
            <a:r>
              <a:rPr lang="ko-KR" altLang="en-US" sz="1400" dirty="0"/>
              <a:t>은수저 제작방법 사건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12" name="꺾인 연결선 11"/>
          <p:cNvCxnSpPr>
            <a:stCxn id="2" idx="3"/>
            <a:endCxn id="62" idx="1"/>
          </p:cNvCxnSpPr>
          <p:nvPr/>
        </p:nvCxnSpPr>
        <p:spPr>
          <a:xfrm flipV="1">
            <a:off x="877672" y="2422656"/>
            <a:ext cx="274853" cy="757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cxnSpLocks/>
            <a:stCxn id="2" idx="3"/>
            <a:endCxn id="64" idx="1"/>
          </p:cNvCxnSpPr>
          <p:nvPr/>
        </p:nvCxnSpPr>
        <p:spPr>
          <a:xfrm>
            <a:off x="877672" y="2430234"/>
            <a:ext cx="274853" cy="163910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033251" y="4403251"/>
            <a:ext cx="1208985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丙 은수저 제작</a:t>
            </a:r>
            <a:endParaRPr lang="en-US" altLang="ko-KR" sz="1200" dirty="0"/>
          </a:p>
          <a:p>
            <a:pPr algn="ctr"/>
            <a:r>
              <a:rPr lang="en-US" altLang="ko-KR" sz="1200" dirty="0"/>
              <a:t>&amp; </a:t>
            </a:r>
            <a:r>
              <a:rPr lang="ko-KR" altLang="en-US" sz="1200" dirty="0"/>
              <a:t>제작방법 발명</a:t>
            </a:r>
          </a:p>
        </p:txBody>
      </p:sp>
      <p:cxnSp>
        <p:nvCxnSpPr>
          <p:cNvPr id="69" name="직선 연결선 68"/>
          <p:cNvCxnSpPr>
            <a:stCxn id="68" idx="2"/>
            <a:endCxn id="28" idx="0"/>
          </p:cNvCxnSpPr>
          <p:nvPr/>
        </p:nvCxnSpPr>
        <p:spPr>
          <a:xfrm>
            <a:off x="2637744" y="4864916"/>
            <a:ext cx="0" cy="25453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/>
          <p:cNvSpPr/>
          <p:nvPr/>
        </p:nvSpPr>
        <p:spPr>
          <a:xfrm>
            <a:off x="3541450" y="511945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410952" y="6099588"/>
            <a:ext cx="2415734" cy="4511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丙이 甲에게 납품하면서 발명 매수 의사 타진하였으나 甲이 거부</a:t>
            </a:r>
          </a:p>
        </p:txBody>
      </p:sp>
      <p:cxnSp>
        <p:nvCxnSpPr>
          <p:cNvPr id="77" name="직선 연결선 76"/>
          <p:cNvCxnSpPr>
            <a:cxnSpLocks/>
            <a:stCxn id="72" idx="0"/>
            <a:endCxn id="70" idx="4"/>
          </p:cNvCxnSpPr>
          <p:nvPr/>
        </p:nvCxnSpPr>
        <p:spPr>
          <a:xfrm flipV="1">
            <a:off x="3618819" y="5280790"/>
            <a:ext cx="0" cy="8187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/>
        </p:nvSpPr>
        <p:spPr>
          <a:xfrm>
            <a:off x="4255825" y="511945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334878" y="4403251"/>
            <a:ext cx="1996634" cy="4352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丙이 은수저 제작방법을 사용하여 실시사업</a:t>
            </a:r>
            <a:r>
              <a:rPr lang="en-US" altLang="ko-KR" sz="1200" dirty="0"/>
              <a:t>/</a:t>
            </a:r>
            <a:r>
              <a:rPr lang="ko-KR" altLang="en-US" sz="1200" dirty="0"/>
              <a:t>사업준비</a:t>
            </a:r>
          </a:p>
        </p:txBody>
      </p:sp>
      <p:cxnSp>
        <p:nvCxnSpPr>
          <p:cNvPr id="81" name="직선 연결선 80"/>
          <p:cNvCxnSpPr>
            <a:stCxn id="80" idx="2"/>
            <a:endCxn id="79" idx="0"/>
          </p:cNvCxnSpPr>
          <p:nvPr/>
        </p:nvCxnSpPr>
        <p:spPr>
          <a:xfrm flipH="1">
            <a:off x="4333194" y="4838502"/>
            <a:ext cx="1" cy="2809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타원 82"/>
          <p:cNvSpPr/>
          <p:nvPr/>
        </p:nvSpPr>
        <p:spPr>
          <a:xfrm>
            <a:off x="5385439" y="51194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867379" y="5528894"/>
            <a:ext cx="1192955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&amp;</a:t>
            </a:r>
            <a:r>
              <a:rPr lang="ko-KR" altLang="en-US" sz="1200" dirty="0"/>
              <a:t>乙 명의로 </a:t>
            </a:r>
            <a:endParaRPr lang="en-US" altLang="ko-KR" sz="1200" dirty="0"/>
          </a:p>
          <a:p>
            <a:pPr algn="ctr"/>
            <a:r>
              <a:rPr lang="ko-KR" altLang="en-US" sz="1200" dirty="0"/>
              <a:t>은수저 제작방법</a:t>
            </a:r>
            <a:endParaRPr lang="en-US" altLang="ko-KR" sz="1200" dirty="0"/>
          </a:p>
          <a:p>
            <a:pPr algn="ctr"/>
            <a:r>
              <a:rPr lang="ko-KR" altLang="en-US" sz="1200" dirty="0"/>
              <a:t>출원</a:t>
            </a:r>
          </a:p>
        </p:txBody>
      </p:sp>
      <p:cxnSp>
        <p:nvCxnSpPr>
          <p:cNvPr id="85" name="직선 연결선 84"/>
          <p:cNvCxnSpPr>
            <a:stCxn id="84" idx="0"/>
            <a:endCxn id="83" idx="4"/>
          </p:cNvCxnSpPr>
          <p:nvPr/>
        </p:nvCxnSpPr>
        <p:spPr>
          <a:xfrm flipH="1" flipV="1">
            <a:off x="5462808" y="5280790"/>
            <a:ext cx="1049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/>
        </p:nvSpPr>
        <p:spPr>
          <a:xfrm>
            <a:off x="6061714" y="51194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431447" y="6338519"/>
            <a:ext cx="141737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등록 후 丁에게 양도</a:t>
            </a:r>
          </a:p>
        </p:txBody>
      </p:sp>
      <p:cxnSp>
        <p:nvCxnSpPr>
          <p:cNvPr id="90" name="직선 연결선 89"/>
          <p:cNvCxnSpPr>
            <a:stCxn id="89" idx="0"/>
            <a:endCxn id="88" idx="4"/>
          </p:cNvCxnSpPr>
          <p:nvPr/>
        </p:nvCxnSpPr>
        <p:spPr>
          <a:xfrm flipH="1" flipV="1">
            <a:off x="6139083" y="5280790"/>
            <a:ext cx="1052" cy="10577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타원 92"/>
          <p:cNvSpPr/>
          <p:nvPr/>
        </p:nvSpPr>
        <p:spPr>
          <a:xfrm>
            <a:off x="6918964" y="51194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331978" y="5738444"/>
            <a:ext cx="133081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丁이 침해소송제기</a:t>
            </a:r>
          </a:p>
        </p:txBody>
      </p:sp>
      <p:cxnSp>
        <p:nvCxnSpPr>
          <p:cNvPr id="95" name="직선 연결선 94"/>
          <p:cNvCxnSpPr>
            <a:stCxn id="94" idx="0"/>
            <a:endCxn id="93" idx="4"/>
          </p:cNvCxnSpPr>
          <p:nvPr/>
        </p:nvCxnSpPr>
        <p:spPr>
          <a:xfrm flipH="1" flipV="1">
            <a:off x="6996333" y="5280790"/>
            <a:ext cx="1052" cy="45765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/>
          <p:cNvSpPr/>
          <p:nvPr/>
        </p:nvSpPr>
        <p:spPr>
          <a:xfrm>
            <a:off x="7437175" y="5109926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516228" y="4393725"/>
            <a:ext cx="1996634" cy="435251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丙이 선사용권 항변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인정</a:t>
            </a:r>
          </a:p>
        </p:txBody>
      </p:sp>
      <p:cxnSp>
        <p:nvCxnSpPr>
          <p:cNvPr id="98" name="직선 연결선 97"/>
          <p:cNvCxnSpPr>
            <a:stCxn id="97" idx="2"/>
            <a:endCxn id="96" idx="0"/>
          </p:cNvCxnSpPr>
          <p:nvPr/>
        </p:nvCxnSpPr>
        <p:spPr>
          <a:xfrm flipH="1">
            <a:off x="7514544" y="4828976"/>
            <a:ext cx="1" cy="2809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ine 5">
            <a:extLst>
              <a:ext uri="{FF2B5EF4-FFF2-40B4-BE49-F238E27FC236}">
                <a16:creationId xmlns:a16="http://schemas.microsoft.com/office/drawing/2014/main" id="{D02D6E3A-674D-4044-96AC-E4C6BCEE5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685" y="2792358"/>
            <a:ext cx="1064508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B0F4E26-F08C-45E3-B156-899D43679781}"/>
              </a:ext>
            </a:extLst>
          </p:cNvPr>
          <p:cNvSpPr/>
          <p:nvPr/>
        </p:nvSpPr>
        <p:spPr>
          <a:xfrm>
            <a:off x="1893625" y="271752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777942-14B1-43C9-AECA-C14E0E9C126C}"/>
              </a:ext>
            </a:extLst>
          </p:cNvPr>
          <p:cNvSpPr txBox="1"/>
          <p:nvPr/>
        </p:nvSpPr>
        <p:spPr>
          <a:xfrm>
            <a:off x="1651279" y="3126964"/>
            <a:ext cx="641521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 발명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1BA0C3C-C4C4-44C9-9910-1389E6CB5555}"/>
              </a:ext>
            </a:extLst>
          </p:cNvPr>
          <p:cNvCxnSpPr>
            <a:stCxn id="49" idx="0"/>
            <a:endCxn id="48" idx="4"/>
          </p:cNvCxnSpPr>
          <p:nvPr/>
        </p:nvCxnSpPr>
        <p:spPr>
          <a:xfrm flipH="1" flipV="1">
            <a:off x="1970994" y="2878860"/>
            <a:ext cx="1046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타원 85">
            <a:extLst>
              <a:ext uri="{FF2B5EF4-FFF2-40B4-BE49-F238E27FC236}">
                <a16:creationId xmlns:a16="http://schemas.microsoft.com/office/drawing/2014/main" id="{BEBD22BC-CE43-4FA1-BD02-36DB31E1E18E}"/>
              </a:ext>
            </a:extLst>
          </p:cNvPr>
          <p:cNvSpPr/>
          <p:nvPr/>
        </p:nvSpPr>
        <p:spPr>
          <a:xfrm>
            <a:off x="3208172" y="271752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453EAA0-942D-4488-BED5-0B26BCEAEEAF}"/>
              </a:ext>
            </a:extLst>
          </p:cNvPr>
          <p:cNvSpPr txBox="1"/>
          <p:nvPr/>
        </p:nvSpPr>
        <p:spPr>
          <a:xfrm>
            <a:off x="2521086" y="3126964"/>
            <a:ext cx="151195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乙이 甲으로부터 지득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FA36C7B6-4F15-4CBD-9EB0-E6ABB2B691DE}"/>
              </a:ext>
            </a:extLst>
          </p:cNvPr>
          <p:cNvCxnSpPr>
            <a:cxnSpLocks/>
            <a:endCxn id="86" idx="4"/>
          </p:cNvCxnSpPr>
          <p:nvPr/>
        </p:nvCxnSpPr>
        <p:spPr>
          <a:xfrm flipH="1" flipV="1">
            <a:off x="3285541" y="2878860"/>
            <a:ext cx="1047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A26086D2-BE54-47CD-AAAB-C8271877A61C}"/>
              </a:ext>
            </a:extLst>
          </p:cNvPr>
          <p:cNvSpPr/>
          <p:nvPr/>
        </p:nvSpPr>
        <p:spPr>
          <a:xfrm>
            <a:off x="5045666" y="271752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C4AF152-46FA-417B-9494-3FEBBA72149E}"/>
              </a:ext>
            </a:extLst>
          </p:cNvPr>
          <p:cNvSpPr txBox="1"/>
          <p:nvPr/>
        </p:nvSpPr>
        <p:spPr>
          <a:xfrm>
            <a:off x="4228364" y="3126964"/>
            <a:ext cx="177238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乙이 국내에서 </a:t>
            </a:r>
            <a:endParaRPr lang="en-US" altLang="ko-KR" sz="1200" dirty="0"/>
          </a:p>
          <a:p>
            <a:pPr algn="ctr"/>
            <a:r>
              <a:rPr lang="ko-KR" altLang="en-US" sz="1200" dirty="0"/>
              <a:t>실시사업 또는 사업준비</a:t>
            </a: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63E59C04-8F57-4256-8366-589D2B002C10}"/>
              </a:ext>
            </a:extLst>
          </p:cNvPr>
          <p:cNvCxnSpPr>
            <a:cxnSpLocks/>
            <a:endCxn id="92" idx="4"/>
          </p:cNvCxnSpPr>
          <p:nvPr/>
        </p:nvCxnSpPr>
        <p:spPr>
          <a:xfrm flipH="1" flipV="1">
            <a:off x="5123035" y="2878860"/>
            <a:ext cx="1047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AD998DB3-BB60-48E3-861C-658000689A38}"/>
              </a:ext>
            </a:extLst>
          </p:cNvPr>
          <p:cNvSpPr/>
          <p:nvPr/>
        </p:nvSpPr>
        <p:spPr>
          <a:xfrm>
            <a:off x="6332733" y="271752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9CE25EE-EB40-4151-8C55-C25FCC1E555B}"/>
              </a:ext>
            </a:extLst>
          </p:cNvPr>
          <p:cNvSpPr txBox="1"/>
          <p:nvPr/>
        </p:nvSpPr>
        <p:spPr>
          <a:xfrm>
            <a:off x="6090386" y="3126964"/>
            <a:ext cx="64152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186C0828-5CFB-4338-A5CE-9FD9AABD0D21}"/>
              </a:ext>
            </a:extLst>
          </p:cNvPr>
          <p:cNvCxnSpPr>
            <a:stCxn id="102" idx="0"/>
            <a:endCxn id="101" idx="4"/>
          </p:cNvCxnSpPr>
          <p:nvPr/>
        </p:nvCxnSpPr>
        <p:spPr>
          <a:xfrm flipH="1" flipV="1">
            <a:off x="6410102" y="2878860"/>
            <a:ext cx="1045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타원 103">
            <a:extLst>
              <a:ext uri="{FF2B5EF4-FFF2-40B4-BE49-F238E27FC236}">
                <a16:creationId xmlns:a16="http://schemas.microsoft.com/office/drawing/2014/main" id="{201E3B5A-D69C-4F8A-B51F-79C9D6B56DCA}"/>
              </a:ext>
            </a:extLst>
          </p:cNvPr>
          <p:cNvSpPr/>
          <p:nvPr/>
        </p:nvSpPr>
        <p:spPr>
          <a:xfrm>
            <a:off x="7098223" y="271752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278B48A-BCB9-4E18-8A25-C2CA36195CD1}"/>
              </a:ext>
            </a:extLst>
          </p:cNvPr>
          <p:cNvSpPr txBox="1"/>
          <p:nvPr/>
        </p:nvSpPr>
        <p:spPr>
          <a:xfrm>
            <a:off x="6855876" y="3126964"/>
            <a:ext cx="64152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 등록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436F8EB8-41AF-4E12-8557-38EA9A99AF07}"/>
              </a:ext>
            </a:extLst>
          </p:cNvPr>
          <p:cNvCxnSpPr>
            <a:stCxn id="105" idx="0"/>
            <a:endCxn id="104" idx="4"/>
          </p:cNvCxnSpPr>
          <p:nvPr/>
        </p:nvCxnSpPr>
        <p:spPr>
          <a:xfrm flipH="1" flipV="1">
            <a:off x="7175592" y="2878860"/>
            <a:ext cx="1045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타원 106">
            <a:extLst>
              <a:ext uri="{FF2B5EF4-FFF2-40B4-BE49-F238E27FC236}">
                <a16:creationId xmlns:a16="http://schemas.microsoft.com/office/drawing/2014/main" id="{47A341BC-A396-4C77-AE65-0EC204EB3410}"/>
              </a:ext>
            </a:extLst>
          </p:cNvPr>
          <p:cNvSpPr/>
          <p:nvPr/>
        </p:nvSpPr>
        <p:spPr>
          <a:xfrm>
            <a:off x="10087247" y="271752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6E5F19E-C59D-41C4-9A2C-02F68CC3CBE9}"/>
              </a:ext>
            </a:extLst>
          </p:cNvPr>
          <p:cNvSpPr txBox="1"/>
          <p:nvPr/>
        </p:nvSpPr>
        <p:spPr>
          <a:xfrm>
            <a:off x="9079059" y="3098389"/>
            <a:ext cx="2154158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乙이 선사용권 항변</a:t>
            </a:r>
            <a:r>
              <a:rPr lang="en-US" altLang="ko-KR" sz="1400" dirty="0">
                <a:solidFill>
                  <a:schemeClr val="bg1"/>
                </a:solidFill>
              </a:rPr>
              <a:t>: </a:t>
            </a:r>
            <a:r>
              <a:rPr lang="ko-KR" altLang="en-US" sz="1400" dirty="0">
                <a:solidFill>
                  <a:schemeClr val="bg1"/>
                </a:solidFill>
              </a:rPr>
              <a:t>불인정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3503E16-6420-47F1-ADB6-D6379C20DBD0}"/>
              </a:ext>
            </a:extLst>
          </p:cNvPr>
          <p:cNvCxnSpPr>
            <a:cxnSpLocks/>
            <a:endCxn id="107" idx="4"/>
          </p:cNvCxnSpPr>
          <p:nvPr/>
        </p:nvCxnSpPr>
        <p:spPr>
          <a:xfrm flipH="1" flipV="1">
            <a:off x="10164616" y="2878860"/>
            <a:ext cx="1047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타원 109">
            <a:extLst>
              <a:ext uri="{FF2B5EF4-FFF2-40B4-BE49-F238E27FC236}">
                <a16:creationId xmlns:a16="http://schemas.microsoft.com/office/drawing/2014/main" id="{A4009CD6-DF7B-4CE0-899B-7B13B6351B10}"/>
              </a:ext>
            </a:extLst>
          </p:cNvPr>
          <p:cNvSpPr/>
          <p:nvPr/>
        </p:nvSpPr>
        <p:spPr>
          <a:xfrm>
            <a:off x="8157819" y="271752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3AFA59-A509-4389-B229-33DA46AD16A6}"/>
              </a:ext>
            </a:extLst>
          </p:cNvPr>
          <p:cNvSpPr txBox="1"/>
          <p:nvPr/>
        </p:nvSpPr>
        <p:spPr>
          <a:xfrm>
            <a:off x="7639756" y="3126964"/>
            <a:ext cx="119295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 침해소송제기</a:t>
            </a: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47224C3A-83B2-4BB2-AB64-F223DD9ADC51}"/>
              </a:ext>
            </a:extLst>
          </p:cNvPr>
          <p:cNvCxnSpPr>
            <a:stCxn id="111" idx="0"/>
            <a:endCxn id="110" idx="4"/>
          </p:cNvCxnSpPr>
          <p:nvPr/>
        </p:nvCxnSpPr>
        <p:spPr>
          <a:xfrm flipH="1" flipV="1">
            <a:off x="8235188" y="2878860"/>
            <a:ext cx="1046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AF33929-F3EA-4E0E-91CD-B32E79A34C69}"/>
              </a:ext>
            </a:extLst>
          </p:cNvPr>
          <p:cNvSpPr txBox="1"/>
          <p:nvPr/>
        </p:nvSpPr>
        <p:spPr>
          <a:xfrm>
            <a:off x="9076588" y="3556246"/>
            <a:ext cx="2154157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乙이 발명한 甲으로부터 알게 됨</a:t>
            </a:r>
            <a:endParaRPr lang="en-US" altLang="ko-KR" sz="1200" dirty="0"/>
          </a:p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같은 발명루트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8FE8A99-5FA9-42D5-AE5B-FC567E571BCA}"/>
              </a:ext>
            </a:extLst>
          </p:cNvPr>
          <p:cNvCxnSpPr>
            <a:stCxn id="113" idx="0"/>
            <a:endCxn id="108" idx="2"/>
          </p:cNvCxnSpPr>
          <p:nvPr/>
        </p:nvCxnSpPr>
        <p:spPr>
          <a:xfrm flipV="1">
            <a:off x="10153667" y="3406166"/>
            <a:ext cx="2471" cy="1500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DE602E27-B11A-401A-9A33-917DA060930F}"/>
              </a:ext>
            </a:extLst>
          </p:cNvPr>
          <p:cNvSpPr txBox="1"/>
          <p:nvPr/>
        </p:nvSpPr>
        <p:spPr>
          <a:xfrm>
            <a:off x="9076588" y="5448922"/>
            <a:ext cx="2835439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dirty="0"/>
              <a:t>丙은 </a:t>
            </a:r>
            <a:r>
              <a:rPr lang="ko-KR" altLang="en-US" sz="1200" dirty="0" err="1"/>
              <a:t>특허출원된</a:t>
            </a:r>
            <a:r>
              <a:rPr lang="ko-KR" altLang="en-US" sz="1200" dirty="0"/>
              <a:t> 발명의 내용을 알지 못하고 스스로 발명한 자에 해당함</a:t>
            </a:r>
            <a:endParaRPr lang="en-US" altLang="ko-KR" sz="1200" dirty="0"/>
          </a:p>
          <a:p>
            <a:pPr algn="just"/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정당한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권리자가 실시사업 또는 </a:t>
            </a:r>
            <a:r>
              <a:rPr lang="ko-KR" altLang="en-US" sz="1200" dirty="0" err="1">
                <a:solidFill>
                  <a:srgbClr val="FF0000"/>
                </a:solidFill>
              </a:rPr>
              <a:t>사업준비하고</a:t>
            </a:r>
            <a:r>
              <a:rPr lang="ko-KR" altLang="en-US" sz="1200" dirty="0">
                <a:solidFill>
                  <a:srgbClr val="FF0000"/>
                </a:solidFill>
              </a:rPr>
              <a:t> 있는데 무권리자가 출원하여 착오로 등록된 경우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F450E51C-47B0-41ED-A463-62D9BE7A242A}"/>
              </a:ext>
            </a:extLst>
          </p:cNvPr>
          <p:cNvSpPr/>
          <p:nvPr/>
        </p:nvSpPr>
        <p:spPr>
          <a:xfrm>
            <a:off x="247650" y="3590925"/>
            <a:ext cx="11868150" cy="485775"/>
          </a:xfrm>
          <a:custGeom>
            <a:avLst/>
            <a:gdLst>
              <a:gd name="connsiteX0" fmla="*/ 11868150 w 11868150"/>
              <a:gd name="connsiteY0" fmla="*/ 485775 h 485775"/>
              <a:gd name="connsiteX1" fmla="*/ 3162300 w 11868150"/>
              <a:gd name="connsiteY1" fmla="*/ 485775 h 485775"/>
              <a:gd name="connsiteX2" fmla="*/ 3162300 w 11868150"/>
              <a:gd name="connsiteY2" fmla="*/ 0 h 485775"/>
              <a:gd name="connsiteX3" fmla="*/ 0 w 11868150"/>
              <a:gd name="connsiteY3" fmla="*/ 0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68150" h="485775">
                <a:moveTo>
                  <a:pt x="11868150" y="485775"/>
                </a:moveTo>
                <a:lnTo>
                  <a:pt x="3162300" y="485775"/>
                </a:lnTo>
                <a:lnTo>
                  <a:pt x="3162300" y="0"/>
                </a:lnTo>
                <a:lnTo>
                  <a:pt x="0" y="0"/>
                </a:lnTo>
              </a:path>
            </a:pathLst>
          </a:cu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069FC632-8C01-42A0-A117-D77FDA118CAA}"/>
              </a:ext>
            </a:extLst>
          </p:cNvPr>
          <p:cNvCxnSpPr>
            <a:cxnSpLocks/>
            <a:stCxn id="97" idx="3"/>
            <a:endCxn id="114" idx="1"/>
          </p:cNvCxnSpPr>
          <p:nvPr/>
        </p:nvCxnSpPr>
        <p:spPr>
          <a:xfrm>
            <a:off x="8512862" y="4611351"/>
            <a:ext cx="563726" cy="134540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37561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재정에 의한 통상실시권의 요건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0" y="643142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875" y="986046"/>
            <a:ext cx="1193632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107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200" b="1" dirty="0" err="1">
                <a:solidFill>
                  <a:schemeClr val="accent1"/>
                </a:solidFill>
                <a:latin typeface="+mn-ea"/>
              </a:rPr>
              <a:t>통상실시권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 설정의 재정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accent1"/>
                </a:solidFill>
                <a:latin typeface="+mn-ea"/>
              </a:rPr>
              <a:t> 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① 특허발명을 실시하려는 자는 특허발명이 다음 각 호의 어느 하나에 해당하고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 특허발명의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특허권자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또는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전용실시권자와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합리적인 조건으로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통상실시권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허락에 관한 협의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이하 이 조에서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협의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를 하였으나 합의가 이루어지지 아니하는 경우 또는 협의를 할 수 없는 경우에는 지식재산처장에게 통상실시권 설정에 관한 재정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裁定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이하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재정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을 청구할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공공의 이익을 위하여 비상업적으로 실시하려는 경우와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해당하는 경우에는 협의 없이도 재정을 청구할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특허발명이 천재지변이나 그 밖의 불가항력 또는 대통령령으로 정하는 정당한 이유 없이 계속하여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년 이상 국내에서 실시되고 있지 아니한 경우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특허발명이 정당한 이유 없이 계속하여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년 이상 국내에서 상당한 영업적 규모로 실시되고 있지 아니하거나 적당한 정도와 조건으로 국내수요를 충족시키지 못한 경우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특허발명의 실시가 공공의 이익을 위하여 특히 필요한 경우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사법적 절차 또는 행정적 절차에 의하여 불공정거래행위로 판정된 사항을 바로잡기 위하여 특허발명을 실시할 필요가 있는 경우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자국민 다수의 보건을 위협하는 질병을 치료하기 위하여 의약품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의약품 생산에 필요한 유효성분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의약품 사용에 필요한 진단키트를 포함한다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을 수입하려는 국가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이하 이 조에서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수입국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 그 의약품을 수출할 수 있도록 특허발명을 실시할 필요가 있는 경우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특허출원일부터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년이 지나지 아니한 특허발명에 관하여는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 및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호를 적용하지 아니한다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지식재산처장은 재정을 하는 경우 청구별로 통상실시권 설정의 필요성을 검토하여야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지식재산처장은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호부터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호까지 또는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재정을 하는 경우 재정을 받는 자에게 다음 각 호의 조건을 붙여야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호부터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호까지의 규정에 따른 재정의 경우에는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통상실시권을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국내수요충족을 위한 공급을 주목적으로 실시할 것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재정의 경우에는 생산된 의약품 전량을 수입국에 수출할 것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⑤ 지식재산처장은 재정을 하는 경우 상당한 대가가 지급될 수 있도록 하여야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 경우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 또는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재정을 하는 경우에는 다음 각 호의 사항을 대가 결정에 고려할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재정의 경우에는 불공정거래행위를 바로잡기 위한 취지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재정의 경우에는 그 특허발명을 실시함으로써 발생하는 수입국에서의 경제적 가치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⑥ 반도체 기술에 대해서는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공공의 이익을 위하여 비상업적으로 실시하는 경우만 해당한다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또는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호의 경우에만 재정을 청구할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⑦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수입국은 세계무역기구회원국 중 세계무역기구에 다음 각 호의 사항을 통지한 국가 또는 세계무역기구회원국이 아닌 국가 중 대통령령으로 정하는 국가로서 다음 각 호의 사항을 대한민국정부에 통지한 국가의 경우만 해당한다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수입국이 필요로 하는 의약품의 명칭과 수량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국제연합총회의 결의에 따른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최빈개발도상국이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아닌 경우 해당 의약품의 생산을 위한 제조능력이 없거나 부족하다는 수입국의 확인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수입국에서 해당 의약품이 특허된 경우 강제적인 실시를 허락하였거나 허락할 의사가 있다는 그 국가의 확인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⑧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의약품은 다음 각 호의 어느 하나에 해당하는 것으로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특허된 의약품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특허된 제조방법으로 생산된 의약품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의약품 생산에 필요한 특허된 유효성분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의약품 사용에 필요한 특허된 진단키트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⑨ 재정을 청구하는 자가 제출하여야 하는 서류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 밖에 재정에 관하여 필요한 사항은 대통령령으로 정한다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25380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01A41CD-B164-46AC-AFF5-0668AB46ADF2}"/>
              </a:ext>
            </a:extLst>
          </p:cNvPr>
          <p:cNvCxnSpPr>
            <a:stCxn id="6" idx="2"/>
            <a:endCxn id="20" idx="0"/>
          </p:cNvCxnSpPr>
          <p:nvPr/>
        </p:nvCxnSpPr>
        <p:spPr>
          <a:xfrm>
            <a:off x="2034386" y="1461700"/>
            <a:ext cx="0" cy="47783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재정에 의한 통상실시권의 요건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69074"/>
              </p:ext>
            </p:extLst>
          </p:nvPr>
        </p:nvGraphicFramePr>
        <p:xfrm>
          <a:off x="5885572" y="1105721"/>
          <a:ext cx="6032999" cy="535935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72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481">
                  <a:extLst>
                    <a:ext uri="{9D8B030D-6E8A-4147-A177-3AD203B41FA5}">
                      <a16:colId xmlns:a16="http://schemas.microsoft.com/office/drawing/2014/main" val="2011394915"/>
                    </a:ext>
                  </a:extLst>
                </a:gridCol>
                <a:gridCol w="414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61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3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75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571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구분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 err="1"/>
                        <a:t>불실시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불충분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공공의 이익 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공공의 이익 실시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불공정거래행위 시정실시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수입국에 수출실시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kern="1200" dirty="0"/>
                        <a:t>상업적</a:t>
                      </a:r>
                      <a:endParaRPr lang="ko-KR" altLang="en-US" dirty="0"/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상업적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비상업적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협의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○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○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○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/>
                        <a:t>×</a:t>
                      </a:r>
                      <a:endParaRPr 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/>
                        <a:t>×</a:t>
                      </a:r>
                      <a:endParaRPr 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○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기간경과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청구별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검토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7">
                  <a:txBody>
                    <a:bodyPr/>
                    <a:lstStyle/>
                    <a:p>
                      <a:pPr marL="17780" marR="1778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조건부과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5">
                  <a:txBody>
                    <a:bodyPr/>
                    <a:lstStyle/>
                    <a:p>
                      <a:pPr marL="17780" marR="1778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국내수요충족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-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생산된 의약품 전량을 수입국에 수출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4170451065"/>
                  </a:ext>
                </a:extLst>
              </a:tr>
              <a:tr h="8095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대가참작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5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-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불공정거래행위를 바로잡기 위한 취지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그 특허발명을 실시함으로써 발생하는 수입국에서의 경제적 가치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반도체기술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840672937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수입국요건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855940917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의약품요건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422579348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418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C88E31-AA46-4330-8CD3-2D0CAFB2CC4F}"/>
              </a:ext>
            </a:extLst>
          </p:cNvPr>
          <p:cNvSpPr/>
          <p:nvPr/>
        </p:nvSpPr>
        <p:spPr>
          <a:xfrm>
            <a:off x="1526386" y="1175373"/>
            <a:ext cx="1016000" cy="2863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DDCB452-9B47-4E51-97F6-6E179A30C6C6}"/>
              </a:ext>
            </a:extLst>
          </p:cNvPr>
          <p:cNvSpPr/>
          <p:nvPr/>
        </p:nvSpPr>
        <p:spPr>
          <a:xfrm>
            <a:off x="1840422" y="1704972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D41FCB9-FEF3-423F-9906-1F5D6DB667FD}"/>
              </a:ext>
            </a:extLst>
          </p:cNvPr>
          <p:cNvSpPr/>
          <p:nvPr/>
        </p:nvSpPr>
        <p:spPr>
          <a:xfrm>
            <a:off x="1840422" y="2584733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EEAD9C7-D2BC-453D-B5CC-569132EBC517}"/>
              </a:ext>
            </a:extLst>
          </p:cNvPr>
          <p:cNvSpPr/>
          <p:nvPr/>
        </p:nvSpPr>
        <p:spPr>
          <a:xfrm>
            <a:off x="1840422" y="3121258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530C15D-868E-47E0-B2AB-D6F62E4EE623}"/>
              </a:ext>
            </a:extLst>
          </p:cNvPr>
          <p:cNvSpPr/>
          <p:nvPr/>
        </p:nvSpPr>
        <p:spPr>
          <a:xfrm>
            <a:off x="1840422" y="3640803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C8D0F21-F280-4483-9A8E-3C605F4914CB}"/>
              </a:ext>
            </a:extLst>
          </p:cNvPr>
          <p:cNvSpPr/>
          <p:nvPr/>
        </p:nvSpPr>
        <p:spPr>
          <a:xfrm>
            <a:off x="1840422" y="4160348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F3FE96E-8557-4FE0-ACFB-9E606E07BCFC}"/>
              </a:ext>
            </a:extLst>
          </p:cNvPr>
          <p:cNvSpPr/>
          <p:nvPr/>
        </p:nvSpPr>
        <p:spPr>
          <a:xfrm>
            <a:off x="1840422" y="4679893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28007BD-646F-4136-8E7D-8A5D2D7D7110}"/>
              </a:ext>
            </a:extLst>
          </p:cNvPr>
          <p:cNvSpPr/>
          <p:nvPr/>
        </p:nvSpPr>
        <p:spPr>
          <a:xfrm>
            <a:off x="1840422" y="5216418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3770343-1D2F-4959-9250-FECF16D86554}"/>
              </a:ext>
            </a:extLst>
          </p:cNvPr>
          <p:cNvSpPr/>
          <p:nvPr/>
        </p:nvSpPr>
        <p:spPr>
          <a:xfrm>
            <a:off x="1840422" y="5735963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C3A4AA-AF16-41F4-991C-32F5A384144C}"/>
              </a:ext>
            </a:extLst>
          </p:cNvPr>
          <p:cNvSpPr txBox="1"/>
          <p:nvPr/>
        </p:nvSpPr>
        <p:spPr>
          <a:xfrm>
            <a:off x="340705" y="1714270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요건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주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객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3C5F1-F1EE-42B8-8E40-754F9A92C8AE}"/>
              </a:ext>
            </a:extLst>
          </p:cNvPr>
          <p:cNvSpPr txBox="1"/>
          <p:nvPr/>
        </p:nvSpPr>
        <p:spPr>
          <a:xfrm>
            <a:off x="340705" y="2572327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요건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시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75D964-C491-4833-975C-48F3114564E5}"/>
              </a:ext>
            </a:extLst>
          </p:cNvPr>
          <p:cNvSpPr txBox="1"/>
          <p:nvPr/>
        </p:nvSpPr>
        <p:spPr>
          <a:xfrm>
            <a:off x="340705" y="3123692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청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구별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검토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07DE34-1952-46BC-BD46-70C41CCE49FD}"/>
              </a:ext>
            </a:extLst>
          </p:cNvPr>
          <p:cNvSpPr txBox="1"/>
          <p:nvPr/>
        </p:nvSpPr>
        <p:spPr>
          <a:xfrm>
            <a:off x="340705" y="3661575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조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건 부과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759430-49F6-41B9-AE5E-FA5F5C537CC7}"/>
              </a:ext>
            </a:extLst>
          </p:cNvPr>
          <p:cNvSpPr txBox="1"/>
          <p:nvPr/>
        </p:nvSpPr>
        <p:spPr>
          <a:xfrm>
            <a:off x="340705" y="4169646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대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CF0D79A-FD21-47F5-9200-920864F90DD4}"/>
              </a:ext>
            </a:extLst>
          </p:cNvPr>
          <p:cNvSpPr/>
          <p:nvPr/>
        </p:nvSpPr>
        <p:spPr>
          <a:xfrm>
            <a:off x="1840422" y="6240025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5E6F66-6FD5-4BAD-AD6C-16D521487655}"/>
              </a:ext>
            </a:extLst>
          </p:cNvPr>
          <p:cNvSpPr txBox="1"/>
          <p:nvPr/>
        </p:nvSpPr>
        <p:spPr>
          <a:xfrm>
            <a:off x="340705" y="4677717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반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도체 기술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60EE1D-6810-4A15-9C1A-755155CA2E64}"/>
              </a:ext>
            </a:extLst>
          </p:cNvPr>
          <p:cNvSpPr txBox="1"/>
          <p:nvPr/>
        </p:nvSpPr>
        <p:spPr>
          <a:xfrm>
            <a:off x="340705" y="5225716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수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입국 요건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742EEB-E868-42F0-98D7-135B3486597A}"/>
              </a:ext>
            </a:extLst>
          </p:cNvPr>
          <p:cNvSpPr txBox="1"/>
          <p:nvPr/>
        </p:nvSpPr>
        <p:spPr>
          <a:xfrm>
            <a:off x="340705" y="5754559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의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약품 요건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D6262E-26A3-4E22-A95D-7AE1C9006C47}"/>
              </a:ext>
            </a:extLst>
          </p:cNvPr>
          <p:cNvSpPr txBox="1"/>
          <p:nvPr/>
        </p:nvSpPr>
        <p:spPr>
          <a:xfrm>
            <a:off x="340705" y="6240025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절차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서류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CB519BD-D65C-49F4-9F9B-5FAC58EAFBE6}"/>
              </a:ext>
            </a:extLst>
          </p:cNvPr>
          <p:cNvSpPr/>
          <p:nvPr/>
        </p:nvSpPr>
        <p:spPr>
          <a:xfrm>
            <a:off x="3547959" y="889045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587D0C-7E15-4455-B47F-E1AB9EFB65FF}"/>
              </a:ext>
            </a:extLst>
          </p:cNvPr>
          <p:cNvSpPr/>
          <p:nvPr/>
        </p:nvSpPr>
        <p:spPr>
          <a:xfrm>
            <a:off x="3547959" y="1238536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8C280A4-F04F-4204-9EF3-19DB342CBA16}"/>
              </a:ext>
            </a:extLst>
          </p:cNvPr>
          <p:cNvSpPr/>
          <p:nvPr/>
        </p:nvSpPr>
        <p:spPr>
          <a:xfrm>
            <a:off x="3547959" y="1588027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E07602F-EC14-4740-A82C-E5F9DF4D7DA1}"/>
              </a:ext>
            </a:extLst>
          </p:cNvPr>
          <p:cNvSpPr/>
          <p:nvPr/>
        </p:nvSpPr>
        <p:spPr>
          <a:xfrm>
            <a:off x="3547959" y="1937520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3D11B1-43DE-4342-8E24-41C4709F4069}"/>
              </a:ext>
            </a:extLst>
          </p:cNvPr>
          <p:cNvSpPr/>
          <p:nvPr/>
        </p:nvSpPr>
        <p:spPr>
          <a:xfrm>
            <a:off x="3547959" y="2287011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28EC5DE7-2CF8-4AFB-BD59-9D10C403188C}"/>
              </a:ext>
            </a:extLst>
          </p:cNvPr>
          <p:cNvCxnSpPr>
            <a:stCxn id="7" idx="6"/>
            <a:endCxn id="28" idx="1"/>
          </p:cNvCxnSpPr>
          <p:nvPr/>
        </p:nvCxnSpPr>
        <p:spPr>
          <a:xfrm flipV="1">
            <a:off x="2228350" y="1041445"/>
            <a:ext cx="1319609" cy="85749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CC1CDE20-00C4-4314-9712-6B3EECEFED93}"/>
              </a:ext>
            </a:extLst>
          </p:cNvPr>
          <p:cNvCxnSpPr>
            <a:cxnSpLocks/>
            <a:stCxn id="7" idx="6"/>
            <a:endCxn id="29" idx="1"/>
          </p:cNvCxnSpPr>
          <p:nvPr/>
        </p:nvCxnSpPr>
        <p:spPr>
          <a:xfrm flipV="1">
            <a:off x="2228350" y="1390936"/>
            <a:ext cx="1319609" cy="5080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96DD905A-4186-40DA-BC17-75643C3D0922}"/>
              </a:ext>
            </a:extLst>
          </p:cNvPr>
          <p:cNvCxnSpPr>
            <a:cxnSpLocks/>
            <a:stCxn id="7" idx="6"/>
            <a:endCxn id="30" idx="1"/>
          </p:cNvCxnSpPr>
          <p:nvPr/>
        </p:nvCxnSpPr>
        <p:spPr>
          <a:xfrm flipV="1">
            <a:off x="2228350" y="1740427"/>
            <a:ext cx="1319609" cy="1585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15ECCAC5-C8FA-40E1-B3E0-FB45390F736D}"/>
              </a:ext>
            </a:extLst>
          </p:cNvPr>
          <p:cNvCxnSpPr>
            <a:cxnSpLocks/>
            <a:stCxn id="7" idx="6"/>
            <a:endCxn id="31" idx="1"/>
          </p:cNvCxnSpPr>
          <p:nvPr/>
        </p:nvCxnSpPr>
        <p:spPr>
          <a:xfrm>
            <a:off x="2228350" y="1898936"/>
            <a:ext cx="1319609" cy="1909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B603DE00-E5D8-4448-BD83-F2E938C32F1D}"/>
              </a:ext>
            </a:extLst>
          </p:cNvPr>
          <p:cNvCxnSpPr>
            <a:cxnSpLocks/>
            <a:stCxn id="7" idx="6"/>
            <a:endCxn id="32" idx="1"/>
          </p:cNvCxnSpPr>
          <p:nvPr/>
        </p:nvCxnSpPr>
        <p:spPr>
          <a:xfrm>
            <a:off x="2228350" y="1898936"/>
            <a:ext cx="1319609" cy="5404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D0597F9-F826-4FB2-B2B3-0B3E67C507D4}"/>
              </a:ext>
            </a:extLst>
          </p:cNvPr>
          <p:cNvSpPr/>
          <p:nvPr/>
        </p:nvSpPr>
        <p:spPr>
          <a:xfrm>
            <a:off x="3866618" y="2624130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87136E7-43DB-48B6-A065-EE19F0F8A57C}"/>
              </a:ext>
            </a:extLst>
          </p:cNvPr>
          <p:cNvSpPr/>
          <p:nvPr/>
        </p:nvSpPr>
        <p:spPr>
          <a:xfrm>
            <a:off x="4212981" y="2627828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F6E5099D-D248-4C82-8286-68F988A058F5}"/>
              </a:ext>
            </a:extLst>
          </p:cNvPr>
          <p:cNvCxnSpPr>
            <a:cxnSpLocks/>
            <a:stCxn id="8" idx="6"/>
            <a:endCxn id="51" idx="1"/>
          </p:cNvCxnSpPr>
          <p:nvPr/>
        </p:nvCxnSpPr>
        <p:spPr>
          <a:xfrm flipV="1">
            <a:off x="2228350" y="2776530"/>
            <a:ext cx="1638268" cy="21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F21BB12-4B2F-4EE7-AFAE-DE981FA394E9}"/>
              </a:ext>
            </a:extLst>
          </p:cNvPr>
          <p:cNvSpPr/>
          <p:nvPr/>
        </p:nvSpPr>
        <p:spPr>
          <a:xfrm>
            <a:off x="3866618" y="3653225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6724386-5254-4B87-8804-6FA4F87ADE22}"/>
              </a:ext>
            </a:extLst>
          </p:cNvPr>
          <p:cNvSpPr/>
          <p:nvPr/>
        </p:nvSpPr>
        <p:spPr>
          <a:xfrm>
            <a:off x="4212981" y="3656923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9AA81ED9-5358-4CAA-9633-3CB720A767B2}"/>
              </a:ext>
            </a:extLst>
          </p:cNvPr>
          <p:cNvCxnSpPr>
            <a:cxnSpLocks/>
            <a:endCxn id="89" idx="1"/>
          </p:cNvCxnSpPr>
          <p:nvPr/>
        </p:nvCxnSpPr>
        <p:spPr>
          <a:xfrm flipV="1">
            <a:off x="2228350" y="3805625"/>
            <a:ext cx="1638268" cy="21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75B5541-DD66-419B-AEAA-E9F97431818C}"/>
              </a:ext>
            </a:extLst>
          </p:cNvPr>
          <p:cNvSpPr/>
          <p:nvPr/>
        </p:nvSpPr>
        <p:spPr>
          <a:xfrm>
            <a:off x="4547204" y="3655857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49616D3-E843-46FA-9E2F-0498F1E15B1D}"/>
              </a:ext>
            </a:extLst>
          </p:cNvPr>
          <p:cNvSpPr/>
          <p:nvPr/>
        </p:nvSpPr>
        <p:spPr>
          <a:xfrm>
            <a:off x="5207606" y="3650919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213AED0C-4421-4B5F-87EE-9D40B7CC06FA}"/>
              </a:ext>
            </a:extLst>
          </p:cNvPr>
          <p:cNvCxnSpPr>
            <a:cxnSpLocks/>
            <a:endCxn id="99" idx="1"/>
          </p:cNvCxnSpPr>
          <p:nvPr/>
        </p:nvCxnSpPr>
        <p:spPr>
          <a:xfrm flipV="1">
            <a:off x="2228350" y="4359675"/>
            <a:ext cx="2651364" cy="20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2830F70-E8AC-4961-85ED-FEEE55F0D65C}"/>
              </a:ext>
            </a:extLst>
          </p:cNvPr>
          <p:cNvSpPr/>
          <p:nvPr/>
        </p:nvSpPr>
        <p:spPr>
          <a:xfrm>
            <a:off x="4879714" y="4207275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8862032-2C6D-4665-A1FE-395B3002C233}"/>
              </a:ext>
            </a:extLst>
          </p:cNvPr>
          <p:cNvSpPr/>
          <p:nvPr/>
        </p:nvSpPr>
        <p:spPr>
          <a:xfrm>
            <a:off x="5207606" y="4204811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9EE04DB7-2622-4301-838D-D1A7CED354D9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2228350" y="4879063"/>
            <a:ext cx="2318854" cy="4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115DC67-DA8F-46A2-8E9A-B84A69636B48}"/>
              </a:ext>
            </a:extLst>
          </p:cNvPr>
          <p:cNvSpPr/>
          <p:nvPr/>
        </p:nvSpPr>
        <p:spPr>
          <a:xfrm>
            <a:off x="4547204" y="4727127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69304A84-4F70-4A40-B569-3AADCDADAB92}"/>
              </a:ext>
            </a:extLst>
          </p:cNvPr>
          <p:cNvSpPr/>
          <p:nvPr/>
        </p:nvSpPr>
        <p:spPr>
          <a:xfrm>
            <a:off x="4879714" y="4724653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6077BC83-B9CF-4013-82CB-46AE06EB47AD}"/>
              </a:ext>
            </a:extLst>
          </p:cNvPr>
          <p:cNvCxnSpPr>
            <a:cxnSpLocks/>
            <a:endCxn id="112" idx="1"/>
          </p:cNvCxnSpPr>
          <p:nvPr/>
        </p:nvCxnSpPr>
        <p:spPr>
          <a:xfrm flipV="1">
            <a:off x="2228350" y="5380243"/>
            <a:ext cx="2979256" cy="44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2B3ED78-A8AC-4AA0-A77F-4B240CA5045D}"/>
              </a:ext>
            </a:extLst>
          </p:cNvPr>
          <p:cNvSpPr/>
          <p:nvPr/>
        </p:nvSpPr>
        <p:spPr>
          <a:xfrm>
            <a:off x="5207606" y="5227843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E387E7EB-9AC6-4CBD-974C-01325A5F212C}"/>
              </a:ext>
            </a:extLst>
          </p:cNvPr>
          <p:cNvCxnSpPr>
            <a:cxnSpLocks/>
            <a:endCxn id="118" idx="1"/>
          </p:cNvCxnSpPr>
          <p:nvPr/>
        </p:nvCxnSpPr>
        <p:spPr>
          <a:xfrm flipV="1">
            <a:off x="2228350" y="5915684"/>
            <a:ext cx="2979256" cy="44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8CEFB60-6F7F-45D8-89CC-6D2D56C15688}"/>
              </a:ext>
            </a:extLst>
          </p:cNvPr>
          <p:cNvSpPr/>
          <p:nvPr/>
        </p:nvSpPr>
        <p:spPr>
          <a:xfrm>
            <a:off x="5207606" y="5763284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409845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양쪽 모서리가 둥근 사각형 33"/>
          <p:cNvSpPr/>
          <p:nvPr/>
        </p:nvSpPr>
        <p:spPr>
          <a:xfrm>
            <a:off x="9760663" y="2576401"/>
            <a:ext cx="2021762" cy="614474"/>
          </a:xfrm>
          <a:prstGeom prst="round2SameRect">
            <a:avLst>
              <a:gd name="adj1" fmla="val 0"/>
              <a:gd name="adj2" fmla="val 50000"/>
            </a:avLst>
          </a:prstGeom>
          <a:pattFill prst="wdDn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재정청구가능</a:t>
            </a:r>
          </a:p>
        </p:txBody>
      </p:sp>
      <p:sp>
        <p:nvSpPr>
          <p:cNvPr id="32" name="양쪽 모서리가 둥근 사각형 31"/>
          <p:cNvSpPr/>
          <p:nvPr/>
        </p:nvSpPr>
        <p:spPr>
          <a:xfrm>
            <a:off x="6398337" y="2576401"/>
            <a:ext cx="3343275" cy="928799"/>
          </a:xfrm>
          <a:prstGeom prst="round2SameRect">
            <a:avLst>
              <a:gd name="adj1" fmla="val 0"/>
              <a:gd name="adj2" fmla="val 24172"/>
            </a:avLst>
          </a:prstGeom>
          <a:pattFill prst="dkVert">
            <a:fgClr>
              <a:schemeClr val="accent4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양쪽 모서리가 둥근 사각형 29"/>
          <p:cNvSpPr/>
          <p:nvPr/>
        </p:nvSpPr>
        <p:spPr>
          <a:xfrm>
            <a:off x="2959568" y="2576401"/>
            <a:ext cx="5096120" cy="614474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097161" y="2574913"/>
            <a:ext cx="1036141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755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2010.04.27</a:t>
            </a:r>
            <a:endParaRPr lang="ko-KR" alt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2419105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2011.04.27</a:t>
            </a:r>
            <a:endParaRPr lang="ko-KR" alt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4105030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2012.04.27</a:t>
            </a:r>
            <a:endParaRPr lang="ko-KR" alt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5783853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2013.04.27</a:t>
            </a:r>
            <a:endParaRPr lang="ko-KR" alt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7441203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2015.04.27</a:t>
            </a:r>
            <a:endParaRPr lang="ko-KR" alt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9127128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2016.04.27</a:t>
            </a:r>
            <a:endParaRPr lang="ko-KR" alt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761755" y="1782849"/>
            <a:ext cx="122897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/>
              <a:t>일본출원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cxnSp>
        <p:nvCxnSpPr>
          <p:cNvPr id="3" name="직선 화살표 연결선 2"/>
          <p:cNvCxnSpPr>
            <a:stCxn id="20" idx="2"/>
            <a:endCxn id="8" idx="0"/>
          </p:cNvCxnSpPr>
          <p:nvPr/>
        </p:nvCxnSpPr>
        <p:spPr>
          <a:xfrm>
            <a:off x="1376240" y="2090626"/>
            <a:ext cx="0" cy="3303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19105" y="1782849"/>
            <a:ext cx="122897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/>
              <a:t>한국출원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cxnSp>
        <p:nvCxnSpPr>
          <p:cNvPr id="22" name="직선 화살표 연결선 21"/>
          <p:cNvCxnSpPr>
            <a:stCxn id="21" idx="2"/>
          </p:cNvCxnSpPr>
          <p:nvPr/>
        </p:nvCxnSpPr>
        <p:spPr>
          <a:xfrm>
            <a:off x="3033590" y="2090626"/>
            <a:ext cx="0" cy="3303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19105" y="1475072"/>
            <a:ext cx="122897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조약우선권주장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3853" y="1782849"/>
            <a:ext cx="122897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/>
              <a:t>한국등록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cxnSp>
        <p:nvCxnSpPr>
          <p:cNvPr id="25" name="직선 화살표 연결선 24"/>
          <p:cNvCxnSpPr>
            <a:stCxn id="24" idx="2"/>
          </p:cNvCxnSpPr>
          <p:nvPr/>
        </p:nvCxnSpPr>
        <p:spPr>
          <a:xfrm>
            <a:off x="6398338" y="2090626"/>
            <a:ext cx="0" cy="3303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자유형 26"/>
          <p:cNvSpPr/>
          <p:nvPr/>
        </p:nvSpPr>
        <p:spPr>
          <a:xfrm>
            <a:off x="4733925" y="1419225"/>
            <a:ext cx="6543675" cy="1000125"/>
          </a:xfrm>
          <a:custGeom>
            <a:avLst/>
            <a:gdLst>
              <a:gd name="connsiteX0" fmla="*/ 0 w 6543675"/>
              <a:gd name="connsiteY0" fmla="*/ 1000125 h 1000125"/>
              <a:gd name="connsiteX1" fmla="*/ 0 w 6543675"/>
              <a:gd name="connsiteY1" fmla="*/ 0 h 1000125"/>
              <a:gd name="connsiteX2" fmla="*/ 209550 w 6543675"/>
              <a:gd name="connsiteY2" fmla="*/ 0 h 1000125"/>
              <a:gd name="connsiteX3" fmla="*/ 6543675 w 6543675"/>
              <a:gd name="connsiteY3" fmla="*/ 0 h 100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43675" h="1000125">
                <a:moveTo>
                  <a:pt x="0" y="1000125"/>
                </a:moveTo>
                <a:lnTo>
                  <a:pt x="0" y="0"/>
                </a:lnTo>
                <a:lnTo>
                  <a:pt x="209550" y="0"/>
                </a:lnTo>
                <a:lnTo>
                  <a:pt x="6543675" y="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7012823" y="1111448"/>
            <a:ext cx="122897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 err="1"/>
              <a:t>불실시</a:t>
            </a:r>
            <a:endParaRPr lang="ko-KR" alt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4581525" y="3197423"/>
            <a:ext cx="150495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/>
              <a:t>출원일로부터 </a:t>
            </a:r>
            <a:r>
              <a:rPr lang="en-US" altLang="ko-KR" sz="1400" dirty="0"/>
              <a:t>4</a:t>
            </a:r>
            <a:r>
              <a:rPr lang="ko-KR" altLang="en-US" sz="1400" dirty="0"/>
              <a:t>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4824" y="3524250"/>
            <a:ext cx="299963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특허발명을 계속하여 </a:t>
            </a:r>
            <a:r>
              <a:rPr lang="en-US" altLang="ko-KR" sz="1400" dirty="0"/>
              <a:t>3</a:t>
            </a:r>
            <a:r>
              <a:rPr lang="ko-KR" altLang="en-US" sz="1400" dirty="0"/>
              <a:t>년 이상 </a:t>
            </a:r>
            <a:r>
              <a:rPr lang="ko-KR" altLang="en-US" sz="1400" dirty="0" err="1"/>
              <a:t>불실시</a:t>
            </a:r>
            <a:endParaRPr lang="ko-KR" altLang="en-US" sz="1400" dirty="0"/>
          </a:p>
        </p:txBody>
      </p:sp>
      <p:sp>
        <p:nvSpPr>
          <p:cNvPr id="35" name="직사각형 34"/>
          <p:cNvSpPr/>
          <p:nvPr/>
        </p:nvSpPr>
        <p:spPr>
          <a:xfrm>
            <a:off x="11458575" y="2255825"/>
            <a:ext cx="457200" cy="1182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2402205" y="4448816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소급제도</a:t>
            </a:r>
            <a:endParaRPr lang="en-US" altLang="ko-KR" sz="1050" dirty="0"/>
          </a:p>
          <a:p>
            <a:pPr algn="ctr"/>
            <a:r>
              <a:rPr lang="en-US" altLang="ko-KR" sz="1050" dirty="0"/>
              <a:t>(6</a:t>
            </a:r>
            <a:r>
              <a:rPr lang="ko-KR" altLang="en-US" sz="1050" dirty="0"/>
              <a:t>가지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37" name="직사각형 36"/>
          <p:cNvSpPr/>
          <p:nvPr/>
        </p:nvSpPr>
        <p:spPr>
          <a:xfrm>
            <a:off x="2402205" y="6082597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PCT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547877" y="3778447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34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35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547877" y="451673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547877" y="5257516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53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547877" y="4145412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3547877" y="563779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54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 err="1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공존</a:t>
            </a:r>
            <a:r>
              <a:rPr lang="ko-KR" altLang="en-US" sz="1050" dirty="0" err="1">
                <a:solidFill>
                  <a:srgbClr val="FF0000"/>
                </a:solidFill>
              </a:rPr>
              <a:t>재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547877" y="6009124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55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56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공존</a:t>
            </a:r>
            <a:r>
              <a:rPr lang="ko-KR" altLang="en-US" sz="1050" dirty="0">
                <a:solidFill>
                  <a:srgbClr val="FF0000"/>
                </a:solidFill>
              </a:rPr>
              <a:t>재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등이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4" name="꺾인 연결선 43"/>
          <p:cNvCxnSpPr>
            <a:stCxn id="36" idx="3"/>
            <a:endCxn id="38" idx="1"/>
          </p:cNvCxnSpPr>
          <p:nvPr/>
        </p:nvCxnSpPr>
        <p:spPr>
          <a:xfrm flipV="1">
            <a:off x="3197733" y="3944823"/>
            <a:ext cx="350144" cy="6968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6" idx="3"/>
            <a:endCxn id="43" idx="1"/>
          </p:cNvCxnSpPr>
          <p:nvPr/>
        </p:nvCxnSpPr>
        <p:spPr>
          <a:xfrm>
            <a:off x="3197733" y="4641630"/>
            <a:ext cx="350144" cy="15338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36" idx="3"/>
            <a:endCxn id="41" idx="1"/>
          </p:cNvCxnSpPr>
          <p:nvPr/>
        </p:nvCxnSpPr>
        <p:spPr>
          <a:xfrm flipV="1">
            <a:off x="3197733" y="4311788"/>
            <a:ext cx="350144" cy="3298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36" idx="3"/>
            <a:endCxn id="42" idx="1"/>
          </p:cNvCxnSpPr>
          <p:nvPr/>
        </p:nvCxnSpPr>
        <p:spPr>
          <a:xfrm>
            <a:off x="3197733" y="4641630"/>
            <a:ext cx="350144" cy="11625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6" idx="3"/>
            <a:endCxn id="39" idx="1"/>
          </p:cNvCxnSpPr>
          <p:nvPr/>
        </p:nvCxnSpPr>
        <p:spPr>
          <a:xfrm>
            <a:off x="3197733" y="4641630"/>
            <a:ext cx="350144" cy="414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6" idx="3"/>
            <a:endCxn id="40" idx="1"/>
          </p:cNvCxnSpPr>
          <p:nvPr/>
        </p:nvCxnSpPr>
        <p:spPr>
          <a:xfrm>
            <a:off x="3197733" y="4641630"/>
            <a:ext cx="350144" cy="7822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6" idx="1"/>
            <a:endCxn id="37" idx="1"/>
          </p:cNvCxnSpPr>
          <p:nvPr/>
        </p:nvCxnSpPr>
        <p:spPr>
          <a:xfrm rot="10800000" flipV="1">
            <a:off x="2402205" y="4641630"/>
            <a:ext cx="12700" cy="1633781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4719515" y="3505200"/>
            <a:ext cx="44303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자유형 52"/>
          <p:cNvSpPr/>
          <p:nvPr/>
        </p:nvSpPr>
        <p:spPr>
          <a:xfrm>
            <a:off x="1714500" y="3495675"/>
            <a:ext cx="3209925" cy="1885950"/>
          </a:xfrm>
          <a:custGeom>
            <a:avLst/>
            <a:gdLst>
              <a:gd name="connsiteX0" fmla="*/ 3209925 w 3209925"/>
              <a:gd name="connsiteY0" fmla="*/ 0 h 1885950"/>
              <a:gd name="connsiteX1" fmla="*/ 3209925 w 3209925"/>
              <a:gd name="connsiteY1" fmla="*/ 180975 h 1885950"/>
              <a:gd name="connsiteX2" fmla="*/ 0 w 3209925"/>
              <a:gd name="connsiteY2" fmla="*/ 180975 h 1885950"/>
              <a:gd name="connsiteX3" fmla="*/ 9525 w 3209925"/>
              <a:gd name="connsiteY3" fmla="*/ 276225 h 1885950"/>
              <a:gd name="connsiteX4" fmla="*/ 9525 w 3209925"/>
              <a:gd name="connsiteY4" fmla="*/ 1885950 h 1885950"/>
              <a:gd name="connsiteX5" fmla="*/ 457200 w 3209925"/>
              <a:gd name="connsiteY5" fmla="*/ 1885950 h 188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9925" h="1885950">
                <a:moveTo>
                  <a:pt x="3209925" y="0"/>
                </a:moveTo>
                <a:lnTo>
                  <a:pt x="3209925" y="180975"/>
                </a:lnTo>
                <a:lnTo>
                  <a:pt x="0" y="180975"/>
                </a:lnTo>
                <a:lnTo>
                  <a:pt x="9525" y="276225"/>
                </a:lnTo>
                <a:lnTo>
                  <a:pt x="9525" y="1885950"/>
                </a:lnTo>
                <a:lnTo>
                  <a:pt x="457200" y="1885950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연결선 53"/>
          <p:cNvCxnSpPr/>
          <p:nvPr/>
        </p:nvCxnSpPr>
        <p:spPr>
          <a:xfrm>
            <a:off x="6791305" y="3832027"/>
            <a:ext cx="74297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398338" y="4729173"/>
            <a:ext cx="4373206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특허를 받은 발명이기 때문에 등록된 후의 발명을 의미</a:t>
            </a:r>
          </a:p>
        </p:txBody>
      </p:sp>
      <p:cxnSp>
        <p:nvCxnSpPr>
          <p:cNvPr id="58" name="직선 연결선 57"/>
          <p:cNvCxnSpPr/>
          <p:nvPr/>
        </p:nvCxnSpPr>
        <p:spPr>
          <a:xfrm flipV="1">
            <a:off x="7162790" y="3832027"/>
            <a:ext cx="0" cy="897146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419</a:t>
            </a:fld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AF2810-441E-4004-83FC-87A43B53CEB6}"/>
              </a:ext>
            </a:extLst>
          </p:cNvPr>
          <p:cNvSpPr/>
          <p:nvPr/>
        </p:nvSpPr>
        <p:spPr>
          <a:xfrm>
            <a:off x="3547877" y="4889211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5" name="꺾인 연결선 48">
            <a:extLst>
              <a:ext uri="{FF2B5EF4-FFF2-40B4-BE49-F238E27FC236}">
                <a16:creationId xmlns:a16="http://schemas.microsoft.com/office/drawing/2014/main" id="{EA10574B-A6EF-48F3-B8FA-31047A92E308}"/>
              </a:ext>
            </a:extLst>
          </p:cNvPr>
          <p:cNvCxnSpPr>
            <a:cxnSpLocks/>
            <a:stCxn id="36" idx="3"/>
            <a:endCxn id="51" idx="1"/>
          </p:cNvCxnSpPr>
          <p:nvPr/>
        </p:nvCxnSpPr>
        <p:spPr>
          <a:xfrm>
            <a:off x="3197733" y="4641630"/>
            <a:ext cx="350144" cy="41395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59956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5</a:t>
            </a:r>
            <a:r>
              <a:rPr lang="ko-KR" altLang="en-US" dirty="0"/>
              <a:t>호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971550" y="2009773"/>
            <a:ext cx="2590800" cy="1133477"/>
          </a:xfrm>
          <a:prstGeom prst="roundRect">
            <a:avLst>
              <a:gd name="adj" fmla="val 2095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4524375" y="2009773"/>
            <a:ext cx="2590800" cy="1133477"/>
          </a:xfrm>
          <a:prstGeom prst="roundRect">
            <a:avLst>
              <a:gd name="adj" fmla="val 2095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804987" y="1822966"/>
            <a:ext cx="9239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수출국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7812" y="1836182"/>
            <a:ext cx="9239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수입국</a:t>
            </a:r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371475" y="1383268"/>
            <a:ext cx="1047749" cy="573048"/>
          </a:xfrm>
          <a:prstGeom prst="wedgeRoundRectCallout">
            <a:avLst>
              <a:gd name="adj1" fmla="val 30862"/>
              <a:gd name="adj2" fmla="val 6914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甲 의약품</a:t>
            </a:r>
            <a:r>
              <a:rPr lang="en-US" altLang="ko-KR" sz="1200" dirty="0"/>
              <a:t>(A)</a:t>
            </a:r>
          </a:p>
          <a:p>
            <a:pPr algn="ctr"/>
            <a:r>
              <a:rPr lang="ko-KR" altLang="en-US" sz="1200" dirty="0" err="1"/>
              <a:t>특허권자</a:t>
            </a:r>
            <a:endParaRPr lang="ko-KR" altLang="en-US" sz="1200" dirty="0"/>
          </a:p>
        </p:txBody>
      </p:sp>
      <p:sp>
        <p:nvSpPr>
          <p:cNvPr id="11" name="모서리가 둥근 사각형 설명선 10"/>
          <p:cNvSpPr/>
          <p:nvPr/>
        </p:nvSpPr>
        <p:spPr>
          <a:xfrm>
            <a:off x="4000500" y="1383268"/>
            <a:ext cx="1047749" cy="573048"/>
          </a:xfrm>
          <a:prstGeom prst="wedgeRoundRectCallout">
            <a:avLst>
              <a:gd name="adj1" fmla="val 30862"/>
              <a:gd name="adj2" fmla="val 69149"/>
              <a:gd name="adj3" fmla="val 16667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乙 의약품</a:t>
            </a:r>
            <a:r>
              <a:rPr lang="en-US" altLang="ko-KR" sz="1200" dirty="0"/>
              <a:t>(A)</a:t>
            </a:r>
          </a:p>
          <a:p>
            <a:pPr algn="ctr"/>
            <a:r>
              <a:rPr lang="ko-KR" altLang="en-US" sz="1200" dirty="0" err="1"/>
              <a:t>특허권자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1714554" y="2391845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丙 </a:t>
            </a:r>
            <a:r>
              <a:rPr lang="en-US" altLang="ko-KR" dirty="0"/>
              <a:t>A </a:t>
            </a:r>
            <a:r>
              <a:rPr lang="ko-KR" altLang="en-US" dirty="0"/>
              <a:t>생산</a:t>
            </a:r>
          </a:p>
        </p:txBody>
      </p:sp>
      <p:cxnSp>
        <p:nvCxnSpPr>
          <p:cNvPr id="14" name="꺾인 연결선 13"/>
          <p:cNvCxnSpPr>
            <a:stCxn id="12" idx="2"/>
            <a:endCxn id="6" idx="2"/>
          </p:cNvCxnSpPr>
          <p:nvPr/>
        </p:nvCxnSpPr>
        <p:spPr>
          <a:xfrm rot="16200000" flipH="1">
            <a:off x="3852326" y="1175800"/>
            <a:ext cx="382073" cy="3552826"/>
          </a:xfrm>
          <a:prstGeom prst="bentConnector3">
            <a:avLst>
              <a:gd name="adj1" fmla="val 15983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62350" y="3382445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丙 </a:t>
            </a:r>
            <a:r>
              <a:rPr lang="en-US" altLang="ko-KR" dirty="0"/>
              <a:t>A </a:t>
            </a:r>
            <a:r>
              <a:rPr lang="ko-KR" altLang="en-US" dirty="0"/>
              <a:t>수출</a:t>
            </a:r>
            <a:r>
              <a:rPr lang="en-US" altLang="ko-KR" dirty="0"/>
              <a:t>(</a:t>
            </a:r>
            <a:r>
              <a:rPr lang="ko-KR" altLang="en-US" dirty="0"/>
              <a:t>수입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7258049" y="767833"/>
            <a:ext cx="4829175" cy="162401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WTO </a:t>
            </a:r>
            <a:r>
              <a:rPr lang="ko-KR" altLang="en-US" sz="1200" dirty="0">
                <a:solidFill>
                  <a:schemeClr val="tx2"/>
                </a:solidFill>
              </a:rPr>
              <a:t>회원국 중 </a:t>
            </a:r>
            <a:r>
              <a:rPr lang="en-US" altLang="ko-KR" sz="1200" dirty="0">
                <a:solidFill>
                  <a:schemeClr val="tx2"/>
                </a:solidFill>
              </a:rPr>
              <a:t>WTO</a:t>
            </a:r>
            <a:r>
              <a:rPr lang="ko-KR" altLang="en-US" sz="1200" dirty="0">
                <a:solidFill>
                  <a:schemeClr val="tx2"/>
                </a:solidFill>
              </a:rPr>
              <a:t>에 다음의 사항을 통지한 국가 또는 </a:t>
            </a:r>
            <a:r>
              <a:rPr lang="en-US" altLang="ko-KR" sz="1200" dirty="0">
                <a:solidFill>
                  <a:schemeClr val="tx2"/>
                </a:solidFill>
              </a:rPr>
              <a:t>WTO </a:t>
            </a:r>
            <a:r>
              <a:rPr lang="ko-KR" altLang="en-US" sz="1200" dirty="0">
                <a:solidFill>
                  <a:schemeClr val="tx2"/>
                </a:solidFill>
              </a:rPr>
              <a:t>회원국이 아닌 국가 중 대통령령으로 정하는 국가로서 다음의 사항을 대한민국 정부에 통지한 국가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28600" indent="-228600" fontAlgn="base">
              <a:buAutoNum type="arabicPeriod"/>
            </a:pPr>
            <a:r>
              <a:rPr lang="ko-KR" altLang="en-US" sz="1200" dirty="0">
                <a:solidFill>
                  <a:schemeClr val="tx2"/>
                </a:solidFill>
              </a:rPr>
              <a:t>수입국이 필요로 하는 의약품의 명칭과 수량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28600" indent="-228600" fontAlgn="base">
              <a:buAutoNum type="arabicPeriod"/>
            </a:pPr>
            <a:r>
              <a:rPr lang="ko-KR" altLang="en-US" sz="1200" dirty="0">
                <a:solidFill>
                  <a:schemeClr val="tx2"/>
                </a:solidFill>
              </a:rPr>
              <a:t>국제연합총회의 결의에 따른 </a:t>
            </a:r>
            <a:r>
              <a:rPr lang="ko-KR" altLang="en-US" sz="1200" dirty="0" err="1">
                <a:solidFill>
                  <a:schemeClr val="tx2"/>
                </a:solidFill>
              </a:rPr>
              <a:t>최빈개발도상국이</a:t>
            </a:r>
            <a:r>
              <a:rPr lang="ko-KR" altLang="en-US" sz="1200" dirty="0">
                <a:solidFill>
                  <a:schemeClr val="tx2"/>
                </a:solidFill>
              </a:rPr>
              <a:t> 아닌 경우 해당 의약품의 생산을 위한 제조능력이 없거나 부족하다는 수입국의 확인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28600" indent="-228600" fontAlgn="base">
              <a:buAutoNum type="arabicPeriod"/>
            </a:pPr>
            <a:r>
              <a:rPr lang="ko-KR" altLang="en-US" sz="1200" dirty="0">
                <a:solidFill>
                  <a:schemeClr val="tx2"/>
                </a:solidFill>
              </a:rPr>
              <a:t>수입국에서 해당 의약품이 특허된 경우 강제적인 실시를 허락하였거나 허락할 의사가 있다는 그 국가의 확인</a:t>
            </a:r>
          </a:p>
        </p:txBody>
      </p:sp>
      <p:cxnSp>
        <p:nvCxnSpPr>
          <p:cNvPr id="19" name="꺾인 연결선 18"/>
          <p:cNvCxnSpPr>
            <a:stCxn id="8" idx="0"/>
            <a:endCxn id="17" idx="1"/>
          </p:cNvCxnSpPr>
          <p:nvPr/>
        </p:nvCxnSpPr>
        <p:spPr>
          <a:xfrm rot="5400000" flipH="1" flipV="1">
            <a:off x="6410741" y="988874"/>
            <a:ext cx="256343" cy="143827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0791" y="4413766"/>
            <a:ext cx="391193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丙의 </a:t>
            </a:r>
            <a:r>
              <a:rPr lang="en-US" altLang="ko-KR" dirty="0"/>
              <a:t>A </a:t>
            </a:r>
            <a:r>
              <a:rPr lang="ko-KR" altLang="en-US" dirty="0"/>
              <a:t>생산</a:t>
            </a:r>
            <a:r>
              <a:rPr lang="en-US" altLang="ko-KR" dirty="0"/>
              <a:t>, </a:t>
            </a:r>
            <a:r>
              <a:rPr lang="ko-KR" altLang="en-US" dirty="0"/>
              <a:t>수출은 甲의 특허권 침해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  수출국 정부가 </a:t>
            </a:r>
            <a:r>
              <a:rPr lang="ko-KR" altLang="en-US" dirty="0" err="1"/>
              <a:t>강제실시권</a:t>
            </a:r>
            <a:r>
              <a:rPr lang="ko-KR" altLang="en-US" dirty="0"/>
              <a:t> 허락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2262" y="3243945"/>
            <a:ext cx="355758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丙의 </a:t>
            </a:r>
            <a:r>
              <a:rPr lang="en-US" altLang="ko-KR" dirty="0"/>
              <a:t>A </a:t>
            </a:r>
            <a:r>
              <a:rPr lang="ko-KR" altLang="en-US" dirty="0"/>
              <a:t>수입은 乙의 특허권 침해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  수입국 정부가 </a:t>
            </a:r>
            <a:r>
              <a:rPr lang="ko-KR" altLang="en-US" dirty="0" err="1"/>
              <a:t>강제실시권</a:t>
            </a:r>
            <a:r>
              <a:rPr lang="ko-KR" altLang="en-US" dirty="0"/>
              <a:t> 허락 </a:t>
            </a:r>
          </a:p>
        </p:txBody>
      </p:sp>
      <p:cxnSp>
        <p:nvCxnSpPr>
          <p:cNvPr id="27" name="직선 화살표 연결선 26"/>
          <p:cNvCxnSpPr>
            <a:endCxn id="21" idx="1"/>
          </p:cNvCxnSpPr>
          <p:nvPr/>
        </p:nvCxnSpPr>
        <p:spPr>
          <a:xfrm>
            <a:off x="5237809" y="3567111"/>
            <a:ext cx="1434453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H="1">
            <a:off x="1714554" y="2761176"/>
            <a:ext cx="361896" cy="165259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4524375" y="4305300"/>
            <a:ext cx="1933575" cy="657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WTO/TRIPS </a:t>
            </a:r>
            <a:r>
              <a:rPr lang="ko-KR" altLang="en-US" dirty="0">
                <a:solidFill>
                  <a:schemeClr val="tx2"/>
                </a:solidFill>
              </a:rPr>
              <a:t>위반</a:t>
            </a:r>
            <a:endParaRPr lang="en-US" altLang="ko-KR" dirty="0">
              <a:solidFill>
                <a:schemeClr val="tx2"/>
              </a:solidFill>
            </a:endParaRPr>
          </a:p>
          <a:p>
            <a:pPr algn="ctr"/>
            <a:r>
              <a:rPr lang="en-US" altLang="ko-KR" dirty="0">
                <a:solidFill>
                  <a:schemeClr val="tx2"/>
                </a:solidFill>
              </a:rPr>
              <a:t>(</a:t>
            </a:r>
            <a:r>
              <a:rPr lang="ko-KR" altLang="en-US" dirty="0">
                <a:solidFill>
                  <a:schemeClr val="tx2"/>
                </a:solidFill>
              </a:rPr>
              <a:t>적용유보</a:t>
            </a:r>
            <a:r>
              <a:rPr lang="en-US" altLang="ko-KR" dirty="0">
                <a:solidFill>
                  <a:schemeClr val="tx2"/>
                </a:solidFill>
              </a:rPr>
              <a:t>)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524375" y="5657851"/>
            <a:ext cx="1933575" cy="5905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甲의 반발</a:t>
            </a:r>
            <a:endParaRPr lang="en-US" altLang="ko-KR" dirty="0">
              <a:solidFill>
                <a:schemeClr val="tx2"/>
              </a:solidFill>
            </a:endParaRPr>
          </a:p>
          <a:p>
            <a:pPr algn="ctr"/>
            <a:r>
              <a:rPr lang="en-US" altLang="ko-KR" dirty="0">
                <a:solidFill>
                  <a:schemeClr val="tx2"/>
                </a:solidFill>
              </a:rPr>
              <a:t>(</a:t>
            </a:r>
            <a:r>
              <a:rPr lang="ko-KR" altLang="en-US" dirty="0">
                <a:solidFill>
                  <a:schemeClr val="tx2"/>
                </a:solidFill>
              </a:rPr>
              <a:t>조건부과</a:t>
            </a:r>
            <a:r>
              <a:rPr lang="en-US" altLang="ko-KR" dirty="0">
                <a:solidFill>
                  <a:schemeClr val="tx2"/>
                </a:solidFill>
              </a:rPr>
              <a:t>)</a:t>
            </a:r>
            <a:endParaRPr lang="ko-KR" altLang="en-US" dirty="0">
              <a:solidFill>
                <a:schemeClr val="tx2"/>
              </a:solidFill>
            </a:endParaRPr>
          </a:p>
        </p:txBody>
      </p:sp>
      <p:cxnSp>
        <p:nvCxnSpPr>
          <p:cNvPr id="34" name="꺾인 연결선 33"/>
          <p:cNvCxnSpPr>
            <a:cxnSpLocks/>
            <a:stCxn id="20" idx="3"/>
            <a:endCxn id="31" idx="1"/>
          </p:cNvCxnSpPr>
          <p:nvPr/>
        </p:nvCxnSpPr>
        <p:spPr>
          <a:xfrm flipV="1">
            <a:off x="4132729" y="4633913"/>
            <a:ext cx="391646" cy="1030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cxnSpLocks/>
            <a:stCxn id="20" idx="3"/>
            <a:endCxn id="32" idx="1"/>
          </p:cNvCxnSpPr>
          <p:nvPr/>
        </p:nvCxnSpPr>
        <p:spPr>
          <a:xfrm>
            <a:off x="4132729" y="4736932"/>
            <a:ext cx="391646" cy="12161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781800" y="4372302"/>
            <a:ext cx="5133975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제</a:t>
            </a:r>
            <a:r>
              <a:rPr lang="en-US" altLang="ko-KR" sz="1400" dirty="0"/>
              <a:t>31</a:t>
            </a:r>
            <a:r>
              <a:rPr lang="ko-KR" altLang="en-US" sz="1400" dirty="0"/>
              <a:t>조</a:t>
            </a:r>
            <a:r>
              <a:rPr lang="en-US" altLang="ko-KR" sz="1400" dirty="0"/>
              <a:t>(f): </a:t>
            </a:r>
            <a:r>
              <a:rPr lang="ko-KR" altLang="en-US" sz="1400" dirty="0"/>
              <a:t>국내수요를</a:t>
            </a:r>
            <a:r>
              <a:rPr lang="en-US" altLang="ko-KR" sz="1400" dirty="0"/>
              <a:t> </a:t>
            </a:r>
            <a:r>
              <a:rPr lang="ko-KR" altLang="en-US" sz="1400" dirty="0"/>
              <a:t>주목적으로 </a:t>
            </a:r>
            <a:r>
              <a:rPr lang="ko-KR" altLang="en-US" sz="1400" dirty="0" err="1"/>
              <a:t>강제실시권</a:t>
            </a:r>
            <a:r>
              <a:rPr lang="ko-KR" altLang="en-US" sz="1400" dirty="0"/>
              <a:t> 허락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제</a:t>
            </a:r>
            <a:r>
              <a:rPr lang="en-US" altLang="ko-KR" sz="1400" dirty="0"/>
              <a:t>31</a:t>
            </a:r>
            <a:r>
              <a:rPr lang="ko-KR" altLang="en-US" sz="1400" dirty="0"/>
              <a:t>조</a:t>
            </a:r>
            <a:r>
              <a:rPr lang="en-US" altLang="ko-KR" sz="1400" dirty="0"/>
              <a:t>(h): </a:t>
            </a:r>
            <a:r>
              <a:rPr lang="ko-KR" altLang="en-US" sz="1400" dirty="0" err="1"/>
              <a:t>자국내</a:t>
            </a:r>
            <a:r>
              <a:rPr lang="ko-KR" altLang="en-US" sz="1400" dirty="0"/>
              <a:t> 경제적 가치를 고려하여 대가 산정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1800" y="5691516"/>
            <a:ext cx="5133975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생산된 의약품 전량을 수입국에 수출할 것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외관상 구분 표시 및 이를 공시할 인터넷 주소 명시</a:t>
            </a:r>
          </a:p>
        </p:txBody>
      </p:sp>
      <p:cxnSp>
        <p:nvCxnSpPr>
          <p:cNvPr id="43" name="직선 연결선 42"/>
          <p:cNvCxnSpPr>
            <a:stCxn id="31" idx="3"/>
            <a:endCxn id="40" idx="1"/>
          </p:cNvCxnSpPr>
          <p:nvPr/>
        </p:nvCxnSpPr>
        <p:spPr>
          <a:xfrm flipV="1">
            <a:off x="6457950" y="4633912"/>
            <a:ext cx="323850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32" idx="3"/>
            <a:endCxn id="41" idx="1"/>
          </p:cNvCxnSpPr>
          <p:nvPr/>
        </p:nvCxnSpPr>
        <p:spPr>
          <a:xfrm>
            <a:off x="6457950" y="5953126"/>
            <a:ext cx="3238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94730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재정절차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108</a:t>
            </a:r>
            <a:r>
              <a:rPr lang="ko-KR" altLang="en-US" dirty="0"/>
              <a:t>조</a:t>
            </a:r>
            <a:r>
              <a:rPr lang="en-US" altLang="ko-KR" dirty="0"/>
              <a:t>-</a:t>
            </a:r>
            <a:r>
              <a:rPr lang="ko-KR" altLang="en-US" dirty="0"/>
              <a:t>제</a:t>
            </a:r>
            <a:r>
              <a:rPr lang="en-US" altLang="ko-KR" dirty="0"/>
              <a:t>113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2399" y="990600"/>
            <a:ext cx="7124701" cy="563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제</a:t>
            </a:r>
            <a:r>
              <a:rPr kumimoji="1" lang="ko-KR" alt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108</a:t>
            </a:r>
            <a:r>
              <a:rPr kumimoji="1" 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조</a:t>
            </a:r>
            <a:r>
              <a:rPr kumimoji="1" lang="ko-KR" alt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답변서의 제출</a:t>
            </a:r>
            <a:r>
              <a:rPr kumimoji="1" lang="ko-KR" alt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 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지식재산처장은</a:t>
            </a:r>
            <a:r>
              <a:rPr kumimoji="1" 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 재정의 청구가 있으면 그 청구서의 부본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副本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을 그 청구에 관련된 </a:t>
            </a:r>
            <a:r>
              <a:rPr kumimoji="1" lang="ko-KR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특허권자ㆍ전용실시권자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그 밖에 그 특허에 관하여 등록을 한 권리를 가지는 자에게 송달하고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기간을 정하여 답변서를 제출할 수 있는 기회를 주어야 한다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. 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  <a:cs typeface="굴림" pitchFamily="50" charset="-127"/>
            </a:endParaRPr>
          </a:p>
          <a:p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109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산업재산권분쟁조정위원회 및 관계 부처의 장의 의견청취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 지식재산처장은 재정을 할 때 필요하다고 인정하는 경우에는 「발명진흥법」 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41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조에 따른 산업재산권분쟁조정위원회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이하 “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조정위원회”라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및 관계 부처의 장의 의견을 들을 수 있고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관계 행정기관이나 관계인에게 협조를 요청할 수 있다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  <a:r>
              <a:rPr lang="ko-KR" altLang="en-US" sz="1100" b="1" dirty="0">
                <a:solidFill>
                  <a:schemeClr val="tx2"/>
                </a:solidFill>
                <a:latin typeface="+mn-ea"/>
              </a:rPr>
              <a:t> </a:t>
            </a:r>
            <a:endParaRPr lang="en-US" altLang="ko-KR" sz="1100" b="1" dirty="0">
              <a:solidFill>
                <a:schemeClr val="tx2"/>
              </a:solidFill>
              <a:latin typeface="+mn-ea"/>
            </a:endParaRPr>
          </a:p>
          <a:p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110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재정의 방식 등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accent1"/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① 재정은 서면으로 하고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그 이유를 구체적으로 적어야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항에 따른 재정에는 다음 각 호의 사항을 구체적으로 적어야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통상실시권의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범위 및 기간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대가와 그 지급방법 및 지급시기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107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호에 따른 재정의 경우에는 그 특허발명의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특허권자ㆍ전용실시권자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또는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통상실시권자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재정에 따른 경우는 제외한다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가 공급하는 의약품과 외관상 구분할 수 있는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포장ㆍ표시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및 재정에서 정한 사항을 공시할 인터넷 주소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4.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그 밖에 재정을 받은 자가 그 특허발명을 실시할 경우 법령 또는 조약에 따른 내용을 이행하기 위하여 필요한 준수사항</a:t>
            </a:r>
          </a:p>
          <a:p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③ 지식재산처장은 정당한 사유가 있는 경우를 제외하고는 재정청구일부터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6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개월 이내에 재정에 관한 결정을 하여야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107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호에 따른 재정청구가 같은 조 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7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항 및 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8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항에 해당하고 같은 조 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9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항에 따른 서류가 모두 제출된 경우에는 지식재산처장은 정당한 사유가 있는 경우를 제외하고는 통상실시권 설정의 재정을 하여야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111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100" b="1" dirty="0" err="1">
                <a:solidFill>
                  <a:schemeClr val="accent1"/>
                </a:solidFill>
                <a:latin typeface="+mn-ea"/>
              </a:rPr>
              <a:t>재정서등본의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 송달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accent1"/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① 지식재산처장은 재정을 한 경우에는 당사자 및 그 특허에 관하여 등록을 한 권리를 가지는 자에게 재정서등본을 송달하여야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항에 따라 당사자에게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재정서등본이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송달되었을 때에는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재정서에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적혀 있는 바에 따라 당사자 사이에 협의가 이루어진 것으로 본다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ko-KR" altLang="en-US" sz="1100" b="1" dirty="0">
                <a:solidFill>
                  <a:schemeClr val="accent1"/>
                </a:solidFill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</a:rPr>
              <a:t>111</a:t>
            </a:r>
            <a:r>
              <a:rPr lang="ko-KR" altLang="en-US" sz="1100" b="1" dirty="0">
                <a:solidFill>
                  <a:schemeClr val="accent1"/>
                </a:solidFill>
              </a:rPr>
              <a:t>조의</a:t>
            </a:r>
            <a:r>
              <a:rPr lang="en-US" altLang="ko-KR" sz="1100" b="1" dirty="0">
                <a:solidFill>
                  <a:schemeClr val="accent1"/>
                </a:solidFill>
              </a:rPr>
              <a:t>2(</a:t>
            </a:r>
            <a:r>
              <a:rPr lang="ko-KR" altLang="en-US" sz="1100" b="1" dirty="0">
                <a:solidFill>
                  <a:schemeClr val="accent1"/>
                </a:solidFill>
              </a:rPr>
              <a:t>재정서의 변경</a:t>
            </a:r>
            <a:r>
              <a:rPr lang="en-US" altLang="ko-KR" sz="1100" b="1" dirty="0">
                <a:solidFill>
                  <a:schemeClr val="accent1"/>
                </a:solidFill>
              </a:rPr>
              <a:t>)</a:t>
            </a:r>
            <a:r>
              <a:rPr lang="ko-KR" altLang="en-US" sz="1100" dirty="0">
                <a:solidFill>
                  <a:schemeClr val="accent1"/>
                </a:solidFill>
              </a:rPr>
              <a:t> </a:t>
            </a:r>
            <a:r>
              <a:rPr lang="ko-KR" altLang="en-US" sz="1100" dirty="0">
                <a:solidFill>
                  <a:schemeClr val="tx2"/>
                </a:solidFill>
              </a:rPr>
              <a:t>① 재정을 받은 자는 </a:t>
            </a:r>
            <a:r>
              <a:rPr lang="ko-KR" altLang="en-US" sz="1100" dirty="0" err="1">
                <a:solidFill>
                  <a:schemeClr val="tx2"/>
                </a:solidFill>
              </a:rPr>
              <a:t>재정서에</a:t>
            </a:r>
            <a:r>
              <a:rPr lang="ko-KR" altLang="en-US" sz="1100" dirty="0">
                <a:solidFill>
                  <a:schemeClr val="tx2"/>
                </a:solidFill>
              </a:rPr>
              <a:t> 적혀 있는 제</a:t>
            </a:r>
            <a:r>
              <a:rPr lang="en-US" altLang="ko-KR" sz="1100" dirty="0">
                <a:solidFill>
                  <a:schemeClr val="tx2"/>
                </a:solidFill>
              </a:rPr>
              <a:t>110</a:t>
            </a:r>
            <a:r>
              <a:rPr lang="ko-KR" altLang="en-US" sz="1100" dirty="0">
                <a:solidFill>
                  <a:schemeClr val="tx2"/>
                </a:solidFill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 err="1">
                <a:solidFill>
                  <a:schemeClr val="tx2"/>
                </a:solidFill>
              </a:rPr>
              <a:t>항제</a:t>
            </a:r>
            <a:r>
              <a:rPr lang="en-US" altLang="ko-KR" sz="1100" dirty="0">
                <a:solidFill>
                  <a:schemeClr val="tx2"/>
                </a:solidFill>
              </a:rPr>
              <a:t>3</a:t>
            </a:r>
            <a:r>
              <a:rPr lang="ko-KR" altLang="en-US" sz="1100" dirty="0">
                <a:solidFill>
                  <a:schemeClr val="tx2"/>
                </a:solidFill>
              </a:rPr>
              <a:t>호의 사항에 관하여 변경이 필요하면 그 원인을 증명하는 서류를 첨부하여 지식재산처장에게 변경청구를 할 수 있다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</a:rPr>
              <a:t>② </a:t>
            </a:r>
            <a:r>
              <a:rPr lang="ko-KR" altLang="en-US" sz="1100" dirty="0">
                <a:solidFill>
                  <a:schemeClr val="tx2"/>
                </a:solidFill>
              </a:rPr>
              <a:t>지식재산처장은 제</a:t>
            </a:r>
            <a:r>
              <a:rPr lang="en-US" altLang="ko-KR" sz="1100" dirty="0">
                <a:solidFill>
                  <a:schemeClr val="tx2"/>
                </a:solidFill>
              </a:rPr>
              <a:t>1</a:t>
            </a:r>
            <a:r>
              <a:rPr lang="ko-KR" altLang="en-US" sz="1100" dirty="0">
                <a:solidFill>
                  <a:schemeClr val="tx2"/>
                </a:solidFill>
              </a:rPr>
              <a:t>항에 따른 청구가 </a:t>
            </a:r>
            <a:r>
              <a:rPr lang="ko-KR" altLang="en-US" sz="1100" dirty="0" err="1">
                <a:solidFill>
                  <a:schemeClr val="tx2"/>
                </a:solidFill>
              </a:rPr>
              <a:t>이유있다고</a:t>
            </a:r>
            <a:r>
              <a:rPr lang="ko-KR" altLang="en-US" sz="1100" dirty="0">
                <a:solidFill>
                  <a:schemeClr val="tx2"/>
                </a:solidFill>
              </a:rPr>
              <a:t> 인정되면 </a:t>
            </a:r>
            <a:r>
              <a:rPr lang="ko-KR" altLang="en-US" sz="1100" dirty="0" err="1">
                <a:solidFill>
                  <a:schemeClr val="tx2"/>
                </a:solidFill>
              </a:rPr>
              <a:t>재정서에</a:t>
            </a:r>
            <a:r>
              <a:rPr lang="ko-KR" altLang="en-US" sz="1100" dirty="0">
                <a:solidFill>
                  <a:schemeClr val="tx2"/>
                </a:solidFill>
              </a:rPr>
              <a:t> 적혀 있는 사항을 변경할 수 있다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이 경우 이해관계인의 의견을 들어야 한다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</a:rPr>
              <a:t>③ </a:t>
            </a:r>
            <a:r>
              <a:rPr lang="ko-KR" altLang="en-US" sz="1100" dirty="0">
                <a:solidFill>
                  <a:schemeClr val="tx2"/>
                </a:solidFill>
              </a:rPr>
              <a:t>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항의 경우에 관하여는 제</a:t>
            </a:r>
            <a:r>
              <a:rPr lang="en-US" altLang="ko-KR" sz="1100" dirty="0">
                <a:solidFill>
                  <a:schemeClr val="tx2"/>
                </a:solidFill>
              </a:rPr>
              <a:t>111</a:t>
            </a:r>
            <a:r>
              <a:rPr lang="ko-KR" altLang="en-US" sz="1100" dirty="0">
                <a:solidFill>
                  <a:schemeClr val="tx2"/>
                </a:solidFill>
              </a:rPr>
              <a:t>조를 준용한다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  <a:r>
              <a:rPr lang="ko-KR" altLang="en-US" sz="1100" b="1" dirty="0">
                <a:solidFill>
                  <a:schemeClr val="tx2"/>
                </a:solidFill>
              </a:rPr>
              <a:t> </a:t>
            </a:r>
            <a:endParaRPr lang="en-US" altLang="ko-KR" sz="1100" b="1" dirty="0">
              <a:solidFill>
                <a:schemeClr val="tx2"/>
              </a:solidFill>
            </a:endParaRPr>
          </a:p>
          <a:p>
            <a:r>
              <a:rPr lang="ko-KR" altLang="en-US" sz="1100" b="1" dirty="0">
                <a:solidFill>
                  <a:schemeClr val="accent1"/>
                </a:solidFill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</a:rPr>
              <a:t>112</a:t>
            </a:r>
            <a:r>
              <a:rPr lang="ko-KR" altLang="en-US" sz="1100" b="1" dirty="0">
                <a:solidFill>
                  <a:schemeClr val="accent1"/>
                </a:solidFill>
              </a:rPr>
              <a:t>조</a:t>
            </a:r>
            <a:r>
              <a:rPr lang="en-US" altLang="ko-KR" sz="1100" b="1" dirty="0">
                <a:solidFill>
                  <a:schemeClr val="accent1"/>
                </a:solidFill>
              </a:rPr>
              <a:t>(</a:t>
            </a:r>
            <a:r>
              <a:rPr lang="ko-KR" altLang="en-US" sz="1100" b="1" dirty="0">
                <a:solidFill>
                  <a:schemeClr val="accent1"/>
                </a:solidFill>
              </a:rPr>
              <a:t>대가의 공탁</a:t>
            </a:r>
            <a:r>
              <a:rPr lang="en-US" altLang="ko-KR" sz="1100" b="1" dirty="0">
                <a:solidFill>
                  <a:schemeClr val="accent1"/>
                </a:solidFill>
              </a:rPr>
              <a:t>)</a:t>
            </a:r>
            <a:r>
              <a:rPr lang="ko-KR" altLang="en-US" sz="1100" dirty="0">
                <a:solidFill>
                  <a:schemeClr val="tx2"/>
                </a:solidFill>
              </a:rPr>
              <a:t> 제</a:t>
            </a:r>
            <a:r>
              <a:rPr lang="en-US" altLang="ko-KR" sz="1100" dirty="0">
                <a:solidFill>
                  <a:schemeClr val="tx2"/>
                </a:solidFill>
              </a:rPr>
              <a:t>110</a:t>
            </a:r>
            <a:r>
              <a:rPr lang="ko-KR" altLang="en-US" sz="1100" dirty="0">
                <a:solidFill>
                  <a:schemeClr val="tx2"/>
                </a:solidFill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 err="1">
                <a:solidFill>
                  <a:schemeClr val="tx2"/>
                </a:solidFill>
              </a:rPr>
              <a:t>항제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호에 따른 대가를 지급하여야 하는 자는 다음 각 호의 어느 하나에 해당하는 경우에는 그 대가를 공탁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供託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r>
              <a:rPr lang="ko-KR" altLang="en-US" sz="1100" dirty="0">
                <a:solidFill>
                  <a:schemeClr val="tx2"/>
                </a:solidFill>
              </a:rPr>
              <a:t>하여야 한다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</a:rPr>
              <a:t>1. </a:t>
            </a:r>
            <a:r>
              <a:rPr lang="ko-KR" altLang="en-US" sz="1100" dirty="0">
                <a:solidFill>
                  <a:schemeClr val="tx2"/>
                </a:solidFill>
              </a:rPr>
              <a:t>대가를 받을 자가 수령을 거부하거나 수령할 수 없는 경우</a:t>
            </a:r>
          </a:p>
          <a:p>
            <a:r>
              <a:rPr lang="en-US" altLang="ko-KR" sz="1100" dirty="0">
                <a:solidFill>
                  <a:schemeClr val="tx2"/>
                </a:solidFill>
              </a:rPr>
              <a:t>2. </a:t>
            </a:r>
            <a:r>
              <a:rPr lang="ko-KR" altLang="en-US" sz="1100" dirty="0">
                <a:solidFill>
                  <a:schemeClr val="tx2"/>
                </a:solidFill>
              </a:rPr>
              <a:t>대가에 대하여 제</a:t>
            </a:r>
            <a:r>
              <a:rPr lang="en-US" altLang="ko-KR" sz="1100" dirty="0">
                <a:solidFill>
                  <a:schemeClr val="tx2"/>
                </a:solidFill>
              </a:rPr>
              <a:t>190</a:t>
            </a:r>
            <a:r>
              <a:rPr lang="ko-KR" altLang="en-US" sz="1100" dirty="0">
                <a:solidFill>
                  <a:schemeClr val="tx2"/>
                </a:solidFill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</a:rPr>
              <a:t>1</a:t>
            </a:r>
            <a:r>
              <a:rPr lang="ko-KR" altLang="en-US" sz="1100" dirty="0">
                <a:solidFill>
                  <a:schemeClr val="tx2"/>
                </a:solidFill>
              </a:rPr>
              <a:t>항에 따른 소송이 제기된 경우</a:t>
            </a:r>
          </a:p>
          <a:p>
            <a:r>
              <a:rPr lang="en-US" altLang="ko-KR" sz="1100" dirty="0">
                <a:solidFill>
                  <a:schemeClr val="tx2"/>
                </a:solidFill>
              </a:rPr>
              <a:t>3. </a:t>
            </a:r>
            <a:r>
              <a:rPr lang="ko-KR" altLang="en-US" sz="1100" dirty="0">
                <a:solidFill>
                  <a:schemeClr val="tx2"/>
                </a:solidFill>
              </a:rPr>
              <a:t>해당 특허권 또는 </a:t>
            </a:r>
            <a:r>
              <a:rPr lang="ko-KR" altLang="en-US" sz="11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100" dirty="0">
                <a:solidFill>
                  <a:schemeClr val="tx2"/>
                </a:solidFill>
              </a:rPr>
              <a:t> 목적으로 하는 질권이 설정되어 있는 경우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다만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질권자의 동의를 받은 경우에는 그러하지 아니하다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  <a:r>
              <a:rPr lang="ko-KR" altLang="en-US" sz="1100" b="1" dirty="0">
                <a:solidFill>
                  <a:schemeClr val="tx2"/>
                </a:solidFill>
              </a:rPr>
              <a:t> </a:t>
            </a:r>
            <a:endParaRPr lang="en-US" altLang="ko-KR" sz="1100" b="1" dirty="0">
              <a:solidFill>
                <a:schemeClr val="tx2"/>
              </a:solidFill>
            </a:endParaRPr>
          </a:p>
          <a:p>
            <a:r>
              <a:rPr lang="ko-KR" altLang="en-US" sz="1100" b="1" dirty="0">
                <a:solidFill>
                  <a:schemeClr val="accent1"/>
                </a:solidFill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</a:rPr>
              <a:t>113</a:t>
            </a:r>
            <a:r>
              <a:rPr lang="ko-KR" altLang="en-US" sz="1100" b="1" dirty="0">
                <a:solidFill>
                  <a:schemeClr val="accent1"/>
                </a:solidFill>
              </a:rPr>
              <a:t>조</a:t>
            </a:r>
            <a:r>
              <a:rPr lang="en-US" altLang="ko-KR" sz="1100" b="1" dirty="0">
                <a:solidFill>
                  <a:schemeClr val="accent1"/>
                </a:solidFill>
              </a:rPr>
              <a:t>(</a:t>
            </a:r>
            <a:r>
              <a:rPr lang="ko-KR" altLang="en-US" sz="1100" b="1" dirty="0">
                <a:solidFill>
                  <a:schemeClr val="accent1"/>
                </a:solidFill>
              </a:rPr>
              <a:t>재정의 실효</a:t>
            </a:r>
            <a:r>
              <a:rPr lang="en-US" altLang="ko-KR" sz="1100" b="1" dirty="0">
                <a:solidFill>
                  <a:schemeClr val="accent1"/>
                </a:solidFill>
              </a:rPr>
              <a:t>)</a:t>
            </a:r>
            <a:r>
              <a:rPr lang="ko-KR" altLang="en-US" sz="1100" dirty="0">
                <a:solidFill>
                  <a:schemeClr val="tx2"/>
                </a:solidFill>
              </a:rPr>
              <a:t> 재정을 받은 자가 제</a:t>
            </a:r>
            <a:r>
              <a:rPr lang="en-US" altLang="ko-KR" sz="1100" dirty="0">
                <a:solidFill>
                  <a:schemeClr val="tx2"/>
                </a:solidFill>
              </a:rPr>
              <a:t>110</a:t>
            </a:r>
            <a:r>
              <a:rPr lang="ko-KR" altLang="en-US" sz="1100" dirty="0">
                <a:solidFill>
                  <a:schemeClr val="tx2"/>
                </a:solidFill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 err="1">
                <a:solidFill>
                  <a:schemeClr val="tx2"/>
                </a:solidFill>
              </a:rPr>
              <a:t>항제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호에 따른 지급시기까지 대가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대가를 정기 또는 분할하여 지급할 경우에는 최초의 </a:t>
            </a:r>
            <a:r>
              <a:rPr lang="ko-KR" altLang="en-US" sz="1100" dirty="0" err="1">
                <a:solidFill>
                  <a:schemeClr val="tx2"/>
                </a:solidFill>
              </a:rPr>
              <a:t>지급분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r>
              <a:rPr lang="ko-KR" altLang="en-US" sz="1100" dirty="0">
                <a:solidFill>
                  <a:schemeClr val="tx2"/>
                </a:solidFill>
              </a:rPr>
              <a:t>를 지급하지 아니하거나 공탁을 하지 아니한 경우에는 그 재정은 효력을 잃는다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10810875" y="1457325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등록권리자</a:t>
            </a:r>
          </a:p>
        </p:txBody>
      </p:sp>
      <p:cxnSp>
        <p:nvCxnSpPr>
          <p:cNvPr id="17" name="직선 연결선 16"/>
          <p:cNvCxnSpPr>
            <a:stCxn id="3" idx="2"/>
          </p:cNvCxnSpPr>
          <p:nvPr/>
        </p:nvCxnSpPr>
        <p:spPr>
          <a:xfrm>
            <a:off x="11334750" y="1781175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/>
          <p:cNvSpPr/>
          <p:nvPr/>
        </p:nvSpPr>
        <p:spPr>
          <a:xfrm>
            <a:off x="10810875" y="1800225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피청구인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058276" y="1457325"/>
            <a:ext cx="1104898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지식재산처장</a:t>
            </a:r>
          </a:p>
        </p:txBody>
      </p:sp>
      <p:cxnSp>
        <p:nvCxnSpPr>
          <p:cNvPr id="21" name="직선 연결선 20"/>
          <p:cNvCxnSpPr>
            <a:cxnSpLocks/>
            <a:stCxn id="20" idx="2"/>
          </p:cNvCxnSpPr>
          <p:nvPr/>
        </p:nvCxnSpPr>
        <p:spPr>
          <a:xfrm>
            <a:off x="9610725" y="1781175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/>
          <p:cNvSpPr/>
          <p:nvPr/>
        </p:nvSpPr>
        <p:spPr>
          <a:xfrm>
            <a:off x="7391400" y="1457325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청구인</a:t>
            </a:r>
          </a:p>
        </p:txBody>
      </p:sp>
      <p:cxnSp>
        <p:nvCxnSpPr>
          <p:cNvPr id="24" name="직선 연결선 23"/>
          <p:cNvCxnSpPr>
            <a:stCxn id="23" idx="2"/>
          </p:cNvCxnSpPr>
          <p:nvPr/>
        </p:nvCxnSpPr>
        <p:spPr>
          <a:xfrm>
            <a:off x="7915275" y="1781175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9086850" y="2495550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27" name="모서리가 둥근 직사각형 26"/>
          <p:cNvSpPr/>
          <p:nvPr/>
        </p:nvSpPr>
        <p:spPr>
          <a:xfrm>
            <a:off x="9086850" y="3819525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의견청취</a:t>
            </a:r>
          </a:p>
        </p:txBody>
      </p:sp>
      <p:sp>
        <p:nvSpPr>
          <p:cNvPr id="28" name="모서리가 둥근 직사각형 27"/>
          <p:cNvSpPr/>
          <p:nvPr/>
        </p:nvSpPr>
        <p:spPr>
          <a:xfrm>
            <a:off x="9086850" y="4267200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재정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7905750" y="2333625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8267700" y="2009775"/>
            <a:ext cx="10477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재정 청구</a:t>
            </a:r>
          </a:p>
        </p:txBody>
      </p:sp>
      <p:cxnSp>
        <p:nvCxnSpPr>
          <p:cNvPr id="33" name="직선 연결선 32"/>
          <p:cNvCxnSpPr/>
          <p:nvPr/>
        </p:nvCxnSpPr>
        <p:spPr>
          <a:xfrm>
            <a:off x="9610725" y="3124200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33"/>
          <p:cNvSpPr/>
          <p:nvPr/>
        </p:nvSpPr>
        <p:spPr>
          <a:xfrm>
            <a:off x="9734550" y="2800350"/>
            <a:ext cx="13906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청구서 부본 송달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9610725" y="3495675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/>
          <p:cNvSpPr/>
          <p:nvPr/>
        </p:nvSpPr>
        <p:spPr>
          <a:xfrm>
            <a:off x="9734550" y="3171825"/>
            <a:ext cx="13906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제출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7905750" y="3638550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8029575" y="3314700"/>
            <a:ext cx="13906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부본 송달</a:t>
            </a:r>
          </a:p>
        </p:txBody>
      </p:sp>
      <p:cxnSp>
        <p:nvCxnSpPr>
          <p:cNvPr id="41" name="직선 연결선 40"/>
          <p:cNvCxnSpPr/>
          <p:nvPr/>
        </p:nvCxnSpPr>
        <p:spPr>
          <a:xfrm>
            <a:off x="7905750" y="4867275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9610725" y="4876800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/>
          <p:cNvSpPr/>
          <p:nvPr/>
        </p:nvSpPr>
        <p:spPr>
          <a:xfrm>
            <a:off x="9086850" y="4724400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등본송달</a:t>
            </a:r>
          </a:p>
        </p:txBody>
      </p:sp>
      <p:cxnSp>
        <p:nvCxnSpPr>
          <p:cNvPr id="43" name="직선 연결선 42"/>
          <p:cNvCxnSpPr/>
          <p:nvPr/>
        </p:nvCxnSpPr>
        <p:spPr>
          <a:xfrm>
            <a:off x="7905750" y="5973472"/>
            <a:ext cx="3429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8220074" y="5649622"/>
            <a:ext cx="2826617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대가지급 또는 공탁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재정의 실효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6" name="직선 연결선 45"/>
          <p:cNvCxnSpPr/>
          <p:nvPr/>
        </p:nvCxnSpPr>
        <p:spPr>
          <a:xfrm>
            <a:off x="7905750" y="5356358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46"/>
          <p:cNvSpPr/>
          <p:nvPr/>
        </p:nvSpPr>
        <p:spPr>
          <a:xfrm>
            <a:off x="8162925" y="5032508"/>
            <a:ext cx="125730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재정서 변경 청구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4DF4A4-84E9-F68E-4C48-9D9F58F151E2}"/>
              </a:ext>
            </a:extLst>
          </p:cNvPr>
          <p:cNvSpPr txBox="1"/>
          <p:nvPr/>
        </p:nvSpPr>
        <p:spPr>
          <a:xfrm>
            <a:off x="8488330" y="1848220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107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F57FF-190F-639C-78BF-3F806B9E47F6}"/>
              </a:ext>
            </a:extLst>
          </p:cNvPr>
          <p:cNvSpPr txBox="1"/>
          <p:nvPr/>
        </p:nvSpPr>
        <p:spPr>
          <a:xfrm>
            <a:off x="10250078" y="2601755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108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3475A-16D6-4902-E8D3-E93B5AA28B90}"/>
              </a:ext>
            </a:extLst>
          </p:cNvPr>
          <p:cNvSpPr txBox="1"/>
          <p:nvPr/>
        </p:nvSpPr>
        <p:spPr>
          <a:xfrm>
            <a:off x="10250078" y="3516153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108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EE52A-FD59-DC77-F461-8FD0D3E34258}"/>
              </a:ext>
            </a:extLst>
          </p:cNvPr>
          <p:cNvSpPr txBox="1"/>
          <p:nvPr/>
        </p:nvSpPr>
        <p:spPr>
          <a:xfrm>
            <a:off x="10081404" y="3863815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109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9EC239-27EB-B0D4-D7A8-90480FAA865E}"/>
              </a:ext>
            </a:extLst>
          </p:cNvPr>
          <p:cNvSpPr txBox="1"/>
          <p:nvPr/>
        </p:nvSpPr>
        <p:spPr>
          <a:xfrm>
            <a:off x="10081404" y="4308847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110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71216-F6C0-102A-CA22-B52F32DDEB3E}"/>
              </a:ext>
            </a:extLst>
          </p:cNvPr>
          <p:cNvSpPr txBox="1"/>
          <p:nvPr/>
        </p:nvSpPr>
        <p:spPr>
          <a:xfrm>
            <a:off x="9773548" y="4582240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111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5B4BC-777E-A7DE-EF64-E6C2365D9A42}"/>
              </a:ext>
            </a:extLst>
          </p:cNvPr>
          <p:cNvSpPr txBox="1"/>
          <p:nvPr/>
        </p:nvSpPr>
        <p:spPr>
          <a:xfrm>
            <a:off x="8877516" y="5954423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112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E5871B-6E3F-0DFA-57ED-0A40B89E2055}"/>
              </a:ext>
            </a:extLst>
          </p:cNvPr>
          <p:cNvSpPr txBox="1"/>
          <p:nvPr/>
        </p:nvSpPr>
        <p:spPr>
          <a:xfrm>
            <a:off x="9962188" y="5954423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113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B1F319-4720-8D49-E7E4-73C1D561118B}"/>
              </a:ext>
            </a:extLst>
          </p:cNvPr>
          <p:cNvSpPr txBox="1"/>
          <p:nvPr/>
        </p:nvSpPr>
        <p:spPr>
          <a:xfrm>
            <a:off x="8479301" y="5381071"/>
            <a:ext cx="8130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111</a:t>
            </a:r>
            <a:r>
              <a:rPr lang="ko-KR" altLang="en-US" sz="1000" dirty="0">
                <a:solidFill>
                  <a:srgbClr val="FF0000"/>
                </a:solidFill>
              </a:rPr>
              <a:t>조의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14845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실시권</a:t>
            </a:r>
            <a:r>
              <a:rPr lang="ko-KR" altLang="en-US" dirty="0"/>
              <a:t> 일반 법조문의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792433"/>
              </p:ext>
            </p:extLst>
          </p:nvPr>
        </p:nvGraphicFramePr>
        <p:xfrm>
          <a:off x="342901" y="969167"/>
          <a:ext cx="11668124" cy="573278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09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3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비교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Rix모던고딕 L" pitchFamily="18" charset="-127"/>
                        <a:ea typeface="Rix모던고딕 L" pitchFamily="18" charset="-127"/>
                      </a:endParaRPr>
                    </a:p>
                  </a:txBody>
                  <a:tcPr marL="72000" marR="72000" marT="10584" marB="105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전용실시권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Rix모던고딕 L" pitchFamily="18" charset="-127"/>
                        <a:ea typeface="Rix모던고딕 L" pitchFamily="18" charset="-127"/>
                      </a:endParaRPr>
                    </a:p>
                  </a:txBody>
                  <a:tcPr marL="72000" marR="72000" marT="10584" marB="105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통상실시권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Rix모던고딕 L" pitchFamily="18" charset="-127"/>
                        <a:ea typeface="Rix모던고딕 L" pitchFamily="18" charset="-127"/>
                      </a:endParaRPr>
                    </a:p>
                  </a:txBody>
                  <a:tcPr marL="72000" marR="72000" marT="10584" marB="105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3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일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반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론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Rix모던고딕 L" pitchFamily="18" charset="-127"/>
                        <a:ea typeface="Rix모던고딕 L" pitchFamily="18" charset="-127"/>
                      </a:endParaRPr>
                    </a:p>
                  </a:txBody>
                  <a:tcPr marL="72000" marR="72000" marT="10584" marB="105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4780" marR="0" indent="-1447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그 특허권에 대하여 타인에게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설정할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51130" marR="0" indent="-1511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설정받은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그 설정행위로 정한 범위에서 그 특허발명을 업으로서 실시할 권리를 독점한다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다음 각 호의 경우를 제외하고는 특허권자의 동의를 받아야만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이전할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52730" marR="0" indent="-2527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1.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실시사업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實施事業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과 함께 이전하는 경우</a:t>
                      </a: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상속이나 그 밖의 일반승계의 경우</a:t>
                      </a: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질권설정ㆍ통상실시권허락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특허권자의 동의를 받아야만 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목적으로 하는 질권을 설정하거나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허락할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0970" marR="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0970" marR="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공유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항까지의 규정을 준용한다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0584" marB="105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4620" marR="0" indent="-1346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그 특허권에 대하여 타인에게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허락할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9700" marR="0" indent="-1397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이 법에 따라 또는 설정행위로 정한 범위에서 특허발명을 업으로서 실시할 수 있는 권리를 가진다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7160" marR="0" indent="-1371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재정실시권의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이전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조에 따른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실시사업과 함께 이전하는 경우에만 이전할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3510" marR="0" indent="-1435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통상실시권허락심판에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의한 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실시권의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이전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138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「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실용신안법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」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 또는 「디자인보호법」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조에 따른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통상실시권자의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해당 특허권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실용신안권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디자인권과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함께 이전되고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해당 특허권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실용신안권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디자인권이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소멸되면 함께 소멸된다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0970" marR="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⑤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외의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실시사업과 함께 이전하는 경우 또는 상속이나 그 밖의 일반승계의 경우를 제외하고는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관한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경우에는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전용실시권자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의 동의를 받아야만 이전할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7320" marR="0" indent="-1473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⑥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질권설정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외의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관한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경우에는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전용실시권자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의 동의를 받아야만 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목적으로 하는 질권을 설정할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4620" marR="0" indent="-1346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⑦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공유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0584" marB="105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6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등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록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의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 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효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력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Rix모던고딕 L" pitchFamily="18" charset="-127"/>
                        <a:ea typeface="Rix모던고딕 L" pitchFamily="18" charset="-127"/>
                      </a:endParaRPr>
                    </a:p>
                  </a:txBody>
                  <a:tcPr marL="72000" marR="72000" marT="10584" marB="105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 및 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전용실시권의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등록의 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0970" marR="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등록의 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다음 각 호의 어느 하나에 해당하는 사항은 등록하여야만 효력이 발생한다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3520" marR="0" indent="-2235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특허권의 이전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상속이나 그 밖의 일반승계에 의한 경우는 제외한다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포기에 의한 소멸 또는 처분의 제한</a:t>
                      </a:r>
                    </a:p>
                    <a:p>
                      <a:pPr marL="217170" marR="0" indent="-2171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2.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설정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상속이나 그 밖의 일반승계에 의한 경우는 제외한다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혼동에 의한 경우는 제외한다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또는 처분의 제한</a:t>
                      </a:r>
                    </a:p>
                    <a:p>
                      <a:pPr marL="231140" marR="0" indent="-2311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3.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 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목적으로 하는 질권의 설정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상속이나 그 밖의 일반승계에 의한 경우는 제외한다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혼동에 의한 경우는 제외한다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또는 처분의 제한</a:t>
                      </a: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상속이나 그 밖의 일반승계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 각 호에 따른 특허권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 및 질권의 상속이나 그 밖의 일반승계의 경우에는 지체 없이 그 취지를 지식재산처장에게 신고하여야 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0584" marB="105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118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통상실시권의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등록의 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65100" marR="0" indent="-1651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설정등록의 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등록한 경우에는 그 등록 후에 특허권 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취득한 자에 대해서도 그 효력이 발생한다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56210" marR="0" indent="-1562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법정실시권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설정등록 不要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조부터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105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조까지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122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182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183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 및 「발명진흥법」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등록이 없더라도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항에 따른 효력이 발생한다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그 밖의 등록의 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이전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 또는 처분의 제한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목적으로 하는 질권의 설정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 또는 처분의 제한은 이를 등록하여야만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자에게 대항할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0584" marB="105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68096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실시권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일반 법조문의 해석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423</a:t>
            </a:fld>
            <a:endParaRPr lang="ko-KR" altLang="en-US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901C1B69-57ED-4840-8187-5124CAA9A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204317"/>
              </p:ext>
            </p:extLst>
          </p:nvPr>
        </p:nvGraphicFramePr>
        <p:xfrm>
          <a:off x="591386" y="1475118"/>
          <a:ext cx="10838612" cy="4502988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806436">
                  <a:extLst>
                    <a:ext uri="{9D8B030D-6E8A-4147-A177-3AD203B41FA5}">
                      <a16:colId xmlns:a16="http://schemas.microsoft.com/office/drawing/2014/main" val="3972421538"/>
                    </a:ext>
                  </a:extLst>
                </a:gridCol>
                <a:gridCol w="1806436">
                  <a:extLst>
                    <a:ext uri="{9D8B030D-6E8A-4147-A177-3AD203B41FA5}">
                      <a16:colId xmlns:a16="http://schemas.microsoft.com/office/drawing/2014/main" val="3709726805"/>
                    </a:ext>
                  </a:extLst>
                </a:gridCol>
                <a:gridCol w="3612870">
                  <a:extLst>
                    <a:ext uri="{9D8B030D-6E8A-4147-A177-3AD203B41FA5}">
                      <a16:colId xmlns:a16="http://schemas.microsoft.com/office/drawing/2014/main" val="400982153"/>
                    </a:ext>
                  </a:extLst>
                </a:gridCol>
                <a:gridCol w="3612870">
                  <a:extLst>
                    <a:ext uri="{9D8B030D-6E8A-4147-A177-3AD203B41FA5}">
                      <a16:colId xmlns:a16="http://schemas.microsoft.com/office/drawing/2014/main" val="4080601717"/>
                    </a:ext>
                  </a:extLst>
                </a:gridCol>
              </a:tblGrid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전용실시권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통상실시권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862959"/>
                  </a:ext>
                </a:extLst>
              </a:tr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발생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467488"/>
                  </a:ext>
                </a:extLst>
              </a:tr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효력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860888"/>
                  </a:ext>
                </a:extLst>
              </a:tr>
              <a:tr h="50033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변동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이전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항 내지 제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38407"/>
                  </a:ext>
                </a:extLst>
              </a:tr>
              <a:tr h="50033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통상실시권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569272"/>
                  </a:ext>
                </a:extLst>
              </a:tr>
              <a:tr h="50033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질권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717374"/>
                  </a:ext>
                </a:extLst>
              </a:tr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소멸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052544"/>
                  </a:ext>
                </a:extLst>
              </a:tr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공유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986514"/>
                  </a:ext>
                </a:extLst>
              </a:tr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등록의 효력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101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 err="1"/>
                        <a:t>항제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118</a:t>
                      </a:r>
                      <a:r>
                        <a:rPr lang="ko-KR" altLang="en-US" sz="1400" dirty="0"/>
                        <a:t>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031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09041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119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120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124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소멸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708848"/>
              </p:ext>
            </p:extLst>
          </p:nvPr>
        </p:nvGraphicFramePr>
        <p:xfrm>
          <a:off x="628522" y="1381124"/>
          <a:ext cx="10591927" cy="410710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10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7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3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6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장래를 향해 소멸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소급하여 소멸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95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원인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89230" marR="17780" indent="-17145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kern="1200" dirty="0"/>
                        <a:t>특허료 불납</a:t>
                      </a:r>
                      <a:endParaRPr lang="en-US" altLang="ko-KR" sz="1200" kern="1200" dirty="0"/>
                    </a:p>
                    <a:p>
                      <a:pPr marL="189230" marR="17780" indent="-1714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200" kern="1200" dirty="0"/>
                        <a:t>존속기간의 만료</a:t>
                      </a:r>
                      <a:endParaRPr lang="en-US" altLang="ko-KR" sz="1200" kern="1200" dirty="0"/>
                    </a:p>
                    <a:p>
                      <a:pPr marL="189230" marR="17780" indent="-17145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kern="1200" dirty="0"/>
                        <a:t>특허권의 포기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119, 120)</a:t>
                      </a:r>
                    </a:p>
                    <a:p>
                      <a:pPr marL="189230" marR="17780" indent="-1714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200" kern="1200" dirty="0"/>
                        <a:t>상속인 </a:t>
                      </a:r>
                      <a:r>
                        <a:rPr lang="ko-KR" altLang="en-US" sz="1200" kern="1200" dirty="0" err="1"/>
                        <a:t>부존재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청산절차가 진행 중인 법인의 특허권을 청산종결등기일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청산종결등기가 되었더라도 청산사무가 사실상 끝나지 아니한 경우에는 청산사무가 사실상 끝난 날과 </a:t>
                      </a:r>
                      <a:r>
                        <a:rPr lang="ko-KR" altLang="en-US" sz="1200" kern="1200" dirty="0" err="1"/>
                        <a:t>청산종결등기일부터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6</a:t>
                      </a:r>
                      <a:r>
                        <a:rPr lang="ko-KR" altLang="en-US" sz="1200" kern="1200" dirty="0"/>
                        <a:t>개월이 지난 날 중 빠른 날로 한다</a:t>
                      </a:r>
                      <a:r>
                        <a:rPr lang="en-US" altLang="ko-KR" sz="1200" kern="1200" dirty="0"/>
                        <a:t>)</a:t>
                      </a:r>
                      <a:r>
                        <a:rPr lang="ko-KR" altLang="en-US" sz="1200" kern="1200" dirty="0"/>
                        <a:t>까지 </a:t>
                      </a:r>
                      <a:r>
                        <a:rPr lang="ko-KR" altLang="en-US" sz="1200" kern="1200" dirty="0" err="1"/>
                        <a:t>이전등록하지</a:t>
                      </a:r>
                      <a:r>
                        <a:rPr lang="ko-KR" altLang="en-US" sz="1200" kern="1200" dirty="0"/>
                        <a:t> 아니한 경우 그 다음 날 소멸</a:t>
                      </a:r>
                      <a:r>
                        <a:rPr lang="en-US" altLang="ko-KR" sz="1200" kern="1200" dirty="0"/>
                        <a:t>)(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124)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1450" marR="17780" indent="-1714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200" kern="1200" dirty="0"/>
                        <a:t>특허취소신청에 의한 취소결정의 확정</a:t>
                      </a:r>
                      <a:endParaRPr lang="en-US" altLang="ko-KR" sz="1200" kern="1200" dirty="0"/>
                    </a:p>
                    <a:p>
                      <a:pPr marL="171450" marR="17780" indent="-1714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200" kern="1200" dirty="0"/>
                        <a:t>특허무효심판에 의한 </a:t>
                      </a:r>
                      <a:r>
                        <a:rPr lang="ko-KR" altLang="en-US" sz="1200" kern="1200" dirty="0" err="1"/>
                        <a:t>무효심결의</a:t>
                      </a:r>
                      <a:r>
                        <a:rPr lang="ko-KR" altLang="en-US" sz="1200" kern="1200" dirty="0"/>
                        <a:t> 확정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후발적 무효사유는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65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효과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82563" marR="17780" indent="-1825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특허권 존속기간 만료 후의 디자인보호법상 </a:t>
                      </a:r>
                      <a:r>
                        <a:rPr lang="ko-KR" altLang="en-US" sz="1200" kern="1200" dirty="0" err="1"/>
                        <a:t>법정실시권</a:t>
                      </a:r>
                      <a:r>
                        <a:rPr lang="ko-KR" altLang="en-US" sz="1200" kern="1200" dirty="0"/>
                        <a:t> 인정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디자인 </a:t>
                      </a:r>
                      <a:r>
                        <a:rPr lang="en-US" altLang="ko-KR" sz="1200" kern="1200" dirty="0"/>
                        <a:t>103</a:t>
                      </a:r>
                      <a:r>
                        <a:rPr lang="ko-KR" altLang="en-US" sz="1200" kern="1200" dirty="0"/>
                        <a:t>③④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marL="120650" marR="17780" indent="-1206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특허권 존속기간 만료 후의 상표법상 법정사용권 인정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商標 </a:t>
                      </a:r>
                      <a:r>
                        <a:rPr lang="en-US" altLang="ko-KR" sz="1200" kern="1200" dirty="0"/>
                        <a:t>98)</a:t>
                      </a:r>
                      <a:endParaRPr lang="ko-KR" altLang="en-US" sz="1200" kern="1200" dirty="0"/>
                    </a:p>
                    <a:p>
                      <a:pPr marL="182563" marR="17780" indent="-1825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3. </a:t>
                      </a:r>
                      <a:r>
                        <a:rPr lang="ko-KR" altLang="en-US" sz="1200" kern="1200" dirty="0"/>
                        <a:t>특허료의 추가납부 또는 보전에 의하여 회복한 특허출원과 특허권의 효력 제한 및 법정실시권 인정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81</a:t>
                      </a:r>
                      <a:r>
                        <a:rPr lang="ko-KR" altLang="en-US" sz="1200" kern="1200" dirty="0"/>
                        <a:t>의</a:t>
                      </a:r>
                      <a:r>
                        <a:rPr lang="en-US" altLang="ko-KR" sz="1200" kern="1200" dirty="0"/>
                        <a:t>3)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보상금청구권의 소멸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65</a:t>
                      </a:r>
                      <a:r>
                        <a:rPr lang="ko-KR" altLang="en-US" sz="1200" kern="1200" dirty="0"/>
                        <a:t>⑥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marL="182563" marR="17780" indent="-1825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소급 소멸 전 침해소송은 재심의 대상이며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 err="1"/>
                        <a:t>특허권자에게는</a:t>
                      </a:r>
                      <a:r>
                        <a:rPr lang="ko-KR" altLang="en-US" sz="1200" kern="1200" dirty="0"/>
                        <a:t> 손해배상책임 또는 부당이득반환청구 가능 </a:t>
                      </a:r>
                    </a:p>
                    <a:p>
                      <a:pPr marL="182563" marR="17780" indent="-1825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3. </a:t>
                      </a:r>
                      <a:r>
                        <a:rPr lang="ko-KR" altLang="en-US" sz="1200" kern="1200" dirty="0"/>
                        <a:t>특허취소결정 또는 </a:t>
                      </a:r>
                      <a:r>
                        <a:rPr lang="ko-KR" altLang="en-US" sz="1200" kern="1200" dirty="0" err="1"/>
                        <a:t>무효심결</a:t>
                      </a:r>
                      <a:r>
                        <a:rPr lang="ko-KR" altLang="en-US" sz="1200" kern="1200" dirty="0"/>
                        <a:t> 확정 후 재심에 의하여 상반된 결정 또는 </a:t>
                      </a:r>
                      <a:r>
                        <a:rPr lang="ko-KR" altLang="en-US" sz="1200" kern="1200" dirty="0" err="1"/>
                        <a:t>심결이</a:t>
                      </a:r>
                      <a:r>
                        <a:rPr lang="ko-KR" altLang="en-US" sz="1200" kern="1200" dirty="0"/>
                        <a:t> 확정된 경우 효력 제한 및 </a:t>
                      </a:r>
                      <a:r>
                        <a:rPr lang="ko-KR" altLang="en-US" sz="1200" kern="1200" dirty="0" err="1"/>
                        <a:t>법정실시권</a:t>
                      </a:r>
                      <a:r>
                        <a:rPr lang="ko-KR" altLang="en-US" sz="1200" kern="1200" dirty="0"/>
                        <a:t> 인정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181, 182)</a:t>
                      </a:r>
                      <a:endParaRPr lang="ko-KR" altLang="en-US" sz="1200" kern="1200" dirty="0"/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4. </a:t>
                      </a:r>
                      <a:r>
                        <a:rPr lang="ko-KR" altLang="en-US" sz="1200" kern="1200" dirty="0" err="1"/>
                        <a:t>무효심결확정된</a:t>
                      </a:r>
                      <a:r>
                        <a:rPr lang="ko-KR" altLang="en-US" sz="1200" kern="1200" dirty="0"/>
                        <a:t> 경우 중용권의 발생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104)</a:t>
                      </a:r>
                      <a:endParaRPr lang="ko-KR" altLang="en-US" sz="1200" kern="1200" dirty="0"/>
                    </a:p>
                    <a:p>
                      <a:pPr marL="128270" marR="17780" indent="-1282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5. </a:t>
                      </a:r>
                      <a:r>
                        <a:rPr lang="ko-KR" altLang="en-US" sz="1200" kern="1200" dirty="0" err="1"/>
                        <a:t>무권리자의</a:t>
                      </a:r>
                      <a:r>
                        <a:rPr lang="ko-KR" altLang="en-US" sz="1200" kern="1200" dirty="0"/>
                        <a:t> 특허가 </a:t>
                      </a:r>
                      <a:r>
                        <a:rPr lang="ko-KR" altLang="en-US" sz="1200" kern="1200" dirty="0" err="1"/>
                        <a:t>무효심결확정된</a:t>
                      </a:r>
                      <a:r>
                        <a:rPr lang="ko-KR" altLang="en-US" sz="1200" kern="1200" dirty="0"/>
                        <a:t> 경우 정당한 권리자 출원 가능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35)</a:t>
                      </a:r>
                      <a:endParaRPr lang="ko-KR" altLang="en-US" sz="1200" kern="1200" dirty="0"/>
                    </a:p>
                    <a:p>
                      <a:pPr marL="182563" marR="17780" indent="-1825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6. </a:t>
                      </a:r>
                      <a:r>
                        <a:rPr lang="ko-KR" altLang="en-US" sz="1200" kern="1200" dirty="0"/>
                        <a:t>특허취소결정 또는 </a:t>
                      </a:r>
                      <a:r>
                        <a:rPr lang="ko-KR" altLang="en-US" sz="1200" kern="1200" dirty="0" err="1"/>
                        <a:t>무효심결이</a:t>
                      </a:r>
                      <a:r>
                        <a:rPr lang="ko-KR" altLang="en-US" sz="1200" kern="1200" dirty="0"/>
                        <a:t> 확정된 해의 다음 해부터의 특허료 </a:t>
                      </a:r>
                      <a:r>
                        <a:rPr lang="ko-KR" altLang="en-US" sz="1200" kern="1200" dirty="0" err="1"/>
                        <a:t>해당분의</a:t>
                      </a:r>
                      <a:r>
                        <a:rPr lang="ko-KR" altLang="en-US" sz="1200" kern="1200" dirty="0"/>
                        <a:t> 반환 청구 가능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84)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포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취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27913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특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08078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 체계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4</a:t>
            </a:r>
            <a:r>
              <a:rPr lang="ko-KR" altLang="en-US" dirty="0"/>
              <a:t>장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6</a:t>
            </a:r>
            <a:r>
              <a:rPr lang="ko-KR" altLang="en-US" dirty="0"/>
              <a:t>장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12</a:t>
            </a:r>
            <a:r>
              <a:rPr lang="ko-KR" altLang="en-US" dirty="0"/>
              <a:t>장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58351" y="3217998"/>
            <a:ext cx="1056099" cy="9406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/>
              <a:t>특허권</a:t>
            </a:r>
            <a:endParaRPr lang="ko-KR" altLang="en-US" sz="2400" dirty="0"/>
          </a:p>
        </p:txBody>
      </p:sp>
      <p:sp>
        <p:nvSpPr>
          <p:cNvPr id="39" name="직사각형 38"/>
          <p:cNvSpPr/>
          <p:nvPr/>
        </p:nvSpPr>
        <p:spPr>
          <a:xfrm>
            <a:off x="1720428" y="1098425"/>
            <a:ext cx="548639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720428" y="2034892"/>
            <a:ext cx="548639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1720428" y="3801032"/>
            <a:ext cx="548639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720428" y="5016895"/>
            <a:ext cx="548639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720428" y="5946535"/>
            <a:ext cx="548639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8" name="꺾인 연결선 7"/>
          <p:cNvCxnSpPr>
            <a:stCxn id="31" idx="3"/>
            <a:endCxn id="39" idx="1"/>
          </p:cNvCxnSpPr>
          <p:nvPr/>
        </p:nvCxnSpPr>
        <p:spPr>
          <a:xfrm flipV="1">
            <a:off x="1314450" y="1304207"/>
            <a:ext cx="405978" cy="23841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31" idx="3"/>
            <a:endCxn id="29" idx="1"/>
          </p:cNvCxnSpPr>
          <p:nvPr/>
        </p:nvCxnSpPr>
        <p:spPr>
          <a:xfrm>
            <a:off x="1314450" y="3688311"/>
            <a:ext cx="405978" cy="24640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31" idx="3"/>
            <a:endCxn id="26" idx="1"/>
          </p:cNvCxnSpPr>
          <p:nvPr/>
        </p:nvCxnSpPr>
        <p:spPr>
          <a:xfrm flipV="1">
            <a:off x="1314450" y="2240674"/>
            <a:ext cx="405978" cy="144763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31" idx="3"/>
            <a:endCxn id="28" idx="1"/>
          </p:cNvCxnSpPr>
          <p:nvPr/>
        </p:nvCxnSpPr>
        <p:spPr>
          <a:xfrm>
            <a:off x="1314450" y="3688311"/>
            <a:ext cx="405978" cy="15343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31" idx="3"/>
            <a:endCxn id="27" idx="1"/>
          </p:cNvCxnSpPr>
          <p:nvPr/>
        </p:nvCxnSpPr>
        <p:spPr>
          <a:xfrm>
            <a:off x="1314450" y="3688311"/>
            <a:ext cx="405978" cy="31850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2496554" y="980649"/>
            <a:ext cx="1855313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79~86)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496554" y="1243466"/>
            <a:ext cx="1855313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87)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2496555" y="4427019"/>
            <a:ext cx="1719262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질권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121~123)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502429" y="5426325"/>
            <a:ext cx="475192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2496555" y="1712973"/>
            <a:ext cx="576316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496555" y="2794335"/>
            <a:ext cx="576316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2496555" y="4120663"/>
            <a:ext cx="1474256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 err="1">
                <a:solidFill>
                  <a:schemeClr val="tx2"/>
                </a:solidFill>
              </a:rPr>
              <a:t>실시권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495550" y="5890827"/>
            <a:ext cx="138112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실시보고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125)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495550" y="6178410"/>
            <a:ext cx="138112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125</a:t>
            </a:r>
            <a:r>
              <a:rPr lang="ko-KR" altLang="en-US" sz="1100" dirty="0">
                <a:solidFill>
                  <a:schemeClr val="tx2"/>
                </a:solidFill>
              </a:rPr>
              <a:t>의</a:t>
            </a:r>
            <a:r>
              <a:rPr lang="en-US" altLang="ko-KR" sz="1100" dirty="0">
                <a:solidFill>
                  <a:schemeClr val="tx2"/>
                </a:solidFill>
              </a:rPr>
              <a:t>2)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cxnSp>
        <p:nvCxnSpPr>
          <p:cNvPr id="20" name="꺾인 연결선 19"/>
          <p:cNvCxnSpPr>
            <a:stCxn id="39" idx="3"/>
            <a:endCxn id="50" idx="1"/>
          </p:cNvCxnSpPr>
          <p:nvPr/>
        </p:nvCxnSpPr>
        <p:spPr>
          <a:xfrm flipV="1">
            <a:off x="2269067" y="1115731"/>
            <a:ext cx="227487" cy="1884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39" idx="3"/>
            <a:endCxn id="51" idx="1"/>
          </p:cNvCxnSpPr>
          <p:nvPr/>
        </p:nvCxnSpPr>
        <p:spPr>
          <a:xfrm>
            <a:off x="2269067" y="1304207"/>
            <a:ext cx="227487" cy="743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26" idx="3"/>
            <a:endCxn id="54" idx="1"/>
          </p:cNvCxnSpPr>
          <p:nvPr/>
        </p:nvCxnSpPr>
        <p:spPr>
          <a:xfrm flipV="1">
            <a:off x="2269067" y="1848055"/>
            <a:ext cx="227488" cy="3926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26" idx="3"/>
            <a:endCxn id="55" idx="1"/>
          </p:cNvCxnSpPr>
          <p:nvPr/>
        </p:nvCxnSpPr>
        <p:spPr>
          <a:xfrm>
            <a:off x="2269067" y="2240674"/>
            <a:ext cx="227488" cy="68874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27" idx="3"/>
            <a:endCxn id="56" idx="1"/>
          </p:cNvCxnSpPr>
          <p:nvPr/>
        </p:nvCxnSpPr>
        <p:spPr>
          <a:xfrm>
            <a:off x="2269067" y="4006814"/>
            <a:ext cx="227488" cy="2489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28" idx="3"/>
            <a:endCxn id="53" idx="1"/>
          </p:cNvCxnSpPr>
          <p:nvPr/>
        </p:nvCxnSpPr>
        <p:spPr>
          <a:xfrm>
            <a:off x="2269067" y="5222677"/>
            <a:ext cx="233362" cy="3387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29" idx="3"/>
            <a:endCxn id="57" idx="1"/>
          </p:cNvCxnSpPr>
          <p:nvPr/>
        </p:nvCxnSpPr>
        <p:spPr>
          <a:xfrm flipV="1">
            <a:off x="2269067" y="6025909"/>
            <a:ext cx="226483" cy="1264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29" idx="3"/>
            <a:endCxn id="58" idx="1"/>
          </p:cNvCxnSpPr>
          <p:nvPr/>
        </p:nvCxnSpPr>
        <p:spPr>
          <a:xfrm>
            <a:off x="2269067" y="6152317"/>
            <a:ext cx="226483" cy="1611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3334744" y="1712972"/>
            <a:ext cx="636067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3334744" y="2019604"/>
            <a:ext cx="636067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3334744" y="2320785"/>
            <a:ext cx="636067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4133725" y="1458726"/>
            <a:ext cx="2117850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존속기간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88)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133725" y="1719638"/>
            <a:ext cx="2117850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89~93, 95)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133724" y="2019604"/>
            <a:ext cx="191452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4133725" y="2320784"/>
            <a:ext cx="191452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3348548" y="2632109"/>
            <a:ext cx="622263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3348548" y="3224491"/>
            <a:ext cx="2018664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제한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81</a:t>
            </a:r>
            <a:r>
              <a:rPr lang="ko-KR" altLang="en-US" sz="1100" dirty="0">
                <a:solidFill>
                  <a:schemeClr val="tx2"/>
                </a:solidFill>
              </a:rPr>
              <a:t>의</a:t>
            </a:r>
            <a:r>
              <a:rPr lang="en-US" altLang="ko-KR" sz="1100" dirty="0">
                <a:solidFill>
                  <a:schemeClr val="tx2"/>
                </a:solidFill>
              </a:rPr>
              <a:t>3④, 96, 181/98)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3348548" y="3457092"/>
            <a:ext cx="2018664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확장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127)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2496555" y="3801032"/>
            <a:ext cx="1719262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이전 및 공유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99, 99</a:t>
            </a:r>
            <a:r>
              <a:rPr lang="ko-KR" altLang="en-US" sz="1100" dirty="0">
                <a:solidFill>
                  <a:schemeClr val="tx2"/>
                </a:solidFill>
              </a:rPr>
              <a:t>의</a:t>
            </a:r>
            <a:r>
              <a:rPr lang="en-US" altLang="ko-KR" sz="1100" dirty="0">
                <a:solidFill>
                  <a:schemeClr val="tx2"/>
                </a:solidFill>
              </a:rPr>
              <a:t>2)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4254268" y="4746649"/>
            <a:ext cx="3789891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106</a:t>
            </a:r>
            <a:r>
              <a:rPr lang="ko-KR" altLang="en-US" sz="1100" dirty="0">
                <a:solidFill>
                  <a:schemeClr val="tx2"/>
                </a:solidFill>
              </a:rPr>
              <a:t>의</a:t>
            </a:r>
            <a:r>
              <a:rPr lang="en-US" altLang="ko-KR" sz="1100" dirty="0">
                <a:solidFill>
                  <a:schemeClr val="tx2"/>
                </a:solidFill>
              </a:rPr>
              <a:t>2, 107~115, 138)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254268" y="4440293"/>
            <a:ext cx="3789891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81</a:t>
            </a:r>
            <a:r>
              <a:rPr lang="ko-KR" altLang="en-US" sz="1100" dirty="0">
                <a:solidFill>
                  <a:schemeClr val="tx2"/>
                </a:solidFill>
              </a:rPr>
              <a:t>의</a:t>
            </a:r>
            <a:r>
              <a:rPr lang="en-US" altLang="ko-KR" sz="11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1100" dirty="0" err="1">
                <a:solidFill>
                  <a:schemeClr val="tx2"/>
                </a:solidFill>
              </a:rPr>
              <a:t>발진법</a:t>
            </a:r>
            <a:r>
              <a:rPr lang="en-US" altLang="ko-KR" sz="1100" dirty="0">
                <a:solidFill>
                  <a:schemeClr val="tx2"/>
                </a:solidFill>
              </a:rPr>
              <a:t>10</a:t>
            </a:r>
            <a:r>
              <a:rPr lang="ko-KR" altLang="en-US" sz="1100" dirty="0">
                <a:solidFill>
                  <a:schemeClr val="tx2"/>
                </a:solidFill>
              </a:rPr>
              <a:t>①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254268" y="4120662"/>
            <a:ext cx="3789891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일반론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100~102, 118)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2502429" y="5087595"/>
            <a:ext cx="475192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3239494" y="5262500"/>
            <a:ext cx="1816311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장래소멸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119, 120, 124)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3239494" y="5022819"/>
            <a:ext cx="1816311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10" name="꺾인 연결선 109"/>
          <p:cNvCxnSpPr>
            <a:stCxn id="54" idx="3"/>
            <a:endCxn id="72" idx="1"/>
          </p:cNvCxnSpPr>
          <p:nvPr/>
        </p:nvCxnSpPr>
        <p:spPr>
          <a:xfrm flipV="1">
            <a:off x="3072871" y="1848054"/>
            <a:ext cx="261873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54" idx="3"/>
            <a:endCxn id="73" idx="1"/>
          </p:cNvCxnSpPr>
          <p:nvPr/>
        </p:nvCxnSpPr>
        <p:spPr>
          <a:xfrm>
            <a:off x="3072871" y="1848055"/>
            <a:ext cx="261873" cy="3066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>
            <a:stCxn id="54" idx="3"/>
            <a:endCxn id="75" idx="1"/>
          </p:cNvCxnSpPr>
          <p:nvPr/>
        </p:nvCxnSpPr>
        <p:spPr>
          <a:xfrm>
            <a:off x="3072871" y="1848055"/>
            <a:ext cx="261873" cy="6078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72" idx="3"/>
            <a:endCxn id="79" idx="1"/>
          </p:cNvCxnSpPr>
          <p:nvPr/>
        </p:nvCxnSpPr>
        <p:spPr>
          <a:xfrm flipV="1">
            <a:off x="3970811" y="1593808"/>
            <a:ext cx="162914" cy="25424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7"/>
          <p:cNvCxnSpPr>
            <a:stCxn id="72" idx="3"/>
            <a:endCxn id="81" idx="1"/>
          </p:cNvCxnSpPr>
          <p:nvPr/>
        </p:nvCxnSpPr>
        <p:spPr>
          <a:xfrm>
            <a:off x="3970811" y="1848054"/>
            <a:ext cx="162914" cy="66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>
            <a:stCxn id="73" idx="3"/>
            <a:endCxn id="83" idx="1"/>
          </p:cNvCxnSpPr>
          <p:nvPr/>
        </p:nvCxnSpPr>
        <p:spPr>
          <a:xfrm>
            <a:off x="3970811" y="2154686"/>
            <a:ext cx="16291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>
            <a:stCxn id="75" idx="3"/>
            <a:endCxn id="85" idx="1"/>
          </p:cNvCxnSpPr>
          <p:nvPr/>
        </p:nvCxnSpPr>
        <p:spPr>
          <a:xfrm flipV="1">
            <a:off x="3970811" y="2455866"/>
            <a:ext cx="162914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127"/>
          <p:cNvCxnSpPr>
            <a:stCxn id="55" idx="3"/>
            <a:endCxn id="91" idx="1"/>
          </p:cNvCxnSpPr>
          <p:nvPr/>
        </p:nvCxnSpPr>
        <p:spPr>
          <a:xfrm>
            <a:off x="3072871" y="2929417"/>
            <a:ext cx="275677" cy="6627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55" idx="3"/>
            <a:endCxn id="87" idx="1"/>
          </p:cNvCxnSpPr>
          <p:nvPr/>
        </p:nvCxnSpPr>
        <p:spPr>
          <a:xfrm flipV="1">
            <a:off x="3072871" y="2767191"/>
            <a:ext cx="275677" cy="1622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55" idx="3"/>
            <a:endCxn id="89" idx="1"/>
          </p:cNvCxnSpPr>
          <p:nvPr/>
        </p:nvCxnSpPr>
        <p:spPr>
          <a:xfrm>
            <a:off x="3072871" y="2929417"/>
            <a:ext cx="275677" cy="4301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>
            <a:stCxn id="27" idx="3"/>
            <a:endCxn id="93" idx="1"/>
          </p:cNvCxnSpPr>
          <p:nvPr/>
        </p:nvCxnSpPr>
        <p:spPr>
          <a:xfrm flipV="1">
            <a:off x="2269067" y="3936114"/>
            <a:ext cx="227488" cy="70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 139"/>
          <p:cNvCxnSpPr>
            <a:stCxn id="27" idx="3"/>
            <a:endCxn id="52" idx="1"/>
          </p:cNvCxnSpPr>
          <p:nvPr/>
        </p:nvCxnSpPr>
        <p:spPr>
          <a:xfrm>
            <a:off x="2269067" y="4006814"/>
            <a:ext cx="227488" cy="55528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꺾인 연결선 142"/>
          <p:cNvCxnSpPr>
            <a:stCxn id="56" idx="3"/>
            <a:endCxn id="95" idx="1"/>
          </p:cNvCxnSpPr>
          <p:nvPr/>
        </p:nvCxnSpPr>
        <p:spPr>
          <a:xfrm>
            <a:off x="3970811" y="4255745"/>
            <a:ext cx="283457" cy="6259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56" idx="3"/>
            <a:endCxn id="99" idx="1"/>
          </p:cNvCxnSpPr>
          <p:nvPr/>
        </p:nvCxnSpPr>
        <p:spPr>
          <a:xfrm flipV="1">
            <a:off x="3970811" y="4255744"/>
            <a:ext cx="283457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56" idx="3"/>
            <a:endCxn id="97" idx="1"/>
          </p:cNvCxnSpPr>
          <p:nvPr/>
        </p:nvCxnSpPr>
        <p:spPr>
          <a:xfrm>
            <a:off x="3970811" y="4255745"/>
            <a:ext cx="283457" cy="3196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28" idx="3"/>
            <a:endCxn id="101" idx="1"/>
          </p:cNvCxnSpPr>
          <p:nvPr/>
        </p:nvCxnSpPr>
        <p:spPr>
          <a:xfrm>
            <a:off x="2269067" y="5222677"/>
            <a:ext cx="233362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 154"/>
          <p:cNvCxnSpPr>
            <a:stCxn id="101" idx="3"/>
            <a:endCxn id="103" idx="1"/>
          </p:cNvCxnSpPr>
          <p:nvPr/>
        </p:nvCxnSpPr>
        <p:spPr>
          <a:xfrm>
            <a:off x="2977621" y="5222677"/>
            <a:ext cx="261873" cy="17490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 157"/>
          <p:cNvCxnSpPr>
            <a:stCxn id="101" idx="3"/>
            <a:endCxn id="105" idx="1"/>
          </p:cNvCxnSpPr>
          <p:nvPr/>
        </p:nvCxnSpPr>
        <p:spPr>
          <a:xfrm flipV="1">
            <a:off x="2977621" y="5157901"/>
            <a:ext cx="261873" cy="647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직사각형 161"/>
          <p:cNvSpPr/>
          <p:nvPr/>
        </p:nvSpPr>
        <p:spPr>
          <a:xfrm>
            <a:off x="4511443" y="2632109"/>
            <a:ext cx="1289282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적극적 효력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94)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4511443" y="2929417"/>
            <a:ext cx="1289282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소극적 효력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침해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cxnSp>
        <p:nvCxnSpPr>
          <p:cNvPr id="165" name="꺾인 연결선 164"/>
          <p:cNvCxnSpPr>
            <a:stCxn id="87" idx="3"/>
            <a:endCxn id="163" idx="1"/>
          </p:cNvCxnSpPr>
          <p:nvPr/>
        </p:nvCxnSpPr>
        <p:spPr>
          <a:xfrm>
            <a:off x="3970811" y="2767191"/>
            <a:ext cx="540632" cy="2973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꺾인 연결선 166"/>
          <p:cNvCxnSpPr>
            <a:stCxn id="87" idx="3"/>
            <a:endCxn id="162" idx="1"/>
          </p:cNvCxnSpPr>
          <p:nvPr/>
        </p:nvCxnSpPr>
        <p:spPr>
          <a:xfrm>
            <a:off x="3970811" y="2767191"/>
            <a:ext cx="540632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/>
          <p:cNvSpPr/>
          <p:nvPr/>
        </p:nvSpPr>
        <p:spPr>
          <a:xfrm>
            <a:off x="6804025" y="1371549"/>
            <a:ext cx="835025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70" name="직사각형 169"/>
          <p:cNvSpPr/>
          <p:nvPr/>
        </p:nvSpPr>
        <p:spPr>
          <a:xfrm>
            <a:off x="6804025" y="2902782"/>
            <a:ext cx="835025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6804025" y="4094764"/>
            <a:ext cx="835025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조치</a:t>
            </a:r>
          </a:p>
        </p:txBody>
      </p:sp>
      <p:sp>
        <p:nvSpPr>
          <p:cNvPr id="172" name="직사각형 171"/>
          <p:cNvSpPr/>
          <p:nvPr/>
        </p:nvSpPr>
        <p:spPr>
          <a:xfrm>
            <a:off x="8328024" y="872266"/>
            <a:ext cx="363537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특허권 존속 中</a:t>
            </a:r>
          </a:p>
        </p:txBody>
      </p:sp>
      <p:sp>
        <p:nvSpPr>
          <p:cNvPr id="173" name="직사각형 172"/>
          <p:cNvSpPr/>
          <p:nvPr/>
        </p:nvSpPr>
        <p:spPr>
          <a:xfrm>
            <a:off x="8328024" y="1146133"/>
            <a:ext cx="363537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정당한 권원이 없는 자</a:t>
            </a:r>
          </a:p>
        </p:txBody>
      </p:sp>
      <p:sp>
        <p:nvSpPr>
          <p:cNvPr id="174" name="직사각형 173"/>
          <p:cNvSpPr/>
          <p:nvPr/>
        </p:nvSpPr>
        <p:spPr>
          <a:xfrm>
            <a:off x="8328024" y="1421669"/>
            <a:ext cx="363537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업으로서</a:t>
            </a:r>
          </a:p>
        </p:txBody>
      </p:sp>
      <p:sp>
        <p:nvSpPr>
          <p:cNvPr id="175" name="직사각형 174"/>
          <p:cNvSpPr/>
          <p:nvPr/>
        </p:nvSpPr>
        <p:spPr>
          <a:xfrm>
            <a:off x="8328024" y="1691832"/>
            <a:ext cx="363537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특허발명의 보호범위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97)</a:t>
            </a:r>
            <a:r>
              <a:rPr lang="ko-KR" altLang="en-US" sz="1100" dirty="0">
                <a:solidFill>
                  <a:schemeClr val="tx2"/>
                </a:solidFill>
              </a:rPr>
              <a:t>에 속하는 발명을 실시</a:t>
            </a:r>
          </a:p>
        </p:txBody>
      </p:sp>
      <p:cxnSp>
        <p:nvCxnSpPr>
          <p:cNvPr id="179" name="꺾인 연결선 178"/>
          <p:cNvCxnSpPr>
            <a:stCxn id="163" idx="3"/>
            <a:endCxn id="169" idx="1"/>
          </p:cNvCxnSpPr>
          <p:nvPr/>
        </p:nvCxnSpPr>
        <p:spPr>
          <a:xfrm flipV="1">
            <a:off x="5800725" y="1506631"/>
            <a:ext cx="1003300" cy="15578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63" idx="3"/>
            <a:endCxn id="171" idx="1"/>
          </p:cNvCxnSpPr>
          <p:nvPr/>
        </p:nvCxnSpPr>
        <p:spPr>
          <a:xfrm>
            <a:off x="5800725" y="3064499"/>
            <a:ext cx="1003300" cy="11653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63" idx="3"/>
            <a:endCxn id="170" idx="1"/>
          </p:cNvCxnSpPr>
          <p:nvPr/>
        </p:nvCxnSpPr>
        <p:spPr>
          <a:xfrm flipV="1">
            <a:off x="5800725" y="3037864"/>
            <a:ext cx="1003300" cy="266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9" idx="3"/>
            <a:endCxn id="172" idx="1"/>
          </p:cNvCxnSpPr>
          <p:nvPr/>
        </p:nvCxnSpPr>
        <p:spPr>
          <a:xfrm flipV="1">
            <a:off x="7639050" y="1007348"/>
            <a:ext cx="688974" cy="4992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꺾인 연결선 186"/>
          <p:cNvCxnSpPr>
            <a:stCxn id="169" idx="3"/>
            <a:endCxn id="173" idx="1"/>
          </p:cNvCxnSpPr>
          <p:nvPr/>
        </p:nvCxnSpPr>
        <p:spPr>
          <a:xfrm flipV="1">
            <a:off x="7639050" y="1281215"/>
            <a:ext cx="688974" cy="22541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꺾인 연결선 190"/>
          <p:cNvCxnSpPr>
            <a:stCxn id="169" idx="3"/>
            <a:endCxn id="174" idx="1"/>
          </p:cNvCxnSpPr>
          <p:nvPr/>
        </p:nvCxnSpPr>
        <p:spPr>
          <a:xfrm>
            <a:off x="7639050" y="1506631"/>
            <a:ext cx="688974" cy="5012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꺾인 연결선 192"/>
          <p:cNvCxnSpPr>
            <a:stCxn id="169" idx="3"/>
            <a:endCxn id="175" idx="1"/>
          </p:cNvCxnSpPr>
          <p:nvPr/>
        </p:nvCxnSpPr>
        <p:spPr>
          <a:xfrm>
            <a:off x="7639050" y="1506631"/>
            <a:ext cx="688974" cy="3202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직사각형 194"/>
          <p:cNvSpPr/>
          <p:nvPr/>
        </p:nvSpPr>
        <p:spPr>
          <a:xfrm>
            <a:off x="8304508" y="1990161"/>
            <a:ext cx="1239541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직접침해</a:t>
            </a:r>
          </a:p>
        </p:txBody>
      </p:sp>
      <p:sp>
        <p:nvSpPr>
          <p:cNvPr id="196" name="직사각형 195"/>
          <p:cNvSpPr/>
          <p:nvPr/>
        </p:nvSpPr>
        <p:spPr>
          <a:xfrm>
            <a:off x="8304508" y="3728266"/>
            <a:ext cx="1239541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간접침해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127)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9834277" y="1942155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문언침해</a:t>
            </a: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9834277" y="2219939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균등침해</a:t>
            </a:r>
          </a:p>
        </p:txBody>
      </p:sp>
      <p:sp>
        <p:nvSpPr>
          <p:cNvPr id="199" name="모서리가 둥근 직사각형 198"/>
          <p:cNvSpPr/>
          <p:nvPr/>
        </p:nvSpPr>
        <p:spPr>
          <a:xfrm>
            <a:off x="9834277" y="2507021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2"/>
                </a:solidFill>
              </a:rPr>
              <a:t>이용</a:t>
            </a:r>
            <a:r>
              <a:rPr lang="en-US" altLang="ko-KR" sz="1100" b="1" dirty="0">
                <a:solidFill>
                  <a:schemeClr val="tx2"/>
                </a:solidFill>
              </a:rPr>
              <a:t>/</a:t>
            </a:r>
            <a:r>
              <a:rPr lang="ko-KR" altLang="en-US" sz="1100" b="1" dirty="0">
                <a:solidFill>
                  <a:schemeClr val="tx2"/>
                </a:solidFill>
              </a:rPr>
              <a:t>저촉 침해</a:t>
            </a:r>
            <a:r>
              <a:rPr lang="en-US" altLang="ko-KR" sz="1100" b="1" dirty="0">
                <a:solidFill>
                  <a:schemeClr val="tx2"/>
                </a:solidFill>
              </a:rPr>
              <a:t>(</a:t>
            </a:r>
            <a:r>
              <a:rPr lang="ko-KR" altLang="en-US" sz="1100" b="1" dirty="0">
                <a:solidFill>
                  <a:schemeClr val="tx2"/>
                </a:solidFill>
              </a:rPr>
              <a:t>法 </a:t>
            </a:r>
            <a:r>
              <a:rPr lang="en-US" altLang="ko-KR" sz="1100" b="1" dirty="0">
                <a:solidFill>
                  <a:schemeClr val="tx2"/>
                </a:solidFill>
              </a:rPr>
              <a:t>98)</a:t>
            </a:r>
            <a:endParaRPr lang="ko-KR" altLang="en-US" sz="1100" b="1" dirty="0">
              <a:solidFill>
                <a:schemeClr val="tx2"/>
              </a:solidFill>
            </a:endParaRPr>
          </a:p>
        </p:txBody>
      </p:sp>
      <p:sp>
        <p:nvSpPr>
          <p:cNvPr id="200" name="모서리가 둥근 직사각형 199"/>
          <p:cNvSpPr/>
          <p:nvPr/>
        </p:nvSpPr>
        <p:spPr>
          <a:xfrm>
            <a:off x="9834277" y="2795496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생략</a:t>
            </a:r>
            <a:r>
              <a:rPr lang="en-US" altLang="ko-KR" sz="1100" dirty="0">
                <a:solidFill>
                  <a:schemeClr val="tx2"/>
                </a:solidFill>
              </a:rPr>
              <a:t>/</a:t>
            </a:r>
            <a:r>
              <a:rPr lang="ko-KR" altLang="en-US" sz="1100" dirty="0">
                <a:solidFill>
                  <a:schemeClr val="tx2"/>
                </a:solidFill>
              </a:rPr>
              <a:t>불완전이용침해</a:t>
            </a:r>
          </a:p>
        </p:txBody>
      </p:sp>
      <p:sp>
        <p:nvSpPr>
          <p:cNvPr id="201" name="모서리가 둥근 직사각형 200"/>
          <p:cNvSpPr/>
          <p:nvPr/>
        </p:nvSpPr>
        <p:spPr>
          <a:xfrm>
            <a:off x="9834277" y="3073710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선택침해</a:t>
            </a: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9834277" y="3351267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우회침해</a:t>
            </a:r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9834277" y="3576514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물건의 특허발명침해</a:t>
            </a:r>
          </a:p>
        </p:txBody>
      </p:sp>
      <p:sp>
        <p:nvSpPr>
          <p:cNvPr id="204" name="모서리가 둥근 직사각형 203"/>
          <p:cNvSpPr/>
          <p:nvPr/>
        </p:nvSpPr>
        <p:spPr>
          <a:xfrm>
            <a:off x="9834277" y="3855465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방법의 특허발명침해</a:t>
            </a:r>
          </a:p>
        </p:txBody>
      </p:sp>
      <p:cxnSp>
        <p:nvCxnSpPr>
          <p:cNvPr id="206" name="꺾인 연결선 205"/>
          <p:cNvCxnSpPr>
            <a:stCxn id="170" idx="3"/>
            <a:endCxn id="195" idx="1"/>
          </p:cNvCxnSpPr>
          <p:nvPr/>
        </p:nvCxnSpPr>
        <p:spPr>
          <a:xfrm flipV="1">
            <a:off x="7639050" y="2125243"/>
            <a:ext cx="665458" cy="91262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꺾인 연결선 207"/>
          <p:cNvCxnSpPr>
            <a:stCxn id="170" idx="3"/>
            <a:endCxn id="196" idx="1"/>
          </p:cNvCxnSpPr>
          <p:nvPr/>
        </p:nvCxnSpPr>
        <p:spPr>
          <a:xfrm>
            <a:off x="7639050" y="3037864"/>
            <a:ext cx="665458" cy="8254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꺾인 연결선 215"/>
          <p:cNvCxnSpPr>
            <a:stCxn id="195" idx="3"/>
            <a:endCxn id="197" idx="1"/>
          </p:cNvCxnSpPr>
          <p:nvPr/>
        </p:nvCxnSpPr>
        <p:spPr>
          <a:xfrm flipV="1">
            <a:off x="9544049" y="2078211"/>
            <a:ext cx="290228" cy="470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꺾인 연결선 217"/>
          <p:cNvCxnSpPr>
            <a:stCxn id="195" idx="3"/>
            <a:endCxn id="202" idx="1"/>
          </p:cNvCxnSpPr>
          <p:nvPr/>
        </p:nvCxnSpPr>
        <p:spPr>
          <a:xfrm>
            <a:off x="9544049" y="2125243"/>
            <a:ext cx="290228" cy="13620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꺾인 연결선 219"/>
          <p:cNvCxnSpPr>
            <a:stCxn id="195" idx="3"/>
            <a:endCxn id="198" idx="1"/>
          </p:cNvCxnSpPr>
          <p:nvPr/>
        </p:nvCxnSpPr>
        <p:spPr>
          <a:xfrm>
            <a:off x="9544049" y="2125243"/>
            <a:ext cx="290228" cy="23075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꺾인 연결선 221"/>
          <p:cNvCxnSpPr>
            <a:stCxn id="195" idx="3"/>
            <a:endCxn id="199" idx="1"/>
          </p:cNvCxnSpPr>
          <p:nvPr/>
        </p:nvCxnSpPr>
        <p:spPr>
          <a:xfrm>
            <a:off x="9544049" y="2125243"/>
            <a:ext cx="290228" cy="5178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꺾인 연결선 223"/>
          <p:cNvCxnSpPr>
            <a:stCxn id="195" idx="3"/>
            <a:endCxn id="200" idx="1"/>
          </p:cNvCxnSpPr>
          <p:nvPr/>
        </p:nvCxnSpPr>
        <p:spPr>
          <a:xfrm>
            <a:off x="9544049" y="2125243"/>
            <a:ext cx="290228" cy="8063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꺾인 연결선 225"/>
          <p:cNvCxnSpPr>
            <a:stCxn id="195" idx="3"/>
            <a:endCxn id="201" idx="1"/>
          </p:cNvCxnSpPr>
          <p:nvPr/>
        </p:nvCxnSpPr>
        <p:spPr>
          <a:xfrm>
            <a:off x="9544049" y="2125243"/>
            <a:ext cx="290228" cy="108452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꺾인 연결선 227"/>
          <p:cNvCxnSpPr>
            <a:stCxn id="196" idx="3"/>
            <a:endCxn id="203" idx="1"/>
          </p:cNvCxnSpPr>
          <p:nvPr/>
        </p:nvCxnSpPr>
        <p:spPr>
          <a:xfrm flipV="1">
            <a:off x="9544049" y="3712570"/>
            <a:ext cx="290228" cy="15077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196" idx="3"/>
            <a:endCxn id="204" idx="1"/>
          </p:cNvCxnSpPr>
          <p:nvPr/>
        </p:nvCxnSpPr>
        <p:spPr>
          <a:xfrm>
            <a:off x="9544049" y="3863348"/>
            <a:ext cx="290228" cy="1281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모서리가 둥근 직사각형 230"/>
          <p:cNvSpPr/>
          <p:nvPr/>
        </p:nvSpPr>
        <p:spPr>
          <a:xfrm>
            <a:off x="8304508" y="4109295"/>
            <a:ext cx="1239541" cy="27211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민사적 조치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8304507" y="5738577"/>
            <a:ext cx="1239542" cy="27211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형사적 조치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9833750" y="4150185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침해금지예방청구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126)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9833750" y="4485642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손해배상청구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128)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9833750" y="4810824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신용회복청구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131)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9833750" y="5137399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부당이득반환청구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民法 </a:t>
            </a:r>
            <a:r>
              <a:rPr lang="en-US" altLang="ko-KR" sz="1100" dirty="0">
                <a:solidFill>
                  <a:schemeClr val="tx2"/>
                </a:solidFill>
              </a:rPr>
              <a:t>741)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7" name="모서리가 둥근 직사각형 236"/>
          <p:cNvSpPr/>
          <p:nvPr/>
        </p:nvSpPr>
        <p:spPr>
          <a:xfrm>
            <a:off x="9833750" y="5483087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tx2"/>
                </a:solidFill>
              </a:rPr>
              <a:t>침해죄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225)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9833750" y="5808269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몰수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231)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9833750" y="6134844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tx2"/>
                </a:solidFill>
              </a:rPr>
              <a:t>양벌규정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230)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cxnSp>
        <p:nvCxnSpPr>
          <p:cNvPr id="240" name="꺾인 연결선 239"/>
          <p:cNvCxnSpPr>
            <a:stCxn id="231" idx="3"/>
            <a:endCxn id="233" idx="1"/>
          </p:cNvCxnSpPr>
          <p:nvPr/>
        </p:nvCxnSpPr>
        <p:spPr>
          <a:xfrm>
            <a:off x="9544049" y="4245351"/>
            <a:ext cx="289701" cy="408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31" idx="3"/>
            <a:endCxn id="234" idx="1"/>
          </p:cNvCxnSpPr>
          <p:nvPr/>
        </p:nvCxnSpPr>
        <p:spPr>
          <a:xfrm>
            <a:off x="9544049" y="4245351"/>
            <a:ext cx="289701" cy="3763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31" idx="3"/>
            <a:endCxn id="235" idx="1"/>
          </p:cNvCxnSpPr>
          <p:nvPr/>
        </p:nvCxnSpPr>
        <p:spPr>
          <a:xfrm>
            <a:off x="9544049" y="4245351"/>
            <a:ext cx="289701" cy="7015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31" idx="3"/>
            <a:endCxn id="236" idx="1"/>
          </p:cNvCxnSpPr>
          <p:nvPr/>
        </p:nvCxnSpPr>
        <p:spPr>
          <a:xfrm>
            <a:off x="9544049" y="4245351"/>
            <a:ext cx="289701" cy="10281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32" idx="3"/>
            <a:endCxn id="237" idx="1"/>
          </p:cNvCxnSpPr>
          <p:nvPr/>
        </p:nvCxnSpPr>
        <p:spPr>
          <a:xfrm flipV="1">
            <a:off x="9544049" y="5619143"/>
            <a:ext cx="289701" cy="2554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32" idx="3"/>
            <a:endCxn id="239" idx="1"/>
          </p:cNvCxnSpPr>
          <p:nvPr/>
        </p:nvCxnSpPr>
        <p:spPr>
          <a:xfrm>
            <a:off x="9544049" y="5874633"/>
            <a:ext cx="289701" cy="3962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32" idx="3"/>
            <a:endCxn id="238" idx="1"/>
          </p:cNvCxnSpPr>
          <p:nvPr/>
        </p:nvCxnSpPr>
        <p:spPr>
          <a:xfrm>
            <a:off x="9544049" y="5874633"/>
            <a:ext cx="289701" cy="696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꺾인 연결선 272"/>
          <p:cNvCxnSpPr>
            <a:stCxn id="171" idx="3"/>
            <a:endCxn id="231" idx="1"/>
          </p:cNvCxnSpPr>
          <p:nvPr/>
        </p:nvCxnSpPr>
        <p:spPr>
          <a:xfrm>
            <a:off x="7639050" y="4229846"/>
            <a:ext cx="665458" cy="1550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꺾인 연결선 274"/>
          <p:cNvCxnSpPr>
            <a:stCxn id="171" idx="3"/>
            <a:endCxn id="232" idx="1"/>
          </p:cNvCxnSpPr>
          <p:nvPr/>
        </p:nvCxnSpPr>
        <p:spPr>
          <a:xfrm>
            <a:off x="7639050" y="4229846"/>
            <a:ext cx="665457" cy="164478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81439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특허법상 권리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020786"/>
              </p:ext>
            </p:extLst>
          </p:nvPr>
        </p:nvGraphicFramePr>
        <p:xfrm>
          <a:off x="171450" y="976002"/>
          <a:ext cx="11658600" cy="582475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9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1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6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6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351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  <a:latin typeface="+mn-ea"/>
                          <a:ea typeface="+mn-ea"/>
                        </a:rPr>
                        <a:t>권리　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  <a:latin typeface="+mn-ea"/>
                          <a:ea typeface="+mn-ea"/>
                        </a:rPr>
                        <a:t>특허권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effectLst/>
                          <a:latin typeface="+mn-ea"/>
                          <a:ea typeface="+mn-ea"/>
                        </a:rPr>
                        <a:t>실시권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35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전용권</a:t>
                      </a: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통상권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35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서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의의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발명이라는 기술적 사상의 창작에 대하여 법률에 의하여 부여된 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독점배타권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특허권자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이외의 자가 업으로서 특허발명을 실시할 수 있는 권리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취지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새로운 발명을 공개시킨 자에게 그 대가로서 독점배타권을 부여하여 산업발전에 이바지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실시장려를 통한 산업발전 이바지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특허권의 재산적 가치 존중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성질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무체재산권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부수적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물권적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전용권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) vs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채권적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통상권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67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발생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특허결정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66)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특허료 납부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79~86)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설정등록 및 등록공고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87)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등록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허락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계약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법정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법률규정 만족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강제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행정처분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00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효력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범위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시간적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①존속기간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88)/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②존속기간의 연장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89~93, 95)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내용적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청구범위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지역적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속지주의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사적자치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허락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사적자치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법정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법률규정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강제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행정처분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2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의의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94)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제한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81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④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,96,181/98)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확장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127)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4.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침해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①성립요건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②종류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97,</a:t>
                      </a:r>
                      <a:r>
                        <a:rPr lang="en-US" altLang="ko-KR" sz="1000" kern="0" spc="0" baseline="0" dirty="0">
                          <a:effectLst/>
                          <a:latin typeface="+mn-ea"/>
                          <a:ea typeface="+mn-ea"/>
                        </a:rPr>
                        <a:t> 98, 1227)/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③조치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126~132, 225~232)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실시효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실시금지효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실시효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5351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변동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이전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이전가능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특허권자의 동의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일반승계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실시사업과 함께는 동의 不要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①法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107-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실시사업과 함께만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138-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원권리와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함께 이전하고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원권리와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함께 소멸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실시권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전용실시권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100, 102)</a:t>
                      </a:r>
                      <a:endParaRPr lang="ko-KR" altLang="en-US" sz="1000" kern="0" spc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통상실시권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101, 118, 103~116)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특허권자의 동의 얻어 可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不可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53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질권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질권자 실시 不可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121)</a:t>
                      </a:r>
                      <a:endParaRPr lang="ko-KR" altLang="en-US" sz="1000" kern="0" spc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질권행사로 특허권 이전에 따른 법정실시권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122)</a:t>
                      </a:r>
                      <a:endParaRPr lang="ko-KR" altLang="en-US" sz="1000" kern="0" spc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물상대위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123)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특허권자의 동의</a:t>
                      </a: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107,138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은 不可</a:t>
                      </a:r>
                      <a:endParaRPr lang="ko-KR" altLang="en-US" dirty="0"/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51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소멸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원인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소급하여 소멸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무효심결의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확정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후발적 사유는 제외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취소결정의 확정</a:t>
                      </a:r>
                    </a:p>
                    <a:p>
                      <a:pPr marL="73660" marR="0" indent="-7366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장래를 향해 소멸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특허료 불납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00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존속기간의 만료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특허권의 포기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119,120),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상속인이 없는 경우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124) 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특허권의 소멸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수용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실시권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자체의 소멸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효과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소급하여 소멸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/2.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장래를 향해 소멸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767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공유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다른 공유자 동의 받아야만 지분 양도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지분에 대한 질권설정 可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4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-40" dirty="0">
                          <a:effectLst/>
                          <a:latin typeface="+mn-ea"/>
                          <a:ea typeface="+mn-ea"/>
                        </a:rPr>
                        <a:t>다른 공유자 </a:t>
                      </a:r>
                      <a:r>
                        <a:rPr lang="ko-KR" altLang="en-US" sz="1000" kern="0" spc="-40" dirty="0" err="1">
                          <a:effectLst/>
                          <a:latin typeface="+mn-ea"/>
                          <a:ea typeface="+mn-ea"/>
                        </a:rPr>
                        <a:t>동의없이</a:t>
                      </a:r>
                      <a:r>
                        <a:rPr lang="ko-KR" altLang="en-US" sz="1000" kern="0" spc="-40" dirty="0">
                          <a:effectLst/>
                          <a:latin typeface="+mn-ea"/>
                          <a:ea typeface="+mn-ea"/>
                        </a:rPr>
                        <a:t> 지분비율에 무관하게 특허발명 전체 실시 可</a:t>
                      </a:r>
                      <a:r>
                        <a:rPr lang="en-US" altLang="ko-KR" sz="1000" kern="0" spc="-4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4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-40" dirty="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-40" dirty="0">
                          <a:effectLst/>
                          <a:latin typeface="+mn-ea"/>
                          <a:ea typeface="+mn-ea"/>
                        </a:rPr>
                        <a:t>③</a:t>
                      </a:r>
                      <a:r>
                        <a:rPr lang="en-US" altLang="ko-KR" sz="1000" kern="0" spc="-4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4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71120" marR="0" indent="-71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7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-70" dirty="0">
                          <a:effectLst/>
                          <a:latin typeface="+mn-ea"/>
                          <a:ea typeface="+mn-ea"/>
                        </a:rPr>
                        <a:t>다른 공유자 동의 받아야만 특허권에 대한 전용권설정</a:t>
                      </a:r>
                      <a:r>
                        <a:rPr lang="en-US" altLang="ko-KR" sz="1000" kern="0" spc="-7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70" dirty="0" err="1">
                          <a:effectLst/>
                          <a:latin typeface="+mn-ea"/>
                          <a:ea typeface="+mn-ea"/>
                        </a:rPr>
                        <a:t>통상권허락</a:t>
                      </a:r>
                      <a:r>
                        <a:rPr lang="ko-KR" altLang="en-US" sz="1000" kern="0" spc="-70" dirty="0">
                          <a:effectLst/>
                          <a:latin typeface="+mn-ea"/>
                          <a:ea typeface="+mn-ea"/>
                        </a:rPr>
                        <a:t> 可</a:t>
                      </a:r>
                      <a:r>
                        <a:rPr lang="en-US" altLang="ko-KR" sz="1000" kern="0" spc="-7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7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-7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-70" dirty="0">
                          <a:effectLst/>
                          <a:latin typeface="+mn-ea"/>
                          <a:ea typeface="+mn-ea"/>
                        </a:rPr>
                        <a:t>④</a:t>
                      </a:r>
                      <a:r>
                        <a:rPr lang="en-US" altLang="ko-KR" sz="1000" kern="0" spc="-7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7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④준용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②③준용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94052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특허법상 권리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885247"/>
              </p:ext>
            </p:extLst>
          </p:nvPr>
        </p:nvGraphicFramePr>
        <p:xfrm>
          <a:off x="171450" y="1035270"/>
          <a:ext cx="11734800" cy="5555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3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6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4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58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　권리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특허를 받을 수 있는 권리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보상금청구권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08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서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의의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발명의 완성에 의하여 발생하고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특허출원에 대한 거절결정확정이나 설정등록이 있기 전까지 인정되는 권리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출원공개가 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있는후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경고받거나 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출원공개된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발명임을 알고 그 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특허출원된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발명을 업으로서 실시한 자에게 경고받거나 알았을 때부터 설정등록을 할 때까지의 기간 동안 그 특허발명의 실시에 대하여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합리적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으로 받을 수 있는 금액에 상당하는 보상금의 지급을 청구할 수 있는 권리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취지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특허권 발생이전에 발명자 또는 출원인 보호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공개로 인해 상실된 이익의 보전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0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성질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사권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재산권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과 공권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특허부여요구권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을 병합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해제조건부 권리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채권적 권리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특허권과 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독립적인 권리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08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발생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발명의 완성에 의하여 발생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출원공개가 있을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경고받거나 알고 있을 것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정당한 권원없는 제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자가 업으로서 출원발명을 실시할 것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8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효력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범위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특허부여요구권</a:t>
                      </a:r>
                      <a:endParaRPr lang="en-US" altLang="ko-KR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①권리부여의 요구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특허출원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42)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altLang="ko-KR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②타인출원의 등록금지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발명자권</a:t>
                      </a:r>
                      <a:endParaRPr lang="en-US" altLang="ko-KR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①인격권</a:t>
                      </a:r>
                      <a:endParaRPr lang="en-US" altLang="ko-KR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②재산권</a:t>
                      </a: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보상금액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②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)-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경고받거나 알았을 때부터 설정등록을 할 때까지의 기간 동안 그 특허발명의 실시에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합리적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으로 받을 수 있는 금액에 상당하는 보상금의 지급을 청구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행사시기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③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)-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등록 후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독립성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④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)-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특허권과 별개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4.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준용규정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⑤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①특허법상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간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127), 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생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129), 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자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132)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②민법상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공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民法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760), 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소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民法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766)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2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내용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3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변동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이전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이전가능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①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특받권의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승계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38)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실시권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질권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불가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②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33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소멸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원인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권리능력 상실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상속인 부존재도 포함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kern="0" spc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출원계속의 소멸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특허등록이 되지 않은 경우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특허등록이 되더라도 소급 소멸하는 경우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3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효과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공개전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소멸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등록금지적 효력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공개후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소멸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공지기술의 지위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확선의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지위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고의과실○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손배청구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고의과실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×-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부당이득반환청구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8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공유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chemeClr val="tx1"/>
                          </a:solidFill>
                          <a:effectLst/>
                        </a:rPr>
                        <a:t>다른 공유자 동의 받아야만 지분양도 可</a:t>
                      </a:r>
                      <a:r>
                        <a:rPr lang="en-US" altLang="ko-KR" sz="1200" kern="0" spc="-2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2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20">
                          <a:solidFill>
                            <a:schemeClr val="tx1"/>
                          </a:solidFill>
                          <a:effectLst/>
                        </a:rPr>
                        <a:t>99</a:t>
                      </a:r>
                      <a:r>
                        <a:rPr lang="ko-KR" altLang="en-US" sz="1200" kern="0" spc="-20">
                          <a:solidFill>
                            <a:schemeClr val="tx1"/>
                          </a:solidFill>
                          <a:effectLst/>
                        </a:rPr>
                        <a:t>③</a:t>
                      </a:r>
                      <a:r>
                        <a:rPr lang="en-US" altLang="ko-KR" sz="1200" kern="0" spc="-2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kern="0" spc="-2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1680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66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19854</TotalTime>
  <Words>41363</Words>
  <Application>Microsoft Office PowerPoint</Application>
  <PresentationFormat>와이드스크린</PresentationFormat>
  <Paragraphs>5384</Paragraphs>
  <Slides>144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144</vt:i4>
      </vt:variant>
    </vt:vector>
  </HeadingPairs>
  <TitlesOfParts>
    <vt:vector size="162" baseType="lpstr">
      <vt:lpstr>Rix모던고딕 M</vt:lpstr>
      <vt:lpstr>Frutiger LT 75 Black</vt:lpstr>
      <vt:lpstr>산돌다솔 L</vt:lpstr>
      <vt:lpstr>옥션고딕 M</vt:lpstr>
      <vt:lpstr>Rix모던명조 B</vt:lpstr>
      <vt:lpstr>맑은 고딕</vt:lpstr>
      <vt:lpstr>Rix모던고딕 EB</vt:lpstr>
      <vt:lpstr>Rix커피향 M</vt:lpstr>
      <vt:lpstr>Frutiger LT 65 Bold</vt:lpstr>
      <vt:lpstr>Rix모던명조 L</vt:lpstr>
      <vt:lpstr>산돌신문제비 L</vt:lpstr>
      <vt:lpstr>Arial</vt:lpstr>
      <vt:lpstr>Wingdings</vt:lpstr>
      <vt:lpstr>Rix모던고딕 L</vt:lpstr>
      <vt:lpstr>Rix모던고딕 B</vt:lpstr>
      <vt:lpstr>Yoon가변 윤명조 320_TT</vt:lpstr>
      <vt:lpstr>SandSm</vt:lpstr>
      <vt:lpstr>Office 테마</vt:lpstr>
      <vt:lpstr>PowerPoint 프레젠테이션</vt:lpstr>
      <vt:lpstr>PowerPoint 프레젠테이션</vt:lpstr>
      <vt:lpstr>참고노트</vt:lpstr>
      <vt:lpstr>참고노트</vt:lpstr>
      <vt:lpstr>제80조</vt:lpstr>
      <vt:lpstr>제79조~제81조의3</vt:lpstr>
      <vt:lpstr>제83조</vt:lpstr>
      <vt:lpstr>참고노트</vt:lpstr>
      <vt:lpstr>참고노트</vt:lpstr>
      <vt:lpstr>제101조,제118조</vt:lpstr>
      <vt:lpstr>제87조</vt:lpstr>
      <vt:lpstr>제88조</vt:lpstr>
      <vt:lpstr>제89조~제95조</vt:lpstr>
      <vt:lpstr>제89조~제95조</vt:lpstr>
      <vt:lpstr>제89조~제95조</vt:lpstr>
      <vt:lpstr>제89조~제95조</vt:lpstr>
      <vt:lpstr>제89조~제95조</vt:lpstr>
      <vt:lpstr>제89조~제95조</vt:lpstr>
      <vt:lpstr>제89조~제95조</vt:lpstr>
      <vt:lpstr>제89조~제95조</vt:lpstr>
      <vt:lpstr>참고노트</vt:lpstr>
      <vt:lpstr>참고노트</vt:lpstr>
      <vt:lpstr>제94조~제96조</vt:lpstr>
      <vt:lpstr>제94조~제96조</vt:lpstr>
      <vt:lpstr>제94조</vt:lpstr>
      <vt:lpstr>제94조~제96조</vt:lpstr>
      <vt:lpstr>참고노트</vt:lpstr>
      <vt:lpstr>제94조~제96조</vt:lpstr>
      <vt:lpstr>제94조~제96조</vt:lpstr>
      <vt:lpstr>제94조~제96조</vt:lpstr>
      <vt:lpstr>제94조~제96조</vt:lpstr>
      <vt:lpstr>제94조~제96조</vt:lpstr>
      <vt:lpstr>제94조~제96조</vt:lpstr>
      <vt:lpstr>제94조~제96조</vt:lpstr>
      <vt:lpstr>제94조~제96조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참고노트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제98조</vt:lpstr>
      <vt:lpstr>제98조</vt:lpstr>
      <vt:lpstr>제98조</vt:lpstr>
      <vt:lpstr>제98조</vt:lpstr>
      <vt:lpstr>제98조</vt:lpstr>
      <vt:lpstr>제98조</vt:lpstr>
      <vt:lpstr>제98조</vt:lpstr>
      <vt:lpstr>제98조</vt:lpstr>
      <vt:lpstr>제98조</vt:lpstr>
      <vt:lpstr>제98조</vt:lpstr>
      <vt:lpstr>제98조</vt:lpstr>
      <vt:lpstr>제98조, 제138조</vt:lpstr>
      <vt:lpstr>제98조</vt:lpstr>
      <vt:lpstr>제98조</vt:lpstr>
      <vt:lpstr>제98조</vt:lpstr>
      <vt:lpstr>제98조</vt:lpstr>
      <vt:lpstr>제98조</vt:lpstr>
      <vt:lpstr>제97조, 제98조</vt:lpstr>
      <vt:lpstr>제97조, 제98조</vt:lpstr>
      <vt:lpstr>제97조, 제98조</vt:lpstr>
      <vt:lpstr>제97조</vt:lpstr>
      <vt:lpstr>제97조, 제98조</vt:lpstr>
      <vt:lpstr>제97조, 제98조</vt:lpstr>
      <vt:lpstr>제97조, 제98조</vt:lpstr>
      <vt:lpstr>제126조~제132조 제225조~제232조</vt:lpstr>
      <vt:lpstr>참고노트</vt:lpstr>
      <vt:lpstr>제126조</vt:lpstr>
      <vt:lpstr>제126조</vt:lpstr>
      <vt:lpstr>제128조</vt:lpstr>
      <vt:lpstr>제128조</vt:lpstr>
      <vt:lpstr>제128조</vt:lpstr>
      <vt:lpstr>제128조</vt:lpstr>
      <vt:lpstr>제128조</vt:lpstr>
      <vt:lpstr>제128조</vt:lpstr>
      <vt:lpstr>참고노트</vt:lpstr>
      <vt:lpstr>제127조</vt:lpstr>
      <vt:lpstr>제127조</vt:lpstr>
      <vt:lpstr>제127조</vt:lpstr>
      <vt:lpstr>제127조</vt:lpstr>
      <vt:lpstr>제127조</vt:lpstr>
      <vt:lpstr>제127조</vt:lpstr>
      <vt:lpstr>제127조</vt:lpstr>
      <vt:lpstr>제127조</vt:lpstr>
      <vt:lpstr>제96조제1항제1호, 제127조</vt:lpstr>
      <vt:lpstr>제96조제1항제1호, 제127조</vt:lpstr>
      <vt:lpstr>제94조, 제127조</vt:lpstr>
      <vt:lpstr>참고노트</vt:lpstr>
      <vt:lpstr>제126조의2, 제132조</vt:lpstr>
      <vt:lpstr>제225조~제232조</vt:lpstr>
      <vt:lpstr>제228조</vt:lpstr>
      <vt:lpstr>참고노트</vt:lpstr>
      <vt:lpstr>참고노트</vt:lpstr>
      <vt:lpstr>참고노트</vt:lpstr>
      <vt:lpstr>제99조</vt:lpstr>
      <vt:lpstr>제99조</vt:lpstr>
      <vt:lpstr>제99조</vt:lpstr>
      <vt:lpstr>제99조</vt:lpstr>
      <vt:lpstr>제100조~제118조</vt:lpstr>
      <vt:lpstr>제100조</vt:lpstr>
      <vt:lpstr>제100조</vt:lpstr>
      <vt:lpstr>제101조</vt:lpstr>
      <vt:lpstr>제119조, 제120조</vt:lpstr>
      <vt:lpstr>제118조</vt:lpstr>
      <vt:lpstr>제100조~제118조</vt:lpstr>
      <vt:lpstr>제103조</vt:lpstr>
      <vt:lpstr>제107조~제115조</vt:lpstr>
      <vt:lpstr>제107조~제115조</vt:lpstr>
      <vt:lpstr>제107조~제115조</vt:lpstr>
      <vt:lpstr>제107조~제115조</vt:lpstr>
      <vt:lpstr>제107조~제115조</vt:lpstr>
      <vt:lpstr>제100조~제118조</vt:lpstr>
      <vt:lpstr>제100조~제118조</vt:lpstr>
      <vt:lpstr>제119조, 제120조, 제124조</vt:lpstr>
      <vt:lpstr>참고노트</vt:lpstr>
      <vt:lpstr>참고노트</vt:lpstr>
      <vt:lpstr>참고노트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1041</cp:revision>
  <cp:lastPrinted>2026-01-07T06:38:19Z</cp:lastPrinted>
  <dcterms:created xsi:type="dcterms:W3CDTF">2016-02-25T00:12:49Z</dcterms:created>
  <dcterms:modified xsi:type="dcterms:W3CDTF">2026-05-20T05:00:50Z</dcterms:modified>
</cp:coreProperties>
</file>