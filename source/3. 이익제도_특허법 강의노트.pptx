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45" showSpecialPlsOnTitleSld="0" embedTrueTypeFonts="1" saveSubsetFonts="1" bookmarkIdSeed="2">
  <p:sldMasterIdLst>
    <p:sldMasterId id="2147483648" r:id="rId1"/>
    <p:sldMasterId id="2147483672" r:id="rId2"/>
  </p:sldMasterIdLst>
  <p:notesMasterIdLst>
    <p:notesMasterId r:id="rId103"/>
  </p:notesMasterIdLst>
  <p:sldIdLst>
    <p:sldId id="256" r:id="rId3"/>
    <p:sldId id="2048" r:id="rId4"/>
    <p:sldId id="2050" r:id="rId5"/>
    <p:sldId id="2138" r:id="rId6"/>
    <p:sldId id="257" r:id="rId7"/>
    <p:sldId id="258" r:id="rId8"/>
    <p:sldId id="259" r:id="rId9"/>
    <p:sldId id="260" r:id="rId10"/>
    <p:sldId id="261" r:id="rId11"/>
    <p:sldId id="262" r:id="rId12"/>
    <p:sldId id="339" r:id="rId13"/>
    <p:sldId id="266" r:id="rId14"/>
    <p:sldId id="267" r:id="rId15"/>
    <p:sldId id="268" r:id="rId16"/>
    <p:sldId id="271" r:id="rId17"/>
    <p:sldId id="269" r:id="rId18"/>
    <p:sldId id="270" r:id="rId19"/>
    <p:sldId id="272" r:id="rId20"/>
    <p:sldId id="273" r:id="rId21"/>
    <p:sldId id="2032" r:id="rId22"/>
    <p:sldId id="2045" r:id="rId23"/>
    <p:sldId id="278" r:id="rId24"/>
    <p:sldId id="279" r:id="rId25"/>
    <p:sldId id="2025" r:id="rId26"/>
    <p:sldId id="280" r:id="rId27"/>
    <p:sldId id="281" r:id="rId28"/>
    <p:sldId id="353" r:id="rId29"/>
    <p:sldId id="282" r:id="rId30"/>
    <p:sldId id="283" r:id="rId31"/>
    <p:sldId id="284" r:id="rId32"/>
    <p:sldId id="285" r:id="rId33"/>
    <p:sldId id="286" r:id="rId34"/>
    <p:sldId id="387" r:id="rId35"/>
    <p:sldId id="340" r:id="rId36"/>
    <p:sldId id="386" r:id="rId37"/>
    <p:sldId id="2021" r:id="rId38"/>
    <p:sldId id="2022" r:id="rId39"/>
    <p:sldId id="288" r:id="rId40"/>
    <p:sldId id="289" r:id="rId41"/>
    <p:sldId id="290" r:id="rId42"/>
    <p:sldId id="291" r:id="rId43"/>
    <p:sldId id="292" r:id="rId44"/>
    <p:sldId id="293" r:id="rId45"/>
    <p:sldId id="349" r:id="rId46"/>
    <p:sldId id="294" r:id="rId47"/>
    <p:sldId id="298" r:id="rId48"/>
    <p:sldId id="299" r:id="rId49"/>
    <p:sldId id="277" r:id="rId50"/>
    <p:sldId id="300" r:id="rId51"/>
    <p:sldId id="301" r:id="rId52"/>
    <p:sldId id="302" r:id="rId53"/>
    <p:sldId id="303" r:id="rId54"/>
    <p:sldId id="304" r:id="rId55"/>
    <p:sldId id="2135" r:id="rId56"/>
    <p:sldId id="2137" r:id="rId57"/>
    <p:sldId id="305" r:id="rId58"/>
    <p:sldId id="306" r:id="rId59"/>
    <p:sldId id="458" r:id="rId60"/>
    <p:sldId id="2136" r:id="rId61"/>
    <p:sldId id="309" r:id="rId62"/>
    <p:sldId id="2139" r:id="rId63"/>
    <p:sldId id="2034" r:id="rId64"/>
    <p:sldId id="2033" r:id="rId65"/>
    <p:sldId id="310" r:id="rId66"/>
    <p:sldId id="311" r:id="rId67"/>
    <p:sldId id="312" r:id="rId68"/>
    <p:sldId id="342" r:id="rId69"/>
    <p:sldId id="2046" r:id="rId70"/>
    <p:sldId id="313" r:id="rId71"/>
    <p:sldId id="314" r:id="rId72"/>
    <p:sldId id="315" r:id="rId73"/>
    <p:sldId id="343" r:id="rId74"/>
    <p:sldId id="316" r:id="rId75"/>
    <p:sldId id="317" r:id="rId76"/>
    <p:sldId id="318" r:id="rId77"/>
    <p:sldId id="319" r:id="rId78"/>
    <p:sldId id="320" r:id="rId79"/>
    <p:sldId id="2053" r:id="rId80"/>
    <p:sldId id="321" r:id="rId81"/>
    <p:sldId id="322" r:id="rId82"/>
    <p:sldId id="325" r:id="rId83"/>
    <p:sldId id="346" r:id="rId84"/>
    <p:sldId id="326" r:id="rId85"/>
    <p:sldId id="2024" r:id="rId86"/>
    <p:sldId id="2023" r:id="rId87"/>
    <p:sldId id="331" r:id="rId88"/>
    <p:sldId id="329" r:id="rId89"/>
    <p:sldId id="330" r:id="rId90"/>
    <p:sldId id="332" r:id="rId91"/>
    <p:sldId id="388" r:id="rId92"/>
    <p:sldId id="328" r:id="rId93"/>
    <p:sldId id="2026" r:id="rId94"/>
    <p:sldId id="333" r:id="rId95"/>
    <p:sldId id="350" r:id="rId96"/>
    <p:sldId id="2052" r:id="rId97"/>
    <p:sldId id="2047" r:id="rId98"/>
    <p:sldId id="336" r:id="rId99"/>
    <p:sldId id="337" r:id="rId100"/>
    <p:sldId id="338" r:id="rId101"/>
    <p:sldId id="2049" r:id="rId102"/>
  </p:sldIdLst>
  <p:sldSz cx="12192000" cy="6858000"/>
  <p:notesSz cx="7104063" cy="10234613"/>
  <p:embeddedFontLst>
    <p:embeddedFont>
      <p:font typeface="Frutiger LT 65 Bold" panose="020B0800000000000000" pitchFamily="34" charset="0"/>
      <p:regular r:id="rId104"/>
    </p:embeddedFont>
    <p:embeddedFont>
      <p:font typeface="Frutiger LT 75 Black" panose="02000A03050000020004" pitchFamily="2" charset="0"/>
      <p:regular r:id="rId105"/>
    </p:embeddedFont>
    <p:embeddedFont>
      <p:font typeface="Rix모던고딕 B" panose="02020603020101020101" pitchFamily="18" charset="-127"/>
      <p:regular r:id="rId106"/>
    </p:embeddedFont>
    <p:embeddedFont>
      <p:font typeface="Rix모던고딕 EB" panose="02020603020101020101" pitchFamily="18" charset="-127"/>
      <p:regular r:id="rId107"/>
    </p:embeddedFont>
    <p:embeddedFont>
      <p:font typeface="Rix모던고딕 L" panose="02020603020101020101" pitchFamily="18" charset="-127"/>
      <p:regular r:id="rId108"/>
    </p:embeddedFont>
    <p:embeddedFont>
      <p:font typeface="Rix모던고딕 M" panose="02020603020101020101" pitchFamily="18" charset="-127"/>
      <p:regular r:id="rId109"/>
    </p:embeddedFont>
    <p:embeddedFont>
      <p:font typeface="Rix모던명조 B" panose="02020603020101020101" pitchFamily="18" charset="-127"/>
      <p:regular r:id="rId110"/>
    </p:embeddedFont>
    <p:embeddedFont>
      <p:font typeface="Rix모던명조 L" panose="02020603020101020101" pitchFamily="18" charset="-127"/>
      <p:regular r:id="rId111"/>
    </p:embeddedFont>
    <p:embeddedFont>
      <p:font typeface="Rix커피향 M" panose="02020603020101020101" pitchFamily="18" charset="-127"/>
      <p:regular r:id="rId112"/>
    </p:embeddedFont>
    <p:embeddedFont>
      <p:font typeface="맑은 고딕" panose="020B0503020000020004" pitchFamily="50" charset="-127"/>
      <p:regular r:id="rId113"/>
      <p:bold r:id="rId114"/>
    </p:embeddedFont>
    <p:embeddedFont>
      <p:font typeface="산돌신문제비 L" panose="02030504000101010101" pitchFamily="18" charset="-127"/>
      <p:regular r:id="rId115"/>
    </p:embeddedFont>
    <p:embeddedFont>
      <p:font typeface="함초롬바탕" panose="02030604000101010101" pitchFamily="18" charset="-127"/>
      <p:regular r:id="rId116"/>
      <p:bold r:id="rId11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525252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04" autoAdjust="0"/>
    <p:restoredTop sz="96370" autoAdjust="0"/>
  </p:normalViewPr>
  <p:slideViewPr>
    <p:cSldViewPr snapToGrid="0">
      <p:cViewPr varScale="1">
        <p:scale>
          <a:sx n="68" d="100"/>
          <a:sy n="68" d="100"/>
        </p:scale>
        <p:origin x="954" y="6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09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font" Target="fonts/font14.fntdata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font" Target="fonts/font9.fntdata"/><Relationship Id="rId16" Type="http://schemas.openxmlformats.org/officeDocument/2006/relationships/slide" Target="slides/slide14.xml"/><Relationship Id="rId107" Type="http://schemas.openxmlformats.org/officeDocument/2006/relationships/font" Target="fonts/font4.fntdata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font" Target="fonts/font10.fntdata"/><Relationship Id="rId118" Type="http://schemas.openxmlformats.org/officeDocument/2006/relationships/presProps" Target="presProps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notesMaster" Target="notesMasters/notesMaster1.xml"/><Relationship Id="rId108" Type="http://schemas.openxmlformats.org/officeDocument/2006/relationships/font" Target="fonts/font5.fntdata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font" Target="fonts/font11.fntdata"/><Relationship Id="rId119" Type="http://schemas.openxmlformats.org/officeDocument/2006/relationships/viewProps" Target="viewProps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font" Target="fonts/font6.fntdata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font" Target="fonts/font1.fntdata"/><Relationship Id="rId120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font" Target="fonts/font7.fntdata"/><Relationship Id="rId115" Type="http://schemas.openxmlformats.org/officeDocument/2006/relationships/font" Target="fonts/font12.fntdata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font" Target="fonts/font2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tableStyles" Target="tableStyles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font" Target="fonts/font13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font" Target="fonts/font8.fntdata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font" Target="fonts/font3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78428" cy="513508"/>
          </a:xfrm>
          <a:prstGeom prst="rect">
            <a:avLst/>
          </a:prstGeom>
        </p:spPr>
        <p:txBody>
          <a:bodyPr vert="horz" lIns="94657" tIns="47329" rIns="94657" bIns="47329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2"/>
            <a:ext cx="3078428" cy="513508"/>
          </a:xfrm>
          <a:prstGeom prst="rect">
            <a:avLst/>
          </a:prstGeom>
        </p:spPr>
        <p:txBody>
          <a:bodyPr vert="horz" lIns="94657" tIns="47329" rIns="94657" bIns="47329" rtlCol="0"/>
          <a:lstStyle>
            <a:lvl1pPr algn="r">
              <a:defRPr sz="1200"/>
            </a:lvl1pPr>
          </a:lstStyle>
          <a:p>
            <a:fld id="{782597F2-0C3F-472E-942C-F0680216029B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57" tIns="47329" rIns="94657" bIns="4732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9"/>
          </a:xfrm>
          <a:prstGeom prst="rect">
            <a:avLst/>
          </a:prstGeom>
        </p:spPr>
        <p:txBody>
          <a:bodyPr vert="horz" lIns="94657" tIns="47329" rIns="94657" bIns="4732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8" cy="513507"/>
          </a:xfrm>
          <a:prstGeom prst="rect">
            <a:avLst/>
          </a:prstGeom>
        </p:spPr>
        <p:txBody>
          <a:bodyPr vert="horz" lIns="94657" tIns="47329" rIns="94657" bIns="47329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8" cy="513507"/>
          </a:xfrm>
          <a:prstGeom prst="rect">
            <a:avLst/>
          </a:prstGeom>
        </p:spPr>
        <p:txBody>
          <a:bodyPr vert="horz" lIns="94657" tIns="47329" rIns="94657" bIns="47329" rtlCol="0" anchor="b"/>
          <a:lstStyle>
            <a:lvl1pPr algn="r">
              <a:defRPr sz="1200"/>
            </a:lvl1pPr>
          </a:lstStyle>
          <a:p>
            <a:fld id="{30C005C8-BD53-41EA-B159-BC12A6DFF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274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184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200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2925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202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074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204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7866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205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1457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207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786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82093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5071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8310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780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24C26-BB22-45DF-B551-C7D910FCDFF2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0" y="0"/>
            <a:ext cx="2844800" cy="923385"/>
            <a:chOff x="0" y="1206500"/>
            <a:chExt cx="2343150" cy="689865"/>
          </a:xfrm>
        </p:grpSpPr>
        <p:sp>
          <p:nvSpPr>
            <p:cNvPr id="11" name="제목 1"/>
            <p:cNvSpPr txBox="1">
              <a:spLocks/>
            </p:cNvSpPr>
            <p:nvPr userDrawn="1"/>
          </p:nvSpPr>
          <p:spPr>
            <a:xfrm>
              <a:off x="0" y="1206501"/>
              <a:ext cx="2243303" cy="689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vert="horz" lIns="180000" tIns="0" rIns="180000" bIns="0" rtlCol="0" anchor="ctr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ko-KR" altLang="en-US" sz="2400" dirty="0">
                <a:solidFill>
                  <a:schemeClr val="accent4"/>
                </a:solidFill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2243083" y="1206500"/>
              <a:ext cx="100067" cy="6898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-1" y="677165"/>
            <a:ext cx="2723309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6" name="직선 연결선 15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개체 틀 1"/>
          <p:cNvSpPr>
            <a:spLocks noGrp="1"/>
          </p:cNvSpPr>
          <p:nvPr>
            <p:ph type="title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15053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E98C9-2CE3-49E0-849D-0023C4A85501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제목 1"/>
          <p:cNvSpPr txBox="1">
            <a:spLocks/>
          </p:cNvSpPr>
          <p:nvPr userDrawn="1"/>
        </p:nvSpPr>
        <p:spPr>
          <a:xfrm>
            <a:off x="0" y="1"/>
            <a:ext cx="2723577" cy="92338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180000" tIns="0" rIns="18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4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2723309" y="0"/>
            <a:ext cx="121491" cy="92338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-1" y="677165"/>
            <a:ext cx="2723309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="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="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="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="0" baseline="0" dirty="0">
                <a:solidFill>
                  <a:schemeClr val="bg2"/>
                </a:solidFill>
              </a:rPr>
              <a:t> </a:t>
            </a:r>
            <a:r>
              <a:rPr lang="en-US" altLang="ko-KR" sz="1000" b="0" dirty="0">
                <a:solidFill>
                  <a:schemeClr val="bg2"/>
                </a:solidFill>
              </a:rPr>
              <a:t>All Right</a:t>
            </a:r>
            <a:r>
              <a:rPr lang="en-US" altLang="ko-KR" sz="1000" b="0" baseline="0" dirty="0">
                <a:solidFill>
                  <a:schemeClr val="bg2"/>
                </a:solidFill>
              </a:rPr>
              <a:t>s Reserved.</a:t>
            </a:r>
            <a:endParaRPr lang="ko-KR" altLang="en-US" sz="1000" b="0" dirty="0">
              <a:solidFill>
                <a:schemeClr val="bg2"/>
              </a:solidFill>
            </a:endParaRPr>
          </a:p>
        </p:txBody>
      </p:sp>
      <p:cxnSp>
        <p:nvCxnSpPr>
          <p:cNvPr id="15" name="직선 연결선 14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 userDrawn="1">
            <p:ph type="title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rgbClr val="FFFF00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7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" name="텍스트 개체 틀 21"/>
          <p:cNvSpPr>
            <a:spLocks noGrp="1"/>
          </p:cNvSpPr>
          <p:nvPr userDrawn="1"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868736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0EDD-F220-40EF-9D4B-669964E00081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제목 1"/>
          <p:cNvSpPr txBox="1">
            <a:spLocks/>
          </p:cNvSpPr>
          <p:nvPr userDrawn="1"/>
        </p:nvSpPr>
        <p:spPr>
          <a:xfrm>
            <a:off x="0" y="1"/>
            <a:ext cx="2723577" cy="685799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vert="horz" lIns="180000" tIns="0" rIns="18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4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2723309" y="0"/>
            <a:ext cx="121491" cy="6858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 userDrawn="1">
            <p:ph type="title" hasCustomPrompt="1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rgbClr val="FFFF00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en-US" altLang="ko-KR" dirty="0"/>
              <a:t>TEST</a:t>
            </a:r>
            <a:endParaRPr lang="ko-KR" altLang="en-US" dirty="0"/>
          </a:p>
        </p:txBody>
      </p:sp>
      <p:sp>
        <p:nvSpPr>
          <p:cNvPr id="17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" name="텍스트 개체 틀 21"/>
          <p:cNvSpPr>
            <a:spLocks noGrp="1"/>
          </p:cNvSpPr>
          <p:nvPr userDrawn="1"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373056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6405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02675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CE72D-2D75-40FD-B9C5-E48E40FDAF15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0" y="0"/>
            <a:ext cx="2844800" cy="923385"/>
            <a:chOff x="0" y="1206500"/>
            <a:chExt cx="2343150" cy="689865"/>
          </a:xfrm>
        </p:grpSpPr>
        <p:sp>
          <p:nvSpPr>
            <p:cNvPr id="11" name="제목 1"/>
            <p:cNvSpPr txBox="1">
              <a:spLocks/>
            </p:cNvSpPr>
            <p:nvPr userDrawn="1"/>
          </p:nvSpPr>
          <p:spPr>
            <a:xfrm>
              <a:off x="0" y="1206501"/>
              <a:ext cx="2243303" cy="689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vert="horz" lIns="180000" tIns="0" rIns="180000" bIns="0" rtlCol="0" anchor="ctr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ko-KR" altLang="en-US" sz="2400" dirty="0">
                <a:solidFill>
                  <a:schemeClr val="accent4"/>
                </a:solidFill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2243083" y="1206500"/>
              <a:ext cx="100067" cy="6898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-1" y="677165"/>
            <a:ext cx="2723309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6" name="직선 연결선 15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개체 틀 1"/>
          <p:cNvSpPr>
            <a:spLocks noGrp="1"/>
          </p:cNvSpPr>
          <p:nvPr>
            <p:ph type="title"/>
          </p:nvPr>
        </p:nvSpPr>
        <p:spPr>
          <a:xfrm>
            <a:off x="0" y="274320"/>
            <a:ext cx="2708636" cy="398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7D14E75-92C3-4B89-BE74-A6BDEFD9235C}"/>
              </a:ext>
            </a:extLst>
          </p:cNvPr>
          <p:cNvSpPr/>
          <p:nvPr userDrawn="1"/>
        </p:nvSpPr>
        <p:spPr>
          <a:xfrm>
            <a:off x="-4710" y="0"/>
            <a:ext cx="2723309" cy="2617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ko-KR" b="1" dirty="0"/>
              <a:t>CASE STUDY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838212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5D71-E283-4690-935C-1A11D08CB4EB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0" y="0"/>
            <a:ext cx="2844800" cy="923385"/>
            <a:chOff x="0" y="1206500"/>
            <a:chExt cx="2343150" cy="689865"/>
          </a:xfrm>
        </p:grpSpPr>
        <p:sp>
          <p:nvSpPr>
            <p:cNvPr id="11" name="제목 1"/>
            <p:cNvSpPr txBox="1">
              <a:spLocks/>
            </p:cNvSpPr>
            <p:nvPr userDrawn="1"/>
          </p:nvSpPr>
          <p:spPr>
            <a:xfrm>
              <a:off x="0" y="1206501"/>
              <a:ext cx="2243303" cy="689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vert="horz" lIns="180000" tIns="0" rIns="180000" bIns="0" rtlCol="0" anchor="ctr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ko-KR" altLang="en-US" sz="2400" dirty="0">
                <a:solidFill>
                  <a:schemeClr val="accent4"/>
                </a:solidFill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2243083" y="1206500"/>
              <a:ext cx="100067" cy="6898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-1" y="677165"/>
            <a:ext cx="2723309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6" name="직선 연결선 15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개체 틀 1"/>
          <p:cNvSpPr>
            <a:spLocks noGrp="1"/>
          </p:cNvSpPr>
          <p:nvPr>
            <p:ph type="title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9" name="슬라이드 번호 개체 틀 5">
            <a:extLst>
              <a:ext uri="{FF2B5EF4-FFF2-40B4-BE49-F238E27FC236}">
                <a16:creationId xmlns:a16="http://schemas.microsoft.com/office/drawing/2014/main" id="{4261F918-0551-4944-BBA7-8A8BA6B8B6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29210" y="0"/>
            <a:ext cx="1062789" cy="7339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 b="1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/>
              </a:defRPr>
            </a:lvl1pPr>
          </a:lstStyle>
          <a:p>
            <a:fld id="{3875FC6C-1516-4DC4-8C58-3090F7D4F00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9893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66CE9-08FE-4607-9CA9-2E3DAD20EB7C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0" y="0"/>
            <a:ext cx="2844800" cy="923385"/>
            <a:chOff x="0" y="1206500"/>
            <a:chExt cx="2343150" cy="689865"/>
          </a:xfrm>
        </p:grpSpPr>
        <p:sp>
          <p:nvSpPr>
            <p:cNvPr id="11" name="제목 1"/>
            <p:cNvSpPr txBox="1">
              <a:spLocks/>
            </p:cNvSpPr>
            <p:nvPr userDrawn="1"/>
          </p:nvSpPr>
          <p:spPr>
            <a:xfrm>
              <a:off x="0" y="1206501"/>
              <a:ext cx="2243303" cy="689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vert="horz" lIns="180000" tIns="0" rIns="180000" bIns="0" rtlCol="0" anchor="ctr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ko-KR" altLang="en-US" sz="2400" dirty="0">
                <a:solidFill>
                  <a:schemeClr val="accent4"/>
                </a:solidFill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2243083" y="1206500"/>
              <a:ext cx="100067" cy="6898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-1" y="677165"/>
            <a:ext cx="2723309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6" name="직선 연결선 15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개체 틀 1"/>
          <p:cNvSpPr>
            <a:spLocks noGrp="1"/>
          </p:cNvSpPr>
          <p:nvPr>
            <p:ph type="title"/>
          </p:nvPr>
        </p:nvSpPr>
        <p:spPr>
          <a:xfrm>
            <a:off x="0" y="274320"/>
            <a:ext cx="2708636" cy="398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7D14E75-92C3-4B89-BE74-A6BDEFD9235C}"/>
              </a:ext>
            </a:extLst>
          </p:cNvPr>
          <p:cNvSpPr/>
          <p:nvPr userDrawn="1"/>
        </p:nvSpPr>
        <p:spPr>
          <a:xfrm>
            <a:off x="-4710" y="0"/>
            <a:ext cx="2723309" cy="2617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ko-KR" b="1" dirty="0"/>
              <a:t>CASE STUDY</a:t>
            </a:r>
            <a:endParaRPr lang="ko-KR" altLang="en-US" b="1" dirty="0"/>
          </a:p>
        </p:txBody>
      </p:sp>
      <p:sp>
        <p:nvSpPr>
          <p:cNvPr id="15" name="슬라이드 번호 개체 틀 5">
            <a:extLst>
              <a:ext uri="{FF2B5EF4-FFF2-40B4-BE49-F238E27FC236}">
                <a16:creationId xmlns:a16="http://schemas.microsoft.com/office/drawing/2014/main" id="{93BF6002-EE9C-457A-8113-4814CAE0D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29210" y="0"/>
            <a:ext cx="1062789" cy="7339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 b="1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/>
              </a:defRPr>
            </a:lvl1pPr>
          </a:lstStyle>
          <a:p>
            <a:fld id="{3875FC6C-1516-4DC4-8C58-3090F7D4F00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9433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E65CB-8BCB-44A2-BFE4-B3FC1E1BB829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제목 1"/>
          <p:cNvSpPr txBox="1">
            <a:spLocks/>
          </p:cNvSpPr>
          <p:nvPr userDrawn="1"/>
        </p:nvSpPr>
        <p:spPr>
          <a:xfrm>
            <a:off x="0" y="1"/>
            <a:ext cx="2723577" cy="92338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180000" tIns="0" rIns="18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4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2723309" y="0"/>
            <a:ext cx="121491" cy="92338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-1" y="677165"/>
            <a:ext cx="2723309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="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="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="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="0" baseline="0" dirty="0">
                <a:solidFill>
                  <a:schemeClr val="bg2"/>
                </a:solidFill>
              </a:rPr>
              <a:t> </a:t>
            </a:r>
            <a:r>
              <a:rPr lang="en-US" altLang="ko-KR" sz="1000" b="0" dirty="0">
                <a:solidFill>
                  <a:schemeClr val="bg2"/>
                </a:solidFill>
              </a:rPr>
              <a:t>All Right</a:t>
            </a:r>
            <a:r>
              <a:rPr lang="en-US" altLang="ko-KR" sz="1000" b="0" baseline="0" dirty="0">
                <a:solidFill>
                  <a:schemeClr val="bg2"/>
                </a:solidFill>
              </a:rPr>
              <a:t>s Reserved.</a:t>
            </a:r>
            <a:endParaRPr lang="ko-KR" altLang="en-US" sz="1000" b="0" dirty="0">
              <a:solidFill>
                <a:schemeClr val="bg2"/>
              </a:solidFill>
            </a:endParaRPr>
          </a:p>
        </p:txBody>
      </p:sp>
      <p:cxnSp>
        <p:nvCxnSpPr>
          <p:cNvPr id="15" name="직선 연결선 14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 userDrawn="1">
            <p:ph type="title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rgbClr val="FFFF00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7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" name="텍스트 개체 틀 21"/>
          <p:cNvSpPr>
            <a:spLocks noGrp="1"/>
          </p:cNvSpPr>
          <p:nvPr userDrawn="1"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056053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30B572-E0CF-4E66-B778-DCB6B7ECE7E9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143716" y="3175"/>
            <a:ext cx="1048284" cy="7146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 b="1" cap="none" spc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3875FC6C-1516-4DC4-8C58-3090F7D4F0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63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69" r:id="rId4"/>
    <p:sldLayoutId id="2147483670" r:id="rId5"/>
    <p:sldLayoutId id="2147483671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641CD7-9A10-4986-B075-6F27B48ADE99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129210" y="0"/>
            <a:ext cx="1062789" cy="7339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 b="1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/>
              </a:defRPr>
            </a:lvl1pPr>
          </a:lstStyle>
          <a:p>
            <a:fld id="{3875FC6C-1516-4DC4-8C58-3090F7D4F00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7332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11153595" y="44623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총칙</a:t>
            </a:r>
            <a:r>
              <a:rPr lang="en-US" altLang="ko-KR" sz="2000" b="1" dirty="0">
                <a:solidFill>
                  <a:schemeClr val="bg1"/>
                </a:solidFill>
              </a:rPr>
              <a:t>/</a:t>
            </a:r>
          </a:p>
          <a:p>
            <a:pPr algn="ctr"/>
            <a:r>
              <a:rPr lang="ko-KR" altLang="en-US" sz="2000" b="1" dirty="0" err="1">
                <a:solidFill>
                  <a:schemeClr val="bg1"/>
                </a:solidFill>
              </a:rPr>
              <a:t>보칙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1153595" y="1011588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특허</a:t>
            </a:r>
            <a:endParaRPr lang="en-US" altLang="ko-KR" sz="20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요건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1153595" y="1978552"/>
            <a:ext cx="1062789" cy="96696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accent4"/>
                </a:solidFill>
              </a:rPr>
              <a:t>이익</a:t>
            </a:r>
            <a:endParaRPr lang="en-US" altLang="ko-KR" sz="2000" b="1" dirty="0">
              <a:solidFill>
                <a:schemeClr val="accent4"/>
              </a:solidFill>
            </a:endParaRPr>
          </a:p>
          <a:p>
            <a:pPr algn="ctr"/>
            <a:r>
              <a:rPr lang="ko-KR" altLang="en-US" sz="2000" b="1" dirty="0">
                <a:solidFill>
                  <a:schemeClr val="accent4"/>
                </a:solidFill>
              </a:rPr>
              <a:t>제도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11153595" y="2945517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심사</a:t>
            </a:r>
            <a:endParaRPr lang="en-US" altLang="ko-KR" sz="2000" b="1" dirty="0"/>
          </a:p>
          <a:p>
            <a:pPr algn="ctr"/>
            <a:r>
              <a:rPr lang="en-US" altLang="ko-KR" sz="2000" b="1" dirty="0"/>
              <a:t>(</a:t>
            </a:r>
            <a:r>
              <a:rPr lang="ko-KR" altLang="en-US" sz="2000" b="1" dirty="0"/>
              <a:t>제도</a:t>
            </a:r>
            <a:r>
              <a:rPr lang="en-US" altLang="ko-KR" sz="2000" b="1" dirty="0"/>
              <a:t>)</a:t>
            </a:r>
            <a:endParaRPr lang="ko-KR" altLang="en-US" sz="2000" b="1" dirty="0"/>
          </a:p>
        </p:txBody>
      </p:sp>
      <p:sp>
        <p:nvSpPr>
          <p:cNvPr id="16" name="직사각형 15"/>
          <p:cNvSpPr/>
          <p:nvPr/>
        </p:nvSpPr>
        <p:spPr>
          <a:xfrm>
            <a:off x="11153595" y="3912483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특허권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11153595" y="4879448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심판</a:t>
            </a:r>
            <a:r>
              <a:rPr lang="en-US" altLang="ko-KR" sz="2000" b="1" dirty="0"/>
              <a:t>/</a:t>
            </a:r>
          </a:p>
          <a:p>
            <a:pPr algn="ctr"/>
            <a:r>
              <a:rPr lang="ko-KR" altLang="en-US" sz="2000" b="1" dirty="0"/>
              <a:t>소송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11153595" y="5846412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PCT</a:t>
            </a:r>
            <a:endParaRPr lang="ko-KR" altLang="en-US" sz="2000" b="1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92FE7C0-F00A-5846-D75F-F4B40E913D0C}"/>
              </a:ext>
            </a:extLst>
          </p:cNvPr>
          <p:cNvSpPr txBox="1">
            <a:spLocks/>
          </p:cNvSpPr>
          <p:nvPr/>
        </p:nvSpPr>
        <p:spPr>
          <a:xfrm>
            <a:off x="1961128" y="1991045"/>
            <a:ext cx="7162800" cy="1193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  <a:cs typeface="+mj-cs"/>
              </a:defRPr>
            </a:lvl1pPr>
          </a:lstStyle>
          <a:p>
            <a:r>
              <a:rPr lang="ko-KR" altLang="en-US" sz="8000" dirty="0">
                <a:solidFill>
                  <a:schemeClr val="tx1">
                    <a:lumMod val="50000"/>
                    <a:lumOff val="50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특허법 강의노트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79FAF4A-C48F-44A0-BB18-9580294503A6}"/>
              </a:ext>
            </a:extLst>
          </p:cNvPr>
          <p:cNvSpPr txBox="1">
            <a:spLocks/>
          </p:cNvSpPr>
          <p:nvPr/>
        </p:nvSpPr>
        <p:spPr>
          <a:xfrm>
            <a:off x="2185246" y="3197545"/>
            <a:ext cx="6684682" cy="10445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lIns="540000" tIns="0" rIns="54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/>
            <a:endParaRPr lang="ko-KR" altLang="en-US" sz="40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9D1FEE32-364E-B369-E56D-7BD3F2E74510}"/>
              </a:ext>
            </a:extLst>
          </p:cNvPr>
          <p:cNvSpPr txBox="1">
            <a:spLocks/>
          </p:cNvSpPr>
          <p:nvPr/>
        </p:nvSpPr>
        <p:spPr>
          <a:xfrm>
            <a:off x="4565375" y="4873198"/>
            <a:ext cx="1954306" cy="6490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2025</a:t>
            </a:r>
            <a:endParaRPr lang="ko-KR" altLang="en-US" sz="3600" dirty="0">
              <a:solidFill>
                <a:schemeClr val="tx1">
                  <a:lumMod val="50000"/>
                  <a:lumOff val="50000"/>
                </a:schemeClr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5DCCF88-70F8-63A9-DA28-3E908CE6DECB}"/>
              </a:ext>
            </a:extLst>
          </p:cNvPr>
          <p:cNvSpPr txBox="1">
            <a:spLocks/>
          </p:cNvSpPr>
          <p:nvPr/>
        </p:nvSpPr>
        <p:spPr>
          <a:xfrm>
            <a:off x="2185246" y="3467433"/>
            <a:ext cx="6684682" cy="5457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 err="1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Yim</a:t>
            </a:r>
            <a:r>
              <a:rPr lang="en-US" altLang="ko-KR" sz="2800" dirty="0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, </a:t>
            </a:r>
            <a:r>
              <a:rPr lang="en-US" altLang="ko-KR" sz="2800" dirty="0" err="1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Byung-Woong</a:t>
            </a:r>
            <a:r>
              <a:rPr lang="en-US" altLang="ko-KR" sz="2800" dirty="0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All Rights Reserved.</a:t>
            </a:r>
            <a:endParaRPr lang="ko-KR" altLang="en-US" sz="2800" dirty="0">
              <a:solidFill>
                <a:schemeClr val="bg1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7527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1841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147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특허법 체계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244284" y="2152137"/>
            <a:ext cx="552862" cy="498328"/>
          </a:xfrm>
          <a:prstGeom prst="rect">
            <a:avLst/>
          </a:prstGeom>
          <a:ln w="63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총칙</a:t>
            </a:r>
            <a:r>
              <a:rPr lang="en-US" altLang="ko-KR" sz="1200" dirty="0"/>
              <a:t>/</a:t>
            </a:r>
          </a:p>
          <a:p>
            <a:pPr algn="ctr"/>
            <a:r>
              <a:rPr lang="ko-KR" altLang="en-US" sz="1200" dirty="0" err="1"/>
              <a:t>보칙</a:t>
            </a:r>
            <a:endParaRPr lang="ko-KR" altLang="en-US" sz="1200" dirty="0"/>
          </a:p>
        </p:txBody>
      </p:sp>
      <p:sp>
        <p:nvSpPr>
          <p:cNvPr id="7" name="직사각형 6"/>
          <p:cNvSpPr/>
          <p:nvPr/>
        </p:nvSpPr>
        <p:spPr>
          <a:xfrm>
            <a:off x="2118397" y="994294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목적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2118397" y="123628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정의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118397" y="1471128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행위능력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3~5①)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118397" y="1713120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대리인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3②, 5②~10, 12)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118397" y="1945643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복수당사자 대표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118397" y="2187635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재외자의</a:t>
            </a:r>
            <a:r>
              <a:rPr lang="ko-KR" altLang="en-US" sz="1000" dirty="0">
                <a:solidFill>
                  <a:schemeClr val="tx1"/>
                </a:solidFill>
              </a:rPr>
              <a:t> 재판관할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13)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118397" y="2438415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기일과 기간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14, 15)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118397" y="2670267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특허에 관한 절차 일반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16, 28~28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5)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118397" y="290844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추후보완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17, 67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>
                <a:solidFill>
                  <a:schemeClr val="tx1"/>
                </a:solidFill>
              </a:rPr>
              <a:t>3)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118397" y="3139884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절차의 효력의 승계 및 절차의 속행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18, 19)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118397" y="337173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절차의 정지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20~24, 78, 164)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8" name="꺾인 연결선 17"/>
          <p:cNvCxnSpPr>
            <a:cxnSpLocks/>
            <a:stCxn id="6" idx="3"/>
            <a:endCxn id="7" idx="1"/>
          </p:cNvCxnSpPr>
          <p:nvPr/>
        </p:nvCxnSpPr>
        <p:spPr>
          <a:xfrm flipV="1">
            <a:off x="1797146" y="1085041"/>
            <a:ext cx="321251" cy="1316260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cxnSpLocks/>
            <a:stCxn id="6" idx="3"/>
            <a:endCxn id="17" idx="1"/>
          </p:cNvCxnSpPr>
          <p:nvPr/>
        </p:nvCxnSpPr>
        <p:spPr>
          <a:xfrm>
            <a:off x="1797146" y="2401301"/>
            <a:ext cx="321251" cy="106118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cxnSpLocks/>
            <a:stCxn id="6" idx="3"/>
            <a:endCxn id="8" idx="1"/>
          </p:cNvCxnSpPr>
          <p:nvPr/>
        </p:nvCxnSpPr>
        <p:spPr>
          <a:xfrm flipV="1">
            <a:off x="1797146" y="1327033"/>
            <a:ext cx="321251" cy="1074268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cxnSpLocks/>
            <a:stCxn id="6" idx="3"/>
            <a:endCxn id="9" idx="1"/>
          </p:cNvCxnSpPr>
          <p:nvPr/>
        </p:nvCxnSpPr>
        <p:spPr>
          <a:xfrm flipV="1">
            <a:off x="1797146" y="1561875"/>
            <a:ext cx="321251" cy="839426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연결선 21"/>
          <p:cNvCxnSpPr>
            <a:cxnSpLocks/>
            <a:stCxn id="6" idx="3"/>
            <a:endCxn id="13" idx="1"/>
          </p:cNvCxnSpPr>
          <p:nvPr/>
        </p:nvCxnSpPr>
        <p:spPr>
          <a:xfrm>
            <a:off x="1797146" y="2401301"/>
            <a:ext cx="321251" cy="127861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cxnSpLocks/>
            <a:stCxn id="6" idx="3"/>
            <a:endCxn id="14" idx="1"/>
          </p:cNvCxnSpPr>
          <p:nvPr/>
        </p:nvCxnSpPr>
        <p:spPr>
          <a:xfrm>
            <a:off x="1797146" y="2401301"/>
            <a:ext cx="321251" cy="359713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cxnSpLocks/>
            <a:stCxn id="6" idx="3"/>
            <a:endCxn id="15" idx="1"/>
          </p:cNvCxnSpPr>
          <p:nvPr/>
        </p:nvCxnSpPr>
        <p:spPr>
          <a:xfrm>
            <a:off x="1797146" y="2401301"/>
            <a:ext cx="321251" cy="59789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 24"/>
          <p:cNvCxnSpPr>
            <a:cxnSpLocks/>
            <a:stCxn id="6" idx="3"/>
            <a:endCxn id="16" idx="1"/>
          </p:cNvCxnSpPr>
          <p:nvPr/>
        </p:nvCxnSpPr>
        <p:spPr>
          <a:xfrm>
            <a:off x="1797146" y="2401301"/>
            <a:ext cx="321251" cy="829330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cxnSpLocks/>
            <a:stCxn id="6" idx="3"/>
            <a:endCxn id="10" idx="1"/>
          </p:cNvCxnSpPr>
          <p:nvPr/>
        </p:nvCxnSpPr>
        <p:spPr>
          <a:xfrm flipV="1">
            <a:off x="1797146" y="1803867"/>
            <a:ext cx="321251" cy="597434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 26"/>
          <p:cNvCxnSpPr>
            <a:cxnSpLocks/>
            <a:stCxn id="6" idx="3"/>
            <a:endCxn id="11" idx="1"/>
          </p:cNvCxnSpPr>
          <p:nvPr/>
        </p:nvCxnSpPr>
        <p:spPr>
          <a:xfrm flipV="1">
            <a:off x="1797146" y="2036390"/>
            <a:ext cx="321251" cy="364911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 27"/>
          <p:cNvCxnSpPr>
            <a:cxnSpLocks/>
            <a:stCxn id="6" idx="3"/>
            <a:endCxn id="12" idx="1"/>
          </p:cNvCxnSpPr>
          <p:nvPr/>
        </p:nvCxnSpPr>
        <p:spPr>
          <a:xfrm flipV="1">
            <a:off x="1797146" y="2278382"/>
            <a:ext cx="321251" cy="122919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그룹 28"/>
          <p:cNvGrpSpPr/>
          <p:nvPr/>
        </p:nvGrpSpPr>
        <p:grpSpPr>
          <a:xfrm>
            <a:off x="6536267" y="1171792"/>
            <a:ext cx="4444979" cy="2279356"/>
            <a:chOff x="3987793" y="1037128"/>
            <a:chExt cx="3733785" cy="1752532"/>
          </a:xfrm>
        </p:grpSpPr>
        <p:sp>
          <p:nvSpPr>
            <p:cNvPr id="30" name="직사각형 29"/>
            <p:cNvSpPr/>
            <p:nvPr/>
          </p:nvSpPr>
          <p:spPr>
            <a:xfrm>
              <a:off x="3987793" y="1888138"/>
              <a:ext cx="398311" cy="385993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dirty="0"/>
                <a:t>특허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요건</a:t>
              </a: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4546567" y="1605364"/>
              <a:ext cx="950303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없는 발명</a:t>
              </a: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4546568" y="1990474"/>
              <a:ext cx="950302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있는 자</a:t>
              </a: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4546567" y="1205114"/>
              <a:ext cx="950303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있는 발명</a:t>
              </a: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4546568" y="2378317"/>
              <a:ext cx="950302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있는 출원</a:t>
              </a:r>
            </a:p>
          </p:txBody>
        </p:sp>
        <p:grpSp>
          <p:nvGrpSpPr>
            <p:cNvPr id="35" name="그룹 34"/>
            <p:cNvGrpSpPr/>
            <p:nvPr/>
          </p:nvGrpSpPr>
          <p:grpSpPr>
            <a:xfrm>
              <a:off x="5713090" y="1037128"/>
              <a:ext cx="2008488" cy="1752532"/>
              <a:chOff x="9836379" y="3177270"/>
              <a:chExt cx="2251744" cy="1752532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49" name="직사각형 48"/>
              <p:cNvSpPr/>
              <p:nvPr/>
            </p:nvSpPr>
            <p:spPr>
              <a:xfrm>
                <a:off x="9836379" y="3177270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협의의 특허요건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29)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직사각형 49"/>
              <p:cNvSpPr/>
              <p:nvPr/>
            </p:nvSpPr>
            <p:spPr>
              <a:xfrm>
                <a:off x="9836379" y="3385132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선출원주의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36)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직사각형 50"/>
              <p:cNvSpPr/>
              <p:nvPr/>
            </p:nvSpPr>
            <p:spPr>
              <a:xfrm>
                <a:off x="9836379" y="3574340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err="1">
                    <a:solidFill>
                      <a:schemeClr val="tx1"/>
                    </a:solidFill>
                  </a:rPr>
                  <a:t>불특허발명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32)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직사각형 51"/>
              <p:cNvSpPr/>
              <p:nvPr/>
            </p:nvSpPr>
            <p:spPr>
              <a:xfrm>
                <a:off x="9836379" y="3782202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국방상 필요한 발명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 41, 106)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직사각형 52"/>
              <p:cNvSpPr/>
              <p:nvPr/>
            </p:nvSpPr>
            <p:spPr>
              <a:xfrm>
                <a:off x="9836379" y="3969271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출원인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25, 33, 44)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직사각형 53"/>
              <p:cNvSpPr/>
              <p:nvPr/>
            </p:nvSpPr>
            <p:spPr>
              <a:xfrm>
                <a:off x="9836379" y="4160199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특허를 받을 수 있는 권리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37, 38)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직사각형 54"/>
              <p:cNvSpPr/>
              <p:nvPr/>
            </p:nvSpPr>
            <p:spPr>
              <a:xfrm>
                <a:off x="9836379" y="4358676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직무발명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 err="1">
                    <a:solidFill>
                      <a:schemeClr val="tx1"/>
                    </a:solidFill>
                  </a:rPr>
                  <a:t>발진법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2, 10~19, 58)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직사각형 55"/>
              <p:cNvSpPr/>
              <p:nvPr/>
            </p:nvSpPr>
            <p:spPr>
              <a:xfrm>
                <a:off x="9836379" y="4558495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특허출원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42~42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3, 43)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직사각형 56"/>
              <p:cNvSpPr/>
              <p:nvPr/>
            </p:nvSpPr>
            <p:spPr>
              <a:xfrm>
                <a:off x="9836379" y="4773906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하나의 특허출원의 범위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45)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6" name="꺾인 연결선 35"/>
            <p:cNvCxnSpPr>
              <a:stCxn id="30" idx="3"/>
              <a:endCxn id="33" idx="1"/>
            </p:cNvCxnSpPr>
            <p:nvPr/>
          </p:nvCxnSpPr>
          <p:spPr>
            <a:xfrm flipV="1">
              <a:off x="4386104" y="1374002"/>
              <a:ext cx="160463" cy="707133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꺾인 연결선 36"/>
            <p:cNvCxnSpPr>
              <a:stCxn id="30" idx="3"/>
              <a:endCxn id="34" idx="1"/>
            </p:cNvCxnSpPr>
            <p:nvPr/>
          </p:nvCxnSpPr>
          <p:spPr>
            <a:xfrm>
              <a:off x="4386104" y="2081135"/>
              <a:ext cx="160464" cy="466070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꺾인 연결선 37"/>
            <p:cNvCxnSpPr>
              <a:stCxn id="30" idx="3"/>
              <a:endCxn id="31" idx="1"/>
            </p:cNvCxnSpPr>
            <p:nvPr/>
          </p:nvCxnSpPr>
          <p:spPr>
            <a:xfrm flipV="1">
              <a:off x="4386104" y="1774252"/>
              <a:ext cx="160463" cy="306883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꺾인 연결선 38"/>
            <p:cNvCxnSpPr>
              <a:stCxn id="30" idx="3"/>
              <a:endCxn id="32" idx="1"/>
            </p:cNvCxnSpPr>
            <p:nvPr/>
          </p:nvCxnSpPr>
          <p:spPr>
            <a:xfrm>
              <a:off x="4386104" y="2081135"/>
              <a:ext cx="160464" cy="7822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꺾인 연결선 39"/>
            <p:cNvCxnSpPr>
              <a:stCxn id="33" idx="3"/>
              <a:endCxn id="49" idx="1"/>
            </p:cNvCxnSpPr>
            <p:nvPr/>
          </p:nvCxnSpPr>
          <p:spPr>
            <a:xfrm flipV="1">
              <a:off x="5496870" y="1115076"/>
              <a:ext cx="216220" cy="258926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꺾인 연결선 40"/>
            <p:cNvCxnSpPr>
              <a:stCxn id="33" idx="3"/>
              <a:endCxn id="50" idx="1"/>
            </p:cNvCxnSpPr>
            <p:nvPr/>
          </p:nvCxnSpPr>
          <p:spPr>
            <a:xfrm flipV="1">
              <a:off x="5496870" y="1322938"/>
              <a:ext cx="216220" cy="5106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꺾인 연결선 41"/>
            <p:cNvCxnSpPr>
              <a:stCxn id="31" idx="3"/>
              <a:endCxn id="51" idx="1"/>
            </p:cNvCxnSpPr>
            <p:nvPr/>
          </p:nvCxnSpPr>
          <p:spPr>
            <a:xfrm flipV="1">
              <a:off x="5496870" y="1512146"/>
              <a:ext cx="216220" cy="262106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꺾인 연결선 42"/>
            <p:cNvCxnSpPr>
              <a:stCxn id="31" idx="3"/>
              <a:endCxn id="52" idx="1"/>
            </p:cNvCxnSpPr>
            <p:nvPr/>
          </p:nvCxnSpPr>
          <p:spPr>
            <a:xfrm flipV="1">
              <a:off x="5496870" y="1720008"/>
              <a:ext cx="216220" cy="5424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꺾인 연결선 43"/>
            <p:cNvCxnSpPr>
              <a:stCxn id="32" idx="3"/>
              <a:endCxn id="53" idx="1"/>
            </p:cNvCxnSpPr>
            <p:nvPr/>
          </p:nvCxnSpPr>
          <p:spPr>
            <a:xfrm flipV="1">
              <a:off x="5496870" y="1907077"/>
              <a:ext cx="216220" cy="252285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꺾인 연결선 44"/>
            <p:cNvCxnSpPr>
              <a:stCxn id="32" idx="3"/>
              <a:endCxn id="54" idx="1"/>
            </p:cNvCxnSpPr>
            <p:nvPr/>
          </p:nvCxnSpPr>
          <p:spPr>
            <a:xfrm flipV="1">
              <a:off x="5496870" y="2098005"/>
              <a:ext cx="216220" cy="6135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꺾인 연결선 45"/>
            <p:cNvCxnSpPr>
              <a:stCxn id="32" idx="3"/>
              <a:endCxn id="55" idx="1"/>
            </p:cNvCxnSpPr>
            <p:nvPr/>
          </p:nvCxnSpPr>
          <p:spPr>
            <a:xfrm>
              <a:off x="5496870" y="2159362"/>
              <a:ext cx="216220" cy="137120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꺾인 연결선 46"/>
            <p:cNvCxnSpPr>
              <a:stCxn id="34" idx="3"/>
              <a:endCxn id="56" idx="1"/>
            </p:cNvCxnSpPr>
            <p:nvPr/>
          </p:nvCxnSpPr>
          <p:spPr>
            <a:xfrm flipV="1">
              <a:off x="5496870" y="2496301"/>
              <a:ext cx="216220" cy="5090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꺾인 연결선 47"/>
            <p:cNvCxnSpPr>
              <a:stCxn id="34" idx="3"/>
              <a:endCxn id="57" idx="1"/>
            </p:cNvCxnSpPr>
            <p:nvPr/>
          </p:nvCxnSpPr>
          <p:spPr>
            <a:xfrm>
              <a:off x="5496870" y="2547205"/>
              <a:ext cx="216220" cy="16450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직사각형 58"/>
          <p:cNvSpPr/>
          <p:nvPr/>
        </p:nvSpPr>
        <p:spPr>
          <a:xfrm>
            <a:off x="906097" y="4898289"/>
            <a:ext cx="472526" cy="503727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/>
              <a:t>이익</a:t>
            </a:r>
            <a:endParaRPr lang="en-US" altLang="ko-KR" sz="1200" dirty="0"/>
          </a:p>
          <a:p>
            <a:pPr algn="ctr"/>
            <a:r>
              <a:rPr lang="ko-KR" altLang="en-US" sz="1200" dirty="0"/>
              <a:t>제도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2487992" y="4226191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공지예외적용주장출원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30)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2487992" y="4599179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정당한 권리자의 보호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34, 35, 99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2487992" y="4870443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보정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46, 47, 51)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2487992" y="5446506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분리출원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52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2487992" y="5717771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변경출원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53)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2487992" y="6022943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조약우선권주장출원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54)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2487992" y="6294208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국내우선권주장출원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55, 56)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1519197" y="5145136"/>
            <a:ext cx="722622" cy="4408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출원일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소급제도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1519197" y="6056851"/>
            <a:ext cx="722622" cy="4408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판단시점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>
                <a:solidFill>
                  <a:schemeClr val="tx1"/>
                </a:solidFill>
              </a:rPr>
              <a:t>소급제도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63" name="꺾인 연결선 62"/>
          <p:cNvCxnSpPr>
            <a:stCxn id="59" idx="3"/>
            <a:endCxn id="72" idx="1"/>
          </p:cNvCxnSpPr>
          <p:nvPr/>
        </p:nvCxnSpPr>
        <p:spPr>
          <a:xfrm flipV="1">
            <a:off x="1378623" y="4327915"/>
            <a:ext cx="1109369" cy="822238"/>
          </a:xfrm>
          <a:prstGeom prst="bentConnector3">
            <a:avLst>
              <a:gd name="adj1" fmla="val 6212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59" idx="3"/>
            <a:endCxn id="62" idx="1"/>
          </p:cNvCxnSpPr>
          <p:nvPr/>
        </p:nvCxnSpPr>
        <p:spPr>
          <a:xfrm>
            <a:off x="1378623" y="5150153"/>
            <a:ext cx="140574" cy="112710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꺾인 연결선 64"/>
          <p:cNvCxnSpPr>
            <a:stCxn id="59" idx="3"/>
            <a:endCxn id="61" idx="1"/>
          </p:cNvCxnSpPr>
          <p:nvPr/>
        </p:nvCxnSpPr>
        <p:spPr>
          <a:xfrm>
            <a:off x="1378623" y="5150153"/>
            <a:ext cx="140574" cy="21538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65"/>
          <p:cNvCxnSpPr>
            <a:stCxn id="61" idx="3"/>
            <a:endCxn id="73" idx="1"/>
          </p:cNvCxnSpPr>
          <p:nvPr/>
        </p:nvCxnSpPr>
        <p:spPr>
          <a:xfrm flipV="1">
            <a:off x="2241819" y="4700903"/>
            <a:ext cx="246173" cy="664635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61" idx="3"/>
            <a:endCxn id="76" idx="1"/>
          </p:cNvCxnSpPr>
          <p:nvPr/>
        </p:nvCxnSpPr>
        <p:spPr>
          <a:xfrm>
            <a:off x="2241819" y="5365539"/>
            <a:ext cx="246173" cy="453957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연결선 67"/>
          <p:cNvCxnSpPr>
            <a:stCxn id="61" idx="3"/>
            <a:endCxn id="74" idx="1"/>
          </p:cNvCxnSpPr>
          <p:nvPr/>
        </p:nvCxnSpPr>
        <p:spPr>
          <a:xfrm flipV="1">
            <a:off x="2241819" y="4972167"/>
            <a:ext cx="246173" cy="393371"/>
          </a:xfrm>
          <a:prstGeom prst="bentConnector3">
            <a:avLst>
              <a:gd name="adj1" fmla="val 50001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꺾인 연결선 68"/>
          <p:cNvCxnSpPr>
            <a:stCxn id="61" idx="3"/>
            <a:endCxn id="75" idx="1"/>
          </p:cNvCxnSpPr>
          <p:nvPr/>
        </p:nvCxnSpPr>
        <p:spPr>
          <a:xfrm>
            <a:off x="2241819" y="5365539"/>
            <a:ext cx="246173" cy="18269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cxnSpLocks/>
            <a:stCxn id="62" idx="3"/>
            <a:endCxn id="77" idx="1"/>
          </p:cNvCxnSpPr>
          <p:nvPr/>
        </p:nvCxnSpPr>
        <p:spPr>
          <a:xfrm flipV="1">
            <a:off x="2241819" y="6124667"/>
            <a:ext cx="246173" cy="152586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cxnSpLocks/>
            <a:stCxn id="62" idx="3"/>
            <a:endCxn id="78" idx="1"/>
          </p:cNvCxnSpPr>
          <p:nvPr/>
        </p:nvCxnSpPr>
        <p:spPr>
          <a:xfrm>
            <a:off x="2241819" y="6277254"/>
            <a:ext cx="246173" cy="118678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그룹 78"/>
          <p:cNvGrpSpPr/>
          <p:nvPr/>
        </p:nvGrpSpPr>
        <p:grpSpPr>
          <a:xfrm>
            <a:off x="7001934" y="4076201"/>
            <a:ext cx="3979312" cy="2368895"/>
            <a:chOff x="7340600" y="4076201"/>
            <a:chExt cx="3640645" cy="2368895"/>
          </a:xfrm>
        </p:grpSpPr>
        <p:sp>
          <p:nvSpPr>
            <p:cNvPr id="80" name="직사각형 79"/>
            <p:cNvSpPr/>
            <p:nvPr/>
          </p:nvSpPr>
          <p:spPr>
            <a:xfrm>
              <a:off x="7340600" y="5011587"/>
              <a:ext cx="448769" cy="399529"/>
            </a:xfrm>
            <a:prstGeom prst="rect">
              <a:avLst/>
            </a:prstGeom>
            <a:ln w="3175"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dirty="0"/>
                <a:t>심사</a:t>
              </a:r>
              <a:endParaRPr lang="en-US" altLang="ko-KR" sz="1200" dirty="0"/>
            </a:p>
            <a:p>
              <a:pPr algn="ctr"/>
              <a:r>
                <a:rPr lang="en-US" altLang="ko-KR" sz="1200" dirty="0"/>
                <a:t>(</a:t>
              </a:r>
              <a:r>
                <a:rPr lang="ko-KR" altLang="en-US" sz="1200" dirty="0"/>
                <a:t>제도</a:t>
              </a:r>
              <a:r>
                <a:rPr lang="en-US" altLang="ko-KR" sz="1200" dirty="0"/>
                <a:t>)</a:t>
              </a:r>
              <a:endParaRPr lang="ko-KR" altLang="en-US" sz="1200" dirty="0"/>
            </a:p>
          </p:txBody>
        </p:sp>
        <p:grpSp>
          <p:nvGrpSpPr>
            <p:cNvPr id="81" name="그룹 80"/>
            <p:cNvGrpSpPr/>
            <p:nvPr/>
          </p:nvGrpSpPr>
          <p:grpSpPr>
            <a:xfrm>
              <a:off x="7967112" y="4305504"/>
              <a:ext cx="471444" cy="1770110"/>
              <a:chOff x="2707314" y="4441447"/>
              <a:chExt cx="786730" cy="1770110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2707314" y="4441447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주체</a:t>
                </a:r>
              </a:p>
            </p:txBody>
          </p:sp>
          <p:sp>
            <p:nvSpPr>
              <p:cNvPr id="109" name="직사각형 108"/>
              <p:cNvSpPr/>
              <p:nvPr/>
            </p:nvSpPr>
            <p:spPr>
              <a:xfrm>
                <a:off x="2707314" y="4839210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청구</a:t>
                </a:r>
              </a:p>
            </p:txBody>
          </p:sp>
          <p:sp>
            <p:nvSpPr>
              <p:cNvPr id="110" name="직사각형 109"/>
              <p:cNvSpPr/>
              <p:nvPr/>
            </p:nvSpPr>
            <p:spPr>
              <a:xfrm>
                <a:off x="2707314" y="5258685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진행</a:t>
                </a:r>
              </a:p>
            </p:txBody>
          </p:sp>
          <p:sp>
            <p:nvSpPr>
              <p:cNvPr id="111" name="직사각형 110"/>
              <p:cNvSpPr/>
              <p:nvPr/>
            </p:nvSpPr>
            <p:spPr>
              <a:xfrm>
                <a:off x="2707314" y="5656447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종료</a:t>
                </a:r>
              </a:p>
            </p:txBody>
          </p:sp>
          <p:sp>
            <p:nvSpPr>
              <p:cNvPr id="112" name="직사각형 111"/>
              <p:cNvSpPr/>
              <p:nvPr/>
            </p:nvSpPr>
            <p:spPr>
              <a:xfrm>
                <a:off x="2707314" y="6036746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관련</a:t>
                </a:r>
              </a:p>
            </p:txBody>
          </p:sp>
        </p:grpSp>
        <p:cxnSp>
          <p:nvCxnSpPr>
            <p:cNvPr id="82" name="꺾인 연결선 81"/>
            <p:cNvCxnSpPr>
              <a:stCxn id="80" idx="3"/>
              <a:endCxn id="108" idx="1"/>
            </p:cNvCxnSpPr>
            <p:nvPr/>
          </p:nvCxnSpPr>
          <p:spPr>
            <a:xfrm flipV="1">
              <a:off x="7789369" y="4392910"/>
              <a:ext cx="177743" cy="81844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꺾인 연결선 82"/>
            <p:cNvCxnSpPr>
              <a:stCxn id="80" idx="3"/>
              <a:endCxn id="112" idx="1"/>
            </p:cNvCxnSpPr>
            <p:nvPr/>
          </p:nvCxnSpPr>
          <p:spPr>
            <a:xfrm>
              <a:off x="7789369" y="5211352"/>
              <a:ext cx="177743" cy="77685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꺾인 연결선 83"/>
            <p:cNvCxnSpPr>
              <a:stCxn id="80" idx="3"/>
              <a:endCxn id="109" idx="1"/>
            </p:cNvCxnSpPr>
            <p:nvPr/>
          </p:nvCxnSpPr>
          <p:spPr>
            <a:xfrm flipV="1">
              <a:off x="7789369" y="4790673"/>
              <a:ext cx="177743" cy="420679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꺾인 연결선 84"/>
            <p:cNvCxnSpPr>
              <a:stCxn id="80" idx="3"/>
              <a:endCxn id="111" idx="1"/>
            </p:cNvCxnSpPr>
            <p:nvPr/>
          </p:nvCxnSpPr>
          <p:spPr>
            <a:xfrm>
              <a:off x="7789369" y="5211352"/>
              <a:ext cx="177743" cy="396558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꺾인 연결선 85"/>
            <p:cNvCxnSpPr>
              <a:stCxn id="80" idx="3"/>
              <a:endCxn id="110" idx="1"/>
            </p:cNvCxnSpPr>
            <p:nvPr/>
          </p:nvCxnSpPr>
          <p:spPr>
            <a:xfrm flipV="1">
              <a:off x="7789369" y="5210148"/>
              <a:ext cx="177743" cy="1204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그룹 86"/>
            <p:cNvGrpSpPr/>
            <p:nvPr/>
          </p:nvGrpSpPr>
          <p:grpSpPr>
            <a:xfrm>
              <a:off x="8563424" y="4076201"/>
              <a:ext cx="2417821" cy="2368895"/>
              <a:chOff x="3618912" y="4212144"/>
              <a:chExt cx="3438525" cy="2368895"/>
            </a:xfrm>
          </p:grpSpPr>
          <p:sp>
            <p:nvSpPr>
              <p:cNvPr id="98" name="직사각형 97"/>
              <p:cNvSpPr/>
              <p:nvPr/>
            </p:nvSpPr>
            <p:spPr>
              <a:xfrm>
                <a:off x="3618912" y="4212144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심사관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57</a:t>
                </a:r>
                <a:r>
                  <a:rPr lang="en-US" altLang="ko-KR" sz="1000">
                    <a:solidFill>
                      <a:schemeClr val="tx1"/>
                    </a:solidFill>
                  </a:rPr>
                  <a:t>, 68)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9" name="직사각형 98"/>
              <p:cNvSpPr/>
              <p:nvPr/>
            </p:nvSpPr>
            <p:spPr>
              <a:xfrm>
                <a:off x="3618912" y="4435206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전문기관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58, 58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0" name="직사각형 99"/>
              <p:cNvSpPr/>
              <p:nvPr/>
            </p:nvSpPr>
            <p:spPr>
              <a:xfrm>
                <a:off x="3618912" y="5479998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출원의 무효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취하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포기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직사각형 100"/>
              <p:cNvSpPr/>
              <p:nvPr/>
            </p:nvSpPr>
            <p:spPr>
              <a:xfrm>
                <a:off x="3618912" y="5703059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특허여부결정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)(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62, 63, 66~67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2" name="직사각형 101"/>
              <p:cNvSpPr/>
              <p:nvPr/>
            </p:nvSpPr>
            <p:spPr>
              <a:xfrm>
                <a:off x="3618912" y="4668743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심사청구제도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59, 60)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직사각형 102"/>
              <p:cNvSpPr/>
              <p:nvPr/>
            </p:nvSpPr>
            <p:spPr>
              <a:xfrm>
                <a:off x="3618912" y="4891805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우선심사제도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61)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직사각형 103"/>
              <p:cNvSpPr/>
              <p:nvPr/>
            </p:nvSpPr>
            <p:spPr>
              <a:xfrm>
                <a:off x="3618912" y="5178975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심사의 진행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62, 63, 63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5" name="직사각형 104"/>
              <p:cNvSpPr/>
              <p:nvPr/>
            </p:nvSpPr>
            <p:spPr>
              <a:xfrm>
                <a:off x="3618912" y="5955831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정보제공제도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63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직사각형 105"/>
              <p:cNvSpPr/>
              <p:nvPr/>
            </p:nvSpPr>
            <p:spPr>
              <a:xfrm>
                <a:off x="3618912" y="6178893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출원공개제도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64, 65)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직사각형 106"/>
              <p:cNvSpPr/>
              <p:nvPr/>
            </p:nvSpPr>
            <p:spPr>
              <a:xfrm>
                <a:off x="3618912" y="6406228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err="1">
                    <a:solidFill>
                      <a:schemeClr val="tx1"/>
                    </a:solidFill>
                  </a:rPr>
                  <a:t>타절차와의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 관계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78)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88" name="꺾인 연결선 87"/>
            <p:cNvCxnSpPr>
              <a:stCxn id="108" idx="3"/>
              <a:endCxn id="98" idx="1"/>
            </p:cNvCxnSpPr>
            <p:nvPr/>
          </p:nvCxnSpPr>
          <p:spPr>
            <a:xfrm flipV="1">
              <a:off x="8438556" y="4163607"/>
              <a:ext cx="124868" cy="229303"/>
            </a:xfrm>
            <a:prstGeom prst="bentConnector3">
              <a:avLst>
                <a:gd name="adj1" fmla="val 50000"/>
              </a:avLst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꺾인 연결선 88"/>
            <p:cNvCxnSpPr>
              <a:stCxn id="108" idx="3"/>
              <a:endCxn id="99" idx="1"/>
            </p:cNvCxnSpPr>
            <p:nvPr/>
          </p:nvCxnSpPr>
          <p:spPr>
            <a:xfrm flipV="1">
              <a:off x="8438556" y="4386669"/>
              <a:ext cx="124868" cy="6241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꺾인 연결선 89"/>
            <p:cNvCxnSpPr>
              <a:stCxn id="109" idx="3"/>
              <a:endCxn id="102" idx="1"/>
            </p:cNvCxnSpPr>
            <p:nvPr/>
          </p:nvCxnSpPr>
          <p:spPr>
            <a:xfrm flipV="1">
              <a:off x="8438556" y="4620206"/>
              <a:ext cx="124868" cy="17046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꺾인 연결선 90"/>
            <p:cNvCxnSpPr>
              <a:stCxn id="109" idx="3"/>
              <a:endCxn id="103" idx="1"/>
            </p:cNvCxnSpPr>
            <p:nvPr/>
          </p:nvCxnSpPr>
          <p:spPr>
            <a:xfrm>
              <a:off x="8438556" y="4790673"/>
              <a:ext cx="124868" cy="52595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꺾인 연결선 91"/>
            <p:cNvCxnSpPr>
              <a:stCxn id="110" idx="3"/>
              <a:endCxn id="104" idx="1"/>
            </p:cNvCxnSpPr>
            <p:nvPr/>
          </p:nvCxnSpPr>
          <p:spPr>
            <a:xfrm flipV="1">
              <a:off x="8438556" y="5130438"/>
              <a:ext cx="124868" cy="79710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꺾인 연결선 92"/>
            <p:cNvCxnSpPr>
              <a:stCxn id="111" idx="3"/>
              <a:endCxn id="100" idx="1"/>
            </p:cNvCxnSpPr>
            <p:nvPr/>
          </p:nvCxnSpPr>
          <p:spPr>
            <a:xfrm flipV="1">
              <a:off x="8438556" y="5431461"/>
              <a:ext cx="124868" cy="176449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꺾인 연결선 93"/>
            <p:cNvCxnSpPr>
              <a:stCxn id="111" idx="3"/>
              <a:endCxn id="101" idx="1"/>
            </p:cNvCxnSpPr>
            <p:nvPr/>
          </p:nvCxnSpPr>
          <p:spPr>
            <a:xfrm>
              <a:off x="8438556" y="5607910"/>
              <a:ext cx="124868" cy="4661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꺾인 연결선 94"/>
            <p:cNvCxnSpPr>
              <a:stCxn id="112" idx="3"/>
              <a:endCxn id="105" idx="1"/>
            </p:cNvCxnSpPr>
            <p:nvPr/>
          </p:nvCxnSpPr>
          <p:spPr>
            <a:xfrm flipV="1">
              <a:off x="8438556" y="5907294"/>
              <a:ext cx="124868" cy="80915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꺾인 연결선 95"/>
            <p:cNvCxnSpPr>
              <a:stCxn id="112" idx="3"/>
              <a:endCxn id="106" idx="1"/>
            </p:cNvCxnSpPr>
            <p:nvPr/>
          </p:nvCxnSpPr>
          <p:spPr>
            <a:xfrm>
              <a:off x="8438556" y="5988209"/>
              <a:ext cx="124868" cy="14214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꺾인 연결선 96"/>
            <p:cNvCxnSpPr>
              <a:stCxn id="112" idx="3"/>
              <a:endCxn id="107" idx="1"/>
            </p:cNvCxnSpPr>
            <p:nvPr/>
          </p:nvCxnSpPr>
          <p:spPr>
            <a:xfrm>
              <a:off x="8438556" y="5988209"/>
              <a:ext cx="124868" cy="36948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직사각형 112"/>
          <p:cNvSpPr/>
          <p:nvPr/>
        </p:nvSpPr>
        <p:spPr>
          <a:xfrm>
            <a:off x="5960556" y="3393490"/>
            <a:ext cx="914400" cy="91440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특허법</a:t>
            </a:r>
            <a:endParaRPr lang="en-US" altLang="ko-KR" dirty="0"/>
          </a:p>
          <a:p>
            <a:pPr algn="ctr"/>
            <a:r>
              <a:rPr lang="ko-KR" altLang="en-US" dirty="0"/>
              <a:t>체계도</a:t>
            </a:r>
          </a:p>
        </p:txBody>
      </p:sp>
      <p:sp>
        <p:nvSpPr>
          <p:cNvPr id="114" name="타원 113"/>
          <p:cNvSpPr/>
          <p:nvPr/>
        </p:nvSpPr>
        <p:spPr>
          <a:xfrm>
            <a:off x="880857" y="2219587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15" name="타원 114"/>
          <p:cNvSpPr/>
          <p:nvPr/>
        </p:nvSpPr>
        <p:spPr>
          <a:xfrm>
            <a:off x="6163733" y="2366819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16" name="타원 115"/>
          <p:cNvSpPr/>
          <p:nvPr/>
        </p:nvSpPr>
        <p:spPr>
          <a:xfrm>
            <a:off x="542670" y="5005703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17" name="타원 116"/>
          <p:cNvSpPr/>
          <p:nvPr/>
        </p:nvSpPr>
        <p:spPr>
          <a:xfrm>
            <a:off x="6647019" y="5043860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18" name="자유형 117"/>
          <p:cNvSpPr/>
          <p:nvPr/>
        </p:nvSpPr>
        <p:spPr>
          <a:xfrm>
            <a:off x="1049867" y="2582332"/>
            <a:ext cx="4893733" cy="1423457"/>
          </a:xfrm>
          <a:custGeom>
            <a:avLst/>
            <a:gdLst>
              <a:gd name="connsiteX0" fmla="*/ 4893733 w 4893733"/>
              <a:gd name="connsiteY0" fmla="*/ 1295400 h 1295400"/>
              <a:gd name="connsiteX1" fmla="*/ 4893733 w 4893733"/>
              <a:gd name="connsiteY1" fmla="*/ 1295400 h 1295400"/>
              <a:gd name="connsiteX2" fmla="*/ 0 w 4893733"/>
              <a:gd name="connsiteY2" fmla="*/ 1295400 h 1295400"/>
              <a:gd name="connsiteX3" fmla="*/ 0 w 4893733"/>
              <a:gd name="connsiteY3" fmla="*/ 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93733" h="1295400">
                <a:moveTo>
                  <a:pt x="4893733" y="1295400"/>
                </a:moveTo>
                <a:lnTo>
                  <a:pt x="4893733" y="1295400"/>
                </a:lnTo>
                <a:lnTo>
                  <a:pt x="0" y="1295400"/>
                </a:ln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자유형 118"/>
          <p:cNvSpPr/>
          <p:nvPr/>
        </p:nvSpPr>
        <p:spPr>
          <a:xfrm>
            <a:off x="718458" y="3993619"/>
            <a:ext cx="5233610" cy="997811"/>
          </a:xfrm>
          <a:custGeom>
            <a:avLst/>
            <a:gdLst>
              <a:gd name="connsiteX0" fmla="*/ 5215467 w 5215467"/>
              <a:gd name="connsiteY0" fmla="*/ 0 h 965200"/>
              <a:gd name="connsiteX1" fmla="*/ 0 w 5215467"/>
              <a:gd name="connsiteY1" fmla="*/ 0 h 965200"/>
              <a:gd name="connsiteX2" fmla="*/ 0 w 5215467"/>
              <a:gd name="connsiteY2" fmla="*/ 965200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15467" h="965200">
                <a:moveTo>
                  <a:pt x="5215467" y="0"/>
                </a:moveTo>
                <a:lnTo>
                  <a:pt x="0" y="0"/>
                </a:lnTo>
                <a:lnTo>
                  <a:pt x="0" y="96520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자유형 119"/>
          <p:cNvSpPr/>
          <p:nvPr/>
        </p:nvSpPr>
        <p:spPr>
          <a:xfrm>
            <a:off x="6383867" y="2726267"/>
            <a:ext cx="0" cy="668866"/>
          </a:xfrm>
          <a:custGeom>
            <a:avLst/>
            <a:gdLst>
              <a:gd name="connsiteX0" fmla="*/ 0 w 0"/>
              <a:gd name="connsiteY0" fmla="*/ 668866 h 668866"/>
              <a:gd name="connsiteX1" fmla="*/ 0 w 0"/>
              <a:gd name="connsiteY1" fmla="*/ 0 h 668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68866">
                <a:moveTo>
                  <a:pt x="0" y="668866"/>
                </a:move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1" name="직선 연결선 120"/>
          <p:cNvCxnSpPr>
            <a:stCxn id="113" idx="2"/>
            <a:endCxn id="113" idx="2"/>
          </p:cNvCxnSpPr>
          <p:nvPr/>
        </p:nvCxnSpPr>
        <p:spPr>
          <a:xfrm>
            <a:off x="6417756" y="4307890"/>
            <a:ext cx="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자유형 121"/>
          <p:cNvSpPr/>
          <p:nvPr/>
        </p:nvSpPr>
        <p:spPr>
          <a:xfrm>
            <a:off x="6400800" y="4318000"/>
            <a:ext cx="262467" cy="897467"/>
          </a:xfrm>
          <a:custGeom>
            <a:avLst/>
            <a:gdLst>
              <a:gd name="connsiteX0" fmla="*/ 0 w 262467"/>
              <a:gd name="connsiteY0" fmla="*/ 0 h 897467"/>
              <a:gd name="connsiteX1" fmla="*/ 0 w 262467"/>
              <a:gd name="connsiteY1" fmla="*/ 0 h 897467"/>
              <a:gd name="connsiteX2" fmla="*/ 0 w 262467"/>
              <a:gd name="connsiteY2" fmla="*/ 897467 h 897467"/>
              <a:gd name="connsiteX3" fmla="*/ 262467 w 262467"/>
              <a:gd name="connsiteY3" fmla="*/ 897467 h 89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2467" h="897467">
                <a:moveTo>
                  <a:pt x="0" y="0"/>
                </a:moveTo>
                <a:lnTo>
                  <a:pt x="0" y="0"/>
                </a:lnTo>
                <a:lnTo>
                  <a:pt x="0" y="897467"/>
                </a:lnTo>
                <a:lnTo>
                  <a:pt x="262467" y="897467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9012F393-65ED-4311-A56D-1073EA0A0D99}"/>
              </a:ext>
            </a:extLst>
          </p:cNvPr>
          <p:cNvSpPr/>
          <p:nvPr/>
        </p:nvSpPr>
        <p:spPr>
          <a:xfrm>
            <a:off x="2487992" y="5160972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분할출원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27" name="꺾인 연결선 67">
            <a:extLst>
              <a:ext uri="{FF2B5EF4-FFF2-40B4-BE49-F238E27FC236}">
                <a16:creationId xmlns:a16="http://schemas.microsoft.com/office/drawing/2014/main" id="{E6B18D36-32CC-497B-A148-E8CED33A916F}"/>
              </a:ext>
            </a:extLst>
          </p:cNvPr>
          <p:cNvCxnSpPr>
            <a:cxnSpLocks/>
            <a:stCxn id="61" idx="3"/>
            <a:endCxn id="125" idx="1"/>
          </p:cNvCxnSpPr>
          <p:nvPr/>
        </p:nvCxnSpPr>
        <p:spPr>
          <a:xfrm flipV="1">
            <a:off x="2241819" y="5262696"/>
            <a:ext cx="246173" cy="10284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꺾인 연결선 68">
            <a:extLst>
              <a:ext uri="{FF2B5EF4-FFF2-40B4-BE49-F238E27FC236}">
                <a16:creationId xmlns:a16="http://schemas.microsoft.com/office/drawing/2014/main" id="{15731FFB-002A-4D1A-B931-E4E3AE5EC565}"/>
              </a:ext>
            </a:extLst>
          </p:cNvPr>
          <p:cNvCxnSpPr>
            <a:cxnSpLocks/>
            <a:stCxn id="61" idx="3"/>
            <a:endCxn id="125" idx="1"/>
          </p:cNvCxnSpPr>
          <p:nvPr/>
        </p:nvCxnSpPr>
        <p:spPr>
          <a:xfrm flipV="1">
            <a:off x="2241819" y="5262696"/>
            <a:ext cx="246173" cy="10284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88952097-4047-B4C7-1974-88AE224120C6}"/>
              </a:ext>
            </a:extLst>
          </p:cNvPr>
          <p:cNvSpPr/>
          <p:nvPr/>
        </p:nvSpPr>
        <p:spPr>
          <a:xfrm>
            <a:off x="2118397" y="362248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보칙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215-224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4540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148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특허법 체계</a:t>
            </a:r>
          </a:p>
        </p:txBody>
      </p:sp>
      <p:sp>
        <p:nvSpPr>
          <p:cNvPr id="124" name="직사각형 123"/>
          <p:cNvSpPr/>
          <p:nvPr/>
        </p:nvSpPr>
        <p:spPr>
          <a:xfrm>
            <a:off x="680604" y="2547021"/>
            <a:ext cx="545064" cy="552230"/>
          </a:xfrm>
          <a:prstGeom prst="rect">
            <a:avLst/>
          </a:prstGeom>
          <a:ln w="3175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/>
              <a:t>특허권</a:t>
            </a:r>
            <a:endParaRPr lang="ko-KR" altLang="en-US" sz="1200" dirty="0"/>
          </a:p>
        </p:txBody>
      </p:sp>
      <p:sp>
        <p:nvSpPr>
          <p:cNvPr id="125" name="직사각형 124"/>
          <p:cNvSpPr/>
          <p:nvPr/>
        </p:nvSpPr>
        <p:spPr>
          <a:xfrm>
            <a:off x="1383335" y="1239993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발생</a:t>
            </a:r>
          </a:p>
        </p:txBody>
      </p:sp>
      <p:sp>
        <p:nvSpPr>
          <p:cNvPr id="126" name="직사각형 125"/>
          <p:cNvSpPr/>
          <p:nvPr/>
        </p:nvSpPr>
        <p:spPr>
          <a:xfrm>
            <a:off x="1383335" y="1789781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효력</a:t>
            </a:r>
          </a:p>
        </p:txBody>
      </p:sp>
      <p:sp>
        <p:nvSpPr>
          <p:cNvPr id="127" name="직사각형 126"/>
          <p:cNvSpPr/>
          <p:nvPr/>
        </p:nvSpPr>
        <p:spPr>
          <a:xfrm>
            <a:off x="1383335" y="2944739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변동</a:t>
            </a:r>
          </a:p>
        </p:txBody>
      </p:sp>
      <p:sp>
        <p:nvSpPr>
          <p:cNvPr id="128" name="직사각형 127"/>
          <p:cNvSpPr/>
          <p:nvPr/>
        </p:nvSpPr>
        <p:spPr>
          <a:xfrm>
            <a:off x="1383335" y="3668083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소멸</a:t>
            </a:r>
          </a:p>
        </p:txBody>
      </p:sp>
      <p:sp>
        <p:nvSpPr>
          <p:cNvPr id="129" name="직사각형 128"/>
          <p:cNvSpPr/>
          <p:nvPr/>
        </p:nvSpPr>
        <p:spPr>
          <a:xfrm>
            <a:off x="1383335" y="4175764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관련</a:t>
            </a:r>
          </a:p>
        </p:txBody>
      </p:sp>
      <p:cxnSp>
        <p:nvCxnSpPr>
          <p:cNvPr id="130" name="꺾인 연결선 129"/>
          <p:cNvCxnSpPr>
            <a:stCxn id="124" idx="3"/>
            <a:endCxn id="125" idx="1"/>
          </p:cNvCxnSpPr>
          <p:nvPr/>
        </p:nvCxnSpPr>
        <p:spPr>
          <a:xfrm flipV="1">
            <a:off x="1225668" y="1360804"/>
            <a:ext cx="157667" cy="146233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꺾인 연결선 130"/>
          <p:cNvCxnSpPr>
            <a:stCxn id="124" idx="3"/>
            <a:endCxn id="129" idx="1"/>
          </p:cNvCxnSpPr>
          <p:nvPr/>
        </p:nvCxnSpPr>
        <p:spPr>
          <a:xfrm>
            <a:off x="1225668" y="2823136"/>
            <a:ext cx="157667" cy="147344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꺾인 연결선 131"/>
          <p:cNvCxnSpPr>
            <a:stCxn id="124" idx="3"/>
            <a:endCxn id="126" idx="1"/>
          </p:cNvCxnSpPr>
          <p:nvPr/>
        </p:nvCxnSpPr>
        <p:spPr>
          <a:xfrm flipV="1">
            <a:off x="1225668" y="1910593"/>
            <a:ext cx="157667" cy="9125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꺾인 연결선 132"/>
          <p:cNvCxnSpPr>
            <a:stCxn id="124" idx="3"/>
            <a:endCxn id="128" idx="1"/>
          </p:cNvCxnSpPr>
          <p:nvPr/>
        </p:nvCxnSpPr>
        <p:spPr>
          <a:xfrm>
            <a:off x="1225668" y="2823136"/>
            <a:ext cx="157667" cy="96575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꺾인 연결선 133"/>
          <p:cNvCxnSpPr>
            <a:stCxn id="124" idx="3"/>
            <a:endCxn id="127" idx="1"/>
          </p:cNvCxnSpPr>
          <p:nvPr/>
        </p:nvCxnSpPr>
        <p:spPr>
          <a:xfrm>
            <a:off x="1225668" y="2823136"/>
            <a:ext cx="157667" cy="24241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/>
          <p:cNvSpPr/>
          <p:nvPr/>
        </p:nvSpPr>
        <p:spPr>
          <a:xfrm>
            <a:off x="1927293" y="1027643"/>
            <a:ext cx="1744315" cy="1286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특허료의 납부 등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79~86)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6" name="직사각형 135"/>
          <p:cNvSpPr/>
          <p:nvPr/>
        </p:nvSpPr>
        <p:spPr>
          <a:xfrm>
            <a:off x="1927294" y="1199840"/>
            <a:ext cx="1744314" cy="1467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설정등록 및 등록공고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1927295" y="3385001"/>
            <a:ext cx="991185" cy="1876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질권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121~123)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1931244" y="3908454"/>
            <a:ext cx="38352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효과</a:t>
            </a:r>
          </a:p>
        </p:txBody>
      </p:sp>
      <p:sp>
        <p:nvSpPr>
          <p:cNvPr id="139" name="직사각형 138"/>
          <p:cNvSpPr/>
          <p:nvPr/>
        </p:nvSpPr>
        <p:spPr>
          <a:xfrm>
            <a:off x="1927295" y="1600786"/>
            <a:ext cx="387474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범위</a:t>
            </a:r>
          </a:p>
        </p:txBody>
      </p:sp>
      <p:sp>
        <p:nvSpPr>
          <p:cNvPr id="140" name="직사각형 139"/>
          <p:cNvSpPr/>
          <p:nvPr/>
        </p:nvSpPr>
        <p:spPr>
          <a:xfrm>
            <a:off x="1927295" y="2235641"/>
            <a:ext cx="387474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내용</a:t>
            </a:r>
          </a:p>
        </p:txBody>
      </p:sp>
      <p:sp>
        <p:nvSpPr>
          <p:cNvPr id="141" name="직사각형 140"/>
          <p:cNvSpPr/>
          <p:nvPr/>
        </p:nvSpPr>
        <p:spPr>
          <a:xfrm>
            <a:off x="1927295" y="3187241"/>
            <a:ext cx="99118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000" dirty="0" err="1">
                <a:solidFill>
                  <a:schemeClr val="tx2"/>
                </a:solidFill>
              </a:rPr>
              <a:t>실시권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42" name="직사각형 141"/>
          <p:cNvSpPr/>
          <p:nvPr/>
        </p:nvSpPr>
        <p:spPr>
          <a:xfrm>
            <a:off x="1926619" y="4143059"/>
            <a:ext cx="1355344" cy="1535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실시보고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125)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1926619" y="4320845"/>
            <a:ext cx="1355344" cy="134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집행권원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125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44" name="꺾인 연결선 143"/>
          <p:cNvCxnSpPr>
            <a:stCxn id="125" idx="3"/>
            <a:endCxn id="135" idx="1"/>
          </p:cNvCxnSpPr>
          <p:nvPr/>
        </p:nvCxnSpPr>
        <p:spPr>
          <a:xfrm flipV="1">
            <a:off x="1774346" y="1091961"/>
            <a:ext cx="152947" cy="26884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연결선 144"/>
          <p:cNvCxnSpPr>
            <a:stCxn id="125" idx="3"/>
            <a:endCxn id="136" idx="1"/>
          </p:cNvCxnSpPr>
          <p:nvPr/>
        </p:nvCxnSpPr>
        <p:spPr>
          <a:xfrm flipV="1">
            <a:off x="1774346" y="1273240"/>
            <a:ext cx="152948" cy="8756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꺾인 연결선 145"/>
          <p:cNvCxnSpPr>
            <a:stCxn id="126" idx="3"/>
            <a:endCxn id="139" idx="1"/>
          </p:cNvCxnSpPr>
          <p:nvPr/>
        </p:nvCxnSpPr>
        <p:spPr>
          <a:xfrm flipV="1">
            <a:off x="1774346" y="1680091"/>
            <a:ext cx="152949" cy="23050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꺾인 연결선 146"/>
          <p:cNvCxnSpPr>
            <a:stCxn id="126" idx="3"/>
            <a:endCxn id="140" idx="1"/>
          </p:cNvCxnSpPr>
          <p:nvPr/>
        </p:nvCxnSpPr>
        <p:spPr>
          <a:xfrm>
            <a:off x="1774346" y="1910593"/>
            <a:ext cx="152949" cy="4043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꺾인 연결선 147"/>
          <p:cNvCxnSpPr>
            <a:stCxn id="127" idx="3"/>
            <a:endCxn id="141" idx="1"/>
          </p:cNvCxnSpPr>
          <p:nvPr/>
        </p:nvCxnSpPr>
        <p:spPr>
          <a:xfrm>
            <a:off x="1774346" y="3065551"/>
            <a:ext cx="152949" cy="20099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 148"/>
          <p:cNvCxnSpPr>
            <a:stCxn id="128" idx="3"/>
            <a:endCxn id="138" idx="1"/>
          </p:cNvCxnSpPr>
          <p:nvPr/>
        </p:nvCxnSpPr>
        <p:spPr>
          <a:xfrm>
            <a:off x="1774346" y="3788895"/>
            <a:ext cx="156898" cy="19886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꺾인 연결선 149"/>
          <p:cNvCxnSpPr>
            <a:stCxn id="129" idx="3"/>
            <a:endCxn id="142" idx="1"/>
          </p:cNvCxnSpPr>
          <p:nvPr/>
        </p:nvCxnSpPr>
        <p:spPr>
          <a:xfrm flipV="1">
            <a:off x="1774346" y="4219817"/>
            <a:ext cx="152273" cy="7675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꺾인 연결선 150"/>
          <p:cNvCxnSpPr>
            <a:stCxn id="129" idx="3"/>
            <a:endCxn id="143" idx="1"/>
          </p:cNvCxnSpPr>
          <p:nvPr/>
        </p:nvCxnSpPr>
        <p:spPr>
          <a:xfrm>
            <a:off x="1774346" y="4296575"/>
            <a:ext cx="152273" cy="9135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직사각형 151"/>
          <p:cNvSpPr/>
          <p:nvPr/>
        </p:nvSpPr>
        <p:spPr>
          <a:xfrm>
            <a:off x="2490834" y="1502332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시간적</a:t>
            </a:r>
          </a:p>
        </p:txBody>
      </p:sp>
      <p:sp>
        <p:nvSpPr>
          <p:cNvPr id="153" name="직사각형 152"/>
          <p:cNvSpPr/>
          <p:nvPr/>
        </p:nvSpPr>
        <p:spPr>
          <a:xfrm>
            <a:off x="2490834" y="1753955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내용적</a:t>
            </a:r>
          </a:p>
        </p:txBody>
      </p:sp>
      <p:sp>
        <p:nvSpPr>
          <p:cNvPr id="154" name="직사각형 153"/>
          <p:cNvSpPr/>
          <p:nvPr/>
        </p:nvSpPr>
        <p:spPr>
          <a:xfrm>
            <a:off x="2490834" y="1966576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지역적</a:t>
            </a:r>
          </a:p>
        </p:txBody>
      </p:sp>
      <p:sp>
        <p:nvSpPr>
          <p:cNvPr id="155" name="직사각형 154"/>
          <p:cNvSpPr/>
          <p:nvPr/>
        </p:nvSpPr>
        <p:spPr>
          <a:xfrm>
            <a:off x="3028012" y="1406769"/>
            <a:ext cx="1665788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존속기간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3028012" y="1577847"/>
            <a:ext cx="1665790" cy="1492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존속기간의 연장</a:t>
            </a:r>
            <a:r>
              <a:rPr lang="en-US" altLang="ko-KR" sz="800" dirty="0">
                <a:solidFill>
                  <a:schemeClr val="tx2"/>
                </a:solidFill>
              </a:rPr>
              <a:t>(</a:t>
            </a:r>
            <a:r>
              <a:rPr lang="ko-KR" altLang="en-US" sz="800" dirty="0">
                <a:solidFill>
                  <a:schemeClr val="tx2"/>
                </a:solidFill>
              </a:rPr>
              <a:t>法 </a:t>
            </a:r>
            <a:r>
              <a:rPr lang="en-US" altLang="ko-KR" sz="800" dirty="0">
                <a:solidFill>
                  <a:schemeClr val="tx2"/>
                </a:solidFill>
              </a:rPr>
              <a:t>89~93, 95)</a:t>
            </a:r>
            <a:endParaRPr lang="ko-KR" altLang="en-US" sz="800" dirty="0">
              <a:solidFill>
                <a:schemeClr val="tx2"/>
              </a:solidFill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3028012" y="1745004"/>
            <a:ext cx="1665788" cy="1857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청구범위</a:t>
            </a:r>
          </a:p>
        </p:txBody>
      </p:sp>
      <p:sp>
        <p:nvSpPr>
          <p:cNvPr id="158" name="직사각형 157"/>
          <p:cNvSpPr/>
          <p:nvPr/>
        </p:nvSpPr>
        <p:spPr>
          <a:xfrm>
            <a:off x="3028011" y="1966575"/>
            <a:ext cx="1665789" cy="1586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속지주의</a:t>
            </a:r>
          </a:p>
        </p:txBody>
      </p:sp>
      <p:sp>
        <p:nvSpPr>
          <p:cNvPr id="159" name="직사각형 158"/>
          <p:cNvSpPr/>
          <p:nvPr/>
        </p:nvSpPr>
        <p:spPr>
          <a:xfrm>
            <a:off x="2500115" y="2247804"/>
            <a:ext cx="41836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의의</a:t>
            </a:r>
          </a:p>
        </p:txBody>
      </p:sp>
      <p:sp>
        <p:nvSpPr>
          <p:cNvPr id="160" name="직사각형 159"/>
          <p:cNvSpPr/>
          <p:nvPr/>
        </p:nvSpPr>
        <p:spPr>
          <a:xfrm>
            <a:off x="2500114" y="2523982"/>
            <a:ext cx="2193687" cy="1634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제한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81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3④, 96, 181/98)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1" name="직사각형 160"/>
          <p:cNvSpPr/>
          <p:nvPr/>
        </p:nvSpPr>
        <p:spPr>
          <a:xfrm>
            <a:off x="2500114" y="2714241"/>
            <a:ext cx="219368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확장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2" name="직사각형 161"/>
          <p:cNvSpPr/>
          <p:nvPr/>
        </p:nvSpPr>
        <p:spPr>
          <a:xfrm>
            <a:off x="1927295" y="2927413"/>
            <a:ext cx="1564240" cy="1938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이전 및 공유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99, 99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3" name="직사각형 162"/>
          <p:cNvSpPr/>
          <p:nvPr/>
        </p:nvSpPr>
        <p:spPr>
          <a:xfrm>
            <a:off x="3109057" y="3518950"/>
            <a:ext cx="2829345" cy="1332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강제실시권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106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2, 107~115, 138)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3109057" y="3339094"/>
            <a:ext cx="2829345" cy="1397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법정실시권</a:t>
            </a:r>
            <a:r>
              <a:rPr lang="en-US" altLang="ko-KR" sz="800" dirty="0">
                <a:solidFill>
                  <a:schemeClr val="tx2"/>
                </a:solidFill>
              </a:rPr>
              <a:t>(</a:t>
            </a:r>
            <a:r>
              <a:rPr lang="ko-KR" altLang="en-US" sz="800" dirty="0">
                <a:solidFill>
                  <a:schemeClr val="tx2"/>
                </a:solidFill>
              </a:rPr>
              <a:t>法 </a:t>
            </a:r>
            <a:r>
              <a:rPr lang="en-US" altLang="ko-KR" sz="800" dirty="0">
                <a:solidFill>
                  <a:schemeClr val="tx2"/>
                </a:solidFill>
              </a:rPr>
              <a:t>81</a:t>
            </a:r>
            <a:r>
              <a:rPr lang="ko-KR" altLang="en-US" sz="800" dirty="0">
                <a:solidFill>
                  <a:schemeClr val="tx2"/>
                </a:solidFill>
              </a:rPr>
              <a:t>의</a:t>
            </a:r>
            <a:r>
              <a:rPr lang="en-US" altLang="ko-KR" sz="800" dirty="0">
                <a:solidFill>
                  <a:schemeClr val="tx2"/>
                </a:solidFill>
              </a:rPr>
              <a:t>3, 103~105, 122, 182,183, </a:t>
            </a:r>
            <a:r>
              <a:rPr lang="ko-KR" altLang="en-US" sz="800" dirty="0" err="1">
                <a:solidFill>
                  <a:schemeClr val="tx2"/>
                </a:solidFill>
              </a:rPr>
              <a:t>발진법</a:t>
            </a:r>
            <a:r>
              <a:rPr lang="en-US" altLang="ko-KR" sz="800" dirty="0">
                <a:solidFill>
                  <a:schemeClr val="tx2"/>
                </a:solidFill>
              </a:rPr>
              <a:t>10</a:t>
            </a:r>
            <a:r>
              <a:rPr lang="ko-KR" altLang="en-US" sz="800" dirty="0">
                <a:solidFill>
                  <a:schemeClr val="tx2"/>
                </a:solidFill>
              </a:rPr>
              <a:t>①</a:t>
            </a:r>
            <a:r>
              <a:rPr lang="en-US" altLang="ko-KR" sz="800" dirty="0">
                <a:solidFill>
                  <a:schemeClr val="tx2"/>
                </a:solidFill>
              </a:rPr>
              <a:t>)</a:t>
            </a:r>
            <a:endParaRPr lang="ko-KR" altLang="en-US" sz="800" dirty="0">
              <a:solidFill>
                <a:schemeClr val="tx2"/>
              </a:solidFill>
            </a:endParaRPr>
          </a:p>
        </p:txBody>
      </p:sp>
      <p:sp>
        <p:nvSpPr>
          <p:cNvPr id="165" name="직사각형 164"/>
          <p:cNvSpPr/>
          <p:nvPr/>
        </p:nvSpPr>
        <p:spPr>
          <a:xfrm>
            <a:off x="3109057" y="3151440"/>
            <a:ext cx="2829345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일반론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100~102, 118)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6" name="직사각형 165"/>
          <p:cNvSpPr/>
          <p:nvPr/>
        </p:nvSpPr>
        <p:spPr>
          <a:xfrm>
            <a:off x="1931244" y="3709590"/>
            <a:ext cx="38352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원인</a:t>
            </a:r>
          </a:p>
        </p:txBody>
      </p:sp>
      <p:sp>
        <p:nvSpPr>
          <p:cNvPr id="167" name="직사각형 166"/>
          <p:cNvSpPr/>
          <p:nvPr/>
        </p:nvSpPr>
        <p:spPr>
          <a:xfrm>
            <a:off x="2426794" y="3883877"/>
            <a:ext cx="1721991" cy="2093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장래소멸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119, 120, 124)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8" name="직사각형 167"/>
          <p:cNvSpPr/>
          <p:nvPr/>
        </p:nvSpPr>
        <p:spPr>
          <a:xfrm>
            <a:off x="2426794" y="3698412"/>
            <a:ext cx="1721991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소급소멸</a:t>
            </a:r>
          </a:p>
        </p:txBody>
      </p:sp>
      <p:cxnSp>
        <p:nvCxnSpPr>
          <p:cNvPr id="169" name="꺾인 연결선 168"/>
          <p:cNvCxnSpPr>
            <a:stCxn id="139" idx="3"/>
            <a:endCxn id="152" idx="1"/>
          </p:cNvCxnSpPr>
          <p:nvPr/>
        </p:nvCxnSpPr>
        <p:spPr>
          <a:xfrm flipV="1">
            <a:off x="2314769" y="1581638"/>
            <a:ext cx="176065" cy="984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꺾인 연결선 169"/>
          <p:cNvCxnSpPr>
            <a:stCxn id="139" idx="3"/>
            <a:endCxn id="153" idx="1"/>
          </p:cNvCxnSpPr>
          <p:nvPr/>
        </p:nvCxnSpPr>
        <p:spPr>
          <a:xfrm>
            <a:off x="2314769" y="1680091"/>
            <a:ext cx="176065" cy="15316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꺾인 연결선 170"/>
          <p:cNvCxnSpPr>
            <a:stCxn id="139" idx="3"/>
            <a:endCxn id="154" idx="1"/>
          </p:cNvCxnSpPr>
          <p:nvPr/>
        </p:nvCxnSpPr>
        <p:spPr>
          <a:xfrm>
            <a:off x="2314769" y="1680091"/>
            <a:ext cx="176065" cy="36579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꺾인 연결선 171"/>
          <p:cNvCxnSpPr>
            <a:stCxn id="152" idx="3"/>
            <a:endCxn id="155" idx="1"/>
          </p:cNvCxnSpPr>
          <p:nvPr/>
        </p:nvCxnSpPr>
        <p:spPr>
          <a:xfrm flipV="1">
            <a:off x="2918481" y="1486075"/>
            <a:ext cx="109531" cy="9556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꺾인 연결선 172"/>
          <p:cNvCxnSpPr>
            <a:stCxn id="152" idx="3"/>
            <a:endCxn id="156" idx="1"/>
          </p:cNvCxnSpPr>
          <p:nvPr/>
        </p:nvCxnSpPr>
        <p:spPr>
          <a:xfrm>
            <a:off x="2918481" y="1581638"/>
            <a:ext cx="109531" cy="7083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/>
          <p:cNvCxnSpPr>
            <a:stCxn id="153" idx="3"/>
            <a:endCxn id="157" idx="1"/>
          </p:cNvCxnSpPr>
          <p:nvPr/>
        </p:nvCxnSpPr>
        <p:spPr>
          <a:xfrm>
            <a:off x="2918481" y="1833260"/>
            <a:ext cx="109531" cy="463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/>
          <p:cNvCxnSpPr>
            <a:stCxn id="154" idx="3"/>
            <a:endCxn id="158" idx="1"/>
          </p:cNvCxnSpPr>
          <p:nvPr/>
        </p:nvCxnSpPr>
        <p:spPr>
          <a:xfrm flipV="1">
            <a:off x="2918481" y="2045880"/>
            <a:ext cx="109530" cy="1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꺾인 연결선 175"/>
          <p:cNvCxnSpPr>
            <a:stCxn id="140" idx="3"/>
            <a:endCxn id="161" idx="1"/>
          </p:cNvCxnSpPr>
          <p:nvPr/>
        </p:nvCxnSpPr>
        <p:spPr>
          <a:xfrm>
            <a:off x="2314769" y="2314946"/>
            <a:ext cx="185345" cy="47860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꺾인 연결선 176"/>
          <p:cNvCxnSpPr>
            <a:stCxn id="140" idx="3"/>
            <a:endCxn id="159" idx="1"/>
          </p:cNvCxnSpPr>
          <p:nvPr/>
        </p:nvCxnSpPr>
        <p:spPr>
          <a:xfrm>
            <a:off x="2314769" y="2314946"/>
            <a:ext cx="185346" cy="1216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꺾인 연결선 177"/>
          <p:cNvCxnSpPr>
            <a:stCxn id="140" idx="3"/>
            <a:endCxn id="160" idx="1"/>
          </p:cNvCxnSpPr>
          <p:nvPr/>
        </p:nvCxnSpPr>
        <p:spPr>
          <a:xfrm>
            <a:off x="2314769" y="2314946"/>
            <a:ext cx="185345" cy="29073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꺾인 연결선 178"/>
          <p:cNvCxnSpPr>
            <a:stCxn id="127" idx="3"/>
            <a:endCxn id="162" idx="1"/>
          </p:cNvCxnSpPr>
          <p:nvPr/>
        </p:nvCxnSpPr>
        <p:spPr>
          <a:xfrm flipV="1">
            <a:off x="1774346" y="3024355"/>
            <a:ext cx="152949" cy="4119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꺾인 연결선 179"/>
          <p:cNvCxnSpPr>
            <a:stCxn id="127" idx="3"/>
            <a:endCxn id="137" idx="1"/>
          </p:cNvCxnSpPr>
          <p:nvPr/>
        </p:nvCxnSpPr>
        <p:spPr>
          <a:xfrm>
            <a:off x="1774346" y="3065551"/>
            <a:ext cx="152949" cy="41327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꺾인 연결선 180"/>
          <p:cNvCxnSpPr>
            <a:stCxn id="141" idx="3"/>
            <a:endCxn id="163" idx="1"/>
          </p:cNvCxnSpPr>
          <p:nvPr/>
        </p:nvCxnSpPr>
        <p:spPr>
          <a:xfrm>
            <a:off x="2918481" y="3266547"/>
            <a:ext cx="190576" cy="31904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꺾인 연결선 181"/>
          <p:cNvCxnSpPr>
            <a:stCxn id="141" idx="3"/>
            <a:endCxn id="165" idx="1"/>
          </p:cNvCxnSpPr>
          <p:nvPr/>
        </p:nvCxnSpPr>
        <p:spPr>
          <a:xfrm flipV="1">
            <a:off x="2918481" y="3230745"/>
            <a:ext cx="190576" cy="3580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꺾인 연결선 182"/>
          <p:cNvCxnSpPr>
            <a:stCxn id="141" idx="3"/>
            <a:endCxn id="164" idx="1"/>
          </p:cNvCxnSpPr>
          <p:nvPr/>
        </p:nvCxnSpPr>
        <p:spPr>
          <a:xfrm>
            <a:off x="2918481" y="3266547"/>
            <a:ext cx="190576" cy="14241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꺾인 연결선 183"/>
          <p:cNvCxnSpPr>
            <a:stCxn id="128" idx="3"/>
            <a:endCxn id="166" idx="1"/>
          </p:cNvCxnSpPr>
          <p:nvPr/>
        </p:nvCxnSpPr>
        <p:spPr>
          <a:xfrm>
            <a:off x="1774346" y="3788895"/>
            <a:ext cx="156898" cy="1270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꺾인 연결선 184"/>
          <p:cNvCxnSpPr>
            <a:stCxn id="166" idx="3"/>
            <a:endCxn id="167" idx="1"/>
          </p:cNvCxnSpPr>
          <p:nvPr/>
        </p:nvCxnSpPr>
        <p:spPr>
          <a:xfrm>
            <a:off x="2314770" y="3788895"/>
            <a:ext cx="112024" cy="19967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꺾인 연결선 185"/>
          <p:cNvCxnSpPr>
            <a:stCxn id="166" idx="3"/>
            <a:endCxn id="168" idx="1"/>
          </p:cNvCxnSpPr>
          <p:nvPr/>
        </p:nvCxnSpPr>
        <p:spPr>
          <a:xfrm flipV="1">
            <a:off x="2314770" y="3777717"/>
            <a:ext cx="112024" cy="1117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직사각형 186"/>
          <p:cNvSpPr/>
          <p:nvPr/>
        </p:nvSpPr>
        <p:spPr>
          <a:xfrm>
            <a:off x="3281962" y="2158301"/>
            <a:ext cx="1411839" cy="167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적극적 효력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94)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88" name="직사각형 187"/>
          <p:cNvSpPr/>
          <p:nvPr/>
        </p:nvSpPr>
        <p:spPr>
          <a:xfrm>
            <a:off x="3281962" y="2341797"/>
            <a:ext cx="1411839" cy="1539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소극적 효력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침해</a:t>
            </a:r>
            <a:r>
              <a:rPr lang="en-US" altLang="ko-KR" sz="1000" dirty="0">
                <a:solidFill>
                  <a:schemeClr val="tx2"/>
                </a:solidFill>
              </a:rPr>
              <a:t>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89" name="꺾인 연결선 188"/>
          <p:cNvCxnSpPr>
            <a:stCxn id="159" idx="3"/>
            <a:endCxn id="188" idx="1"/>
          </p:cNvCxnSpPr>
          <p:nvPr/>
        </p:nvCxnSpPr>
        <p:spPr>
          <a:xfrm>
            <a:off x="2918481" y="2327109"/>
            <a:ext cx="363481" cy="9165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꺾인 연결선 189"/>
          <p:cNvCxnSpPr>
            <a:stCxn id="159" idx="3"/>
            <a:endCxn id="187" idx="1"/>
          </p:cNvCxnSpPr>
          <p:nvPr/>
        </p:nvCxnSpPr>
        <p:spPr>
          <a:xfrm flipV="1">
            <a:off x="2918481" y="2242081"/>
            <a:ext cx="363481" cy="850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직사각형 190"/>
          <p:cNvSpPr/>
          <p:nvPr/>
        </p:nvSpPr>
        <p:spPr>
          <a:xfrm>
            <a:off x="4891070" y="1400340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성립요건</a:t>
            </a:r>
          </a:p>
        </p:txBody>
      </p:sp>
      <p:sp>
        <p:nvSpPr>
          <p:cNvPr id="192" name="직사각형 191"/>
          <p:cNvSpPr/>
          <p:nvPr/>
        </p:nvSpPr>
        <p:spPr>
          <a:xfrm>
            <a:off x="4891070" y="1771241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종류</a:t>
            </a:r>
          </a:p>
        </p:txBody>
      </p:sp>
      <p:sp>
        <p:nvSpPr>
          <p:cNvPr id="193" name="직사각형 192"/>
          <p:cNvSpPr/>
          <p:nvPr/>
        </p:nvSpPr>
        <p:spPr>
          <a:xfrm>
            <a:off x="4891070" y="2381537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조치</a:t>
            </a:r>
          </a:p>
        </p:txBody>
      </p:sp>
      <p:cxnSp>
        <p:nvCxnSpPr>
          <p:cNvPr id="194" name="꺾인 연결선 193"/>
          <p:cNvCxnSpPr>
            <a:stCxn id="188" idx="3"/>
            <a:endCxn id="191" idx="1"/>
          </p:cNvCxnSpPr>
          <p:nvPr/>
        </p:nvCxnSpPr>
        <p:spPr>
          <a:xfrm flipV="1">
            <a:off x="4693801" y="1479645"/>
            <a:ext cx="197269" cy="939118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꺾인 연결선 194"/>
          <p:cNvCxnSpPr>
            <a:stCxn id="188" idx="3"/>
            <a:endCxn id="193" idx="1"/>
          </p:cNvCxnSpPr>
          <p:nvPr/>
        </p:nvCxnSpPr>
        <p:spPr>
          <a:xfrm>
            <a:off x="4693801" y="2418763"/>
            <a:ext cx="197269" cy="42079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꺾인 연결선 195"/>
          <p:cNvCxnSpPr>
            <a:stCxn id="188" idx="3"/>
            <a:endCxn id="192" idx="1"/>
          </p:cNvCxnSpPr>
          <p:nvPr/>
        </p:nvCxnSpPr>
        <p:spPr>
          <a:xfrm flipV="1">
            <a:off x="4693801" y="1850546"/>
            <a:ext cx="197269" cy="568217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직사각형 196"/>
          <p:cNvSpPr/>
          <p:nvPr/>
        </p:nvSpPr>
        <p:spPr>
          <a:xfrm>
            <a:off x="5586610" y="1528907"/>
            <a:ext cx="833380" cy="3216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직접침해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 fontAlgn="base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97, 98)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98" name="직사각형 197"/>
          <p:cNvSpPr/>
          <p:nvPr/>
        </p:nvSpPr>
        <p:spPr>
          <a:xfrm>
            <a:off x="5586610" y="1904907"/>
            <a:ext cx="833380" cy="3216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간접침해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 fontAlgn="base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99" name="꺾인 연결선 198"/>
          <p:cNvCxnSpPr>
            <a:stCxn id="192" idx="3"/>
            <a:endCxn id="197" idx="1"/>
          </p:cNvCxnSpPr>
          <p:nvPr/>
        </p:nvCxnSpPr>
        <p:spPr>
          <a:xfrm flipV="1">
            <a:off x="5452482" y="1689718"/>
            <a:ext cx="134128" cy="1608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꺾인 연결선 199"/>
          <p:cNvCxnSpPr>
            <a:stCxn id="192" idx="3"/>
            <a:endCxn id="198" idx="1"/>
          </p:cNvCxnSpPr>
          <p:nvPr/>
        </p:nvCxnSpPr>
        <p:spPr>
          <a:xfrm>
            <a:off x="5452482" y="1850546"/>
            <a:ext cx="134128" cy="21517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모서리가 둥근 직사각형 200"/>
          <p:cNvSpPr/>
          <p:nvPr/>
        </p:nvSpPr>
        <p:spPr>
          <a:xfrm>
            <a:off x="5586610" y="2318465"/>
            <a:ext cx="833380" cy="300825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민사적 조치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126-132)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202" name="모서리가 둥근 직사각형 201"/>
          <p:cNvSpPr/>
          <p:nvPr/>
        </p:nvSpPr>
        <p:spPr>
          <a:xfrm>
            <a:off x="5586609" y="2663316"/>
            <a:ext cx="833381" cy="341821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형사적 조치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225-232)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203" name="꺾인 연결선 202"/>
          <p:cNvCxnSpPr>
            <a:stCxn id="193" idx="3"/>
            <a:endCxn id="201" idx="1"/>
          </p:cNvCxnSpPr>
          <p:nvPr/>
        </p:nvCxnSpPr>
        <p:spPr>
          <a:xfrm>
            <a:off x="5452482" y="2460843"/>
            <a:ext cx="134128" cy="803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꺾인 연결선 203"/>
          <p:cNvCxnSpPr>
            <a:stCxn id="193" idx="3"/>
            <a:endCxn id="202" idx="1"/>
          </p:cNvCxnSpPr>
          <p:nvPr/>
        </p:nvCxnSpPr>
        <p:spPr>
          <a:xfrm>
            <a:off x="5452482" y="2460843"/>
            <a:ext cx="134127" cy="37338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직사각형 204"/>
          <p:cNvSpPr/>
          <p:nvPr/>
        </p:nvSpPr>
        <p:spPr>
          <a:xfrm>
            <a:off x="7780806" y="2184608"/>
            <a:ext cx="555844" cy="610645"/>
          </a:xfrm>
          <a:prstGeom prst="rect">
            <a:avLst/>
          </a:prstGeom>
          <a:solidFill>
            <a:schemeClr val="accent6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심판절차 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일반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총론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06" name="직사각형 205"/>
          <p:cNvSpPr/>
          <p:nvPr/>
        </p:nvSpPr>
        <p:spPr>
          <a:xfrm>
            <a:off x="7780806" y="4163272"/>
            <a:ext cx="555844" cy="6106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심판의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종류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각론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07" name="직사각형 206"/>
          <p:cNvSpPr/>
          <p:nvPr/>
        </p:nvSpPr>
        <p:spPr>
          <a:xfrm>
            <a:off x="8500191" y="1313084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/>
              <a:t>주체</a:t>
            </a:r>
            <a:endParaRPr lang="ko-KR" altLang="en-US" sz="1000" dirty="0"/>
          </a:p>
        </p:txBody>
      </p:sp>
      <p:sp>
        <p:nvSpPr>
          <p:cNvPr id="208" name="직사각형 207"/>
          <p:cNvSpPr/>
          <p:nvPr/>
        </p:nvSpPr>
        <p:spPr>
          <a:xfrm>
            <a:off x="8500191" y="1804594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청구</a:t>
            </a:r>
          </a:p>
        </p:txBody>
      </p:sp>
      <p:sp>
        <p:nvSpPr>
          <p:cNvPr id="209" name="직사각형 208"/>
          <p:cNvSpPr/>
          <p:nvPr/>
        </p:nvSpPr>
        <p:spPr>
          <a:xfrm>
            <a:off x="8500191" y="2449052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진행</a:t>
            </a:r>
          </a:p>
        </p:txBody>
      </p:sp>
      <p:sp>
        <p:nvSpPr>
          <p:cNvPr id="210" name="직사각형 209"/>
          <p:cNvSpPr/>
          <p:nvPr/>
        </p:nvSpPr>
        <p:spPr>
          <a:xfrm>
            <a:off x="8500191" y="2977875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종료</a:t>
            </a:r>
          </a:p>
        </p:txBody>
      </p:sp>
      <p:sp>
        <p:nvSpPr>
          <p:cNvPr id="211" name="직사각형 210"/>
          <p:cNvSpPr/>
          <p:nvPr/>
        </p:nvSpPr>
        <p:spPr>
          <a:xfrm>
            <a:off x="9363869" y="80565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132</a:t>
            </a:r>
            <a:r>
              <a:rPr lang="ko-KR" altLang="en-US" sz="1000" dirty="0"/>
              <a:t>의</a:t>
            </a:r>
            <a:r>
              <a:rPr lang="en-US" altLang="ko-KR" sz="1000" dirty="0"/>
              <a:t>16, 143~153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12" name="직사각형 211"/>
          <p:cNvSpPr/>
          <p:nvPr/>
        </p:nvSpPr>
        <p:spPr>
          <a:xfrm>
            <a:off x="9363869" y="99622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당사자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139)</a:t>
            </a:r>
            <a:endParaRPr lang="ko-KR" altLang="en-US" sz="1000" dirty="0"/>
          </a:p>
        </p:txBody>
      </p:sp>
      <p:sp>
        <p:nvSpPr>
          <p:cNvPr id="213" name="직사각형 212"/>
          <p:cNvSpPr/>
          <p:nvPr/>
        </p:nvSpPr>
        <p:spPr>
          <a:xfrm>
            <a:off x="9363869" y="118351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참가인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155, 156)</a:t>
            </a:r>
            <a:endParaRPr lang="ko-KR" altLang="en-US" sz="1000" dirty="0"/>
          </a:p>
        </p:txBody>
      </p:sp>
      <p:sp>
        <p:nvSpPr>
          <p:cNvPr id="214" name="직사각형 213"/>
          <p:cNvSpPr/>
          <p:nvPr/>
        </p:nvSpPr>
        <p:spPr>
          <a:xfrm>
            <a:off x="9363869" y="1703773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청구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140, 140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15" name="직사각형 214"/>
          <p:cNvSpPr/>
          <p:nvPr/>
        </p:nvSpPr>
        <p:spPr>
          <a:xfrm>
            <a:off x="9363869" y="189435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심판청구서의 보정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140②, 140</a:t>
            </a:r>
            <a:r>
              <a:rPr lang="ko-KR" altLang="en-US" sz="1000" dirty="0"/>
              <a:t>의</a:t>
            </a:r>
            <a:r>
              <a:rPr lang="en-US" altLang="ko-KR" sz="1000" dirty="0"/>
              <a:t>2②)</a:t>
            </a:r>
          </a:p>
        </p:txBody>
      </p:sp>
      <p:sp>
        <p:nvSpPr>
          <p:cNvPr id="216" name="직사각형 215"/>
          <p:cNvSpPr/>
          <p:nvPr/>
        </p:nvSpPr>
        <p:spPr>
          <a:xfrm>
            <a:off x="9363869" y="226982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방식심리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141)</a:t>
            </a:r>
            <a:endParaRPr lang="ko-KR" altLang="en-US" sz="1000" dirty="0"/>
          </a:p>
        </p:txBody>
      </p:sp>
      <p:sp>
        <p:nvSpPr>
          <p:cNvPr id="217" name="직사각형 216"/>
          <p:cNvSpPr/>
          <p:nvPr/>
        </p:nvSpPr>
        <p:spPr>
          <a:xfrm>
            <a:off x="9363869" y="2458014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적법성 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142)</a:t>
            </a:r>
            <a:endParaRPr lang="ko-KR" altLang="en-US" sz="1000" dirty="0"/>
          </a:p>
        </p:txBody>
      </p:sp>
      <p:sp>
        <p:nvSpPr>
          <p:cNvPr id="218" name="직사각형 217"/>
          <p:cNvSpPr/>
          <p:nvPr/>
        </p:nvSpPr>
        <p:spPr>
          <a:xfrm>
            <a:off x="9363869" y="2646662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본안심리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154, 157-160)</a:t>
            </a:r>
            <a:endParaRPr lang="ko-KR" altLang="en-US" sz="1000" dirty="0"/>
          </a:p>
        </p:txBody>
      </p:sp>
      <p:sp>
        <p:nvSpPr>
          <p:cNvPr id="219" name="직사각형 218"/>
          <p:cNvSpPr/>
          <p:nvPr/>
        </p:nvSpPr>
        <p:spPr>
          <a:xfrm>
            <a:off x="9363869" y="288449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심판청구의 취하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161)</a:t>
            </a:r>
            <a:endParaRPr lang="ko-KR" altLang="en-US" sz="1000" dirty="0"/>
          </a:p>
        </p:txBody>
      </p:sp>
      <p:sp>
        <p:nvSpPr>
          <p:cNvPr id="220" name="직사각형 219"/>
          <p:cNvSpPr/>
          <p:nvPr/>
        </p:nvSpPr>
        <p:spPr>
          <a:xfrm>
            <a:off x="9363869" y="3072684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심결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162, 163)</a:t>
            </a:r>
            <a:endParaRPr lang="ko-KR" altLang="en-US" sz="1000" dirty="0"/>
          </a:p>
        </p:txBody>
      </p:sp>
      <p:sp>
        <p:nvSpPr>
          <p:cNvPr id="221" name="직사각형 220"/>
          <p:cNvSpPr/>
          <p:nvPr/>
        </p:nvSpPr>
        <p:spPr>
          <a:xfrm>
            <a:off x="8500191" y="4104276"/>
            <a:ext cx="710030" cy="1710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결정계</a:t>
            </a:r>
            <a:r>
              <a:rPr lang="ko-KR" altLang="en-US" sz="1000" dirty="0"/>
              <a:t> 심판</a:t>
            </a:r>
          </a:p>
        </p:txBody>
      </p:sp>
      <p:sp>
        <p:nvSpPr>
          <p:cNvPr id="222" name="직사각형 221"/>
          <p:cNvSpPr/>
          <p:nvPr/>
        </p:nvSpPr>
        <p:spPr>
          <a:xfrm>
            <a:off x="8500191" y="4475324"/>
            <a:ext cx="710030" cy="3642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당사자계 </a:t>
            </a:r>
            <a:endParaRPr lang="en-US" altLang="ko-KR" sz="1000" dirty="0"/>
          </a:p>
          <a:p>
            <a:pPr algn="ctr"/>
            <a:r>
              <a:rPr lang="ko-KR" altLang="en-US" sz="1000" dirty="0"/>
              <a:t>심판</a:t>
            </a:r>
          </a:p>
        </p:txBody>
      </p:sp>
      <p:sp>
        <p:nvSpPr>
          <p:cNvPr id="223" name="직사각형 222"/>
          <p:cNvSpPr/>
          <p:nvPr/>
        </p:nvSpPr>
        <p:spPr>
          <a:xfrm>
            <a:off x="8500189" y="5251229"/>
            <a:ext cx="1308145" cy="158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재심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178~185)</a:t>
            </a:r>
            <a:endParaRPr lang="ko-KR" altLang="en-US" sz="1000" dirty="0"/>
          </a:p>
        </p:txBody>
      </p:sp>
      <p:sp>
        <p:nvSpPr>
          <p:cNvPr id="224" name="직사각형 223"/>
          <p:cNvSpPr/>
          <p:nvPr/>
        </p:nvSpPr>
        <p:spPr>
          <a:xfrm>
            <a:off x="9363869" y="4012193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거절결정불복심판</a:t>
            </a:r>
            <a:r>
              <a:rPr lang="en-US" altLang="ko-KR" sz="900" dirty="0"/>
              <a:t>(</a:t>
            </a:r>
            <a:r>
              <a:rPr lang="ko-KR" altLang="en-US" sz="900" dirty="0"/>
              <a:t>法 </a:t>
            </a:r>
            <a:r>
              <a:rPr lang="en-US" altLang="ko-KR" sz="900" dirty="0"/>
              <a:t>132</a:t>
            </a:r>
            <a:r>
              <a:rPr lang="ko-KR" altLang="en-US" sz="900" dirty="0"/>
              <a:t>의</a:t>
            </a:r>
            <a:r>
              <a:rPr lang="en-US" altLang="ko-KR" sz="900" dirty="0"/>
              <a:t>17, 170~172, 176)</a:t>
            </a:r>
            <a:endParaRPr lang="ko-KR" altLang="en-US" sz="900" dirty="0"/>
          </a:p>
        </p:txBody>
      </p:sp>
      <p:sp>
        <p:nvSpPr>
          <p:cNvPr id="225" name="직사각형 224"/>
          <p:cNvSpPr/>
          <p:nvPr/>
        </p:nvSpPr>
        <p:spPr>
          <a:xfrm>
            <a:off x="9363869" y="420277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정정심판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136)</a:t>
            </a:r>
            <a:endParaRPr lang="ko-KR" altLang="en-US" sz="1000" dirty="0"/>
          </a:p>
        </p:txBody>
      </p:sp>
      <p:sp>
        <p:nvSpPr>
          <p:cNvPr id="226" name="직사각형 225"/>
          <p:cNvSpPr/>
          <p:nvPr/>
        </p:nvSpPr>
        <p:spPr>
          <a:xfrm>
            <a:off x="9363869" y="438375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무효심판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133, 134, 137)</a:t>
            </a:r>
            <a:endParaRPr lang="ko-KR" altLang="en-US" sz="1000" dirty="0"/>
          </a:p>
        </p:txBody>
      </p:sp>
      <p:sp>
        <p:nvSpPr>
          <p:cNvPr id="227" name="직사각형 226"/>
          <p:cNvSpPr/>
          <p:nvPr/>
        </p:nvSpPr>
        <p:spPr>
          <a:xfrm>
            <a:off x="9363869" y="4579753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권리범위확인심판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135)</a:t>
            </a:r>
            <a:endParaRPr lang="ko-KR" altLang="en-US" sz="1000" dirty="0"/>
          </a:p>
        </p:txBody>
      </p:sp>
      <p:sp>
        <p:nvSpPr>
          <p:cNvPr id="228" name="직사각형 227"/>
          <p:cNvSpPr/>
          <p:nvPr/>
        </p:nvSpPr>
        <p:spPr>
          <a:xfrm>
            <a:off x="9363869" y="477033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통상실시권허락심판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138)</a:t>
            </a:r>
            <a:endParaRPr lang="ko-KR" altLang="en-US" sz="1000" dirty="0"/>
          </a:p>
        </p:txBody>
      </p:sp>
      <p:cxnSp>
        <p:nvCxnSpPr>
          <p:cNvPr id="229" name="꺾인 연결선 228"/>
          <p:cNvCxnSpPr>
            <a:stCxn id="205" idx="1"/>
            <a:endCxn id="252" idx="3"/>
          </p:cNvCxnSpPr>
          <p:nvPr/>
        </p:nvCxnSpPr>
        <p:spPr>
          <a:xfrm rot="10800000" flipV="1">
            <a:off x="7557110" y="2489931"/>
            <a:ext cx="223697" cy="34727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꺾인 연결선 229"/>
          <p:cNvCxnSpPr>
            <a:stCxn id="205" idx="3"/>
            <a:endCxn id="207" idx="1"/>
          </p:cNvCxnSpPr>
          <p:nvPr/>
        </p:nvCxnSpPr>
        <p:spPr>
          <a:xfrm flipV="1">
            <a:off x="8336650" y="1398592"/>
            <a:ext cx="163541" cy="109133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꺾인 연결선 230"/>
          <p:cNvCxnSpPr>
            <a:stCxn id="205" idx="3"/>
            <a:endCxn id="210" idx="1"/>
          </p:cNvCxnSpPr>
          <p:nvPr/>
        </p:nvCxnSpPr>
        <p:spPr>
          <a:xfrm>
            <a:off x="8336650" y="2489931"/>
            <a:ext cx="163541" cy="57345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꺾인 연결선 231"/>
          <p:cNvCxnSpPr>
            <a:stCxn id="205" idx="3"/>
            <a:endCxn id="208" idx="1"/>
          </p:cNvCxnSpPr>
          <p:nvPr/>
        </p:nvCxnSpPr>
        <p:spPr>
          <a:xfrm flipV="1">
            <a:off x="8336650" y="1890102"/>
            <a:ext cx="163541" cy="59982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꺾인 연결선 232"/>
          <p:cNvCxnSpPr>
            <a:stCxn id="205" idx="3"/>
            <a:endCxn id="209" idx="1"/>
          </p:cNvCxnSpPr>
          <p:nvPr/>
        </p:nvCxnSpPr>
        <p:spPr>
          <a:xfrm>
            <a:off x="8336650" y="2489931"/>
            <a:ext cx="163541" cy="4462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꺾인 연결선 233"/>
          <p:cNvCxnSpPr>
            <a:stCxn id="207" idx="3"/>
            <a:endCxn id="211" idx="1"/>
          </p:cNvCxnSpPr>
          <p:nvPr/>
        </p:nvCxnSpPr>
        <p:spPr>
          <a:xfrm flipV="1">
            <a:off x="9210221" y="874930"/>
            <a:ext cx="153648" cy="52366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꺾인 연결선 234"/>
          <p:cNvCxnSpPr>
            <a:stCxn id="207" idx="3"/>
            <a:endCxn id="213" idx="1"/>
          </p:cNvCxnSpPr>
          <p:nvPr/>
        </p:nvCxnSpPr>
        <p:spPr>
          <a:xfrm flipV="1">
            <a:off x="9210221" y="1252790"/>
            <a:ext cx="153648" cy="14580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꺾인 연결선 235"/>
          <p:cNvCxnSpPr>
            <a:cxnSpLocks/>
            <a:stCxn id="207" idx="3"/>
            <a:endCxn id="288" idx="1"/>
          </p:cNvCxnSpPr>
          <p:nvPr/>
        </p:nvCxnSpPr>
        <p:spPr>
          <a:xfrm>
            <a:off x="9210221" y="1398592"/>
            <a:ext cx="148622" cy="11085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꺾인 연결선 236"/>
          <p:cNvCxnSpPr>
            <a:stCxn id="208" idx="3"/>
            <a:endCxn id="214" idx="1"/>
          </p:cNvCxnSpPr>
          <p:nvPr/>
        </p:nvCxnSpPr>
        <p:spPr>
          <a:xfrm flipV="1">
            <a:off x="9210221" y="1773052"/>
            <a:ext cx="153648" cy="11705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꺾인 연결선 237"/>
          <p:cNvCxnSpPr>
            <a:stCxn id="208" idx="3"/>
            <a:endCxn id="215" idx="1"/>
          </p:cNvCxnSpPr>
          <p:nvPr/>
        </p:nvCxnSpPr>
        <p:spPr>
          <a:xfrm>
            <a:off x="9210221" y="1890102"/>
            <a:ext cx="153648" cy="735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꺾인 연결선 238"/>
          <p:cNvCxnSpPr>
            <a:stCxn id="209" idx="3"/>
            <a:endCxn id="216" idx="1"/>
          </p:cNvCxnSpPr>
          <p:nvPr/>
        </p:nvCxnSpPr>
        <p:spPr>
          <a:xfrm flipV="1">
            <a:off x="9210221" y="2339108"/>
            <a:ext cx="153648" cy="19545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꺾인 연결선 239"/>
          <p:cNvCxnSpPr>
            <a:stCxn id="209" idx="3"/>
            <a:endCxn id="218" idx="1"/>
          </p:cNvCxnSpPr>
          <p:nvPr/>
        </p:nvCxnSpPr>
        <p:spPr>
          <a:xfrm>
            <a:off x="9210221" y="2534560"/>
            <a:ext cx="153648" cy="18138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꺾인 연결선 240"/>
          <p:cNvCxnSpPr>
            <a:stCxn id="209" idx="3"/>
            <a:endCxn id="217" idx="1"/>
          </p:cNvCxnSpPr>
          <p:nvPr/>
        </p:nvCxnSpPr>
        <p:spPr>
          <a:xfrm flipV="1">
            <a:off x="9210221" y="2527293"/>
            <a:ext cx="153648" cy="726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꺾인 연결선 241"/>
          <p:cNvCxnSpPr>
            <a:stCxn id="221" idx="1"/>
            <a:endCxn id="206" idx="3"/>
          </p:cNvCxnSpPr>
          <p:nvPr/>
        </p:nvCxnSpPr>
        <p:spPr>
          <a:xfrm rot="10800000" flipV="1">
            <a:off x="8336651" y="4189783"/>
            <a:ext cx="163541" cy="27881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꺾인 연결선 242"/>
          <p:cNvCxnSpPr>
            <a:stCxn id="206" idx="3"/>
            <a:endCxn id="223" idx="1"/>
          </p:cNvCxnSpPr>
          <p:nvPr/>
        </p:nvCxnSpPr>
        <p:spPr>
          <a:xfrm>
            <a:off x="8336650" y="4468595"/>
            <a:ext cx="163539" cy="86197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꺾인 연결선 243"/>
          <p:cNvCxnSpPr>
            <a:stCxn id="206" idx="3"/>
            <a:endCxn id="222" idx="1"/>
          </p:cNvCxnSpPr>
          <p:nvPr/>
        </p:nvCxnSpPr>
        <p:spPr>
          <a:xfrm>
            <a:off x="8336650" y="4468595"/>
            <a:ext cx="163541" cy="18887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꺾인 연결선 244"/>
          <p:cNvCxnSpPr>
            <a:stCxn id="210" idx="3"/>
            <a:endCxn id="219" idx="1"/>
          </p:cNvCxnSpPr>
          <p:nvPr/>
        </p:nvCxnSpPr>
        <p:spPr>
          <a:xfrm flipV="1">
            <a:off x="9210221" y="2953778"/>
            <a:ext cx="153648" cy="10960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꺾인 연결선 245"/>
          <p:cNvCxnSpPr>
            <a:stCxn id="210" idx="3"/>
            <a:endCxn id="220" idx="1"/>
          </p:cNvCxnSpPr>
          <p:nvPr/>
        </p:nvCxnSpPr>
        <p:spPr>
          <a:xfrm>
            <a:off x="9210221" y="3063383"/>
            <a:ext cx="153648" cy="7858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꺾인 연결선 246"/>
          <p:cNvCxnSpPr>
            <a:stCxn id="221" idx="3"/>
            <a:endCxn id="224" idx="1"/>
          </p:cNvCxnSpPr>
          <p:nvPr/>
        </p:nvCxnSpPr>
        <p:spPr>
          <a:xfrm flipV="1">
            <a:off x="9210221" y="4081472"/>
            <a:ext cx="153648" cy="10831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꺾인 연결선 247"/>
          <p:cNvCxnSpPr>
            <a:stCxn id="221" idx="3"/>
            <a:endCxn id="225" idx="1"/>
          </p:cNvCxnSpPr>
          <p:nvPr/>
        </p:nvCxnSpPr>
        <p:spPr>
          <a:xfrm>
            <a:off x="9210221" y="4189784"/>
            <a:ext cx="153648" cy="8226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꺾인 연결선 248"/>
          <p:cNvCxnSpPr>
            <a:stCxn id="222" idx="3"/>
            <a:endCxn id="226" idx="1"/>
          </p:cNvCxnSpPr>
          <p:nvPr/>
        </p:nvCxnSpPr>
        <p:spPr>
          <a:xfrm flipV="1">
            <a:off x="9210221" y="4453030"/>
            <a:ext cx="153648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꺾인 연결선 249"/>
          <p:cNvCxnSpPr>
            <a:stCxn id="222" idx="3"/>
            <a:endCxn id="227" idx="1"/>
          </p:cNvCxnSpPr>
          <p:nvPr/>
        </p:nvCxnSpPr>
        <p:spPr>
          <a:xfrm flipV="1">
            <a:off x="9210221" y="4649032"/>
            <a:ext cx="153648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꺾인 연결선 250"/>
          <p:cNvCxnSpPr>
            <a:stCxn id="222" idx="3"/>
            <a:endCxn id="228" idx="1"/>
          </p:cNvCxnSpPr>
          <p:nvPr/>
        </p:nvCxnSpPr>
        <p:spPr>
          <a:xfrm>
            <a:off x="9210221" y="4657467"/>
            <a:ext cx="153648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직사각형 251"/>
          <p:cNvSpPr/>
          <p:nvPr/>
        </p:nvSpPr>
        <p:spPr>
          <a:xfrm>
            <a:off x="7136327" y="2620124"/>
            <a:ext cx="420782" cy="43416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심판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제도</a:t>
            </a:r>
          </a:p>
        </p:txBody>
      </p:sp>
      <p:cxnSp>
        <p:nvCxnSpPr>
          <p:cNvPr id="253" name="꺾인 연결선 252"/>
          <p:cNvCxnSpPr>
            <a:stCxn id="252" idx="3"/>
            <a:endCxn id="206" idx="1"/>
          </p:cNvCxnSpPr>
          <p:nvPr/>
        </p:nvCxnSpPr>
        <p:spPr>
          <a:xfrm>
            <a:off x="7557109" y="2837207"/>
            <a:ext cx="223697" cy="163138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직사각형 253"/>
          <p:cNvSpPr/>
          <p:nvPr/>
        </p:nvSpPr>
        <p:spPr>
          <a:xfrm>
            <a:off x="8500189" y="5000342"/>
            <a:ext cx="2075729" cy="158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특허취소신청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132</a:t>
            </a:r>
            <a:r>
              <a:rPr lang="ko-KR" altLang="en-US" sz="1000" dirty="0"/>
              <a:t>의</a:t>
            </a:r>
            <a:r>
              <a:rPr lang="en-US" altLang="ko-KR" sz="1000" dirty="0"/>
              <a:t>2~132</a:t>
            </a:r>
            <a:r>
              <a:rPr lang="ko-KR" altLang="en-US" sz="1000" dirty="0"/>
              <a:t>의</a:t>
            </a:r>
            <a:r>
              <a:rPr lang="en-US" altLang="ko-KR" sz="1000" dirty="0"/>
              <a:t>15)</a:t>
            </a:r>
            <a:endParaRPr lang="ko-KR" altLang="en-US" sz="1000" dirty="0"/>
          </a:p>
        </p:txBody>
      </p:sp>
      <p:cxnSp>
        <p:nvCxnSpPr>
          <p:cNvPr id="255" name="꺾인 연결선 254"/>
          <p:cNvCxnSpPr>
            <a:stCxn id="206" idx="3"/>
            <a:endCxn id="254" idx="1"/>
          </p:cNvCxnSpPr>
          <p:nvPr/>
        </p:nvCxnSpPr>
        <p:spPr>
          <a:xfrm>
            <a:off x="8336650" y="4468595"/>
            <a:ext cx="163539" cy="61108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직사각형 255"/>
          <p:cNvSpPr/>
          <p:nvPr/>
        </p:nvSpPr>
        <p:spPr>
          <a:xfrm>
            <a:off x="9363869" y="2079620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중복심판청구금지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154⑧ </a:t>
            </a:r>
            <a:r>
              <a:rPr lang="ko-KR" altLang="en-US" sz="1000" dirty="0"/>
              <a:t>준용</a:t>
            </a:r>
            <a:r>
              <a:rPr lang="en-US" altLang="ko-KR" sz="1000" dirty="0"/>
              <a:t> </a:t>
            </a:r>
            <a:r>
              <a:rPr lang="ko-KR" altLang="en-US" sz="1000" dirty="0"/>
              <a:t>민소</a:t>
            </a:r>
            <a:r>
              <a:rPr lang="en-US" altLang="ko-KR" sz="1000" dirty="0"/>
              <a:t>259)</a:t>
            </a:r>
          </a:p>
        </p:txBody>
      </p:sp>
      <p:sp>
        <p:nvSpPr>
          <p:cNvPr id="257" name="직사각형 256"/>
          <p:cNvSpPr/>
          <p:nvPr/>
        </p:nvSpPr>
        <p:spPr>
          <a:xfrm>
            <a:off x="8237008" y="5752000"/>
            <a:ext cx="420212" cy="36428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PCT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58" name="직사각형 257"/>
          <p:cNvSpPr/>
          <p:nvPr/>
        </p:nvSpPr>
        <p:spPr>
          <a:xfrm>
            <a:off x="8810868" y="5660427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특허출원절차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192~198)</a:t>
            </a:r>
            <a:endParaRPr lang="ko-KR" altLang="en-US" sz="1000" dirty="0"/>
          </a:p>
        </p:txBody>
      </p:sp>
      <p:sp>
        <p:nvSpPr>
          <p:cNvPr id="259" name="직사각형 258"/>
          <p:cNvSpPr/>
          <p:nvPr/>
        </p:nvSpPr>
        <p:spPr>
          <a:xfrm>
            <a:off x="8810868" y="5856429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국제조사 및 국제예비심사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198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60" name="직사각형 259"/>
          <p:cNvSpPr/>
          <p:nvPr/>
        </p:nvSpPr>
        <p:spPr>
          <a:xfrm>
            <a:off x="8810868" y="6047007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국제특허출원에 관한 특례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199~214)</a:t>
            </a:r>
            <a:endParaRPr lang="ko-KR" altLang="en-US" sz="1000" dirty="0"/>
          </a:p>
        </p:txBody>
      </p:sp>
      <p:cxnSp>
        <p:nvCxnSpPr>
          <p:cNvPr id="261" name="꺾인 연결선 260"/>
          <p:cNvCxnSpPr>
            <a:stCxn id="257" idx="3"/>
            <a:endCxn id="258" idx="1"/>
          </p:cNvCxnSpPr>
          <p:nvPr/>
        </p:nvCxnSpPr>
        <p:spPr>
          <a:xfrm flipV="1">
            <a:off x="8657220" y="5729706"/>
            <a:ext cx="153648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꺾인 연결선 261"/>
          <p:cNvCxnSpPr>
            <a:stCxn id="257" idx="3"/>
            <a:endCxn id="259" idx="1"/>
          </p:cNvCxnSpPr>
          <p:nvPr/>
        </p:nvCxnSpPr>
        <p:spPr>
          <a:xfrm flipV="1">
            <a:off x="8657220" y="5925708"/>
            <a:ext cx="153648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꺾인 연결선 262"/>
          <p:cNvCxnSpPr>
            <a:stCxn id="257" idx="3"/>
            <a:endCxn id="260" idx="1"/>
          </p:cNvCxnSpPr>
          <p:nvPr/>
        </p:nvCxnSpPr>
        <p:spPr>
          <a:xfrm>
            <a:off x="8657220" y="5934143"/>
            <a:ext cx="153648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꺾인 연결선 263"/>
          <p:cNvCxnSpPr>
            <a:stCxn id="273" idx="3"/>
            <a:endCxn id="295" idx="1"/>
          </p:cNvCxnSpPr>
          <p:nvPr/>
        </p:nvCxnSpPr>
        <p:spPr>
          <a:xfrm flipV="1">
            <a:off x="4278775" y="4164703"/>
            <a:ext cx="168733" cy="44072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꺾인 연결선 264"/>
          <p:cNvCxnSpPr>
            <a:stCxn id="273" idx="3"/>
            <a:endCxn id="296" idx="1"/>
          </p:cNvCxnSpPr>
          <p:nvPr/>
        </p:nvCxnSpPr>
        <p:spPr>
          <a:xfrm flipV="1">
            <a:off x="4278775" y="4328505"/>
            <a:ext cx="168733" cy="27692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직사각형 265"/>
          <p:cNvSpPr/>
          <p:nvPr/>
        </p:nvSpPr>
        <p:spPr>
          <a:xfrm>
            <a:off x="612833" y="5324052"/>
            <a:ext cx="355015" cy="36428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소송</a:t>
            </a:r>
          </a:p>
        </p:txBody>
      </p:sp>
      <p:sp>
        <p:nvSpPr>
          <p:cNvPr id="267" name="직사각형 266"/>
          <p:cNvSpPr/>
          <p:nvPr/>
        </p:nvSpPr>
        <p:spPr>
          <a:xfrm>
            <a:off x="1121497" y="5232479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 err="1"/>
              <a:t>심결취소소송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186~189)</a:t>
            </a:r>
            <a:endParaRPr lang="ko-KR" altLang="en-US" sz="1000" dirty="0"/>
          </a:p>
        </p:txBody>
      </p:sp>
      <p:sp>
        <p:nvSpPr>
          <p:cNvPr id="268" name="직사각형 267"/>
          <p:cNvSpPr/>
          <p:nvPr/>
        </p:nvSpPr>
        <p:spPr>
          <a:xfrm>
            <a:off x="1121497" y="5428481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보상금</a:t>
            </a:r>
            <a:r>
              <a:rPr lang="en-US" altLang="ko-KR" sz="1000" dirty="0"/>
              <a:t>/</a:t>
            </a:r>
            <a:r>
              <a:rPr lang="ko-KR" altLang="en-US" sz="1000" dirty="0"/>
              <a:t>대가에 대한 소송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190, 191)</a:t>
            </a:r>
            <a:endParaRPr lang="ko-KR" altLang="en-US" sz="1000" dirty="0"/>
          </a:p>
        </p:txBody>
      </p:sp>
      <p:sp>
        <p:nvSpPr>
          <p:cNvPr id="269" name="직사각형 268"/>
          <p:cNvSpPr/>
          <p:nvPr/>
        </p:nvSpPr>
        <p:spPr>
          <a:xfrm>
            <a:off x="1121497" y="5619059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변리사 보수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191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cxnSp>
        <p:nvCxnSpPr>
          <p:cNvPr id="270" name="꺾인 연결선 269"/>
          <p:cNvCxnSpPr>
            <a:stCxn id="266" idx="3"/>
            <a:endCxn id="267" idx="1"/>
          </p:cNvCxnSpPr>
          <p:nvPr/>
        </p:nvCxnSpPr>
        <p:spPr>
          <a:xfrm flipV="1">
            <a:off x="967848" y="5301758"/>
            <a:ext cx="153649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꺾인 연결선 270"/>
          <p:cNvCxnSpPr>
            <a:stCxn id="266" idx="3"/>
            <a:endCxn id="268" idx="1"/>
          </p:cNvCxnSpPr>
          <p:nvPr/>
        </p:nvCxnSpPr>
        <p:spPr>
          <a:xfrm flipV="1">
            <a:off x="967848" y="5497760"/>
            <a:ext cx="153649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꺾인 연결선 271"/>
          <p:cNvCxnSpPr>
            <a:stCxn id="266" idx="3"/>
            <a:endCxn id="269" idx="1"/>
          </p:cNvCxnSpPr>
          <p:nvPr/>
        </p:nvCxnSpPr>
        <p:spPr>
          <a:xfrm>
            <a:off x="967848" y="5506195"/>
            <a:ext cx="153649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직사각형 272"/>
          <p:cNvSpPr/>
          <p:nvPr/>
        </p:nvSpPr>
        <p:spPr>
          <a:xfrm>
            <a:off x="3609544" y="4480740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accent3">
                    <a:lumMod val="50000"/>
                  </a:schemeClr>
                </a:solidFill>
              </a:rPr>
              <a:t>소송요건</a:t>
            </a:r>
            <a:endParaRPr lang="en-US" altLang="ko-KR" sz="1000" dirty="0">
              <a:solidFill>
                <a:schemeClr val="accent3">
                  <a:lumMod val="50000"/>
                </a:schemeClr>
              </a:solidFill>
            </a:endParaRPr>
          </a:p>
          <a:p>
            <a:pPr algn="ctr"/>
            <a:r>
              <a:rPr lang="en-US" altLang="ko-KR" sz="700" dirty="0">
                <a:solidFill>
                  <a:schemeClr val="accent3">
                    <a:lumMod val="50000"/>
                  </a:schemeClr>
                </a:solidFill>
              </a:rPr>
              <a:t>(</a:t>
            </a:r>
            <a:r>
              <a:rPr lang="ko-KR" altLang="en-US" sz="700" dirty="0">
                <a:solidFill>
                  <a:schemeClr val="accent3">
                    <a:lumMod val="50000"/>
                  </a:schemeClr>
                </a:solidFill>
              </a:rPr>
              <a:t>法 </a:t>
            </a:r>
            <a:r>
              <a:rPr lang="en-US" altLang="ko-KR" sz="700" dirty="0">
                <a:solidFill>
                  <a:schemeClr val="accent3">
                    <a:lumMod val="50000"/>
                  </a:schemeClr>
                </a:solidFill>
              </a:rPr>
              <a:t>186, 187)</a:t>
            </a:r>
            <a:endParaRPr lang="ko-KR" altLang="en-US" sz="7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74" name="직사각형 273"/>
          <p:cNvSpPr/>
          <p:nvPr/>
        </p:nvSpPr>
        <p:spPr>
          <a:xfrm>
            <a:off x="3609544" y="5109654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소송제기</a:t>
            </a:r>
          </a:p>
        </p:txBody>
      </p:sp>
      <p:sp>
        <p:nvSpPr>
          <p:cNvPr id="275" name="직사각형 274"/>
          <p:cNvSpPr/>
          <p:nvPr/>
        </p:nvSpPr>
        <p:spPr>
          <a:xfrm>
            <a:off x="3609544" y="5640678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소송심리</a:t>
            </a:r>
          </a:p>
        </p:txBody>
      </p:sp>
      <p:sp>
        <p:nvSpPr>
          <p:cNvPr id="276" name="직사각형 275"/>
          <p:cNvSpPr/>
          <p:nvPr/>
        </p:nvSpPr>
        <p:spPr>
          <a:xfrm>
            <a:off x="3609544" y="6249551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소송종료</a:t>
            </a:r>
          </a:p>
        </p:txBody>
      </p:sp>
      <p:cxnSp>
        <p:nvCxnSpPr>
          <p:cNvPr id="277" name="꺾인 연결선 276"/>
          <p:cNvCxnSpPr>
            <a:stCxn id="267" idx="3"/>
            <a:endCxn id="273" idx="1"/>
          </p:cNvCxnSpPr>
          <p:nvPr/>
        </p:nvCxnSpPr>
        <p:spPr>
          <a:xfrm flipV="1">
            <a:off x="3454709" y="4605428"/>
            <a:ext cx="154835" cy="696330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꺾인 연결선 277"/>
          <p:cNvCxnSpPr>
            <a:stCxn id="267" idx="3"/>
            <a:endCxn id="276" idx="1"/>
          </p:cNvCxnSpPr>
          <p:nvPr/>
        </p:nvCxnSpPr>
        <p:spPr>
          <a:xfrm>
            <a:off x="3454709" y="5301758"/>
            <a:ext cx="154835" cy="1072481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꺾인 연결선 278"/>
          <p:cNvCxnSpPr>
            <a:stCxn id="267" idx="3"/>
            <a:endCxn id="274" idx="1"/>
          </p:cNvCxnSpPr>
          <p:nvPr/>
        </p:nvCxnSpPr>
        <p:spPr>
          <a:xfrm flipV="1">
            <a:off x="3454709" y="5234342"/>
            <a:ext cx="154835" cy="6741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꺾인 연결선 279"/>
          <p:cNvCxnSpPr>
            <a:stCxn id="267" idx="3"/>
            <a:endCxn id="275" idx="1"/>
          </p:cNvCxnSpPr>
          <p:nvPr/>
        </p:nvCxnSpPr>
        <p:spPr>
          <a:xfrm>
            <a:off x="3454709" y="5301758"/>
            <a:ext cx="154835" cy="46360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꺾인 연결선 280"/>
          <p:cNvCxnSpPr>
            <a:stCxn id="273" idx="3"/>
            <a:endCxn id="297" idx="1"/>
          </p:cNvCxnSpPr>
          <p:nvPr/>
        </p:nvCxnSpPr>
        <p:spPr>
          <a:xfrm flipV="1">
            <a:off x="4278775" y="4489475"/>
            <a:ext cx="168733" cy="1159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꺾인 연결선 281"/>
          <p:cNvCxnSpPr>
            <a:stCxn id="274" idx="3"/>
            <a:endCxn id="298" idx="1"/>
          </p:cNvCxnSpPr>
          <p:nvPr/>
        </p:nvCxnSpPr>
        <p:spPr>
          <a:xfrm flipV="1">
            <a:off x="4278775" y="5070329"/>
            <a:ext cx="168733" cy="16401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꺾인 연결선 282"/>
          <p:cNvCxnSpPr>
            <a:stCxn id="274" idx="3"/>
            <a:endCxn id="299" idx="1"/>
          </p:cNvCxnSpPr>
          <p:nvPr/>
        </p:nvCxnSpPr>
        <p:spPr>
          <a:xfrm flipV="1">
            <a:off x="4278775" y="5234131"/>
            <a:ext cx="168733" cy="21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꺾인 연결선 283"/>
          <p:cNvCxnSpPr>
            <a:stCxn id="275" idx="3"/>
            <a:endCxn id="300" idx="1"/>
          </p:cNvCxnSpPr>
          <p:nvPr/>
        </p:nvCxnSpPr>
        <p:spPr>
          <a:xfrm flipV="1">
            <a:off x="4278775" y="5762383"/>
            <a:ext cx="168733" cy="298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꺾인 연결선 284"/>
          <p:cNvCxnSpPr>
            <a:cxnSpLocks/>
            <a:stCxn id="275" idx="3"/>
            <a:endCxn id="301" idx="1"/>
          </p:cNvCxnSpPr>
          <p:nvPr/>
        </p:nvCxnSpPr>
        <p:spPr>
          <a:xfrm>
            <a:off x="4278775" y="5765366"/>
            <a:ext cx="168733" cy="24859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꺾인 연결선 285"/>
          <p:cNvCxnSpPr>
            <a:stCxn id="276" idx="3"/>
            <a:endCxn id="302" idx="1"/>
          </p:cNvCxnSpPr>
          <p:nvPr/>
        </p:nvCxnSpPr>
        <p:spPr>
          <a:xfrm flipV="1">
            <a:off x="4278775" y="6284664"/>
            <a:ext cx="168733" cy="8957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꺾인 연결선 286"/>
          <p:cNvCxnSpPr>
            <a:cxnSpLocks/>
            <a:stCxn id="276" idx="3"/>
            <a:endCxn id="303" idx="1"/>
          </p:cNvCxnSpPr>
          <p:nvPr/>
        </p:nvCxnSpPr>
        <p:spPr>
          <a:xfrm>
            <a:off x="4278775" y="6374239"/>
            <a:ext cx="168733" cy="17444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직사각형 288"/>
          <p:cNvSpPr/>
          <p:nvPr/>
        </p:nvSpPr>
        <p:spPr>
          <a:xfrm>
            <a:off x="5954614" y="5228714"/>
            <a:ext cx="1396961" cy="3289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변론주의 원칙</a:t>
            </a:r>
            <a:endParaRPr lang="en-US" altLang="ko-KR" sz="1000" dirty="0"/>
          </a:p>
          <a:p>
            <a:pPr algn="ctr"/>
            <a:r>
              <a:rPr lang="en-US" altLang="ko-KR" sz="1000" dirty="0"/>
              <a:t>(</a:t>
            </a:r>
            <a:r>
              <a:rPr lang="ko-KR" altLang="en-US" sz="1000" dirty="0"/>
              <a:t>직권주의 가미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290" name="직사각형 289"/>
          <p:cNvSpPr/>
          <p:nvPr/>
        </p:nvSpPr>
        <p:spPr>
          <a:xfrm>
            <a:off x="5954614" y="5591097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위법판단의 기준시점</a:t>
            </a:r>
          </a:p>
        </p:txBody>
      </p:sp>
      <p:sp>
        <p:nvSpPr>
          <p:cNvPr id="291" name="직사각형 290"/>
          <p:cNvSpPr/>
          <p:nvPr/>
        </p:nvSpPr>
        <p:spPr>
          <a:xfrm>
            <a:off x="5954614" y="5753241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심리범위</a:t>
            </a:r>
          </a:p>
        </p:txBody>
      </p:sp>
      <p:sp>
        <p:nvSpPr>
          <p:cNvPr id="292" name="직사각형 291"/>
          <p:cNvSpPr/>
          <p:nvPr/>
        </p:nvSpPr>
        <p:spPr>
          <a:xfrm>
            <a:off x="5954614" y="5911001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주장증명책임</a:t>
            </a:r>
          </a:p>
        </p:txBody>
      </p:sp>
      <p:sp>
        <p:nvSpPr>
          <p:cNvPr id="293" name="직사각형 292"/>
          <p:cNvSpPr/>
          <p:nvPr/>
        </p:nvSpPr>
        <p:spPr>
          <a:xfrm>
            <a:off x="5954614" y="6071372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자백</a:t>
            </a:r>
          </a:p>
        </p:txBody>
      </p:sp>
      <p:sp>
        <p:nvSpPr>
          <p:cNvPr id="295" name="직사각형 294"/>
          <p:cNvSpPr/>
          <p:nvPr/>
        </p:nvSpPr>
        <p:spPr>
          <a:xfrm>
            <a:off x="4447508" y="4100527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소송물</a:t>
            </a:r>
            <a:endParaRPr lang="ko-KR" altLang="en-US" sz="1000" dirty="0"/>
          </a:p>
        </p:txBody>
      </p:sp>
      <p:sp>
        <p:nvSpPr>
          <p:cNvPr id="296" name="직사각형 295"/>
          <p:cNvSpPr/>
          <p:nvPr/>
        </p:nvSpPr>
        <p:spPr>
          <a:xfrm>
            <a:off x="4447508" y="4264329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소의 이익</a:t>
            </a:r>
          </a:p>
        </p:txBody>
      </p:sp>
      <p:sp>
        <p:nvSpPr>
          <p:cNvPr id="297" name="직사각형 296"/>
          <p:cNvSpPr/>
          <p:nvPr/>
        </p:nvSpPr>
        <p:spPr>
          <a:xfrm>
            <a:off x="4447508" y="4425299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관할</a:t>
            </a:r>
          </a:p>
        </p:txBody>
      </p:sp>
      <p:sp>
        <p:nvSpPr>
          <p:cNvPr id="298" name="직사각형 297"/>
          <p:cNvSpPr/>
          <p:nvPr/>
        </p:nvSpPr>
        <p:spPr>
          <a:xfrm>
            <a:off x="4447508" y="5006153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소장의 제출</a:t>
            </a:r>
          </a:p>
        </p:txBody>
      </p:sp>
      <p:sp>
        <p:nvSpPr>
          <p:cNvPr id="299" name="직사각형 298"/>
          <p:cNvSpPr/>
          <p:nvPr/>
        </p:nvSpPr>
        <p:spPr>
          <a:xfrm>
            <a:off x="4447508" y="5169955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심판원장에게 통지</a:t>
            </a:r>
            <a:r>
              <a:rPr lang="en-US" altLang="ko-KR" sz="600" dirty="0">
                <a:solidFill>
                  <a:schemeClr val="tx1"/>
                </a:solidFill>
              </a:rPr>
              <a:t>(</a:t>
            </a:r>
            <a:r>
              <a:rPr lang="ko-KR" altLang="en-US" sz="600" dirty="0">
                <a:solidFill>
                  <a:schemeClr val="tx1"/>
                </a:solidFill>
              </a:rPr>
              <a:t>法 </a:t>
            </a:r>
            <a:r>
              <a:rPr lang="en-US" altLang="ko-KR" sz="600" dirty="0">
                <a:solidFill>
                  <a:schemeClr val="tx1"/>
                </a:solidFill>
              </a:rPr>
              <a:t>188)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00" name="직사각형 299"/>
          <p:cNvSpPr/>
          <p:nvPr/>
        </p:nvSpPr>
        <p:spPr>
          <a:xfrm>
            <a:off x="4447508" y="5698207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본안심리</a:t>
            </a:r>
            <a:endParaRPr lang="ko-KR" altLang="en-US" sz="1000" dirty="0"/>
          </a:p>
        </p:txBody>
      </p:sp>
      <p:sp>
        <p:nvSpPr>
          <p:cNvPr id="301" name="직사각형 300"/>
          <p:cNvSpPr/>
          <p:nvPr/>
        </p:nvSpPr>
        <p:spPr>
          <a:xfrm>
            <a:off x="4447508" y="5859952"/>
            <a:ext cx="1380067" cy="3080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기술심리관의 관여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法 </a:t>
            </a:r>
            <a:r>
              <a:rPr lang="en-US" altLang="ko-KR" sz="800" dirty="0">
                <a:solidFill>
                  <a:schemeClr val="tx1"/>
                </a:solidFill>
              </a:rPr>
              <a:t>188</a:t>
            </a:r>
            <a:r>
              <a:rPr lang="ko-KR" altLang="en-US" sz="800" dirty="0">
                <a:solidFill>
                  <a:schemeClr val="tx1"/>
                </a:solidFill>
              </a:rPr>
              <a:t>의</a:t>
            </a:r>
            <a:r>
              <a:rPr lang="en-US" altLang="ko-KR" sz="8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02" name="직사각형 301"/>
          <p:cNvSpPr/>
          <p:nvPr/>
        </p:nvSpPr>
        <p:spPr>
          <a:xfrm>
            <a:off x="4447508" y="622048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당사자에 의한 종결</a:t>
            </a:r>
          </a:p>
        </p:txBody>
      </p:sp>
      <p:sp>
        <p:nvSpPr>
          <p:cNvPr id="303" name="직사각형 302"/>
          <p:cNvSpPr/>
          <p:nvPr/>
        </p:nvSpPr>
        <p:spPr>
          <a:xfrm>
            <a:off x="4447508" y="6382234"/>
            <a:ext cx="1380067" cy="3328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종국판결에 의한 종결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法 </a:t>
            </a:r>
            <a:r>
              <a:rPr lang="en-US" altLang="ko-KR" sz="800" dirty="0">
                <a:solidFill>
                  <a:schemeClr val="tx1"/>
                </a:solidFill>
              </a:rPr>
              <a:t>189)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04" name="직사각형 303"/>
          <p:cNvSpPr/>
          <p:nvPr/>
        </p:nvSpPr>
        <p:spPr>
          <a:xfrm>
            <a:off x="4447508" y="459403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당사자</a:t>
            </a:r>
          </a:p>
        </p:txBody>
      </p:sp>
      <p:sp>
        <p:nvSpPr>
          <p:cNvPr id="305" name="직사각형 304"/>
          <p:cNvSpPr/>
          <p:nvPr/>
        </p:nvSpPr>
        <p:spPr>
          <a:xfrm>
            <a:off x="4447508" y="5541835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소송요건의 심리</a:t>
            </a:r>
            <a:endParaRPr lang="en-US" altLang="ko-KR" sz="1000" dirty="0"/>
          </a:p>
        </p:txBody>
      </p:sp>
      <p:sp>
        <p:nvSpPr>
          <p:cNvPr id="306" name="직사각형 305"/>
          <p:cNvSpPr/>
          <p:nvPr/>
        </p:nvSpPr>
        <p:spPr>
          <a:xfrm>
            <a:off x="4447508" y="5338441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소장의 심사</a:t>
            </a:r>
            <a:endParaRPr lang="en-US" altLang="ko-KR" sz="1000" dirty="0"/>
          </a:p>
        </p:txBody>
      </p:sp>
      <p:sp>
        <p:nvSpPr>
          <p:cNvPr id="307" name="직사각형 306"/>
          <p:cNvSpPr/>
          <p:nvPr/>
        </p:nvSpPr>
        <p:spPr>
          <a:xfrm>
            <a:off x="4447508" y="476412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제소기간</a:t>
            </a:r>
          </a:p>
        </p:txBody>
      </p:sp>
      <p:cxnSp>
        <p:nvCxnSpPr>
          <p:cNvPr id="309" name="꺾인 연결선 308"/>
          <p:cNvCxnSpPr>
            <a:stCxn id="273" idx="3"/>
            <a:endCxn id="304" idx="1"/>
          </p:cNvCxnSpPr>
          <p:nvPr/>
        </p:nvCxnSpPr>
        <p:spPr>
          <a:xfrm>
            <a:off x="4278775" y="4605428"/>
            <a:ext cx="168733" cy="5278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꺾인 연결선 309"/>
          <p:cNvCxnSpPr>
            <a:stCxn id="273" idx="3"/>
            <a:endCxn id="307" idx="1"/>
          </p:cNvCxnSpPr>
          <p:nvPr/>
        </p:nvCxnSpPr>
        <p:spPr>
          <a:xfrm>
            <a:off x="4278775" y="4605428"/>
            <a:ext cx="168733" cy="22287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꺾인 연결선 310"/>
          <p:cNvCxnSpPr>
            <a:stCxn id="274" idx="3"/>
            <a:endCxn id="306" idx="1"/>
          </p:cNvCxnSpPr>
          <p:nvPr/>
        </p:nvCxnSpPr>
        <p:spPr>
          <a:xfrm>
            <a:off x="4278775" y="5234342"/>
            <a:ext cx="168733" cy="16827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꺾인 연결선 311"/>
          <p:cNvCxnSpPr>
            <a:stCxn id="275" idx="3"/>
            <a:endCxn id="305" idx="1"/>
          </p:cNvCxnSpPr>
          <p:nvPr/>
        </p:nvCxnSpPr>
        <p:spPr>
          <a:xfrm flipV="1">
            <a:off x="4278775" y="5606011"/>
            <a:ext cx="168733" cy="15935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꺾인 연결선 312"/>
          <p:cNvCxnSpPr>
            <a:stCxn id="300" idx="3"/>
            <a:endCxn id="289" idx="1"/>
          </p:cNvCxnSpPr>
          <p:nvPr/>
        </p:nvCxnSpPr>
        <p:spPr>
          <a:xfrm flipV="1">
            <a:off x="5827575" y="5393209"/>
            <a:ext cx="127039" cy="36917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꺾인 연결선 313"/>
          <p:cNvCxnSpPr>
            <a:stCxn id="300" idx="3"/>
            <a:endCxn id="290" idx="1"/>
          </p:cNvCxnSpPr>
          <p:nvPr/>
        </p:nvCxnSpPr>
        <p:spPr>
          <a:xfrm flipV="1">
            <a:off x="5827575" y="5655273"/>
            <a:ext cx="127039" cy="10711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꺾인 연결선 314"/>
          <p:cNvCxnSpPr>
            <a:stCxn id="300" idx="3"/>
            <a:endCxn id="291" idx="1"/>
          </p:cNvCxnSpPr>
          <p:nvPr/>
        </p:nvCxnSpPr>
        <p:spPr>
          <a:xfrm>
            <a:off x="5827575" y="5762383"/>
            <a:ext cx="127039" cy="5503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꺾인 연결선 315"/>
          <p:cNvCxnSpPr>
            <a:stCxn id="300" idx="3"/>
            <a:endCxn id="292" idx="1"/>
          </p:cNvCxnSpPr>
          <p:nvPr/>
        </p:nvCxnSpPr>
        <p:spPr>
          <a:xfrm>
            <a:off x="5827575" y="5762383"/>
            <a:ext cx="127039" cy="21279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꺾인 연결선 316"/>
          <p:cNvCxnSpPr>
            <a:endCxn id="293" idx="1"/>
          </p:cNvCxnSpPr>
          <p:nvPr/>
        </p:nvCxnSpPr>
        <p:spPr>
          <a:xfrm rot="16200000" flipH="1">
            <a:off x="5802218" y="5983152"/>
            <a:ext cx="293982" cy="10810"/>
          </a:xfrm>
          <a:prstGeom prst="bentConnector2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직사각형 317"/>
          <p:cNvSpPr/>
          <p:nvPr/>
        </p:nvSpPr>
        <p:spPr>
          <a:xfrm>
            <a:off x="6103431" y="3574465"/>
            <a:ext cx="914400" cy="91440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특허법</a:t>
            </a:r>
            <a:endParaRPr lang="en-US" altLang="ko-KR" dirty="0"/>
          </a:p>
          <a:p>
            <a:pPr algn="ctr"/>
            <a:r>
              <a:rPr lang="ko-KR" altLang="en-US" dirty="0"/>
              <a:t>체계도</a:t>
            </a:r>
          </a:p>
        </p:txBody>
      </p:sp>
      <p:sp>
        <p:nvSpPr>
          <p:cNvPr id="319" name="타원 318"/>
          <p:cNvSpPr/>
          <p:nvPr/>
        </p:nvSpPr>
        <p:spPr>
          <a:xfrm>
            <a:off x="322118" y="2686891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320" name="타원 319"/>
          <p:cNvSpPr/>
          <p:nvPr/>
        </p:nvSpPr>
        <p:spPr>
          <a:xfrm>
            <a:off x="262164" y="5316045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321" name="타원 320"/>
          <p:cNvSpPr/>
          <p:nvPr/>
        </p:nvSpPr>
        <p:spPr>
          <a:xfrm>
            <a:off x="7873581" y="5757616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322" name="타원 321"/>
          <p:cNvSpPr/>
          <p:nvPr/>
        </p:nvSpPr>
        <p:spPr>
          <a:xfrm>
            <a:off x="6772900" y="2666961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323" name="자유형 322"/>
          <p:cNvSpPr/>
          <p:nvPr/>
        </p:nvSpPr>
        <p:spPr>
          <a:xfrm>
            <a:off x="523875" y="3059642"/>
            <a:ext cx="5571067" cy="1845733"/>
          </a:xfrm>
          <a:custGeom>
            <a:avLst/>
            <a:gdLst>
              <a:gd name="connsiteX0" fmla="*/ 5571067 w 5571067"/>
              <a:gd name="connsiteY0" fmla="*/ 872066 h 1845733"/>
              <a:gd name="connsiteX1" fmla="*/ 3708400 w 5571067"/>
              <a:gd name="connsiteY1" fmla="*/ 872066 h 1845733"/>
              <a:gd name="connsiteX2" fmla="*/ 3708400 w 5571067"/>
              <a:gd name="connsiteY2" fmla="*/ 1244600 h 1845733"/>
              <a:gd name="connsiteX3" fmla="*/ 2853267 w 5571067"/>
              <a:gd name="connsiteY3" fmla="*/ 1244600 h 1845733"/>
              <a:gd name="connsiteX4" fmla="*/ 2853267 w 5571067"/>
              <a:gd name="connsiteY4" fmla="*/ 1845733 h 1845733"/>
              <a:gd name="connsiteX5" fmla="*/ 0 w 5571067"/>
              <a:gd name="connsiteY5" fmla="*/ 1845733 h 1845733"/>
              <a:gd name="connsiteX6" fmla="*/ 0 w 5571067"/>
              <a:gd name="connsiteY6" fmla="*/ 0 h 1845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71067" h="1845733">
                <a:moveTo>
                  <a:pt x="5571067" y="872066"/>
                </a:moveTo>
                <a:lnTo>
                  <a:pt x="3708400" y="872066"/>
                </a:lnTo>
                <a:lnTo>
                  <a:pt x="3708400" y="1244600"/>
                </a:lnTo>
                <a:lnTo>
                  <a:pt x="2853267" y="1244600"/>
                </a:lnTo>
                <a:lnTo>
                  <a:pt x="2853267" y="1845733"/>
                </a:lnTo>
                <a:lnTo>
                  <a:pt x="0" y="1845733"/>
                </a:ln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4" name="자유형 323"/>
          <p:cNvSpPr/>
          <p:nvPr/>
        </p:nvSpPr>
        <p:spPr>
          <a:xfrm>
            <a:off x="422275" y="4905375"/>
            <a:ext cx="84667" cy="397933"/>
          </a:xfrm>
          <a:custGeom>
            <a:avLst/>
            <a:gdLst>
              <a:gd name="connsiteX0" fmla="*/ 84667 w 84667"/>
              <a:gd name="connsiteY0" fmla="*/ 0 h 397933"/>
              <a:gd name="connsiteX1" fmla="*/ 0 w 84667"/>
              <a:gd name="connsiteY1" fmla="*/ 0 h 397933"/>
              <a:gd name="connsiteX2" fmla="*/ 0 w 84667"/>
              <a:gd name="connsiteY2" fmla="*/ 397933 h 397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667" h="397933">
                <a:moveTo>
                  <a:pt x="84667" y="0"/>
                </a:moveTo>
                <a:lnTo>
                  <a:pt x="0" y="0"/>
                </a:lnTo>
                <a:lnTo>
                  <a:pt x="0" y="397933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5" name="자유형 324"/>
          <p:cNvSpPr/>
          <p:nvPr/>
        </p:nvSpPr>
        <p:spPr>
          <a:xfrm>
            <a:off x="6569075" y="2839508"/>
            <a:ext cx="186267" cy="745067"/>
          </a:xfrm>
          <a:custGeom>
            <a:avLst/>
            <a:gdLst>
              <a:gd name="connsiteX0" fmla="*/ 0 w 186267"/>
              <a:gd name="connsiteY0" fmla="*/ 745067 h 745067"/>
              <a:gd name="connsiteX1" fmla="*/ 0 w 186267"/>
              <a:gd name="connsiteY1" fmla="*/ 745067 h 745067"/>
              <a:gd name="connsiteX2" fmla="*/ 0 w 186267"/>
              <a:gd name="connsiteY2" fmla="*/ 0 h 745067"/>
              <a:gd name="connsiteX3" fmla="*/ 186267 w 186267"/>
              <a:gd name="connsiteY3" fmla="*/ 0 h 745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267" h="745067">
                <a:moveTo>
                  <a:pt x="0" y="745067"/>
                </a:moveTo>
                <a:lnTo>
                  <a:pt x="0" y="745067"/>
                </a:lnTo>
                <a:lnTo>
                  <a:pt x="0" y="0"/>
                </a:lnTo>
                <a:lnTo>
                  <a:pt x="186267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6" name="자유형 325"/>
          <p:cNvSpPr/>
          <p:nvPr/>
        </p:nvSpPr>
        <p:spPr>
          <a:xfrm>
            <a:off x="6577542" y="4498975"/>
            <a:ext cx="1498600" cy="1244600"/>
          </a:xfrm>
          <a:custGeom>
            <a:avLst/>
            <a:gdLst>
              <a:gd name="connsiteX0" fmla="*/ 0 w 1498600"/>
              <a:gd name="connsiteY0" fmla="*/ 0 h 1244600"/>
              <a:gd name="connsiteX1" fmla="*/ 0 w 1498600"/>
              <a:gd name="connsiteY1" fmla="*/ 423333 h 1244600"/>
              <a:gd name="connsiteX2" fmla="*/ 1498600 w 1498600"/>
              <a:gd name="connsiteY2" fmla="*/ 423333 h 1244600"/>
              <a:gd name="connsiteX3" fmla="*/ 1498600 w 1498600"/>
              <a:gd name="connsiteY3" fmla="*/ 1244600 h 124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8600" h="1244600">
                <a:moveTo>
                  <a:pt x="0" y="0"/>
                </a:moveTo>
                <a:lnTo>
                  <a:pt x="0" y="423333"/>
                </a:lnTo>
                <a:lnTo>
                  <a:pt x="1498600" y="423333"/>
                </a:lnTo>
                <a:lnTo>
                  <a:pt x="1498600" y="124460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4" name="직사각형 293">
            <a:extLst>
              <a:ext uri="{FF2B5EF4-FFF2-40B4-BE49-F238E27FC236}">
                <a16:creationId xmlns:a16="http://schemas.microsoft.com/office/drawing/2014/main" id="{9B6DE0DF-BFFF-497F-9FD1-C58A8CA97621}"/>
              </a:ext>
            </a:extLst>
          </p:cNvPr>
          <p:cNvSpPr/>
          <p:nvPr/>
        </p:nvSpPr>
        <p:spPr>
          <a:xfrm>
            <a:off x="8500191" y="3384273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관련</a:t>
            </a:r>
          </a:p>
        </p:txBody>
      </p:sp>
      <p:sp>
        <p:nvSpPr>
          <p:cNvPr id="327" name="직사각형 326">
            <a:extLst>
              <a:ext uri="{FF2B5EF4-FFF2-40B4-BE49-F238E27FC236}">
                <a16:creationId xmlns:a16="http://schemas.microsoft.com/office/drawing/2014/main" id="{A6BC253F-D9C4-4A98-984C-D8D62D28E8E9}"/>
              </a:ext>
            </a:extLst>
          </p:cNvPr>
          <p:cNvSpPr/>
          <p:nvPr/>
        </p:nvSpPr>
        <p:spPr>
          <a:xfrm>
            <a:off x="9363869" y="3290897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타절차와의 관계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164)</a:t>
            </a:r>
            <a:endParaRPr lang="ko-KR" altLang="en-US" sz="1000" dirty="0"/>
          </a:p>
        </p:txBody>
      </p:sp>
      <p:sp>
        <p:nvSpPr>
          <p:cNvPr id="328" name="직사각형 327">
            <a:extLst>
              <a:ext uri="{FF2B5EF4-FFF2-40B4-BE49-F238E27FC236}">
                <a16:creationId xmlns:a16="http://schemas.microsoft.com/office/drawing/2014/main" id="{855EA2A3-2862-42AE-AC8B-FB8E8761530B}"/>
              </a:ext>
            </a:extLst>
          </p:cNvPr>
          <p:cNvSpPr/>
          <p:nvPr/>
        </p:nvSpPr>
        <p:spPr>
          <a:xfrm>
            <a:off x="9363869" y="3720622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심판비용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165, 166)</a:t>
            </a:r>
            <a:endParaRPr lang="ko-KR" altLang="en-US" sz="1000" dirty="0"/>
          </a:p>
        </p:txBody>
      </p:sp>
      <p:cxnSp>
        <p:nvCxnSpPr>
          <p:cNvPr id="329" name="꺾인 연결선 244">
            <a:extLst>
              <a:ext uri="{FF2B5EF4-FFF2-40B4-BE49-F238E27FC236}">
                <a16:creationId xmlns:a16="http://schemas.microsoft.com/office/drawing/2014/main" id="{A54F89B3-B4E9-4E0A-BB23-C1DB0F7A25D8}"/>
              </a:ext>
            </a:extLst>
          </p:cNvPr>
          <p:cNvCxnSpPr>
            <a:cxnSpLocks/>
            <a:stCxn id="294" idx="3"/>
            <a:endCxn id="308" idx="1"/>
          </p:cNvCxnSpPr>
          <p:nvPr/>
        </p:nvCxnSpPr>
        <p:spPr>
          <a:xfrm>
            <a:off x="9210221" y="3469781"/>
            <a:ext cx="151225" cy="1077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꺾인 연결선 245">
            <a:extLst>
              <a:ext uri="{FF2B5EF4-FFF2-40B4-BE49-F238E27FC236}">
                <a16:creationId xmlns:a16="http://schemas.microsoft.com/office/drawing/2014/main" id="{48543D6B-7C92-4D3D-B213-6D84DC780C17}"/>
              </a:ext>
            </a:extLst>
          </p:cNvPr>
          <p:cNvCxnSpPr>
            <a:cxnSpLocks/>
            <a:stCxn id="294" idx="3"/>
            <a:endCxn id="328" idx="1"/>
          </p:cNvCxnSpPr>
          <p:nvPr/>
        </p:nvCxnSpPr>
        <p:spPr>
          <a:xfrm>
            <a:off x="9210221" y="3469781"/>
            <a:ext cx="153648" cy="32012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B370871F-6F80-4244-8543-0634A44D09BD}"/>
              </a:ext>
            </a:extLst>
          </p:cNvPr>
          <p:cNvCxnSpPr>
            <a:stCxn id="205" idx="3"/>
            <a:endCxn id="294" idx="1"/>
          </p:cNvCxnSpPr>
          <p:nvPr/>
        </p:nvCxnSpPr>
        <p:spPr>
          <a:xfrm>
            <a:off x="8336650" y="2489931"/>
            <a:ext cx="163541" cy="97985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직사각형 287">
            <a:extLst>
              <a:ext uri="{FF2B5EF4-FFF2-40B4-BE49-F238E27FC236}">
                <a16:creationId xmlns:a16="http://schemas.microsoft.com/office/drawing/2014/main" id="{CCF75EB5-ACDA-45AD-A3D7-EAD9647556E3}"/>
              </a:ext>
            </a:extLst>
          </p:cNvPr>
          <p:cNvSpPr/>
          <p:nvPr/>
        </p:nvSpPr>
        <p:spPr>
          <a:xfrm>
            <a:off x="9358843" y="1365202"/>
            <a:ext cx="2333212" cy="2884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국선대리인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전문심리위원 및 참고인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法 </a:t>
            </a:r>
            <a:r>
              <a:rPr lang="en-US" altLang="ko-KR" sz="900" dirty="0">
                <a:solidFill>
                  <a:schemeClr val="tx1"/>
                </a:solidFill>
              </a:rPr>
              <a:t>139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2, 154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2, 154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3)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08" name="직사각형 307">
            <a:extLst>
              <a:ext uri="{FF2B5EF4-FFF2-40B4-BE49-F238E27FC236}">
                <a16:creationId xmlns:a16="http://schemas.microsoft.com/office/drawing/2014/main" id="{FBCE5317-4D8A-4C1C-92B6-ECD14431C289}"/>
              </a:ext>
            </a:extLst>
          </p:cNvPr>
          <p:cNvSpPr/>
          <p:nvPr/>
        </p:nvSpPr>
        <p:spPr>
          <a:xfrm>
            <a:off x="9361446" y="3486404"/>
            <a:ext cx="2330609" cy="1822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조정위원회 회부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164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331" name="꺾인 연결선 245">
            <a:extLst>
              <a:ext uri="{FF2B5EF4-FFF2-40B4-BE49-F238E27FC236}">
                <a16:creationId xmlns:a16="http://schemas.microsoft.com/office/drawing/2014/main" id="{8272E89B-C399-461C-82CA-028F1E621707}"/>
              </a:ext>
            </a:extLst>
          </p:cNvPr>
          <p:cNvCxnSpPr>
            <a:cxnSpLocks/>
            <a:stCxn id="294" idx="3"/>
            <a:endCxn id="327" idx="1"/>
          </p:cNvCxnSpPr>
          <p:nvPr/>
        </p:nvCxnSpPr>
        <p:spPr>
          <a:xfrm flipV="1">
            <a:off x="9210221" y="3360176"/>
            <a:ext cx="153648" cy="10960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183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30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공지예외적용주장출원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30</a:t>
            </a:r>
            <a:r>
              <a:rPr lang="ko-KR" altLang="en-US" dirty="0"/>
              <a:t>조</a:t>
            </a:r>
            <a:r>
              <a:rPr lang="en-US" altLang="ko-KR" dirty="0"/>
              <a:t>)</a:t>
            </a:r>
            <a:r>
              <a:rPr lang="ko-KR" altLang="en-US" dirty="0"/>
              <a:t>의 법조문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875" y="986046"/>
            <a:ext cx="11936323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30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공지 등이 되지 아니한 발명으로 보는 경우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특허를 받을 수 있는 권리를 가진 자의 발명이 다음 각 호의 어느 하나에 해당하게 된 경우 그 날부터 </a:t>
            </a:r>
            <a:r>
              <a:rPr lang="en-US" altLang="ko-KR" sz="1400" dirty="0">
                <a:solidFill>
                  <a:schemeClr val="tx2"/>
                </a:solidFill>
              </a:rPr>
              <a:t>12</a:t>
            </a:r>
            <a:r>
              <a:rPr lang="ko-KR" altLang="en-US" sz="1400" dirty="0">
                <a:solidFill>
                  <a:schemeClr val="tx2"/>
                </a:solidFill>
              </a:rPr>
              <a:t>개월 이내에 특허출원을 하면 그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특허출원된</a:t>
            </a:r>
            <a:r>
              <a:rPr lang="ko-KR" altLang="en-US" sz="1400" dirty="0">
                <a:solidFill>
                  <a:schemeClr val="tx2"/>
                </a:solidFill>
              </a:rPr>
              <a:t> 발명에 대하여 제</a:t>
            </a:r>
            <a:r>
              <a:rPr lang="en-US" altLang="ko-KR" sz="1400" dirty="0">
                <a:solidFill>
                  <a:schemeClr val="tx2"/>
                </a:solidFill>
              </a:rPr>
              <a:t>29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또는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항을 적용할 때에는 그 발명은 같은 조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각 호의 어느 하나에 해당하지 아니한 것으로 본다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특허를 받을 수 있는 권리를 가진 자에 의하여 그 발명이 제</a:t>
            </a:r>
            <a:r>
              <a:rPr lang="en-US" altLang="ko-KR" sz="1400" dirty="0">
                <a:solidFill>
                  <a:schemeClr val="tx2"/>
                </a:solidFill>
              </a:rPr>
              <a:t>29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각 호의 어느 하나에 해당하게 된 경우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조약 또는 법률에 따라 국내 또는 국외에서 </a:t>
            </a:r>
            <a:r>
              <a:rPr lang="ko-KR" altLang="en-US" sz="1400" dirty="0" err="1">
                <a:solidFill>
                  <a:schemeClr val="tx2"/>
                </a:solidFill>
              </a:rPr>
              <a:t>출원공개되거나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등록공고된</a:t>
            </a:r>
            <a:r>
              <a:rPr lang="ko-KR" altLang="en-US" sz="1400" dirty="0">
                <a:solidFill>
                  <a:schemeClr val="tx2"/>
                </a:solidFill>
              </a:rPr>
              <a:t> 경우는 제외한다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특허를 받을 수 있는 권리를 가진 자의 의사에 반하여 그 발명이 제</a:t>
            </a:r>
            <a:r>
              <a:rPr lang="en-US" altLang="ko-KR" sz="1400" dirty="0">
                <a:solidFill>
                  <a:schemeClr val="tx2"/>
                </a:solidFill>
              </a:rPr>
              <a:t>29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각 호의 어느 하나에 해당하게 된 경우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②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호를 </a:t>
            </a:r>
            <a:r>
              <a:rPr lang="ko-KR" altLang="en-US" sz="1400" dirty="0" err="1">
                <a:solidFill>
                  <a:schemeClr val="tx2"/>
                </a:solidFill>
              </a:rPr>
              <a:t>적용받으려는</a:t>
            </a:r>
            <a:r>
              <a:rPr lang="ko-KR" altLang="en-US" sz="1400" dirty="0">
                <a:solidFill>
                  <a:schemeClr val="tx2"/>
                </a:solidFill>
              </a:rPr>
              <a:t> 자는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400" dirty="0">
                <a:solidFill>
                  <a:schemeClr val="tx2"/>
                </a:solidFill>
              </a:rPr>
              <a:t> 그 취지를 적어 출원하여야 하고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이를 증명할 수 있는 서류를 총리령으로 정하는 방법에 따라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특허출원일부터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30</a:t>
            </a:r>
            <a:r>
              <a:rPr lang="ko-KR" altLang="en-US" sz="1400" dirty="0">
                <a:solidFill>
                  <a:schemeClr val="tx2"/>
                </a:solidFill>
              </a:rPr>
              <a:t>일 이내에 지식재산처장에게 제출하여야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항에도 불구하고 총리령으로 정하는 보완수수료를 납부한 경우에는 다음 각 호의 어느 하나에 해당하는 기간에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호를 </a:t>
            </a:r>
            <a:r>
              <a:rPr lang="ko-KR" altLang="en-US" sz="1400" dirty="0" err="1">
                <a:solidFill>
                  <a:schemeClr val="tx2"/>
                </a:solidFill>
              </a:rPr>
              <a:t>적용받으려는</a:t>
            </a:r>
            <a:r>
              <a:rPr lang="ko-KR" altLang="en-US" sz="1400" dirty="0">
                <a:solidFill>
                  <a:schemeClr val="tx2"/>
                </a:solidFill>
              </a:rPr>
              <a:t> 취지를 적은 서류 또는 이를 증명할 수 있는 서류를 제출할 수 있다</a:t>
            </a:r>
            <a:endParaRPr lang="en-US" altLang="ko-KR" sz="14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47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보정할 수 있는 기간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66</a:t>
            </a:r>
            <a:r>
              <a:rPr lang="ko-KR" altLang="en-US" sz="1400" dirty="0">
                <a:solidFill>
                  <a:schemeClr val="tx2"/>
                </a:solidFill>
              </a:rPr>
              <a:t>조에 따른 특허결정 또는 제</a:t>
            </a:r>
            <a:r>
              <a:rPr lang="en-US" altLang="ko-KR" sz="1400" dirty="0">
                <a:solidFill>
                  <a:schemeClr val="tx2"/>
                </a:solidFill>
              </a:rPr>
              <a:t>176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특허거절결정 </a:t>
            </a:r>
            <a:r>
              <a:rPr lang="ko-KR" altLang="en-US" sz="1400" dirty="0" err="1">
                <a:solidFill>
                  <a:schemeClr val="tx2"/>
                </a:solidFill>
              </a:rPr>
              <a:t>취소심결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특허등록을 결정한 </a:t>
            </a:r>
            <a:r>
              <a:rPr lang="ko-KR" altLang="en-US" sz="1400" dirty="0" err="1">
                <a:solidFill>
                  <a:schemeClr val="tx2"/>
                </a:solidFill>
              </a:rPr>
              <a:t>심결에</a:t>
            </a:r>
            <a:r>
              <a:rPr lang="ko-KR" altLang="en-US" sz="1400" dirty="0">
                <a:solidFill>
                  <a:schemeClr val="tx2"/>
                </a:solidFill>
              </a:rPr>
              <a:t> 한정하되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재심심결을</a:t>
            </a:r>
            <a:r>
              <a:rPr lang="ko-KR" altLang="en-US" sz="1400" dirty="0">
                <a:solidFill>
                  <a:schemeClr val="tx2"/>
                </a:solidFill>
              </a:rPr>
              <a:t> 포함한다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의 등본을 </a:t>
            </a:r>
            <a:r>
              <a:rPr lang="ko-KR" altLang="en-US" sz="1400" dirty="0" err="1">
                <a:solidFill>
                  <a:schemeClr val="tx2"/>
                </a:solidFill>
              </a:rPr>
              <a:t>송달받은</a:t>
            </a:r>
            <a:r>
              <a:rPr lang="ko-KR" altLang="en-US" sz="1400" dirty="0">
                <a:solidFill>
                  <a:schemeClr val="tx2"/>
                </a:solidFill>
              </a:rPr>
              <a:t> 날부터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개월 이내의 기간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79</a:t>
            </a:r>
            <a:r>
              <a:rPr lang="ko-KR" altLang="en-US" sz="1400" dirty="0">
                <a:solidFill>
                  <a:schemeClr val="tx2"/>
                </a:solidFill>
              </a:rPr>
              <a:t>조에 따른 설정등록을 받으려는 날이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개월보다 짧은 경우에는 그 날까지의 기간</a:t>
            </a:r>
          </a:p>
        </p:txBody>
      </p:sp>
      <p:cxnSp>
        <p:nvCxnSpPr>
          <p:cNvPr id="91" name="직선 연결선 90"/>
          <p:cNvCxnSpPr/>
          <p:nvPr/>
        </p:nvCxnSpPr>
        <p:spPr>
          <a:xfrm>
            <a:off x="0" y="3895484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곱셈 기호 58"/>
          <p:cNvSpPr/>
          <p:nvPr/>
        </p:nvSpPr>
        <p:spPr>
          <a:xfrm>
            <a:off x="1032933" y="3860766"/>
            <a:ext cx="1879600" cy="1809001"/>
          </a:xfrm>
          <a:prstGeom prst="mathMultiply">
            <a:avLst>
              <a:gd name="adj1" fmla="val 1369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0" name="직선 연결선 59"/>
          <p:cNvCxnSpPr/>
          <p:nvPr/>
        </p:nvCxnSpPr>
        <p:spPr>
          <a:xfrm>
            <a:off x="533400" y="4795887"/>
            <a:ext cx="11040533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207777" y="4595990"/>
            <a:ext cx="1532792" cy="3385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국내외 </a:t>
            </a:r>
            <a:r>
              <a:rPr lang="ko-KR" altLang="en-US" sz="1600" dirty="0" err="1"/>
              <a:t>공지기술</a:t>
            </a:r>
            <a:endParaRPr lang="ko-KR" altLang="en-US" sz="1600" dirty="0"/>
          </a:p>
        </p:txBody>
      </p:sp>
      <p:sp>
        <p:nvSpPr>
          <p:cNvPr id="62" name="TextBox 61"/>
          <p:cNvSpPr txBox="1"/>
          <p:nvPr/>
        </p:nvSpPr>
        <p:spPr>
          <a:xfrm>
            <a:off x="839086" y="5381986"/>
            <a:ext cx="2270173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/>
              <a:t>공지예외적용사유에 해당</a:t>
            </a:r>
            <a:endParaRPr lang="ko-KR" altLang="en-US" sz="1600" dirty="0"/>
          </a:p>
        </p:txBody>
      </p:sp>
      <p:cxnSp>
        <p:nvCxnSpPr>
          <p:cNvPr id="63" name="직선 화살표 연결선 62"/>
          <p:cNvCxnSpPr>
            <a:stCxn id="62" idx="0"/>
            <a:endCxn id="61" idx="2"/>
          </p:cNvCxnSpPr>
          <p:nvPr/>
        </p:nvCxnSpPr>
        <p:spPr>
          <a:xfrm flipV="1">
            <a:off x="1974173" y="4934544"/>
            <a:ext cx="0" cy="44744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원호 63"/>
          <p:cNvSpPr/>
          <p:nvPr/>
        </p:nvSpPr>
        <p:spPr>
          <a:xfrm>
            <a:off x="1974173" y="4207927"/>
            <a:ext cx="3757760" cy="726617"/>
          </a:xfrm>
          <a:prstGeom prst="arc">
            <a:avLst>
              <a:gd name="adj1" fmla="val 10770506"/>
              <a:gd name="adj2" fmla="val 0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원호 65"/>
          <p:cNvSpPr/>
          <p:nvPr/>
        </p:nvSpPr>
        <p:spPr>
          <a:xfrm>
            <a:off x="5840048" y="4216395"/>
            <a:ext cx="3757760" cy="1056830"/>
          </a:xfrm>
          <a:prstGeom prst="arc">
            <a:avLst>
              <a:gd name="adj1" fmla="val 10770506"/>
              <a:gd name="adj2" fmla="val 31122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/>
          <p:cNvSpPr txBox="1"/>
          <p:nvPr/>
        </p:nvSpPr>
        <p:spPr>
          <a:xfrm>
            <a:off x="5379025" y="4595990"/>
            <a:ext cx="922047" cy="3385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특허출원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09773" y="5381986"/>
            <a:ext cx="1659429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600" dirty="0"/>
              <a:t>공지예외적용주장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669868" y="5381986"/>
            <a:ext cx="1159934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600" dirty="0"/>
              <a:t>증명서류</a:t>
            </a:r>
            <a:r>
              <a:rPr lang="en-US" altLang="ko-KR" sz="1600" dirty="0"/>
              <a:t>*</a:t>
            </a:r>
            <a:endParaRPr lang="ko-KR" altLang="en-US" sz="1600" dirty="0"/>
          </a:p>
        </p:txBody>
      </p:sp>
      <p:cxnSp>
        <p:nvCxnSpPr>
          <p:cNvPr id="84" name="직선 화살표 연결선 83"/>
          <p:cNvCxnSpPr>
            <a:stCxn id="80" idx="0"/>
            <a:endCxn id="78" idx="2"/>
          </p:cNvCxnSpPr>
          <p:nvPr/>
        </p:nvCxnSpPr>
        <p:spPr>
          <a:xfrm flipV="1">
            <a:off x="5839488" y="4934544"/>
            <a:ext cx="561" cy="44744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/>
          <p:cNvCxnSpPr/>
          <p:nvPr/>
        </p:nvCxnSpPr>
        <p:spPr>
          <a:xfrm flipV="1">
            <a:off x="9251554" y="4795887"/>
            <a:ext cx="0" cy="58609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3513667" y="3964796"/>
            <a:ext cx="9492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2"/>
                </a:solidFill>
              </a:rPr>
              <a:t>12</a:t>
            </a:r>
            <a:r>
              <a:rPr lang="ko-KR" altLang="en-US" sz="1200" dirty="0">
                <a:solidFill>
                  <a:schemeClr val="tx2"/>
                </a:solidFill>
              </a:rPr>
              <a:t>개월 이내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49067" y="3964796"/>
            <a:ext cx="8114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2"/>
                </a:solidFill>
              </a:rPr>
              <a:t>30</a:t>
            </a:r>
            <a:r>
              <a:rPr lang="ko-KR" altLang="en-US" sz="1200" dirty="0">
                <a:solidFill>
                  <a:schemeClr val="tx2"/>
                </a:solidFill>
              </a:rPr>
              <a:t>일 이내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974173" y="5881519"/>
            <a:ext cx="2587568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의사에 의한 공지</a:t>
            </a:r>
            <a:r>
              <a:rPr lang="en-US" altLang="ko-KR" sz="1600" dirty="0"/>
              <a:t>(</a:t>
            </a:r>
            <a:r>
              <a:rPr lang="ko-KR" altLang="en-US" sz="1600" dirty="0"/>
              <a:t>法 </a:t>
            </a:r>
            <a:r>
              <a:rPr lang="en-US" altLang="ko-KR" sz="1600" dirty="0"/>
              <a:t>30①Ⅰ)</a:t>
            </a:r>
            <a:endParaRPr lang="ko-KR" altLang="en-US" sz="1600" dirty="0"/>
          </a:p>
        </p:txBody>
      </p:sp>
      <p:sp>
        <p:nvSpPr>
          <p:cNvPr id="89" name="TextBox 88"/>
          <p:cNvSpPr txBox="1"/>
          <p:nvPr/>
        </p:nvSpPr>
        <p:spPr>
          <a:xfrm>
            <a:off x="1974173" y="6321785"/>
            <a:ext cx="2587568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의사에 반한 공지</a:t>
            </a:r>
            <a:r>
              <a:rPr lang="en-US" altLang="ko-KR" sz="1600" dirty="0"/>
              <a:t>(</a:t>
            </a:r>
            <a:r>
              <a:rPr lang="ko-KR" altLang="en-US" sz="1600" dirty="0"/>
              <a:t>法 </a:t>
            </a:r>
            <a:r>
              <a:rPr lang="en-US" altLang="ko-KR" sz="1600" dirty="0"/>
              <a:t>30①Ⅱ)</a:t>
            </a:r>
            <a:endParaRPr lang="ko-KR" altLang="en-US" sz="1600" dirty="0"/>
          </a:p>
        </p:txBody>
      </p:sp>
      <p:sp>
        <p:nvSpPr>
          <p:cNvPr id="92" name="자유형 91"/>
          <p:cNvSpPr/>
          <p:nvPr/>
        </p:nvSpPr>
        <p:spPr>
          <a:xfrm>
            <a:off x="1447800" y="5731933"/>
            <a:ext cx="524933" cy="318863"/>
          </a:xfrm>
          <a:custGeom>
            <a:avLst/>
            <a:gdLst>
              <a:gd name="connsiteX0" fmla="*/ 0 w 524933"/>
              <a:gd name="connsiteY0" fmla="*/ 0 h 364067"/>
              <a:gd name="connsiteX1" fmla="*/ 0 w 524933"/>
              <a:gd name="connsiteY1" fmla="*/ 364067 h 364067"/>
              <a:gd name="connsiteX2" fmla="*/ 524933 w 524933"/>
              <a:gd name="connsiteY2" fmla="*/ 364067 h 364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4933" h="364067">
                <a:moveTo>
                  <a:pt x="0" y="0"/>
                </a:moveTo>
                <a:lnTo>
                  <a:pt x="0" y="364067"/>
                </a:lnTo>
                <a:lnTo>
                  <a:pt x="524933" y="364067"/>
                </a:lnTo>
              </a:path>
            </a:pathLst>
          </a:cu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자유형 92"/>
          <p:cNvSpPr/>
          <p:nvPr/>
        </p:nvSpPr>
        <p:spPr>
          <a:xfrm>
            <a:off x="1447800" y="5723467"/>
            <a:ext cx="524933" cy="770466"/>
          </a:xfrm>
          <a:custGeom>
            <a:avLst/>
            <a:gdLst>
              <a:gd name="connsiteX0" fmla="*/ 0 w 524933"/>
              <a:gd name="connsiteY0" fmla="*/ 0 h 770466"/>
              <a:gd name="connsiteX1" fmla="*/ 0 w 524933"/>
              <a:gd name="connsiteY1" fmla="*/ 770466 h 770466"/>
              <a:gd name="connsiteX2" fmla="*/ 524933 w 524933"/>
              <a:gd name="connsiteY2" fmla="*/ 770466 h 770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4933" h="770466">
                <a:moveTo>
                  <a:pt x="0" y="0"/>
                </a:moveTo>
                <a:lnTo>
                  <a:pt x="0" y="770466"/>
                </a:lnTo>
                <a:lnTo>
                  <a:pt x="524933" y="770466"/>
                </a:lnTo>
              </a:path>
            </a:pathLst>
          </a:cu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직사각형 93"/>
          <p:cNvSpPr/>
          <p:nvPr/>
        </p:nvSpPr>
        <p:spPr>
          <a:xfrm>
            <a:off x="4893733" y="5273225"/>
            <a:ext cx="6773334" cy="946848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ko-KR" altLang="en-US" dirty="0">
                <a:solidFill>
                  <a:srgbClr val="FF0000"/>
                </a:solidFill>
              </a:rPr>
              <a:t>의사에 의한 공지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法 </a:t>
            </a:r>
            <a:r>
              <a:rPr lang="en-US" altLang="ko-KR" dirty="0">
                <a:solidFill>
                  <a:srgbClr val="FF0000"/>
                </a:solidFill>
              </a:rPr>
              <a:t>30①Ⅰ)</a:t>
            </a:r>
            <a:r>
              <a:rPr lang="ko-KR" altLang="en-US" dirty="0">
                <a:solidFill>
                  <a:srgbClr val="FF0000"/>
                </a:solidFill>
              </a:rPr>
              <a:t>만 해당</a:t>
            </a:r>
            <a:endParaRPr lang="en-US" altLang="ko-KR" dirty="0">
              <a:solidFill>
                <a:srgbClr val="FF0000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4893733" y="6321785"/>
            <a:ext cx="6773334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ko-KR" sz="1200" dirty="0"/>
              <a:t>*ⅰ) </a:t>
            </a:r>
            <a:r>
              <a:rPr lang="ko-KR" altLang="en-US" sz="1200" dirty="0"/>
              <a:t>공개일</a:t>
            </a:r>
            <a:r>
              <a:rPr lang="en-US" altLang="ko-KR" sz="1200" dirty="0"/>
              <a:t>, ⅱ) </a:t>
            </a:r>
            <a:r>
              <a:rPr lang="ko-KR" altLang="en-US" sz="1200" dirty="0"/>
              <a:t>공개자</a:t>
            </a:r>
            <a:r>
              <a:rPr lang="en-US" altLang="ko-KR" sz="1200" dirty="0"/>
              <a:t>, ⅲ) </a:t>
            </a:r>
            <a:r>
              <a:rPr lang="ko-KR" altLang="en-US" sz="1200" dirty="0"/>
              <a:t>공개형태</a:t>
            </a:r>
            <a:r>
              <a:rPr lang="en-US" altLang="ko-KR" sz="1200" dirty="0"/>
              <a:t>, ⅳ) </a:t>
            </a:r>
            <a:r>
              <a:rPr lang="ko-KR" altLang="en-US" sz="1200" dirty="0"/>
              <a:t>공개된 발명의 내용 등이 포함되어야 한다</a:t>
            </a:r>
          </a:p>
          <a:p>
            <a:endParaRPr lang="ko-KR" altLang="en-US" sz="1200" dirty="0"/>
          </a:p>
        </p:txBody>
      </p:sp>
      <p:sp>
        <p:nvSpPr>
          <p:cNvPr id="96" name="직사각형 95"/>
          <p:cNvSpPr/>
          <p:nvPr/>
        </p:nvSpPr>
        <p:spPr>
          <a:xfrm>
            <a:off x="8419784" y="527322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dirty="0">
                <a:solidFill>
                  <a:schemeClr val="accent4"/>
                </a:solidFill>
              </a:rPr>
              <a:t>❹</a:t>
            </a:r>
          </a:p>
        </p:txBody>
      </p:sp>
      <p:sp>
        <p:nvSpPr>
          <p:cNvPr id="97" name="직사각형 96"/>
          <p:cNvSpPr/>
          <p:nvPr/>
        </p:nvSpPr>
        <p:spPr>
          <a:xfrm>
            <a:off x="646751" y="515911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dirty="0">
                <a:solidFill>
                  <a:schemeClr val="accent4"/>
                </a:solidFill>
              </a:rPr>
              <a:t>❶</a:t>
            </a:r>
          </a:p>
        </p:txBody>
      </p:sp>
      <p:sp>
        <p:nvSpPr>
          <p:cNvPr id="98" name="직사각형 97"/>
          <p:cNvSpPr/>
          <p:nvPr/>
        </p:nvSpPr>
        <p:spPr>
          <a:xfrm>
            <a:off x="3208688" y="387246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dirty="0">
                <a:solidFill>
                  <a:schemeClr val="accent4"/>
                </a:solidFill>
              </a:rPr>
              <a:t>❷</a:t>
            </a:r>
          </a:p>
        </p:txBody>
      </p:sp>
      <p:sp>
        <p:nvSpPr>
          <p:cNvPr id="99" name="직사각형 98"/>
          <p:cNvSpPr/>
          <p:nvPr/>
        </p:nvSpPr>
        <p:spPr>
          <a:xfrm>
            <a:off x="4825027" y="556198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dirty="0">
                <a:solidFill>
                  <a:schemeClr val="accent4"/>
                </a:solidFill>
              </a:rPr>
              <a:t>❸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302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양쪽 모서리가 둥근 사각형 192">
            <a:extLst>
              <a:ext uri="{FF2B5EF4-FFF2-40B4-BE49-F238E27FC236}">
                <a16:creationId xmlns:a16="http://schemas.microsoft.com/office/drawing/2014/main" id="{D4DA92F5-D506-4F1B-A72D-78003E474683}"/>
              </a:ext>
            </a:extLst>
          </p:cNvPr>
          <p:cNvSpPr/>
          <p:nvPr/>
        </p:nvSpPr>
        <p:spPr>
          <a:xfrm rot="10800000">
            <a:off x="3898439" y="4005071"/>
            <a:ext cx="4872707" cy="595001"/>
          </a:xfrm>
          <a:prstGeom prst="round2SameRect">
            <a:avLst>
              <a:gd name="adj1" fmla="val 50000"/>
              <a:gd name="adj2" fmla="val 0"/>
            </a:avLst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30" name="양쪽 모서리가 둥근 사각형 193">
            <a:extLst>
              <a:ext uri="{FF2B5EF4-FFF2-40B4-BE49-F238E27FC236}">
                <a16:creationId xmlns:a16="http://schemas.microsoft.com/office/drawing/2014/main" id="{95A471A4-6C9A-4D83-9A8B-75EA8512D3B4}"/>
              </a:ext>
            </a:extLst>
          </p:cNvPr>
          <p:cNvSpPr/>
          <p:nvPr/>
        </p:nvSpPr>
        <p:spPr>
          <a:xfrm rot="10800000">
            <a:off x="8848784" y="4016154"/>
            <a:ext cx="2575108" cy="594993"/>
          </a:xfrm>
          <a:prstGeom prst="round2SameRect">
            <a:avLst>
              <a:gd name="adj1" fmla="val 50000"/>
              <a:gd name="adj2" fmla="val 0"/>
            </a:avLst>
          </a:prstGeom>
          <a:pattFill prst="dotGrid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30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다른 특허요건과의 관계</a:t>
            </a:r>
          </a:p>
        </p:txBody>
      </p:sp>
      <p:cxnSp>
        <p:nvCxnSpPr>
          <p:cNvPr id="52" name="직선 연결선 51"/>
          <p:cNvCxnSpPr/>
          <p:nvPr/>
        </p:nvCxnSpPr>
        <p:spPr>
          <a:xfrm>
            <a:off x="514350" y="3978820"/>
            <a:ext cx="11040533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298793" y="3238507"/>
            <a:ext cx="1484624" cy="32863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400" dirty="0"/>
              <a:t>甲 </a:t>
            </a:r>
            <a:r>
              <a:rPr lang="en-US" altLang="ko-KR" sz="1400" dirty="0"/>
              <a:t>A</a:t>
            </a:r>
            <a:r>
              <a:rPr lang="ko-KR" altLang="en-US" sz="1400" dirty="0"/>
              <a:t> 간행물 발표 </a:t>
            </a:r>
          </a:p>
        </p:txBody>
      </p:sp>
      <p:cxnSp>
        <p:nvCxnSpPr>
          <p:cNvPr id="10" name="직선 화살표 연결선 9"/>
          <p:cNvCxnSpPr>
            <a:stCxn id="72" idx="2"/>
          </p:cNvCxnSpPr>
          <p:nvPr/>
        </p:nvCxnSpPr>
        <p:spPr>
          <a:xfrm>
            <a:off x="2041105" y="3567146"/>
            <a:ext cx="0" cy="35565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/>
          <p:cNvCxnSpPr>
            <a:cxnSpLocks/>
            <a:stCxn id="46" idx="0"/>
          </p:cNvCxnSpPr>
          <p:nvPr/>
        </p:nvCxnSpPr>
        <p:spPr>
          <a:xfrm flipV="1">
            <a:off x="3878374" y="3978820"/>
            <a:ext cx="0" cy="724614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875" y="986046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highlight>
                  <a:srgbClr val="FFFF00"/>
                </a:highlight>
              </a:rPr>
              <a:t>공지예외적용주장출원의</a:t>
            </a:r>
            <a:r>
              <a:rPr lang="ko-KR" altLang="en-US" sz="1400" dirty="0">
                <a:highlight>
                  <a:srgbClr val="FFFF00"/>
                </a:highlight>
              </a:rPr>
              <a:t> 경우 출원일이 소급되는 것은 아니므로 </a:t>
            </a:r>
            <a:r>
              <a:rPr lang="en-US" altLang="ko-KR" sz="1400" dirty="0">
                <a:highlight>
                  <a:srgbClr val="FFFF00"/>
                </a:highlight>
              </a:rPr>
              <a:t>12</a:t>
            </a:r>
            <a:r>
              <a:rPr lang="ko-KR" altLang="en-US" sz="1400" dirty="0">
                <a:highlight>
                  <a:srgbClr val="FFFF00"/>
                </a:highlight>
              </a:rPr>
              <a:t>개월의 유예기간이 있더라도 될 수 있으면 빨리 출원해야 한다</a:t>
            </a:r>
            <a:r>
              <a:rPr lang="en-US" altLang="ko-KR" sz="1400" dirty="0">
                <a:highlight>
                  <a:srgbClr val="FFFF00"/>
                </a:highlight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예를 들어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공지일과 공지예외적용을 주장한 특허출원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이하 “甲 출원”라 함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일 사이에 타인의 특허출원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이하 “乙 </a:t>
            </a:r>
            <a:r>
              <a:rPr lang="ko-KR" altLang="en-US" sz="1400" dirty="0" err="1">
                <a:solidFill>
                  <a:schemeClr val="tx2"/>
                </a:solidFill>
              </a:rPr>
              <a:t>출원”이라</a:t>
            </a:r>
            <a:r>
              <a:rPr lang="ko-KR" altLang="en-US" sz="1400" dirty="0">
                <a:solidFill>
                  <a:schemeClr val="tx2"/>
                </a:solidFill>
              </a:rPr>
              <a:t> 함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이 있으면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甲 출원은 乙 출원이 공개된다면 확대된 </a:t>
            </a:r>
            <a:r>
              <a:rPr lang="ko-KR" altLang="en-US" sz="1400" dirty="0" err="1">
                <a:solidFill>
                  <a:schemeClr val="tx2"/>
                </a:solidFill>
              </a:rPr>
              <a:t>선출원</a:t>
            </a:r>
            <a:r>
              <a:rPr lang="ko-KR" altLang="en-US" sz="1400" dirty="0">
                <a:solidFill>
                  <a:schemeClr val="tx2"/>
                </a:solidFill>
              </a:rPr>
              <a:t> 위반으로 특허를 받을 수 없게 될 수도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乙 출원이 공개 전에 무효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취하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포기 또는 거절결정이 확정된다면 甲 출원은 특허를 받을 수 있을 것이다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한편 乙 출원은 </a:t>
            </a:r>
            <a:r>
              <a:rPr lang="ko-KR" altLang="en-US" sz="1400" dirty="0" err="1">
                <a:solidFill>
                  <a:schemeClr val="tx2"/>
                </a:solidFill>
              </a:rPr>
              <a:t>신규성</a:t>
            </a:r>
            <a:r>
              <a:rPr lang="ko-KR" altLang="en-US" sz="1400" dirty="0">
                <a:solidFill>
                  <a:schemeClr val="tx2"/>
                </a:solidFill>
              </a:rPr>
              <a:t> 위반으로 특허를 받을 수 없다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194248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414323" y="3238507"/>
            <a:ext cx="2585494" cy="32863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400" dirty="0"/>
              <a:t>甲 </a:t>
            </a:r>
            <a:r>
              <a:rPr lang="en-US" altLang="ko-KR" sz="1400" dirty="0"/>
              <a:t>A</a:t>
            </a:r>
            <a:r>
              <a:rPr lang="ko-KR" altLang="en-US" sz="1400" dirty="0"/>
              <a:t> 공지예외적용주장출원</a:t>
            </a:r>
            <a:r>
              <a:rPr lang="en-US" altLang="ko-KR" sz="1400" dirty="0"/>
              <a:t>(X)</a:t>
            </a:r>
            <a:endParaRPr lang="ko-KR" altLang="en-US" sz="1400" dirty="0"/>
          </a:p>
        </p:txBody>
      </p:sp>
      <p:cxnSp>
        <p:nvCxnSpPr>
          <p:cNvPr id="45" name="직선 화살표 연결선 44"/>
          <p:cNvCxnSpPr>
            <a:stCxn id="41" idx="2"/>
          </p:cNvCxnSpPr>
          <p:nvPr/>
        </p:nvCxnSpPr>
        <p:spPr>
          <a:xfrm>
            <a:off x="5707070" y="3567146"/>
            <a:ext cx="0" cy="35565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203798" y="4703434"/>
            <a:ext cx="1349152" cy="3286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400" dirty="0"/>
              <a:t>乙 </a:t>
            </a:r>
            <a:r>
              <a:rPr lang="en-US" altLang="ko-KR" sz="1400" dirty="0"/>
              <a:t>A</a:t>
            </a:r>
            <a:r>
              <a:rPr lang="ko-KR" altLang="en-US" sz="1400" dirty="0"/>
              <a:t> 출원</a:t>
            </a:r>
            <a:r>
              <a:rPr lang="en-US" altLang="ko-KR" sz="1400" dirty="0"/>
              <a:t>(Y)</a:t>
            </a:r>
            <a:endParaRPr lang="ko-KR" altLang="en-US" sz="1400" dirty="0"/>
          </a:p>
        </p:txBody>
      </p:sp>
      <p:cxnSp>
        <p:nvCxnSpPr>
          <p:cNvPr id="55" name="직선 화살표 연결선 54"/>
          <p:cNvCxnSpPr>
            <a:cxnSpLocks/>
            <a:stCxn id="56" idx="0"/>
          </p:cNvCxnSpPr>
          <p:nvPr/>
        </p:nvCxnSpPr>
        <p:spPr>
          <a:xfrm flipV="1">
            <a:off x="8786331" y="3978820"/>
            <a:ext cx="25877" cy="71242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111755" y="4691242"/>
            <a:ext cx="1349152" cy="3286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400" dirty="0"/>
              <a:t>乙 </a:t>
            </a:r>
            <a:r>
              <a:rPr lang="en-US" altLang="ko-KR" sz="1400" dirty="0"/>
              <a:t>A</a:t>
            </a:r>
            <a:r>
              <a:rPr lang="ko-KR" altLang="en-US" sz="1400" dirty="0"/>
              <a:t> 공개</a:t>
            </a:r>
            <a:r>
              <a:rPr lang="en-US" altLang="ko-KR" sz="1400" dirty="0"/>
              <a:t>(Y)</a:t>
            </a:r>
            <a:endParaRPr lang="ko-KR" altLang="en-US" sz="1400" dirty="0"/>
          </a:p>
        </p:txBody>
      </p:sp>
      <p:cxnSp>
        <p:nvCxnSpPr>
          <p:cNvPr id="65" name="직선 화살표 연결선 64"/>
          <p:cNvCxnSpPr>
            <a:stCxn id="66" idx="0"/>
          </p:cNvCxnSpPr>
          <p:nvPr/>
        </p:nvCxnSpPr>
        <p:spPr>
          <a:xfrm flipV="1">
            <a:off x="7815374" y="4046556"/>
            <a:ext cx="0" cy="1585166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781963" y="5631722"/>
            <a:ext cx="2066822" cy="5108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400" dirty="0"/>
              <a:t>乙 제</a:t>
            </a:r>
            <a:r>
              <a:rPr lang="en-US" altLang="ko-KR" sz="1400" dirty="0"/>
              <a:t>29</a:t>
            </a:r>
            <a:r>
              <a:rPr lang="ko-KR" altLang="en-US" sz="1400" dirty="0"/>
              <a:t>조제</a:t>
            </a:r>
            <a:r>
              <a:rPr lang="en-US" altLang="ko-KR" sz="1400" dirty="0"/>
              <a:t>1</a:t>
            </a:r>
            <a:r>
              <a:rPr lang="ko-KR" altLang="en-US" sz="1400" dirty="0"/>
              <a:t>항 위반으로 거절결정 확정</a:t>
            </a:r>
          </a:p>
        </p:txBody>
      </p:sp>
      <p:cxnSp>
        <p:nvCxnSpPr>
          <p:cNvPr id="71" name="직선 화살표 연결선 70"/>
          <p:cNvCxnSpPr>
            <a:stCxn id="73" idx="0"/>
          </p:cNvCxnSpPr>
          <p:nvPr/>
        </p:nvCxnSpPr>
        <p:spPr>
          <a:xfrm flipV="1">
            <a:off x="10158361" y="4046556"/>
            <a:ext cx="0" cy="1585166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9124950" y="5631722"/>
            <a:ext cx="2066822" cy="5108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400" dirty="0"/>
              <a:t>乙 제</a:t>
            </a:r>
            <a:r>
              <a:rPr lang="en-US" altLang="ko-KR" sz="1400" dirty="0"/>
              <a:t>29</a:t>
            </a:r>
            <a:r>
              <a:rPr lang="ko-KR" altLang="en-US" sz="1400" dirty="0"/>
              <a:t>조제</a:t>
            </a:r>
            <a:r>
              <a:rPr lang="en-US" altLang="ko-KR" sz="1400" dirty="0"/>
              <a:t>1</a:t>
            </a:r>
            <a:r>
              <a:rPr lang="ko-KR" altLang="en-US" sz="1400" dirty="0"/>
              <a:t>항 위반으로 거절결정 확정</a:t>
            </a:r>
          </a:p>
        </p:txBody>
      </p:sp>
      <p:sp>
        <p:nvSpPr>
          <p:cNvPr id="68" name="모서리가 둥근 사각형 설명선 67"/>
          <p:cNvSpPr/>
          <p:nvPr/>
        </p:nvSpPr>
        <p:spPr>
          <a:xfrm>
            <a:off x="6162454" y="2466975"/>
            <a:ext cx="4695558" cy="466725"/>
          </a:xfrm>
          <a:prstGeom prst="wedgeRoundRectCallout">
            <a:avLst>
              <a:gd name="adj1" fmla="val -33207"/>
              <a:gd name="adj2" fmla="val 109646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甲 출원은 乙 출원이 공개된다면 확대된 </a:t>
            </a:r>
            <a:r>
              <a:rPr lang="ko-KR" altLang="en-US" sz="1200" dirty="0" err="1">
                <a:solidFill>
                  <a:schemeClr val="tx1"/>
                </a:solidFill>
              </a:rPr>
              <a:t>선출원</a:t>
            </a:r>
            <a:r>
              <a:rPr lang="ko-KR" altLang="en-US" sz="1200" dirty="0">
                <a:solidFill>
                  <a:schemeClr val="tx1"/>
                </a:solidFill>
              </a:rPr>
              <a:t> 위반으로 특허를 받을 수 없게 될 수도 있다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150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FFEFA8-BCE6-480F-8D93-8317F43247F4}"/>
              </a:ext>
            </a:extLst>
          </p:cNvPr>
          <p:cNvSpPr txBox="1"/>
          <p:nvPr/>
        </p:nvSpPr>
        <p:spPr>
          <a:xfrm>
            <a:off x="5351571" y="4117906"/>
            <a:ext cx="1739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</a:t>
            </a:r>
            <a:r>
              <a:rPr lang="ko-KR" altLang="en-US" dirty="0"/>
              <a:t>의 </a:t>
            </a:r>
            <a:r>
              <a:rPr lang="en-US" altLang="ko-KR" dirty="0"/>
              <a:t>A-</a:t>
            </a:r>
            <a:r>
              <a:rPr lang="ko-KR" altLang="en-US" dirty="0" err="1"/>
              <a:t>확선</a:t>
            </a:r>
            <a:r>
              <a:rPr lang="ko-KR" altLang="en-US" dirty="0"/>
              <a:t> 지위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7E215D-DEFB-4319-B5FA-40F53CBAAD04}"/>
              </a:ext>
            </a:extLst>
          </p:cNvPr>
          <p:cNvSpPr txBox="1"/>
          <p:nvPr/>
        </p:nvSpPr>
        <p:spPr>
          <a:xfrm>
            <a:off x="9072849" y="4117906"/>
            <a:ext cx="2169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</a:t>
            </a:r>
            <a:r>
              <a:rPr lang="ko-KR" altLang="en-US" dirty="0"/>
              <a:t>의 </a:t>
            </a:r>
            <a:r>
              <a:rPr lang="en-US" altLang="ko-KR" dirty="0"/>
              <a:t>A-</a:t>
            </a:r>
            <a:r>
              <a:rPr lang="ko-KR" altLang="en-US" dirty="0"/>
              <a:t>공지기술 지위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6B23906D-6989-495A-A4DD-95A0DF7F294E}"/>
              </a:ext>
            </a:extLst>
          </p:cNvPr>
          <p:cNvCxnSpPr>
            <a:stCxn id="66" idx="0"/>
          </p:cNvCxnSpPr>
          <p:nvPr/>
        </p:nvCxnSpPr>
        <p:spPr>
          <a:xfrm flipH="1" flipV="1">
            <a:off x="5571744" y="4600073"/>
            <a:ext cx="2243630" cy="1031649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도넛 6">
            <a:extLst>
              <a:ext uri="{FF2B5EF4-FFF2-40B4-BE49-F238E27FC236}">
                <a16:creationId xmlns:a16="http://schemas.microsoft.com/office/drawing/2014/main" id="{F8DD4BD2-68E0-4AF0-899C-F817C61F53B9}"/>
              </a:ext>
            </a:extLst>
          </p:cNvPr>
          <p:cNvSpPr/>
          <p:nvPr/>
        </p:nvSpPr>
        <p:spPr>
          <a:xfrm>
            <a:off x="9039189" y="5222989"/>
            <a:ext cx="244676" cy="244676"/>
          </a:xfrm>
          <a:prstGeom prst="donut">
            <a:avLst>
              <a:gd name="adj" fmla="val 13323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B66FB4FA-A191-4000-9BCE-579A5359ACE5}"/>
              </a:ext>
            </a:extLst>
          </p:cNvPr>
          <p:cNvCxnSpPr>
            <a:cxnSpLocks/>
            <a:stCxn id="66" idx="0"/>
          </p:cNvCxnSpPr>
          <p:nvPr/>
        </p:nvCxnSpPr>
        <p:spPr>
          <a:xfrm flipV="1">
            <a:off x="7815374" y="4626323"/>
            <a:ext cx="2118923" cy="1005399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도넛 6">
            <a:extLst>
              <a:ext uri="{FF2B5EF4-FFF2-40B4-BE49-F238E27FC236}">
                <a16:creationId xmlns:a16="http://schemas.microsoft.com/office/drawing/2014/main" id="{505C3EB3-0E6F-4ACF-BD91-95B895A36E79}"/>
              </a:ext>
            </a:extLst>
          </p:cNvPr>
          <p:cNvSpPr/>
          <p:nvPr/>
        </p:nvSpPr>
        <p:spPr>
          <a:xfrm>
            <a:off x="10353794" y="4934798"/>
            <a:ext cx="244676" cy="244676"/>
          </a:xfrm>
          <a:prstGeom prst="donut">
            <a:avLst>
              <a:gd name="adj" fmla="val 13323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8ECDF4F4-BB9F-453E-8193-A5A2735C9A85}"/>
              </a:ext>
            </a:extLst>
          </p:cNvPr>
          <p:cNvCxnSpPr>
            <a:cxnSpLocks/>
            <a:stCxn id="73" idx="0"/>
          </p:cNvCxnSpPr>
          <p:nvPr/>
        </p:nvCxnSpPr>
        <p:spPr>
          <a:xfrm flipH="1" flipV="1">
            <a:off x="6693561" y="4619140"/>
            <a:ext cx="3464800" cy="1012582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CA5A1B32-6936-4122-BAC4-9D2884A0F8B5}"/>
              </a:ext>
            </a:extLst>
          </p:cNvPr>
          <p:cNvCxnSpPr>
            <a:cxnSpLocks/>
            <a:stCxn id="73" idx="0"/>
          </p:cNvCxnSpPr>
          <p:nvPr/>
        </p:nvCxnSpPr>
        <p:spPr>
          <a:xfrm flipV="1">
            <a:off x="10158361" y="4619140"/>
            <a:ext cx="558486" cy="1012582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곱셈 기호 58">
            <a:extLst>
              <a:ext uri="{FF2B5EF4-FFF2-40B4-BE49-F238E27FC236}">
                <a16:creationId xmlns:a16="http://schemas.microsoft.com/office/drawing/2014/main" id="{F794D9C6-AB39-4DC2-8D65-E6DEC94DFA7D}"/>
              </a:ext>
            </a:extLst>
          </p:cNvPr>
          <p:cNvSpPr/>
          <p:nvPr/>
        </p:nvSpPr>
        <p:spPr>
          <a:xfrm>
            <a:off x="6474884" y="4946416"/>
            <a:ext cx="369534" cy="355654"/>
          </a:xfrm>
          <a:prstGeom prst="mathMultiply">
            <a:avLst>
              <a:gd name="adj1" fmla="val 1369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곱셈 기호 58">
            <a:extLst>
              <a:ext uri="{FF2B5EF4-FFF2-40B4-BE49-F238E27FC236}">
                <a16:creationId xmlns:a16="http://schemas.microsoft.com/office/drawing/2014/main" id="{5E77CE06-0DD3-47AB-AA47-CE85855E1B45}"/>
              </a:ext>
            </a:extLst>
          </p:cNvPr>
          <p:cNvSpPr/>
          <p:nvPr/>
        </p:nvSpPr>
        <p:spPr>
          <a:xfrm>
            <a:off x="8153995" y="5179474"/>
            <a:ext cx="369534" cy="355654"/>
          </a:xfrm>
          <a:prstGeom prst="mathMultiply">
            <a:avLst>
              <a:gd name="adj1" fmla="val 1369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43D5EE-6544-4823-AC81-20F67DD7A7D4}"/>
              </a:ext>
            </a:extLst>
          </p:cNvPr>
          <p:cNvSpPr txBox="1"/>
          <p:nvPr/>
        </p:nvSpPr>
        <p:spPr>
          <a:xfrm>
            <a:off x="6162454" y="6272041"/>
            <a:ext cx="5862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* </a:t>
            </a:r>
            <a:r>
              <a:rPr lang="ko-KR" altLang="en-US" sz="1400" dirty="0">
                <a:solidFill>
                  <a:srgbClr val="FF0000"/>
                </a:solidFill>
              </a:rPr>
              <a:t>乙 출원의 심사청구시기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심사청구순서에 따라 공개 전후에 거절결정확정가능</a:t>
            </a:r>
          </a:p>
        </p:txBody>
      </p:sp>
    </p:spTree>
    <p:extLst>
      <p:ext uri="{BB962C8B-B14F-4D97-AF65-F5344CB8AC3E}">
        <p14:creationId xmlns:p14="http://schemas.microsoft.com/office/powerpoint/2010/main" val="3678071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30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공지예외적용주장이 </a:t>
            </a:r>
            <a:r>
              <a:rPr lang="ko-KR" altLang="en-US" dirty="0" err="1"/>
              <a:t>부적법한</a:t>
            </a:r>
            <a:r>
              <a:rPr lang="ko-KR" altLang="en-US" dirty="0"/>
              <a:t> 경우의 취급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/>
              <a:t>출원인이</a:t>
            </a:r>
            <a:r>
              <a:rPr lang="ko-KR" altLang="en-US" sz="1400" dirty="0"/>
              <a:t> 공지예외적용주장출원을 하였으나</a:t>
            </a:r>
            <a:r>
              <a:rPr lang="en-US" altLang="ko-KR" sz="1400" dirty="0"/>
              <a:t>, </a:t>
            </a:r>
            <a:r>
              <a:rPr lang="ko-KR" altLang="en-US" sz="1400" dirty="0"/>
              <a:t>공지예외적용주장이 방식에 위반된 경우 지식재산처장은 그 흠결을 지적하여 보정명령을 하고 보정명령에도 불구하고 보정하지 않거나 보정에 의하여 흠결이 치유되지 아니한 경우 그 보정명령을 한 절차인 </a:t>
            </a:r>
            <a:r>
              <a:rPr lang="ko-KR" altLang="en-US" sz="1400" dirty="0" err="1">
                <a:highlight>
                  <a:srgbClr val="FFFF00"/>
                </a:highlight>
              </a:rPr>
              <a:t>공지예외적용주장</a:t>
            </a:r>
            <a:r>
              <a:rPr lang="ko-KR" altLang="en-US" sz="1400" dirty="0" err="1"/>
              <a:t>을</a:t>
            </a:r>
            <a:r>
              <a:rPr lang="ko-KR" altLang="en-US" sz="1400" dirty="0"/>
              <a:t> 무효로 할 수 있다</a:t>
            </a:r>
            <a:r>
              <a:rPr lang="en-US" altLang="ko-KR" sz="1400" dirty="0"/>
              <a:t>. </a:t>
            </a:r>
            <a:r>
              <a:rPr lang="ko-KR" altLang="en-US" sz="1400" dirty="0">
                <a:highlight>
                  <a:srgbClr val="FFFF00"/>
                </a:highlight>
              </a:rPr>
              <a:t>출원</a:t>
            </a:r>
            <a:r>
              <a:rPr lang="ko-KR" altLang="en-US" sz="1400" dirty="0"/>
              <a:t>은 공지예외적용주장을 하지 아니한 출원이 되기 때문에 심사관은 공지예외적용을 주장한 공지기술에 의하여 출원된 발명의 </a:t>
            </a:r>
            <a:r>
              <a:rPr lang="ko-KR" altLang="en-US" sz="1400" dirty="0" err="1"/>
              <a:t>신규성</a:t>
            </a:r>
            <a:r>
              <a:rPr lang="ko-KR" altLang="en-US" sz="1400" dirty="0"/>
              <a:t> 또는 진보성을 판단하여야 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172341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14"/>
          <p:cNvSpPr>
            <a:spLocks noChangeArrowheads="1"/>
          </p:cNvSpPr>
          <p:nvPr/>
        </p:nvSpPr>
        <p:spPr bwMode="auto">
          <a:xfrm>
            <a:off x="2401540" y="5665365"/>
            <a:ext cx="5448867" cy="325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ko-KR" sz="2000" b="0" dirty="0">
                <a:solidFill>
                  <a:srgbClr val="FF0000"/>
                </a:solidFill>
                <a:latin typeface="+mj-ea"/>
                <a:ea typeface="+mj-ea"/>
              </a:rPr>
              <a:t>- </a:t>
            </a:r>
            <a:r>
              <a:rPr lang="ko-KR" altLang="en-US" sz="2000" b="0" dirty="0" err="1">
                <a:solidFill>
                  <a:srgbClr val="FF0000"/>
                </a:solidFill>
                <a:latin typeface="+mj-ea"/>
                <a:ea typeface="+mj-ea"/>
              </a:rPr>
              <a:t>부적법한</a:t>
            </a:r>
            <a:r>
              <a:rPr lang="ko-KR" altLang="en-US" sz="2000" b="0" dirty="0">
                <a:solidFill>
                  <a:srgbClr val="FF0000"/>
                </a:solidFill>
                <a:latin typeface="+mj-ea"/>
                <a:ea typeface="+mj-ea"/>
              </a:rPr>
              <a:t> 경우 방식위반으로 처리하여 </a:t>
            </a:r>
            <a:r>
              <a:rPr lang="ko-KR" altLang="en-US" sz="2000" b="0" dirty="0" err="1">
                <a:solidFill>
                  <a:srgbClr val="FF0000"/>
                </a:solidFill>
                <a:latin typeface="+mj-ea"/>
                <a:ea typeface="+mj-ea"/>
              </a:rPr>
              <a:t>보정명령후</a:t>
            </a:r>
            <a:r>
              <a:rPr lang="ko-KR" altLang="en-US" sz="2000" b="0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altLang="en-US" sz="2000" b="0" dirty="0">
                <a:solidFill>
                  <a:srgbClr val="FF0000"/>
                </a:solidFill>
                <a:highlight>
                  <a:srgbClr val="FFFF00"/>
                </a:highlight>
                <a:latin typeface="+mj-ea"/>
                <a:ea typeface="+mj-ea"/>
              </a:rPr>
              <a:t>공지예외적용주장</a:t>
            </a:r>
            <a:r>
              <a:rPr lang="ko-KR" altLang="en-US" sz="2000" b="0" dirty="0">
                <a:solidFill>
                  <a:srgbClr val="FF0000"/>
                </a:solidFill>
                <a:latin typeface="+mj-ea"/>
                <a:ea typeface="+mj-ea"/>
              </a:rPr>
              <a:t>을 무효 처분</a:t>
            </a:r>
            <a:endParaRPr lang="en-US" altLang="ko-KR" sz="2000" b="0" dirty="0">
              <a:solidFill>
                <a:srgbClr val="FF0000"/>
              </a:solidFill>
              <a:latin typeface="+mj-ea"/>
              <a:ea typeface="+mj-ea"/>
            </a:endParaRPr>
          </a:p>
          <a:p>
            <a:r>
              <a:rPr lang="en-US" altLang="ko-KR" sz="2000" dirty="0">
                <a:solidFill>
                  <a:srgbClr val="FF0000"/>
                </a:solidFill>
                <a:latin typeface="+mj-ea"/>
                <a:ea typeface="+mj-ea"/>
              </a:rPr>
              <a:t>- </a:t>
            </a:r>
            <a:r>
              <a:rPr lang="ko-KR" altLang="en-US" sz="2000" dirty="0">
                <a:solidFill>
                  <a:srgbClr val="FF0000"/>
                </a:solidFill>
                <a:latin typeface="+mj-ea"/>
                <a:ea typeface="+mj-ea"/>
              </a:rPr>
              <a:t>무효가 된 경우 공지예외적용주장은 처음부터 없었던 것으로 간주</a:t>
            </a:r>
            <a:endParaRPr lang="ko-KR" altLang="en-US" sz="2000" b="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6875456" y="2488307"/>
            <a:ext cx="4306894" cy="25015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9" name="직사각형 28"/>
          <p:cNvSpPr/>
          <p:nvPr/>
        </p:nvSpPr>
        <p:spPr>
          <a:xfrm>
            <a:off x="542925" y="2488307"/>
            <a:ext cx="4306894" cy="25015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cxnSp>
        <p:nvCxnSpPr>
          <p:cNvPr id="30" name="직선 화살표 연결선 29"/>
          <p:cNvCxnSpPr/>
          <p:nvPr/>
        </p:nvCxnSpPr>
        <p:spPr>
          <a:xfrm>
            <a:off x="1351194" y="3321991"/>
            <a:ext cx="2569021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14"/>
          <p:cNvSpPr>
            <a:spLocks noChangeArrowheads="1"/>
          </p:cNvSpPr>
          <p:nvPr/>
        </p:nvSpPr>
        <p:spPr bwMode="auto">
          <a:xfrm>
            <a:off x="2405944" y="3155394"/>
            <a:ext cx="351583" cy="333193"/>
          </a:xfrm>
          <a:prstGeom prst="ellipse">
            <a:avLst/>
          </a:prstGeom>
          <a:solidFill>
            <a:schemeClr val="accent4"/>
          </a:solidFill>
          <a:ln w="2857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100" b="0" dirty="0">
              <a:latin typeface="+mj-ea"/>
              <a:ea typeface="+mj-ea"/>
            </a:endParaRPr>
          </a:p>
        </p:txBody>
      </p:sp>
      <p:sp>
        <p:nvSpPr>
          <p:cNvPr id="32" name="Rectangle 14"/>
          <p:cNvSpPr>
            <a:spLocks noChangeArrowheads="1"/>
          </p:cNvSpPr>
          <p:nvPr/>
        </p:nvSpPr>
        <p:spPr bwMode="auto">
          <a:xfrm>
            <a:off x="843863" y="4279480"/>
            <a:ext cx="1406333" cy="37686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90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solidFill>
                  <a:schemeClr val="bg1"/>
                </a:solidFill>
                <a:latin typeface="+mj-ea"/>
                <a:ea typeface="+mj-ea"/>
              </a:rPr>
              <a:t>공지예외적용주장</a:t>
            </a:r>
          </a:p>
        </p:txBody>
      </p:sp>
      <p:sp>
        <p:nvSpPr>
          <p:cNvPr id="33" name="Rectangle 14"/>
          <p:cNvSpPr>
            <a:spLocks noChangeArrowheads="1"/>
          </p:cNvSpPr>
          <p:nvPr/>
        </p:nvSpPr>
        <p:spPr bwMode="auto">
          <a:xfrm>
            <a:off x="2401540" y="4279480"/>
            <a:ext cx="376030" cy="3768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4400" b="0" dirty="0">
                <a:latin typeface="+mj-ea"/>
                <a:ea typeface="+mj-ea"/>
              </a:rPr>
              <a:t>+</a:t>
            </a:r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2896068" y="4279480"/>
            <a:ext cx="1406333" cy="37686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190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solidFill>
                  <a:schemeClr val="bg1"/>
                </a:solidFill>
                <a:latin typeface="+mj-ea"/>
                <a:ea typeface="+mj-ea"/>
              </a:rPr>
              <a:t>특허출원</a:t>
            </a:r>
          </a:p>
        </p:txBody>
      </p:sp>
      <p:cxnSp>
        <p:nvCxnSpPr>
          <p:cNvPr id="35" name="직선 화살표 연결선 34"/>
          <p:cNvCxnSpPr>
            <a:stCxn id="32" idx="0"/>
            <a:endCxn id="31" idx="3"/>
          </p:cNvCxnSpPr>
          <p:nvPr/>
        </p:nvCxnSpPr>
        <p:spPr>
          <a:xfrm flipV="1">
            <a:off x="1547029" y="3439792"/>
            <a:ext cx="910403" cy="839688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>
            <a:stCxn id="34" idx="0"/>
            <a:endCxn id="31" idx="5"/>
          </p:cNvCxnSpPr>
          <p:nvPr/>
        </p:nvCxnSpPr>
        <p:spPr>
          <a:xfrm flipH="1" flipV="1">
            <a:off x="2706039" y="3439792"/>
            <a:ext cx="893195" cy="839688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>
            <a:off x="7348151" y="3321991"/>
            <a:ext cx="2569021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14"/>
          <p:cNvSpPr>
            <a:spLocks noChangeArrowheads="1"/>
          </p:cNvSpPr>
          <p:nvPr/>
        </p:nvSpPr>
        <p:spPr bwMode="auto">
          <a:xfrm>
            <a:off x="8402901" y="3155394"/>
            <a:ext cx="351583" cy="333193"/>
          </a:xfrm>
          <a:prstGeom prst="ellipse">
            <a:avLst/>
          </a:prstGeom>
          <a:solidFill>
            <a:schemeClr val="accent4"/>
          </a:solidFill>
          <a:ln w="2857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100" b="0" dirty="0">
              <a:latin typeface="+mj-ea"/>
              <a:ea typeface="+mj-ea"/>
            </a:endParaRPr>
          </a:p>
        </p:txBody>
      </p:sp>
      <p:sp>
        <p:nvSpPr>
          <p:cNvPr id="43" name="Rectangle 14"/>
          <p:cNvSpPr>
            <a:spLocks noChangeArrowheads="1"/>
          </p:cNvSpPr>
          <p:nvPr/>
        </p:nvSpPr>
        <p:spPr bwMode="auto">
          <a:xfrm>
            <a:off x="8398497" y="4279480"/>
            <a:ext cx="376030" cy="3768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47" name="Rectangle 14"/>
          <p:cNvSpPr>
            <a:spLocks noChangeArrowheads="1"/>
          </p:cNvSpPr>
          <p:nvPr/>
        </p:nvSpPr>
        <p:spPr bwMode="auto">
          <a:xfrm>
            <a:off x="8893025" y="4279480"/>
            <a:ext cx="1406333" cy="37686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190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solidFill>
                  <a:schemeClr val="bg1"/>
                </a:solidFill>
                <a:latin typeface="+mj-ea"/>
                <a:ea typeface="+mj-ea"/>
              </a:rPr>
              <a:t>특허출원</a:t>
            </a:r>
          </a:p>
        </p:txBody>
      </p:sp>
      <p:cxnSp>
        <p:nvCxnSpPr>
          <p:cNvPr id="49" name="직선 화살표 연결선 48"/>
          <p:cNvCxnSpPr>
            <a:stCxn id="47" idx="0"/>
            <a:endCxn id="40" idx="5"/>
          </p:cNvCxnSpPr>
          <p:nvPr/>
        </p:nvCxnSpPr>
        <p:spPr>
          <a:xfrm flipH="1" flipV="1">
            <a:off x="8702996" y="3439792"/>
            <a:ext cx="893195" cy="839688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오른쪽 화살표 50"/>
          <p:cNvSpPr/>
          <p:nvPr/>
        </p:nvSpPr>
        <p:spPr>
          <a:xfrm>
            <a:off x="5238652" y="3086211"/>
            <a:ext cx="1318437" cy="1250788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accent5">
                    <a:lumMod val="75000"/>
                  </a:schemeClr>
                </a:solidFill>
              </a:rPr>
              <a:t>효과</a:t>
            </a:r>
          </a:p>
        </p:txBody>
      </p:sp>
      <p:cxnSp>
        <p:nvCxnSpPr>
          <p:cNvPr id="50" name="꺾인 연결선 49"/>
          <p:cNvCxnSpPr>
            <a:stCxn id="32" idx="2"/>
            <a:endCxn id="42" idx="1"/>
          </p:cNvCxnSpPr>
          <p:nvPr/>
        </p:nvCxnSpPr>
        <p:spPr>
          <a:xfrm rot="16200000" flipH="1">
            <a:off x="1388413" y="4814957"/>
            <a:ext cx="1171744" cy="854510"/>
          </a:xfrm>
          <a:prstGeom prst="bentConnector2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사각형 설명선 1"/>
          <p:cNvSpPr/>
          <p:nvPr/>
        </p:nvSpPr>
        <p:spPr>
          <a:xfrm>
            <a:off x="3724275" y="3711605"/>
            <a:ext cx="1401698" cy="469870"/>
          </a:xfrm>
          <a:prstGeom prst="wedgeRoundRectCallout">
            <a:avLst>
              <a:gd name="adj1" fmla="val -33065"/>
              <a:gd name="adj2" fmla="val 64527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특허결정해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 달라</a:t>
            </a:r>
          </a:p>
        </p:txBody>
      </p:sp>
      <p:sp>
        <p:nvSpPr>
          <p:cNvPr id="24" name="모서리가 둥근 사각형 설명선 23"/>
          <p:cNvSpPr/>
          <p:nvPr/>
        </p:nvSpPr>
        <p:spPr>
          <a:xfrm>
            <a:off x="145331" y="3440962"/>
            <a:ext cx="1483444" cy="692888"/>
          </a:xfrm>
          <a:prstGeom prst="wedgeRoundRectCallout">
            <a:avLst>
              <a:gd name="adj1" fmla="val 25374"/>
              <a:gd name="adj2" fmla="val 65901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공지가 안 된 것으로 간주해 달라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800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도넛 6"/>
          <p:cNvSpPr/>
          <p:nvPr/>
        </p:nvSpPr>
        <p:spPr>
          <a:xfrm>
            <a:off x="6844724" y="3985043"/>
            <a:ext cx="982766" cy="982766"/>
          </a:xfrm>
          <a:prstGeom prst="donut">
            <a:avLst>
              <a:gd name="adj" fmla="val 13323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2" name="곱셈 기호 101"/>
          <p:cNvSpPr/>
          <p:nvPr/>
        </p:nvSpPr>
        <p:spPr>
          <a:xfrm>
            <a:off x="4944974" y="2387649"/>
            <a:ext cx="1524192" cy="1551962"/>
          </a:xfrm>
          <a:prstGeom prst="mathMultiply">
            <a:avLst>
              <a:gd name="adj1" fmla="val 849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30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공지예외적용사유가 아닌 공지가 있는 경우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highlight>
                  <a:srgbClr val="FFFF00"/>
                </a:highlight>
              </a:rPr>
              <a:t>공지예외적용사유</a:t>
            </a:r>
            <a:r>
              <a:rPr lang="en-US" altLang="ko-KR" sz="1400" dirty="0"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highlight>
                  <a:srgbClr val="FFFF00"/>
                </a:highlight>
              </a:rPr>
              <a:t>法 </a:t>
            </a:r>
            <a:r>
              <a:rPr lang="en-US" altLang="ko-KR" sz="1400" dirty="0">
                <a:highlight>
                  <a:srgbClr val="FFFF00"/>
                </a:highlight>
              </a:rPr>
              <a:t>30①</a:t>
            </a:r>
            <a:r>
              <a:rPr lang="ko-KR" altLang="en-US" sz="1400" dirty="0">
                <a:highlight>
                  <a:srgbClr val="FFFF00"/>
                </a:highlight>
              </a:rPr>
              <a:t>각호</a:t>
            </a:r>
            <a:r>
              <a:rPr lang="en-US" altLang="ko-KR" sz="1400" dirty="0">
                <a:highlight>
                  <a:srgbClr val="FFFF00"/>
                </a:highlight>
              </a:rPr>
              <a:t>)</a:t>
            </a:r>
            <a:r>
              <a:rPr lang="ko-KR" altLang="en-US" sz="1400" dirty="0">
                <a:highlight>
                  <a:srgbClr val="FFFF00"/>
                </a:highlight>
              </a:rPr>
              <a:t>가 아닌 다른 사유로 공지된 경우</a:t>
            </a:r>
            <a:r>
              <a:rPr lang="ko-KR" altLang="en-US" sz="1400" dirty="0">
                <a:solidFill>
                  <a:schemeClr val="tx2"/>
                </a:solidFill>
              </a:rPr>
              <a:t>에는 다른 공지에 의하여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특허출원된</a:t>
            </a:r>
            <a:r>
              <a:rPr lang="ko-KR" altLang="en-US" sz="1400" dirty="0">
                <a:solidFill>
                  <a:schemeClr val="tx2"/>
                </a:solidFill>
              </a:rPr>
              <a:t> 발명의 신규성 또는 진보성을 판단하여야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예를 들어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공지예외적용사유에 해당하는 공지가 있는 날과 특허출원일 사이에 </a:t>
            </a:r>
            <a:r>
              <a:rPr lang="ko-KR" altLang="en-US" sz="1400" dirty="0" err="1">
                <a:solidFill>
                  <a:schemeClr val="tx2"/>
                </a:solidFill>
              </a:rPr>
              <a:t>출원발명과</a:t>
            </a:r>
            <a:r>
              <a:rPr lang="ko-KR" altLang="en-US" sz="1400" dirty="0">
                <a:solidFill>
                  <a:schemeClr val="tx2"/>
                </a:solidFill>
              </a:rPr>
              <a:t> 동일한 발명에 대하여 공지예외적용사유가 아닌 공지가 있는 경우 그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특허출원된</a:t>
            </a:r>
            <a:r>
              <a:rPr lang="ko-KR" altLang="en-US" sz="1400" dirty="0">
                <a:solidFill>
                  <a:schemeClr val="tx2"/>
                </a:solidFill>
              </a:rPr>
              <a:t> 발명은 신규성이 없는 것으로 하여 </a:t>
            </a:r>
            <a:r>
              <a:rPr lang="ko-KR" altLang="en-US" sz="1400" dirty="0" err="1">
                <a:solidFill>
                  <a:schemeClr val="tx2"/>
                </a:solidFill>
              </a:rPr>
              <a:t>특허거절결정된다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172471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/>
          <p:cNvCxnSpPr/>
          <p:nvPr/>
        </p:nvCxnSpPr>
        <p:spPr>
          <a:xfrm>
            <a:off x="514350" y="3748083"/>
            <a:ext cx="11040533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1298793" y="3007770"/>
            <a:ext cx="1484624" cy="32863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400" dirty="0"/>
              <a:t>甲 </a:t>
            </a:r>
            <a:r>
              <a:rPr lang="en-US" altLang="ko-KR" sz="1400" dirty="0"/>
              <a:t>A</a:t>
            </a:r>
            <a:r>
              <a:rPr lang="ko-KR" altLang="en-US" sz="1400" dirty="0"/>
              <a:t> 발명</a:t>
            </a:r>
          </a:p>
        </p:txBody>
      </p:sp>
      <p:cxnSp>
        <p:nvCxnSpPr>
          <p:cNvPr id="80" name="직선 화살표 연결선 79"/>
          <p:cNvCxnSpPr>
            <a:stCxn id="79" idx="2"/>
          </p:cNvCxnSpPr>
          <p:nvPr/>
        </p:nvCxnSpPr>
        <p:spPr>
          <a:xfrm>
            <a:off x="2041105" y="3336409"/>
            <a:ext cx="0" cy="35565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/>
          <p:cNvCxnSpPr>
            <a:stCxn id="84" idx="0"/>
          </p:cNvCxnSpPr>
          <p:nvPr/>
        </p:nvCxnSpPr>
        <p:spPr>
          <a:xfrm flipV="1">
            <a:off x="3143436" y="3810537"/>
            <a:ext cx="0" cy="50742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4944974" y="3007770"/>
            <a:ext cx="1524192" cy="32863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400" dirty="0"/>
              <a:t>甲 </a:t>
            </a:r>
            <a:r>
              <a:rPr lang="en-US" altLang="ko-KR" sz="1400" dirty="0"/>
              <a:t>A</a:t>
            </a:r>
            <a:r>
              <a:rPr lang="ko-KR" altLang="en-US" sz="1400" dirty="0"/>
              <a:t> 간행물 발표</a:t>
            </a:r>
          </a:p>
        </p:txBody>
      </p:sp>
      <p:cxnSp>
        <p:nvCxnSpPr>
          <p:cNvPr id="83" name="직선 화살표 연결선 82"/>
          <p:cNvCxnSpPr>
            <a:stCxn id="82" idx="2"/>
          </p:cNvCxnSpPr>
          <p:nvPr/>
        </p:nvCxnSpPr>
        <p:spPr>
          <a:xfrm>
            <a:off x="5707070" y="3336409"/>
            <a:ext cx="0" cy="35565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2468860" y="4317963"/>
            <a:ext cx="1349152" cy="3286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400" dirty="0"/>
              <a:t>乙 </a:t>
            </a:r>
            <a:r>
              <a:rPr lang="en-US" altLang="ko-KR" sz="1400" dirty="0"/>
              <a:t>A</a:t>
            </a:r>
            <a:r>
              <a:rPr lang="ko-KR" altLang="en-US" sz="1400" dirty="0"/>
              <a:t> 발명</a:t>
            </a:r>
          </a:p>
        </p:txBody>
      </p:sp>
      <p:sp>
        <p:nvSpPr>
          <p:cNvPr id="97" name="모서리가 둥근 사각형 설명선 96"/>
          <p:cNvSpPr/>
          <p:nvPr/>
        </p:nvSpPr>
        <p:spPr>
          <a:xfrm>
            <a:off x="3517826" y="5535468"/>
            <a:ext cx="8536060" cy="466725"/>
          </a:xfrm>
          <a:prstGeom prst="wedgeRoundRectCallout">
            <a:avLst>
              <a:gd name="adj1" fmla="val -36119"/>
              <a:gd name="adj2" fmla="val -214443"/>
              <a:gd name="adj3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rgbClr val="FF0000"/>
                </a:solidFill>
              </a:rPr>
              <a:t>특허를 받을 수 있는 권리를 가진 자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甲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r>
              <a:rPr lang="ko-KR" altLang="en-US" dirty="0">
                <a:solidFill>
                  <a:srgbClr val="FF0000"/>
                </a:solidFill>
              </a:rPr>
              <a:t>의 발명이 아니기 때문에 공지예외적용주장 不可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661531" y="4317963"/>
            <a:ext cx="1349152" cy="3286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400" dirty="0"/>
              <a:t>乙 </a:t>
            </a:r>
            <a:r>
              <a:rPr lang="en-US" altLang="ko-KR" sz="1400" dirty="0"/>
              <a:t>A</a:t>
            </a:r>
            <a:r>
              <a:rPr lang="ko-KR" altLang="en-US" sz="1400" dirty="0"/>
              <a:t> </a:t>
            </a:r>
            <a:r>
              <a:rPr lang="ko-KR" altLang="en-US" sz="1400" dirty="0" err="1"/>
              <a:t>공연실시</a:t>
            </a:r>
            <a:endParaRPr lang="ko-KR" altLang="en-US" sz="1400" dirty="0"/>
          </a:p>
        </p:txBody>
      </p:sp>
      <p:sp>
        <p:nvSpPr>
          <p:cNvPr id="99" name="TextBox 98"/>
          <p:cNvSpPr txBox="1"/>
          <p:nvPr/>
        </p:nvSpPr>
        <p:spPr>
          <a:xfrm>
            <a:off x="7978731" y="3007770"/>
            <a:ext cx="2179630" cy="32863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400" dirty="0"/>
              <a:t>甲 </a:t>
            </a:r>
            <a:r>
              <a:rPr lang="en-US" altLang="ko-KR" sz="1400" dirty="0"/>
              <a:t>A</a:t>
            </a:r>
            <a:r>
              <a:rPr lang="ko-KR" altLang="en-US" sz="1400" dirty="0"/>
              <a:t> </a:t>
            </a:r>
            <a:r>
              <a:rPr lang="ko-KR" altLang="en-US" sz="1400" dirty="0" err="1"/>
              <a:t>공지예외적용주장출원</a:t>
            </a:r>
            <a:endParaRPr lang="ko-KR" altLang="en-US" sz="1400" dirty="0"/>
          </a:p>
        </p:txBody>
      </p:sp>
      <p:cxnSp>
        <p:nvCxnSpPr>
          <p:cNvPr id="100" name="직선 화살표 연결선 99"/>
          <p:cNvCxnSpPr>
            <a:stCxn id="99" idx="2"/>
          </p:cNvCxnSpPr>
          <p:nvPr/>
        </p:nvCxnSpPr>
        <p:spPr>
          <a:xfrm flipH="1">
            <a:off x="9067088" y="3336409"/>
            <a:ext cx="1458" cy="35565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/>
          <p:cNvCxnSpPr/>
          <p:nvPr/>
        </p:nvCxnSpPr>
        <p:spPr>
          <a:xfrm flipV="1">
            <a:off x="7351218" y="3810537"/>
            <a:ext cx="0" cy="43051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/>
          <p:nvPr/>
        </p:nvCxnSpPr>
        <p:spPr>
          <a:xfrm flipH="1" flipV="1">
            <a:off x="7827490" y="4836920"/>
            <a:ext cx="507910" cy="698548"/>
          </a:xfrm>
          <a:prstGeom prst="straightConnector1">
            <a:avLst/>
          </a:prstGeom>
          <a:ln w="57150">
            <a:solidFill>
              <a:schemeClr val="accent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1909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6A51315-0237-9D7C-9BAB-F206940FC535}"/>
              </a:ext>
            </a:extLst>
          </p:cNvPr>
          <p:cNvSpPr/>
          <p:nvPr/>
        </p:nvSpPr>
        <p:spPr>
          <a:xfrm>
            <a:off x="6108568" y="2340330"/>
            <a:ext cx="3559307" cy="361024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C2F508E-3664-C61F-075F-16B85B8ABE45}"/>
              </a:ext>
            </a:extLst>
          </p:cNvPr>
          <p:cNvSpPr/>
          <p:nvPr/>
        </p:nvSpPr>
        <p:spPr>
          <a:xfrm>
            <a:off x="1590676" y="2340330"/>
            <a:ext cx="4519566" cy="361024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30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복수회에</a:t>
            </a:r>
            <a:r>
              <a:rPr lang="ko-KR" altLang="en-US" dirty="0"/>
              <a:t> 걸친 공지가 있는 경우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44250" y="3175"/>
            <a:ext cx="1047750" cy="7143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153</a:t>
            </a:fld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복수의 </a:t>
            </a:r>
            <a:r>
              <a:rPr lang="ko-KR" altLang="en-US" sz="1400" dirty="0" err="1">
                <a:solidFill>
                  <a:schemeClr val="tx2"/>
                </a:solidFill>
              </a:rPr>
              <a:t>공지행위가</a:t>
            </a:r>
            <a:r>
              <a:rPr lang="ko-KR" altLang="en-US" sz="1400" dirty="0">
                <a:solidFill>
                  <a:schemeClr val="tx2"/>
                </a:solidFill>
              </a:rPr>
              <a:t> 모두 공지예외적용사유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30①</a:t>
            </a:r>
            <a:r>
              <a:rPr lang="ko-KR" altLang="en-US" sz="1400" dirty="0">
                <a:solidFill>
                  <a:schemeClr val="tx2"/>
                </a:solidFill>
              </a:rPr>
              <a:t>각호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 해당하는 경우에는 모든 </a:t>
            </a:r>
            <a:r>
              <a:rPr lang="ko-KR" altLang="en-US" sz="1400" dirty="0" err="1">
                <a:solidFill>
                  <a:schemeClr val="tx2"/>
                </a:solidFill>
              </a:rPr>
              <a:t>공지행위에</a:t>
            </a:r>
            <a:r>
              <a:rPr lang="ko-KR" altLang="en-US" sz="1400" dirty="0">
                <a:solidFill>
                  <a:schemeClr val="tx2"/>
                </a:solidFill>
              </a:rPr>
              <a:t> 대하여 각각 공지예외적용주장을 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 경우 </a:t>
            </a:r>
            <a:r>
              <a:rPr lang="ko-KR" altLang="en-US" sz="1400" dirty="0" err="1">
                <a:solidFill>
                  <a:schemeClr val="tx2"/>
                </a:solidFill>
              </a:rPr>
              <a:t>출원인은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highlight>
                  <a:srgbClr val="FFFF00"/>
                </a:highlight>
              </a:rPr>
              <a:t>최선의 공지일로부터 </a:t>
            </a:r>
            <a:r>
              <a:rPr lang="en-US" altLang="ko-KR" sz="1400" dirty="0">
                <a:highlight>
                  <a:srgbClr val="FFFF00"/>
                </a:highlight>
              </a:rPr>
              <a:t>12</a:t>
            </a:r>
            <a:r>
              <a:rPr lang="ko-KR" altLang="en-US" sz="1400" dirty="0">
                <a:highlight>
                  <a:srgbClr val="FFFF00"/>
                </a:highlight>
              </a:rPr>
              <a:t>개월 이내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특허출원서에 그 취지를 적어 출원하고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이를 증명할 수 있는 서류를 총리령으로 정하는 방법에 따라 출원일로부터 </a:t>
            </a:r>
            <a:r>
              <a:rPr lang="en-US" altLang="ko-KR" sz="1400" dirty="0">
                <a:solidFill>
                  <a:schemeClr val="tx2"/>
                </a:solidFill>
              </a:rPr>
              <a:t>30</a:t>
            </a:r>
            <a:r>
              <a:rPr lang="ko-KR" altLang="en-US" sz="1400" dirty="0">
                <a:solidFill>
                  <a:schemeClr val="tx2"/>
                </a:solidFill>
              </a:rPr>
              <a:t>일 이내 각각 제출하여야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 특정한 어느 하나의 공지와 </a:t>
            </a:r>
            <a:r>
              <a:rPr lang="ko-KR" altLang="en-US" sz="1400" dirty="0">
                <a:highlight>
                  <a:srgbClr val="FFFF00"/>
                </a:highlight>
              </a:rPr>
              <a:t>밀접불가분의 관계에 있는 </a:t>
            </a:r>
            <a:r>
              <a:rPr lang="ko-KR" altLang="en-US" sz="1400" dirty="0" err="1">
                <a:highlight>
                  <a:srgbClr val="FFFF00"/>
                </a:highlight>
              </a:rPr>
              <a:t>복수회에</a:t>
            </a:r>
            <a:r>
              <a:rPr lang="ko-KR" altLang="en-US" sz="1400" dirty="0">
                <a:highlight>
                  <a:srgbClr val="FFFF00"/>
                </a:highlight>
              </a:rPr>
              <a:t> 걸친 공지일 경우에는 출원인의 편의를 위해 </a:t>
            </a:r>
            <a:r>
              <a:rPr lang="en-US" altLang="ko-KR" sz="1400" dirty="0">
                <a:highlight>
                  <a:srgbClr val="FFFF00"/>
                </a:highlight>
              </a:rPr>
              <a:t>2</a:t>
            </a:r>
            <a:r>
              <a:rPr lang="ko-KR" altLang="en-US" sz="1400" dirty="0">
                <a:highlight>
                  <a:srgbClr val="FFFF00"/>
                </a:highlight>
              </a:rPr>
              <a:t>번째 이후의 공지에 대해서는 </a:t>
            </a:r>
            <a:r>
              <a:rPr lang="ko-KR" altLang="en-US" sz="1400" dirty="0">
                <a:solidFill>
                  <a:srgbClr val="FF0000"/>
                </a:solidFill>
                <a:highlight>
                  <a:srgbClr val="FFFF00"/>
                </a:highlight>
              </a:rPr>
              <a:t>취지기재 및 </a:t>
            </a:r>
            <a:r>
              <a:rPr lang="ko-KR" altLang="en-US" sz="1400" dirty="0">
                <a:highlight>
                  <a:srgbClr val="FFFF00"/>
                </a:highlight>
              </a:rPr>
              <a:t>증명서류의 제출을 생략</a:t>
            </a:r>
            <a:r>
              <a:rPr lang="ko-KR" altLang="en-US" sz="1400" dirty="0">
                <a:solidFill>
                  <a:schemeClr val="tx2"/>
                </a:solidFill>
              </a:rPr>
              <a:t>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193835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/>
          <p:cNvCxnSpPr/>
          <p:nvPr/>
        </p:nvCxnSpPr>
        <p:spPr>
          <a:xfrm>
            <a:off x="514350" y="2680436"/>
            <a:ext cx="11040533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760408" y="2534219"/>
            <a:ext cx="1709327" cy="3256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A </a:t>
            </a:r>
            <a:r>
              <a:rPr lang="ko-KR" altLang="en-US" sz="1200" dirty="0"/>
              <a:t>박람회 출품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sp>
        <p:nvSpPr>
          <p:cNvPr id="99" name="TextBox 98"/>
          <p:cNvSpPr txBox="1"/>
          <p:nvPr/>
        </p:nvSpPr>
        <p:spPr>
          <a:xfrm>
            <a:off x="5305893" y="2541625"/>
            <a:ext cx="1608698" cy="3099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A</a:t>
            </a:r>
            <a:r>
              <a:rPr lang="ko-KR" altLang="en-US" sz="1200" dirty="0"/>
              <a:t> 특허출원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62673" y="2534219"/>
            <a:ext cx="1709327" cy="3256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A </a:t>
            </a:r>
            <a:r>
              <a:rPr lang="ko-KR" altLang="en-US" sz="1200" dirty="0"/>
              <a:t>논문발표</a:t>
            </a:r>
            <a:r>
              <a:rPr lang="en-US" altLang="ko-KR" sz="1200" dirty="0"/>
              <a:t>(Y)</a:t>
            </a:r>
            <a:endParaRPr lang="ko-KR" altLang="en-US" sz="1200" dirty="0"/>
          </a:p>
        </p:txBody>
      </p:sp>
      <p:sp>
        <p:nvSpPr>
          <p:cNvPr id="23" name="Rectangle 14"/>
          <p:cNvSpPr>
            <a:spLocks noChangeArrowheads="1"/>
          </p:cNvSpPr>
          <p:nvPr/>
        </p:nvSpPr>
        <p:spPr bwMode="auto">
          <a:xfrm>
            <a:off x="3274395" y="2015813"/>
            <a:ext cx="1152128" cy="325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j-ea"/>
                <a:ea typeface="+mj-ea"/>
              </a:rPr>
              <a:t>최선공지일로부터 </a:t>
            </a:r>
            <a:r>
              <a:rPr lang="en-US" altLang="ko-KR" sz="1200" dirty="0">
                <a:latin typeface="+mj-ea"/>
                <a:ea typeface="+mj-ea"/>
              </a:rPr>
              <a:t>12</a:t>
            </a:r>
            <a:r>
              <a:rPr lang="ko-KR" altLang="en-US" sz="1200" dirty="0">
                <a:latin typeface="+mj-ea"/>
                <a:ea typeface="+mj-ea"/>
              </a:rPr>
              <a:t>월 이내</a:t>
            </a:r>
          </a:p>
        </p:txBody>
      </p:sp>
      <p:sp>
        <p:nvSpPr>
          <p:cNvPr id="25" name="Rectangle 14"/>
          <p:cNvSpPr>
            <a:spLocks noChangeArrowheads="1"/>
          </p:cNvSpPr>
          <p:nvPr/>
        </p:nvSpPr>
        <p:spPr bwMode="auto">
          <a:xfrm>
            <a:off x="7312994" y="2015813"/>
            <a:ext cx="1152128" cy="325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200" b="0" dirty="0">
                <a:latin typeface="+mj-ea"/>
                <a:ea typeface="+mj-ea"/>
              </a:rPr>
              <a:t>30</a:t>
            </a:r>
            <a:r>
              <a:rPr lang="ko-KR" altLang="en-US" sz="1200" b="0" dirty="0">
                <a:latin typeface="+mj-ea"/>
                <a:ea typeface="+mj-ea"/>
              </a:rPr>
              <a:t>일 이내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3050" y="2541625"/>
            <a:ext cx="1009650" cy="3099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증명서류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2656725" y="2047163"/>
            <a:ext cx="3690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1200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99928" y="3063926"/>
            <a:ext cx="2687072" cy="5099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 rtlCol="0">
            <a:noAutofit/>
          </a:bodyPr>
          <a:lstStyle/>
          <a:p>
            <a:r>
              <a:rPr lang="ko-KR" altLang="en-US" sz="1200" dirty="0"/>
              <a:t>원칙</a:t>
            </a:r>
            <a:r>
              <a:rPr lang="en-US" altLang="ko-KR" sz="1200" dirty="0"/>
              <a:t>: X, Y </a:t>
            </a:r>
            <a:r>
              <a:rPr lang="ko-KR" altLang="en-US" sz="1200" dirty="0"/>
              <a:t>각각</a:t>
            </a:r>
            <a:endParaRPr lang="en-US" altLang="ko-KR" sz="1200" dirty="0"/>
          </a:p>
          <a:p>
            <a:r>
              <a:rPr lang="ko-KR" altLang="en-US" sz="1200" dirty="0"/>
              <a:t>예외</a:t>
            </a:r>
            <a:r>
              <a:rPr lang="en-US" altLang="ko-KR" sz="1200" dirty="0"/>
              <a:t>: </a:t>
            </a:r>
            <a:r>
              <a:rPr lang="ko-KR" altLang="en-US" sz="1200" dirty="0"/>
              <a:t>밀접불가분성이 있는 경우 </a:t>
            </a:r>
            <a:r>
              <a:rPr lang="en-US" altLang="ko-KR" sz="1200" dirty="0"/>
              <a:t>X</a:t>
            </a:r>
            <a:r>
              <a:rPr lang="ko-KR" altLang="en-US" sz="1200" dirty="0"/>
              <a:t>만</a:t>
            </a:r>
          </a:p>
        </p:txBody>
      </p:sp>
      <p:sp>
        <p:nvSpPr>
          <p:cNvPr id="35" name="직사각형 34"/>
          <p:cNvSpPr/>
          <p:nvPr/>
        </p:nvSpPr>
        <p:spPr bwMode="auto">
          <a:xfrm>
            <a:off x="77875" y="4109138"/>
            <a:ext cx="11936323" cy="1014837"/>
          </a:xfrm>
          <a:prstGeom prst="rect">
            <a:avLst/>
          </a:prstGeom>
          <a:ln>
            <a:solidFill>
              <a:schemeClr val="accent3"/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tIns="72000" bIns="72000" rtlCol="0" anchor="ctr"/>
          <a:lstStyle/>
          <a:p>
            <a:pPr fontAlgn="base"/>
            <a:r>
              <a:rPr lang="ko-KR" altLang="en-US" sz="1200" dirty="0"/>
              <a:t>신규성 또는 진보성 요건에 관한 원칙을 너무 엄격하게 적용하면 특허를 받을 수 있는 권리를 가진 자에게 지나치게 가혹하여 형평성을 잃게 되거나 산업의 발전을 도모하는 특허법의 취지에 맞지 않게 되는 경우가 생길 수 있으므로</a:t>
            </a:r>
            <a:r>
              <a:rPr lang="en-US" altLang="ko-KR" sz="1200" dirty="0"/>
              <a:t>, </a:t>
            </a:r>
            <a:r>
              <a:rPr lang="ko-KR" altLang="en-US" sz="1200" dirty="0"/>
              <a:t>예외적으로 일정한 요건과 절차를 갖춘 경우에는 특허를 받을 수 있는 권리를 가진 자의 발명이 특허출원 전에 공개되었다고 하더라도 그 발명은 공지 등이 되지 않은 것으로 취급하기 위하여 </a:t>
            </a:r>
            <a:r>
              <a:rPr lang="ko-KR" altLang="en-US" sz="1200" dirty="0" err="1"/>
              <a:t>공지예외</a:t>
            </a:r>
            <a:r>
              <a:rPr lang="ko-KR" altLang="en-US" sz="1200" dirty="0"/>
              <a:t> 규정을 둔 것이다</a:t>
            </a:r>
            <a:r>
              <a:rPr lang="en-US" altLang="ko-KR" sz="1200" dirty="0"/>
              <a:t>. </a:t>
            </a:r>
            <a:r>
              <a:rPr lang="ko-KR" altLang="en-US" sz="1200" dirty="0"/>
              <a:t>이러한 </a:t>
            </a:r>
            <a:r>
              <a:rPr lang="ko-KR" altLang="en-US" sz="1200" dirty="0" err="1"/>
              <a:t>공지예외</a:t>
            </a:r>
            <a:r>
              <a:rPr lang="ko-KR" altLang="en-US" sz="1200" dirty="0"/>
              <a:t> 규정의 문언과 취지에 비추어 보면</a:t>
            </a:r>
            <a:r>
              <a:rPr lang="en-US" altLang="ko-KR" sz="1200" dirty="0"/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특허를 받을 수 있는 권리를 가진 자가 특허법 제</a:t>
            </a:r>
            <a:r>
              <a:rPr lang="en-US" altLang="ko-KR" sz="1200" dirty="0">
                <a:solidFill>
                  <a:srgbClr val="FF0000"/>
                </a:solidFill>
              </a:rPr>
              <a:t>30</a:t>
            </a:r>
            <a:r>
              <a:rPr lang="ko-KR" altLang="en-US" sz="1200" dirty="0">
                <a:solidFill>
                  <a:srgbClr val="FF0000"/>
                </a:solidFill>
              </a:rPr>
              <a:t>조 제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항에서 정한 </a:t>
            </a:r>
            <a:r>
              <a:rPr lang="en-US" altLang="ko-KR" sz="1200" dirty="0">
                <a:solidFill>
                  <a:srgbClr val="FF0000"/>
                </a:solidFill>
              </a:rPr>
              <a:t>12</a:t>
            </a:r>
            <a:r>
              <a:rPr lang="ko-KR" altLang="en-US" sz="1200" dirty="0">
                <a:solidFill>
                  <a:srgbClr val="FF0000"/>
                </a:solidFill>
              </a:rPr>
              <a:t>개월의 기간 이내에 여러 번의 공개행위를 하고 그중 가장 먼저 공지된 발명에 대해서만 절차에 따라 </a:t>
            </a:r>
            <a:r>
              <a:rPr lang="ko-KR" altLang="en-US" sz="1200" dirty="0" err="1">
                <a:solidFill>
                  <a:srgbClr val="FF0000"/>
                </a:solidFill>
              </a:rPr>
              <a:t>공지예외</a:t>
            </a:r>
            <a:r>
              <a:rPr lang="ko-KR" altLang="en-US" sz="1200" dirty="0">
                <a:solidFill>
                  <a:srgbClr val="FF0000"/>
                </a:solidFill>
              </a:rPr>
              <a:t> 주장을 하였더라도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공지된 나머지 발명들이 가장 먼저 공지된 발명과 동일성이 인정되는 범위에 있다면 공지된 나머지 </a:t>
            </a:r>
            <a:r>
              <a:rPr lang="ko-KR" altLang="en-US" sz="1200" dirty="0" err="1">
                <a:solidFill>
                  <a:srgbClr val="FF0000"/>
                </a:solidFill>
              </a:rPr>
              <a:t>발명들에까지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 err="1">
                <a:solidFill>
                  <a:srgbClr val="FF0000"/>
                </a:solidFill>
              </a:rPr>
              <a:t>공지예외의</a:t>
            </a:r>
            <a:r>
              <a:rPr lang="ko-KR" altLang="en-US" sz="1200" dirty="0">
                <a:solidFill>
                  <a:srgbClr val="FF0000"/>
                </a:solidFill>
              </a:rPr>
              <a:t> 효과가 미친다고 보아야 한다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36" name="모서리가 둥근 직사각형 35"/>
          <p:cNvSpPr/>
          <p:nvPr/>
        </p:nvSpPr>
        <p:spPr bwMode="auto">
          <a:xfrm>
            <a:off x="129716" y="3784875"/>
            <a:ext cx="4242260" cy="288032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solidFill>
              <a:schemeClr val="accent3"/>
            </a:solidFill>
            <a:headEnd type="none" w="med" len="med"/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/>
            <a:r>
              <a:rPr lang="ko-KR" altLang="en-US" sz="1200" dirty="0"/>
              <a:t>대법원 </a:t>
            </a:r>
            <a:r>
              <a:rPr lang="en-US" altLang="ko-KR" sz="1200" dirty="0"/>
              <a:t>2025. 5. 29.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2023</a:t>
            </a:r>
            <a:r>
              <a:rPr lang="ko-KR" altLang="en-US" sz="1200" dirty="0"/>
              <a:t>후</a:t>
            </a:r>
            <a:r>
              <a:rPr lang="en-US" altLang="ko-KR" sz="1200" dirty="0"/>
              <a:t>10712 </a:t>
            </a:r>
            <a:r>
              <a:rPr lang="ko-KR" altLang="en-US" sz="1200" dirty="0"/>
              <a:t>판결 </a:t>
            </a:r>
            <a:r>
              <a:rPr lang="en-US" altLang="ko-KR" sz="1200" dirty="0"/>
              <a:t>【</a:t>
            </a:r>
            <a:r>
              <a:rPr lang="ko-KR" altLang="en-US" sz="1200" dirty="0"/>
              <a:t>등록무효</a:t>
            </a:r>
            <a:r>
              <a:rPr lang="en-US" altLang="ko-KR" sz="1200" dirty="0"/>
              <a:t>(</a:t>
            </a:r>
            <a:r>
              <a:rPr lang="ko-KR" altLang="en-US" sz="1200" dirty="0"/>
              <a:t>실</a:t>
            </a:r>
            <a:r>
              <a:rPr lang="en-US" altLang="ko-KR" sz="1200" dirty="0"/>
              <a:t>)】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7407725" y="2848009"/>
            <a:ext cx="3690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1200" dirty="0">
                <a:solidFill>
                  <a:srgbClr val="FF0000"/>
                </a:solidFill>
              </a:rPr>
              <a:t>❷</a:t>
            </a:r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B6E27161-AEE9-A545-C531-9C2E8805832F}"/>
              </a:ext>
            </a:extLst>
          </p:cNvPr>
          <p:cNvCxnSpPr>
            <a:cxnSpLocks/>
            <a:stCxn id="32" idx="1"/>
            <a:endCxn id="9" idx="2"/>
          </p:cNvCxnSpPr>
          <p:nvPr/>
        </p:nvCxnSpPr>
        <p:spPr>
          <a:xfrm rot="10800000">
            <a:off x="6110242" y="3164953"/>
            <a:ext cx="1489686" cy="153924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8435FE6-0AFB-D267-59D8-3CBD332E5EC8}"/>
              </a:ext>
            </a:extLst>
          </p:cNvPr>
          <p:cNvSpPr txBox="1"/>
          <p:nvPr/>
        </p:nvSpPr>
        <p:spPr>
          <a:xfrm>
            <a:off x="5305893" y="2855039"/>
            <a:ext cx="1608698" cy="3099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공지예외적용주장</a:t>
            </a:r>
            <a:endParaRPr lang="ko-KR" altLang="en-US" sz="1200" dirty="0"/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46D93756-D1F1-977D-F2A0-83F8B39755B5}"/>
              </a:ext>
            </a:extLst>
          </p:cNvPr>
          <p:cNvCxnSpPr>
            <a:stCxn id="32" idx="0"/>
            <a:endCxn id="28" idx="2"/>
          </p:cNvCxnSpPr>
          <p:nvPr/>
        </p:nvCxnSpPr>
        <p:spPr>
          <a:xfrm rot="5400000" flipH="1" flipV="1">
            <a:off x="9199476" y="2595528"/>
            <a:ext cx="212387" cy="72441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9DD14043-4C69-B028-1CD7-89EF48C3CC55}"/>
              </a:ext>
            </a:extLst>
          </p:cNvPr>
          <p:cNvCxnSpPr/>
          <p:nvPr/>
        </p:nvCxnSpPr>
        <p:spPr>
          <a:xfrm>
            <a:off x="514350" y="5833211"/>
            <a:ext cx="11040533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D65EF85-6C54-B72C-2834-4F177FD9552F}"/>
              </a:ext>
            </a:extLst>
          </p:cNvPr>
          <p:cNvSpPr txBox="1"/>
          <p:nvPr/>
        </p:nvSpPr>
        <p:spPr>
          <a:xfrm>
            <a:off x="2777547" y="5665671"/>
            <a:ext cx="1303758" cy="3256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공지 시약모델 </a:t>
            </a:r>
            <a:r>
              <a:rPr lang="en-US" altLang="ko-KR" sz="1200" dirty="0"/>
              <a:t>2</a:t>
            </a:r>
            <a:endParaRPr lang="ko-KR" altLang="en-US" sz="12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9CC9929-FFE5-FAB6-3F98-E90B66AD0FED}"/>
              </a:ext>
            </a:extLst>
          </p:cNvPr>
          <p:cNvSpPr/>
          <p:nvPr/>
        </p:nvSpPr>
        <p:spPr>
          <a:xfrm>
            <a:off x="2976404" y="6448425"/>
            <a:ext cx="914400" cy="3256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케이스</a:t>
            </a:r>
            <a:r>
              <a:rPr lang="en-US" altLang="ko-KR" sz="1200" dirty="0">
                <a:solidFill>
                  <a:schemeClr val="tx1"/>
                </a:solidFill>
              </a:rPr>
              <a:t>(B)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AB57B89B-F8CC-6229-AC08-F157FF09A0D4}"/>
              </a:ext>
            </a:extLst>
          </p:cNvPr>
          <p:cNvCxnSpPr>
            <a:cxnSpLocks/>
            <a:stCxn id="20" idx="0"/>
            <a:endCxn id="19" idx="2"/>
          </p:cNvCxnSpPr>
          <p:nvPr/>
        </p:nvCxnSpPr>
        <p:spPr>
          <a:xfrm rot="16200000" flipV="1">
            <a:off x="3202977" y="6217798"/>
            <a:ext cx="457077" cy="4178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11F182C-6621-9F25-AF15-FCC93D75DC5B}"/>
              </a:ext>
            </a:extLst>
          </p:cNvPr>
          <p:cNvSpPr txBox="1"/>
          <p:nvPr/>
        </p:nvSpPr>
        <p:spPr>
          <a:xfrm>
            <a:off x="4552209" y="5665671"/>
            <a:ext cx="1303758" cy="325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선행고안 </a:t>
            </a:r>
            <a:r>
              <a:rPr lang="en-US" altLang="ko-KR" sz="1200" dirty="0"/>
              <a:t>2</a:t>
            </a:r>
            <a:endParaRPr lang="ko-KR" altLang="en-US" sz="12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DD5E83B-48E1-17B9-E172-336EAED0A28E}"/>
              </a:ext>
            </a:extLst>
          </p:cNvPr>
          <p:cNvSpPr/>
          <p:nvPr/>
        </p:nvSpPr>
        <p:spPr>
          <a:xfrm>
            <a:off x="4751066" y="6448425"/>
            <a:ext cx="914400" cy="3256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케이스</a:t>
            </a:r>
            <a:r>
              <a:rPr lang="en-US" altLang="ko-KR" sz="1200" dirty="0">
                <a:solidFill>
                  <a:schemeClr val="tx1"/>
                </a:solidFill>
              </a:rPr>
              <a:t>(B)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98EAA1E5-1A21-3CA7-4EEA-B43845930C78}"/>
              </a:ext>
            </a:extLst>
          </p:cNvPr>
          <p:cNvCxnSpPr>
            <a:cxnSpLocks/>
            <a:stCxn id="40" idx="0"/>
            <a:endCxn id="39" idx="2"/>
          </p:cNvCxnSpPr>
          <p:nvPr/>
        </p:nvCxnSpPr>
        <p:spPr>
          <a:xfrm rot="16200000" flipV="1">
            <a:off x="4977639" y="6217798"/>
            <a:ext cx="457077" cy="4178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545629F-99C2-04B1-B4A0-47D63FB46A7C}"/>
              </a:ext>
            </a:extLst>
          </p:cNvPr>
          <p:cNvSpPr txBox="1"/>
          <p:nvPr/>
        </p:nvSpPr>
        <p:spPr>
          <a:xfrm>
            <a:off x="754067" y="5665671"/>
            <a:ext cx="1303758" cy="3256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공지 시약모델 </a:t>
            </a:r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6F636F7-4F4B-6321-723C-9025EE2ADBD4}"/>
              </a:ext>
            </a:extLst>
          </p:cNvPr>
          <p:cNvSpPr/>
          <p:nvPr/>
        </p:nvSpPr>
        <p:spPr>
          <a:xfrm>
            <a:off x="758244" y="6448425"/>
            <a:ext cx="1303760" cy="3256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케이스 </a:t>
            </a:r>
            <a:r>
              <a:rPr lang="ko-KR" altLang="en-US" sz="1200" dirty="0" err="1">
                <a:solidFill>
                  <a:schemeClr val="tx1"/>
                </a:solidFill>
              </a:rPr>
              <a:t>덮개부</a:t>
            </a:r>
            <a:r>
              <a:rPr lang="en-US" altLang="ko-KR" sz="1200" dirty="0">
                <a:solidFill>
                  <a:schemeClr val="tx1"/>
                </a:solidFill>
              </a:rPr>
              <a:t>(A)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7B160E6D-F8E9-F3D8-E56B-1880BB57E4B6}"/>
              </a:ext>
            </a:extLst>
          </p:cNvPr>
          <p:cNvCxnSpPr>
            <a:cxnSpLocks/>
            <a:stCxn id="43" idx="0"/>
            <a:endCxn id="42" idx="2"/>
          </p:cNvCxnSpPr>
          <p:nvPr/>
        </p:nvCxnSpPr>
        <p:spPr>
          <a:xfrm rot="16200000" flipV="1">
            <a:off x="1179497" y="6217798"/>
            <a:ext cx="457077" cy="4178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47EA227-C4AD-987A-6332-B9F9AC21E709}"/>
              </a:ext>
            </a:extLst>
          </p:cNvPr>
          <p:cNvSpPr txBox="1"/>
          <p:nvPr/>
        </p:nvSpPr>
        <p:spPr>
          <a:xfrm>
            <a:off x="7488985" y="5665671"/>
            <a:ext cx="1652412" cy="3256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특허출원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3B10225-2C0F-F19E-2F04-5BC4A28AE92F}"/>
              </a:ext>
            </a:extLst>
          </p:cNvPr>
          <p:cNvSpPr txBox="1"/>
          <p:nvPr/>
        </p:nvSpPr>
        <p:spPr>
          <a:xfrm>
            <a:off x="7488985" y="5960465"/>
            <a:ext cx="1652412" cy="3099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공지예외적용주장</a:t>
            </a:r>
            <a:endParaRPr lang="en-US" altLang="ko-KR" sz="12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5486F33-C68D-2440-469B-40BCC3745F68}"/>
              </a:ext>
            </a:extLst>
          </p:cNvPr>
          <p:cNvSpPr/>
          <p:nvPr/>
        </p:nvSpPr>
        <p:spPr>
          <a:xfrm>
            <a:off x="7800709" y="6448425"/>
            <a:ext cx="1027188" cy="3256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시약모델 </a:t>
            </a:r>
            <a:r>
              <a:rPr lang="en-US" altLang="ko-KR" sz="1200" dirty="0">
                <a:solidFill>
                  <a:schemeClr val="tx1"/>
                </a:solidFill>
              </a:rPr>
              <a:t>1, 2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E17AA92E-DF77-66FD-6691-2F9CBA41FFC6}"/>
              </a:ext>
            </a:extLst>
          </p:cNvPr>
          <p:cNvCxnSpPr>
            <a:cxnSpLocks/>
            <a:stCxn id="50" idx="0"/>
            <a:endCxn id="49" idx="2"/>
          </p:cNvCxnSpPr>
          <p:nvPr/>
        </p:nvCxnSpPr>
        <p:spPr>
          <a:xfrm rot="5400000" flipH="1" flipV="1">
            <a:off x="8225724" y="6358958"/>
            <a:ext cx="178046" cy="888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9F38A214-1674-5E50-EFEC-4B34D69CFFE9}"/>
              </a:ext>
            </a:extLst>
          </p:cNvPr>
          <p:cNvSpPr/>
          <p:nvPr/>
        </p:nvSpPr>
        <p:spPr>
          <a:xfrm>
            <a:off x="5083054" y="5209811"/>
            <a:ext cx="2516874" cy="3256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덮개부</a:t>
            </a:r>
            <a:r>
              <a:rPr lang="en-US" altLang="ko-KR" sz="1200" dirty="0">
                <a:solidFill>
                  <a:schemeClr val="tx1"/>
                </a:solidFill>
              </a:rPr>
              <a:t>(A)</a:t>
            </a:r>
            <a:r>
              <a:rPr lang="ko-KR" altLang="en-US" sz="1200" dirty="0">
                <a:solidFill>
                  <a:schemeClr val="tx1"/>
                </a:solidFill>
              </a:rPr>
              <a:t>를 포함하는 케이스</a:t>
            </a:r>
            <a:r>
              <a:rPr lang="en-US" altLang="ko-KR" sz="1200" dirty="0">
                <a:solidFill>
                  <a:schemeClr val="tx1"/>
                </a:solidFill>
              </a:rPr>
              <a:t>(B)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D2096ED1-0FB3-CE96-4A2A-4534FB3BD35E}"/>
              </a:ext>
            </a:extLst>
          </p:cNvPr>
          <p:cNvCxnSpPr>
            <a:stCxn id="56" idx="3"/>
            <a:endCxn id="47" idx="0"/>
          </p:cNvCxnSpPr>
          <p:nvPr/>
        </p:nvCxnSpPr>
        <p:spPr>
          <a:xfrm>
            <a:off x="7599928" y="5372650"/>
            <a:ext cx="715263" cy="293021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D67F1AA-BE4F-24D0-9DFD-CF46FEFB81A3}"/>
              </a:ext>
            </a:extLst>
          </p:cNvPr>
          <p:cNvSpPr txBox="1"/>
          <p:nvPr/>
        </p:nvSpPr>
        <p:spPr>
          <a:xfrm>
            <a:off x="9817209" y="5665671"/>
            <a:ext cx="946041" cy="3099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/>
              <a:t>증명서류</a:t>
            </a:r>
            <a:endParaRPr lang="en-US" altLang="ko-KR" sz="1200" dirty="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819E219-8D90-326B-F2BB-A998E495C80C}"/>
              </a:ext>
            </a:extLst>
          </p:cNvPr>
          <p:cNvSpPr/>
          <p:nvPr/>
        </p:nvSpPr>
        <p:spPr>
          <a:xfrm>
            <a:off x="9773406" y="6448425"/>
            <a:ext cx="1027188" cy="3256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시약모델 </a:t>
            </a:r>
            <a:r>
              <a:rPr lang="en-US" altLang="ko-KR" sz="1200" dirty="0">
                <a:solidFill>
                  <a:schemeClr val="tx1"/>
                </a:solidFill>
              </a:rPr>
              <a:t>1, 2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06264BDB-9E82-CA0E-4914-D15F286CD606}"/>
              </a:ext>
            </a:extLst>
          </p:cNvPr>
          <p:cNvCxnSpPr>
            <a:cxnSpLocks/>
            <a:stCxn id="61" idx="0"/>
            <a:endCxn id="60" idx="2"/>
          </p:cNvCxnSpPr>
          <p:nvPr/>
        </p:nvCxnSpPr>
        <p:spPr>
          <a:xfrm rot="5400000" flipH="1" flipV="1">
            <a:off x="10052195" y="6210390"/>
            <a:ext cx="472840" cy="323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BCBEB52D-0CF8-0114-E69F-1D46E18B29D6}"/>
              </a:ext>
            </a:extLst>
          </p:cNvPr>
          <p:cNvCxnSpPr>
            <a:cxnSpLocks/>
          </p:cNvCxnSpPr>
          <p:nvPr/>
        </p:nvCxnSpPr>
        <p:spPr>
          <a:xfrm>
            <a:off x="0" y="3704984"/>
            <a:ext cx="12191999" cy="0"/>
          </a:xfrm>
          <a:prstGeom prst="line">
            <a:avLst/>
          </a:prstGeom>
          <a:ln w="28575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132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750587"/>
              </p:ext>
            </p:extLst>
          </p:nvPr>
        </p:nvGraphicFramePr>
        <p:xfrm>
          <a:off x="269776" y="2162329"/>
          <a:ext cx="11608878" cy="1446285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99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9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구 분</a:t>
                      </a:r>
                      <a:endParaRPr kumimoji="1" lang="ko-KR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국 가 명</a:t>
                      </a:r>
                      <a:endParaRPr kumimoji="1" lang="ko-KR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개월</a:t>
                      </a:r>
                      <a:endParaRPr kumimoji="1" lang="ko-KR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유럽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(EPO),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중국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러시아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대만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리투아니아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북한</a:t>
                      </a:r>
                      <a:endParaRPr kumimoji="1" lang="ko-KR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76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개월</a:t>
                      </a:r>
                      <a:endParaRPr kumimoji="1" lang="ko-KR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미국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호주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캐나다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멕시코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브라질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불가리아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포루투칼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루마니아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터키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벨라루스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슬로베니아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아르헨티나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아르메니아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엘살바도르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에스토니아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카자흐스탄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말레이시아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페루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사우디아라비아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싱가폴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스리랑카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트리니다드토바고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몰도바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바르바도스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한국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일본</a:t>
                      </a:r>
                      <a:endParaRPr kumimoji="1" lang="ko-KR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무제한</a:t>
                      </a:r>
                      <a:endParaRPr kumimoji="1" lang="ko-KR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남아공</a:t>
                      </a:r>
                      <a:endParaRPr kumimoji="1" lang="ko-KR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graphicFrame>
        <p:nvGraphicFramePr>
          <p:cNvPr id="6" name="Group 64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622646433"/>
              </p:ext>
            </p:extLst>
          </p:nvPr>
        </p:nvGraphicFramePr>
        <p:xfrm>
          <a:off x="269776" y="4286175"/>
          <a:ext cx="11608878" cy="244181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997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5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15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76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70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75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897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225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국가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의사에 의한 공지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의사에 반한 </a:t>
                      </a:r>
                      <a:endParaRPr kumimoji="1" lang="en-US" altLang="ko-KR" sz="1200" b="1" u="none" strike="noStrike" cap="none" normalizeH="0" baseline="0" dirty="0">
                        <a:ln>
                          <a:noFill/>
                        </a:ln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공지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박람회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출품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5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시험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간행물 게재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전기통신회선을 </a:t>
                      </a:r>
                      <a:endParaRPr kumimoji="1" lang="en-US" altLang="ko-KR" sz="1200" b="1" u="none" strike="noStrike" cap="none" normalizeH="0" baseline="0" dirty="0">
                        <a:ln>
                          <a:noFill/>
                        </a:ln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통해 공지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학술단체가 개최하는 연구집회에서 </a:t>
                      </a:r>
                      <a:endParaRPr kumimoji="1" lang="en-US" altLang="ko-KR" sz="1200" b="1" u="none" strike="noStrike" cap="none" normalizeH="0" baseline="0" dirty="0">
                        <a:ln>
                          <a:noFill/>
                        </a:ln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서면발표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5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일본</a:t>
                      </a:r>
                      <a:endParaRPr kumimoji="1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kumimoji="1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○</a:t>
                      </a: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kumimoji="1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○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박람회종류 제한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48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중국</a:t>
                      </a:r>
                      <a:endParaRPr kumimoji="1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X</a:t>
                      </a:r>
                      <a:endParaRPr kumimoji="1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X</a:t>
                      </a:r>
                      <a:endParaRPr kumimoji="1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X</a:t>
                      </a:r>
                      <a:endParaRPr kumimoji="1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○</a:t>
                      </a: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○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박람회종류 제한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5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EPO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X</a:t>
                      </a:r>
                      <a:endParaRPr kumimoji="1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X</a:t>
                      </a:r>
                      <a:endParaRPr kumimoji="1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X</a:t>
                      </a:r>
                      <a:endParaRPr kumimoji="1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X</a:t>
                      </a:r>
                      <a:endParaRPr kumimoji="1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○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요건 엄격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○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박람회종류 제한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32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미국</a:t>
                      </a:r>
                      <a:endParaRPr kumimoji="1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○ (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적용대상을 열거하지 않고 넓게 허용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/>
          <a:lstStyle/>
          <a:p>
            <a:r>
              <a:rPr lang="ko-KR" altLang="en-US" dirty="0" err="1">
                <a:solidFill>
                  <a:srgbClr val="525252"/>
                </a:solidFill>
              </a:rPr>
              <a:t>해외출원과</a:t>
            </a:r>
            <a:r>
              <a:rPr lang="ko-KR" altLang="en-US" dirty="0">
                <a:solidFill>
                  <a:srgbClr val="525252"/>
                </a:solidFill>
              </a:rPr>
              <a:t> 공지예외적용주장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875" y="986046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highlight>
                  <a:srgbClr val="FFFF00"/>
                </a:highlight>
              </a:rPr>
              <a:t>공지예외적용사유나 시기가 국가별로 차이</a:t>
            </a:r>
            <a:r>
              <a:rPr lang="ko-KR" altLang="en-US" sz="1400" dirty="0">
                <a:solidFill>
                  <a:schemeClr val="tx2"/>
                </a:solidFill>
              </a:rPr>
              <a:t>가 있기 때문에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특허출원이 공지보다 선행되어야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특히 </a:t>
            </a:r>
            <a:r>
              <a:rPr lang="ko-KR" altLang="en-US" sz="1400" dirty="0" err="1">
                <a:highlight>
                  <a:srgbClr val="FFFF00"/>
                </a:highlight>
              </a:rPr>
              <a:t>논문발표를</a:t>
            </a:r>
            <a:r>
              <a:rPr lang="ko-KR" altLang="en-US" sz="1400" dirty="0">
                <a:highlight>
                  <a:srgbClr val="FFFF00"/>
                </a:highlight>
              </a:rPr>
              <a:t> 한 경우 중국이나 유럽은 특허를 받을 수 없기 때문에</a:t>
            </a:r>
            <a:r>
              <a:rPr lang="ko-KR" altLang="en-US" sz="1400" dirty="0">
                <a:solidFill>
                  <a:schemeClr val="tx2"/>
                </a:solidFill>
              </a:rPr>
              <a:t> 유의해야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0" y="151106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195260" y="1724939"/>
            <a:ext cx="2153886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 err="1">
                <a:solidFill>
                  <a:schemeClr val="bg1"/>
                </a:solidFill>
                <a:latin typeface="+mj-ea"/>
                <a:ea typeface="+mj-ea"/>
              </a:rPr>
              <a:t>공지예외적용시기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195260" y="3848786"/>
            <a:ext cx="2153886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공지예외적용사유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5963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34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35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정당한 권리자의 보호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155</a:t>
            </a:fld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E5977A3-A204-48DC-84F9-A404477AA1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192827"/>
              </p:ext>
            </p:extLst>
          </p:nvPr>
        </p:nvGraphicFramePr>
        <p:xfrm>
          <a:off x="475602" y="2157983"/>
          <a:ext cx="11192256" cy="3634984"/>
        </p:xfrm>
        <a:graphic>
          <a:graphicData uri="http://schemas.openxmlformats.org/drawingml/2006/table">
            <a:tbl>
              <a:tblPr/>
              <a:tblGrid>
                <a:gridCol w="731406">
                  <a:extLst>
                    <a:ext uri="{9D8B030D-6E8A-4147-A177-3AD203B41FA5}">
                      <a16:colId xmlns:a16="http://schemas.microsoft.com/office/drawing/2014/main" val="3388704944"/>
                    </a:ext>
                  </a:extLst>
                </a:gridCol>
                <a:gridCol w="3023616">
                  <a:extLst>
                    <a:ext uri="{9D8B030D-6E8A-4147-A177-3AD203B41FA5}">
                      <a16:colId xmlns:a16="http://schemas.microsoft.com/office/drawing/2014/main" val="537560535"/>
                    </a:ext>
                  </a:extLst>
                </a:gridCol>
                <a:gridCol w="3377184">
                  <a:extLst>
                    <a:ext uri="{9D8B030D-6E8A-4147-A177-3AD203B41FA5}">
                      <a16:colId xmlns:a16="http://schemas.microsoft.com/office/drawing/2014/main" val="2162419747"/>
                    </a:ext>
                  </a:extLst>
                </a:gridCol>
                <a:gridCol w="4060050">
                  <a:extLst>
                    <a:ext uri="{9D8B030D-6E8A-4147-A177-3AD203B41FA5}">
                      <a16:colId xmlns:a16="http://schemas.microsoft.com/office/drawing/2014/main" val="1647611734"/>
                    </a:ext>
                  </a:extLst>
                </a:gridCol>
              </a:tblGrid>
              <a:tr h="324936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lang="en-US" altLang="ko-KR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출원일의 소급효</a:t>
                      </a:r>
                      <a:endParaRPr lang="en-US" altLang="ko-KR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특허권</a:t>
                      </a:r>
                      <a:r>
                        <a:rPr lang="en-US" altLang="ko-KR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특허출원</a:t>
                      </a:r>
                      <a:r>
                        <a:rPr lang="en-US" altLang="ko-KR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 이전청구</a:t>
                      </a:r>
                      <a:endParaRPr lang="en-US" altLang="ko-KR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33</a:t>
                      </a: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kern="0" spc="-1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항본문</a:t>
                      </a:r>
                      <a:r>
                        <a:rPr lang="en-US" altLang="ko-KR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44</a:t>
                      </a: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 위반</a:t>
                      </a:r>
                      <a:r>
                        <a:rPr lang="en-US" altLang="ko-KR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539625"/>
                  </a:ext>
                </a:extLst>
              </a:tr>
              <a:tr h="3249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33</a:t>
                      </a: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kern="0" spc="-1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항본문</a:t>
                      </a: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위반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44</a:t>
                      </a: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 위반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865937"/>
                  </a:ext>
                </a:extLst>
              </a:tr>
              <a:tr h="324936">
                <a:tc row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출원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○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34)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○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해석상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344619"/>
                  </a:ext>
                </a:extLst>
              </a:tr>
              <a:tr h="6455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거절이유</a:t>
                      </a:r>
                      <a:r>
                        <a:rPr lang="en-US" altLang="ko-KR" sz="14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62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①Ⅱ)</a:t>
                      </a:r>
                      <a:endParaRPr lang="en-US" altLang="ko-KR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kern="0" spc="-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거절결정확정된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날로부터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일까지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거절이유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62Ⅰ)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kern="0" spc="-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출원계속중</a:t>
                      </a:r>
                      <a:endParaRPr lang="en-US" altLang="ko-KR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780" marR="1778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거절이유에서 제외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해석상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6132097"/>
                  </a:ext>
                </a:extLst>
              </a:tr>
              <a:tr h="407253">
                <a:tc row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○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35)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○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99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2)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683434"/>
                  </a:ext>
                </a:extLst>
              </a:tr>
              <a:tr h="16073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무효사유</a:t>
                      </a:r>
                      <a:r>
                        <a:rPr lang="en-US" altLang="ko-KR" sz="14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133①Ⅱ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본문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kern="0" spc="-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무효심결확정된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날로부터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일까지</a:t>
                      </a:r>
                      <a:endParaRPr lang="en-US" altLang="ko-KR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82563" marR="17780" lvl="0" indent="-1651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선의의 무권리자에게 </a:t>
                      </a:r>
                      <a:r>
                        <a:rPr lang="ko-KR" altLang="en-US" sz="1400" kern="0" spc="-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중용권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104)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인정가능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무효사유</a:t>
                      </a:r>
                      <a:r>
                        <a:rPr lang="en-US" altLang="ko-KR" sz="14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133①Ⅱ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본문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780" marR="1778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지분에 대한 무효심판청구불가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kern="0" spc="-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무효심결확정전</a:t>
                      </a:r>
                      <a:endParaRPr lang="en-US" altLang="ko-KR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fontAlgn="base" latinLnBrk="1">
                        <a:lnSpc>
                          <a:spcPct val="100000"/>
                        </a:lnSpc>
                      </a:pPr>
                      <a:r>
                        <a:rPr lang="en-US" altLang="ko-KR" sz="14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무효사유에서 제외</a:t>
                      </a:r>
                      <a:r>
                        <a:rPr lang="en-US" altLang="ko-KR" sz="14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133①Ⅱ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단서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82563" marR="17780" lvl="0" indent="-1651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선의의 무권리자에게 특허권의 이전청구에 따른 이전등록 전의 실시에 의한 통상실시권</a:t>
                      </a:r>
                      <a:r>
                        <a:rPr lang="en-US" altLang="ko-KR" sz="14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4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103</a:t>
                      </a:r>
                      <a:r>
                        <a:rPr lang="ko-KR" altLang="en-US" sz="14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</a:t>
                      </a:r>
                      <a:r>
                        <a:rPr lang="en-US" altLang="ko-KR" sz="14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14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인정가능</a:t>
                      </a:r>
                      <a:endParaRPr lang="en-US" altLang="ko-KR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7325709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34F26289-E0B6-4F28-98BD-930950384567}"/>
              </a:ext>
            </a:extLst>
          </p:cNvPr>
          <p:cNvSpPr txBox="1"/>
          <p:nvPr/>
        </p:nvSpPr>
        <p:spPr>
          <a:xfrm>
            <a:off x="1538209" y="5798780"/>
            <a:ext cx="9430787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rgbClr val="FF0000"/>
                </a:solidFill>
              </a:rPr>
              <a:t>권리범위 재설계 기회의 확보 </a:t>
            </a:r>
            <a:r>
              <a:rPr lang="en-US" altLang="ko-KR" sz="3200" dirty="0">
                <a:solidFill>
                  <a:srgbClr val="FF0000"/>
                </a:solidFill>
              </a:rPr>
              <a:t>vs </a:t>
            </a:r>
            <a:r>
              <a:rPr lang="ko-KR" altLang="en-US" sz="3200" dirty="0">
                <a:solidFill>
                  <a:srgbClr val="FF0000"/>
                </a:solidFill>
              </a:rPr>
              <a:t>절차의 신속성</a:t>
            </a:r>
            <a:r>
              <a:rPr lang="en-US" altLang="ko-KR" sz="3200" dirty="0">
                <a:solidFill>
                  <a:srgbClr val="FF0000"/>
                </a:solidFill>
              </a:rPr>
              <a:t>, </a:t>
            </a:r>
            <a:r>
              <a:rPr lang="ko-KR" altLang="en-US" sz="3200" dirty="0">
                <a:solidFill>
                  <a:srgbClr val="FF0000"/>
                </a:solidFill>
              </a:rPr>
              <a:t>경제성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E0BB7B-0254-4C4E-AC9F-93F058BC5DA2}"/>
              </a:ext>
            </a:extLst>
          </p:cNvPr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특허법은 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ⅰ)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무권리자의 출원이나 특허를 배척하는 한편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33①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본문 위반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)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일정요건 하에 정당한 권리자의 출원을 무권리자의 출원일로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소급시키거나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34, 35), ⅱ)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특허권의 이전청구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99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의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2)</a:t>
            </a:r>
            <a:r>
              <a:rPr lang="ko-KR" altLang="en-US" sz="1400" dirty="0">
                <a:solidFill>
                  <a:schemeClr val="tx2"/>
                </a:solidFill>
              </a:rPr>
              <a:t>를 통해</a:t>
            </a:r>
            <a:r>
              <a:rPr lang="en-US" altLang="ko-KR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정당한 권리자를 보호해 주고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즉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정당한 권리자가 </a:t>
            </a:r>
            <a:r>
              <a:rPr lang="en-US" altLang="ko-KR" sz="1400" dirty="0">
                <a:solidFill>
                  <a:schemeClr val="tx2"/>
                </a:solidFill>
              </a:rPr>
              <a:t>ⅰ)</a:t>
            </a:r>
            <a:r>
              <a:rPr lang="ko-KR" altLang="en-US" sz="1400" dirty="0">
                <a:solidFill>
                  <a:schemeClr val="tx2"/>
                </a:solidFill>
              </a:rPr>
              <a:t>과 </a:t>
            </a:r>
            <a:r>
              <a:rPr lang="en-US" altLang="ko-KR" sz="1400" dirty="0">
                <a:solidFill>
                  <a:schemeClr val="tx2"/>
                </a:solidFill>
              </a:rPr>
              <a:t>ⅱ)</a:t>
            </a:r>
            <a:r>
              <a:rPr lang="ko-KR" altLang="en-US" sz="1400" dirty="0">
                <a:solidFill>
                  <a:schemeClr val="tx2"/>
                </a:solidFill>
              </a:rPr>
              <a:t>의 방법 중에서 각각 소요되는 비용과 시간 등을 상호 비교하여 선택할 수 있도록 함으로써 편의를 제고하고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이는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선출원주의하에서</a:t>
            </a:r>
            <a:r>
              <a:rPr lang="ko-KR" altLang="en-US" sz="1400" dirty="0">
                <a:solidFill>
                  <a:schemeClr val="tx2"/>
                </a:solidFill>
              </a:rPr>
              <a:t> 선발명주의적 요소의 가미라고 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1704293-30D7-496B-9F79-97B33D3DC457}"/>
              </a:ext>
            </a:extLst>
          </p:cNvPr>
          <p:cNvCxnSpPr/>
          <p:nvPr/>
        </p:nvCxnSpPr>
        <p:spPr>
          <a:xfrm>
            <a:off x="0" y="1730519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058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34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35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시기적 요건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34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 err="1">
                <a:solidFill>
                  <a:schemeClr val="accent1"/>
                </a:solidFill>
              </a:rPr>
              <a:t>무권리자의</a:t>
            </a:r>
            <a:r>
              <a:rPr lang="ko-KR" altLang="en-US" sz="1400" b="1" dirty="0">
                <a:solidFill>
                  <a:schemeClr val="accent1"/>
                </a:solidFill>
              </a:rPr>
              <a:t> 특허출원과 정당한 권리자의 보호</a:t>
            </a:r>
            <a:r>
              <a:rPr lang="en-US" altLang="ko-KR" sz="1400" b="1" dirty="0">
                <a:solidFill>
                  <a:schemeClr val="accent1"/>
                </a:solidFill>
              </a:rPr>
              <a:t>)</a:t>
            </a:r>
            <a:r>
              <a:rPr lang="en-US" altLang="ko-KR" sz="1400" dirty="0">
                <a:solidFill>
                  <a:schemeClr val="accent1"/>
                </a:solidFill>
              </a:rPr>
              <a:t> </a:t>
            </a:r>
            <a:r>
              <a:rPr lang="ko-KR" altLang="en-US" sz="1400" dirty="0">
                <a:solidFill>
                  <a:schemeClr val="tx2"/>
                </a:solidFill>
              </a:rPr>
              <a:t>발명자가 아닌 자로서 특허를 받을 수 있는 권리의 승계인이 아닌 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이하 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 err="1">
                <a:solidFill>
                  <a:schemeClr val="tx2"/>
                </a:solidFill>
              </a:rPr>
              <a:t>무권리자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라 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가 한 특허출원이 제</a:t>
            </a:r>
            <a:r>
              <a:rPr lang="en-US" altLang="ko-KR" sz="1400" dirty="0">
                <a:solidFill>
                  <a:schemeClr val="tx2"/>
                </a:solidFill>
              </a:rPr>
              <a:t>33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본문에 따른 특허를 받을 수 있는 권리를 가지지 아니한 사유로 제</a:t>
            </a:r>
            <a:r>
              <a:rPr lang="en-US" altLang="ko-KR" sz="1400" dirty="0">
                <a:solidFill>
                  <a:schemeClr val="tx2"/>
                </a:solidFill>
              </a:rPr>
              <a:t>62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호에 해당하여 특허를 받지 못하게 된 경우에는 </a:t>
            </a:r>
            <a:r>
              <a:rPr lang="ko-KR" altLang="en-US" sz="1400" dirty="0">
                <a:solidFill>
                  <a:srgbClr val="FF0000"/>
                </a:solidFill>
              </a:rPr>
              <a:t>그 </a:t>
            </a:r>
            <a:r>
              <a:rPr lang="ko-KR" altLang="en-US" sz="1400" dirty="0" err="1">
                <a:solidFill>
                  <a:srgbClr val="FF0000"/>
                </a:solidFill>
              </a:rPr>
              <a:t>무권리자의</a:t>
            </a:r>
            <a:r>
              <a:rPr lang="ko-KR" altLang="en-US" sz="1400" dirty="0">
                <a:solidFill>
                  <a:srgbClr val="FF0000"/>
                </a:solidFill>
              </a:rPr>
              <a:t> 특허출원 후에 한 정당한 권리자의 특허출원</a:t>
            </a:r>
            <a:r>
              <a:rPr lang="ko-KR" altLang="en-US" sz="1400" dirty="0">
                <a:solidFill>
                  <a:schemeClr val="tx2"/>
                </a:solidFill>
              </a:rPr>
              <a:t>은 </a:t>
            </a:r>
            <a:r>
              <a:rPr lang="ko-KR" altLang="en-US" sz="1400" dirty="0" err="1">
                <a:solidFill>
                  <a:schemeClr val="tx2"/>
                </a:solidFill>
              </a:rPr>
              <a:t>무권리자가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특허출원한</a:t>
            </a:r>
            <a:r>
              <a:rPr lang="ko-KR" altLang="en-US" sz="1400" dirty="0">
                <a:solidFill>
                  <a:schemeClr val="tx2"/>
                </a:solidFill>
              </a:rPr>
              <a:t> 때에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특허출원한</a:t>
            </a:r>
            <a:r>
              <a:rPr lang="ko-KR" altLang="en-US" sz="1400" dirty="0">
                <a:solidFill>
                  <a:schemeClr val="tx2"/>
                </a:solidFill>
              </a:rPr>
              <a:t> 것으로 본다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rgbClr val="FF0000"/>
                </a:solidFill>
              </a:rPr>
              <a:t>다만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 err="1">
                <a:solidFill>
                  <a:srgbClr val="FF0000"/>
                </a:solidFill>
              </a:rPr>
              <a:t>무권리자가</a:t>
            </a:r>
            <a:r>
              <a:rPr lang="ko-KR" altLang="en-US" sz="1400" dirty="0">
                <a:solidFill>
                  <a:srgbClr val="FF0000"/>
                </a:solidFill>
              </a:rPr>
              <a:t> 특허를 받지 못하게 된 날부터 </a:t>
            </a:r>
            <a:r>
              <a:rPr lang="en-US" altLang="ko-KR" sz="1400" dirty="0">
                <a:solidFill>
                  <a:srgbClr val="FF0000"/>
                </a:solidFill>
              </a:rPr>
              <a:t>30</a:t>
            </a:r>
            <a:r>
              <a:rPr lang="ko-KR" altLang="en-US" sz="1400" dirty="0">
                <a:solidFill>
                  <a:srgbClr val="FF0000"/>
                </a:solidFill>
              </a:rPr>
              <a:t>일이 지난 후에 정당한 권리자가 특허출원을 한 경우에는 그러하지 아니하다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</a:p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35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 err="1">
                <a:solidFill>
                  <a:schemeClr val="accent1"/>
                </a:solidFill>
              </a:rPr>
              <a:t>무권리자의</a:t>
            </a:r>
            <a:r>
              <a:rPr lang="ko-KR" altLang="en-US" sz="1400" b="1" dirty="0">
                <a:solidFill>
                  <a:schemeClr val="accent1"/>
                </a:solidFill>
              </a:rPr>
              <a:t> 특허와 정당한 권리자의 보호</a:t>
            </a:r>
            <a:r>
              <a:rPr lang="en-US" altLang="ko-KR" sz="1400" b="1" dirty="0">
                <a:solidFill>
                  <a:schemeClr val="accent1"/>
                </a:solidFill>
              </a:rPr>
              <a:t>)</a:t>
            </a:r>
            <a:r>
              <a:rPr lang="en-US" altLang="ko-KR" sz="1400" dirty="0">
                <a:solidFill>
                  <a:schemeClr val="accent1"/>
                </a:solidFill>
              </a:rPr>
              <a:t> 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33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본문에 따른 특허를 받을 수 있는 권리를 가지지 아니한 사유로 제</a:t>
            </a:r>
            <a:r>
              <a:rPr lang="en-US" altLang="ko-KR" sz="1400" dirty="0">
                <a:solidFill>
                  <a:schemeClr val="tx2"/>
                </a:solidFill>
              </a:rPr>
              <a:t>133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호에 해당하여 특허를 무효로 한다는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경우에는 </a:t>
            </a:r>
            <a:r>
              <a:rPr lang="ko-KR" altLang="en-US" sz="1400" dirty="0">
                <a:solidFill>
                  <a:srgbClr val="FF0000"/>
                </a:solidFill>
              </a:rPr>
              <a:t>그 </a:t>
            </a:r>
            <a:r>
              <a:rPr lang="ko-KR" altLang="en-US" sz="1400" dirty="0" err="1">
                <a:solidFill>
                  <a:srgbClr val="FF0000"/>
                </a:solidFill>
              </a:rPr>
              <a:t>무권리자의</a:t>
            </a:r>
            <a:r>
              <a:rPr lang="ko-KR" altLang="en-US" sz="1400" dirty="0">
                <a:solidFill>
                  <a:srgbClr val="FF0000"/>
                </a:solidFill>
              </a:rPr>
              <a:t> 특허출원 후에 한 정당한 권리자의 특허출원은</a:t>
            </a:r>
            <a:r>
              <a:rPr lang="ko-KR" altLang="en-US" sz="1400" dirty="0">
                <a:solidFill>
                  <a:schemeClr val="tx2"/>
                </a:solidFill>
              </a:rPr>
              <a:t> 무효로 된 그 특허의 출원 시에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특허출원한</a:t>
            </a:r>
            <a:r>
              <a:rPr lang="ko-KR" altLang="en-US" sz="1400" dirty="0">
                <a:solidFill>
                  <a:schemeClr val="tx2"/>
                </a:solidFill>
              </a:rPr>
              <a:t> 것으로 본다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rgbClr val="FF0000"/>
                </a:solidFill>
              </a:rPr>
              <a:t>다만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 err="1">
                <a:solidFill>
                  <a:srgbClr val="FF0000"/>
                </a:solidFill>
              </a:rPr>
              <a:t>심결이</a:t>
            </a:r>
            <a:r>
              <a:rPr lang="ko-KR" altLang="en-US" sz="1400" dirty="0">
                <a:solidFill>
                  <a:srgbClr val="FF0000"/>
                </a:solidFill>
              </a:rPr>
              <a:t> 확정된 날부터 </a:t>
            </a:r>
            <a:r>
              <a:rPr lang="en-US" altLang="ko-KR" sz="1400" dirty="0">
                <a:solidFill>
                  <a:srgbClr val="FF0000"/>
                </a:solidFill>
              </a:rPr>
              <a:t>30</a:t>
            </a:r>
            <a:r>
              <a:rPr lang="ko-KR" altLang="en-US" sz="1400" dirty="0">
                <a:solidFill>
                  <a:srgbClr val="FF0000"/>
                </a:solidFill>
              </a:rPr>
              <a:t>일이 지난 후에 정당한 권리자가 특허출원을 한 경우에는 그러하지 아니하다</a:t>
            </a:r>
            <a:r>
              <a:rPr lang="en-US" altLang="ko-KR" sz="1400" dirty="0">
                <a:solidFill>
                  <a:srgbClr val="FF0000"/>
                </a:solidFill>
              </a:rPr>
              <a:t>.  </a:t>
            </a: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259637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895349" y="2839348"/>
            <a:ext cx="10649839" cy="163743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33" name="사각형: 둥근 위쪽 모서리 32"/>
          <p:cNvSpPr/>
          <p:nvPr/>
        </p:nvSpPr>
        <p:spPr>
          <a:xfrm>
            <a:off x="3216654" y="3719229"/>
            <a:ext cx="7289949" cy="619295"/>
          </a:xfrm>
          <a:prstGeom prst="round2SameRect">
            <a:avLst>
              <a:gd name="adj1" fmla="val 0"/>
              <a:gd name="adj2" fmla="val 50000"/>
            </a:avLst>
          </a:prstGeom>
          <a:pattFill prst="wdUpDiag">
            <a:fgClr>
              <a:schemeClr val="accent4"/>
            </a:fgClr>
            <a:bgClr>
              <a:schemeClr val="bg1"/>
            </a:bgClr>
          </a:patt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정당한 권리자 출원가능시기</a:t>
            </a:r>
          </a:p>
        </p:txBody>
      </p:sp>
      <p:sp>
        <p:nvSpPr>
          <p:cNvPr id="34" name="Rectangle 29"/>
          <p:cNvSpPr>
            <a:spLocks noChangeArrowheads="1"/>
          </p:cNvSpPr>
          <p:nvPr/>
        </p:nvSpPr>
        <p:spPr bwMode="auto">
          <a:xfrm>
            <a:off x="8179606" y="2792735"/>
            <a:ext cx="1094874" cy="476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200" b="0" dirty="0">
                <a:solidFill>
                  <a:srgbClr val="000000"/>
                </a:solidFill>
                <a:latin typeface="+mn-ea"/>
              </a:rPr>
              <a:t>30</a:t>
            </a:r>
            <a:r>
              <a:rPr lang="ko-KR" altLang="en-US" sz="1200" b="0" dirty="0">
                <a:solidFill>
                  <a:srgbClr val="000000"/>
                </a:solidFill>
                <a:latin typeface="+mn-ea"/>
              </a:rPr>
              <a:t>일 이내</a:t>
            </a:r>
          </a:p>
        </p:txBody>
      </p:sp>
      <p:cxnSp>
        <p:nvCxnSpPr>
          <p:cNvPr id="38" name="직선 화살표 연결선 37"/>
          <p:cNvCxnSpPr/>
          <p:nvPr/>
        </p:nvCxnSpPr>
        <p:spPr>
          <a:xfrm>
            <a:off x="1849789" y="3719229"/>
            <a:ext cx="944686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14"/>
          <p:cNvSpPr>
            <a:spLocks noChangeArrowheads="1"/>
          </p:cNvSpPr>
          <p:nvPr/>
        </p:nvSpPr>
        <p:spPr bwMode="auto">
          <a:xfrm>
            <a:off x="2578784" y="3522188"/>
            <a:ext cx="12757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 err="1">
                <a:latin typeface="+mn-ea"/>
              </a:rPr>
              <a:t>무권리자</a:t>
            </a:r>
            <a:r>
              <a:rPr lang="ko-KR" altLang="en-US" sz="1400" dirty="0" err="1">
                <a:latin typeface="+mn-ea"/>
              </a:rPr>
              <a:t>출원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40" name="원호 39"/>
          <p:cNvSpPr/>
          <p:nvPr/>
        </p:nvSpPr>
        <p:spPr>
          <a:xfrm>
            <a:off x="6691797" y="3149314"/>
            <a:ext cx="3814806" cy="1082693"/>
          </a:xfrm>
          <a:prstGeom prst="arc">
            <a:avLst>
              <a:gd name="adj1" fmla="val 11014843"/>
              <a:gd name="adj2" fmla="val 21583111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42" name="Rectangle 14"/>
          <p:cNvSpPr>
            <a:spLocks noChangeArrowheads="1"/>
          </p:cNvSpPr>
          <p:nvPr/>
        </p:nvSpPr>
        <p:spPr bwMode="auto">
          <a:xfrm>
            <a:off x="6132634" y="3522188"/>
            <a:ext cx="1275741" cy="35900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solidFill>
                  <a:schemeClr val="bg1"/>
                </a:solidFill>
                <a:latin typeface="+mn-ea"/>
              </a:rPr>
              <a:t>거절결정확정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895349" y="4724411"/>
            <a:ext cx="10649839" cy="182700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44" name="사각형: 둥근 위쪽 모서리 43"/>
          <p:cNvSpPr/>
          <p:nvPr/>
        </p:nvSpPr>
        <p:spPr>
          <a:xfrm>
            <a:off x="3216654" y="5793864"/>
            <a:ext cx="7289949" cy="581551"/>
          </a:xfrm>
          <a:prstGeom prst="round2SameRect">
            <a:avLst>
              <a:gd name="adj1" fmla="val 0"/>
              <a:gd name="adj2" fmla="val 50000"/>
            </a:avLst>
          </a:prstGeom>
          <a:pattFill prst="wdUpDiag">
            <a:fgClr>
              <a:schemeClr val="accent4"/>
            </a:fgClr>
            <a:bgClr>
              <a:schemeClr val="bg1"/>
            </a:bgClr>
          </a:patt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정당한 권리자 출원가능시기</a:t>
            </a:r>
          </a:p>
        </p:txBody>
      </p:sp>
      <p:sp>
        <p:nvSpPr>
          <p:cNvPr id="45" name="Rectangle 29"/>
          <p:cNvSpPr>
            <a:spLocks noChangeArrowheads="1"/>
          </p:cNvSpPr>
          <p:nvPr/>
        </p:nvSpPr>
        <p:spPr bwMode="auto">
          <a:xfrm>
            <a:off x="8841886" y="4897939"/>
            <a:ext cx="1094874" cy="476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200" b="0" dirty="0">
                <a:solidFill>
                  <a:srgbClr val="000000"/>
                </a:solidFill>
                <a:latin typeface="+mn-ea"/>
              </a:rPr>
              <a:t>30</a:t>
            </a:r>
            <a:r>
              <a:rPr lang="ko-KR" altLang="en-US" sz="1200" b="0" dirty="0">
                <a:solidFill>
                  <a:srgbClr val="000000"/>
                </a:solidFill>
                <a:latin typeface="+mn-ea"/>
              </a:rPr>
              <a:t>일 이내</a:t>
            </a:r>
          </a:p>
        </p:txBody>
      </p:sp>
      <p:cxnSp>
        <p:nvCxnSpPr>
          <p:cNvPr id="46" name="직선 화살표 연결선 45"/>
          <p:cNvCxnSpPr/>
          <p:nvPr/>
        </p:nvCxnSpPr>
        <p:spPr>
          <a:xfrm>
            <a:off x="1849789" y="5793864"/>
            <a:ext cx="9456386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14"/>
          <p:cNvSpPr>
            <a:spLocks noChangeArrowheads="1"/>
          </p:cNvSpPr>
          <p:nvPr/>
        </p:nvSpPr>
        <p:spPr bwMode="auto">
          <a:xfrm>
            <a:off x="2578784" y="5596823"/>
            <a:ext cx="12757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 err="1">
                <a:latin typeface="+mn-ea"/>
              </a:rPr>
              <a:t>무권리자</a:t>
            </a:r>
            <a:r>
              <a:rPr lang="ko-KR" altLang="en-US" sz="1400" dirty="0" err="1">
                <a:latin typeface="+mn-ea"/>
              </a:rPr>
              <a:t>출원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48" name="원호 47"/>
          <p:cNvSpPr/>
          <p:nvPr/>
        </p:nvSpPr>
        <p:spPr>
          <a:xfrm>
            <a:off x="8267700" y="5279356"/>
            <a:ext cx="2238904" cy="957759"/>
          </a:xfrm>
          <a:prstGeom prst="arc">
            <a:avLst>
              <a:gd name="adj1" fmla="val 11237032"/>
              <a:gd name="adj2" fmla="val 78203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50" name="Rectangle 14"/>
          <p:cNvSpPr>
            <a:spLocks noChangeArrowheads="1"/>
          </p:cNvSpPr>
          <p:nvPr/>
        </p:nvSpPr>
        <p:spPr bwMode="auto">
          <a:xfrm>
            <a:off x="5161139" y="5596823"/>
            <a:ext cx="12757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>
                <a:latin typeface="+mn-ea"/>
              </a:rPr>
              <a:t>설정등록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52" name="Rectangle 14"/>
          <p:cNvSpPr>
            <a:spLocks noChangeArrowheads="1"/>
          </p:cNvSpPr>
          <p:nvPr/>
        </p:nvSpPr>
        <p:spPr bwMode="auto">
          <a:xfrm>
            <a:off x="7720568" y="5596823"/>
            <a:ext cx="1275741" cy="35900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 err="1">
                <a:solidFill>
                  <a:schemeClr val="bg1"/>
                </a:solidFill>
                <a:latin typeface="+mn-ea"/>
              </a:rPr>
              <a:t>무효심결확정</a:t>
            </a:r>
            <a:endParaRPr lang="ko-KR" altLang="en-US" sz="1400" b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5" name="Rectangle 5"/>
          <p:cNvSpPr>
            <a:spLocks noChangeArrowheads="1"/>
          </p:cNvSpPr>
          <p:nvPr/>
        </p:nvSpPr>
        <p:spPr bwMode="auto">
          <a:xfrm>
            <a:off x="416602" y="3201850"/>
            <a:ext cx="969875" cy="944360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>
                <a:solidFill>
                  <a:schemeClr val="bg2"/>
                </a:solidFill>
                <a:latin typeface="+mj-ea"/>
                <a:ea typeface="+mj-ea"/>
              </a:rPr>
              <a:t>제</a:t>
            </a:r>
            <a:r>
              <a:rPr lang="en-US" altLang="ko-KR" sz="1600" b="0" dirty="0">
                <a:solidFill>
                  <a:schemeClr val="bg2"/>
                </a:solidFill>
                <a:latin typeface="+mj-ea"/>
                <a:ea typeface="+mj-ea"/>
              </a:rPr>
              <a:t>34</a:t>
            </a:r>
            <a:r>
              <a:rPr lang="ko-KR" altLang="en-US" sz="1600" b="0" dirty="0">
                <a:solidFill>
                  <a:schemeClr val="bg2"/>
                </a:solidFill>
                <a:latin typeface="+mj-ea"/>
                <a:ea typeface="+mj-ea"/>
              </a:rPr>
              <a:t>조</a:t>
            </a:r>
          </a:p>
        </p:txBody>
      </p:sp>
      <p:sp>
        <p:nvSpPr>
          <p:cNvPr id="56" name="Rectangle 5"/>
          <p:cNvSpPr>
            <a:spLocks noChangeArrowheads="1"/>
          </p:cNvSpPr>
          <p:nvPr/>
        </p:nvSpPr>
        <p:spPr bwMode="auto">
          <a:xfrm>
            <a:off x="416602" y="5165734"/>
            <a:ext cx="969875" cy="944360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>
                <a:solidFill>
                  <a:schemeClr val="bg2"/>
                </a:solidFill>
                <a:latin typeface="+mj-ea"/>
                <a:ea typeface="+mj-ea"/>
              </a:rPr>
              <a:t>제</a:t>
            </a:r>
            <a:r>
              <a:rPr lang="en-US" altLang="ko-KR" sz="1600" b="0" dirty="0">
                <a:solidFill>
                  <a:schemeClr val="bg2"/>
                </a:solidFill>
                <a:latin typeface="+mj-ea"/>
                <a:ea typeface="+mj-ea"/>
              </a:rPr>
              <a:t>35</a:t>
            </a:r>
            <a:r>
              <a:rPr lang="ko-KR" altLang="en-US" sz="1600" b="0" dirty="0">
                <a:solidFill>
                  <a:schemeClr val="bg2"/>
                </a:solidFill>
                <a:latin typeface="+mj-ea"/>
                <a:ea typeface="+mj-ea"/>
              </a:rPr>
              <a:t>조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531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34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35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객체적 요건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highlight>
                  <a:srgbClr val="FFFF00"/>
                </a:highlight>
              </a:rPr>
              <a:t>정당한 권리자 출원의 명세서 또는 도면에 기재된 발명</a:t>
            </a:r>
            <a:r>
              <a:rPr lang="ko-KR" altLang="en-US" sz="1400" dirty="0">
                <a:solidFill>
                  <a:schemeClr val="tx2"/>
                </a:solidFill>
              </a:rPr>
              <a:t>이 </a:t>
            </a:r>
            <a:r>
              <a:rPr lang="ko-KR" altLang="en-US" sz="1400" dirty="0" err="1">
                <a:solidFill>
                  <a:schemeClr val="tx2"/>
                </a:solidFill>
              </a:rPr>
              <a:t>무권리자</a:t>
            </a:r>
            <a:r>
              <a:rPr lang="ko-KR" altLang="en-US" sz="1400" dirty="0">
                <a:solidFill>
                  <a:schemeClr val="tx2"/>
                </a:solidFill>
              </a:rPr>
              <a:t> 출원의 발명 범위에 포함되어 있어야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「</a:t>
            </a:r>
            <a:r>
              <a:rPr lang="ko-KR" altLang="en-US" sz="1400" dirty="0" err="1">
                <a:solidFill>
                  <a:schemeClr val="tx2"/>
                </a:solidFill>
              </a:rPr>
              <a:t>무권리자</a:t>
            </a:r>
            <a:r>
              <a:rPr lang="ko-KR" altLang="en-US" sz="1400" dirty="0">
                <a:solidFill>
                  <a:schemeClr val="tx2"/>
                </a:solidFill>
              </a:rPr>
              <a:t> 출원의 발명 </a:t>
            </a:r>
            <a:r>
              <a:rPr lang="ko-KR" altLang="en-US" sz="1400" dirty="0" err="1">
                <a:solidFill>
                  <a:schemeClr val="tx2"/>
                </a:solidFill>
              </a:rPr>
              <a:t>범위」란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무권리자의</a:t>
            </a:r>
            <a:r>
              <a:rPr lang="ko-KR" altLang="en-US" sz="1400" dirty="0">
                <a:solidFill>
                  <a:schemeClr val="tx2"/>
                </a:solidFill>
              </a:rPr>
              <a:t> 보정 여부에 따라 발명 범위가 달라지는 것은 타당하지 않기 </a:t>
            </a:r>
            <a:r>
              <a:rPr lang="ko-KR" altLang="en-US" sz="1400" dirty="0"/>
              <a:t>때문에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 err="1">
                <a:highlight>
                  <a:srgbClr val="FFFF00"/>
                </a:highlight>
              </a:rPr>
              <a:t>무권리자가</a:t>
            </a:r>
            <a:r>
              <a:rPr lang="ko-KR" altLang="en-US" sz="1400" dirty="0">
                <a:highlight>
                  <a:srgbClr val="FFFF00"/>
                </a:highlight>
              </a:rPr>
              <a:t> 출원할 때 최초로 첨부한 명세서 또는 도면에 기재된 사항의 범위</a:t>
            </a:r>
            <a:r>
              <a:rPr lang="ko-KR" altLang="en-US" sz="1400" dirty="0">
                <a:solidFill>
                  <a:schemeClr val="tx2"/>
                </a:solidFill>
              </a:rPr>
              <a:t>로 해석함이 타당하다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「최초로 첨부한 명세서 또는 도면에 기재된 </a:t>
            </a:r>
            <a:r>
              <a:rPr lang="ko-KR" altLang="en-US" sz="1400" dirty="0" err="1">
                <a:solidFill>
                  <a:schemeClr val="tx2"/>
                </a:solidFill>
              </a:rPr>
              <a:t>사항」은</a:t>
            </a:r>
            <a:r>
              <a:rPr lang="ko-KR" altLang="en-US" sz="1400" dirty="0">
                <a:solidFill>
                  <a:schemeClr val="tx2"/>
                </a:solidFill>
              </a:rPr>
              <a:t> 최초 명세서 또는 도면에 명시적으로 기재되어 있는 사항이거나 또는 명시적인 기재가 없더라도 통상의 기술자가 출원시의 </a:t>
            </a:r>
            <a:r>
              <a:rPr lang="ko-KR" altLang="en-US" sz="1400" dirty="0" err="1">
                <a:solidFill>
                  <a:schemeClr val="tx2"/>
                </a:solidFill>
              </a:rPr>
              <a:t>기술상식에</a:t>
            </a:r>
            <a:r>
              <a:rPr lang="ko-KR" altLang="en-US" sz="1400" dirty="0">
                <a:solidFill>
                  <a:schemeClr val="tx2"/>
                </a:solidFill>
              </a:rPr>
              <a:t> 비추어 최초 명세서 등에 기재되어 있는 것과 마찬가지라고 이해할 수 있는 사항을 말한다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194015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/>
          <p:cNvSpPr/>
          <p:nvPr/>
        </p:nvSpPr>
        <p:spPr>
          <a:xfrm>
            <a:off x="485775" y="2113210"/>
            <a:ext cx="3511550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무권리자출원의 </a:t>
            </a:r>
            <a:endParaRPr lang="en-US" altLang="ko-KR" sz="2000" dirty="0">
              <a:solidFill>
                <a:schemeClr val="tx1"/>
              </a:solidFill>
            </a:endParaRPr>
          </a:p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최초 명세서</a:t>
            </a:r>
            <a:r>
              <a:rPr lang="en-US" altLang="ko-KR" sz="2000" dirty="0">
                <a:solidFill>
                  <a:schemeClr val="tx1"/>
                </a:solidFill>
              </a:rPr>
              <a:t>,</a:t>
            </a:r>
            <a:r>
              <a:rPr lang="ko-KR" altLang="en-US" sz="2000" dirty="0">
                <a:solidFill>
                  <a:schemeClr val="tx1"/>
                </a:solidFill>
              </a:rPr>
              <a:t> 도면</a:t>
            </a:r>
            <a:endParaRPr lang="en-US" altLang="ko-KR" sz="2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(</a:t>
            </a:r>
            <a:r>
              <a:rPr lang="ko-KR" altLang="en-US" sz="1600" dirty="0">
                <a:solidFill>
                  <a:schemeClr val="tx1"/>
                </a:solidFill>
              </a:rPr>
              <a:t>보정과 상관없이 </a:t>
            </a:r>
            <a:r>
              <a:rPr lang="ko-KR" altLang="en-US" sz="1600" dirty="0" err="1">
                <a:solidFill>
                  <a:schemeClr val="tx1"/>
                </a:solidFill>
              </a:rPr>
              <a:t>판단대상</a:t>
            </a:r>
            <a:r>
              <a:rPr lang="ko-KR" altLang="en-US" sz="1600" dirty="0">
                <a:solidFill>
                  <a:schemeClr val="tx1"/>
                </a:solidFill>
              </a:rPr>
              <a:t> 고정</a:t>
            </a:r>
            <a:r>
              <a:rPr lang="en-US" altLang="ko-KR" sz="1600" dirty="0">
                <a:solidFill>
                  <a:schemeClr val="tx1"/>
                </a:solidFill>
              </a:rPr>
              <a:t>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8096250" y="2113210"/>
            <a:ext cx="3619499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정당한 권리자출원의 </a:t>
            </a:r>
            <a:endParaRPr lang="en-US" altLang="ko-KR" sz="2000" dirty="0">
              <a:solidFill>
                <a:schemeClr val="tx1"/>
              </a:solidFill>
            </a:endParaRPr>
          </a:p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명세서</a:t>
            </a:r>
            <a:r>
              <a:rPr lang="en-US" altLang="ko-KR" sz="2000" dirty="0">
                <a:solidFill>
                  <a:schemeClr val="tx1"/>
                </a:solidFill>
              </a:rPr>
              <a:t>, </a:t>
            </a:r>
            <a:r>
              <a:rPr lang="ko-KR" altLang="en-US" sz="2000" dirty="0">
                <a:solidFill>
                  <a:schemeClr val="tx1"/>
                </a:solidFill>
              </a:rPr>
              <a:t>도면</a:t>
            </a:r>
            <a:endParaRPr lang="en-US" altLang="ko-KR" sz="2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(</a:t>
            </a:r>
            <a:r>
              <a:rPr lang="ko-KR" altLang="en-US" sz="1600" dirty="0" err="1">
                <a:solidFill>
                  <a:schemeClr val="tx1"/>
                </a:solidFill>
              </a:rPr>
              <a:t>보정시</a:t>
            </a:r>
            <a:r>
              <a:rPr lang="ko-KR" altLang="en-US" sz="1600" dirty="0">
                <a:solidFill>
                  <a:schemeClr val="tx1"/>
                </a:solidFill>
              </a:rPr>
              <a:t> 보정 후 명세서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dirty="0">
                <a:solidFill>
                  <a:schemeClr val="tx1"/>
                </a:solidFill>
              </a:rPr>
              <a:t>도면</a:t>
            </a:r>
            <a:r>
              <a:rPr lang="en-US" altLang="ko-KR" sz="1600" dirty="0">
                <a:solidFill>
                  <a:schemeClr val="tx1"/>
                </a:solidFill>
              </a:rPr>
              <a:t>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6" name="직선 화살표 연결선 5"/>
          <p:cNvCxnSpPr>
            <a:stCxn id="2" idx="3"/>
            <a:endCxn id="25" idx="1"/>
          </p:cNvCxnSpPr>
          <p:nvPr/>
        </p:nvCxnSpPr>
        <p:spPr>
          <a:xfrm>
            <a:off x="3997325" y="2570410"/>
            <a:ext cx="4098925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39568" y="2337257"/>
            <a:ext cx="2252540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ko-KR" altLang="en-US" dirty="0"/>
              <a:t>기재된 사항의 범위 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92851" y="2949267"/>
            <a:ext cx="3365024" cy="107721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명시적 기재 또는  </a:t>
            </a:r>
            <a:endParaRPr lang="en-US" altLang="ko-KR" sz="1600" dirty="0"/>
          </a:p>
          <a:p>
            <a:r>
              <a:rPr lang="ko-KR" altLang="en-US" sz="1600" dirty="0"/>
              <a:t>통상의 기술자가 출원시의 </a:t>
            </a:r>
            <a:r>
              <a:rPr lang="ko-KR" altLang="en-US" sz="1600" dirty="0" err="1"/>
              <a:t>기술상식에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ko-KR" altLang="en-US" sz="1600" dirty="0"/>
              <a:t>비추어 기재되어 있는 것과 </a:t>
            </a:r>
            <a:endParaRPr lang="en-US" altLang="ko-KR" sz="1600" dirty="0"/>
          </a:p>
          <a:p>
            <a:r>
              <a:rPr lang="ko-KR" altLang="en-US" sz="1600" dirty="0"/>
              <a:t>마찬가지라고 이해</a:t>
            </a:r>
          </a:p>
        </p:txBody>
      </p:sp>
      <p:cxnSp>
        <p:nvCxnSpPr>
          <p:cNvPr id="12" name="직선 화살표 연결선 11"/>
          <p:cNvCxnSpPr>
            <a:stCxn id="31" idx="0"/>
            <a:endCxn id="7" idx="2"/>
          </p:cNvCxnSpPr>
          <p:nvPr/>
        </p:nvCxnSpPr>
        <p:spPr>
          <a:xfrm flipH="1" flipV="1">
            <a:off x="6065838" y="2706589"/>
            <a:ext cx="9525" cy="24267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/>
          <p:nvPr/>
        </p:nvCxnSpPr>
        <p:spPr>
          <a:xfrm>
            <a:off x="811564" y="5348004"/>
            <a:ext cx="1058986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14"/>
          <p:cNvSpPr>
            <a:spLocks noChangeArrowheads="1"/>
          </p:cNvSpPr>
          <p:nvPr/>
        </p:nvSpPr>
        <p:spPr bwMode="auto">
          <a:xfrm>
            <a:off x="1540559" y="5160488"/>
            <a:ext cx="14185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latin typeface="+mn-ea"/>
              </a:rPr>
              <a:t>무권리자</a:t>
            </a:r>
            <a:r>
              <a:rPr lang="ko-KR" altLang="en-US" sz="1400" dirty="0">
                <a:latin typeface="+mn-ea"/>
              </a:rPr>
              <a:t>출원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1886402" y="4389352"/>
            <a:ext cx="932256" cy="3060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1886402" y="4695353"/>
            <a:ext cx="932256" cy="30600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3926723" y="4389352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3926723" y="4695354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9" name="Rectangle 14"/>
          <p:cNvSpPr>
            <a:spLocks noChangeArrowheads="1"/>
          </p:cNvSpPr>
          <p:nvPr/>
        </p:nvSpPr>
        <p:spPr bwMode="auto">
          <a:xfrm>
            <a:off x="3624459" y="5160488"/>
            <a:ext cx="14185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보정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6641598" y="5707009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6641598" y="6013011"/>
            <a:ext cx="932256" cy="3060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7" name="Rectangle 14"/>
          <p:cNvSpPr>
            <a:spLocks noChangeArrowheads="1"/>
          </p:cNvSpPr>
          <p:nvPr/>
        </p:nvSpPr>
        <p:spPr bwMode="auto">
          <a:xfrm>
            <a:off x="6162884" y="5160488"/>
            <a:ext cx="1771442" cy="359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정당한 </a:t>
            </a:r>
            <a:r>
              <a:rPr lang="ko-KR" altLang="en-US" sz="1400" dirty="0" err="1">
                <a:latin typeface="+mn-ea"/>
              </a:rPr>
              <a:t>권리자출원</a:t>
            </a:r>
            <a:r>
              <a:rPr lang="en-US" altLang="ko-KR" sz="1400" dirty="0">
                <a:latin typeface="+mn-ea"/>
              </a:rPr>
              <a:t>(Y)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9250817" y="5707009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9250817" y="6013011"/>
            <a:ext cx="932256" cy="306002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9" name="Rectangle 14"/>
          <p:cNvSpPr>
            <a:spLocks noChangeArrowheads="1"/>
          </p:cNvSpPr>
          <p:nvPr/>
        </p:nvSpPr>
        <p:spPr bwMode="auto">
          <a:xfrm>
            <a:off x="8948553" y="5160488"/>
            <a:ext cx="1418541" cy="359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보정</a:t>
            </a:r>
            <a:r>
              <a:rPr lang="en-US" altLang="ko-KR" sz="1400" dirty="0">
                <a:latin typeface="+mn-ea"/>
              </a:rPr>
              <a:t>(Y)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80" name="직선 연결선 79"/>
          <p:cNvCxnSpPr/>
          <p:nvPr/>
        </p:nvCxnSpPr>
        <p:spPr>
          <a:xfrm flipH="1" flipV="1">
            <a:off x="280574" y="4181475"/>
            <a:ext cx="11539951" cy="952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>
            <a:stCxn id="58" idx="3"/>
            <a:endCxn id="66" idx="1"/>
          </p:cNvCxnSpPr>
          <p:nvPr/>
        </p:nvCxnSpPr>
        <p:spPr>
          <a:xfrm>
            <a:off x="2818658" y="4848354"/>
            <a:ext cx="3822940" cy="1317658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/>
          <p:cNvCxnSpPr>
            <a:stCxn id="58" idx="3"/>
            <a:endCxn id="78" idx="1"/>
          </p:cNvCxnSpPr>
          <p:nvPr/>
        </p:nvCxnSpPr>
        <p:spPr>
          <a:xfrm>
            <a:off x="2818658" y="4848354"/>
            <a:ext cx="6432159" cy="1317658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/>
          <p:cNvSpPr/>
          <p:nvPr/>
        </p:nvSpPr>
        <p:spPr>
          <a:xfrm>
            <a:off x="5471707" y="5662989"/>
            <a:ext cx="5437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83" name="직사각형 82"/>
          <p:cNvSpPr/>
          <p:nvPr/>
        </p:nvSpPr>
        <p:spPr>
          <a:xfrm>
            <a:off x="8053991" y="5739933"/>
            <a:ext cx="5437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689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직선 화살표 연결선 31"/>
          <p:cNvCxnSpPr>
            <a:cxnSpLocks/>
            <a:stCxn id="31" idx="0"/>
          </p:cNvCxnSpPr>
          <p:nvPr/>
        </p:nvCxnSpPr>
        <p:spPr>
          <a:xfrm flipV="1">
            <a:off x="4997747" y="5074551"/>
            <a:ext cx="0" cy="74487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34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35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소급효 인정에 따른 </a:t>
            </a:r>
            <a:r>
              <a:rPr lang="ko-KR" altLang="en-US" dirty="0" err="1"/>
              <a:t>존속기간과</a:t>
            </a:r>
            <a:r>
              <a:rPr lang="ko-KR" altLang="en-US" dirty="0"/>
              <a:t> 심사청구기간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정당한 권리자의 특허출원에 대하여 법 제</a:t>
            </a:r>
            <a:r>
              <a:rPr lang="en-US" altLang="ko-KR" sz="1400" dirty="0">
                <a:solidFill>
                  <a:schemeClr val="tx2"/>
                </a:solidFill>
              </a:rPr>
              <a:t>34</a:t>
            </a:r>
            <a:r>
              <a:rPr lang="ko-KR" altLang="en-US" sz="1400" dirty="0">
                <a:solidFill>
                  <a:schemeClr val="tx2"/>
                </a:solidFill>
              </a:rPr>
              <a:t>조 및 제</a:t>
            </a:r>
            <a:r>
              <a:rPr lang="en-US" altLang="ko-KR" sz="1400" dirty="0">
                <a:solidFill>
                  <a:schemeClr val="tx2"/>
                </a:solidFill>
              </a:rPr>
              <a:t>35</a:t>
            </a:r>
            <a:r>
              <a:rPr lang="ko-KR" altLang="en-US" sz="1400" dirty="0">
                <a:solidFill>
                  <a:schemeClr val="tx2"/>
                </a:solidFill>
              </a:rPr>
              <a:t>조에 따라 </a:t>
            </a:r>
            <a:r>
              <a:rPr lang="ko-KR" altLang="en-US" sz="1400" dirty="0" err="1">
                <a:solidFill>
                  <a:schemeClr val="tx2"/>
                </a:solidFill>
              </a:rPr>
              <a:t>특허된</a:t>
            </a:r>
            <a:r>
              <a:rPr lang="ko-KR" altLang="en-US" sz="1400" dirty="0">
                <a:solidFill>
                  <a:schemeClr val="tx2"/>
                </a:solidFill>
              </a:rPr>
              <a:t> 경우에는 특허권의 존속기간은 </a:t>
            </a:r>
            <a:r>
              <a:rPr lang="ko-KR" altLang="en-US" sz="1400" dirty="0" err="1">
                <a:solidFill>
                  <a:schemeClr val="tx2"/>
                </a:solidFill>
              </a:rPr>
              <a:t>무권리자의</a:t>
            </a:r>
            <a:r>
              <a:rPr lang="ko-KR" altLang="en-US" sz="1400" dirty="0">
                <a:solidFill>
                  <a:schemeClr val="tx2"/>
                </a:solidFill>
              </a:rPr>
              <a:t> 특허출원일의 다음날부터 기산한다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88②). </a:t>
            </a:r>
            <a:r>
              <a:rPr lang="ko-KR" altLang="en-US" sz="1400" dirty="0">
                <a:solidFill>
                  <a:schemeClr val="tx2"/>
                </a:solidFill>
              </a:rPr>
              <a:t>즉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존속기간은 정당한 권리자 출원의 특허권을 </a:t>
            </a:r>
            <a:r>
              <a:rPr lang="ko-KR" altLang="en-US" sz="1400" dirty="0" err="1">
                <a:highlight>
                  <a:srgbClr val="FFFF00"/>
                </a:highlight>
              </a:rPr>
              <a:t>설정등록한</a:t>
            </a:r>
            <a:r>
              <a:rPr lang="ko-KR" altLang="en-US" sz="1400" dirty="0">
                <a:highlight>
                  <a:srgbClr val="FFFF00"/>
                </a:highlight>
              </a:rPr>
              <a:t> 날로부터 </a:t>
            </a:r>
            <a:r>
              <a:rPr lang="ko-KR" altLang="en-US" sz="1400" dirty="0" err="1">
                <a:highlight>
                  <a:srgbClr val="FFFF00"/>
                </a:highlight>
              </a:rPr>
              <a:t>무권리자의</a:t>
            </a:r>
            <a:r>
              <a:rPr lang="ko-KR" altLang="en-US" sz="1400" dirty="0">
                <a:highlight>
                  <a:srgbClr val="FFFF00"/>
                </a:highlight>
              </a:rPr>
              <a:t> 출원일 후 </a:t>
            </a:r>
            <a:r>
              <a:rPr lang="en-US" altLang="ko-KR" sz="1400" dirty="0">
                <a:highlight>
                  <a:srgbClr val="FFFF00"/>
                </a:highlight>
              </a:rPr>
              <a:t>20</a:t>
            </a:r>
            <a:r>
              <a:rPr lang="ko-KR" altLang="en-US" sz="1400" dirty="0">
                <a:highlight>
                  <a:srgbClr val="FFFF00"/>
                </a:highlight>
              </a:rPr>
              <a:t>년이 되는 </a:t>
            </a:r>
            <a:r>
              <a:rPr lang="ko-KR" altLang="en-US" sz="1400" dirty="0" err="1">
                <a:highlight>
                  <a:srgbClr val="FFFF00"/>
                </a:highlight>
              </a:rPr>
              <a:t>날까지이다</a:t>
            </a:r>
            <a:r>
              <a:rPr lang="en-US" altLang="ko-KR" sz="1400" dirty="0">
                <a:highlight>
                  <a:srgbClr val="FFFF00"/>
                </a:highlight>
              </a:rPr>
              <a:t>.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무권리자의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특허출원ㆍ특허에</a:t>
            </a:r>
            <a:r>
              <a:rPr lang="ko-KR" altLang="en-US" sz="1400" dirty="0">
                <a:solidFill>
                  <a:schemeClr val="tx2"/>
                </a:solidFill>
              </a:rPr>
              <a:t> 대한 정당한 권리자의 특허출원의 경우 심사청구기간은 </a:t>
            </a:r>
            <a:r>
              <a:rPr lang="ko-KR" altLang="en-US" sz="1400" dirty="0" err="1">
                <a:solidFill>
                  <a:schemeClr val="tx2"/>
                </a:solidFill>
              </a:rPr>
              <a:t>무권리자의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출원일의</a:t>
            </a:r>
            <a:r>
              <a:rPr lang="ko-KR" altLang="en-US" sz="1400" dirty="0">
                <a:solidFill>
                  <a:schemeClr val="tx2"/>
                </a:solidFill>
              </a:rPr>
              <a:t> 다음날부터 기산한다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34, 35).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정당한 권리자의 특허출원이 </a:t>
            </a:r>
            <a:r>
              <a:rPr lang="ko-KR" altLang="en-US" sz="1400" dirty="0" err="1">
                <a:solidFill>
                  <a:schemeClr val="tx2"/>
                </a:solidFill>
              </a:rPr>
              <a:t>무권리자의</a:t>
            </a:r>
            <a:r>
              <a:rPr lang="ko-KR" altLang="en-US" sz="1400" dirty="0">
                <a:solidFill>
                  <a:schemeClr val="tx2"/>
                </a:solidFill>
              </a:rPr>
              <a:t> 출원일로부터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년의 기간이 지난 후라도 정당한 권리자가 특허출원을 한 날부터 </a:t>
            </a:r>
            <a:r>
              <a:rPr lang="en-US" altLang="ko-KR" sz="1400" dirty="0">
                <a:solidFill>
                  <a:schemeClr val="tx2"/>
                </a:solidFill>
              </a:rPr>
              <a:t>30</a:t>
            </a:r>
            <a:r>
              <a:rPr lang="ko-KR" altLang="en-US" sz="1400" dirty="0">
                <a:solidFill>
                  <a:schemeClr val="tx2"/>
                </a:solidFill>
              </a:rPr>
              <a:t>일 이내에 </a:t>
            </a:r>
            <a:r>
              <a:rPr lang="ko-KR" altLang="en-US" sz="1400" dirty="0" err="1">
                <a:solidFill>
                  <a:schemeClr val="tx2"/>
                </a:solidFill>
              </a:rPr>
              <a:t>출원심사의</a:t>
            </a:r>
            <a:r>
              <a:rPr lang="ko-KR" altLang="en-US" sz="1400" dirty="0">
                <a:solidFill>
                  <a:schemeClr val="tx2"/>
                </a:solidFill>
              </a:rPr>
              <a:t> 청구를 할 수 있다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59③). </a:t>
            </a:r>
            <a:r>
              <a:rPr lang="ko-KR" altLang="en-US" sz="1400" dirty="0">
                <a:solidFill>
                  <a:schemeClr val="tx2"/>
                </a:solidFill>
              </a:rPr>
              <a:t>즉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정당한 권리자 특허출원의 심사청구기간은 </a:t>
            </a:r>
            <a:r>
              <a:rPr lang="ko-KR" altLang="en-US" sz="1400" dirty="0" err="1">
                <a:highlight>
                  <a:srgbClr val="FFFF00"/>
                </a:highlight>
              </a:rPr>
              <a:t>무권리자</a:t>
            </a:r>
            <a:r>
              <a:rPr lang="ko-KR" altLang="en-US" sz="1400" dirty="0">
                <a:highlight>
                  <a:srgbClr val="FFFF00"/>
                </a:highlight>
              </a:rPr>
              <a:t> 출원일로부터 </a:t>
            </a:r>
            <a:r>
              <a:rPr lang="en-US" altLang="ko-KR" sz="1400" dirty="0">
                <a:highlight>
                  <a:srgbClr val="FFFF00"/>
                </a:highlight>
              </a:rPr>
              <a:t>3</a:t>
            </a:r>
            <a:r>
              <a:rPr lang="ko-KR" altLang="en-US" sz="1400" dirty="0">
                <a:highlight>
                  <a:srgbClr val="FFFF00"/>
                </a:highlight>
              </a:rPr>
              <a:t>년과 정당한 권리자 출원일로부터 </a:t>
            </a:r>
            <a:r>
              <a:rPr lang="en-US" altLang="ko-KR" sz="1400" dirty="0">
                <a:highlight>
                  <a:srgbClr val="FFFF00"/>
                </a:highlight>
              </a:rPr>
              <a:t>30</a:t>
            </a:r>
            <a:r>
              <a:rPr lang="ko-KR" altLang="en-US" sz="1400" dirty="0">
                <a:highlight>
                  <a:srgbClr val="FFFF00"/>
                </a:highlight>
              </a:rPr>
              <a:t>일 중 늦은 </a:t>
            </a:r>
            <a:r>
              <a:rPr lang="ko-KR" altLang="en-US" sz="1400" dirty="0" err="1">
                <a:highlight>
                  <a:srgbClr val="FFFF00"/>
                </a:highlight>
              </a:rPr>
              <a:t>날까지이다</a:t>
            </a:r>
            <a:r>
              <a:rPr lang="en-US" altLang="ko-KR" sz="1400" dirty="0">
                <a:highlight>
                  <a:srgbClr val="FFFF00"/>
                </a:highlight>
              </a:rPr>
              <a:t>.</a:t>
            </a: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215822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자유형 21"/>
          <p:cNvSpPr/>
          <p:nvPr/>
        </p:nvSpPr>
        <p:spPr>
          <a:xfrm>
            <a:off x="5034468" y="5096616"/>
            <a:ext cx="840132" cy="465666"/>
          </a:xfrm>
          <a:custGeom>
            <a:avLst/>
            <a:gdLst>
              <a:gd name="connsiteX0" fmla="*/ 0 w 939800"/>
              <a:gd name="connsiteY0" fmla="*/ 8466 h 465666"/>
              <a:gd name="connsiteX1" fmla="*/ 135466 w 939800"/>
              <a:gd name="connsiteY1" fmla="*/ 465666 h 465666"/>
              <a:gd name="connsiteX2" fmla="*/ 804333 w 939800"/>
              <a:gd name="connsiteY2" fmla="*/ 465666 h 465666"/>
              <a:gd name="connsiteX3" fmla="*/ 939800 w 939800"/>
              <a:gd name="connsiteY3" fmla="*/ 0 h 46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9800" h="465666">
                <a:moveTo>
                  <a:pt x="0" y="8466"/>
                </a:moveTo>
                <a:lnTo>
                  <a:pt x="135466" y="465666"/>
                </a:lnTo>
                <a:lnTo>
                  <a:pt x="804333" y="465666"/>
                </a:lnTo>
                <a:lnTo>
                  <a:pt x="939800" y="0"/>
                </a:lnTo>
              </a:path>
            </a:pathLst>
          </a:custGeom>
          <a:pattFill prst="ltHorz">
            <a:fgClr>
              <a:schemeClr val="accent4"/>
            </a:fgClr>
            <a:bgClr>
              <a:schemeClr val="bg1"/>
            </a:bgClr>
          </a:patt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>
                    <a:lumMod val="50000"/>
                  </a:schemeClr>
                </a:solidFill>
              </a:rPr>
              <a:t>30</a:t>
            </a:r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일</a:t>
            </a:r>
          </a:p>
        </p:txBody>
      </p:sp>
      <p:cxnSp>
        <p:nvCxnSpPr>
          <p:cNvPr id="23" name="직선 연결선 22"/>
          <p:cNvCxnSpPr/>
          <p:nvPr/>
        </p:nvCxnSpPr>
        <p:spPr>
          <a:xfrm>
            <a:off x="2200275" y="5076192"/>
            <a:ext cx="906885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3038187" y="5359039"/>
            <a:ext cx="813575" cy="4607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무권리자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cxnSp>
        <p:nvCxnSpPr>
          <p:cNvPr id="28" name="직선 화살표 연결선 27"/>
          <p:cNvCxnSpPr>
            <a:stCxn id="25" idx="0"/>
          </p:cNvCxnSpPr>
          <p:nvPr/>
        </p:nvCxnSpPr>
        <p:spPr>
          <a:xfrm flipV="1">
            <a:off x="3444975" y="5076195"/>
            <a:ext cx="0" cy="28284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자유형 28"/>
          <p:cNvSpPr/>
          <p:nvPr/>
        </p:nvSpPr>
        <p:spPr>
          <a:xfrm>
            <a:off x="3437470" y="4668665"/>
            <a:ext cx="4007714" cy="379076"/>
          </a:xfrm>
          <a:custGeom>
            <a:avLst/>
            <a:gdLst>
              <a:gd name="connsiteX0" fmla="*/ 0 w 4944533"/>
              <a:gd name="connsiteY0" fmla="*/ 524934 h 524934"/>
              <a:gd name="connsiteX1" fmla="*/ 0 w 4944533"/>
              <a:gd name="connsiteY1" fmla="*/ 0 h 524934"/>
              <a:gd name="connsiteX2" fmla="*/ 4944533 w 4944533"/>
              <a:gd name="connsiteY2" fmla="*/ 0 h 524934"/>
              <a:gd name="connsiteX3" fmla="*/ 4944533 w 4944533"/>
              <a:gd name="connsiteY3" fmla="*/ 524934 h 524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44533" h="524934">
                <a:moveTo>
                  <a:pt x="0" y="524934"/>
                </a:moveTo>
                <a:lnTo>
                  <a:pt x="0" y="0"/>
                </a:lnTo>
                <a:lnTo>
                  <a:pt x="4944533" y="0"/>
                </a:lnTo>
                <a:lnTo>
                  <a:pt x="4944533" y="524934"/>
                </a:lnTo>
              </a:path>
            </a:pathLst>
          </a:custGeom>
          <a:pattFill prst="dotGrid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4479979" y="4530165"/>
            <a:ext cx="193193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일반적인 심사청구기간</a:t>
            </a:r>
            <a:r>
              <a:rPr lang="en-US" altLang="ko-KR" sz="1200" dirty="0"/>
              <a:t>(3</a:t>
            </a:r>
            <a:r>
              <a:rPr lang="ko-KR" altLang="en-US" sz="1200" dirty="0"/>
              <a:t>년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31" name="직사각형 30"/>
          <p:cNvSpPr/>
          <p:nvPr/>
        </p:nvSpPr>
        <p:spPr>
          <a:xfrm>
            <a:off x="4353522" y="5819429"/>
            <a:ext cx="1288450" cy="47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정당한 권리자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cxnSp>
        <p:nvCxnSpPr>
          <p:cNvPr id="36" name="직선 화살표 연결선 35"/>
          <p:cNvCxnSpPr/>
          <p:nvPr/>
        </p:nvCxnSpPr>
        <p:spPr>
          <a:xfrm flipV="1">
            <a:off x="7151933" y="5076195"/>
            <a:ext cx="0" cy="90940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자유형 36"/>
          <p:cNvSpPr/>
          <p:nvPr/>
        </p:nvSpPr>
        <p:spPr>
          <a:xfrm>
            <a:off x="7151933" y="5096616"/>
            <a:ext cx="840132" cy="465666"/>
          </a:xfrm>
          <a:custGeom>
            <a:avLst/>
            <a:gdLst>
              <a:gd name="connsiteX0" fmla="*/ 0 w 939800"/>
              <a:gd name="connsiteY0" fmla="*/ 8466 h 465666"/>
              <a:gd name="connsiteX1" fmla="*/ 135466 w 939800"/>
              <a:gd name="connsiteY1" fmla="*/ 465666 h 465666"/>
              <a:gd name="connsiteX2" fmla="*/ 804333 w 939800"/>
              <a:gd name="connsiteY2" fmla="*/ 465666 h 465666"/>
              <a:gd name="connsiteX3" fmla="*/ 939800 w 939800"/>
              <a:gd name="connsiteY3" fmla="*/ 0 h 46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9800" h="465666">
                <a:moveTo>
                  <a:pt x="0" y="8466"/>
                </a:moveTo>
                <a:lnTo>
                  <a:pt x="135466" y="465666"/>
                </a:lnTo>
                <a:lnTo>
                  <a:pt x="804333" y="465666"/>
                </a:lnTo>
                <a:lnTo>
                  <a:pt x="939800" y="0"/>
                </a:lnTo>
              </a:path>
            </a:pathLst>
          </a:custGeom>
          <a:pattFill prst="ltHorz">
            <a:fgClr>
              <a:schemeClr val="accent4"/>
            </a:fgClr>
            <a:bgClr>
              <a:schemeClr val="bg1"/>
            </a:bgClr>
          </a:patt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>
                    <a:lumMod val="50000"/>
                  </a:schemeClr>
                </a:solidFill>
              </a:rPr>
              <a:t>30</a:t>
            </a:r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66498" y="5482922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03515" y="5450097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51931" y="4886549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34607" y="4895259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cxnSp>
        <p:nvCxnSpPr>
          <p:cNvPr id="55" name="직선 화살표 연결선 54"/>
          <p:cNvCxnSpPr/>
          <p:nvPr/>
        </p:nvCxnSpPr>
        <p:spPr>
          <a:xfrm flipV="1">
            <a:off x="9442818" y="5076195"/>
            <a:ext cx="0" cy="90940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자유형 55"/>
          <p:cNvSpPr/>
          <p:nvPr/>
        </p:nvSpPr>
        <p:spPr>
          <a:xfrm>
            <a:off x="9442818" y="5096616"/>
            <a:ext cx="840132" cy="465666"/>
          </a:xfrm>
          <a:custGeom>
            <a:avLst/>
            <a:gdLst>
              <a:gd name="connsiteX0" fmla="*/ 0 w 939800"/>
              <a:gd name="connsiteY0" fmla="*/ 8466 h 465666"/>
              <a:gd name="connsiteX1" fmla="*/ 135466 w 939800"/>
              <a:gd name="connsiteY1" fmla="*/ 465666 h 465666"/>
              <a:gd name="connsiteX2" fmla="*/ 804333 w 939800"/>
              <a:gd name="connsiteY2" fmla="*/ 465666 h 465666"/>
              <a:gd name="connsiteX3" fmla="*/ 939800 w 939800"/>
              <a:gd name="connsiteY3" fmla="*/ 0 h 46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9800" h="465666">
                <a:moveTo>
                  <a:pt x="0" y="8466"/>
                </a:moveTo>
                <a:lnTo>
                  <a:pt x="135466" y="465666"/>
                </a:lnTo>
                <a:lnTo>
                  <a:pt x="804333" y="465666"/>
                </a:lnTo>
                <a:lnTo>
                  <a:pt x="939800" y="0"/>
                </a:lnTo>
              </a:path>
            </a:pathLst>
          </a:custGeom>
          <a:pattFill prst="ltHorz">
            <a:fgClr>
              <a:schemeClr val="accent4"/>
            </a:fgClr>
            <a:bgClr>
              <a:schemeClr val="bg1"/>
            </a:bgClr>
          </a:patt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>
                    <a:lumMod val="50000"/>
                  </a:schemeClr>
                </a:solidFill>
              </a:rPr>
              <a:t>30</a:t>
            </a:r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일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57383" y="5482922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22045" y="4886489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❸</a:t>
            </a:r>
          </a:p>
        </p:txBody>
      </p:sp>
      <p:sp>
        <p:nvSpPr>
          <p:cNvPr id="59" name="직사각형 58"/>
          <p:cNvSpPr/>
          <p:nvPr/>
        </p:nvSpPr>
        <p:spPr>
          <a:xfrm>
            <a:off x="6506769" y="5819429"/>
            <a:ext cx="1288450" cy="47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정당한 권리자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8798593" y="5819429"/>
            <a:ext cx="1288450" cy="47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정당한 권리자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1009649" y="4362450"/>
            <a:ext cx="10649839" cy="208419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cxnSp>
        <p:nvCxnSpPr>
          <p:cNvPr id="85" name="직선 화살표 연결선 84"/>
          <p:cNvCxnSpPr>
            <a:cxnSpLocks/>
            <a:stCxn id="92" idx="0"/>
          </p:cNvCxnSpPr>
          <p:nvPr/>
        </p:nvCxnSpPr>
        <p:spPr>
          <a:xfrm flipV="1">
            <a:off x="4997747" y="3026279"/>
            <a:ext cx="0" cy="42572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/>
          <p:nvPr/>
        </p:nvCxnSpPr>
        <p:spPr>
          <a:xfrm>
            <a:off x="2200275" y="3026278"/>
            <a:ext cx="906885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/>
          <p:cNvSpPr/>
          <p:nvPr/>
        </p:nvSpPr>
        <p:spPr>
          <a:xfrm>
            <a:off x="3038187" y="3309125"/>
            <a:ext cx="813575" cy="4607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무권리자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cxnSp>
        <p:nvCxnSpPr>
          <p:cNvPr id="89" name="직선 화살표 연결선 88"/>
          <p:cNvCxnSpPr>
            <a:stCxn id="88" idx="0"/>
          </p:cNvCxnSpPr>
          <p:nvPr/>
        </p:nvCxnSpPr>
        <p:spPr>
          <a:xfrm flipV="1">
            <a:off x="3444975" y="3026281"/>
            <a:ext cx="0" cy="28284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자유형 89"/>
          <p:cNvSpPr/>
          <p:nvPr/>
        </p:nvSpPr>
        <p:spPr>
          <a:xfrm>
            <a:off x="3437469" y="2618751"/>
            <a:ext cx="6190783" cy="379076"/>
          </a:xfrm>
          <a:custGeom>
            <a:avLst/>
            <a:gdLst>
              <a:gd name="connsiteX0" fmla="*/ 0 w 4944533"/>
              <a:gd name="connsiteY0" fmla="*/ 524934 h 524934"/>
              <a:gd name="connsiteX1" fmla="*/ 0 w 4944533"/>
              <a:gd name="connsiteY1" fmla="*/ 0 h 524934"/>
              <a:gd name="connsiteX2" fmla="*/ 4944533 w 4944533"/>
              <a:gd name="connsiteY2" fmla="*/ 0 h 524934"/>
              <a:gd name="connsiteX3" fmla="*/ 4944533 w 4944533"/>
              <a:gd name="connsiteY3" fmla="*/ 524934 h 524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44533" h="524934">
                <a:moveTo>
                  <a:pt x="0" y="524934"/>
                </a:moveTo>
                <a:lnTo>
                  <a:pt x="0" y="0"/>
                </a:lnTo>
                <a:lnTo>
                  <a:pt x="4944533" y="0"/>
                </a:lnTo>
                <a:lnTo>
                  <a:pt x="4944533" y="524934"/>
                </a:lnTo>
              </a:path>
            </a:pathLst>
          </a:custGeom>
          <a:pattFill prst="dotGrid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/>
          <p:cNvSpPr txBox="1"/>
          <p:nvPr/>
        </p:nvSpPr>
        <p:spPr>
          <a:xfrm>
            <a:off x="4880732" y="2480251"/>
            <a:ext cx="1130438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출원일 후 </a:t>
            </a:r>
            <a:r>
              <a:rPr lang="en-US" altLang="ko-KR" sz="1200" dirty="0"/>
              <a:t>20</a:t>
            </a:r>
            <a:r>
              <a:rPr lang="ko-KR" altLang="en-US" sz="1200" dirty="0"/>
              <a:t>년</a:t>
            </a:r>
          </a:p>
        </p:txBody>
      </p:sp>
      <p:sp>
        <p:nvSpPr>
          <p:cNvPr id="92" name="직사각형 91"/>
          <p:cNvSpPr/>
          <p:nvPr/>
        </p:nvSpPr>
        <p:spPr>
          <a:xfrm>
            <a:off x="4353522" y="3452007"/>
            <a:ext cx="1288450" cy="47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정당한 권리자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cxnSp>
        <p:nvCxnSpPr>
          <p:cNvPr id="93" name="직선 화살표 연결선 92"/>
          <p:cNvCxnSpPr/>
          <p:nvPr/>
        </p:nvCxnSpPr>
        <p:spPr>
          <a:xfrm flipV="1">
            <a:off x="7151933" y="3026281"/>
            <a:ext cx="0" cy="90940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직사각형 102"/>
          <p:cNvSpPr/>
          <p:nvPr/>
        </p:nvSpPr>
        <p:spPr>
          <a:xfrm>
            <a:off x="6506769" y="3452007"/>
            <a:ext cx="1288450" cy="47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정당한 권리자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105" name="직사각형 104"/>
          <p:cNvSpPr/>
          <p:nvPr/>
        </p:nvSpPr>
        <p:spPr>
          <a:xfrm>
            <a:off x="1009649" y="2294097"/>
            <a:ext cx="10649839" cy="192075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158</a:t>
            </a:fld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501990" y="5055529"/>
            <a:ext cx="1022970" cy="697254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심사청구</a:t>
            </a:r>
            <a:endParaRPr lang="en-US" altLang="ko-KR" sz="1600" dirty="0"/>
          </a:p>
          <a:p>
            <a:pPr algn="ctr"/>
            <a:r>
              <a:rPr lang="ko-KR" altLang="en-US" sz="1600" dirty="0"/>
              <a:t>기간</a:t>
            </a:r>
          </a:p>
        </p:txBody>
      </p:sp>
      <p:sp>
        <p:nvSpPr>
          <p:cNvPr id="106" name="모서리가 둥근 직사각형 105"/>
          <p:cNvSpPr/>
          <p:nvPr/>
        </p:nvSpPr>
        <p:spPr>
          <a:xfrm>
            <a:off x="501990" y="2872895"/>
            <a:ext cx="1022970" cy="697254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존속기간</a:t>
            </a:r>
          </a:p>
        </p:txBody>
      </p:sp>
    </p:spTree>
    <p:extLst>
      <p:ext uri="{BB962C8B-B14F-4D97-AF65-F5344CB8AC3E}">
        <p14:creationId xmlns:p14="http://schemas.microsoft.com/office/powerpoint/2010/main" val="929865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104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무효심판청구 등록 전의 실시에 의한 </a:t>
            </a:r>
            <a:r>
              <a:rPr lang="ko-KR" altLang="en-US" dirty="0" err="1"/>
              <a:t>통상실시권</a:t>
            </a:r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104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무효심판청구 등록 전의 실시에 의한 </a:t>
            </a:r>
            <a:r>
              <a:rPr lang="ko-KR" altLang="en-US" sz="1400" b="1" dirty="0" err="1">
                <a:solidFill>
                  <a:schemeClr val="accent1"/>
                </a:solidFill>
              </a:rPr>
              <a:t>통상실시권</a:t>
            </a:r>
            <a:r>
              <a:rPr lang="en-US" altLang="ko-KR" sz="1400" b="1" dirty="0">
                <a:solidFill>
                  <a:schemeClr val="accent1"/>
                </a:solidFill>
              </a:rPr>
              <a:t>)</a:t>
            </a:r>
            <a:r>
              <a:rPr lang="en-US" altLang="ko-KR" sz="1400" dirty="0">
                <a:solidFill>
                  <a:schemeClr val="accent1"/>
                </a:solidFill>
              </a:rPr>
              <a:t> 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다음 각 호의 어느 하나에 해당하는 자가 특허 또는 실용신안등록에 대한 무효심판청구의 등록 전에 자기의 </a:t>
            </a:r>
            <a:r>
              <a:rPr lang="ko-KR" altLang="en-US" sz="1400" dirty="0" err="1">
                <a:solidFill>
                  <a:schemeClr val="tx2"/>
                </a:solidFill>
              </a:rPr>
              <a:t>특허발명</a:t>
            </a:r>
            <a:r>
              <a:rPr lang="ko-KR" altLang="en-US" sz="1400" dirty="0">
                <a:solidFill>
                  <a:schemeClr val="tx2"/>
                </a:solidFill>
              </a:rPr>
              <a:t> 또는 등록실용신안이 </a:t>
            </a:r>
            <a:r>
              <a:rPr lang="ko-KR" altLang="en-US" sz="1400" dirty="0" err="1">
                <a:solidFill>
                  <a:schemeClr val="tx2"/>
                </a:solidFill>
              </a:rPr>
              <a:t>무효사유에</a:t>
            </a:r>
            <a:r>
              <a:rPr lang="ko-KR" altLang="en-US" sz="1400" dirty="0">
                <a:solidFill>
                  <a:schemeClr val="tx2"/>
                </a:solidFill>
              </a:rPr>
              <a:t> 해당하는 것을 알지 못하고 국내에서 그 발명 또는 고안의 </a:t>
            </a:r>
            <a:r>
              <a:rPr lang="ko-KR" altLang="en-US" sz="1400" dirty="0" err="1">
                <a:solidFill>
                  <a:schemeClr val="tx2"/>
                </a:solidFill>
              </a:rPr>
              <a:t>실시사업을</a:t>
            </a:r>
            <a:r>
              <a:rPr lang="ko-KR" altLang="en-US" sz="1400" dirty="0">
                <a:solidFill>
                  <a:schemeClr val="tx2"/>
                </a:solidFill>
              </a:rPr>
              <a:t> 하거나 이를 준비하고 있는 경우에는 그 실시하거나 준비하고 있는 발명 또는 고안 및 </a:t>
            </a:r>
            <a:r>
              <a:rPr lang="ko-KR" altLang="en-US" sz="1400" dirty="0" err="1">
                <a:solidFill>
                  <a:schemeClr val="tx2"/>
                </a:solidFill>
              </a:rPr>
              <a:t>사업목적의</a:t>
            </a:r>
            <a:r>
              <a:rPr lang="ko-KR" altLang="en-US" sz="1400" dirty="0">
                <a:solidFill>
                  <a:schemeClr val="tx2"/>
                </a:solidFill>
              </a:rPr>
              <a:t> 범위에서 그 특허권에 대하여 통상실시권을 가지거나 특허나 실용신안등록이 무효로 된 당시에 존재하는 특허권의 전용실시권에 대하여 통상실시권을 가진다</a:t>
            </a:r>
            <a:r>
              <a:rPr lang="en-US" altLang="ko-KR" sz="1400" dirty="0">
                <a:solidFill>
                  <a:schemeClr val="tx2"/>
                </a:solidFill>
              </a:rPr>
              <a:t>.  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동일한 발명에 대한 둘 이상의 특허 중 그 하나의 특허를 무효로 한 경우 그 무효로 된 특허의 </a:t>
            </a:r>
            <a:r>
              <a:rPr lang="ko-KR" altLang="en-US" sz="1400" dirty="0" err="1">
                <a:solidFill>
                  <a:schemeClr val="tx2"/>
                </a:solidFill>
              </a:rPr>
              <a:t>원특허권자</a:t>
            </a:r>
            <a:endParaRPr lang="ko-KR" altLang="en-US" sz="14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특허발명과 등록실용신안이 동일하여 그 실용신안등록을 무효로 한 경우 그 무효로 된 실용신안등록의 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原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실용신안권자</a:t>
            </a:r>
          </a:p>
          <a:p>
            <a:pPr fontAlgn="base"/>
            <a:r>
              <a:rPr lang="en-US" altLang="ko-KR" sz="1400" dirty="0">
                <a:solidFill>
                  <a:srgbClr val="FF0000"/>
                </a:solidFill>
              </a:rPr>
              <a:t>3. </a:t>
            </a:r>
            <a:r>
              <a:rPr lang="ko-KR" altLang="en-US" sz="1400" dirty="0">
                <a:solidFill>
                  <a:srgbClr val="FF0000"/>
                </a:solidFill>
              </a:rPr>
              <a:t>특허를 무효로 하고 동일한 발명에 관하여 정당한 </a:t>
            </a:r>
            <a:r>
              <a:rPr lang="ko-KR" altLang="en-US" sz="1400" dirty="0" err="1">
                <a:solidFill>
                  <a:srgbClr val="FF0000"/>
                </a:solidFill>
              </a:rPr>
              <a:t>권리자에게</a:t>
            </a:r>
            <a:r>
              <a:rPr lang="ko-KR" altLang="en-US" sz="1400" dirty="0">
                <a:solidFill>
                  <a:srgbClr val="FF0000"/>
                </a:solidFill>
              </a:rPr>
              <a:t> 특허를 한 경우 그 무효로 된 특허의 </a:t>
            </a:r>
            <a:r>
              <a:rPr lang="ko-KR" altLang="en-US" sz="1400" dirty="0" err="1">
                <a:solidFill>
                  <a:srgbClr val="FF0000"/>
                </a:solidFill>
              </a:rPr>
              <a:t>원특허권자</a:t>
            </a:r>
            <a:endParaRPr lang="ko-KR" altLang="en-US" sz="1400" dirty="0">
              <a:solidFill>
                <a:srgbClr val="FF0000"/>
              </a:solidFill>
            </a:endParaRPr>
          </a:p>
          <a:p>
            <a:pPr fontAlgn="base"/>
            <a:r>
              <a:rPr lang="en-US" altLang="ko-KR" sz="1400" dirty="0">
                <a:solidFill>
                  <a:srgbClr val="FF0000"/>
                </a:solidFill>
              </a:rPr>
              <a:t>4. </a:t>
            </a:r>
            <a:r>
              <a:rPr lang="ko-KR" altLang="en-US" sz="1400" dirty="0">
                <a:solidFill>
                  <a:srgbClr val="FF0000"/>
                </a:solidFill>
              </a:rPr>
              <a:t>실용신안등록을 무효로 하고 그 고안과 동일한 발명에 관하여 정당한 </a:t>
            </a:r>
            <a:r>
              <a:rPr lang="ko-KR" altLang="en-US" sz="1400" dirty="0" err="1">
                <a:solidFill>
                  <a:srgbClr val="FF0000"/>
                </a:solidFill>
              </a:rPr>
              <a:t>권리자에게</a:t>
            </a:r>
            <a:r>
              <a:rPr lang="ko-KR" altLang="en-US" sz="1400" dirty="0">
                <a:solidFill>
                  <a:srgbClr val="FF0000"/>
                </a:solidFill>
              </a:rPr>
              <a:t> 특허를 한 경우 그 무효로 된 실용신안의 원실용신안권자</a:t>
            </a:r>
          </a:p>
          <a:p>
            <a:pPr fontAlgn="base"/>
            <a:r>
              <a:rPr lang="en-US" altLang="ko-KR" sz="1400" dirty="0">
                <a:solidFill>
                  <a:srgbClr val="FF0000"/>
                </a:solidFill>
              </a:rPr>
              <a:t>5. </a:t>
            </a:r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1</a:t>
            </a:r>
            <a:r>
              <a:rPr lang="ko-KR" altLang="en-US" sz="1400" dirty="0">
                <a:solidFill>
                  <a:srgbClr val="FF0000"/>
                </a:solidFill>
              </a:rPr>
              <a:t>호부터 제</a:t>
            </a:r>
            <a:r>
              <a:rPr lang="en-US" altLang="ko-KR" sz="1400" dirty="0">
                <a:solidFill>
                  <a:srgbClr val="FF0000"/>
                </a:solidFill>
              </a:rPr>
              <a:t>4</a:t>
            </a:r>
            <a:r>
              <a:rPr lang="ko-KR" altLang="en-US" sz="1400" dirty="0">
                <a:solidFill>
                  <a:srgbClr val="FF0000"/>
                </a:solidFill>
              </a:rPr>
              <a:t>호까지의 경우에 있어서 그 무효로 된 특허권 또는 실용신안권에 대하여 무효심판청구 등록 당시에 이미 전용실시권이나 </a:t>
            </a:r>
            <a:r>
              <a:rPr lang="ko-KR" altLang="en-US" sz="1400" dirty="0" err="1">
                <a:solidFill>
                  <a:srgbClr val="FF0000"/>
                </a:solidFill>
              </a:rPr>
              <a:t>통상실시권</a:t>
            </a:r>
            <a:r>
              <a:rPr lang="ko-KR" altLang="en-US" sz="1400" dirty="0">
                <a:solidFill>
                  <a:srgbClr val="FF0000"/>
                </a:solidFill>
              </a:rPr>
              <a:t> 또는 그 전용실시권에 대한 통상실시권을 취득하고 등록을 받은 자</a:t>
            </a:r>
            <a:r>
              <a:rPr lang="en-US" altLang="ko-KR" sz="1400" dirty="0">
                <a:solidFill>
                  <a:srgbClr val="FF0000"/>
                </a:solidFill>
              </a:rPr>
              <a:t>. </a:t>
            </a:r>
            <a:r>
              <a:rPr lang="ko-KR" altLang="en-US" sz="1400" dirty="0">
                <a:solidFill>
                  <a:srgbClr val="FF0000"/>
                </a:solidFill>
              </a:rPr>
              <a:t>다만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118</a:t>
            </a:r>
            <a:r>
              <a:rPr lang="ko-KR" altLang="en-US" sz="1400" dirty="0">
                <a:solidFill>
                  <a:srgbClr val="FF0000"/>
                </a:solidFill>
              </a:rPr>
              <a:t>조제</a:t>
            </a:r>
            <a:r>
              <a:rPr lang="en-US" altLang="ko-KR" sz="1400" dirty="0">
                <a:solidFill>
                  <a:srgbClr val="FF0000"/>
                </a:solidFill>
              </a:rPr>
              <a:t>2</a:t>
            </a:r>
            <a:r>
              <a:rPr lang="ko-KR" altLang="en-US" sz="1400" dirty="0">
                <a:solidFill>
                  <a:srgbClr val="FF0000"/>
                </a:solidFill>
              </a:rPr>
              <a:t>항에 따른 통상실시권을 취득한 자는 등록을 필요로 하지 아니한다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통상실시권을 가진 자는 </a:t>
            </a:r>
            <a:r>
              <a:rPr lang="ko-KR" altLang="en-US" sz="1400" dirty="0" err="1">
                <a:solidFill>
                  <a:schemeClr val="tx2"/>
                </a:solidFill>
              </a:rPr>
              <a:t>특허권자</a:t>
            </a:r>
            <a:r>
              <a:rPr lang="ko-KR" altLang="en-US" sz="1400" dirty="0">
                <a:solidFill>
                  <a:schemeClr val="tx2"/>
                </a:solidFill>
              </a:rPr>
              <a:t> 또는 전용실시권자에게 상당한 대가를 지급하여야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345308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159</a:t>
            </a:fld>
            <a:endParaRPr lang="ko-KR" altLang="en-US"/>
          </a:p>
        </p:txBody>
      </p:sp>
      <p:sp>
        <p:nvSpPr>
          <p:cNvPr id="32" name="Rectangle 14"/>
          <p:cNvSpPr>
            <a:spLocks noChangeArrowheads="1"/>
          </p:cNvSpPr>
          <p:nvPr/>
        </p:nvSpPr>
        <p:spPr bwMode="auto">
          <a:xfrm>
            <a:off x="6711268" y="5481302"/>
            <a:ext cx="746662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 err="1">
                <a:latin typeface="+mn-ea"/>
              </a:rPr>
              <a:t>모인</a:t>
            </a:r>
            <a:r>
              <a:rPr lang="ko-KR" altLang="en-US" sz="1400" dirty="0" err="1">
                <a:latin typeface="+mn-ea"/>
              </a:rPr>
              <a:t>출원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b="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乙</a:t>
            </a:r>
            <a:r>
              <a:rPr lang="en-US" altLang="ko-KR" sz="1400" b="0" dirty="0">
                <a:latin typeface="+mn-ea"/>
              </a:rPr>
              <a:t>)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35" name="직선 화살표 연결선 34"/>
          <p:cNvCxnSpPr>
            <a:cxnSpLocks/>
            <a:stCxn id="32" idx="0"/>
          </p:cNvCxnSpPr>
          <p:nvPr/>
        </p:nvCxnSpPr>
        <p:spPr>
          <a:xfrm flipV="1">
            <a:off x="7084599" y="5270184"/>
            <a:ext cx="0" cy="21111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14"/>
          <p:cNvSpPr>
            <a:spLocks noChangeArrowheads="1"/>
          </p:cNvSpPr>
          <p:nvPr/>
        </p:nvSpPr>
        <p:spPr bwMode="auto">
          <a:xfrm>
            <a:off x="7559070" y="5481302"/>
            <a:ext cx="746662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 err="1">
                <a:latin typeface="+mn-ea"/>
              </a:rPr>
              <a:t>설정등록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乙</a:t>
            </a:r>
            <a:r>
              <a:rPr lang="en-US" altLang="ko-KR" sz="1400" dirty="0">
                <a:latin typeface="+mn-ea"/>
              </a:rPr>
              <a:t>)</a:t>
            </a:r>
            <a:endParaRPr lang="ko-KR" altLang="en-US" sz="1400" dirty="0">
              <a:latin typeface="+mn-ea"/>
            </a:endParaRPr>
          </a:p>
        </p:txBody>
      </p:sp>
      <p:cxnSp>
        <p:nvCxnSpPr>
          <p:cNvPr id="37" name="직선 화살표 연결선 36"/>
          <p:cNvCxnSpPr>
            <a:cxnSpLocks/>
            <a:stCxn id="36" idx="0"/>
          </p:cNvCxnSpPr>
          <p:nvPr/>
        </p:nvCxnSpPr>
        <p:spPr>
          <a:xfrm flipV="1">
            <a:off x="7932401" y="5243638"/>
            <a:ext cx="1" cy="23766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자유형 37"/>
          <p:cNvSpPr/>
          <p:nvPr/>
        </p:nvSpPr>
        <p:spPr>
          <a:xfrm>
            <a:off x="9127313" y="5213389"/>
            <a:ext cx="2853920" cy="1218923"/>
          </a:xfrm>
          <a:custGeom>
            <a:avLst/>
            <a:gdLst>
              <a:gd name="connsiteX0" fmla="*/ 0 w 7879222"/>
              <a:gd name="connsiteY0" fmla="*/ 0 h 743484"/>
              <a:gd name="connsiteX1" fmla="*/ 0 w 7879222"/>
              <a:gd name="connsiteY1" fmla="*/ 743484 h 743484"/>
              <a:gd name="connsiteX2" fmla="*/ 7879222 w 7879222"/>
              <a:gd name="connsiteY2" fmla="*/ 743484 h 743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79222" h="743484">
                <a:moveTo>
                  <a:pt x="0" y="0"/>
                </a:moveTo>
                <a:lnTo>
                  <a:pt x="0" y="743484"/>
                </a:lnTo>
                <a:lnTo>
                  <a:pt x="7879222" y="743484"/>
                </a:lnTo>
              </a:path>
            </a:pathLst>
          </a:custGeom>
          <a:noFill/>
          <a:ln w="5715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/>
          <p:cNvSpPr txBox="1"/>
          <p:nvPr/>
        </p:nvSpPr>
        <p:spPr>
          <a:xfrm>
            <a:off x="9557778" y="6205188"/>
            <a:ext cx="1992989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선의의 丙이 국내에서 </a:t>
            </a:r>
            <a:endParaRPr lang="en-US" altLang="ko-KR" sz="1400" dirty="0"/>
          </a:p>
          <a:p>
            <a:pPr algn="ctr"/>
            <a:r>
              <a:rPr lang="ko-KR" altLang="en-US" sz="1400" dirty="0"/>
              <a:t>실시사업 또는 사업준비</a:t>
            </a:r>
          </a:p>
        </p:txBody>
      </p:sp>
      <p:sp>
        <p:nvSpPr>
          <p:cNvPr id="47" name="Rectangle 14"/>
          <p:cNvSpPr>
            <a:spLocks noChangeArrowheads="1"/>
          </p:cNvSpPr>
          <p:nvPr/>
        </p:nvSpPr>
        <p:spPr bwMode="auto">
          <a:xfrm>
            <a:off x="8057146" y="6170958"/>
            <a:ext cx="968799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이전등록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乙 </a:t>
            </a:r>
            <a:r>
              <a:rPr lang="en-US" altLang="ko-KR" sz="1400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latin typeface="+mn-ea"/>
                <a:sym typeface="Wingdings" panose="05000000000000000000" pitchFamily="2" charset="2"/>
              </a:rPr>
              <a:t>丙</a:t>
            </a:r>
            <a:r>
              <a:rPr lang="en-US" altLang="ko-KR" sz="1400" dirty="0">
                <a:latin typeface="+mn-ea"/>
                <a:sym typeface="Wingdings" panose="05000000000000000000" pitchFamily="2" charset="2"/>
              </a:rPr>
              <a:t>)</a:t>
            </a:r>
            <a:endParaRPr lang="en-US" altLang="ko-KR" sz="1400" dirty="0">
              <a:latin typeface="+mn-ea"/>
            </a:endParaRPr>
          </a:p>
        </p:txBody>
      </p:sp>
      <p:cxnSp>
        <p:nvCxnSpPr>
          <p:cNvPr id="48" name="직선 화살표 연결선 47"/>
          <p:cNvCxnSpPr>
            <a:stCxn id="47" idx="0"/>
          </p:cNvCxnSpPr>
          <p:nvPr/>
        </p:nvCxnSpPr>
        <p:spPr>
          <a:xfrm flipV="1">
            <a:off x="8541545" y="5218994"/>
            <a:ext cx="0" cy="95196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14"/>
          <p:cNvSpPr>
            <a:spLocks noChangeArrowheads="1"/>
          </p:cNvSpPr>
          <p:nvPr/>
        </p:nvSpPr>
        <p:spPr bwMode="auto">
          <a:xfrm>
            <a:off x="6326914" y="4518380"/>
            <a:ext cx="569803" cy="4619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발명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甲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  <a:endParaRPr lang="ko-KR" altLang="en-US" sz="1400" b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6" name="Rectangle 14"/>
          <p:cNvSpPr>
            <a:spLocks noChangeArrowheads="1"/>
          </p:cNvSpPr>
          <p:nvPr/>
        </p:nvSpPr>
        <p:spPr bwMode="auto">
          <a:xfrm>
            <a:off x="10723599" y="4481013"/>
            <a:ext cx="490867" cy="4619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출원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甲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  <a:endParaRPr lang="ko-KR" altLang="en-US" sz="1400" b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8" name="Rectangle 14"/>
          <p:cNvSpPr>
            <a:spLocks noChangeArrowheads="1"/>
          </p:cNvSpPr>
          <p:nvPr/>
        </p:nvSpPr>
        <p:spPr bwMode="auto">
          <a:xfrm>
            <a:off x="11263159" y="4481013"/>
            <a:ext cx="742592" cy="4619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설정등록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甲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  <a:endParaRPr lang="ko-KR" altLang="en-US" sz="1400" b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55" name="직선 화살표 연결선 54"/>
          <p:cNvCxnSpPr>
            <a:stCxn id="54" idx="2"/>
          </p:cNvCxnSpPr>
          <p:nvPr/>
        </p:nvCxnSpPr>
        <p:spPr>
          <a:xfrm flipH="1">
            <a:off x="6608833" y="4980368"/>
            <a:ext cx="2982" cy="21111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/>
          <p:cNvCxnSpPr>
            <a:cxnSpLocks/>
            <a:stCxn id="56" idx="2"/>
          </p:cNvCxnSpPr>
          <p:nvPr/>
        </p:nvCxnSpPr>
        <p:spPr>
          <a:xfrm flipH="1">
            <a:off x="10967517" y="4943001"/>
            <a:ext cx="1516" cy="27036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/>
          <p:cNvCxnSpPr>
            <a:cxnSpLocks/>
            <a:stCxn id="58" idx="2"/>
          </p:cNvCxnSpPr>
          <p:nvPr/>
        </p:nvCxnSpPr>
        <p:spPr>
          <a:xfrm>
            <a:off x="11634455" y="4943001"/>
            <a:ext cx="56" cy="27599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cxnSpLocks/>
            <a:stCxn id="56" idx="0"/>
            <a:endCxn id="7" idx="0"/>
          </p:cNvCxnSpPr>
          <p:nvPr/>
        </p:nvCxnSpPr>
        <p:spPr>
          <a:xfrm rot="16200000" flipH="1" flipV="1">
            <a:off x="8690175" y="2893577"/>
            <a:ext cx="691422" cy="3866294"/>
          </a:xfrm>
          <a:prstGeom prst="bentConnector3">
            <a:avLst>
              <a:gd name="adj1" fmla="val -33062"/>
            </a:avLst>
          </a:prstGeom>
          <a:ln w="127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057146" y="4103116"/>
            <a:ext cx="167626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출원일 소급</a:t>
            </a:r>
            <a:r>
              <a:rPr lang="en-US" altLang="ko-KR" sz="1400" dirty="0"/>
              <a:t>(</a:t>
            </a:r>
            <a:r>
              <a:rPr lang="ko-KR" altLang="en-US" sz="1400" dirty="0"/>
              <a:t>法 </a:t>
            </a:r>
            <a:r>
              <a:rPr lang="en-US" altLang="ko-KR" sz="1400" dirty="0"/>
              <a:t>35)</a:t>
            </a:r>
            <a:endParaRPr lang="ko-KR" alt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8644053" y="4756495"/>
            <a:ext cx="1480302" cy="280928"/>
          </a:xfrm>
          <a:prstGeom prst="wedgeRoundRectCallout">
            <a:avLst>
              <a:gd name="adj1" fmla="val 1791"/>
              <a:gd name="adj2" fmla="val 186011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제</a:t>
            </a:r>
            <a:r>
              <a:rPr lang="en-US" altLang="ko-KR" sz="1050" dirty="0"/>
              <a:t>33</a:t>
            </a:r>
            <a:r>
              <a:rPr lang="ko-KR" altLang="en-US" sz="1050" dirty="0"/>
              <a:t>조제</a:t>
            </a:r>
            <a:r>
              <a:rPr lang="en-US" altLang="ko-KR" sz="1050" dirty="0"/>
              <a:t>1</a:t>
            </a:r>
            <a:r>
              <a:rPr lang="ko-KR" altLang="en-US" sz="1050" dirty="0" err="1"/>
              <a:t>항본문</a:t>
            </a:r>
            <a:r>
              <a:rPr lang="ko-KR" altLang="en-US" sz="1050" dirty="0"/>
              <a:t> 위반</a:t>
            </a:r>
          </a:p>
        </p:txBody>
      </p:sp>
      <p:sp>
        <p:nvSpPr>
          <p:cNvPr id="7" name="타원 6"/>
          <p:cNvSpPr/>
          <p:nvPr/>
        </p:nvSpPr>
        <p:spPr>
          <a:xfrm>
            <a:off x="7079879" y="5172435"/>
            <a:ext cx="45719" cy="712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모서리가 둥근 직사각형 105">
            <a:extLst>
              <a:ext uri="{FF2B5EF4-FFF2-40B4-BE49-F238E27FC236}">
                <a16:creationId xmlns:a16="http://schemas.microsoft.com/office/drawing/2014/main" id="{0384045E-1D56-4DDD-9A01-20FE53763E80}"/>
              </a:ext>
            </a:extLst>
          </p:cNvPr>
          <p:cNvSpPr/>
          <p:nvPr/>
        </p:nvSpPr>
        <p:spPr>
          <a:xfrm>
            <a:off x="6468986" y="3556949"/>
            <a:ext cx="2403541" cy="429338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제</a:t>
            </a:r>
            <a:r>
              <a:rPr lang="en-US" altLang="ko-KR" sz="1600" dirty="0"/>
              <a:t>33</a:t>
            </a:r>
            <a:r>
              <a:rPr lang="ko-KR" altLang="en-US" sz="1600" dirty="0"/>
              <a:t>조제</a:t>
            </a:r>
            <a:r>
              <a:rPr lang="en-US" altLang="ko-KR" sz="1600" dirty="0"/>
              <a:t>1</a:t>
            </a:r>
            <a:r>
              <a:rPr lang="ko-KR" altLang="en-US" sz="1600" dirty="0" err="1"/>
              <a:t>항본문</a:t>
            </a:r>
            <a:r>
              <a:rPr lang="ko-KR" altLang="en-US" sz="1600" dirty="0"/>
              <a:t> 위반</a:t>
            </a:r>
          </a:p>
        </p:txBody>
      </p:sp>
      <p:cxnSp>
        <p:nvCxnSpPr>
          <p:cNvPr id="31" name="직선 화살표 연결선 30"/>
          <p:cNvCxnSpPr/>
          <p:nvPr/>
        </p:nvCxnSpPr>
        <p:spPr>
          <a:xfrm>
            <a:off x="6430357" y="5205240"/>
            <a:ext cx="5574070" cy="0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모서리가 둥근 직사각형 105">
            <a:extLst>
              <a:ext uri="{FF2B5EF4-FFF2-40B4-BE49-F238E27FC236}">
                <a16:creationId xmlns:a16="http://schemas.microsoft.com/office/drawing/2014/main" id="{4BC13741-05E1-48D7-A14D-96C5B2E08485}"/>
              </a:ext>
            </a:extLst>
          </p:cNvPr>
          <p:cNvSpPr/>
          <p:nvPr/>
        </p:nvSpPr>
        <p:spPr>
          <a:xfrm>
            <a:off x="261028" y="3556949"/>
            <a:ext cx="4225628" cy="429338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제</a:t>
            </a:r>
            <a:r>
              <a:rPr lang="en-US" altLang="ko-KR" sz="1600" dirty="0"/>
              <a:t>29</a:t>
            </a:r>
            <a:r>
              <a:rPr lang="ko-KR" altLang="en-US" sz="1600" dirty="0"/>
              <a:t>조제</a:t>
            </a:r>
            <a:r>
              <a:rPr lang="en-US" altLang="ko-KR" sz="1600" dirty="0"/>
              <a:t>1</a:t>
            </a:r>
            <a:r>
              <a:rPr lang="ko-KR" altLang="en-US" sz="1600" dirty="0" err="1"/>
              <a:t>항각호</a:t>
            </a:r>
            <a:r>
              <a:rPr lang="en-US" altLang="ko-KR" sz="1600" dirty="0"/>
              <a:t>, </a:t>
            </a:r>
            <a:r>
              <a:rPr lang="ko-KR" altLang="en-US" sz="1600" dirty="0"/>
              <a:t>제</a:t>
            </a:r>
            <a:r>
              <a:rPr lang="en-US" altLang="ko-KR" sz="1600" dirty="0"/>
              <a:t>29</a:t>
            </a:r>
            <a:r>
              <a:rPr lang="ko-KR" altLang="en-US" sz="1600" dirty="0"/>
              <a:t>조제</a:t>
            </a:r>
            <a:r>
              <a:rPr lang="en-US" altLang="ko-KR" sz="1600" dirty="0"/>
              <a:t>3</a:t>
            </a:r>
            <a:r>
              <a:rPr lang="ko-KR" altLang="en-US" sz="1600" dirty="0"/>
              <a:t>항</a:t>
            </a:r>
            <a:r>
              <a:rPr lang="en-US" altLang="ko-KR" sz="1600" dirty="0"/>
              <a:t>, </a:t>
            </a:r>
            <a:r>
              <a:rPr lang="ko-KR" altLang="en-US" sz="1600" dirty="0"/>
              <a:t>제</a:t>
            </a:r>
            <a:r>
              <a:rPr lang="en-US" altLang="ko-KR" sz="1600" dirty="0"/>
              <a:t>36</a:t>
            </a:r>
            <a:r>
              <a:rPr lang="ko-KR" altLang="en-US" sz="1600" dirty="0"/>
              <a:t>조 위반</a:t>
            </a:r>
          </a:p>
        </p:txBody>
      </p:sp>
      <p:sp>
        <p:nvSpPr>
          <p:cNvPr id="78" name="Rectangle 14">
            <a:extLst>
              <a:ext uri="{FF2B5EF4-FFF2-40B4-BE49-F238E27FC236}">
                <a16:creationId xmlns:a16="http://schemas.microsoft.com/office/drawing/2014/main" id="{D662EF22-0508-478E-8629-9AB5D2617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3861" y="5481302"/>
            <a:ext cx="1039360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무효심판청구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200" b="0" dirty="0">
                <a:latin typeface="+mn-ea"/>
              </a:rPr>
              <a:t>(</a:t>
            </a:r>
            <a:r>
              <a:rPr lang="ko-KR" altLang="en-US" sz="1200" b="0" dirty="0">
                <a:latin typeface="+mn-ea"/>
              </a:rPr>
              <a:t>甲</a:t>
            </a:r>
            <a:r>
              <a:rPr lang="en-US" altLang="ko-KR" sz="1200" b="0" dirty="0">
                <a:latin typeface="+mn-ea"/>
              </a:rPr>
              <a:t>/</a:t>
            </a:r>
            <a:r>
              <a:rPr lang="ko-KR" altLang="en-US" sz="1200" b="0" dirty="0">
                <a:latin typeface="+mn-ea"/>
              </a:rPr>
              <a:t>심사관</a:t>
            </a:r>
            <a:r>
              <a:rPr lang="en-US" altLang="ko-KR" sz="1200" b="0" dirty="0">
                <a:latin typeface="+mn-ea"/>
              </a:rPr>
              <a:t>)</a:t>
            </a:r>
            <a:endParaRPr lang="ko-KR" altLang="en-US" sz="1200" b="0" dirty="0">
              <a:latin typeface="+mn-ea"/>
            </a:endParaRPr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4E8E2646-C7E9-49B0-BAD6-6ADDCFB61BF9}"/>
              </a:ext>
            </a:extLst>
          </p:cNvPr>
          <p:cNvCxnSpPr>
            <a:cxnSpLocks/>
            <a:stCxn id="78" idx="0"/>
          </p:cNvCxnSpPr>
          <p:nvPr/>
        </p:nvCxnSpPr>
        <p:spPr>
          <a:xfrm flipH="1" flipV="1">
            <a:off x="9833540" y="5243638"/>
            <a:ext cx="1" cy="23766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14">
            <a:extLst>
              <a:ext uri="{FF2B5EF4-FFF2-40B4-BE49-F238E27FC236}">
                <a16:creationId xmlns:a16="http://schemas.microsoft.com/office/drawing/2014/main" id="{1D3131B4-80C8-4614-B4E8-09A993B54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8655" y="5481302"/>
            <a:ext cx="746662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 err="1">
                <a:latin typeface="+mn-ea"/>
              </a:rPr>
              <a:t>무효심결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ko-KR" altLang="en-US" sz="1400" dirty="0">
                <a:latin typeface="+mn-ea"/>
              </a:rPr>
              <a:t>확정</a:t>
            </a:r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C7D09040-6BD9-4815-AD7A-CC4AA4722190}"/>
              </a:ext>
            </a:extLst>
          </p:cNvPr>
          <p:cNvCxnSpPr>
            <a:cxnSpLocks/>
            <a:stCxn id="80" idx="0"/>
          </p:cNvCxnSpPr>
          <p:nvPr/>
        </p:nvCxnSpPr>
        <p:spPr>
          <a:xfrm flipV="1">
            <a:off x="10851986" y="5243638"/>
            <a:ext cx="1" cy="23766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14">
            <a:extLst>
              <a:ext uri="{FF2B5EF4-FFF2-40B4-BE49-F238E27FC236}">
                <a16:creationId xmlns:a16="http://schemas.microsoft.com/office/drawing/2014/main" id="{3C795499-6D30-4D8A-9B3A-05363C99C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372" y="5481302"/>
            <a:ext cx="739670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dirty="0">
                <a:latin typeface="+mn-ea"/>
              </a:rPr>
              <a:t>A</a:t>
            </a:r>
            <a:r>
              <a:rPr lang="ko-KR" altLang="en-US" sz="1400" dirty="0">
                <a:latin typeface="+mn-ea"/>
              </a:rPr>
              <a:t> 출원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b="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乙</a:t>
            </a:r>
            <a:r>
              <a:rPr lang="en-US" altLang="ko-KR" sz="1400" b="0" dirty="0">
                <a:latin typeface="+mn-ea"/>
              </a:rPr>
              <a:t>)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B98EB4E3-E911-4011-94D8-5293B35FD5A4}"/>
              </a:ext>
            </a:extLst>
          </p:cNvPr>
          <p:cNvCxnSpPr>
            <a:cxnSpLocks/>
            <a:stCxn id="83" idx="0"/>
          </p:cNvCxnSpPr>
          <p:nvPr/>
        </p:nvCxnSpPr>
        <p:spPr>
          <a:xfrm flipV="1">
            <a:off x="1015207" y="5270184"/>
            <a:ext cx="0" cy="21111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자유형 37">
            <a:extLst>
              <a:ext uri="{FF2B5EF4-FFF2-40B4-BE49-F238E27FC236}">
                <a16:creationId xmlns:a16="http://schemas.microsoft.com/office/drawing/2014/main" id="{ECD02C1A-5349-462B-A7A6-2B8755A3D67C}"/>
              </a:ext>
            </a:extLst>
          </p:cNvPr>
          <p:cNvSpPr/>
          <p:nvPr/>
        </p:nvSpPr>
        <p:spPr>
          <a:xfrm>
            <a:off x="2887233" y="5213389"/>
            <a:ext cx="2853920" cy="1218923"/>
          </a:xfrm>
          <a:custGeom>
            <a:avLst/>
            <a:gdLst>
              <a:gd name="connsiteX0" fmla="*/ 0 w 7879222"/>
              <a:gd name="connsiteY0" fmla="*/ 0 h 743484"/>
              <a:gd name="connsiteX1" fmla="*/ 0 w 7879222"/>
              <a:gd name="connsiteY1" fmla="*/ 743484 h 743484"/>
              <a:gd name="connsiteX2" fmla="*/ 7879222 w 7879222"/>
              <a:gd name="connsiteY2" fmla="*/ 743484 h 743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79222" h="743484">
                <a:moveTo>
                  <a:pt x="0" y="0"/>
                </a:moveTo>
                <a:lnTo>
                  <a:pt x="0" y="743484"/>
                </a:lnTo>
                <a:lnTo>
                  <a:pt x="7879222" y="743484"/>
                </a:lnTo>
              </a:path>
            </a:pathLst>
          </a:custGeom>
          <a:noFill/>
          <a:ln w="5715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A81AC5D-0AE6-4F83-94E5-0E3845AA504A}"/>
              </a:ext>
            </a:extLst>
          </p:cNvPr>
          <p:cNvSpPr txBox="1"/>
          <p:nvPr/>
        </p:nvSpPr>
        <p:spPr>
          <a:xfrm>
            <a:off x="3317698" y="6205188"/>
            <a:ext cx="1992989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선의의 乙이 국내에서 </a:t>
            </a:r>
            <a:endParaRPr lang="en-US" altLang="ko-KR" sz="1400" dirty="0"/>
          </a:p>
          <a:p>
            <a:pPr algn="ctr"/>
            <a:r>
              <a:rPr lang="ko-KR" altLang="en-US" sz="1400" dirty="0"/>
              <a:t>실시사업 또는 사업준비</a:t>
            </a:r>
          </a:p>
        </p:txBody>
      </p:sp>
      <p:sp>
        <p:nvSpPr>
          <p:cNvPr id="91" name="Rectangle 14">
            <a:extLst>
              <a:ext uri="{FF2B5EF4-FFF2-40B4-BE49-F238E27FC236}">
                <a16:creationId xmlns:a16="http://schemas.microsoft.com/office/drawing/2014/main" id="{35A671F0-21A1-419D-8A4E-88A437A6D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82" y="4518380"/>
            <a:ext cx="569803" cy="4619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A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출원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甲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  <a:endParaRPr lang="ko-KR" altLang="en-US" sz="1400" b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24BBFA2C-FEEA-49F6-99F6-A1BB7B6D66B7}"/>
              </a:ext>
            </a:extLst>
          </p:cNvPr>
          <p:cNvCxnSpPr>
            <a:stCxn id="91" idx="2"/>
          </p:cNvCxnSpPr>
          <p:nvPr/>
        </p:nvCxnSpPr>
        <p:spPr>
          <a:xfrm flipH="1">
            <a:off x="600401" y="4980368"/>
            <a:ext cx="2982" cy="21111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8F8C6CE0-A828-403F-A105-07767F6CECAD}"/>
              </a:ext>
            </a:extLst>
          </p:cNvPr>
          <p:cNvSpPr txBox="1"/>
          <p:nvPr/>
        </p:nvSpPr>
        <p:spPr>
          <a:xfrm>
            <a:off x="2403972" y="4756495"/>
            <a:ext cx="2853919" cy="280928"/>
          </a:xfrm>
          <a:prstGeom prst="wedgeRoundRectCallout">
            <a:avLst>
              <a:gd name="adj1" fmla="val -15297"/>
              <a:gd name="adj2" fmla="val 181671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제</a:t>
            </a:r>
            <a:r>
              <a:rPr lang="en-US" altLang="ko-KR" sz="1050" dirty="0"/>
              <a:t>29</a:t>
            </a:r>
            <a:r>
              <a:rPr lang="ko-KR" altLang="en-US" sz="1050" dirty="0"/>
              <a:t>조제</a:t>
            </a:r>
            <a:r>
              <a:rPr lang="en-US" altLang="ko-KR" sz="1050" dirty="0"/>
              <a:t>1</a:t>
            </a:r>
            <a:r>
              <a:rPr lang="ko-KR" altLang="en-US" sz="1050" dirty="0" err="1"/>
              <a:t>항각호</a:t>
            </a:r>
            <a:r>
              <a:rPr lang="en-US" altLang="ko-KR" sz="1050" dirty="0"/>
              <a:t>, </a:t>
            </a:r>
            <a:r>
              <a:rPr lang="ko-KR" altLang="en-US" sz="1050" dirty="0"/>
              <a:t>제</a:t>
            </a:r>
            <a:r>
              <a:rPr lang="en-US" altLang="ko-KR" sz="1050" dirty="0"/>
              <a:t>29</a:t>
            </a:r>
            <a:r>
              <a:rPr lang="ko-KR" altLang="en-US" sz="1050" dirty="0"/>
              <a:t>조제</a:t>
            </a:r>
            <a:r>
              <a:rPr lang="en-US" altLang="ko-KR" sz="1050" dirty="0"/>
              <a:t>3</a:t>
            </a:r>
            <a:r>
              <a:rPr lang="ko-KR" altLang="en-US" sz="1050" dirty="0"/>
              <a:t>항</a:t>
            </a:r>
            <a:r>
              <a:rPr lang="en-US" altLang="ko-KR" sz="1050" dirty="0"/>
              <a:t>, </a:t>
            </a:r>
            <a:r>
              <a:rPr lang="ko-KR" altLang="en-US" sz="1050" dirty="0"/>
              <a:t>제</a:t>
            </a:r>
            <a:r>
              <a:rPr lang="en-US" altLang="ko-KR" sz="1050" dirty="0"/>
              <a:t>36</a:t>
            </a:r>
            <a:r>
              <a:rPr lang="ko-KR" altLang="en-US" sz="1050" dirty="0"/>
              <a:t>조 위반</a:t>
            </a:r>
          </a:p>
        </p:txBody>
      </p: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F3240072-1714-4DF1-B4FC-3326A35D6102}"/>
              </a:ext>
            </a:extLst>
          </p:cNvPr>
          <p:cNvCxnSpPr/>
          <p:nvPr/>
        </p:nvCxnSpPr>
        <p:spPr>
          <a:xfrm>
            <a:off x="190277" y="5205240"/>
            <a:ext cx="5574070" cy="0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4">
            <a:extLst>
              <a:ext uri="{FF2B5EF4-FFF2-40B4-BE49-F238E27FC236}">
                <a16:creationId xmlns:a16="http://schemas.microsoft.com/office/drawing/2014/main" id="{07FBAE62-D4EB-4503-A55C-D4CE3E636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9654" y="5481302"/>
            <a:ext cx="1440208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무효심판청구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200" b="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이해관계인</a:t>
            </a:r>
            <a:r>
              <a:rPr lang="en-US" altLang="ko-KR" sz="1200" dirty="0">
                <a:latin typeface="+mn-ea"/>
              </a:rPr>
              <a:t>/</a:t>
            </a:r>
            <a:r>
              <a:rPr lang="ko-KR" altLang="en-US" sz="1200" dirty="0">
                <a:latin typeface="+mn-ea"/>
              </a:rPr>
              <a:t>심사관</a:t>
            </a:r>
            <a:r>
              <a:rPr lang="en-US" altLang="ko-KR" sz="1200" b="0" dirty="0">
                <a:latin typeface="+mn-ea"/>
              </a:rPr>
              <a:t>)</a:t>
            </a:r>
            <a:endParaRPr lang="ko-KR" altLang="en-US" sz="1200" b="0" dirty="0">
              <a:latin typeface="+mn-ea"/>
            </a:endParaRPr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E8308868-A1F2-4D40-BA1F-77D34181FCAD}"/>
              </a:ext>
            </a:extLst>
          </p:cNvPr>
          <p:cNvCxnSpPr>
            <a:cxnSpLocks/>
            <a:stCxn id="102" idx="0"/>
          </p:cNvCxnSpPr>
          <p:nvPr/>
        </p:nvCxnSpPr>
        <p:spPr>
          <a:xfrm flipV="1">
            <a:off x="3679758" y="5270184"/>
            <a:ext cx="0" cy="21111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4">
            <a:extLst>
              <a:ext uri="{FF2B5EF4-FFF2-40B4-BE49-F238E27FC236}">
                <a16:creationId xmlns:a16="http://schemas.microsoft.com/office/drawing/2014/main" id="{60FF79CF-E8F5-4B7D-84C8-A2696BFE0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5573" y="5481302"/>
            <a:ext cx="746662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 err="1">
                <a:latin typeface="+mn-ea"/>
              </a:rPr>
              <a:t>무효심결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ko-KR" altLang="en-US" sz="1400" dirty="0">
                <a:latin typeface="+mn-ea"/>
              </a:rPr>
              <a:t>확정</a:t>
            </a:r>
          </a:p>
        </p:txBody>
      </p: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12733309-DE36-4F22-9E40-8C3DD011CA86}"/>
              </a:ext>
            </a:extLst>
          </p:cNvPr>
          <p:cNvCxnSpPr>
            <a:cxnSpLocks/>
            <a:stCxn id="104" idx="0"/>
          </p:cNvCxnSpPr>
          <p:nvPr/>
        </p:nvCxnSpPr>
        <p:spPr>
          <a:xfrm flipV="1">
            <a:off x="5208904" y="5243638"/>
            <a:ext cx="1" cy="23766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angle 14">
            <a:extLst>
              <a:ext uri="{FF2B5EF4-FFF2-40B4-BE49-F238E27FC236}">
                <a16:creationId xmlns:a16="http://schemas.microsoft.com/office/drawing/2014/main" id="{42EEF393-4985-45AA-990D-1B5575550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8805" y="4518380"/>
            <a:ext cx="569803" cy="4619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A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등록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甲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  <a:endParaRPr lang="ko-KR" altLang="en-US" sz="1400" b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F38BF049-AB07-429D-A992-0129F93B1E5C}"/>
              </a:ext>
            </a:extLst>
          </p:cNvPr>
          <p:cNvCxnSpPr>
            <a:stCxn id="106" idx="2"/>
          </p:cNvCxnSpPr>
          <p:nvPr/>
        </p:nvCxnSpPr>
        <p:spPr>
          <a:xfrm flipH="1">
            <a:off x="1550724" y="4980368"/>
            <a:ext cx="2982" cy="21111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 14">
            <a:extLst>
              <a:ext uri="{FF2B5EF4-FFF2-40B4-BE49-F238E27FC236}">
                <a16:creationId xmlns:a16="http://schemas.microsoft.com/office/drawing/2014/main" id="{C728A633-F617-46FB-BA93-B7FA91862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8779" y="5481302"/>
            <a:ext cx="739670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dirty="0">
                <a:latin typeface="+mn-ea"/>
              </a:rPr>
              <a:t>A</a:t>
            </a:r>
            <a:r>
              <a:rPr lang="ko-KR" altLang="en-US" sz="1400" dirty="0">
                <a:latin typeface="+mn-ea"/>
              </a:rPr>
              <a:t> 등록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b="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乙</a:t>
            </a:r>
            <a:r>
              <a:rPr lang="en-US" altLang="ko-KR" sz="1400" b="0" dirty="0">
                <a:latin typeface="+mn-ea"/>
              </a:rPr>
              <a:t>)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A18E52D2-046A-478A-910A-46858F8AF309}"/>
              </a:ext>
            </a:extLst>
          </p:cNvPr>
          <p:cNvCxnSpPr>
            <a:cxnSpLocks/>
            <a:stCxn id="110" idx="0"/>
          </p:cNvCxnSpPr>
          <p:nvPr/>
        </p:nvCxnSpPr>
        <p:spPr>
          <a:xfrm flipV="1">
            <a:off x="2208614" y="5270184"/>
            <a:ext cx="0" cy="21111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91512DF3-9FAB-4B40-A5AC-2CB80298E6EA}"/>
              </a:ext>
            </a:extLst>
          </p:cNvPr>
          <p:cNvCxnSpPr/>
          <p:nvPr/>
        </p:nvCxnSpPr>
        <p:spPr>
          <a:xfrm>
            <a:off x="6096000" y="3681984"/>
            <a:ext cx="0" cy="3046424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7145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5562945" y="6010420"/>
            <a:ext cx="62457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3600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52" name="곱셈 기호 51"/>
          <p:cNvSpPr/>
          <p:nvPr/>
        </p:nvSpPr>
        <p:spPr>
          <a:xfrm>
            <a:off x="4698619" y="5136144"/>
            <a:ext cx="1331799" cy="1331799"/>
          </a:xfrm>
          <a:prstGeom prst="mathMultiply">
            <a:avLst>
              <a:gd name="adj1" fmla="val 12199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곱셈 기호 38"/>
          <p:cNvSpPr/>
          <p:nvPr/>
        </p:nvSpPr>
        <p:spPr>
          <a:xfrm>
            <a:off x="6498726" y="2595461"/>
            <a:ext cx="1331799" cy="1331799"/>
          </a:xfrm>
          <a:prstGeom prst="mathMultiply">
            <a:avLst>
              <a:gd name="adj1" fmla="val 12199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04800" y="1981200"/>
            <a:ext cx="5743575" cy="173355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dirty="0">
                <a:solidFill>
                  <a:schemeClr val="accent2"/>
                </a:solidFill>
              </a:rPr>
              <a:t>제</a:t>
            </a:r>
            <a:r>
              <a:rPr lang="en-US" altLang="ko-KR" dirty="0">
                <a:solidFill>
                  <a:schemeClr val="accent2"/>
                </a:solidFill>
              </a:rPr>
              <a:t>34</a:t>
            </a:r>
            <a:r>
              <a:rPr lang="ko-KR" altLang="en-US" dirty="0">
                <a:solidFill>
                  <a:schemeClr val="accent2"/>
                </a:solidFill>
              </a:rPr>
              <a:t>조</a:t>
            </a:r>
            <a:r>
              <a:rPr lang="en-US" altLang="ko-KR" dirty="0">
                <a:solidFill>
                  <a:schemeClr val="accent2"/>
                </a:solidFill>
              </a:rPr>
              <a:t>, </a:t>
            </a:r>
            <a:r>
              <a:rPr lang="ko-KR" altLang="en-US" dirty="0">
                <a:solidFill>
                  <a:schemeClr val="accent2"/>
                </a:solidFill>
              </a:rPr>
              <a:t>제</a:t>
            </a:r>
            <a:r>
              <a:rPr lang="en-US" altLang="ko-KR" dirty="0">
                <a:solidFill>
                  <a:schemeClr val="accent2"/>
                </a:solidFill>
              </a:rPr>
              <a:t>35</a:t>
            </a:r>
            <a:r>
              <a:rPr lang="ko-KR" altLang="en-US" dirty="0">
                <a:solidFill>
                  <a:schemeClr val="accent2"/>
                </a:solidFill>
              </a:rPr>
              <a:t>조에 의한 출원일 소급효 인정여부 판단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34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35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무권리자의 공지 </a:t>
            </a:r>
            <a:r>
              <a:rPr lang="en-US" altLang="ko-KR" dirty="0"/>
              <a:t>vs </a:t>
            </a:r>
            <a:r>
              <a:rPr lang="ko-KR" altLang="en-US" dirty="0" err="1"/>
              <a:t>무권리자의</a:t>
            </a:r>
            <a:r>
              <a:rPr lang="ko-KR" altLang="en-US" dirty="0"/>
              <a:t> 출원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무권리자의</a:t>
            </a:r>
            <a:r>
              <a:rPr lang="ko-KR" altLang="en-US" sz="1400" dirty="0">
                <a:solidFill>
                  <a:schemeClr val="tx2"/>
                </a:solidFill>
              </a:rPr>
              <a:t> 출원의 공개가 있는 후에 소급효가 인정되지 아니한 정당한 권리자의 출원이 있는 경우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무권리자의</a:t>
            </a:r>
            <a:r>
              <a:rPr lang="ko-KR" altLang="en-US" sz="1400" dirty="0">
                <a:solidFill>
                  <a:schemeClr val="tx2"/>
                </a:solidFill>
              </a:rPr>
              <a:t> 공개는 법 제</a:t>
            </a:r>
            <a:r>
              <a:rPr lang="en-US" altLang="ko-KR" sz="1400" dirty="0">
                <a:solidFill>
                  <a:schemeClr val="tx2"/>
                </a:solidFill>
              </a:rPr>
              <a:t>30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호의 의사에 반한 공지에 해당하기 때문에 </a:t>
            </a:r>
            <a:r>
              <a:rPr lang="ko-KR" altLang="en-US" sz="1400" dirty="0">
                <a:highlight>
                  <a:srgbClr val="FFFF00"/>
                </a:highlight>
              </a:rPr>
              <a:t>공개된 날로부터 </a:t>
            </a:r>
            <a:r>
              <a:rPr lang="en-US" altLang="ko-KR" sz="1400" dirty="0">
                <a:highlight>
                  <a:srgbClr val="FFFF00"/>
                </a:highlight>
              </a:rPr>
              <a:t>1</a:t>
            </a:r>
            <a:r>
              <a:rPr lang="ko-KR" altLang="en-US" sz="1400" dirty="0">
                <a:highlight>
                  <a:srgbClr val="FFFF00"/>
                </a:highlight>
              </a:rPr>
              <a:t>년 이내 정당한 권리자가 출원</a:t>
            </a:r>
            <a:r>
              <a:rPr lang="ko-KR" altLang="en-US" sz="1400" dirty="0">
                <a:solidFill>
                  <a:schemeClr val="tx2"/>
                </a:solidFill>
              </a:rPr>
              <a:t>했다면 공지가 되지 아니한 것으로 보아서 신규성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진보성 위반을 판단하지 않게 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그러나 </a:t>
            </a:r>
            <a:r>
              <a:rPr lang="ko-KR" altLang="en-US" sz="1400" dirty="0">
                <a:highlight>
                  <a:srgbClr val="FFFF00"/>
                </a:highlight>
              </a:rPr>
              <a:t>공개된 날로부터 </a:t>
            </a:r>
            <a:r>
              <a:rPr lang="en-US" altLang="ko-KR" sz="1400" dirty="0">
                <a:highlight>
                  <a:srgbClr val="FFFF00"/>
                </a:highlight>
              </a:rPr>
              <a:t>1</a:t>
            </a:r>
            <a:r>
              <a:rPr lang="ko-KR" altLang="en-US" sz="1400" dirty="0">
                <a:highlight>
                  <a:srgbClr val="FFFF00"/>
                </a:highlight>
              </a:rPr>
              <a:t>년을 지나서 정당한 권리자가 출원</a:t>
            </a:r>
            <a:r>
              <a:rPr lang="ko-KR" altLang="en-US" sz="1400" dirty="0">
                <a:solidFill>
                  <a:schemeClr val="tx2"/>
                </a:solidFill>
              </a:rPr>
              <a:t>했다면 정당한 권리자의 출원이 그 공개에 의하여 신규성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진보성에 위반되었는지 여부를 판단해야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172007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/>
          <p:cNvCxnSpPr/>
          <p:nvPr/>
        </p:nvCxnSpPr>
        <p:spPr>
          <a:xfrm>
            <a:off x="659164" y="3281079"/>
            <a:ext cx="4846286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659164" y="3081859"/>
            <a:ext cx="14185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 err="1">
                <a:latin typeface="+mn-ea"/>
              </a:rPr>
              <a:t>무권리자</a:t>
            </a:r>
            <a:r>
              <a:rPr lang="ko-KR" altLang="en-US" sz="1400" b="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출원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29" name="Rectangle 14"/>
          <p:cNvSpPr>
            <a:spLocks noChangeArrowheads="1"/>
          </p:cNvSpPr>
          <p:nvPr/>
        </p:nvSpPr>
        <p:spPr bwMode="auto">
          <a:xfrm>
            <a:off x="3098819" y="3081859"/>
            <a:ext cx="2025632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latin typeface="+mn-ea"/>
              </a:rPr>
              <a:t>정당한 권리자의 </a:t>
            </a:r>
            <a:r>
              <a:rPr lang="ko-KR" altLang="en-US" sz="1400" dirty="0">
                <a:latin typeface="+mn-ea"/>
              </a:rPr>
              <a:t>출원</a:t>
            </a:r>
            <a:r>
              <a:rPr lang="en-US" altLang="ko-KR" sz="1400" dirty="0">
                <a:latin typeface="+mn-ea"/>
              </a:rPr>
              <a:t>(Y)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6145565" y="1981200"/>
            <a:ext cx="5743575" cy="173355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dirty="0">
                <a:solidFill>
                  <a:schemeClr val="accent2"/>
                </a:solidFill>
              </a:rPr>
              <a:t>제</a:t>
            </a:r>
            <a:r>
              <a:rPr lang="en-US" altLang="ko-KR" dirty="0">
                <a:solidFill>
                  <a:schemeClr val="accent2"/>
                </a:solidFill>
              </a:rPr>
              <a:t>30</a:t>
            </a:r>
            <a:r>
              <a:rPr lang="ko-KR" altLang="en-US" dirty="0">
                <a:solidFill>
                  <a:schemeClr val="accent2"/>
                </a:solidFill>
              </a:rPr>
              <a:t>조제</a:t>
            </a:r>
            <a:r>
              <a:rPr lang="en-US" altLang="ko-KR" dirty="0">
                <a:solidFill>
                  <a:schemeClr val="accent2"/>
                </a:solidFill>
              </a:rPr>
              <a:t>1</a:t>
            </a:r>
            <a:r>
              <a:rPr lang="ko-KR" altLang="en-US" dirty="0" err="1">
                <a:solidFill>
                  <a:schemeClr val="accent2"/>
                </a:solidFill>
              </a:rPr>
              <a:t>항제</a:t>
            </a:r>
            <a:r>
              <a:rPr lang="en-US" altLang="ko-KR" dirty="0">
                <a:solidFill>
                  <a:schemeClr val="accent2"/>
                </a:solidFill>
              </a:rPr>
              <a:t>2</a:t>
            </a:r>
            <a:r>
              <a:rPr lang="ko-KR" altLang="en-US" dirty="0">
                <a:solidFill>
                  <a:schemeClr val="accent2"/>
                </a:solidFill>
              </a:rPr>
              <a:t>호의 의사에 반한 공지 주장 여부 판단</a:t>
            </a:r>
          </a:p>
        </p:txBody>
      </p:sp>
      <p:cxnSp>
        <p:nvCxnSpPr>
          <p:cNvPr id="31" name="직선 화살표 연결선 30"/>
          <p:cNvCxnSpPr/>
          <p:nvPr/>
        </p:nvCxnSpPr>
        <p:spPr>
          <a:xfrm>
            <a:off x="6499929" y="3281079"/>
            <a:ext cx="4846286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14"/>
          <p:cNvSpPr>
            <a:spLocks noChangeArrowheads="1"/>
          </p:cNvSpPr>
          <p:nvPr/>
        </p:nvSpPr>
        <p:spPr bwMode="auto">
          <a:xfrm>
            <a:off x="6499929" y="3081859"/>
            <a:ext cx="14185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 err="1">
                <a:latin typeface="+mn-ea"/>
              </a:rPr>
              <a:t>무권리자</a:t>
            </a:r>
            <a:r>
              <a:rPr lang="ko-KR" altLang="en-US" sz="1400" dirty="0">
                <a:latin typeface="+mn-ea"/>
              </a:rPr>
              <a:t> 공지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33" name="Rectangle 14"/>
          <p:cNvSpPr>
            <a:spLocks noChangeArrowheads="1"/>
          </p:cNvSpPr>
          <p:nvPr/>
        </p:nvSpPr>
        <p:spPr bwMode="auto">
          <a:xfrm>
            <a:off x="8939584" y="3081859"/>
            <a:ext cx="2025632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>
                <a:latin typeface="+mn-ea"/>
              </a:rPr>
              <a:t>정당한 권리자의 </a:t>
            </a:r>
            <a:r>
              <a:rPr lang="ko-KR" altLang="en-US" sz="1400" dirty="0">
                <a:latin typeface="+mn-ea"/>
              </a:rPr>
              <a:t>출원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35" name="꺾인 연결선 34"/>
          <p:cNvCxnSpPr>
            <a:stCxn id="29" idx="0"/>
            <a:endCxn id="7" idx="0"/>
          </p:cNvCxnSpPr>
          <p:nvPr/>
        </p:nvCxnSpPr>
        <p:spPr>
          <a:xfrm rot="16200000" flipV="1">
            <a:off x="2740035" y="1710259"/>
            <a:ext cx="12700" cy="2743200"/>
          </a:xfrm>
          <a:prstGeom prst="bentConnector3">
            <a:avLst>
              <a:gd name="adj1" fmla="val 3075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14"/>
          <p:cNvSpPr>
            <a:spLocks noChangeArrowheads="1"/>
          </p:cNvSpPr>
          <p:nvPr/>
        </p:nvSpPr>
        <p:spPr bwMode="auto">
          <a:xfrm>
            <a:off x="1963976" y="2523633"/>
            <a:ext cx="1646000" cy="35900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solidFill>
                  <a:srgbClr val="FF0000"/>
                </a:solidFill>
                <a:latin typeface="+mn-ea"/>
              </a:rPr>
              <a:t>출원일 소급효 인정</a:t>
            </a:r>
            <a:r>
              <a:rPr lang="en-US" altLang="ko-KR" sz="1400" b="0" dirty="0">
                <a:solidFill>
                  <a:srgbClr val="FF0000"/>
                </a:solidFill>
                <a:latin typeface="+mn-ea"/>
              </a:rPr>
              <a:t>?</a:t>
            </a:r>
            <a:endParaRPr lang="ko-KR" altLang="en-US" sz="1400" b="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304800" y="3907620"/>
            <a:ext cx="11584340" cy="236745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dirty="0">
                <a:solidFill>
                  <a:schemeClr val="accent2"/>
                </a:solidFill>
              </a:rPr>
              <a:t>1</a:t>
            </a:r>
            <a:r>
              <a:rPr lang="ko-KR" altLang="en-US" dirty="0">
                <a:solidFill>
                  <a:schemeClr val="accent2"/>
                </a:solidFill>
              </a:rPr>
              <a:t>차적으로 제</a:t>
            </a:r>
            <a:r>
              <a:rPr lang="en-US" altLang="ko-KR" dirty="0">
                <a:solidFill>
                  <a:schemeClr val="accent2"/>
                </a:solidFill>
              </a:rPr>
              <a:t>34</a:t>
            </a:r>
            <a:r>
              <a:rPr lang="ko-KR" altLang="en-US" dirty="0">
                <a:solidFill>
                  <a:schemeClr val="accent2"/>
                </a:solidFill>
              </a:rPr>
              <a:t>조</a:t>
            </a:r>
            <a:r>
              <a:rPr lang="en-US" altLang="ko-KR" dirty="0">
                <a:solidFill>
                  <a:schemeClr val="accent2"/>
                </a:solidFill>
              </a:rPr>
              <a:t>, </a:t>
            </a:r>
            <a:r>
              <a:rPr lang="ko-KR" altLang="en-US" dirty="0">
                <a:solidFill>
                  <a:schemeClr val="accent2"/>
                </a:solidFill>
              </a:rPr>
              <a:t>제</a:t>
            </a:r>
            <a:r>
              <a:rPr lang="en-US" altLang="ko-KR" dirty="0">
                <a:solidFill>
                  <a:schemeClr val="accent2"/>
                </a:solidFill>
              </a:rPr>
              <a:t>35</a:t>
            </a:r>
            <a:r>
              <a:rPr lang="ko-KR" altLang="en-US" dirty="0">
                <a:solidFill>
                  <a:schemeClr val="accent2"/>
                </a:solidFill>
              </a:rPr>
              <a:t>조에 의한 출원일 소급효 인정여부 판단한 후</a:t>
            </a:r>
            <a:r>
              <a:rPr lang="en-US" altLang="ko-KR" dirty="0">
                <a:solidFill>
                  <a:schemeClr val="accent2"/>
                </a:solidFill>
              </a:rPr>
              <a:t>, </a:t>
            </a:r>
          </a:p>
          <a:p>
            <a:r>
              <a:rPr lang="en-US" altLang="ko-KR" dirty="0">
                <a:solidFill>
                  <a:schemeClr val="accent2"/>
                </a:solidFill>
              </a:rPr>
              <a:t>2</a:t>
            </a:r>
            <a:r>
              <a:rPr lang="ko-KR" altLang="en-US" dirty="0">
                <a:solidFill>
                  <a:schemeClr val="accent2"/>
                </a:solidFill>
              </a:rPr>
              <a:t>차적으로 제</a:t>
            </a:r>
            <a:r>
              <a:rPr lang="en-US" altLang="ko-KR" dirty="0">
                <a:solidFill>
                  <a:schemeClr val="accent2"/>
                </a:solidFill>
              </a:rPr>
              <a:t>30</a:t>
            </a:r>
            <a:r>
              <a:rPr lang="ko-KR" altLang="en-US" dirty="0">
                <a:solidFill>
                  <a:schemeClr val="accent2"/>
                </a:solidFill>
              </a:rPr>
              <a:t>조제</a:t>
            </a:r>
            <a:r>
              <a:rPr lang="en-US" altLang="ko-KR" dirty="0">
                <a:solidFill>
                  <a:schemeClr val="accent2"/>
                </a:solidFill>
              </a:rPr>
              <a:t>1</a:t>
            </a:r>
            <a:r>
              <a:rPr lang="ko-KR" altLang="en-US" dirty="0" err="1">
                <a:solidFill>
                  <a:schemeClr val="accent2"/>
                </a:solidFill>
              </a:rPr>
              <a:t>항제</a:t>
            </a:r>
            <a:r>
              <a:rPr lang="en-US" altLang="ko-KR" dirty="0">
                <a:solidFill>
                  <a:schemeClr val="accent2"/>
                </a:solidFill>
              </a:rPr>
              <a:t>2</a:t>
            </a:r>
            <a:r>
              <a:rPr lang="ko-KR" altLang="en-US" dirty="0">
                <a:solidFill>
                  <a:schemeClr val="accent2"/>
                </a:solidFill>
              </a:rPr>
              <a:t>호의 의사에 반한 공지 주장 여부 판단</a:t>
            </a:r>
          </a:p>
        </p:txBody>
      </p:sp>
      <p:cxnSp>
        <p:nvCxnSpPr>
          <p:cNvPr id="41" name="직선 화살표 연결선 40"/>
          <p:cNvCxnSpPr/>
          <p:nvPr/>
        </p:nvCxnSpPr>
        <p:spPr>
          <a:xfrm>
            <a:off x="1249714" y="5869977"/>
            <a:ext cx="1018981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14"/>
          <p:cNvSpPr>
            <a:spLocks noChangeArrowheads="1"/>
          </p:cNvSpPr>
          <p:nvPr/>
        </p:nvSpPr>
        <p:spPr bwMode="auto">
          <a:xfrm>
            <a:off x="1249714" y="5670757"/>
            <a:ext cx="14185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 err="1">
                <a:latin typeface="+mn-ea"/>
              </a:rPr>
              <a:t>무권리자</a:t>
            </a:r>
            <a:r>
              <a:rPr lang="ko-KR" altLang="en-US" sz="1400" b="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출원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43" name="Rectangle 14"/>
          <p:cNvSpPr>
            <a:spLocks noChangeArrowheads="1"/>
          </p:cNvSpPr>
          <p:nvPr/>
        </p:nvSpPr>
        <p:spPr bwMode="auto">
          <a:xfrm>
            <a:off x="7582270" y="5670757"/>
            <a:ext cx="2025632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latin typeface="+mn-ea"/>
              </a:rPr>
              <a:t>정당한 권리자의 </a:t>
            </a:r>
            <a:r>
              <a:rPr lang="ko-KR" altLang="en-US" sz="1400" dirty="0">
                <a:latin typeface="+mn-ea"/>
              </a:rPr>
              <a:t>출원</a:t>
            </a:r>
            <a:r>
              <a:rPr lang="en-US" altLang="ko-KR" sz="1400" dirty="0">
                <a:latin typeface="+mn-ea"/>
              </a:rPr>
              <a:t>(Y)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44" name="꺾인 연결선 43"/>
          <p:cNvCxnSpPr>
            <a:stCxn id="43" idx="0"/>
            <a:endCxn id="42" idx="0"/>
          </p:cNvCxnSpPr>
          <p:nvPr/>
        </p:nvCxnSpPr>
        <p:spPr>
          <a:xfrm rot="16200000" flipV="1">
            <a:off x="5277036" y="2352706"/>
            <a:ext cx="12700" cy="6636101"/>
          </a:xfrm>
          <a:prstGeom prst="bentConnector3">
            <a:avLst>
              <a:gd name="adj1" fmla="val 5324984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14"/>
          <p:cNvSpPr>
            <a:spLocks noChangeArrowheads="1"/>
          </p:cNvSpPr>
          <p:nvPr/>
        </p:nvSpPr>
        <p:spPr bwMode="auto">
          <a:xfrm>
            <a:off x="4698619" y="4819888"/>
            <a:ext cx="1646000" cy="35900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solidFill>
                  <a:srgbClr val="FF0000"/>
                </a:solidFill>
                <a:latin typeface="+mn-ea"/>
              </a:rPr>
              <a:t>출원일 소급효 인정</a:t>
            </a:r>
            <a:r>
              <a:rPr lang="en-US" altLang="ko-KR" sz="1400" b="0" dirty="0">
                <a:solidFill>
                  <a:srgbClr val="FF0000"/>
                </a:solidFill>
                <a:latin typeface="+mn-ea"/>
              </a:rPr>
              <a:t>?</a:t>
            </a:r>
            <a:endParaRPr lang="ko-KR" altLang="en-US" sz="1400" b="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0" name="Rectangle 14"/>
          <p:cNvSpPr>
            <a:spLocks noChangeArrowheads="1"/>
          </p:cNvSpPr>
          <p:nvPr/>
        </p:nvSpPr>
        <p:spPr bwMode="auto">
          <a:xfrm>
            <a:off x="4669760" y="5670757"/>
            <a:ext cx="14185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 err="1">
                <a:latin typeface="+mn-ea"/>
              </a:rPr>
              <a:t>무권리자</a:t>
            </a:r>
            <a:r>
              <a:rPr lang="ko-KR" altLang="en-US" sz="1400" b="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공개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117985" y="4676224"/>
            <a:ext cx="60813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3600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146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34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35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소급효가 인정되지 아니한 정당한 권리자의 출원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정당한 권리자 출원의 명세서 또는 도면에 기재된 발명에 </a:t>
            </a:r>
            <a:r>
              <a:rPr lang="ko-KR" altLang="en-US" sz="1400" dirty="0" err="1">
                <a:solidFill>
                  <a:schemeClr val="tx2"/>
                </a:solidFill>
              </a:rPr>
              <a:t>무권리자</a:t>
            </a:r>
            <a:r>
              <a:rPr lang="ko-KR" altLang="en-US" sz="1400" dirty="0">
                <a:solidFill>
                  <a:schemeClr val="tx2"/>
                </a:solidFill>
              </a:rPr>
              <a:t> 출원에 기재된 발명과 다른 발명이 있는 경우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정당한 권리자 출원에 다수의 발명이 포함되어 있고 그 발명 중 일부의 발명만이 </a:t>
            </a:r>
            <a:r>
              <a:rPr lang="ko-KR" altLang="en-US" sz="1400" dirty="0" err="1">
                <a:solidFill>
                  <a:schemeClr val="tx2"/>
                </a:solidFill>
              </a:rPr>
              <a:t>무권리자에</a:t>
            </a:r>
            <a:r>
              <a:rPr lang="ko-KR" altLang="en-US" sz="1400" dirty="0">
                <a:solidFill>
                  <a:schemeClr val="tx2"/>
                </a:solidFill>
              </a:rPr>
              <a:t> 의하여 출원된 발명에 해당하는 경우</a:t>
            </a:r>
            <a:r>
              <a:rPr lang="en-US" altLang="ko-KR" sz="1400" dirty="0">
                <a:solidFill>
                  <a:schemeClr val="tx2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정당한 권리자 출원의 </a:t>
            </a:r>
            <a:r>
              <a:rPr lang="ko-KR" altLang="en-US" sz="1400" dirty="0" err="1">
                <a:solidFill>
                  <a:schemeClr val="tx2"/>
                </a:solidFill>
              </a:rPr>
              <a:t>출원일은</a:t>
            </a:r>
            <a:r>
              <a:rPr lang="ko-KR" altLang="en-US" sz="1400" dirty="0">
                <a:solidFill>
                  <a:schemeClr val="tx2"/>
                </a:solidFill>
              </a:rPr>
              <a:t> 소급되지 아니한다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심사관은 출원일 소급을 인정할 수 없을 때 </a:t>
            </a:r>
            <a:r>
              <a:rPr lang="en-US" altLang="ko-KR" sz="1400" dirty="0">
                <a:solidFill>
                  <a:schemeClr val="tx2"/>
                </a:solidFill>
              </a:rPr>
              <a:t>ⅰ) </a:t>
            </a:r>
            <a:r>
              <a:rPr lang="ko-KR" altLang="en-US" sz="1400" dirty="0">
                <a:solidFill>
                  <a:schemeClr val="tx2"/>
                </a:solidFill>
              </a:rPr>
              <a:t>다른 거절이유가 있는 경우에는 거절이유통지서에 </a:t>
            </a:r>
            <a:r>
              <a:rPr lang="ko-KR" altLang="en-US" sz="1400" dirty="0" err="1">
                <a:solidFill>
                  <a:schemeClr val="tx2"/>
                </a:solidFill>
              </a:rPr>
              <a:t>출원일을</a:t>
            </a:r>
            <a:r>
              <a:rPr lang="ko-KR" altLang="en-US" sz="1400" dirty="0">
                <a:solidFill>
                  <a:schemeClr val="tx2"/>
                </a:solidFill>
              </a:rPr>
              <a:t> 소급할 수 없다는 취지를 적어 함께 통지함으로써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출원을 분할하거나 보정할 수 있도록 기회를 부여하고</a:t>
            </a:r>
            <a:r>
              <a:rPr lang="en-US" altLang="ko-KR" sz="1400" dirty="0">
                <a:solidFill>
                  <a:schemeClr val="tx2"/>
                </a:solidFill>
              </a:rPr>
              <a:t>, ⅱ) </a:t>
            </a:r>
            <a:r>
              <a:rPr lang="ko-KR" altLang="en-US" sz="1400" dirty="0">
                <a:solidFill>
                  <a:schemeClr val="tx2"/>
                </a:solidFill>
              </a:rPr>
              <a:t>다른 거절이유가 없는 경우에는 </a:t>
            </a:r>
            <a:r>
              <a:rPr lang="ko-KR" altLang="en-US" sz="1400" dirty="0" err="1">
                <a:solidFill>
                  <a:schemeClr val="tx2"/>
                </a:solidFill>
              </a:rPr>
              <a:t>출원일을</a:t>
            </a:r>
            <a:r>
              <a:rPr lang="ko-KR" altLang="en-US" sz="1400" dirty="0">
                <a:solidFill>
                  <a:schemeClr val="tx2"/>
                </a:solidFill>
              </a:rPr>
              <a:t> 소급할 수 없는 </a:t>
            </a:r>
            <a:r>
              <a:rPr lang="ko-KR" altLang="en-US" sz="1400" dirty="0" err="1">
                <a:solidFill>
                  <a:schemeClr val="tx2"/>
                </a:solidFill>
              </a:rPr>
              <a:t>취지만을</a:t>
            </a:r>
            <a:r>
              <a:rPr lang="ko-KR" altLang="en-US" sz="1400" dirty="0">
                <a:solidFill>
                  <a:schemeClr val="tx2"/>
                </a:solidFill>
              </a:rPr>
              <a:t> 통지한 후 특허결정한다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즉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정당한 권리자의 특허출원은 </a:t>
            </a:r>
            <a:r>
              <a:rPr lang="ko-KR" altLang="en-US" sz="1400" dirty="0" err="1">
                <a:highlight>
                  <a:srgbClr val="FFFF00"/>
                </a:highlight>
              </a:rPr>
              <a:t>출원일이</a:t>
            </a:r>
            <a:r>
              <a:rPr lang="ko-KR" altLang="en-US" sz="1400" dirty="0">
                <a:highlight>
                  <a:srgbClr val="FFFF00"/>
                </a:highlight>
              </a:rPr>
              <a:t> 소급되지 않더라도 </a:t>
            </a:r>
            <a:r>
              <a:rPr lang="ko-KR" altLang="en-US" sz="1400" dirty="0" err="1">
                <a:highlight>
                  <a:srgbClr val="FFFF00"/>
                </a:highlight>
              </a:rPr>
              <a:t>무권리자의</a:t>
            </a:r>
            <a:r>
              <a:rPr lang="ko-KR" altLang="en-US" sz="1400" dirty="0">
                <a:highlight>
                  <a:srgbClr val="FFFF00"/>
                </a:highlight>
              </a:rPr>
              <a:t> </a:t>
            </a:r>
            <a:r>
              <a:rPr lang="ko-KR" altLang="en-US" sz="1400" dirty="0" err="1">
                <a:highlight>
                  <a:srgbClr val="FFFF00"/>
                </a:highlight>
              </a:rPr>
              <a:t>선출원에</a:t>
            </a:r>
            <a:r>
              <a:rPr lang="ko-KR" altLang="en-US" sz="1400" dirty="0">
                <a:highlight>
                  <a:srgbClr val="FFFF00"/>
                </a:highlight>
              </a:rPr>
              <a:t> 의하여 특허거절결정되지 아니한다</a:t>
            </a:r>
            <a:r>
              <a:rPr lang="en-US" altLang="ko-KR" sz="1400" dirty="0">
                <a:highlight>
                  <a:srgbClr val="FFFF00"/>
                </a:highlight>
              </a:rPr>
              <a:t>.</a:t>
            </a:r>
            <a:r>
              <a:rPr lang="en-US" altLang="ko-KR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무권리자의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선출원은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지위가 없으며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36⑤), </a:t>
            </a:r>
            <a:r>
              <a:rPr lang="ko-KR" altLang="en-US" sz="1400" dirty="0">
                <a:solidFill>
                  <a:schemeClr val="tx2"/>
                </a:solidFill>
              </a:rPr>
              <a:t>발명자가 동일하여 정당한 권리자의 출원에 대하여 확대된 선출원의 지위도 인정되지 않기 때문이다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29③④</a:t>
            </a:r>
            <a:r>
              <a:rPr lang="ko-KR" altLang="en-US" sz="1400" dirty="0">
                <a:solidFill>
                  <a:schemeClr val="tx2"/>
                </a:solidFill>
              </a:rPr>
              <a:t>단서</a:t>
            </a:r>
            <a:r>
              <a:rPr lang="en-US" altLang="ko-KR" sz="1400" dirty="0">
                <a:solidFill>
                  <a:schemeClr val="tx2"/>
                </a:solidFill>
              </a:rPr>
              <a:t>).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236777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>
            <a:off x="273682" y="4102924"/>
            <a:ext cx="1058986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14"/>
          <p:cNvSpPr>
            <a:spLocks noChangeArrowheads="1"/>
          </p:cNvSpPr>
          <p:nvPr/>
        </p:nvSpPr>
        <p:spPr bwMode="auto">
          <a:xfrm>
            <a:off x="626436" y="3135588"/>
            <a:ext cx="1214040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 dirty="0" err="1">
                <a:latin typeface="+mn-ea"/>
              </a:rPr>
              <a:t>무권리자</a:t>
            </a:r>
            <a:r>
              <a:rPr lang="ko-KR" altLang="en-US" sz="1200" b="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출원</a:t>
            </a:r>
            <a:r>
              <a:rPr lang="en-US" altLang="ko-KR" sz="1200" dirty="0">
                <a:latin typeface="+mn-ea"/>
              </a:rPr>
              <a:t>(X)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774778" y="2450177"/>
            <a:ext cx="932256" cy="3060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774778" y="2756178"/>
            <a:ext cx="932256" cy="30600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4320858" y="5619374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4320858" y="5925376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0" name="Rectangle 14"/>
          <p:cNvSpPr>
            <a:spLocks noChangeArrowheads="1"/>
          </p:cNvSpPr>
          <p:nvPr/>
        </p:nvSpPr>
        <p:spPr bwMode="auto">
          <a:xfrm>
            <a:off x="4007933" y="5187153"/>
            <a:ext cx="1516064" cy="359005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n-ea"/>
              </a:rPr>
              <a:t>정당한 권리자 출원</a:t>
            </a:r>
            <a:r>
              <a:rPr lang="en-US" altLang="ko-KR" sz="1200" dirty="0">
                <a:latin typeface="+mn-ea"/>
              </a:rPr>
              <a:t>(Z)</a:t>
            </a:r>
            <a:endParaRPr lang="ko-KR" altLang="en-US" sz="1200" b="0" dirty="0">
              <a:latin typeface="+mn-ea"/>
            </a:endParaRPr>
          </a:p>
        </p:txBody>
      </p:sp>
      <p:cxnSp>
        <p:nvCxnSpPr>
          <p:cNvPr id="5" name="직선 화살표 연결선 4"/>
          <p:cNvCxnSpPr>
            <a:cxnSpLocks/>
            <a:stCxn id="40" idx="2"/>
          </p:cNvCxnSpPr>
          <p:nvPr/>
        </p:nvCxnSpPr>
        <p:spPr>
          <a:xfrm>
            <a:off x="1233456" y="3494593"/>
            <a:ext cx="0" cy="60833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14"/>
          <p:cNvSpPr>
            <a:spLocks noChangeArrowheads="1"/>
          </p:cNvSpPr>
          <p:nvPr/>
        </p:nvSpPr>
        <p:spPr bwMode="auto">
          <a:xfrm>
            <a:off x="6285517" y="3135588"/>
            <a:ext cx="1214040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n-ea"/>
              </a:rPr>
              <a:t>공개</a:t>
            </a:r>
            <a:r>
              <a:rPr lang="en-US" altLang="ko-KR" sz="1200" dirty="0">
                <a:latin typeface="+mn-ea"/>
              </a:rPr>
              <a:t>(X)</a:t>
            </a:r>
            <a:endParaRPr lang="ko-KR" altLang="en-US" sz="1200" b="0" dirty="0">
              <a:latin typeface="+mn-ea"/>
            </a:endParaRPr>
          </a:p>
        </p:txBody>
      </p:sp>
      <p:cxnSp>
        <p:nvCxnSpPr>
          <p:cNvPr id="70" name="직선 화살표 연결선 69"/>
          <p:cNvCxnSpPr>
            <a:cxnSpLocks/>
            <a:stCxn id="67" idx="2"/>
          </p:cNvCxnSpPr>
          <p:nvPr/>
        </p:nvCxnSpPr>
        <p:spPr>
          <a:xfrm>
            <a:off x="6892537" y="3494593"/>
            <a:ext cx="0" cy="60833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14"/>
          <p:cNvSpPr>
            <a:spLocks noChangeArrowheads="1"/>
          </p:cNvSpPr>
          <p:nvPr/>
        </p:nvSpPr>
        <p:spPr bwMode="auto">
          <a:xfrm>
            <a:off x="9078757" y="3135588"/>
            <a:ext cx="1214040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n-ea"/>
              </a:rPr>
              <a:t>거절결정확정</a:t>
            </a:r>
            <a:r>
              <a:rPr lang="en-US" altLang="ko-KR" sz="1200" dirty="0">
                <a:latin typeface="+mn-ea"/>
              </a:rPr>
              <a:t>(X)</a:t>
            </a:r>
            <a:endParaRPr lang="ko-KR" altLang="en-US" sz="1200" b="0" dirty="0">
              <a:latin typeface="+mn-ea"/>
            </a:endParaRPr>
          </a:p>
        </p:txBody>
      </p:sp>
      <p:cxnSp>
        <p:nvCxnSpPr>
          <p:cNvPr id="72" name="직선 화살표 연결선 71"/>
          <p:cNvCxnSpPr>
            <a:cxnSpLocks/>
            <a:stCxn id="71" idx="2"/>
          </p:cNvCxnSpPr>
          <p:nvPr/>
        </p:nvCxnSpPr>
        <p:spPr>
          <a:xfrm>
            <a:off x="9685777" y="3494593"/>
            <a:ext cx="0" cy="60833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/>
          <p:cNvSpPr/>
          <p:nvPr/>
        </p:nvSpPr>
        <p:spPr>
          <a:xfrm>
            <a:off x="1910473" y="5152649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D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1910473" y="5458651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C, D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6" name="Rectangle 14"/>
          <p:cNvSpPr>
            <a:spLocks noChangeArrowheads="1"/>
          </p:cNvSpPr>
          <p:nvPr/>
        </p:nvSpPr>
        <p:spPr bwMode="auto">
          <a:xfrm>
            <a:off x="1597548" y="4710903"/>
            <a:ext cx="1516064" cy="3590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n-ea"/>
              </a:rPr>
              <a:t>제</a:t>
            </a:r>
            <a:r>
              <a:rPr lang="en-US" altLang="ko-KR" sz="1200" dirty="0">
                <a:latin typeface="+mn-ea"/>
              </a:rPr>
              <a:t>3</a:t>
            </a:r>
            <a:r>
              <a:rPr lang="ko-KR" altLang="en-US" sz="1200" dirty="0">
                <a:latin typeface="+mn-ea"/>
              </a:rPr>
              <a:t>자 출원</a:t>
            </a:r>
            <a:r>
              <a:rPr lang="en-US" altLang="ko-KR" sz="1200" dirty="0">
                <a:latin typeface="+mn-ea"/>
              </a:rPr>
              <a:t>(Y)</a:t>
            </a:r>
            <a:endParaRPr lang="ko-KR" altLang="en-US" sz="1200" b="0" dirty="0">
              <a:latin typeface="+mn-ea"/>
            </a:endParaRPr>
          </a:p>
        </p:txBody>
      </p:sp>
      <p:cxnSp>
        <p:nvCxnSpPr>
          <p:cNvPr id="14" name="직선 화살표 연결선 13"/>
          <p:cNvCxnSpPr>
            <a:cxnSpLocks/>
            <a:stCxn id="50" idx="0"/>
            <a:endCxn id="78" idx="2"/>
          </p:cNvCxnSpPr>
          <p:nvPr/>
        </p:nvCxnSpPr>
        <p:spPr>
          <a:xfrm flipH="1" flipV="1">
            <a:off x="3897481" y="4441722"/>
            <a:ext cx="868484" cy="74543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cxnSpLocks/>
            <a:stCxn id="50" idx="0"/>
          </p:cNvCxnSpPr>
          <p:nvPr/>
        </p:nvCxnSpPr>
        <p:spPr>
          <a:xfrm flipV="1">
            <a:off x="4765965" y="4102924"/>
            <a:ext cx="3499494" cy="108422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3593414" y="3795391"/>
            <a:ext cx="60813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3600" dirty="0">
                <a:solidFill>
                  <a:schemeClr val="tx2"/>
                </a:solidFill>
              </a:rPr>
              <a:t>❶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50396" y="3795390"/>
            <a:ext cx="62457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3600" dirty="0">
                <a:solidFill>
                  <a:schemeClr val="accent1"/>
                </a:solidFill>
              </a:rPr>
              <a:t>❷</a:t>
            </a:r>
          </a:p>
        </p:txBody>
      </p:sp>
      <p:cxnSp>
        <p:nvCxnSpPr>
          <p:cNvPr id="83" name="직선 화살표 연결선 82"/>
          <p:cNvCxnSpPr>
            <a:cxnSpLocks/>
            <a:stCxn id="76" idx="0"/>
          </p:cNvCxnSpPr>
          <p:nvPr/>
        </p:nvCxnSpPr>
        <p:spPr>
          <a:xfrm flipV="1">
            <a:off x="2355580" y="4102924"/>
            <a:ext cx="0" cy="60797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161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B17027-2074-6641-7AC1-E671F28FE776}"/>
              </a:ext>
            </a:extLst>
          </p:cNvPr>
          <p:cNvSpPr txBox="1"/>
          <p:nvPr/>
        </p:nvSpPr>
        <p:spPr>
          <a:xfrm>
            <a:off x="2128602" y="2575793"/>
            <a:ext cx="3922574" cy="120032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200" dirty="0"/>
              <a:t>Z</a:t>
            </a:r>
            <a:r>
              <a:rPr lang="ko-KR" altLang="en-US" sz="1200" dirty="0"/>
              <a:t>출원일을 기준으로 특허요건 판단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출원</a:t>
            </a:r>
            <a:r>
              <a:rPr lang="en-US" altLang="ko-KR" sz="1200" dirty="0"/>
              <a:t>(Y)</a:t>
            </a:r>
            <a:r>
              <a:rPr lang="ko-KR" altLang="en-US" sz="1200" dirty="0"/>
              <a:t>이 공개된다면</a:t>
            </a:r>
            <a:r>
              <a:rPr lang="en-US" altLang="ko-KR" sz="1200" dirty="0"/>
              <a:t>, C</a:t>
            </a:r>
            <a:r>
              <a:rPr lang="ko-KR" altLang="en-US" sz="1200" dirty="0"/>
              <a:t>가 제</a:t>
            </a:r>
            <a:r>
              <a:rPr lang="en-US" altLang="ko-KR" sz="1200" dirty="0"/>
              <a:t>29</a:t>
            </a:r>
            <a:r>
              <a:rPr lang="ko-KR" altLang="en-US" sz="1200" dirty="0"/>
              <a:t>조제</a:t>
            </a:r>
            <a:r>
              <a:rPr lang="en-US" altLang="ko-KR" sz="1200" dirty="0"/>
              <a:t>3</a:t>
            </a:r>
            <a:r>
              <a:rPr lang="ko-KR" altLang="en-US" sz="1200" dirty="0"/>
              <a:t>항 위반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제</a:t>
            </a:r>
            <a:r>
              <a:rPr lang="en-US" altLang="ko-KR" sz="1200" dirty="0"/>
              <a:t>29</a:t>
            </a:r>
            <a:r>
              <a:rPr lang="ko-KR" altLang="en-US" sz="1200" dirty="0"/>
              <a:t>조제</a:t>
            </a:r>
            <a:r>
              <a:rPr lang="en-US" altLang="ko-KR" sz="1200" dirty="0"/>
              <a:t>3</a:t>
            </a:r>
            <a:r>
              <a:rPr lang="ko-KR" altLang="en-US" sz="1200" dirty="0"/>
              <a:t>항 위반일지라도</a:t>
            </a:r>
            <a:r>
              <a:rPr lang="en-US" altLang="ko-KR" sz="1200" dirty="0"/>
              <a:t>,</a:t>
            </a:r>
            <a:r>
              <a:rPr lang="ko-KR" altLang="en-US" sz="1200" dirty="0"/>
              <a:t> </a:t>
            </a:r>
            <a:r>
              <a:rPr lang="en-US" altLang="ko-KR" sz="1200" dirty="0"/>
              <a:t>C</a:t>
            </a:r>
            <a:r>
              <a:rPr lang="ko-KR" altLang="en-US" sz="1200" dirty="0"/>
              <a:t>를 </a:t>
            </a:r>
            <a:r>
              <a:rPr lang="ko-KR" altLang="en-US" sz="1200" dirty="0" err="1"/>
              <a:t>삭제보정하는</a:t>
            </a:r>
            <a:r>
              <a:rPr lang="ko-KR" altLang="en-US" sz="1200" dirty="0"/>
              <a:t> 경우 </a:t>
            </a:r>
            <a:r>
              <a:rPr lang="en-US" altLang="ko-KR" sz="1200" dirty="0"/>
              <a:t>A</a:t>
            </a:r>
            <a:r>
              <a:rPr lang="ko-KR" altLang="en-US" sz="1200" dirty="0"/>
              <a:t>는 등록가능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en-US" altLang="ko-KR" sz="1200" dirty="0"/>
              <a:t>A/A,C</a:t>
            </a:r>
            <a:r>
              <a:rPr lang="ko-KR" altLang="en-US" sz="1200" dirty="0"/>
              <a:t>로 보정하는 경우 소급효가 인정되지 않고 등록가능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en-US" altLang="ko-KR" sz="1200" dirty="0"/>
              <a:t>A/A</a:t>
            </a:r>
            <a:r>
              <a:rPr lang="ko-KR" altLang="en-US" sz="1200" dirty="0"/>
              <a:t>로 보정하는 경우 소급효가 인정되면서 등록가능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ABE25F-5714-64D5-9FA1-E3DF1469BB7B}"/>
              </a:ext>
            </a:extLst>
          </p:cNvPr>
          <p:cNvSpPr txBox="1"/>
          <p:nvPr/>
        </p:nvSpPr>
        <p:spPr>
          <a:xfrm>
            <a:off x="6750425" y="4403722"/>
            <a:ext cx="5263774" cy="646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200" dirty="0"/>
              <a:t>Z</a:t>
            </a:r>
            <a:r>
              <a:rPr lang="ko-KR" altLang="en-US" sz="1200" dirty="0"/>
              <a:t>출원일을 기준으로 특허요건 판단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공개일</a:t>
            </a:r>
            <a:r>
              <a:rPr lang="en-US" altLang="ko-KR" sz="1200" dirty="0"/>
              <a:t>(X)</a:t>
            </a:r>
            <a:r>
              <a:rPr lang="ko-KR" altLang="en-US" sz="1200" dirty="0"/>
              <a:t>로부터 </a:t>
            </a:r>
            <a:r>
              <a:rPr lang="en-US" altLang="ko-KR" sz="1200" dirty="0"/>
              <a:t>1</a:t>
            </a:r>
            <a:r>
              <a:rPr lang="ko-KR" altLang="en-US" sz="1200" dirty="0"/>
              <a:t>년이 지났다면 </a:t>
            </a:r>
            <a:r>
              <a:rPr lang="en-US" altLang="ko-KR" sz="1200" dirty="0"/>
              <a:t>A</a:t>
            </a:r>
            <a:r>
              <a:rPr lang="ko-KR" altLang="en-US" sz="1200" dirty="0"/>
              <a:t>가 제</a:t>
            </a:r>
            <a:r>
              <a:rPr lang="en-US" altLang="ko-KR" sz="1200" dirty="0"/>
              <a:t>29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/>
              <a:t>항 위반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출원</a:t>
            </a:r>
            <a:r>
              <a:rPr lang="en-US" altLang="ko-KR" sz="1200" dirty="0"/>
              <a:t>(Y)</a:t>
            </a:r>
            <a:r>
              <a:rPr lang="ko-KR" altLang="en-US" sz="1200" dirty="0"/>
              <a:t>이 공개된다면</a:t>
            </a:r>
            <a:r>
              <a:rPr lang="en-US" altLang="ko-KR" sz="1200" dirty="0"/>
              <a:t>, C</a:t>
            </a:r>
            <a:r>
              <a:rPr lang="ko-KR" altLang="en-US" sz="1200" dirty="0"/>
              <a:t>가 제</a:t>
            </a:r>
            <a:r>
              <a:rPr lang="en-US" altLang="ko-KR" sz="1200" dirty="0"/>
              <a:t>29</a:t>
            </a:r>
            <a:r>
              <a:rPr lang="ko-KR" altLang="en-US" sz="1200" dirty="0"/>
              <a:t>조제</a:t>
            </a:r>
            <a:r>
              <a:rPr lang="en-US" altLang="ko-KR" sz="1200" dirty="0"/>
              <a:t>3</a:t>
            </a:r>
            <a:r>
              <a:rPr lang="ko-KR" altLang="en-US" sz="1200" dirty="0"/>
              <a:t>항 위반</a:t>
            </a:r>
            <a:endParaRPr lang="en-US" altLang="ko-KR" sz="1200" dirty="0"/>
          </a:p>
        </p:txBody>
      </p:sp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7F9D0EA7-027B-0917-C0F3-9BC83D8017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921969"/>
              </p:ext>
            </p:extLst>
          </p:nvPr>
        </p:nvGraphicFramePr>
        <p:xfrm>
          <a:off x="6750424" y="5094714"/>
          <a:ext cx="5263773" cy="155448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281952">
                  <a:extLst>
                    <a:ext uri="{9D8B030D-6E8A-4147-A177-3AD203B41FA5}">
                      <a16:colId xmlns:a16="http://schemas.microsoft.com/office/drawing/2014/main" val="4186220556"/>
                    </a:ext>
                  </a:extLst>
                </a:gridCol>
                <a:gridCol w="2070848">
                  <a:extLst>
                    <a:ext uri="{9D8B030D-6E8A-4147-A177-3AD203B41FA5}">
                      <a16:colId xmlns:a16="http://schemas.microsoft.com/office/drawing/2014/main" val="2692393343"/>
                    </a:ext>
                  </a:extLst>
                </a:gridCol>
                <a:gridCol w="1910973">
                  <a:extLst>
                    <a:ext uri="{9D8B030D-6E8A-4147-A177-3AD203B41FA5}">
                      <a16:colId xmlns:a16="http://schemas.microsoft.com/office/drawing/2014/main" val="12772626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공개</a:t>
                      </a:r>
                      <a:r>
                        <a:rPr lang="en-US" altLang="ko-KR" sz="1200" dirty="0"/>
                        <a:t>(X)</a:t>
                      </a:r>
                      <a:r>
                        <a:rPr lang="ko-KR" altLang="en-US" sz="1200" dirty="0"/>
                        <a:t>일로부터 </a:t>
                      </a:r>
                      <a:endParaRPr lang="en-US" altLang="ko-KR" sz="1200" dirty="0"/>
                    </a:p>
                    <a:p>
                      <a:pPr latinLnBrk="1"/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년 이내인 경우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공개일로</a:t>
                      </a:r>
                      <a:r>
                        <a:rPr lang="en-US" altLang="ko-KR" sz="1200" dirty="0"/>
                        <a:t>(X)</a:t>
                      </a:r>
                      <a:r>
                        <a:rPr lang="ko-KR" altLang="en-US" sz="1200" dirty="0"/>
                        <a:t>부터 </a:t>
                      </a:r>
                      <a:endParaRPr lang="en-US" altLang="ko-KR" sz="1200" dirty="0"/>
                    </a:p>
                    <a:p>
                      <a:pPr latinLnBrk="1"/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년 지난 경우    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449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출원</a:t>
                      </a:r>
                      <a:r>
                        <a:rPr lang="en-US" altLang="ko-KR" sz="1200" dirty="0"/>
                        <a:t>(Y)</a:t>
                      </a:r>
                      <a:r>
                        <a:rPr lang="ko-KR" altLang="en-US" sz="1200" dirty="0"/>
                        <a:t>이 공개된 경우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A/A,C </a:t>
                      </a:r>
                      <a:r>
                        <a:rPr lang="ko-KR" altLang="en-US" sz="1200" dirty="0"/>
                        <a:t>또는</a:t>
                      </a:r>
                      <a:r>
                        <a:rPr lang="en-US" altLang="ko-KR" sz="1200" dirty="0"/>
                        <a:t> A/A</a:t>
                      </a:r>
                      <a:r>
                        <a:rPr lang="ko-KR" altLang="en-US" sz="1200" dirty="0"/>
                        <a:t>로 </a:t>
                      </a:r>
                      <a:r>
                        <a:rPr lang="ko-KR" altLang="en-US" sz="1200" dirty="0" err="1"/>
                        <a:t>삭제보정하는</a:t>
                      </a:r>
                      <a:r>
                        <a:rPr lang="ko-KR" altLang="en-US" sz="1200" dirty="0"/>
                        <a:t> 경우 </a:t>
                      </a:r>
                      <a:r>
                        <a:rPr lang="en-US" altLang="ko-KR" sz="1200" dirty="0"/>
                        <a:t>A</a:t>
                      </a:r>
                      <a:r>
                        <a:rPr lang="ko-KR" altLang="en-US" sz="1200" dirty="0"/>
                        <a:t>는 등록가능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A/A</a:t>
                      </a:r>
                      <a:r>
                        <a:rPr lang="ko-KR" altLang="en-US" sz="1200" dirty="0"/>
                        <a:t>로 </a:t>
                      </a:r>
                      <a:r>
                        <a:rPr lang="ko-KR" altLang="en-US" sz="1200" dirty="0" err="1"/>
                        <a:t>삭제보정하는</a:t>
                      </a:r>
                      <a:r>
                        <a:rPr lang="ko-KR" altLang="en-US" sz="1200" dirty="0"/>
                        <a:t> 경우 </a:t>
                      </a:r>
                      <a:r>
                        <a:rPr lang="en-US" altLang="ko-KR" sz="1200" dirty="0"/>
                        <a:t>A</a:t>
                      </a:r>
                      <a:r>
                        <a:rPr lang="ko-KR" altLang="en-US" sz="1200" dirty="0"/>
                        <a:t>는 등록가능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5242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출원</a:t>
                      </a:r>
                      <a:r>
                        <a:rPr lang="en-US" altLang="ko-KR" sz="1200" dirty="0"/>
                        <a:t>(Y)</a:t>
                      </a:r>
                      <a:r>
                        <a:rPr lang="ko-KR" altLang="en-US" sz="1200" dirty="0"/>
                        <a:t>이 공개되지 않은 경우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등록가능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A/A</a:t>
                      </a:r>
                      <a:r>
                        <a:rPr lang="ko-KR" altLang="en-US" sz="1200" dirty="0"/>
                        <a:t>로 </a:t>
                      </a:r>
                      <a:r>
                        <a:rPr lang="ko-KR" altLang="en-US" sz="1200" dirty="0" err="1"/>
                        <a:t>삭제보정하는</a:t>
                      </a:r>
                      <a:r>
                        <a:rPr lang="ko-KR" altLang="en-US" sz="1200" dirty="0"/>
                        <a:t> 경우 </a:t>
                      </a:r>
                      <a:r>
                        <a:rPr lang="en-US" altLang="ko-KR" sz="1200" dirty="0"/>
                        <a:t>A</a:t>
                      </a:r>
                      <a:r>
                        <a:rPr lang="ko-KR" altLang="en-US" sz="1200" dirty="0"/>
                        <a:t>는 등록가능</a:t>
                      </a:r>
                      <a:endParaRPr lang="en-US" altLang="ko-KR" sz="12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C</a:t>
                      </a:r>
                      <a:r>
                        <a:rPr lang="ko-KR" altLang="en-US" sz="1200" dirty="0"/>
                        <a:t>는 </a:t>
                      </a:r>
                      <a:r>
                        <a:rPr lang="ko-KR" altLang="en-US" sz="1200" dirty="0" err="1"/>
                        <a:t>분할출원하면</a:t>
                      </a:r>
                      <a:r>
                        <a:rPr lang="ko-KR" altLang="en-US" sz="1200" dirty="0"/>
                        <a:t> 등록가능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9696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24783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99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특허권 </a:t>
            </a:r>
            <a:r>
              <a:rPr lang="ko-KR" altLang="en-US" dirty="0" err="1"/>
              <a:t>이전청구의</a:t>
            </a:r>
            <a:r>
              <a:rPr lang="ko-KR" altLang="en-US" dirty="0"/>
              <a:t> 개념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99</a:t>
            </a:r>
            <a:r>
              <a:rPr lang="ko-KR" altLang="en-US" sz="1400" b="1" dirty="0">
                <a:solidFill>
                  <a:schemeClr val="accent1"/>
                </a:solidFill>
              </a:rPr>
              <a:t>조의</a:t>
            </a:r>
            <a:r>
              <a:rPr lang="en-US" altLang="ko-KR" sz="1400" b="1" dirty="0">
                <a:solidFill>
                  <a:schemeClr val="accent1"/>
                </a:solidFill>
              </a:rPr>
              <a:t>2(</a:t>
            </a:r>
            <a:r>
              <a:rPr lang="ko-KR" altLang="en-US" sz="1400" b="1" dirty="0">
                <a:solidFill>
                  <a:schemeClr val="accent1"/>
                </a:solidFill>
              </a:rPr>
              <a:t>특허권의 </a:t>
            </a:r>
            <a:r>
              <a:rPr lang="ko-KR" altLang="en-US" sz="1400" b="1" dirty="0" err="1">
                <a:solidFill>
                  <a:schemeClr val="accent1"/>
                </a:solidFill>
              </a:rPr>
              <a:t>이전청구</a:t>
            </a:r>
            <a:r>
              <a:rPr lang="en-US" altLang="ko-KR" sz="1400" b="1" dirty="0">
                <a:solidFill>
                  <a:schemeClr val="accent1"/>
                </a:solidFill>
              </a:rPr>
              <a:t>)</a:t>
            </a:r>
            <a:r>
              <a:rPr lang="en-US" altLang="ko-KR" sz="1400" dirty="0">
                <a:solidFill>
                  <a:schemeClr val="tx2"/>
                </a:solidFill>
              </a:rPr>
              <a:t> ① </a:t>
            </a:r>
            <a:r>
              <a:rPr lang="ko-KR" altLang="en-US" sz="1400" dirty="0">
                <a:solidFill>
                  <a:schemeClr val="tx2"/>
                </a:solidFill>
              </a:rPr>
              <a:t>특허가 제</a:t>
            </a:r>
            <a:r>
              <a:rPr lang="en-US" altLang="ko-KR" sz="1400" dirty="0">
                <a:solidFill>
                  <a:schemeClr val="tx2"/>
                </a:solidFill>
              </a:rPr>
              <a:t>133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호 본문에 해당하는 경우에 특허를 받을 수 있는 권리를 가진 자는 법원에 해당 특허권의 이전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특허를 받을 수 있는 권리가 공유인 경우에는 그 지분의 이전을 말한다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을 청구할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항의 청구에 기초하여 특허권이 </a:t>
            </a:r>
            <a:r>
              <a:rPr lang="ko-KR" altLang="en-US" sz="1400" dirty="0" err="1">
                <a:solidFill>
                  <a:schemeClr val="tx2"/>
                </a:solidFill>
              </a:rPr>
              <a:t>이전등록된</a:t>
            </a:r>
            <a:r>
              <a:rPr lang="ko-KR" altLang="en-US" sz="1400" dirty="0">
                <a:solidFill>
                  <a:schemeClr val="tx2"/>
                </a:solidFill>
              </a:rPr>
              <a:t> 경우에는 다음 각 호의 권리는 그 특허권이 </a:t>
            </a:r>
            <a:r>
              <a:rPr lang="ko-KR" altLang="en-US" sz="1400" dirty="0" err="1">
                <a:solidFill>
                  <a:schemeClr val="tx2"/>
                </a:solidFill>
              </a:rPr>
              <a:t>설정등록된</a:t>
            </a:r>
            <a:r>
              <a:rPr lang="ko-KR" altLang="en-US" sz="1400" dirty="0">
                <a:solidFill>
                  <a:schemeClr val="tx2"/>
                </a:solidFill>
              </a:rPr>
              <a:t> 날부터 이전등록을 받은 자에게 있는 것으로 본다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해당 특허권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65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따른 보상금 지급 청구권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207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항에 따른 보상금 지급 청구권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③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항의 청구에 따라 공유인 특허권의 지분을 이전하는 경우에는 제</a:t>
            </a:r>
            <a:r>
              <a:rPr lang="en-US" altLang="ko-KR" sz="1400" dirty="0">
                <a:solidFill>
                  <a:schemeClr val="tx2"/>
                </a:solidFill>
              </a:rPr>
              <a:t>99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항에도 불구하고 다른 공유자의 동의를 받지 아니하더라도 그 지분을 이전할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256433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>
            <a:off x="546644" y="4750690"/>
            <a:ext cx="1058986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14"/>
          <p:cNvSpPr>
            <a:spLocks noChangeArrowheads="1"/>
          </p:cNvSpPr>
          <p:nvPr/>
        </p:nvSpPr>
        <p:spPr bwMode="auto">
          <a:xfrm>
            <a:off x="576128" y="3991674"/>
            <a:ext cx="14185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 err="1">
                <a:latin typeface="+mn-ea"/>
              </a:rPr>
              <a:t>무권리자</a:t>
            </a:r>
            <a:r>
              <a:rPr lang="ko-KR" altLang="en-US" sz="1400" b="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출원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50" name="Rectangle 14"/>
          <p:cNvSpPr>
            <a:spLocks noChangeArrowheads="1"/>
          </p:cNvSpPr>
          <p:nvPr/>
        </p:nvSpPr>
        <p:spPr bwMode="auto">
          <a:xfrm>
            <a:off x="7145293" y="3467967"/>
            <a:ext cx="1879066" cy="359005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정당한 권리자 </a:t>
            </a:r>
            <a:r>
              <a:rPr lang="ko-KR" altLang="en-US" sz="1400" dirty="0" err="1">
                <a:solidFill>
                  <a:schemeClr val="bg1"/>
                </a:solidFill>
                <a:latin typeface="+mn-ea"/>
              </a:rPr>
              <a:t>이전청구</a:t>
            </a:r>
            <a:endParaRPr lang="ko-KR" altLang="en-US" sz="1400" b="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5" name="직선 화살표 연결선 4"/>
          <p:cNvCxnSpPr>
            <a:stCxn id="40" idx="2"/>
          </p:cNvCxnSpPr>
          <p:nvPr/>
        </p:nvCxnSpPr>
        <p:spPr>
          <a:xfrm>
            <a:off x="1285399" y="4350679"/>
            <a:ext cx="0" cy="40001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14"/>
          <p:cNvSpPr>
            <a:spLocks noChangeArrowheads="1"/>
          </p:cNvSpPr>
          <p:nvPr/>
        </p:nvSpPr>
        <p:spPr bwMode="auto">
          <a:xfrm>
            <a:off x="2161992" y="3991674"/>
            <a:ext cx="14185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공개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71" name="Rectangle 14"/>
          <p:cNvSpPr>
            <a:spLocks noChangeArrowheads="1"/>
          </p:cNvSpPr>
          <p:nvPr/>
        </p:nvSpPr>
        <p:spPr bwMode="auto">
          <a:xfrm>
            <a:off x="3752675" y="3991674"/>
            <a:ext cx="14185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경고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72" name="직선 화살표 연결선 71"/>
          <p:cNvCxnSpPr>
            <a:stCxn id="71" idx="2"/>
          </p:cNvCxnSpPr>
          <p:nvPr/>
        </p:nvCxnSpPr>
        <p:spPr>
          <a:xfrm>
            <a:off x="4461946" y="4350679"/>
            <a:ext cx="0" cy="40001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>
            <a:off x="2882088" y="4350679"/>
            <a:ext cx="0" cy="40001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14"/>
          <p:cNvSpPr>
            <a:spLocks noChangeArrowheads="1"/>
          </p:cNvSpPr>
          <p:nvPr/>
        </p:nvSpPr>
        <p:spPr bwMode="auto">
          <a:xfrm>
            <a:off x="5323132" y="3991674"/>
            <a:ext cx="14185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 err="1">
                <a:latin typeface="+mn-ea"/>
              </a:rPr>
              <a:t>설정등록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30" name="직선 화살표 연결선 29"/>
          <p:cNvCxnSpPr>
            <a:stCxn id="29" idx="2"/>
          </p:cNvCxnSpPr>
          <p:nvPr/>
        </p:nvCxnSpPr>
        <p:spPr>
          <a:xfrm>
            <a:off x="6032403" y="4350679"/>
            <a:ext cx="0" cy="40001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자유형 5"/>
          <p:cNvSpPr/>
          <p:nvPr/>
        </p:nvSpPr>
        <p:spPr>
          <a:xfrm>
            <a:off x="3213219" y="4760009"/>
            <a:ext cx="7879222" cy="743484"/>
          </a:xfrm>
          <a:custGeom>
            <a:avLst/>
            <a:gdLst>
              <a:gd name="connsiteX0" fmla="*/ 0 w 7879222"/>
              <a:gd name="connsiteY0" fmla="*/ 0 h 743484"/>
              <a:gd name="connsiteX1" fmla="*/ 0 w 7879222"/>
              <a:gd name="connsiteY1" fmla="*/ 743484 h 743484"/>
              <a:gd name="connsiteX2" fmla="*/ 7879222 w 7879222"/>
              <a:gd name="connsiteY2" fmla="*/ 743484 h 743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79222" h="743484">
                <a:moveTo>
                  <a:pt x="0" y="0"/>
                </a:moveTo>
                <a:lnTo>
                  <a:pt x="0" y="743484"/>
                </a:lnTo>
                <a:lnTo>
                  <a:pt x="7879222" y="743484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/>
          <p:cNvCxnSpPr/>
          <p:nvPr/>
        </p:nvCxnSpPr>
        <p:spPr>
          <a:xfrm>
            <a:off x="6032403" y="4750690"/>
            <a:ext cx="0" cy="141937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>
            <a:off x="4461946" y="4750690"/>
            <a:ext cx="0" cy="141937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>
            <a:off x="4461946" y="5964967"/>
            <a:ext cx="1570457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685488" y="5856730"/>
            <a:ext cx="115608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보상금청구권</a:t>
            </a:r>
          </a:p>
        </p:txBody>
      </p:sp>
      <p:cxnSp>
        <p:nvCxnSpPr>
          <p:cNvPr id="44" name="직선 화살표 연결선 43"/>
          <p:cNvCxnSpPr/>
          <p:nvPr/>
        </p:nvCxnSpPr>
        <p:spPr>
          <a:xfrm>
            <a:off x="6041804" y="5964967"/>
            <a:ext cx="5094701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433068" y="5856730"/>
            <a:ext cx="1205779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특허권의 침해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2402" y="5340672"/>
            <a:ext cx="135485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제</a:t>
            </a:r>
            <a:r>
              <a:rPr lang="en-US" altLang="ko-KR" sz="1400" dirty="0"/>
              <a:t>3</a:t>
            </a:r>
            <a:r>
              <a:rPr lang="ko-KR" altLang="en-US" sz="1400" dirty="0"/>
              <a:t>자 무단 실시</a:t>
            </a:r>
          </a:p>
        </p:txBody>
      </p:sp>
      <p:cxnSp>
        <p:nvCxnSpPr>
          <p:cNvPr id="51" name="직선 화살표 연결선 50"/>
          <p:cNvCxnSpPr/>
          <p:nvPr/>
        </p:nvCxnSpPr>
        <p:spPr>
          <a:xfrm>
            <a:off x="8103444" y="3826972"/>
            <a:ext cx="0" cy="92371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14"/>
          <p:cNvSpPr>
            <a:spLocks noChangeArrowheads="1"/>
          </p:cNvSpPr>
          <p:nvPr/>
        </p:nvSpPr>
        <p:spPr bwMode="auto">
          <a:xfrm>
            <a:off x="9864630" y="3467967"/>
            <a:ext cx="894526" cy="359005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이전등록</a:t>
            </a:r>
            <a:endParaRPr lang="ko-KR" altLang="en-US" sz="1400" b="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53" name="직선 화살표 연결선 52"/>
          <p:cNvCxnSpPr/>
          <p:nvPr/>
        </p:nvCxnSpPr>
        <p:spPr>
          <a:xfrm>
            <a:off x="10304873" y="3826972"/>
            <a:ext cx="0" cy="92371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2145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103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>
                <a:solidFill>
                  <a:schemeClr val="tx2"/>
                </a:solidFill>
              </a:rPr>
              <a:t>특허권의 </a:t>
            </a:r>
            <a:r>
              <a:rPr lang="ko-KR" altLang="en-US" sz="2400" dirty="0" err="1">
                <a:solidFill>
                  <a:schemeClr val="tx2"/>
                </a:solidFill>
              </a:rPr>
              <a:t>이전청구에</a:t>
            </a:r>
            <a:r>
              <a:rPr lang="ko-KR" altLang="en-US" sz="2400" dirty="0">
                <a:solidFill>
                  <a:schemeClr val="tx2"/>
                </a:solidFill>
              </a:rPr>
              <a:t> 따른 이전등록 전의 실시에 의한 </a:t>
            </a:r>
            <a:r>
              <a:rPr lang="ko-KR" altLang="en-US" sz="2400" dirty="0" err="1">
                <a:solidFill>
                  <a:schemeClr val="tx2"/>
                </a:solidFill>
              </a:rPr>
              <a:t>통상실시권</a:t>
            </a:r>
            <a:endParaRPr lang="ko-KR" altLang="en-US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103</a:t>
            </a:r>
            <a:r>
              <a:rPr lang="ko-KR" altLang="en-US" sz="1400" b="1" dirty="0">
                <a:solidFill>
                  <a:schemeClr val="accent1"/>
                </a:solidFill>
              </a:rPr>
              <a:t>조의</a:t>
            </a:r>
            <a:r>
              <a:rPr lang="en-US" altLang="ko-KR" sz="1400" b="1" dirty="0">
                <a:solidFill>
                  <a:schemeClr val="accent1"/>
                </a:solidFill>
              </a:rPr>
              <a:t>2(</a:t>
            </a:r>
            <a:r>
              <a:rPr lang="ko-KR" altLang="en-US" sz="1400" b="1" dirty="0">
                <a:solidFill>
                  <a:schemeClr val="accent1"/>
                </a:solidFill>
              </a:rPr>
              <a:t>특허권의 </a:t>
            </a:r>
            <a:r>
              <a:rPr lang="ko-KR" altLang="en-US" sz="1400" b="1" dirty="0" err="1">
                <a:solidFill>
                  <a:schemeClr val="accent1"/>
                </a:solidFill>
              </a:rPr>
              <a:t>이전청구에</a:t>
            </a:r>
            <a:r>
              <a:rPr lang="ko-KR" altLang="en-US" sz="1400" b="1" dirty="0">
                <a:solidFill>
                  <a:schemeClr val="accent1"/>
                </a:solidFill>
              </a:rPr>
              <a:t> 따른 이전등록 전의 실시에 의한 </a:t>
            </a:r>
            <a:r>
              <a:rPr lang="ko-KR" altLang="en-US" sz="1400" b="1" dirty="0" err="1">
                <a:solidFill>
                  <a:schemeClr val="accent1"/>
                </a:solidFill>
              </a:rPr>
              <a:t>통상실시권</a:t>
            </a:r>
            <a:r>
              <a:rPr lang="en-US" altLang="ko-KR" sz="1400" b="1" dirty="0">
                <a:solidFill>
                  <a:schemeClr val="accent1"/>
                </a:solidFill>
              </a:rPr>
              <a:t>)</a:t>
            </a:r>
            <a:r>
              <a:rPr lang="en-US" altLang="ko-KR" sz="1400" dirty="0">
                <a:solidFill>
                  <a:schemeClr val="tx2"/>
                </a:solidFill>
              </a:rPr>
              <a:t> ① </a:t>
            </a:r>
            <a:r>
              <a:rPr lang="ko-KR" altLang="en-US" sz="1400" dirty="0">
                <a:solidFill>
                  <a:schemeClr val="tx2"/>
                </a:solidFill>
              </a:rPr>
              <a:t>다음 각 호의 어느 하나에 해당하는 자가 제</a:t>
            </a:r>
            <a:r>
              <a:rPr lang="en-US" altLang="ko-KR" sz="1400" dirty="0">
                <a:solidFill>
                  <a:schemeClr val="tx2"/>
                </a:solidFill>
              </a:rPr>
              <a:t>99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따른 특허권의 </a:t>
            </a:r>
            <a:r>
              <a:rPr lang="ko-KR" altLang="en-US" sz="1400" dirty="0" err="1">
                <a:solidFill>
                  <a:schemeClr val="tx2"/>
                </a:solidFill>
              </a:rPr>
              <a:t>이전등록이</a:t>
            </a:r>
            <a:r>
              <a:rPr lang="ko-KR" altLang="en-US" sz="1400" dirty="0">
                <a:solidFill>
                  <a:schemeClr val="tx2"/>
                </a:solidFill>
              </a:rPr>
              <a:t> 있기 전에 해당 특허가 제</a:t>
            </a:r>
            <a:r>
              <a:rPr lang="en-US" altLang="ko-KR" sz="1400" dirty="0">
                <a:solidFill>
                  <a:schemeClr val="tx2"/>
                </a:solidFill>
              </a:rPr>
              <a:t>133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호 본문에 해당하는 것을 알지 못하고 국내에서 해당 발명의 </a:t>
            </a:r>
            <a:r>
              <a:rPr lang="ko-KR" altLang="en-US" sz="1400" dirty="0" err="1">
                <a:solidFill>
                  <a:schemeClr val="tx2"/>
                </a:solidFill>
              </a:rPr>
              <a:t>실시사업을</a:t>
            </a:r>
            <a:r>
              <a:rPr lang="ko-KR" altLang="en-US" sz="1400" dirty="0">
                <a:solidFill>
                  <a:schemeClr val="tx2"/>
                </a:solidFill>
              </a:rPr>
              <a:t> 하거나 이를 준비하고 있는 경우에는 그 실시하거나 준비를 하고 있는 발명 및 </a:t>
            </a:r>
            <a:r>
              <a:rPr lang="ko-KR" altLang="en-US" sz="1400" dirty="0" err="1">
                <a:solidFill>
                  <a:schemeClr val="tx2"/>
                </a:solidFill>
              </a:rPr>
              <a:t>사업목적의</a:t>
            </a:r>
            <a:r>
              <a:rPr lang="ko-KR" altLang="en-US" sz="1400" dirty="0">
                <a:solidFill>
                  <a:schemeClr val="tx2"/>
                </a:solidFill>
              </a:rPr>
              <a:t> 범위에서 그 특허권에 대하여 통상실시권을 가진다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rgbClr val="FF0000"/>
                </a:solidFill>
              </a:rPr>
              <a:t>1. </a:t>
            </a:r>
            <a:r>
              <a:rPr lang="ko-KR" altLang="en-US" sz="1400" dirty="0" err="1">
                <a:solidFill>
                  <a:srgbClr val="FF0000"/>
                </a:solidFill>
              </a:rPr>
              <a:t>이전등록된</a:t>
            </a:r>
            <a:r>
              <a:rPr lang="ko-KR" altLang="en-US" sz="1400" dirty="0">
                <a:solidFill>
                  <a:srgbClr val="FF0000"/>
                </a:solidFill>
              </a:rPr>
              <a:t> 특허의 원</a:t>
            </a:r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原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  <a:r>
              <a:rPr lang="ko-KR" altLang="en-US" sz="1400" dirty="0" err="1">
                <a:solidFill>
                  <a:srgbClr val="FF0000"/>
                </a:solidFill>
              </a:rPr>
              <a:t>특허권자</a:t>
            </a:r>
            <a:endParaRPr lang="ko-KR" altLang="en-US" sz="1400" dirty="0">
              <a:solidFill>
                <a:srgbClr val="FF0000"/>
              </a:solidFill>
            </a:endParaRPr>
          </a:p>
          <a:p>
            <a:pPr fontAlgn="base"/>
            <a:r>
              <a:rPr lang="en-US" altLang="ko-KR" sz="1400" dirty="0">
                <a:solidFill>
                  <a:srgbClr val="FF0000"/>
                </a:solidFill>
              </a:rPr>
              <a:t>2. </a:t>
            </a:r>
            <a:r>
              <a:rPr lang="ko-KR" altLang="en-US" sz="1400" dirty="0" err="1">
                <a:solidFill>
                  <a:srgbClr val="FF0000"/>
                </a:solidFill>
              </a:rPr>
              <a:t>이전등록된</a:t>
            </a:r>
            <a:r>
              <a:rPr lang="ko-KR" altLang="en-US" sz="1400" dirty="0">
                <a:solidFill>
                  <a:srgbClr val="FF0000"/>
                </a:solidFill>
              </a:rPr>
              <a:t> 특허권에 대하여 이전등록 당시에 이미 전용실시권이나 </a:t>
            </a:r>
            <a:r>
              <a:rPr lang="ko-KR" altLang="en-US" sz="1400" dirty="0" err="1">
                <a:solidFill>
                  <a:srgbClr val="FF0000"/>
                </a:solidFill>
              </a:rPr>
              <a:t>통상실시권</a:t>
            </a:r>
            <a:r>
              <a:rPr lang="ko-KR" altLang="en-US" sz="1400" dirty="0">
                <a:solidFill>
                  <a:srgbClr val="FF0000"/>
                </a:solidFill>
              </a:rPr>
              <a:t> 또는 그 전용실시권에 대한 통상실시권을 취득하고 등록을 받은 자</a:t>
            </a:r>
            <a:r>
              <a:rPr lang="en-US" altLang="ko-KR" sz="1400" dirty="0">
                <a:solidFill>
                  <a:srgbClr val="FF0000"/>
                </a:solidFill>
              </a:rPr>
              <a:t>. </a:t>
            </a:r>
            <a:r>
              <a:rPr lang="ko-KR" altLang="en-US" sz="1400" dirty="0">
                <a:solidFill>
                  <a:srgbClr val="FF0000"/>
                </a:solidFill>
              </a:rPr>
              <a:t>다만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118</a:t>
            </a:r>
            <a:r>
              <a:rPr lang="ko-KR" altLang="en-US" sz="1400" dirty="0">
                <a:solidFill>
                  <a:srgbClr val="FF0000"/>
                </a:solidFill>
              </a:rPr>
              <a:t>조제</a:t>
            </a:r>
            <a:r>
              <a:rPr lang="en-US" altLang="ko-KR" sz="1400" dirty="0">
                <a:solidFill>
                  <a:srgbClr val="FF0000"/>
                </a:solidFill>
              </a:rPr>
              <a:t>2</a:t>
            </a:r>
            <a:r>
              <a:rPr lang="ko-KR" altLang="en-US" sz="1400" dirty="0">
                <a:solidFill>
                  <a:srgbClr val="FF0000"/>
                </a:solidFill>
              </a:rPr>
              <a:t>항에 따른 통상실시권을 취득한 자는 등록을 필요로 하지 아니한다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통상실시권을 가진 자는 </a:t>
            </a:r>
            <a:r>
              <a:rPr lang="ko-KR" altLang="en-US" sz="1400" dirty="0" err="1">
                <a:solidFill>
                  <a:schemeClr val="tx2"/>
                </a:solidFill>
              </a:rPr>
              <a:t>이전등록된</a:t>
            </a:r>
            <a:r>
              <a:rPr lang="ko-KR" altLang="en-US" sz="1400" dirty="0">
                <a:solidFill>
                  <a:schemeClr val="tx2"/>
                </a:solidFill>
              </a:rPr>
              <a:t> 특허권자에게 상당한 대가를 지급하여야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258996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163</a:t>
            </a:fld>
            <a:endParaRPr lang="ko-KR" altLang="en-US"/>
          </a:p>
        </p:txBody>
      </p:sp>
      <p:sp>
        <p:nvSpPr>
          <p:cNvPr id="23" name="Rectangle 14">
            <a:extLst>
              <a:ext uri="{FF2B5EF4-FFF2-40B4-BE49-F238E27FC236}">
                <a16:creationId xmlns:a16="http://schemas.microsoft.com/office/drawing/2014/main" id="{006477C6-F745-4F15-B6D2-C9F50711C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1268" y="5200886"/>
            <a:ext cx="746662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 err="1">
                <a:latin typeface="+mn-ea"/>
              </a:rPr>
              <a:t>모인</a:t>
            </a:r>
            <a:r>
              <a:rPr lang="ko-KR" altLang="en-US" sz="1400" dirty="0" err="1">
                <a:latin typeface="+mn-ea"/>
              </a:rPr>
              <a:t>출원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b="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乙</a:t>
            </a:r>
            <a:r>
              <a:rPr lang="en-US" altLang="ko-KR" sz="1400" b="0" dirty="0">
                <a:latin typeface="+mn-ea"/>
              </a:rPr>
              <a:t>)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9C2647F4-1EE5-41C0-9CF6-8A4FF68E5AC5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7084599" y="4989768"/>
            <a:ext cx="0" cy="21111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14">
            <a:extLst>
              <a:ext uri="{FF2B5EF4-FFF2-40B4-BE49-F238E27FC236}">
                <a16:creationId xmlns:a16="http://schemas.microsoft.com/office/drawing/2014/main" id="{D0AC0715-F485-47B1-9B28-9B115F229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9070" y="5200886"/>
            <a:ext cx="746662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 err="1">
                <a:latin typeface="+mn-ea"/>
              </a:rPr>
              <a:t>설정등록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乙</a:t>
            </a:r>
            <a:r>
              <a:rPr lang="en-US" altLang="ko-KR" sz="1400" dirty="0">
                <a:latin typeface="+mn-ea"/>
              </a:rPr>
              <a:t>)</a:t>
            </a:r>
            <a:endParaRPr lang="ko-KR" altLang="en-US" sz="1400" dirty="0">
              <a:latin typeface="+mn-ea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BB35B4CF-8810-4AF9-B8F5-09213C1C1493}"/>
              </a:ext>
            </a:extLst>
          </p:cNvPr>
          <p:cNvCxnSpPr>
            <a:cxnSpLocks/>
            <a:stCxn id="25" idx="0"/>
          </p:cNvCxnSpPr>
          <p:nvPr/>
        </p:nvCxnSpPr>
        <p:spPr>
          <a:xfrm flipV="1">
            <a:off x="7932401" y="4963222"/>
            <a:ext cx="1" cy="23766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자유형 37">
            <a:extLst>
              <a:ext uri="{FF2B5EF4-FFF2-40B4-BE49-F238E27FC236}">
                <a16:creationId xmlns:a16="http://schemas.microsoft.com/office/drawing/2014/main" id="{4A2D9619-60AA-42F8-8994-423EFB7C85D7}"/>
              </a:ext>
            </a:extLst>
          </p:cNvPr>
          <p:cNvSpPr/>
          <p:nvPr/>
        </p:nvSpPr>
        <p:spPr>
          <a:xfrm>
            <a:off x="9127313" y="4932973"/>
            <a:ext cx="2853920" cy="1218923"/>
          </a:xfrm>
          <a:custGeom>
            <a:avLst/>
            <a:gdLst>
              <a:gd name="connsiteX0" fmla="*/ 0 w 7879222"/>
              <a:gd name="connsiteY0" fmla="*/ 0 h 743484"/>
              <a:gd name="connsiteX1" fmla="*/ 0 w 7879222"/>
              <a:gd name="connsiteY1" fmla="*/ 743484 h 743484"/>
              <a:gd name="connsiteX2" fmla="*/ 7879222 w 7879222"/>
              <a:gd name="connsiteY2" fmla="*/ 743484 h 743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79222" h="743484">
                <a:moveTo>
                  <a:pt x="0" y="0"/>
                </a:moveTo>
                <a:lnTo>
                  <a:pt x="0" y="743484"/>
                </a:lnTo>
                <a:lnTo>
                  <a:pt x="7879222" y="743484"/>
                </a:lnTo>
              </a:path>
            </a:pathLst>
          </a:custGeom>
          <a:noFill/>
          <a:ln w="5715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089680-6E96-407F-83FC-8B673D0EE613}"/>
              </a:ext>
            </a:extLst>
          </p:cNvPr>
          <p:cNvSpPr txBox="1"/>
          <p:nvPr/>
        </p:nvSpPr>
        <p:spPr>
          <a:xfrm>
            <a:off x="9557778" y="5924772"/>
            <a:ext cx="1992989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선의의 丙이 국내에서 </a:t>
            </a:r>
            <a:endParaRPr lang="en-US" altLang="ko-KR" sz="1400" dirty="0"/>
          </a:p>
          <a:p>
            <a:pPr algn="ctr"/>
            <a:r>
              <a:rPr lang="ko-KR" altLang="en-US" sz="1400" dirty="0"/>
              <a:t>실시사업 또는 사업준비</a:t>
            </a:r>
          </a:p>
        </p:txBody>
      </p:sp>
      <p:sp>
        <p:nvSpPr>
          <p:cNvPr id="33" name="Rectangle 14">
            <a:extLst>
              <a:ext uri="{FF2B5EF4-FFF2-40B4-BE49-F238E27FC236}">
                <a16:creationId xmlns:a16="http://schemas.microsoft.com/office/drawing/2014/main" id="{3E6D5E3D-145D-428C-9DD5-7718CE51B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7146" y="5890542"/>
            <a:ext cx="968799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이전등록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乙 </a:t>
            </a:r>
            <a:r>
              <a:rPr lang="en-US" altLang="ko-KR" sz="1400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latin typeface="+mn-ea"/>
                <a:sym typeface="Wingdings" panose="05000000000000000000" pitchFamily="2" charset="2"/>
              </a:rPr>
              <a:t>丙</a:t>
            </a:r>
            <a:r>
              <a:rPr lang="en-US" altLang="ko-KR" sz="1400" dirty="0">
                <a:latin typeface="+mn-ea"/>
                <a:sym typeface="Wingdings" panose="05000000000000000000" pitchFamily="2" charset="2"/>
              </a:rPr>
              <a:t>)</a:t>
            </a:r>
            <a:endParaRPr lang="en-US" altLang="ko-KR" sz="1400" dirty="0">
              <a:latin typeface="+mn-ea"/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9DE13C80-D349-4010-9423-F3ED46818617}"/>
              </a:ext>
            </a:extLst>
          </p:cNvPr>
          <p:cNvCxnSpPr>
            <a:stCxn id="33" idx="0"/>
          </p:cNvCxnSpPr>
          <p:nvPr/>
        </p:nvCxnSpPr>
        <p:spPr>
          <a:xfrm flipV="1">
            <a:off x="8541545" y="4938578"/>
            <a:ext cx="0" cy="95196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14">
            <a:extLst>
              <a:ext uri="{FF2B5EF4-FFF2-40B4-BE49-F238E27FC236}">
                <a16:creationId xmlns:a16="http://schemas.microsoft.com/office/drawing/2014/main" id="{C4327755-BED2-4C23-994D-1FB45FD30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8197" y="4200597"/>
            <a:ext cx="908740" cy="4619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이전청구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甲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  <a:endParaRPr lang="ko-KR" altLang="en-US" sz="1400" b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7" name="Rectangle 14">
            <a:extLst>
              <a:ext uri="{FF2B5EF4-FFF2-40B4-BE49-F238E27FC236}">
                <a16:creationId xmlns:a16="http://schemas.microsoft.com/office/drawing/2014/main" id="{4E517436-31B6-4403-AF9F-2B80FB94E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40151" y="4200597"/>
            <a:ext cx="863822" cy="4619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이전등록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丙 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甲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  <a:endParaRPr lang="ko-KR" altLang="en-US" sz="1400" b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A36B42D2-8F11-498D-A44A-EFF1ADDA227C}"/>
              </a:ext>
            </a:extLst>
          </p:cNvPr>
          <p:cNvCxnSpPr>
            <a:cxnSpLocks/>
          </p:cNvCxnSpPr>
          <p:nvPr/>
        </p:nvCxnSpPr>
        <p:spPr>
          <a:xfrm>
            <a:off x="6855656" y="4590224"/>
            <a:ext cx="6948" cy="31177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4068286-4580-49EC-9475-73D02C3B6AEC}"/>
              </a:ext>
            </a:extLst>
          </p:cNvPr>
          <p:cNvCxnSpPr>
            <a:cxnSpLocks/>
            <a:stCxn id="36" idx="2"/>
          </p:cNvCxnSpPr>
          <p:nvPr/>
        </p:nvCxnSpPr>
        <p:spPr>
          <a:xfrm flipH="1">
            <a:off x="9841051" y="4662585"/>
            <a:ext cx="1516" cy="27036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342E9C7E-DB69-4267-8C5E-6B0471B135E3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10972062" y="4662585"/>
            <a:ext cx="56" cy="27599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타원 47">
            <a:extLst>
              <a:ext uri="{FF2B5EF4-FFF2-40B4-BE49-F238E27FC236}">
                <a16:creationId xmlns:a16="http://schemas.microsoft.com/office/drawing/2014/main" id="{B371C009-A7A1-4DD5-97B3-69CCFA88465B}"/>
              </a:ext>
            </a:extLst>
          </p:cNvPr>
          <p:cNvSpPr/>
          <p:nvPr/>
        </p:nvSpPr>
        <p:spPr>
          <a:xfrm>
            <a:off x="7079879" y="4892019"/>
            <a:ext cx="45719" cy="712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모서리가 둥근 직사각형 105">
            <a:extLst>
              <a:ext uri="{FF2B5EF4-FFF2-40B4-BE49-F238E27FC236}">
                <a16:creationId xmlns:a16="http://schemas.microsoft.com/office/drawing/2014/main" id="{C2ECAAD4-C7B6-49ED-908C-4B3135FE9E34}"/>
              </a:ext>
            </a:extLst>
          </p:cNvPr>
          <p:cNvSpPr/>
          <p:nvPr/>
        </p:nvSpPr>
        <p:spPr>
          <a:xfrm>
            <a:off x="6468987" y="2717590"/>
            <a:ext cx="1931302" cy="638251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제</a:t>
            </a:r>
            <a:r>
              <a:rPr lang="en-US" altLang="ko-KR" sz="1600" dirty="0"/>
              <a:t>33</a:t>
            </a:r>
            <a:r>
              <a:rPr lang="ko-KR" altLang="en-US" sz="1600" dirty="0"/>
              <a:t>조제</a:t>
            </a:r>
            <a:r>
              <a:rPr lang="en-US" altLang="ko-KR" sz="1600" dirty="0"/>
              <a:t>1</a:t>
            </a:r>
            <a:r>
              <a:rPr lang="ko-KR" altLang="en-US" sz="1600" dirty="0" err="1"/>
              <a:t>항본문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pPr algn="ctr"/>
            <a:r>
              <a:rPr lang="ko-KR" altLang="en-US" sz="1600" dirty="0"/>
              <a:t>위반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23F1B512-84F1-459E-AD68-E5863BC85ED9}"/>
              </a:ext>
            </a:extLst>
          </p:cNvPr>
          <p:cNvCxnSpPr/>
          <p:nvPr/>
        </p:nvCxnSpPr>
        <p:spPr>
          <a:xfrm>
            <a:off x="6430357" y="4924824"/>
            <a:ext cx="5574070" cy="0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모서리가 둥근 직사각형 105">
            <a:extLst>
              <a:ext uri="{FF2B5EF4-FFF2-40B4-BE49-F238E27FC236}">
                <a16:creationId xmlns:a16="http://schemas.microsoft.com/office/drawing/2014/main" id="{1291BE48-842F-4638-91D6-72D934B5311D}"/>
              </a:ext>
            </a:extLst>
          </p:cNvPr>
          <p:cNvSpPr/>
          <p:nvPr/>
        </p:nvSpPr>
        <p:spPr>
          <a:xfrm>
            <a:off x="261028" y="2728666"/>
            <a:ext cx="1088213" cy="627177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제</a:t>
            </a:r>
            <a:r>
              <a:rPr lang="en-US" altLang="ko-KR" sz="1600" dirty="0"/>
              <a:t>44</a:t>
            </a:r>
            <a:r>
              <a:rPr lang="ko-KR" altLang="en-US" sz="1600" dirty="0"/>
              <a:t>조 </a:t>
            </a:r>
            <a:endParaRPr lang="en-US" altLang="ko-KR" sz="1600" dirty="0"/>
          </a:p>
          <a:p>
            <a:pPr algn="ctr"/>
            <a:r>
              <a:rPr lang="ko-KR" altLang="en-US" sz="1600" dirty="0"/>
              <a:t>위반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A6FD114A-2152-48D9-AE18-881B430DE913}"/>
              </a:ext>
            </a:extLst>
          </p:cNvPr>
          <p:cNvCxnSpPr>
            <a:cxnSpLocks/>
          </p:cNvCxnSpPr>
          <p:nvPr/>
        </p:nvCxnSpPr>
        <p:spPr>
          <a:xfrm>
            <a:off x="6096000" y="2804160"/>
            <a:ext cx="0" cy="3643832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14">
            <a:extLst>
              <a:ext uri="{FF2B5EF4-FFF2-40B4-BE49-F238E27FC236}">
                <a16:creationId xmlns:a16="http://schemas.microsoft.com/office/drawing/2014/main" id="{587B043D-05AB-48EF-A37B-1A5047622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579" y="5200886"/>
            <a:ext cx="746662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출원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b="0" dirty="0">
                <a:latin typeface="+mn-ea"/>
              </a:rPr>
              <a:t>(</a:t>
            </a:r>
            <a:r>
              <a:rPr lang="ko-KR" altLang="en-US" sz="1400" b="0" dirty="0">
                <a:latin typeface="+mn-ea"/>
              </a:rPr>
              <a:t>乙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丙</a:t>
            </a:r>
            <a:r>
              <a:rPr lang="en-US" altLang="ko-KR" sz="1400" b="0" dirty="0">
                <a:latin typeface="+mn-ea"/>
              </a:rPr>
              <a:t>)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07BA1D2F-24E0-4A75-83AE-1E1EE233BA21}"/>
              </a:ext>
            </a:extLst>
          </p:cNvPr>
          <p:cNvCxnSpPr>
            <a:cxnSpLocks/>
            <a:stCxn id="80" idx="0"/>
          </p:cNvCxnSpPr>
          <p:nvPr/>
        </p:nvCxnSpPr>
        <p:spPr>
          <a:xfrm flipV="1">
            <a:off x="975910" y="4989768"/>
            <a:ext cx="0" cy="21111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14">
            <a:extLst>
              <a:ext uri="{FF2B5EF4-FFF2-40B4-BE49-F238E27FC236}">
                <a16:creationId xmlns:a16="http://schemas.microsoft.com/office/drawing/2014/main" id="{412DB5C1-42F3-420C-94BC-50D79DE7B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0381" y="5200886"/>
            <a:ext cx="746662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 err="1">
                <a:latin typeface="+mn-ea"/>
              </a:rPr>
              <a:t>설정등록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乙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丙</a:t>
            </a:r>
            <a:r>
              <a:rPr lang="en-US" altLang="ko-KR" sz="1400" dirty="0">
                <a:latin typeface="+mn-ea"/>
              </a:rPr>
              <a:t>)</a:t>
            </a:r>
            <a:endParaRPr lang="ko-KR" altLang="en-US" sz="1400" dirty="0">
              <a:latin typeface="+mn-ea"/>
            </a:endParaRPr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2811CE0A-78BA-4238-B925-56B47F3592BE}"/>
              </a:ext>
            </a:extLst>
          </p:cNvPr>
          <p:cNvCxnSpPr>
            <a:cxnSpLocks/>
            <a:stCxn id="82" idx="0"/>
          </p:cNvCxnSpPr>
          <p:nvPr/>
        </p:nvCxnSpPr>
        <p:spPr>
          <a:xfrm flipV="1">
            <a:off x="1823712" y="4963222"/>
            <a:ext cx="1" cy="23766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자유형 37">
            <a:extLst>
              <a:ext uri="{FF2B5EF4-FFF2-40B4-BE49-F238E27FC236}">
                <a16:creationId xmlns:a16="http://schemas.microsoft.com/office/drawing/2014/main" id="{3930CF82-AB83-4E3A-A04E-A8AB27C0A090}"/>
              </a:ext>
            </a:extLst>
          </p:cNvPr>
          <p:cNvSpPr/>
          <p:nvPr/>
        </p:nvSpPr>
        <p:spPr>
          <a:xfrm>
            <a:off x="3018624" y="4932973"/>
            <a:ext cx="2853920" cy="1218923"/>
          </a:xfrm>
          <a:custGeom>
            <a:avLst/>
            <a:gdLst>
              <a:gd name="connsiteX0" fmla="*/ 0 w 7879222"/>
              <a:gd name="connsiteY0" fmla="*/ 0 h 743484"/>
              <a:gd name="connsiteX1" fmla="*/ 0 w 7879222"/>
              <a:gd name="connsiteY1" fmla="*/ 743484 h 743484"/>
              <a:gd name="connsiteX2" fmla="*/ 7879222 w 7879222"/>
              <a:gd name="connsiteY2" fmla="*/ 743484 h 743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79222" h="743484">
                <a:moveTo>
                  <a:pt x="0" y="0"/>
                </a:moveTo>
                <a:lnTo>
                  <a:pt x="0" y="743484"/>
                </a:lnTo>
                <a:lnTo>
                  <a:pt x="7879222" y="743484"/>
                </a:lnTo>
              </a:path>
            </a:pathLst>
          </a:custGeom>
          <a:noFill/>
          <a:ln w="5715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F0C25E6-3F23-4C9E-91E2-11EA6BFC8A34}"/>
              </a:ext>
            </a:extLst>
          </p:cNvPr>
          <p:cNvSpPr txBox="1"/>
          <p:nvPr/>
        </p:nvSpPr>
        <p:spPr>
          <a:xfrm>
            <a:off x="3449089" y="5924772"/>
            <a:ext cx="1992989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선의의 丁이 국내에서 </a:t>
            </a:r>
            <a:endParaRPr lang="en-US" altLang="ko-KR" sz="1400" dirty="0"/>
          </a:p>
          <a:p>
            <a:pPr algn="ctr"/>
            <a:r>
              <a:rPr lang="ko-KR" altLang="en-US" sz="1400" dirty="0"/>
              <a:t>실시사업 또는 사업준비</a:t>
            </a:r>
          </a:p>
        </p:txBody>
      </p:sp>
      <p:sp>
        <p:nvSpPr>
          <p:cNvPr id="86" name="Rectangle 14">
            <a:extLst>
              <a:ext uri="{FF2B5EF4-FFF2-40B4-BE49-F238E27FC236}">
                <a16:creationId xmlns:a16="http://schemas.microsoft.com/office/drawing/2014/main" id="{BBDBFC66-4542-451B-A51D-E0DB063CC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8457" y="5890542"/>
            <a:ext cx="968799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지분이전등록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丙 </a:t>
            </a:r>
            <a:r>
              <a:rPr lang="en-US" altLang="ko-KR" sz="1400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latin typeface="+mn-ea"/>
                <a:sym typeface="Wingdings" panose="05000000000000000000" pitchFamily="2" charset="2"/>
              </a:rPr>
              <a:t>丁</a:t>
            </a:r>
            <a:r>
              <a:rPr lang="en-US" altLang="ko-KR" sz="1400" dirty="0">
                <a:latin typeface="+mn-ea"/>
                <a:sym typeface="Wingdings" panose="05000000000000000000" pitchFamily="2" charset="2"/>
              </a:rPr>
              <a:t>)</a:t>
            </a:r>
            <a:endParaRPr lang="en-US" altLang="ko-KR" sz="1400" dirty="0">
              <a:latin typeface="+mn-ea"/>
            </a:endParaRP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96E335C0-420C-428D-A938-CB369B542044}"/>
              </a:ext>
            </a:extLst>
          </p:cNvPr>
          <p:cNvCxnSpPr>
            <a:stCxn id="86" idx="0"/>
          </p:cNvCxnSpPr>
          <p:nvPr/>
        </p:nvCxnSpPr>
        <p:spPr>
          <a:xfrm flipV="1">
            <a:off x="2432856" y="4938578"/>
            <a:ext cx="0" cy="95196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14">
            <a:extLst>
              <a:ext uri="{FF2B5EF4-FFF2-40B4-BE49-F238E27FC236}">
                <a16:creationId xmlns:a16="http://schemas.microsoft.com/office/drawing/2014/main" id="{B65891A3-91BE-4C4F-B749-8051CBC15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408" y="4189196"/>
            <a:ext cx="876270" cy="4619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발명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甲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乙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  <a:endParaRPr lang="ko-KR" altLang="en-US" sz="1400" b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89" name="Rectangle 14">
            <a:extLst>
              <a:ext uri="{FF2B5EF4-FFF2-40B4-BE49-F238E27FC236}">
                <a16:creationId xmlns:a16="http://schemas.microsoft.com/office/drawing/2014/main" id="{2F165E66-7EDD-48B1-A3C3-90066A322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5441" y="4200597"/>
            <a:ext cx="1036874" cy="4619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지분이전청구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甲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  <a:endParaRPr lang="ko-KR" altLang="en-US" sz="1400" b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90" name="Rectangle 14">
            <a:extLst>
              <a:ext uri="{FF2B5EF4-FFF2-40B4-BE49-F238E27FC236}">
                <a16:creationId xmlns:a16="http://schemas.microsoft.com/office/drawing/2014/main" id="{DD6FF1F0-6C3A-401B-8A93-AD72ADA6C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4936" y="4200597"/>
            <a:ext cx="1036874" cy="4619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지분이전등록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丁</a:t>
            </a:r>
            <a:r>
              <a: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甲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  <a:endParaRPr lang="ko-KR" altLang="en-US" sz="1400" b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15387C2E-9F48-47B1-A3FC-7567D5A23072}"/>
              </a:ext>
            </a:extLst>
          </p:cNvPr>
          <p:cNvCxnSpPr>
            <a:cxnSpLocks/>
            <a:stCxn id="88" idx="2"/>
          </p:cNvCxnSpPr>
          <p:nvPr/>
        </p:nvCxnSpPr>
        <p:spPr>
          <a:xfrm flipH="1">
            <a:off x="780561" y="4651184"/>
            <a:ext cx="2982" cy="2701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39C1DDA1-54B8-4D7B-84E2-91D2CFD9689C}"/>
              </a:ext>
            </a:extLst>
          </p:cNvPr>
          <p:cNvCxnSpPr>
            <a:cxnSpLocks/>
            <a:stCxn id="89" idx="2"/>
          </p:cNvCxnSpPr>
          <p:nvPr/>
        </p:nvCxnSpPr>
        <p:spPr>
          <a:xfrm flipH="1">
            <a:off x="3732362" y="4662585"/>
            <a:ext cx="1516" cy="27036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FEFDE5C3-0B04-4DE1-B09B-CC3BA117FAAB}"/>
              </a:ext>
            </a:extLst>
          </p:cNvPr>
          <p:cNvCxnSpPr>
            <a:cxnSpLocks/>
            <a:stCxn id="90" idx="2"/>
          </p:cNvCxnSpPr>
          <p:nvPr/>
        </p:nvCxnSpPr>
        <p:spPr>
          <a:xfrm>
            <a:off x="4863373" y="4662585"/>
            <a:ext cx="56" cy="27599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E341A485-553F-4CC8-8BD4-797BEF16A4D8}"/>
              </a:ext>
            </a:extLst>
          </p:cNvPr>
          <p:cNvCxnSpPr/>
          <p:nvPr/>
        </p:nvCxnSpPr>
        <p:spPr>
          <a:xfrm>
            <a:off x="321668" y="4924824"/>
            <a:ext cx="5574070" cy="0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14">
            <a:extLst>
              <a:ext uri="{FF2B5EF4-FFF2-40B4-BE49-F238E27FC236}">
                <a16:creationId xmlns:a16="http://schemas.microsoft.com/office/drawing/2014/main" id="{8BE6EB3A-CCAE-4E9D-A9D5-3646FF754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1306" y="4201388"/>
            <a:ext cx="688700" cy="4619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발명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甲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  <a:endParaRPr lang="ko-KR" altLang="en-US" sz="1400" b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graphicFrame>
        <p:nvGraphicFramePr>
          <p:cNvPr id="96" name="표 95">
            <a:extLst>
              <a:ext uri="{FF2B5EF4-FFF2-40B4-BE49-F238E27FC236}">
                <a16:creationId xmlns:a16="http://schemas.microsoft.com/office/drawing/2014/main" id="{42E97A60-A04D-46F5-BEE5-C3297D21BC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479646"/>
              </p:ext>
            </p:extLst>
          </p:nvPr>
        </p:nvGraphicFramePr>
        <p:xfrm>
          <a:off x="1426651" y="2721833"/>
          <a:ext cx="4620581" cy="1149096"/>
        </p:xfrm>
        <a:graphic>
          <a:graphicData uri="http://schemas.openxmlformats.org/drawingml/2006/table">
            <a:tbl>
              <a:tblPr/>
              <a:tblGrid>
                <a:gridCol w="808749">
                  <a:extLst>
                    <a:ext uri="{9D8B030D-6E8A-4147-A177-3AD203B41FA5}">
                      <a16:colId xmlns:a16="http://schemas.microsoft.com/office/drawing/2014/main" val="3388704944"/>
                    </a:ext>
                  </a:extLst>
                </a:gridCol>
                <a:gridCol w="1154163">
                  <a:extLst>
                    <a:ext uri="{9D8B030D-6E8A-4147-A177-3AD203B41FA5}">
                      <a16:colId xmlns:a16="http://schemas.microsoft.com/office/drawing/2014/main" val="537560535"/>
                    </a:ext>
                  </a:extLst>
                </a:gridCol>
                <a:gridCol w="2657669">
                  <a:extLst>
                    <a:ext uri="{9D8B030D-6E8A-4147-A177-3AD203B41FA5}">
                      <a16:colId xmlns:a16="http://schemas.microsoft.com/office/drawing/2014/main" val="16476117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1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44</a:t>
                      </a:r>
                      <a:r>
                        <a:rPr lang="ko-KR" altLang="en-US" sz="11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 위반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출원일의 소급효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특허권</a:t>
                      </a:r>
                      <a:r>
                        <a:rPr lang="en-US" altLang="ko-KR" sz="11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특허출원</a:t>
                      </a:r>
                      <a:r>
                        <a:rPr lang="en-US" altLang="ko-KR" sz="11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1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 이전청구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539625"/>
                  </a:ext>
                </a:extLst>
              </a:tr>
              <a:tr h="155392"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출원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0000"/>
                        </a:lnSpc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○</a:t>
                      </a:r>
                      <a:r>
                        <a:rPr lang="en-US" altLang="ko-KR" sz="11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해석상</a:t>
                      </a:r>
                      <a:r>
                        <a:rPr lang="en-US" altLang="ko-KR" sz="11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344619"/>
                  </a:ext>
                </a:extLst>
              </a:tr>
              <a:tr h="98683">
                <a:tc row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0000"/>
                        </a:lnSpc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○</a:t>
                      </a:r>
                      <a:r>
                        <a:rPr lang="en-US" altLang="ko-KR" sz="11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1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99</a:t>
                      </a:r>
                      <a:r>
                        <a:rPr lang="ko-KR" altLang="en-US" sz="11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</a:t>
                      </a:r>
                      <a:r>
                        <a:rPr lang="en-US" altLang="ko-KR" sz="11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2)</a:t>
                      </a: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683434"/>
                  </a:ext>
                </a:extLst>
              </a:tr>
              <a:tr h="2682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1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1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지분에 대한  </a:t>
                      </a:r>
                      <a:endParaRPr lang="en-US" altLang="ko-KR" sz="11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1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무효심판청구불가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1">
                        <a:lnSpc>
                          <a:spcPct val="100000"/>
                        </a:lnSpc>
                      </a:pPr>
                      <a:r>
                        <a:rPr lang="en-US" altLang="ko-KR" sz="11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1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무효사유에서 제외</a:t>
                      </a:r>
                      <a:r>
                        <a:rPr lang="en-US" altLang="ko-KR" sz="11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133①Ⅱ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85725" marR="17780" lvl="0" indent="-682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1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특허권의 이전청구에 따른 이전등록 전의 실시에 의한 통상실시권</a:t>
                      </a:r>
                      <a:r>
                        <a:rPr lang="en-US" altLang="ko-KR" sz="11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1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103</a:t>
                      </a:r>
                      <a:r>
                        <a:rPr lang="ko-KR" altLang="en-US" sz="11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</a:t>
                      </a:r>
                      <a:r>
                        <a:rPr lang="en-US" altLang="ko-KR" sz="11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11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인정가능</a:t>
                      </a:r>
                      <a:endParaRPr lang="en-US" altLang="ko-KR" sz="11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7325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43083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35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99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법조문 비교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164</a:t>
            </a:fld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24F61AB-C79D-4FEC-BDC7-2CD177C553F5}"/>
              </a:ext>
            </a:extLst>
          </p:cNvPr>
          <p:cNvSpPr txBox="1"/>
          <p:nvPr/>
        </p:nvSpPr>
        <p:spPr>
          <a:xfrm>
            <a:off x="77875" y="986046"/>
            <a:ext cx="6018125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000" b="1" dirty="0">
                <a:solidFill>
                  <a:srgbClr val="000099"/>
                </a:solidFill>
                <a:latin typeface="+mn-ea"/>
              </a:rPr>
              <a:t>제</a:t>
            </a:r>
            <a:r>
              <a:rPr lang="en-US" altLang="ko-KR" sz="1000" b="1" dirty="0">
                <a:solidFill>
                  <a:srgbClr val="000099"/>
                </a:solidFill>
                <a:latin typeface="+mn-ea"/>
              </a:rPr>
              <a:t>34</a:t>
            </a:r>
            <a:r>
              <a:rPr lang="ko-KR" altLang="en-US" sz="1000" b="1" dirty="0">
                <a:solidFill>
                  <a:srgbClr val="000099"/>
                </a:solidFill>
                <a:latin typeface="+mn-ea"/>
              </a:rPr>
              <a:t>조</a:t>
            </a:r>
            <a:r>
              <a:rPr lang="en-US" altLang="ko-KR" sz="1000" b="1" dirty="0">
                <a:solidFill>
                  <a:srgbClr val="000099"/>
                </a:solidFill>
                <a:latin typeface="+mn-ea"/>
              </a:rPr>
              <a:t>(</a:t>
            </a:r>
            <a:r>
              <a:rPr lang="ko-KR" altLang="en-US" sz="1000" b="1" dirty="0">
                <a:solidFill>
                  <a:srgbClr val="000099"/>
                </a:solidFill>
                <a:latin typeface="+mn-ea"/>
              </a:rPr>
              <a:t>무권리자의 특허출원과 정당한 권리자의 보호</a:t>
            </a:r>
            <a:r>
              <a:rPr lang="en-US" altLang="ko-KR" sz="1000" b="1" dirty="0">
                <a:solidFill>
                  <a:srgbClr val="000099"/>
                </a:solidFill>
                <a:latin typeface="+mn-ea"/>
              </a:rPr>
              <a:t>) </a:t>
            </a:r>
            <a:r>
              <a:rPr lang="ko-KR" altLang="en-US" sz="1000" dirty="0">
                <a:latin typeface="+mn-ea"/>
              </a:rPr>
              <a:t>발명자가 아닌 자로서 특허를 받을 수 있는 권리의 승계인이 아닌 자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이하 “</a:t>
            </a:r>
            <a:r>
              <a:rPr lang="ko-KR" altLang="en-US" sz="1000" dirty="0" err="1">
                <a:latin typeface="+mn-ea"/>
              </a:rPr>
              <a:t>무권리자”라</a:t>
            </a:r>
            <a:r>
              <a:rPr lang="ko-KR" altLang="en-US" sz="1000" dirty="0">
                <a:latin typeface="+mn-ea"/>
              </a:rPr>
              <a:t> 한다</a:t>
            </a:r>
            <a:r>
              <a:rPr lang="en-US" altLang="ko-KR" sz="1000" dirty="0">
                <a:latin typeface="+mn-ea"/>
              </a:rPr>
              <a:t>)</a:t>
            </a:r>
            <a:r>
              <a:rPr lang="ko-KR" altLang="en-US" sz="1000" dirty="0">
                <a:latin typeface="+mn-ea"/>
              </a:rPr>
              <a:t>가 한 특허출원이 제</a:t>
            </a:r>
            <a:r>
              <a:rPr lang="en-US" altLang="ko-KR" sz="1000" dirty="0">
                <a:latin typeface="+mn-ea"/>
              </a:rPr>
              <a:t>33</a:t>
            </a:r>
            <a:r>
              <a:rPr lang="ko-KR" altLang="en-US" sz="1000" dirty="0">
                <a:latin typeface="+mn-ea"/>
              </a:rPr>
              <a:t>조제</a:t>
            </a:r>
            <a:r>
              <a:rPr lang="en-US" altLang="ko-KR" sz="1000" dirty="0">
                <a:latin typeface="+mn-ea"/>
              </a:rPr>
              <a:t>1</a:t>
            </a:r>
            <a:r>
              <a:rPr lang="ko-KR" altLang="en-US" sz="1000" dirty="0">
                <a:latin typeface="+mn-ea"/>
              </a:rPr>
              <a:t>항 본문에 따른 특허를 받을 수 있는 권리를 가지지 아니한 사유로 제</a:t>
            </a:r>
            <a:r>
              <a:rPr lang="en-US" altLang="ko-KR" sz="1000" dirty="0">
                <a:latin typeface="+mn-ea"/>
              </a:rPr>
              <a:t>62</a:t>
            </a:r>
            <a:r>
              <a:rPr lang="ko-KR" altLang="en-US" sz="1000" dirty="0">
                <a:latin typeface="+mn-ea"/>
              </a:rPr>
              <a:t>조제</a:t>
            </a:r>
            <a:r>
              <a:rPr lang="en-US" altLang="ko-KR" sz="1000" dirty="0">
                <a:latin typeface="+mn-ea"/>
              </a:rPr>
              <a:t>2</a:t>
            </a:r>
            <a:r>
              <a:rPr lang="ko-KR" altLang="en-US" sz="1000" dirty="0">
                <a:latin typeface="+mn-ea"/>
              </a:rPr>
              <a:t>호에 해당하여 특허를 받지 못하게 된 경우에는 그 무권리자의 특허출원 후에 한 정당한 권리자의 특허출원은 무권리자가 </a:t>
            </a:r>
            <a:r>
              <a:rPr lang="ko-KR" altLang="en-US" sz="1000" dirty="0" err="1">
                <a:latin typeface="+mn-ea"/>
              </a:rPr>
              <a:t>특허출원한</a:t>
            </a:r>
            <a:r>
              <a:rPr lang="ko-KR" altLang="en-US" sz="1000" dirty="0">
                <a:latin typeface="+mn-ea"/>
              </a:rPr>
              <a:t> 때에 </a:t>
            </a:r>
            <a:r>
              <a:rPr lang="ko-KR" altLang="en-US" sz="1000" dirty="0" err="1">
                <a:latin typeface="+mn-ea"/>
              </a:rPr>
              <a:t>특허출원한</a:t>
            </a:r>
            <a:r>
              <a:rPr lang="ko-KR" altLang="en-US" sz="1000" dirty="0">
                <a:latin typeface="+mn-ea"/>
              </a:rPr>
              <a:t> 것으로 본다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다만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무권리자가 특허를 받지 못하게 된 날부터 </a:t>
            </a:r>
            <a:r>
              <a:rPr lang="en-US" altLang="ko-KR" sz="1000" dirty="0">
                <a:latin typeface="+mn-ea"/>
              </a:rPr>
              <a:t>30</a:t>
            </a:r>
            <a:r>
              <a:rPr lang="ko-KR" altLang="en-US" sz="1000" dirty="0">
                <a:latin typeface="+mn-ea"/>
              </a:rPr>
              <a:t>일이 지난 후에 정당한 권리자가 특허출원을 한 경우에는 그러하지 아니하다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 fontAlgn="base"/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제35조(무권리자의 특허와 정당한 권리자의 보호)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 제33조제1항 본문에 따른 특허를 받을 수 있는 권리를 가지지 아니한 사유로 제133조제1항제2호에 해당하여 특허를 무효로 한다는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심결이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확정된 경우에는 그 무권리자의 특허출원 후에 한 정당한 권리자의 특허출원은 무효로 된 그 특허의 출원 시에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특허출원한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것으로 본다. 다만,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심결이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확정된 날부터 30일이 지난 후에 정당한 권리자가 특허출원을 한 경우에는 그러하지 아니하다.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00" b="1" dirty="0">
              <a:solidFill>
                <a:srgbClr val="151594"/>
              </a:solidFill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000" b="1" i="0" u="none" strike="noStrike" cap="none" normalizeH="0" baseline="0" dirty="0">
              <a:ln>
                <a:noFill/>
              </a:ln>
              <a:solidFill>
                <a:srgbClr val="151594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제133조(특허의 무효심판)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 ① 이해관계인(제2호 본문의 경우에는 특허를 받을 수 있는 권리를 가진 자만 해당한다) 또는 심사관은 특허가 다음 각 호의 어느 하나에 해당하는 경우에는 무효심판을 청구할 수 있다. 이 경우 청구범위의 청구항이 둘 이상인 경우에는 청구항마다 청구할 수 있다.  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1. 제25조, 제29조, 제32조, 제36조제1항부터 제3항까지, 제42조제3항제1호 또는 같은 조 제4항을 위반한 경우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2. 제33조제1항 본문에 따른 특허를 받을 수 있는 권리를 가지지 아니하거나 제44조를 위반한 경우. 다만, 제99조의2제2항에 따라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이전등록된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경우에는 제외한다.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 </a:t>
            </a:r>
            <a:endParaRPr kumimoji="0" lang="en-US" altLang="ko-KR" sz="1000" b="1" i="0" u="none" strike="noStrike" cap="none" normalizeH="0" baseline="0" dirty="0">
              <a:ln>
                <a:noFill/>
              </a:ln>
              <a:solidFill>
                <a:srgbClr val="151594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000" b="1" i="0" u="none" strike="noStrike" cap="none" normalizeH="0" baseline="0" dirty="0">
              <a:ln>
                <a:noFill/>
              </a:ln>
              <a:solidFill>
                <a:srgbClr val="151594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제104조(무효심판청구 등록 전의 실시에 의한 통상실시권)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 ① 다음 각 호의 어느 하나에 해당하는 자가 특허 또는 실용신안등록에 대한 무효심판청구의 등록 전에 자기의 특허발명 또는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등록실용신안이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무효사유에 해당하는 것을 알지 못하고 국내에서 그 발명 또는 고안의 실시사업을 하거나 이를 준비하고 있는 경우에는 그 실시하거나 준비하고 있는 발명 또는 고안 및 사업목적의 범위에서 그 특허권에 대하여 통상실시권을 가지거나 특허나 실용신안등록이 무효로 된 당시에 존재하는 특허권의 전용실시권에 대하여 통상실시권을 가진다.  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1. 동일한 발명에 대한 둘 이상의 특허 중 그 하나의 특허를 무효로 한 경우 그 무효로 된 특허의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원특허권자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2. 특허발명과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등록실용신안이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동일하여 그 실용신안등록을 무효로 한 경우 그 무효로 된 실용신안등록의 원(原)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실용신안권자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3. 특허를 무효로 하고 동일한 발명에 관하여 정당한 권리자에게 특허를 한 경우 그 무효로 된 특허의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원특허권자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4. 실용신안등록을 무효로 하고 그 고안과 동일한 발명에 관하여 정당한 권리자에게 특허를 한 경우 그 무효로 된 실용신안의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원실용신안권자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5. 제1호부터 제4호까지의 경우에 있어서 그 무효로 된 특허권 또는 실용신안권에 대하여 무효심판청구 등록 당시에 이미 전용실시권이나 통상실시권 또는 그 전용실시권에 대한 통상실시권을 취득하고 등록을 받은 자. 다만, 제118조제2항에 따른 통상실시권을 취득한 자는 등록을 필요로 하지 아니한다.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② 제1항에 따라 통상실시권을 가진 자는 특허권자 또는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전용실시권자에게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상당한 대가를 지급하여야 한다.</a:t>
            </a:r>
            <a:endParaRPr lang="en-US" altLang="ko-KR" sz="10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37336B-C00A-4F1F-9084-2AA018AAD755}"/>
              </a:ext>
            </a:extLst>
          </p:cNvPr>
          <p:cNvSpPr txBox="1"/>
          <p:nvPr/>
        </p:nvSpPr>
        <p:spPr>
          <a:xfrm>
            <a:off x="6118860" y="986046"/>
            <a:ext cx="601812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제99조의2(특허권의 이전청구)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 ① 특허가 제133조제1항제2호 본문에 해당하는 경우에 특허를 받을 수 있는 권리를 가진 자는 법원에 해당 특허권의 이전(특허를 받을 수 있는 권리가 공유인 경우에는 그 지분의 이전을 말한다)을 청구할 수 있다.</a:t>
            </a:r>
            <a:endParaRPr kumimoji="0" lang="ko-KR" altLang="ko-K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② 제1항의 청구에 기초하여 특허권이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이전등록된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경우에는 다음 각 호의 권리는 그 특허권이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설정등록된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날부터 이전등록을 받은 자에게 있는 것으로 본다.</a:t>
            </a:r>
            <a:endParaRPr kumimoji="0" lang="ko-KR" altLang="ko-K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1. 해당 특허권</a:t>
            </a:r>
            <a:endParaRPr kumimoji="0" lang="ko-KR" altLang="ko-K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2. 제65조제2항에 따른 보상금 지급 청구권</a:t>
            </a:r>
            <a:endParaRPr kumimoji="0" lang="ko-KR" altLang="ko-K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3. 제207조제4항에 따른 보상금 지급 청구권</a:t>
            </a:r>
            <a:endParaRPr kumimoji="0" lang="ko-KR" altLang="ko-K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③ 제1항의 청구에 따라 공유인 특허권의 지분을 이전하는 경우에는 제99조제2항에도 불구하고 다른 공유자의 동의를 받지 아니하더라도 그 지분을 이전할 수 있다.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000" b="1" i="0" u="none" strike="noStrike" cap="none" normalizeH="0" baseline="0" dirty="0">
              <a:ln>
                <a:noFill/>
              </a:ln>
              <a:solidFill>
                <a:srgbClr val="151594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제133조(특허의 무효심판)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 ① 이해관계인(제2호 본문의 경우에는 특허를 받을 수 있는 권리를 가진 자만 해당한다) 또는 심사관은 특허가 다음 각 호의 어느 하나에 해당하는 경우에는 무효심판을 청구할 수 있다. 이 경우 청구범위의 청구항이 둘 이상인 경우에는 청구항마다 청구할 수 있다.  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1. 제25조, 제29조, 제32조, 제36조제1항부터 제3항까지, 제42조제3항제1호 또는 같은 조 제4항을 위반한 경우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2. 제33조제1항 본문에 따른 특허를 받을 수 있는 권리를 가지지 아니하거나 제44조를 위반한 경우. 다만, 제99조의2제2항에 따라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이전등록된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경우에는 제외한다.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 </a:t>
            </a:r>
            <a:endParaRPr kumimoji="0" lang="en-US" altLang="ko-KR" sz="1000" b="1" i="0" u="none" strike="noStrike" cap="none" normalizeH="0" baseline="0" dirty="0">
              <a:ln>
                <a:noFill/>
              </a:ln>
              <a:solidFill>
                <a:srgbClr val="151594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000" b="1" i="0" u="none" strike="noStrike" cap="none" normalizeH="0" baseline="0" dirty="0">
              <a:ln>
                <a:noFill/>
              </a:ln>
              <a:solidFill>
                <a:srgbClr val="151594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제103조의2(특허권의 이전청구에 따른 이전등록 전의 실시에 의한 통상실시권)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 ① 다음 각 호의 어느 하나에 해당하는 자가 제99조의2제2항에 따른 특허권의 이전등록이 있기 전에 해당 특허가 제133조제1항제2호 본문에 해당하는 것을 알지 못하고 국내에서 해당 발명의 실시사업을 하거나 이를 준비하고 있는 경우에는 그 실시하거나 준비를 하고 있는 발명 및 사업목적의 범위에서 그 특허권에 대하여 통상실시권을 가진다.</a:t>
            </a:r>
            <a:endParaRPr kumimoji="0" lang="ko-KR" altLang="ko-K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1.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이전등록된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특허의 원(原)특허권자</a:t>
            </a:r>
            <a:endParaRPr kumimoji="0" lang="ko-KR" altLang="ko-K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2.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이전등록된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특허권에 대하여 이전등록 당시에 이미 전용실시권이나 통상실시권 또는 그 전용실시권에 대한 통상실시권을 취득하고 등록을 받은 자. 다만, 제118조제2항에 따른 통상실시권을 취득한 자는 등록을 필요로 하지 아니한다.</a:t>
            </a:r>
            <a:endParaRPr kumimoji="0" lang="ko-KR" altLang="ko-K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② 제1항에 따라 통상실시권을 가진 자는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이전등록된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특허권자에게 상당한 대가를 지급하여야 한다.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E9FB7344-599A-4358-B6DE-E91899154E6A}"/>
              </a:ext>
            </a:extLst>
          </p:cNvPr>
          <p:cNvCxnSpPr>
            <a:cxnSpLocks/>
          </p:cNvCxnSpPr>
          <p:nvPr/>
        </p:nvCxnSpPr>
        <p:spPr>
          <a:xfrm>
            <a:off x="2708636" y="1943100"/>
            <a:ext cx="3311164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516F1389-A29F-42E8-ACD6-8CBCB49C6262}"/>
              </a:ext>
            </a:extLst>
          </p:cNvPr>
          <p:cNvCxnSpPr>
            <a:cxnSpLocks/>
          </p:cNvCxnSpPr>
          <p:nvPr/>
        </p:nvCxnSpPr>
        <p:spPr>
          <a:xfrm>
            <a:off x="163556" y="2072640"/>
            <a:ext cx="4781824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E444FE9F-8BFF-44BC-A332-170C0B863E44}"/>
              </a:ext>
            </a:extLst>
          </p:cNvPr>
          <p:cNvCxnSpPr>
            <a:cxnSpLocks/>
          </p:cNvCxnSpPr>
          <p:nvPr/>
        </p:nvCxnSpPr>
        <p:spPr>
          <a:xfrm>
            <a:off x="7978140" y="1181100"/>
            <a:ext cx="2598420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4EEB8EE3-C8E1-47D1-A800-179ED5CD90B6}"/>
              </a:ext>
            </a:extLst>
          </p:cNvPr>
          <p:cNvCxnSpPr>
            <a:cxnSpLocks/>
          </p:cNvCxnSpPr>
          <p:nvPr/>
        </p:nvCxnSpPr>
        <p:spPr>
          <a:xfrm>
            <a:off x="163556" y="3467100"/>
            <a:ext cx="5101864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6F136491-8292-4A58-89A6-39E4CB3B5DF1}"/>
              </a:ext>
            </a:extLst>
          </p:cNvPr>
          <p:cNvCxnSpPr>
            <a:cxnSpLocks/>
          </p:cNvCxnSpPr>
          <p:nvPr/>
        </p:nvCxnSpPr>
        <p:spPr>
          <a:xfrm>
            <a:off x="11315700" y="3467100"/>
            <a:ext cx="297180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5EDEC14D-2474-4631-9B4F-13542C64009B}"/>
              </a:ext>
            </a:extLst>
          </p:cNvPr>
          <p:cNvCxnSpPr>
            <a:cxnSpLocks/>
          </p:cNvCxnSpPr>
          <p:nvPr/>
        </p:nvCxnSpPr>
        <p:spPr>
          <a:xfrm>
            <a:off x="6210300" y="3627120"/>
            <a:ext cx="2880360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37B7778C-44C3-4A0E-A402-0FB8254B9A9C}"/>
              </a:ext>
            </a:extLst>
          </p:cNvPr>
          <p:cNvCxnSpPr>
            <a:cxnSpLocks/>
          </p:cNvCxnSpPr>
          <p:nvPr/>
        </p:nvCxnSpPr>
        <p:spPr>
          <a:xfrm>
            <a:off x="157704" y="5128260"/>
            <a:ext cx="5686836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D0EDF1B5-5163-4399-800B-712034A2A90A}"/>
              </a:ext>
            </a:extLst>
          </p:cNvPr>
          <p:cNvCxnSpPr>
            <a:cxnSpLocks/>
          </p:cNvCxnSpPr>
          <p:nvPr/>
        </p:nvCxnSpPr>
        <p:spPr>
          <a:xfrm>
            <a:off x="10157460" y="4061460"/>
            <a:ext cx="1828800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8AED5094-FE21-41DC-A536-E58E3697E445}"/>
              </a:ext>
            </a:extLst>
          </p:cNvPr>
          <p:cNvCxnSpPr>
            <a:cxnSpLocks/>
          </p:cNvCxnSpPr>
          <p:nvPr/>
        </p:nvCxnSpPr>
        <p:spPr>
          <a:xfrm>
            <a:off x="157704" y="5288280"/>
            <a:ext cx="5686836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FFF3D265-9DB5-48E4-BD7B-8F08FCDBD027}"/>
              </a:ext>
            </a:extLst>
          </p:cNvPr>
          <p:cNvCxnSpPr>
            <a:cxnSpLocks/>
          </p:cNvCxnSpPr>
          <p:nvPr/>
        </p:nvCxnSpPr>
        <p:spPr>
          <a:xfrm>
            <a:off x="157704" y="5440680"/>
            <a:ext cx="1450116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48A68499-5DFB-4C15-9CFF-ABA5DD52AE43}"/>
              </a:ext>
            </a:extLst>
          </p:cNvPr>
          <p:cNvCxnSpPr>
            <a:cxnSpLocks/>
          </p:cNvCxnSpPr>
          <p:nvPr/>
        </p:nvCxnSpPr>
        <p:spPr>
          <a:xfrm>
            <a:off x="6210300" y="4229100"/>
            <a:ext cx="251460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1FF0B9C5-379F-4580-BCEF-DA264D6B856B}"/>
              </a:ext>
            </a:extLst>
          </p:cNvPr>
          <p:cNvCxnSpPr/>
          <p:nvPr/>
        </p:nvCxnSpPr>
        <p:spPr>
          <a:xfrm>
            <a:off x="6096000" y="861060"/>
            <a:ext cx="0" cy="529563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541491D-7FE1-4BD5-9E8C-4F8073063CE9}"/>
              </a:ext>
            </a:extLst>
          </p:cNvPr>
          <p:cNvCxnSpPr>
            <a:cxnSpLocks/>
          </p:cNvCxnSpPr>
          <p:nvPr/>
        </p:nvCxnSpPr>
        <p:spPr>
          <a:xfrm>
            <a:off x="2959100" y="1181100"/>
            <a:ext cx="3060700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4F62D18-3FD7-4DEE-8C78-DD4A8E882EC8}"/>
              </a:ext>
            </a:extLst>
          </p:cNvPr>
          <p:cNvCxnSpPr>
            <a:cxnSpLocks/>
          </p:cNvCxnSpPr>
          <p:nvPr/>
        </p:nvCxnSpPr>
        <p:spPr>
          <a:xfrm>
            <a:off x="157704" y="1328882"/>
            <a:ext cx="5862096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5B36709F-E137-48E7-9E84-62FF0F813970}"/>
              </a:ext>
            </a:extLst>
          </p:cNvPr>
          <p:cNvCxnSpPr>
            <a:cxnSpLocks/>
          </p:cNvCxnSpPr>
          <p:nvPr/>
        </p:nvCxnSpPr>
        <p:spPr>
          <a:xfrm>
            <a:off x="157704" y="1485900"/>
            <a:ext cx="3712332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94F88A2-B006-A62E-C90E-35970E7E6541}"/>
              </a:ext>
            </a:extLst>
          </p:cNvPr>
          <p:cNvSpPr txBox="1"/>
          <p:nvPr/>
        </p:nvSpPr>
        <p:spPr>
          <a:xfrm>
            <a:off x="6336030" y="5541192"/>
            <a:ext cx="780983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제</a:t>
            </a:r>
            <a:r>
              <a:rPr lang="en-US" altLang="ko-KR" sz="1600" dirty="0"/>
              <a:t>34</a:t>
            </a:r>
            <a:r>
              <a:rPr lang="ko-KR" altLang="en-US" sz="1600" dirty="0"/>
              <a:t>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3B6C3-CA9F-8BBE-EEBD-DCBED9929145}"/>
              </a:ext>
            </a:extLst>
          </p:cNvPr>
          <p:cNvSpPr txBox="1"/>
          <p:nvPr/>
        </p:nvSpPr>
        <p:spPr>
          <a:xfrm>
            <a:off x="7232499" y="5541192"/>
            <a:ext cx="780983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제</a:t>
            </a:r>
            <a:r>
              <a:rPr lang="en-US" altLang="ko-KR" sz="1600" dirty="0"/>
              <a:t>35</a:t>
            </a:r>
            <a:r>
              <a:rPr lang="ko-KR" altLang="en-US" sz="1600" dirty="0"/>
              <a:t>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83FD20-05EF-8A85-AF8C-7EE69554BFA0}"/>
              </a:ext>
            </a:extLst>
          </p:cNvPr>
          <p:cNvSpPr txBox="1"/>
          <p:nvPr/>
        </p:nvSpPr>
        <p:spPr>
          <a:xfrm>
            <a:off x="8433772" y="5541192"/>
            <a:ext cx="2228495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제</a:t>
            </a:r>
            <a:r>
              <a:rPr lang="en-US" altLang="ko-KR" sz="1600" dirty="0"/>
              <a:t>133</a:t>
            </a:r>
            <a:r>
              <a:rPr lang="ko-KR" altLang="en-US" sz="1600" dirty="0"/>
              <a:t>조제</a:t>
            </a:r>
            <a:r>
              <a:rPr lang="en-US" altLang="ko-KR" sz="1600" dirty="0"/>
              <a:t>1</a:t>
            </a:r>
            <a:r>
              <a:rPr lang="ko-KR" altLang="en-US" sz="1600" dirty="0" err="1"/>
              <a:t>항제</a:t>
            </a:r>
            <a:r>
              <a:rPr lang="en-US" altLang="ko-KR" sz="1600" dirty="0"/>
              <a:t>2</a:t>
            </a:r>
            <a:r>
              <a:rPr lang="ko-KR" altLang="en-US" sz="1600" dirty="0" err="1"/>
              <a:t>호본문</a:t>
            </a:r>
            <a:endParaRPr lang="ko-KR" alt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FEBABB-EF8A-948F-07FB-89E9C9ECB3DB}"/>
              </a:ext>
            </a:extLst>
          </p:cNvPr>
          <p:cNvSpPr txBox="1"/>
          <p:nvPr/>
        </p:nvSpPr>
        <p:spPr>
          <a:xfrm>
            <a:off x="10838915" y="5541192"/>
            <a:ext cx="894797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제</a:t>
            </a:r>
            <a:r>
              <a:rPr lang="en-US" altLang="ko-KR" sz="1600" dirty="0"/>
              <a:t>104</a:t>
            </a:r>
            <a:r>
              <a:rPr lang="ko-KR" altLang="en-US" sz="1600" dirty="0"/>
              <a:t>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42F941-5ABB-975E-149E-2145408222D5}"/>
              </a:ext>
            </a:extLst>
          </p:cNvPr>
          <p:cNvSpPr txBox="1"/>
          <p:nvPr/>
        </p:nvSpPr>
        <p:spPr>
          <a:xfrm>
            <a:off x="6336030" y="6133358"/>
            <a:ext cx="553357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해석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478484-DFB7-E4E0-7B34-451A4BF4E845}"/>
              </a:ext>
            </a:extLst>
          </p:cNvPr>
          <p:cNvSpPr txBox="1"/>
          <p:nvPr/>
        </p:nvSpPr>
        <p:spPr>
          <a:xfrm>
            <a:off x="7232499" y="6133358"/>
            <a:ext cx="1079142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제</a:t>
            </a:r>
            <a:r>
              <a:rPr lang="en-US" altLang="ko-KR" sz="1600" dirty="0"/>
              <a:t>99</a:t>
            </a:r>
            <a:r>
              <a:rPr lang="ko-KR" altLang="en-US" sz="1600" dirty="0"/>
              <a:t>조의</a:t>
            </a:r>
            <a:r>
              <a:rPr lang="en-US" altLang="ko-KR" sz="1600" dirty="0"/>
              <a:t>2</a:t>
            </a:r>
            <a:endParaRPr lang="ko-KR" alt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E4E961-6CC7-1749-CD5D-CA6E68257877}"/>
              </a:ext>
            </a:extLst>
          </p:cNvPr>
          <p:cNvSpPr txBox="1"/>
          <p:nvPr/>
        </p:nvSpPr>
        <p:spPr>
          <a:xfrm>
            <a:off x="8433772" y="6133358"/>
            <a:ext cx="2228495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제</a:t>
            </a:r>
            <a:r>
              <a:rPr lang="en-US" altLang="ko-KR" sz="1600" dirty="0"/>
              <a:t>133</a:t>
            </a:r>
            <a:r>
              <a:rPr lang="ko-KR" altLang="en-US" sz="1600" dirty="0"/>
              <a:t>조제</a:t>
            </a:r>
            <a:r>
              <a:rPr lang="en-US" altLang="ko-KR" sz="1600" dirty="0"/>
              <a:t>1</a:t>
            </a:r>
            <a:r>
              <a:rPr lang="ko-KR" altLang="en-US" sz="1600" dirty="0" err="1"/>
              <a:t>항제</a:t>
            </a:r>
            <a:r>
              <a:rPr lang="en-US" altLang="ko-KR" sz="1600" dirty="0"/>
              <a:t>2</a:t>
            </a:r>
            <a:r>
              <a:rPr lang="ko-KR" altLang="en-US" sz="1600" dirty="0" err="1"/>
              <a:t>호단서</a:t>
            </a:r>
            <a:endParaRPr lang="ko-KR" alt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492A8C-7974-3080-3378-B1EDB55FFF26}"/>
              </a:ext>
            </a:extLst>
          </p:cNvPr>
          <p:cNvSpPr txBox="1"/>
          <p:nvPr/>
        </p:nvSpPr>
        <p:spPr>
          <a:xfrm>
            <a:off x="10838915" y="6133358"/>
            <a:ext cx="1192955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제</a:t>
            </a:r>
            <a:r>
              <a:rPr lang="en-US" altLang="ko-KR" sz="1600" dirty="0"/>
              <a:t>103</a:t>
            </a:r>
            <a:r>
              <a:rPr lang="ko-KR" altLang="en-US" sz="1600" dirty="0"/>
              <a:t>조의</a:t>
            </a:r>
            <a:r>
              <a:rPr lang="en-US" altLang="ko-KR" sz="1600" dirty="0"/>
              <a:t>2</a:t>
            </a:r>
            <a:endParaRPr lang="ko-KR" altLang="en-US" sz="1600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B2FBA96-CD73-A592-3E01-3C80B98119EB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8013482" y="5710469"/>
            <a:ext cx="42029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54F3C0A6-6CFD-6AA8-2B1F-7968C1304568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10662267" y="5710469"/>
            <a:ext cx="17664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8EFD9444-12FC-6013-8C00-CAED314E453B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8311641" y="6302635"/>
            <a:ext cx="122131" cy="1270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F8EF83A3-9EFD-3CF0-8E20-48E2E7135E0A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10662267" y="6302635"/>
            <a:ext cx="17664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2170529B-49ED-AB8D-E740-99B2D51C3723}"/>
              </a:ext>
            </a:extLst>
          </p:cNvPr>
          <p:cNvCxnSpPr>
            <a:stCxn id="2" idx="2"/>
            <a:endCxn id="9" idx="0"/>
          </p:cNvCxnSpPr>
          <p:nvPr/>
        </p:nvCxnSpPr>
        <p:spPr>
          <a:xfrm rot="5400000">
            <a:off x="6542810" y="5949646"/>
            <a:ext cx="253612" cy="113813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77010457-889C-E44A-F3AF-9EED04F734AC}"/>
              </a:ext>
            </a:extLst>
          </p:cNvPr>
          <p:cNvCxnSpPr>
            <a:stCxn id="5" idx="2"/>
            <a:endCxn id="10" idx="0"/>
          </p:cNvCxnSpPr>
          <p:nvPr/>
        </p:nvCxnSpPr>
        <p:spPr>
          <a:xfrm rot="16200000" flipH="1">
            <a:off x="7570724" y="5932012"/>
            <a:ext cx="253612" cy="14907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F8FBB05E-09C2-11C4-7708-27063CEFCEBA}"/>
              </a:ext>
            </a:extLst>
          </p:cNvPr>
          <p:cNvCxnSpPr>
            <a:stCxn id="6" idx="2"/>
            <a:endCxn id="11" idx="0"/>
          </p:cNvCxnSpPr>
          <p:nvPr/>
        </p:nvCxnSpPr>
        <p:spPr>
          <a:xfrm rot="5400000">
            <a:off x="9421214" y="6006552"/>
            <a:ext cx="253612" cy="1270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3A507392-B9F7-B79A-B9FC-9B0F225E3488}"/>
              </a:ext>
            </a:extLst>
          </p:cNvPr>
          <p:cNvCxnSpPr>
            <a:stCxn id="8" idx="2"/>
            <a:endCxn id="12" idx="0"/>
          </p:cNvCxnSpPr>
          <p:nvPr/>
        </p:nvCxnSpPr>
        <p:spPr>
          <a:xfrm rot="16200000" flipH="1">
            <a:off x="11234047" y="5932012"/>
            <a:ext cx="253612" cy="14907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BF86967-5123-5526-3703-18774CB5C90C}"/>
              </a:ext>
            </a:extLst>
          </p:cNvPr>
          <p:cNvSpPr txBox="1"/>
          <p:nvPr/>
        </p:nvSpPr>
        <p:spPr>
          <a:xfrm>
            <a:off x="6150983" y="5317667"/>
            <a:ext cx="1088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33</a:t>
            </a:r>
            <a:r>
              <a:rPr lang="ko-KR" altLang="en-US" sz="1000" dirty="0">
                <a:solidFill>
                  <a:srgbClr val="FF0000"/>
                </a:solidFill>
              </a:rPr>
              <a:t>조제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 err="1">
                <a:solidFill>
                  <a:srgbClr val="FF0000"/>
                </a:solidFill>
              </a:rPr>
              <a:t>항본문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167B27-5DFA-1DD5-946F-8761FC23D84A}"/>
              </a:ext>
            </a:extLst>
          </p:cNvPr>
          <p:cNvSpPr txBox="1"/>
          <p:nvPr/>
        </p:nvSpPr>
        <p:spPr>
          <a:xfrm>
            <a:off x="7153150" y="5317667"/>
            <a:ext cx="1088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33</a:t>
            </a:r>
            <a:r>
              <a:rPr lang="ko-KR" altLang="en-US" sz="1000" dirty="0">
                <a:solidFill>
                  <a:srgbClr val="FF0000"/>
                </a:solidFill>
              </a:rPr>
              <a:t>조제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 err="1">
                <a:solidFill>
                  <a:srgbClr val="FF0000"/>
                </a:solidFill>
              </a:rPr>
              <a:t>항본문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805434-B3B4-7E57-C8E6-2D77CCC1EBBC}"/>
              </a:ext>
            </a:extLst>
          </p:cNvPr>
          <p:cNvSpPr txBox="1"/>
          <p:nvPr/>
        </p:nvSpPr>
        <p:spPr>
          <a:xfrm>
            <a:off x="8997290" y="5147338"/>
            <a:ext cx="1088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44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33</a:t>
            </a:r>
            <a:r>
              <a:rPr lang="ko-KR" altLang="en-US" sz="1000" dirty="0">
                <a:solidFill>
                  <a:srgbClr val="FF0000"/>
                </a:solidFill>
              </a:rPr>
              <a:t>조제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 err="1">
                <a:solidFill>
                  <a:srgbClr val="FF0000"/>
                </a:solidFill>
              </a:rPr>
              <a:t>항본문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7F256C-2FDB-433B-6118-643AE33765A5}"/>
              </a:ext>
            </a:extLst>
          </p:cNvPr>
          <p:cNvSpPr txBox="1"/>
          <p:nvPr/>
        </p:nvSpPr>
        <p:spPr>
          <a:xfrm>
            <a:off x="10450188" y="5147338"/>
            <a:ext cx="16722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29</a:t>
            </a:r>
            <a:r>
              <a:rPr lang="ko-KR" altLang="en-US" sz="1000" dirty="0">
                <a:solidFill>
                  <a:srgbClr val="FF0000"/>
                </a:solidFill>
              </a:rPr>
              <a:t>조제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>
                <a:solidFill>
                  <a:srgbClr val="FF0000"/>
                </a:solidFill>
              </a:rPr>
              <a:t>항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3</a:t>
            </a:r>
            <a:r>
              <a:rPr lang="ko-KR" altLang="en-US" sz="1000" dirty="0">
                <a:solidFill>
                  <a:srgbClr val="FF0000"/>
                </a:solidFill>
              </a:rPr>
              <a:t>항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36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33</a:t>
            </a:r>
            <a:r>
              <a:rPr lang="ko-KR" altLang="en-US" sz="1000" dirty="0">
                <a:solidFill>
                  <a:srgbClr val="FF0000"/>
                </a:solidFill>
              </a:rPr>
              <a:t>조제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 err="1">
                <a:solidFill>
                  <a:srgbClr val="FF0000"/>
                </a:solidFill>
              </a:rPr>
              <a:t>항본문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02F19F-AE74-92A8-B5CA-1F32AD681777}"/>
              </a:ext>
            </a:extLst>
          </p:cNvPr>
          <p:cNvSpPr txBox="1"/>
          <p:nvPr/>
        </p:nvSpPr>
        <p:spPr>
          <a:xfrm>
            <a:off x="7222881" y="6459390"/>
            <a:ext cx="1088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44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33</a:t>
            </a:r>
            <a:r>
              <a:rPr lang="ko-KR" altLang="en-US" sz="1000" dirty="0">
                <a:solidFill>
                  <a:srgbClr val="FF0000"/>
                </a:solidFill>
              </a:rPr>
              <a:t>조제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 err="1">
                <a:solidFill>
                  <a:srgbClr val="FF0000"/>
                </a:solidFill>
              </a:rPr>
              <a:t>항본문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2260B7-EE7E-F5BB-00F8-D2622F821552}"/>
              </a:ext>
            </a:extLst>
          </p:cNvPr>
          <p:cNvSpPr txBox="1"/>
          <p:nvPr/>
        </p:nvSpPr>
        <p:spPr>
          <a:xfrm>
            <a:off x="9009990" y="6459390"/>
            <a:ext cx="1088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44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33</a:t>
            </a:r>
            <a:r>
              <a:rPr lang="ko-KR" altLang="en-US" sz="1000" dirty="0">
                <a:solidFill>
                  <a:srgbClr val="FF0000"/>
                </a:solidFill>
              </a:rPr>
              <a:t>조제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 err="1">
                <a:solidFill>
                  <a:srgbClr val="FF0000"/>
                </a:solidFill>
              </a:rPr>
              <a:t>항본문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4156B2-5B73-2C5A-8FE4-0672E2738567}"/>
              </a:ext>
            </a:extLst>
          </p:cNvPr>
          <p:cNvSpPr txBox="1"/>
          <p:nvPr/>
        </p:nvSpPr>
        <p:spPr>
          <a:xfrm>
            <a:off x="10891012" y="6459390"/>
            <a:ext cx="1088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44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33</a:t>
            </a:r>
            <a:r>
              <a:rPr lang="ko-KR" altLang="en-US" sz="1000" dirty="0">
                <a:solidFill>
                  <a:srgbClr val="FF0000"/>
                </a:solidFill>
              </a:rPr>
              <a:t>조제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 err="1">
                <a:solidFill>
                  <a:srgbClr val="FF0000"/>
                </a:solidFill>
              </a:rPr>
              <a:t>항본문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6140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보정의 법조문 체계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165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938D39-A969-4876-AD8D-821698112C7F}"/>
              </a:ext>
            </a:extLst>
          </p:cNvPr>
          <p:cNvSpPr txBox="1"/>
          <p:nvPr/>
        </p:nvSpPr>
        <p:spPr>
          <a:xfrm>
            <a:off x="6625070" y="1526876"/>
            <a:ext cx="85792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제</a:t>
            </a:r>
            <a:r>
              <a:rPr lang="en-US" altLang="ko-KR" dirty="0"/>
              <a:t>46</a:t>
            </a:r>
            <a:r>
              <a:rPr lang="ko-KR" altLang="en-US" dirty="0"/>
              <a:t>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DB572E-883F-4FA8-8D38-C00AD4922834}"/>
              </a:ext>
            </a:extLst>
          </p:cNvPr>
          <p:cNvSpPr txBox="1"/>
          <p:nvPr/>
        </p:nvSpPr>
        <p:spPr>
          <a:xfrm>
            <a:off x="9592557" y="1389276"/>
            <a:ext cx="1117614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소급효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법규정</a:t>
            </a:r>
            <a:r>
              <a:rPr lang="en-US" altLang="ko-KR" dirty="0"/>
              <a:t>X)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C4DA15-7D1A-4C88-9A75-C27B993CBCA2}"/>
              </a:ext>
            </a:extLst>
          </p:cNvPr>
          <p:cNvSpPr txBox="1"/>
          <p:nvPr/>
        </p:nvSpPr>
        <p:spPr>
          <a:xfrm>
            <a:off x="6624170" y="2847171"/>
            <a:ext cx="85792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제</a:t>
            </a:r>
            <a:r>
              <a:rPr lang="en-US" altLang="ko-KR" dirty="0"/>
              <a:t>16</a:t>
            </a:r>
            <a:r>
              <a:rPr lang="ko-KR" altLang="en-US" dirty="0"/>
              <a:t>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DF7E2A-3523-4B44-B910-40740CDB73E0}"/>
              </a:ext>
            </a:extLst>
          </p:cNvPr>
          <p:cNvSpPr txBox="1"/>
          <p:nvPr/>
        </p:nvSpPr>
        <p:spPr>
          <a:xfrm>
            <a:off x="6624170" y="4033296"/>
            <a:ext cx="85792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4FF579-6154-4124-9232-F89872346583}"/>
              </a:ext>
            </a:extLst>
          </p:cNvPr>
          <p:cNvSpPr txBox="1"/>
          <p:nvPr/>
        </p:nvSpPr>
        <p:spPr>
          <a:xfrm>
            <a:off x="5649357" y="5538605"/>
            <a:ext cx="85792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제</a:t>
            </a:r>
            <a:r>
              <a:rPr lang="en-US" altLang="ko-KR" dirty="0"/>
              <a:t>62</a:t>
            </a:r>
            <a:r>
              <a:rPr lang="ko-KR" altLang="en-US" dirty="0"/>
              <a:t>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F3D7D2-AE42-431D-9F2F-844CD2751C71}"/>
              </a:ext>
            </a:extLst>
          </p:cNvPr>
          <p:cNvSpPr txBox="1"/>
          <p:nvPr/>
        </p:nvSpPr>
        <p:spPr>
          <a:xfrm>
            <a:off x="7482097" y="5538605"/>
            <a:ext cx="85792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A62ABAE8-B608-452D-9E58-652BA2E3F9DE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7482997" y="1711542"/>
            <a:ext cx="2109560" cy="90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FC28F5C5-82E1-4411-BA4C-44142DE976DF}"/>
              </a:ext>
            </a:extLst>
          </p:cNvPr>
          <p:cNvCxnSpPr>
            <a:stCxn id="6" idx="2"/>
            <a:endCxn id="9" idx="0"/>
          </p:cNvCxnSpPr>
          <p:nvPr/>
        </p:nvCxnSpPr>
        <p:spPr>
          <a:xfrm flipH="1">
            <a:off x="7053134" y="1896208"/>
            <a:ext cx="900" cy="95096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01B44922-5172-4B21-8A5B-EC50399A07FB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rot="5400000">
            <a:off x="5997740" y="4483210"/>
            <a:ext cx="1135977" cy="974813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11C58FBE-ABCB-4C62-B861-7E6A36112282}"/>
              </a:ext>
            </a:extLst>
          </p:cNvPr>
          <p:cNvCxnSpPr>
            <a:stCxn id="10" idx="3"/>
            <a:endCxn id="8" idx="2"/>
          </p:cNvCxnSpPr>
          <p:nvPr/>
        </p:nvCxnSpPr>
        <p:spPr>
          <a:xfrm flipV="1">
            <a:off x="7482097" y="2035607"/>
            <a:ext cx="2669267" cy="2182355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CD211BE-1E2B-40F0-A5C6-CEDFF593A81A}"/>
              </a:ext>
            </a:extLst>
          </p:cNvPr>
          <p:cNvSpPr txBox="1"/>
          <p:nvPr/>
        </p:nvSpPr>
        <p:spPr>
          <a:xfrm>
            <a:off x="7645711" y="1389276"/>
            <a:ext cx="8386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효과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적법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A6679D-F155-4204-B03F-665FD97E324A}"/>
              </a:ext>
            </a:extLst>
          </p:cNvPr>
          <p:cNvSpPr txBox="1"/>
          <p:nvPr/>
        </p:nvSpPr>
        <p:spPr>
          <a:xfrm>
            <a:off x="7103964" y="1956191"/>
            <a:ext cx="976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효과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</a:rPr>
              <a:t>부적법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ED91E9-D691-44F1-A323-A8C60604E4D4}"/>
              </a:ext>
            </a:extLst>
          </p:cNvPr>
          <p:cNvSpPr txBox="1"/>
          <p:nvPr/>
        </p:nvSpPr>
        <p:spPr>
          <a:xfrm>
            <a:off x="7642485" y="3921998"/>
            <a:ext cx="8386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효과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적법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34EDB1-B2C6-4E36-8E27-9EED42951E81}"/>
              </a:ext>
            </a:extLst>
          </p:cNvPr>
          <p:cNvSpPr txBox="1"/>
          <p:nvPr/>
        </p:nvSpPr>
        <p:spPr>
          <a:xfrm>
            <a:off x="7053133" y="4527049"/>
            <a:ext cx="976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효과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</a:rPr>
              <a:t>부적법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017F8F-1366-467B-91B1-6224067FBFDF}"/>
              </a:ext>
            </a:extLst>
          </p:cNvPr>
          <p:cNvSpPr txBox="1"/>
          <p:nvPr/>
        </p:nvSpPr>
        <p:spPr>
          <a:xfrm>
            <a:off x="3750712" y="5113645"/>
            <a:ext cx="20329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47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조제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</a:rPr>
              <a:t>항본문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호 시기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6C8A55-DD5E-46A9-8748-7BE86A453F44}"/>
              </a:ext>
            </a:extLst>
          </p:cNvPr>
          <p:cNvSpPr txBox="1"/>
          <p:nvPr/>
        </p:nvSpPr>
        <p:spPr>
          <a:xfrm>
            <a:off x="8029414" y="5113645"/>
            <a:ext cx="21178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47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조제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</a:rPr>
              <a:t>항제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호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호 시기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93D7129-046F-47E0-A4DA-12967E8E17AC}"/>
              </a:ext>
            </a:extLst>
          </p:cNvPr>
          <p:cNvSpPr txBox="1"/>
          <p:nvPr/>
        </p:nvSpPr>
        <p:spPr>
          <a:xfrm>
            <a:off x="5271252" y="1526876"/>
            <a:ext cx="1354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/>
              <a:t>요건 및 절차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BE31FE-DA76-4189-8F68-0DF82E127B97}"/>
              </a:ext>
            </a:extLst>
          </p:cNvPr>
          <p:cNvSpPr txBox="1"/>
          <p:nvPr/>
        </p:nvSpPr>
        <p:spPr>
          <a:xfrm>
            <a:off x="5331634" y="2847171"/>
            <a:ext cx="129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/>
              <a:t>절차의 무효</a:t>
            </a:r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2D0439-F3EA-436F-B57B-B771240895C5}"/>
              </a:ext>
            </a:extLst>
          </p:cNvPr>
          <p:cNvSpPr txBox="1"/>
          <p:nvPr/>
        </p:nvSpPr>
        <p:spPr>
          <a:xfrm>
            <a:off x="5274028" y="4045890"/>
            <a:ext cx="1354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/>
              <a:t>요건 및 절차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67E4BA-2056-4BBC-B3BA-CE66FB435242}"/>
              </a:ext>
            </a:extLst>
          </p:cNvPr>
          <p:cNvSpPr txBox="1"/>
          <p:nvPr/>
        </p:nvSpPr>
        <p:spPr>
          <a:xfrm>
            <a:off x="5590879" y="5967675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/>
              <a:t>거절결정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894E70-99DA-456E-8E1D-1B109FA8977F}"/>
              </a:ext>
            </a:extLst>
          </p:cNvPr>
          <p:cNvSpPr txBox="1"/>
          <p:nvPr/>
        </p:nvSpPr>
        <p:spPr>
          <a:xfrm>
            <a:off x="7403084" y="5967675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 err="1"/>
              <a:t>보정각하</a:t>
            </a:r>
            <a:endParaRPr lang="ko-KR" altLang="en-US" dirty="0"/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FFF341D0-2061-440F-B500-3A3EB4F13D51}"/>
              </a:ext>
            </a:extLst>
          </p:cNvPr>
          <p:cNvCxnSpPr/>
          <p:nvPr/>
        </p:nvCxnSpPr>
        <p:spPr>
          <a:xfrm>
            <a:off x="193357" y="3605843"/>
            <a:ext cx="11857744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0024A28F-0C9C-4391-83AF-C3E2872DB5B6}"/>
              </a:ext>
            </a:extLst>
          </p:cNvPr>
          <p:cNvSpPr/>
          <p:nvPr/>
        </p:nvSpPr>
        <p:spPr>
          <a:xfrm>
            <a:off x="721551" y="1803742"/>
            <a:ext cx="1353958" cy="71620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절차보정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FE4C8CAD-090A-4E62-90AC-35364458E273}"/>
              </a:ext>
            </a:extLst>
          </p:cNvPr>
          <p:cNvSpPr/>
          <p:nvPr/>
        </p:nvSpPr>
        <p:spPr>
          <a:xfrm>
            <a:off x="721551" y="4846605"/>
            <a:ext cx="1353958" cy="71620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실체보정</a:t>
            </a:r>
          </a:p>
        </p:txBody>
      </p: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147762A6-3321-4938-B961-CADAF14CB79F}"/>
              </a:ext>
            </a:extLst>
          </p:cNvPr>
          <p:cNvCxnSpPr>
            <a:stCxn id="10" idx="2"/>
            <a:endCxn id="12" idx="0"/>
          </p:cNvCxnSpPr>
          <p:nvPr/>
        </p:nvCxnSpPr>
        <p:spPr>
          <a:xfrm rot="16200000" flipH="1">
            <a:off x="6914109" y="4541652"/>
            <a:ext cx="1135977" cy="857927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말풍선: 모서리가 둥근 사각형 43">
            <a:extLst>
              <a:ext uri="{FF2B5EF4-FFF2-40B4-BE49-F238E27FC236}">
                <a16:creationId xmlns:a16="http://schemas.microsoft.com/office/drawing/2014/main" id="{29B258CD-A15D-4552-8714-8446F75190E4}"/>
              </a:ext>
            </a:extLst>
          </p:cNvPr>
          <p:cNvSpPr/>
          <p:nvPr/>
        </p:nvSpPr>
        <p:spPr>
          <a:xfrm>
            <a:off x="3162739" y="4514935"/>
            <a:ext cx="1618785" cy="289113"/>
          </a:xfrm>
          <a:prstGeom prst="wedgeRoundRectCallout">
            <a:avLst>
              <a:gd name="adj1" fmla="val 30858"/>
              <a:gd name="adj2" fmla="val 143062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제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47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조제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항 위반</a:t>
            </a:r>
          </a:p>
        </p:txBody>
      </p:sp>
      <p:sp>
        <p:nvSpPr>
          <p:cNvPr id="45" name="말풍선: 모서리가 둥근 사각형 44">
            <a:extLst>
              <a:ext uri="{FF2B5EF4-FFF2-40B4-BE49-F238E27FC236}">
                <a16:creationId xmlns:a16="http://schemas.microsoft.com/office/drawing/2014/main" id="{15B9761A-2997-492B-B3FF-B9EDDB521BC5}"/>
              </a:ext>
            </a:extLst>
          </p:cNvPr>
          <p:cNvSpPr/>
          <p:nvPr/>
        </p:nvSpPr>
        <p:spPr>
          <a:xfrm>
            <a:off x="9057736" y="5863228"/>
            <a:ext cx="2475781" cy="675609"/>
          </a:xfrm>
          <a:prstGeom prst="wedgeRoundRectCallout">
            <a:avLst>
              <a:gd name="adj1" fmla="val -37441"/>
              <a:gd name="adj2" fmla="val -116202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제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47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조제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항 위반</a:t>
            </a:r>
            <a:endParaRPr lang="en-US" altLang="ko-K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제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47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조제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항 위반</a:t>
            </a:r>
            <a:endParaRPr lang="en-US" altLang="ko-K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보정에 의하여 새로운 거절이유 발생</a:t>
            </a:r>
          </a:p>
        </p:txBody>
      </p:sp>
    </p:spTree>
    <p:extLst>
      <p:ext uri="{BB962C8B-B14F-4D97-AF65-F5344CB8AC3E}">
        <p14:creationId xmlns:p14="http://schemas.microsoft.com/office/powerpoint/2010/main" val="28081500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실체보정의 법조문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47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특허출원의 보정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특허출원인은</a:t>
            </a:r>
            <a:r>
              <a:rPr lang="ko-KR" altLang="en-US" sz="1400" dirty="0">
                <a:solidFill>
                  <a:schemeClr val="tx2"/>
                </a:solidFill>
              </a:rPr>
              <a:t> 제</a:t>
            </a:r>
            <a:r>
              <a:rPr lang="en-US" altLang="ko-KR" sz="1400" dirty="0">
                <a:solidFill>
                  <a:schemeClr val="tx2"/>
                </a:solidFill>
              </a:rPr>
              <a:t>66</a:t>
            </a:r>
            <a:r>
              <a:rPr lang="ko-KR" altLang="en-US" sz="1400" dirty="0">
                <a:solidFill>
                  <a:schemeClr val="tx2"/>
                </a:solidFill>
              </a:rPr>
              <a:t>조에 따른 특허결정의 등본을 송달하기 전까지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400" dirty="0">
                <a:solidFill>
                  <a:schemeClr val="tx2"/>
                </a:solidFill>
              </a:rPr>
              <a:t> 첨부한 명세서 또는 도면을 보정할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63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거절이유통지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이하 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거절이유통지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라 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를 받은 후에는 다음 각 호의 구분에 따른 기간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호의 경우에는 그 때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에만 보정할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거절이유통지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거절이유통지에 대한 보정에 따라 발생한 거절이유에 대한 거절이유통지는 제외한다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를 최초로 받거나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호의 거절이유통지가 아닌 거절이유통지를 받은 경우</a:t>
            </a:r>
            <a:r>
              <a:rPr lang="en-US" altLang="ko-KR" sz="1400" dirty="0">
                <a:solidFill>
                  <a:schemeClr val="tx2"/>
                </a:solidFill>
              </a:rPr>
              <a:t>: </a:t>
            </a:r>
            <a:r>
              <a:rPr lang="ko-KR" altLang="en-US" sz="1400" dirty="0">
                <a:solidFill>
                  <a:schemeClr val="tx2"/>
                </a:solidFill>
              </a:rPr>
              <a:t>해당 거절이유통지에 따른 의견서 제출기간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거절이유통지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66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따른 통지를 한 경우에는 그 통지 전의 거절이유통지는 제외한다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 대한 보정에 따라 발생한 거절이유에 대하여 거절이유통지를 받은 경우</a:t>
            </a:r>
            <a:r>
              <a:rPr lang="en-US" altLang="ko-KR" sz="1400" dirty="0">
                <a:solidFill>
                  <a:schemeClr val="tx2"/>
                </a:solidFill>
              </a:rPr>
              <a:t>: </a:t>
            </a:r>
            <a:r>
              <a:rPr lang="ko-KR" altLang="en-US" sz="1400" dirty="0">
                <a:solidFill>
                  <a:schemeClr val="tx2"/>
                </a:solidFill>
              </a:rPr>
              <a:t>해당 거절이유통지에 따른 의견서 제출기간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67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에 따른 재심사를 청구하는 경우</a:t>
            </a:r>
            <a:r>
              <a:rPr lang="en-US" altLang="ko-KR" sz="1400" dirty="0">
                <a:solidFill>
                  <a:schemeClr val="tx2"/>
                </a:solidFill>
              </a:rPr>
              <a:t>: </a:t>
            </a:r>
            <a:r>
              <a:rPr lang="ko-KR" altLang="en-US" sz="1400" dirty="0">
                <a:solidFill>
                  <a:schemeClr val="tx2"/>
                </a:solidFill>
              </a:rPr>
              <a:t>청구할 때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②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명세서 또는 도면의 보정은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400" dirty="0">
                <a:solidFill>
                  <a:schemeClr val="tx2"/>
                </a:solidFill>
              </a:rPr>
              <a:t> 최초로 첨부한 명세서 또는 도면에 기재된 사항의 범위에서 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 경우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외국어특허출원에 대한 보정은 최종 국어번역문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42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</a:t>
            </a:r>
            <a:r>
              <a:rPr lang="ko-KR" altLang="en-US" sz="1400" dirty="0">
                <a:solidFill>
                  <a:schemeClr val="tx2"/>
                </a:solidFill>
              </a:rPr>
              <a:t>항 전단에 따른 정정이 있는 경우에는 정정된 국어번역문을 말한다</a:t>
            </a:r>
            <a:r>
              <a:rPr lang="en-US" altLang="ko-KR" sz="1400" dirty="0">
                <a:solidFill>
                  <a:schemeClr val="tx2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또는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400" dirty="0">
                <a:solidFill>
                  <a:schemeClr val="tx2"/>
                </a:solidFill>
              </a:rPr>
              <a:t> 최초로 첨부한 도면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도면 중 설명부분은 제외한다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 기재된 사항의 범위에서도 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호 및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호에 따른 보정 중 청구범위에 대한 보정은 다음 각 호의 어느 하나에 해당하는 경우에만 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 err="1">
                <a:solidFill>
                  <a:schemeClr val="tx2"/>
                </a:solidFill>
              </a:rPr>
              <a:t>청구항을</a:t>
            </a:r>
            <a:r>
              <a:rPr lang="ko-KR" altLang="en-US" sz="1400" dirty="0">
                <a:solidFill>
                  <a:schemeClr val="tx2"/>
                </a:solidFill>
              </a:rPr>
              <a:t> 한정 또는 삭제하거나 </a:t>
            </a:r>
            <a:r>
              <a:rPr lang="ko-KR" altLang="en-US" sz="1400" dirty="0" err="1">
                <a:solidFill>
                  <a:schemeClr val="tx2"/>
                </a:solidFill>
              </a:rPr>
              <a:t>청구항에</a:t>
            </a:r>
            <a:r>
              <a:rPr lang="ko-KR" altLang="en-US" sz="1400" dirty="0">
                <a:solidFill>
                  <a:schemeClr val="tx2"/>
                </a:solidFill>
              </a:rPr>
              <a:t> 부가하여 청구범위를 감축하는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잘못 기재된 사항을 정정하는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</a:rPr>
              <a:t>분명하지 아니하게 기재된 사항을 명확하게 하는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4.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따른 범위를 벗어난 보정에 대하여 그 보정 전 청구범위로 되돌아가거나 되돌아가면서 청구범위를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호부터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호까지의 규정에 따라 보정하는 경우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④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호 또는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호에 따른 기간에 보정을 하는 경우에는 각각의 보정절차에서 마지막 보정 전에 한 모든 보정은 취하된 것으로 본다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⑤ </a:t>
            </a:r>
            <a:r>
              <a:rPr lang="ko-KR" altLang="en-US" sz="1400" dirty="0">
                <a:solidFill>
                  <a:schemeClr val="tx2"/>
                </a:solidFill>
              </a:rPr>
              <a:t>외국어특허출원인 경우에는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본문에도 불구하고 제</a:t>
            </a:r>
            <a:r>
              <a:rPr lang="en-US" altLang="ko-KR" sz="1400" dirty="0">
                <a:solidFill>
                  <a:schemeClr val="tx2"/>
                </a:solidFill>
              </a:rPr>
              <a:t>42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따라 국어번역문을 제출한 경우에만 명세서 또는 도면을 보정할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51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 err="1">
                <a:solidFill>
                  <a:schemeClr val="accent1"/>
                </a:solidFill>
              </a:rPr>
              <a:t>보정각하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심사관은 제</a:t>
            </a:r>
            <a:r>
              <a:rPr lang="en-US" altLang="ko-KR" sz="1400" dirty="0">
                <a:solidFill>
                  <a:schemeClr val="tx2"/>
                </a:solidFill>
              </a:rPr>
              <a:t>47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호 및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호에 따른 보정이 같은 조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 또는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항을 위반하거나 그 보정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같은 조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호 및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호에 따른 보정 중 </a:t>
            </a:r>
            <a:r>
              <a:rPr lang="ko-KR" altLang="en-US" sz="1400" dirty="0" err="1">
                <a:solidFill>
                  <a:schemeClr val="tx2"/>
                </a:solidFill>
              </a:rPr>
              <a:t>청구항을</a:t>
            </a:r>
            <a:r>
              <a:rPr lang="ko-KR" altLang="en-US" sz="1400" dirty="0">
                <a:solidFill>
                  <a:schemeClr val="tx2"/>
                </a:solidFill>
              </a:rPr>
              <a:t> 삭제하는 보정은 제외한다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 따라 새로운 거절이유가 발생한 것으로 인정하면 결정으로 그 보정을 각하하여야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다음 각 호의 어느 하나에 해당하는 보정인 경우에는 그러하지 아니하다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66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에 따른 직권보정을 하는 경우</a:t>
            </a:r>
            <a:r>
              <a:rPr lang="en-US" altLang="ko-KR" sz="1400" dirty="0">
                <a:solidFill>
                  <a:schemeClr val="tx2"/>
                </a:solidFill>
              </a:rPr>
              <a:t>: </a:t>
            </a:r>
            <a:r>
              <a:rPr lang="ko-KR" altLang="en-US" sz="1400" dirty="0">
                <a:solidFill>
                  <a:schemeClr val="tx2"/>
                </a:solidFill>
              </a:rPr>
              <a:t>그 직권보정 전에 한 보정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66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에 따른 직권 재심사를 하는 경우</a:t>
            </a:r>
            <a:r>
              <a:rPr lang="en-US" altLang="ko-KR" sz="1400" dirty="0">
                <a:solidFill>
                  <a:schemeClr val="tx2"/>
                </a:solidFill>
              </a:rPr>
              <a:t>: </a:t>
            </a:r>
            <a:r>
              <a:rPr lang="ko-KR" altLang="en-US" sz="1400" dirty="0">
                <a:solidFill>
                  <a:schemeClr val="tx2"/>
                </a:solidFill>
              </a:rPr>
              <a:t>취소된 특허결정 전에 한 보정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67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에 따른 재심사의 청구가 있는 경우</a:t>
            </a:r>
            <a:r>
              <a:rPr lang="en-US" altLang="ko-KR" sz="1400" dirty="0">
                <a:solidFill>
                  <a:schemeClr val="tx2"/>
                </a:solidFill>
              </a:rPr>
              <a:t>: </a:t>
            </a:r>
            <a:r>
              <a:rPr lang="ko-KR" altLang="en-US" sz="1400" dirty="0">
                <a:solidFill>
                  <a:schemeClr val="tx2"/>
                </a:solidFill>
              </a:rPr>
              <a:t>그 청구 전에 한 보정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②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</a:t>
            </a:r>
            <a:r>
              <a:rPr lang="ko-KR" altLang="en-US" sz="1400" dirty="0" err="1">
                <a:solidFill>
                  <a:schemeClr val="tx2"/>
                </a:solidFill>
              </a:rPr>
              <a:t>각하결정은</a:t>
            </a:r>
            <a:r>
              <a:rPr lang="ko-KR" altLang="en-US" sz="1400" dirty="0">
                <a:solidFill>
                  <a:schemeClr val="tx2"/>
                </a:solidFill>
              </a:rPr>
              <a:t> 서면으로 하여야 하며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그 이유를 붙여야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</a:t>
            </a:r>
            <a:r>
              <a:rPr lang="ko-KR" altLang="en-US" sz="1400" dirty="0" err="1">
                <a:solidFill>
                  <a:schemeClr val="tx2"/>
                </a:solidFill>
              </a:rPr>
              <a:t>각하결정에</a:t>
            </a:r>
            <a:r>
              <a:rPr lang="ko-KR" altLang="en-US" sz="1400" dirty="0">
                <a:solidFill>
                  <a:schemeClr val="tx2"/>
                </a:solidFill>
              </a:rPr>
              <a:t> 대해서는 불복할 수 없다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132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17</a:t>
            </a:r>
            <a:r>
              <a:rPr lang="ko-KR" altLang="en-US" sz="1400" dirty="0">
                <a:solidFill>
                  <a:schemeClr val="tx2"/>
                </a:solidFill>
              </a:rPr>
              <a:t>에 따른 특허거절결정에 대한 심판에서 그 </a:t>
            </a:r>
            <a:r>
              <a:rPr lang="ko-KR" altLang="en-US" sz="1400" dirty="0" err="1">
                <a:solidFill>
                  <a:schemeClr val="tx2"/>
                </a:solidFill>
              </a:rPr>
              <a:t>각하결정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66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에 따른 직권 재심사를 하는 경우 취소된 특허결정 전에 한 </a:t>
            </a:r>
            <a:r>
              <a:rPr lang="ko-KR" altLang="en-US" sz="1400" dirty="0" err="1">
                <a:solidFill>
                  <a:schemeClr val="tx2"/>
                </a:solidFill>
              </a:rPr>
              <a:t>각하결정과</a:t>
            </a:r>
            <a:r>
              <a:rPr lang="ko-KR" altLang="en-US" sz="1400" dirty="0">
                <a:solidFill>
                  <a:schemeClr val="tx2"/>
                </a:solidFill>
              </a:rPr>
              <a:t> 제</a:t>
            </a:r>
            <a:r>
              <a:rPr lang="en-US" altLang="ko-KR" sz="1400" dirty="0">
                <a:solidFill>
                  <a:schemeClr val="tx2"/>
                </a:solidFill>
              </a:rPr>
              <a:t>67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에 따른 재심사의 청구가 있는 경우 그 청구 전에 한 </a:t>
            </a:r>
            <a:r>
              <a:rPr lang="ko-KR" altLang="en-US" sz="1400" dirty="0" err="1">
                <a:solidFill>
                  <a:schemeClr val="tx2"/>
                </a:solidFill>
              </a:rPr>
              <a:t>각하결정은</a:t>
            </a:r>
            <a:r>
              <a:rPr lang="ko-KR" altLang="en-US" sz="1400" dirty="0">
                <a:solidFill>
                  <a:schemeClr val="tx2"/>
                </a:solidFill>
              </a:rPr>
              <a:t> 제외한다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 대하여 다투는 경우에는 그러하지 아니하다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9705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실체보정의 개념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89150" y="1221598"/>
            <a:ext cx="10435186" cy="119178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양쪽 모서리가 둥근 사각형 6"/>
          <p:cNvSpPr/>
          <p:nvPr/>
        </p:nvSpPr>
        <p:spPr>
          <a:xfrm>
            <a:off x="1601748" y="1855240"/>
            <a:ext cx="1797788" cy="3081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양쪽 모서리가 둥근 사각형 7"/>
          <p:cNvSpPr/>
          <p:nvPr/>
        </p:nvSpPr>
        <p:spPr>
          <a:xfrm>
            <a:off x="3454120" y="1855240"/>
            <a:ext cx="1430698" cy="3081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양쪽 모서리가 둥근 사각형 8"/>
          <p:cNvSpPr/>
          <p:nvPr/>
        </p:nvSpPr>
        <p:spPr>
          <a:xfrm>
            <a:off x="5759903" y="1855240"/>
            <a:ext cx="1430698" cy="3081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889150" y="5309089"/>
            <a:ext cx="10435186" cy="9905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889150" y="4189351"/>
            <a:ext cx="10435186" cy="9905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889150" y="2878669"/>
            <a:ext cx="10435186" cy="78837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9202807" y="1863129"/>
            <a:ext cx="132060" cy="164772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/>
          <p:cNvCxnSpPr/>
          <p:nvPr/>
        </p:nvCxnSpPr>
        <p:spPr>
          <a:xfrm>
            <a:off x="889150" y="2163372"/>
            <a:ext cx="10308186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220710" y="1984754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j-ea"/>
                <a:ea typeface="+mj-ea"/>
              </a:rPr>
              <a:t>출원</a:t>
            </a:r>
            <a:r>
              <a:rPr lang="en-US" altLang="ko-KR" sz="1200" dirty="0">
                <a:latin typeface="+mj-ea"/>
                <a:ea typeface="+mj-ea"/>
              </a:rPr>
              <a:t>(0)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2982124" y="1984754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>
                <a:latin typeface="+mj-ea"/>
                <a:ea typeface="+mj-ea"/>
              </a:rPr>
              <a:t>최초</a:t>
            </a:r>
            <a:r>
              <a:rPr lang="en-US" altLang="ko-KR" sz="1200" dirty="0">
                <a:latin typeface="+mj-ea"/>
                <a:ea typeface="+mj-ea"/>
              </a:rPr>
              <a:t>OA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5323768" y="1984754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>
                <a:latin typeface="+mj-ea"/>
                <a:ea typeface="+mj-ea"/>
              </a:rPr>
              <a:t>최후</a:t>
            </a:r>
            <a:r>
              <a:rPr lang="en-US" altLang="ko-KR" sz="1200" dirty="0">
                <a:latin typeface="+mj-ea"/>
                <a:ea typeface="+mj-ea"/>
              </a:rPr>
              <a:t>OA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7520355" y="1984754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j-ea"/>
                <a:ea typeface="+mj-ea"/>
              </a:rPr>
              <a:t>거절결정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8847713" y="1984754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j-ea"/>
                <a:ea typeface="+mj-ea"/>
              </a:rPr>
              <a:t>재심사청구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721118" y="1882398"/>
            <a:ext cx="12634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의견제출기간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altLang="ko-KR" sz="900" dirty="0">
                <a:solidFill>
                  <a:srgbClr val="FF0000"/>
                </a:solidFill>
              </a:rPr>
              <a:t>4</a:t>
            </a:r>
            <a:r>
              <a:rPr lang="ko-KR" altLang="en-US" sz="900" dirty="0">
                <a:solidFill>
                  <a:srgbClr val="FF0000"/>
                </a:solidFill>
              </a:rPr>
              <a:t>개월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內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21546" y="1882398"/>
            <a:ext cx="12634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의견제출기간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altLang="ko-KR" sz="900" dirty="0">
                <a:solidFill>
                  <a:srgbClr val="FF0000"/>
                </a:solidFill>
              </a:rPr>
              <a:t>4</a:t>
            </a:r>
            <a:r>
              <a:rPr lang="ko-KR" altLang="en-US" sz="900" dirty="0">
                <a:solidFill>
                  <a:srgbClr val="FF0000"/>
                </a:solidFill>
              </a:rPr>
              <a:t>개월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內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34411" y="6424812"/>
            <a:ext cx="20329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신규사항추가금지</a:t>
            </a:r>
            <a:r>
              <a:rPr lang="en-US" altLang="ko-KR" sz="1100" dirty="0"/>
              <a:t>(</a:t>
            </a:r>
            <a:r>
              <a:rPr lang="ko-KR" altLang="en-US" sz="1100" dirty="0"/>
              <a:t>제</a:t>
            </a:r>
            <a:r>
              <a:rPr lang="en-US" altLang="ko-KR" sz="1100" dirty="0"/>
              <a:t>47</a:t>
            </a:r>
            <a:r>
              <a:rPr lang="ko-KR" altLang="en-US" sz="1100" dirty="0"/>
              <a:t>조제</a:t>
            </a:r>
            <a:r>
              <a:rPr lang="en-US" altLang="ko-KR" sz="1100" dirty="0"/>
              <a:t>2</a:t>
            </a:r>
            <a:r>
              <a:rPr lang="ko-KR" altLang="en-US" sz="1100" dirty="0"/>
              <a:t>항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23" name="순서도: 처리 22"/>
          <p:cNvSpPr/>
          <p:nvPr/>
        </p:nvSpPr>
        <p:spPr>
          <a:xfrm>
            <a:off x="1773759" y="2502140"/>
            <a:ext cx="830037" cy="251834"/>
          </a:xfrm>
          <a:prstGeom prst="flowChartProcess">
            <a:avLst/>
          </a:prstGeom>
          <a:solidFill>
            <a:schemeClr val="accent3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+mn-ea"/>
              </a:rPr>
              <a:t>보정</a:t>
            </a:r>
            <a:r>
              <a:rPr lang="en-US" altLang="ko-KR" sz="1100" dirty="0">
                <a:latin typeface="+mn-ea"/>
              </a:rPr>
              <a:t>Ⅰ(1)</a:t>
            </a:r>
            <a:endParaRPr lang="ko-KR" altLang="en-US" sz="1100" dirty="0">
              <a:latin typeface="+mn-ea"/>
            </a:endParaRPr>
          </a:p>
        </p:txBody>
      </p:sp>
      <p:cxnSp>
        <p:nvCxnSpPr>
          <p:cNvPr id="24" name="직선 화살표 연결선 23"/>
          <p:cNvCxnSpPr>
            <a:stCxn id="23" idx="0"/>
          </p:cNvCxnSpPr>
          <p:nvPr/>
        </p:nvCxnSpPr>
        <p:spPr>
          <a:xfrm flipV="1">
            <a:off x="2188778" y="2167642"/>
            <a:ext cx="0" cy="334498"/>
          </a:xfrm>
          <a:prstGeom prst="straightConnector1">
            <a:avLst/>
          </a:prstGeom>
          <a:ln w="9525">
            <a:solidFill>
              <a:schemeClr val="bg2">
                <a:lumMod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순서도: 처리 24"/>
          <p:cNvSpPr/>
          <p:nvPr/>
        </p:nvSpPr>
        <p:spPr>
          <a:xfrm>
            <a:off x="3522977" y="2502140"/>
            <a:ext cx="830037" cy="251834"/>
          </a:xfrm>
          <a:prstGeom prst="flowChartProcess">
            <a:avLst/>
          </a:prstGeom>
          <a:solidFill>
            <a:schemeClr val="accent3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+mn-ea"/>
              </a:rPr>
              <a:t>보정</a:t>
            </a:r>
            <a:r>
              <a:rPr lang="en-US" altLang="ko-KR" sz="1100" dirty="0">
                <a:latin typeface="+mn-ea"/>
              </a:rPr>
              <a:t>Ⅱ(2)</a:t>
            </a:r>
            <a:endParaRPr lang="ko-KR" altLang="en-US" sz="1100" dirty="0">
              <a:latin typeface="+mn-ea"/>
            </a:endParaRPr>
          </a:p>
        </p:txBody>
      </p:sp>
      <p:cxnSp>
        <p:nvCxnSpPr>
          <p:cNvPr id="27" name="직선 화살표 연결선 26"/>
          <p:cNvCxnSpPr>
            <a:stCxn id="25" idx="0"/>
          </p:cNvCxnSpPr>
          <p:nvPr/>
        </p:nvCxnSpPr>
        <p:spPr>
          <a:xfrm flipV="1">
            <a:off x="3937996" y="2167642"/>
            <a:ext cx="0" cy="334498"/>
          </a:xfrm>
          <a:prstGeom prst="straightConnector1">
            <a:avLst/>
          </a:prstGeom>
          <a:ln w="9525">
            <a:solidFill>
              <a:schemeClr val="bg2">
                <a:lumMod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순서도: 처리 27"/>
          <p:cNvSpPr/>
          <p:nvPr/>
        </p:nvSpPr>
        <p:spPr>
          <a:xfrm>
            <a:off x="5864900" y="2502140"/>
            <a:ext cx="830037" cy="251834"/>
          </a:xfrm>
          <a:prstGeom prst="flowChartProcess">
            <a:avLst/>
          </a:prstGeom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+mn-ea"/>
              </a:rPr>
              <a:t>보정</a:t>
            </a:r>
            <a:r>
              <a:rPr lang="en-US" altLang="ko-KR" sz="1100" dirty="0">
                <a:latin typeface="+mn-ea"/>
              </a:rPr>
              <a:t>Ⅲ(3)</a:t>
            </a:r>
            <a:endParaRPr lang="ko-KR" altLang="en-US" sz="1100" dirty="0">
              <a:latin typeface="+mn-ea"/>
            </a:endParaRPr>
          </a:p>
        </p:txBody>
      </p:sp>
      <p:cxnSp>
        <p:nvCxnSpPr>
          <p:cNvPr id="29" name="직선 화살표 연결선 28"/>
          <p:cNvCxnSpPr>
            <a:stCxn id="28" idx="0"/>
          </p:cNvCxnSpPr>
          <p:nvPr/>
        </p:nvCxnSpPr>
        <p:spPr>
          <a:xfrm flipH="1" flipV="1">
            <a:off x="6279918" y="2167642"/>
            <a:ext cx="1" cy="334498"/>
          </a:xfrm>
          <a:prstGeom prst="straightConnector1">
            <a:avLst/>
          </a:prstGeom>
          <a:ln w="9525">
            <a:solidFill>
              <a:schemeClr val="accent6">
                <a:lumMod val="7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순서도: 처리 29"/>
          <p:cNvSpPr/>
          <p:nvPr/>
        </p:nvSpPr>
        <p:spPr>
          <a:xfrm>
            <a:off x="8861039" y="2502140"/>
            <a:ext cx="830037" cy="251834"/>
          </a:xfrm>
          <a:prstGeom prst="flowChartProcess">
            <a:avLst/>
          </a:prstGeom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+mn-ea"/>
              </a:rPr>
              <a:t>보정</a:t>
            </a:r>
            <a:r>
              <a:rPr lang="en-US" altLang="ko-KR" sz="1100" dirty="0">
                <a:latin typeface="+mn-ea"/>
              </a:rPr>
              <a:t>Ⅳ(4)</a:t>
            </a:r>
            <a:endParaRPr lang="ko-KR" altLang="en-US" sz="1100" dirty="0">
              <a:latin typeface="+mn-ea"/>
            </a:endParaRPr>
          </a:p>
        </p:txBody>
      </p:sp>
      <p:cxnSp>
        <p:nvCxnSpPr>
          <p:cNvPr id="31" name="직선 화살표 연결선 30"/>
          <p:cNvCxnSpPr>
            <a:stCxn id="30" idx="0"/>
          </p:cNvCxnSpPr>
          <p:nvPr/>
        </p:nvCxnSpPr>
        <p:spPr>
          <a:xfrm flipV="1">
            <a:off x="9276058" y="2324619"/>
            <a:ext cx="0" cy="177521"/>
          </a:xfrm>
          <a:prstGeom prst="straightConnector1">
            <a:avLst/>
          </a:prstGeom>
          <a:ln w="9525">
            <a:solidFill>
              <a:schemeClr val="accent6">
                <a:lumMod val="7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타원 31"/>
          <p:cNvSpPr/>
          <p:nvPr/>
        </p:nvSpPr>
        <p:spPr>
          <a:xfrm>
            <a:off x="894930" y="6431438"/>
            <a:ext cx="226709" cy="22588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3" name="타원 32"/>
          <p:cNvSpPr/>
          <p:nvPr/>
        </p:nvSpPr>
        <p:spPr>
          <a:xfrm>
            <a:off x="3419250" y="6422971"/>
            <a:ext cx="226709" cy="22588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4" name="타원 33"/>
          <p:cNvSpPr/>
          <p:nvPr/>
        </p:nvSpPr>
        <p:spPr>
          <a:xfrm>
            <a:off x="6213469" y="6422971"/>
            <a:ext cx="226709" cy="22588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900647" y="1592313"/>
            <a:ext cx="1266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47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 err="1"/>
              <a:t>항본문</a:t>
            </a:r>
            <a:endParaRPr lang="ko-KR" alt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3533166" y="1592313"/>
            <a:ext cx="1351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47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 err="1"/>
              <a:t>항제</a:t>
            </a:r>
            <a:r>
              <a:rPr lang="en-US" altLang="ko-KR" sz="1200" dirty="0"/>
              <a:t>1</a:t>
            </a:r>
            <a:r>
              <a:rPr lang="ko-KR" altLang="en-US" sz="1200" dirty="0"/>
              <a:t>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949" y="1592313"/>
            <a:ext cx="1351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47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 err="1"/>
              <a:t>항제</a:t>
            </a:r>
            <a:r>
              <a:rPr lang="en-US" altLang="ko-KR" sz="1200" dirty="0"/>
              <a:t>2</a:t>
            </a:r>
            <a:r>
              <a:rPr lang="ko-KR" altLang="en-US" sz="1200" dirty="0"/>
              <a:t>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3011" y="1592313"/>
            <a:ext cx="1351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47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 err="1"/>
              <a:t>항제</a:t>
            </a:r>
            <a:r>
              <a:rPr lang="en-US" altLang="ko-KR" sz="1200" dirty="0"/>
              <a:t>3</a:t>
            </a:r>
            <a:r>
              <a:rPr lang="ko-KR" altLang="en-US" sz="1200" dirty="0"/>
              <a:t>호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317682" y="1221598"/>
            <a:ext cx="567267" cy="119178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시기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317682" y="2878669"/>
            <a:ext cx="567267" cy="78837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범위</a:t>
            </a:r>
          </a:p>
        </p:txBody>
      </p:sp>
      <p:sp>
        <p:nvSpPr>
          <p:cNvPr id="41" name="순서도: 처리 40"/>
          <p:cNvSpPr/>
          <p:nvPr/>
        </p:nvSpPr>
        <p:spPr>
          <a:xfrm>
            <a:off x="2413370" y="3812416"/>
            <a:ext cx="830037" cy="251834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심사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Ⅰ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42" name="직선 화살표 연결선 41"/>
          <p:cNvCxnSpPr>
            <a:stCxn id="41" idx="0"/>
          </p:cNvCxnSpPr>
          <p:nvPr/>
        </p:nvCxnSpPr>
        <p:spPr>
          <a:xfrm flipV="1">
            <a:off x="2828389" y="2177289"/>
            <a:ext cx="0" cy="1635127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656286" y="6424812"/>
            <a:ext cx="23631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청구범위 보정범위 제한</a:t>
            </a:r>
            <a:r>
              <a:rPr lang="en-US" altLang="ko-KR" sz="1100" dirty="0"/>
              <a:t>(</a:t>
            </a:r>
            <a:r>
              <a:rPr lang="ko-KR" altLang="en-US" sz="1100" dirty="0"/>
              <a:t>제</a:t>
            </a:r>
            <a:r>
              <a:rPr lang="en-US" altLang="ko-KR" sz="1100" dirty="0"/>
              <a:t>47</a:t>
            </a:r>
            <a:r>
              <a:rPr lang="ko-KR" altLang="en-US" sz="1100" dirty="0"/>
              <a:t>조제</a:t>
            </a:r>
            <a:r>
              <a:rPr lang="en-US" altLang="ko-KR" sz="1100" dirty="0"/>
              <a:t>3</a:t>
            </a:r>
            <a:r>
              <a:rPr lang="ko-KR" altLang="en-US" sz="1100" dirty="0"/>
              <a:t>항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44" name="TextBox 43"/>
          <p:cNvSpPr txBox="1"/>
          <p:nvPr/>
        </p:nvSpPr>
        <p:spPr>
          <a:xfrm>
            <a:off x="6451091" y="6424812"/>
            <a:ext cx="22701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보정에 따라 새로운 거절이유 발생 </a:t>
            </a:r>
            <a:r>
              <a:rPr lang="en-US" altLang="ko-KR" sz="1100" kern="0" spc="-50" dirty="0"/>
              <a:t>×</a:t>
            </a:r>
            <a:endParaRPr lang="ko-KR" altLang="en-US" sz="1100" kern="0" spc="-50" dirty="0">
              <a:solidFill>
                <a:srgbClr val="000000"/>
              </a:solidFill>
            </a:endParaRPr>
          </a:p>
        </p:txBody>
      </p:sp>
      <p:sp>
        <p:nvSpPr>
          <p:cNvPr id="45" name="타원 44"/>
          <p:cNvSpPr/>
          <p:nvPr/>
        </p:nvSpPr>
        <p:spPr>
          <a:xfrm>
            <a:off x="2071713" y="2930124"/>
            <a:ext cx="226709" cy="22588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6" name="타원 45"/>
          <p:cNvSpPr/>
          <p:nvPr/>
        </p:nvSpPr>
        <p:spPr>
          <a:xfrm>
            <a:off x="3857508" y="2930124"/>
            <a:ext cx="226709" cy="22588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7" name="타원 46"/>
          <p:cNvSpPr/>
          <p:nvPr/>
        </p:nvSpPr>
        <p:spPr>
          <a:xfrm>
            <a:off x="6173932" y="2930124"/>
            <a:ext cx="226709" cy="22588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8" name="타원 47"/>
          <p:cNvSpPr/>
          <p:nvPr/>
        </p:nvSpPr>
        <p:spPr>
          <a:xfrm>
            <a:off x="6173932" y="3156006"/>
            <a:ext cx="226709" cy="22588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9" name="타원 48"/>
          <p:cNvSpPr/>
          <p:nvPr/>
        </p:nvSpPr>
        <p:spPr>
          <a:xfrm>
            <a:off x="6173932" y="3381888"/>
            <a:ext cx="226709" cy="22588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0" name="타원 49"/>
          <p:cNvSpPr/>
          <p:nvPr/>
        </p:nvSpPr>
        <p:spPr>
          <a:xfrm>
            <a:off x="9162702" y="2930124"/>
            <a:ext cx="226709" cy="22588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1" name="타원 50"/>
          <p:cNvSpPr/>
          <p:nvPr/>
        </p:nvSpPr>
        <p:spPr>
          <a:xfrm>
            <a:off x="9162702" y="3156006"/>
            <a:ext cx="226709" cy="22588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2" name="타원 51"/>
          <p:cNvSpPr/>
          <p:nvPr/>
        </p:nvSpPr>
        <p:spPr>
          <a:xfrm>
            <a:off x="9162702" y="3381888"/>
            <a:ext cx="226709" cy="22588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3" name="직사각형 52"/>
          <p:cNvSpPr/>
          <p:nvPr/>
        </p:nvSpPr>
        <p:spPr>
          <a:xfrm>
            <a:off x="317682" y="4189351"/>
            <a:ext cx="567267" cy="99056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심사대상</a:t>
            </a:r>
          </a:p>
        </p:txBody>
      </p:sp>
      <p:sp>
        <p:nvSpPr>
          <p:cNvPr id="54" name="순서도: 처리 53"/>
          <p:cNvSpPr/>
          <p:nvPr/>
        </p:nvSpPr>
        <p:spPr>
          <a:xfrm>
            <a:off x="4700265" y="3812416"/>
            <a:ext cx="830037" cy="251834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심사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Ⅱ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55" name="직선 화살표 연결선 54"/>
          <p:cNvCxnSpPr>
            <a:stCxn id="54" idx="0"/>
          </p:cNvCxnSpPr>
          <p:nvPr/>
        </p:nvCxnSpPr>
        <p:spPr>
          <a:xfrm flipV="1">
            <a:off x="5115284" y="2177289"/>
            <a:ext cx="0" cy="1635127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순서도: 처리 55"/>
          <p:cNvSpPr/>
          <p:nvPr/>
        </p:nvSpPr>
        <p:spPr>
          <a:xfrm>
            <a:off x="6975001" y="3812416"/>
            <a:ext cx="830037" cy="251834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심사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Ⅲ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57" name="직선 화살표 연결선 56"/>
          <p:cNvCxnSpPr>
            <a:stCxn id="56" idx="0"/>
          </p:cNvCxnSpPr>
          <p:nvPr/>
        </p:nvCxnSpPr>
        <p:spPr>
          <a:xfrm flipV="1">
            <a:off x="7390020" y="2177289"/>
            <a:ext cx="0" cy="1635127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순서도: 처리 57"/>
          <p:cNvSpPr/>
          <p:nvPr/>
        </p:nvSpPr>
        <p:spPr>
          <a:xfrm>
            <a:off x="9682050" y="3812416"/>
            <a:ext cx="830037" cy="251834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심사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Ⅳ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59" name="직선 화살표 연결선 58"/>
          <p:cNvCxnSpPr>
            <a:stCxn id="58" idx="0"/>
          </p:cNvCxnSpPr>
          <p:nvPr/>
        </p:nvCxnSpPr>
        <p:spPr>
          <a:xfrm flipV="1">
            <a:off x="10097069" y="2177289"/>
            <a:ext cx="0" cy="1635127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/>
          <p:cNvSpPr/>
          <p:nvPr/>
        </p:nvSpPr>
        <p:spPr>
          <a:xfrm>
            <a:off x="317682" y="5309090"/>
            <a:ext cx="567267" cy="99056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심사순서</a:t>
            </a:r>
          </a:p>
        </p:txBody>
      </p:sp>
      <p:cxnSp>
        <p:nvCxnSpPr>
          <p:cNvPr id="61" name="직선 연결선 60"/>
          <p:cNvCxnSpPr>
            <a:stCxn id="41" idx="2"/>
          </p:cNvCxnSpPr>
          <p:nvPr/>
        </p:nvCxnSpPr>
        <p:spPr>
          <a:xfrm flipH="1">
            <a:off x="2828387" y="4064250"/>
            <a:ext cx="2" cy="20619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 flipH="1">
            <a:off x="5122086" y="4064250"/>
            <a:ext cx="2" cy="20619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 flipH="1">
            <a:off x="7395072" y="4064250"/>
            <a:ext cx="2" cy="20619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 flipH="1">
            <a:off x="10092060" y="4064250"/>
            <a:ext cx="2" cy="20619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2564532" y="4285049"/>
            <a:ext cx="527710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/>
              <a:t>(0)(1)</a:t>
            </a:r>
            <a:endParaRPr lang="ko-KR" altLang="en-US" sz="1100" dirty="0"/>
          </a:p>
        </p:txBody>
      </p:sp>
      <p:sp>
        <p:nvSpPr>
          <p:cNvPr id="66" name="TextBox 65"/>
          <p:cNvSpPr txBox="1"/>
          <p:nvPr/>
        </p:nvSpPr>
        <p:spPr>
          <a:xfrm>
            <a:off x="4774135" y="4276582"/>
            <a:ext cx="699230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/>
              <a:t>(0)(1)(2)</a:t>
            </a:r>
            <a:endParaRPr lang="ko-KR" altLang="en-US" sz="1100" dirty="0"/>
          </a:p>
        </p:txBody>
      </p:sp>
      <p:sp>
        <p:nvSpPr>
          <p:cNvPr id="67" name="TextBox 66"/>
          <p:cNvSpPr txBox="1"/>
          <p:nvPr/>
        </p:nvSpPr>
        <p:spPr>
          <a:xfrm>
            <a:off x="6279918" y="4448170"/>
            <a:ext cx="774571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(3)</a:t>
            </a:r>
            <a:r>
              <a:rPr lang="ko-KR" altLang="en-US" sz="1100" dirty="0"/>
              <a:t> 적법성</a:t>
            </a:r>
            <a:endParaRPr lang="en-US" altLang="ko-KR" sz="1100" dirty="0"/>
          </a:p>
        </p:txBody>
      </p:sp>
      <p:sp>
        <p:nvSpPr>
          <p:cNvPr id="68" name="TextBox 67"/>
          <p:cNvSpPr txBox="1"/>
          <p:nvPr/>
        </p:nvSpPr>
        <p:spPr>
          <a:xfrm>
            <a:off x="7194201" y="4839855"/>
            <a:ext cx="1102203" cy="20934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ko-KR" sz="1000" dirty="0">
                <a:solidFill>
                  <a:schemeClr val="accent2"/>
                </a:solidFill>
              </a:rPr>
              <a:t>(3)</a:t>
            </a:r>
            <a:r>
              <a:rPr lang="ko-KR" altLang="en-US" sz="1000" dirty="0">
                <a:solidFill>
                  <a:schemeClr val="accent2"/>
                </a:solidFill>
              </a:rPr>
              <a:t>은 </a:t>
            </a:r>
            <a:r>
              <a:rPr lang="ko-KR" altLang="en-US" sz="1000" dirty="0" err="1">
                <a:solidFill>
                  <a:schemeClr val="accent2"/>
                </a:solidFill>
              </a:rPr>
              <a:t>보정각하</a:t>
            </a:r>
            <a:endParaRPr lang="ko-KR" altLang="en-US" sz="1000" dirty="0">
              <a:solidFill>
                <a:schemeClr val="accent2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843618" y="5380898"/>
            <a:ext cx="1967374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100" dirty="0">
                <a:solidFill>
                  <a:schemeClr val="bg1">
                    <a:lumMod val="75000"/>
                  </a:schemeClr>
                </a:solidFill>
              </a:rPr>
              <a:t>1. </a:t>
            </a:r>
            <a:r>
              <a:rPr lang="ko-KR" altLang="en-US" sz="1100" dirty="0" err="1">
                <a:solidFill>
                  <a:schemeClr val="bg1">
                    <a:lumMod val="75000"/>
                  </a:schemeClr>
                </a:solidFill>
              </a:rPr>
              <a:t>원거절이유의</a:t>
            </a:r>
            <a:r>
              <a:rPr lang="ko-KR" altLang="en-US" sz="1100" dirty="0">
                <a:solidFill>
                  <a:schemeClr val="bg1">
                    <a:lumMod val="75000"/>
                  </a:schemeClr>
                </a:solidFill>
              </a:rPr>
              <a:t> 해소여부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43618" y="5667909"/>
            <a:ext cx="1967372" cy="2616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2. </a:t>
            </a:r>
            <a:r>
              <a:rPr lang="ko-KR" altLang="en-US" sz="1100" dirty="0"/>
              <a:t>새로운 거절이유의 발견여부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843618" y="5966235"/>
            <a:ext cx="1973695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3. </a:t>
            </a:r>
            <a:r>
              <a:rPr lang="ko-KR" altLang="en-US" sz="1100" dirty="0"/>
              <a:t>새로운 거절이유의 발생시점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45784" y="5380898"/>
            <a:ext cx="1967374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100" dirty="0"/>
              <a:t>1. </a:t>
            </a:r>
            <a:r>
              <a:rPr lang="ko-KR" altLang="en-US" sz="1100" dirty="0" err="1"/>
              <a:t>원거절이유의</a:t>
            </a:r>
            <a:r>
              <a:rPr lang="ko-KR" altLang="en-US" sz="1100" dirty="0"/>
              <a:t> 해소여부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45784" y="5667909"/>
            <a:ext cx="1967372" cy="2616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2. </a:t>
            </a:r>
            <a:r>
              <a:rPr lang="ko-KR" altLang="en-US" sz="1100" dirty="0"/>
              <a:t>새로운 거절이유의 발견여부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45784" y="5966235"/>
            <a:ext cx="1973695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3. </a:t>
            </a:r>
            <a:r>
              <a:rPr lang="ko-KR" altLang="en-US" sz="1100" dirty="0"/>
              <a:t>새로운 거절이유의 발생시점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10303" y="5380898"/>
            <a:ext cx="1967374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100" dirty="0"/>
              <a:t>1. </a:t>
            </a:r>
            <a:r>
              <a:rPr lang="ko-KR" altLang="en-US" sz="1100" dirty="0" err="1"/>
              <a:t>원거절이유의</a:t>
            </a:r>
            <a:r>
              <a:rPr lang="ko-KR" altLang="en-US" sz="1100" dirty="0"/>
              <a:t> 해소여부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10303" y="5667909"/>
            <a:ext cx="1967372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2. </a:t>
            </a:r>
            <a:r>
              <a:rPr lang="ko-KR" altLang="en-US" sz="1100" dirty="0"/>
              <a:t>새로운 거절이유의 발견여부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10303" y="5966235"/>
            <a:ext cx="1973695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3. </a:t>
            </a:r>
            <a:r>
              <a:rPr lang="ko-KR" altLang="en-US" sz="1100" dirty="0"/>
              <a:t>새로운 거절이유의 발생시점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07291" y="5380898"/>
            <a:ext cx="1967374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100" dirty="0"/>
              <a:t>1. </a:t>
            </a:r>
            <a:r>
              <a:rPr lang="ko-KR" altLang="en-US" sz="1100" dirty="0" err="1"/>
              <a:t>원거절이유의</a:t>
            </a:r>
            <a:r>
              <a:rPr lang="ko-KR" altLang="en-US" sz="1100" dirty="0"/>
              <a:t> 해소여부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107291" y="5667909"/>
            <a:ext cx="1967372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2. </a:t>
            </a:r>
            <a:r>
              <a:rPr lang="ko-KR" altLang="en-US" sz="1100" dirty="0"/>
              <a:t>새로운 거절이유의 발견여부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07291" y="5966235"/>
            <a:ext cx="1973695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3. </a:t>
            </a:r>
            <a:r>
              <a:rPr lang="ko-KR" altLang="en-US" sz="1100" dirty="0"/>
              <a:t>새로운 거절이유의 발생시점</a:t>
            </a:r>
          </a:p>
        </p:txBody>
      </p:sp>
      <p:cxnSp>
        <p:nvCxnSpPr>
          <p:cNvPr id="81" name="꺾인 연결선 80"/>
          <p:cNvCxnSpPr>
            <a:stCxn id="23" idx="1"/>
            <a:endCxn id="70" idx="1"/>
          </p:cNvCxnSpPr>
          <p:nvPr/>
        </p:nvCxnSpPr>
        <p:spPr>
          <a:xfrm rot="10800000" flipH="1" flipV="1">
            <a:off x="1773758" y="2628056"/>
            <a:ext cx="69859" cy="3170657"/>
          </a:xfrm>
          <a:prstGeom prst="bentConnector3">
            <a:avLst>
              <a:gd name="adj1" fmla="val -327231"/>
            </a:avLst>
          </a:prstGeom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자유형 81"/>
          <p:cNvSpPr/>
          <p:nvPr/>
        </p:nvSpPr>
        <p:spPr>
          <a:xfrm>
            <a:off x="3399536" y="2624669"/>
            <a:ext cx="745067" cy="3174044"/>
          </a:xfrm>
          <a:custGeom>
            <a:avLst/>
            <a:gdLst>
              <a:gd name="connsiteX0" fmla="*/ 135467 w 745067"/>
              <a:gd name="connsiteY0" fmla="*/ 0 h 3064933"/>
              <a:gd name="connsiteX1" fmla="*/ 0 w 745067"/>
              <a:gd name="connsiteY1" fmla="*/ 0 h 3064933"/>
              <a:gd name="connsiteX2" fmla="*/ 0 w 745067"/>
              <a:gd name="connsiteY2" fmla="*/ 2133600 h 3064933"/>
              <a:gd name="connsiteX3" fmla="*/ 592667 w 745067"/>
              <a:gd name="connsiteY3" fmla="*/ 2133600 h 3064933"/>
              <a:gd name="connsiteX4" fmla="*/ 592667 w 745067"/>
              <a:gd name="connsiteY4" fmla="*/ 3064933 h 3064933"/>
              <a:gd name="connsiteX5" fmla="*/ 745067 w 745067"/>
              <a:gd name="connsiteY5" fmla="*/ 3064933 h 3064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5067" h="3064933">
                <a:moveTo>
                  <a:pt x="135467" y="0"/>
                </a:moveTo>
                <a:lnTo>
                  <a:pt x="0" y="0"/>
                </a:lnTo>
                <a:lnTo>
                  <a:pt x="0" y="2133600"/>
                </a:lnTo>
                <a:lnTo>
                  <a:pt x="592667" y="2133600"/>
                </a:lnTo>
                <a:lnTo>
                  <a:pt x="592667" y="3064933"/>
                </a:lnTo>
                <a:lnTo>
                  <a:pt x="745067" y="3064933"/>
                </a:lnTo>
              </a:path>
            </a:pathLst>
          </a:custGeom>
          <a:ln w="28575">
            <a:solidFill>
              <a:schemeClr val="tx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TextBox 82"/>
          <p:cNvSpPr txBox="1"/>
          <p:nvPr/>
        </p:nvSpPr>
        <p:spPr>
          <a:xfrm>
            <a:off x="7237813" y="4276342"/>
            <a:ext cx="870751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(0)(1)(2)(3)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37812" y="4588269"/>
            <a:ext cx="870751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(0)(1)(2)</a:t>
            </a:r>
          </a:p>
        </p:txBody>
      </p:sp>
      <p:cxnSp>
        <p:nvCxnSpPr>
          <p:cNvPr id="85" name="꺾인 연결선 84"/>
          <p:cNvCxnSpPr>
            <a:stCxn id="67" idx="3"/>
            <a:endCxn id="83" idx="1"/>
          </p:cNvCxnSpPr>
          <p:nvPr/>
        </p:nvCxnSpPr>
        <p:spPr>
          <a:xfrm flipV="1">
            <a:off x="7054489" y="4407147"/>
            <a:ext cx="183324" cy="17182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꺾인 연결선 85"/>
          <p:cNvCxnSpPr>
            <a:stCxn id="67" idx="3"/>
            <a:endCxn id="84" idx="1"/>
          </p:cNvCxnSpPr>
          <p:nvPr/>
        </p:nvCxnSpPr>
        <p:spPr>
          <a:xfrm>
            <a:off x="7054489" y="4578975"/>
            <a:ext cx="183323" cy="14009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직사각형 86"/>
          <p:cNvSpPr/>
          <p:nvPr/>
        </p:nvSpPr>
        <p:spPr>
          <a:xfrm>
            <a:off x="6937705" y="4198051"/>
            <a:ext cx="3369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kern="0" spc="-50" dirty="0"/>
              <a:t>Yes</a:t>
            </a:r>
            <a:endParaRPr lang="ko-KR" altLang="en-US" sz="800" dirty="0"/>
          </a:p>
        </p:txBody>
      </p:sp>
      <p:sp>
        <p:nvSpPr>
          <p:cNvPr id="88" name="직사각형 87"/>
          <p:cNvSpPr/>
          <p:nvPr/>
        </p:nvSpPr>
        <p:spPr>
          <a:xfrm>
            <a:off x="6937705" y="4732133"/>
            <a:ext cx="30809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kern="0" spc="-50" dirty="0"/>
              <a:t>No</a:t>
            </a:r>
            <a:endParaRPr lang="ko-KR" altLang="en-US" sz="800" dirty="0"/>
          </a:p>
        </p:txBody>
      </p:sp>
      <p:sp>
        <p:nvSpPr>
          <p:cNvPr id="89" name="TextBox 88"/>
          <p:cNvSpPr txBox="1"/>
          <p:nvPr/>
        </p:nvSpPr>
        <p:spPr>
          <a:xfrm>
            <a:off x="9100512" y="4448170"/>
            <a:ext cx="774571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(4)</a:t>
            </a:r>
            <a:r>
              <a:rPr lang="ko-KR" altLang="en-US" sz="1100" dirty="0"/>
              <a:t> 적법성</a:t>
            </a:r>
            <a:endParaRPr lang="en-US" altLang="ko-KR" sz="1100" dirty="0"/>
          </a:p>
        </p:txBody>
      </p:sp>
      <p:sp>
        <p:nvSpPr>
          <p:cNvPr id="90" name="TextBox 89"/>
          <p:cNvSpPr txBox="1"/>
          <p:nvPr/>
        </p:nvSpPr>
        <p:spPr>
          <a:xfrm>
            <a:off x="10014795" y="4839855"/>
            <a:ext cx="1102203" cy="20934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ko-KR" sz="1000" dirty="0">
                <a:solidFill>
                  <a:schemeClr val="accent2"/>
                </a:solidFill>
              </a:rPr>
              <a:t>(4)</a:t>
            </a:r>
            <a:r>
              <a:rPr lang="ko-KR" altLang="en-US" sz="1000" dirty="0">
                <a:solidFill>
                  <a:schemeClr val="accent2"/>
                </a:solidFill>
              </a:rPr>
              <a:t>는 </a:t>
            </a:r>
            <a:r>
              <a:rPr lang="ko-KR" altLang="en-US" sz="1000" dirty="0" err="1">
                <a:solidFill>
                  <a:schemeClr val="accent2"/>
                </a:solidFill>
              </a:rPr>
              <a:t>보정각하</a:t>
            </a:r>
            <a:endParaRPr lang="ko-KR" altLang="en-US" sz="1000" dirty="0">
              <a:solidFill>
                <a:schemeClr val="accent2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0058407" y="4276342"/>
            <a:ext cx="1042273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(0)(1)(2)</a:t>
            </a:r>
            <a:r>
              <a:rPr lang="en-US" altLang="ko-KR" sz="11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(3)</a:t>
            </a:r>
            <a:r>
              <a:rPr lang="en-US" altLang="ko-KR" sz="1100" dirty="0"/>
              <a:t>(4)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058406" y="4588269"/>
            <a:ext cx="1042274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(0)(1)(2)</a:t>
            </a:r>
            <a:r>
              <a:rPr lang="en-US" altLang="ko-KR" sz="11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(3)</a:t>
            </a:r>
          </a:p>
        </p:txBody>
      </p:sp>
      <p:cxnSp>
        <p:nvCxnSpPr>
          <p:cNvPr id="93" name="꺾인 연결선 92"/>
          <p:cNvCxnSpPr>
            <a:stCxn id="89" idx="3"/>
            <a:endCxn id="91" idx="1"/>
          </p:cNvCxnSpPr>
          <p:nvPr/>
        </p:nvCxnSpPr>
        <p:spPr>
          <a:xfrm flipV="1">
            <a:off x="9875083" y="4407147"/>
            <a:ext cx="183324" cy="17182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꺾인 연결선 93"/>
          <p:cNvCxnSpPr>
            <a:stCxn id="89" idx="3"/>
            <a:endCxn id="92" idx="1"/>
          </p:cNvCxnSpPr>
          <p:nvPr/>
        </p:nvCxnSpPr>
        <p:spPr>
          <a:xfrm>
            <a:off x="9875083" y="4578975"/>
            <a:ext cx="183323" cy="14009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/>
          <p:cNvSpPr/>
          <p:nvPr/>
        </p:nvSpPr>
        <p:spPr>
          <a:xfrm>
            <a:off x="9758299" y="4198051"/>
            <a:ext cx="3369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kern="0" spc="-50" dirty="0"/>
              <a:t>Yes</a:t>
            </a:r>
            <a:endParaRPr lang="ko-KR" altLang="en-US" sz="800" dirty="0"/>
          </a:p>
        </p:txBody>
      </p:sp>
      <p:sp>
        <p:nvSpPr>
          <p:cNvPr id="96" name="직사각형 95"/>
          <p:cNvSpPr/>
          <p:nvPr/>
        </p:nvSpPr>
        <p:spPr>
          <a:xfrm>
            <a:off x="9758299" y="4732133"/>
            <a:ext cx="30809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kern="0" spc="-50" dirty="0"/>
              <a:t>No</a:t>
            </a:r>
            <a:endParaRPr lang="ko-KR" altLang="en-US" sz="800" dirty="0"/>
          </a:p>
        </p:txBody>
      </p:sp>
      <p:cxnSp>
        <p:nvCxnSpPr>
          <p:cNvPr id="97" name="꺾인 연결선 96"/>
          <p:cNvCxnSpPr>
            <a:stCxn id="28" idx="1"/>
            <a:endCxn id="67" idx="1"/>
          </p:cNvCxnSpPr>
          <p:nvPr/>
        </p:nvCxnSpPr>
        <p:spPr>
          <a:xfrm rot="10800000" flipH="1" flipV="1">
            <a:off x="5864900" y="2628057"/>
            <a:ext cx="415018" cy="1950918"/>
          </a:xfrm>
          <a:prstGeom prst="bentConnector3">
            <a:avLst>
              <a:gd name="adj1" fmla="val -55082"/>
            </a:avLst>
          </a:prstGeom>
          <a:ln w="28575">
            <a:solidFill>
              <a:schemeClr val="accent6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꺾인 연결선 97"/>
          <p:cNvCxnSpPr>
            <a:stCxn id="30" idx="1"/>
            <a:endCxn id="89" idx="1"/>
          </p:cNvCxnSpPr>
          <p:nvPr/>
        </p:nvCxnSpPr>
        <p:spPr>
          <a:xfrm rot="10800000" flipH="1" flipV="1">
            <a:off x="8861038" y="2628057"/>
            <a:ext cx="239473" cy="1950918"/>
          </a:xfrm>
          <a:prstGeom prst="bentConnector3">
            <a:avLst>
              <a:gd name="adj1" fmla="val -95460"/>
            </a:avLst>
          </a:prstGeom>
          <a:ln w="28575">
            <a:solidFill>
              <a:schemeClr val="accent6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자유형 98"/>
          <p:cNvSpPr/>
          <p:nvPr/>
        </p:nvSpPr>
        <p:spPr>
          <a:xfrm>
            <a:off x="8530336" y="1498597"/>
            <a:ext cx="2091267" cy="660400"/>
          </a:xfrm>
          <a:custGeom>
            <a:avLst/>
            <a:gdLst>
              <a:gd name="connsiteX0" fmla="*/ 0 w 2091267"/>
              <a:gd name="connsiteY0" fmla="*/ 660400 h 660400"/>
              <a:gd name="connsiteX1" fmla="*/ 0 w 2091267"/>
              <a:gd name="connsiteY1" fmla="*/ 0 h 660400"/>
              <a:gd name="connsiteX2" fmla="*/ 2091267 w 2091267"/>
              <a:gd name="connsiteY2" fmla="*/ 0 h 660400"/>
              <a:gd name="connsiteX3" fmla="*/ 2091267 w 2091267"/>
              <a:gd name="connsiteY3" fmla="*/ 626533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1267" h="660400">
                <a:moveTo>
                  <a:pt x="0" y="660400"/>
                </a:moveTo>
                <a:lnTo>
                  <a:pt x="0" y="0"/>
                </a:lnTo>
                <a:lnTo>
                  <a:pt x="2091267" y="0"/>
                </a:lnTo>
                <a:lnTo>
                  <a:pt x="2091267" y="626533"/>
                </a:lnTo>
              </a:path>
            </a:pathLst>
          </a:cu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TextBox 99"/>
          <p:cNvSpPr txBox="1"/>
          <p:nvPr/>
        </p:nvSpPr>
        <p:spPr>
          <a:xfrm>
            <a:off x="8633892" y="1221598"/>
            <a:ext cx="20537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등본 송달일로부터 </a:t>
            </a:r>
            <a:r>
              <a:rPr lang="en-US" altLang="ko-KR" sz="1200" dirty="0"/>
              <a:t>3</a:t>
            </a:r>
            <a:r>
              <a:rPr lang="ko-KR" altLang="en-US" sz="1200" dirty="0"/>
              <a:t>개월 이내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0854" y="3707500"/>
            <a:ext cx="960519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거절이유 中 </a:t>
            </a:r>
            <a:endParaRPr lang="en-US" altLang="ko-KR" sz="1200" dirty="0"/>
          </a:p>
          <a:p>
            <a:pPr algn="ctr"/>
            <a:r>
              <a:rPr lang="ko-KR" altLang="en-US" sz="1200" dirty="0"/>
              <a:t>하나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355566" y="4402374"/>
            <a:ext cx="9605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거절이유 中 </a:t>
            </a:r>
            <a:endParaRPr lang="en-US" altLang="ko-KR" sz="1200" dirty="0"/>
          </a:p>
          <a:p>
            <a:pPr algn="ctr"/>
            <a:r>
              <a:rPr lang="ko-KR" altLang="en-US" sz="1200" dirty="0"/>
              <a:t>하나</a:t>
            </a:r>
          </a:p>
        </p:txBody>
      </p:sp>
      <p:sp>
        <p:nvSpPr>
          <p:cNvPr id="26" name="TextBox 25"/>
          <p:cNvSpPr txBox="1"/>
          <p:nvPr/>
        </p:nvSpPr>
        <p:spPr>
          <a:xfrm flipH="1">
            <a:off x="1932483" y="4675834"/>
            <a:ext cx="902309" cy="289441"/>
          </a:xfrm>
          <a:prstGeom prst="wedgeRoundRectCallout">
            <a:avLst>
              <a:gd name="adj1" fmla="val -25905"/>
              <a:gd name="adj2" fmla="val -102224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보정 후 명도</a:t>
            </a:r>
          </a:p>
        </p:txBody>
      </p:sp>
      <p:sp>
        <p:nvSpPr>
          <p:cNvPr id="102" name="TextBox 101"/>
          <p:cNvSpPr txBox="1"/>
          <p:nvPr/>
        </p:nvSpPr>
        <p:spPr>
          <a:xfrm flipH="1">
            <a:off x="8142658" y="4960379"/>
            <a:ext cx="924466" cy="289441"/>
          </a:xfrm>
          <a:prstGeom prst="wedgeRoundRectCallout">
            <a:avLst>
              <a:gd name="adj1" fmla="val 55655"/>
              <a:gd name="adj2" fmla="val -95642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보정 전 명도</a:t>
            </a:r>
          </a:p>
        </p:txBody>
      </p:sp>
      <p:sp>
        <p:nvSpPr>
          <p:cNvPr id="103" name="TextBox 102"/>
          <p:cNvSpPr txBox="1"/>
          <p:nvPr/>
        </p:nvSpPr>
        <p:spPr>
          <a:xfrm flipH="1">
            <a:off x="10778880" y="3779809"/>
            <a:ext cx="948681" cy="289441"/>
          </a:xfrm>
          <a:prstGeom prst="wedgeRoundRectCallout">
            <a:avLst>
              <a:gd name="adj1" fmla="val 31099"/>
              <a:gd name="adj2" fmla="val 121552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보정 후 명도</a:t>
            </a:r>
          </a:p>
        </p:txBody>
      </p:sp>
      <p:sp>
        <p:nvSpPr>
          <p:cNvPr id="104" name="TextBox 103"/>
          <p:cNvSpPr txBox="1"/>
          <p:nvPr/>
        </p:nvSpPr>
        <p:spPr>
          <a:xfrm flipH="1">
            <a:off x="11001563" y="4960379"/>
            <a:ext cx="893919" cy="289441"/>
          </a:xfrm>
          <a:prstGeom prst="wedgeRoundRectCallout">
            <a:avLst>
              <a:gd name="adj1" fmla="val 50327"/>
              <a:gd name="adj2" fmla="val -85770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보정 전 명도</a:t>
            </a:r>
          </a:p>
        </p:txBody>
      </p:sp>
      <p:sp>
        <p:nvSpPr>
          <p:cNvPr id="105" name="TextBox 104"/>
          <p:cNvSpPr txBox="1"/>
          <p:nvPr/>
        </p:nvSpPr>
        <p:spPr>
          <a:xfrm flipH="1">
            <a:off x="4199492" y="4675834"/>
            <a:ext cx="902309" cy="289441"/>
          </a:xfrm>
          <a:prstGeom prst="wedgeRoundRectCallout">
            <a:avLst>
              <a:gd name="adj1" fmla="val -25905"/>
              <a:gd name="adj2" fmla="val -102224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보정 후 명도</a:t>
            </a:r>
          </a:p>
        </p:txBody>
      </p:sp>
      <p:sp>
        <p:nvSpPr>
          <p:cNvPr id="106" name="TextBox 105"/>
          <p:cNvSpPr txBox="1"/>
          <p:nvPr/>
        </p:nvSpPr>
        <p:spPr>
          <a:xfrm flipH="1">
            <a:off x="7866555" y="3779809"/>
            <a:ext cx="948681" cy="289441"/>
          </a:xfrm>
          <a:prstGeom prst="wedgeRoundRectCallout">
            <a:avLst>
              <a:gd name="adj1" fmla="val 31099"/>
              <a:gd name="adj2" fmla="val 121552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보정 후 명도</a:t>
            </a:r>
          </a:p>
        </p:txBody>
      </p:sp>
      <p:sp>
        <p:nvSpPr>
          <p:cNvPr id="107" name="슬라이드 번호 개체 틀 10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1143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실체보정에 대한 심사진행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168</a:t>
            </a:fld>
            <a:endParaRPr lang="ko-KR" altLang="en-US"/>
          </a:p>
        </p:txBody>
      </p:sp>
      <p:sp>
        <p:nvSpPr>
          <p:cNvPr id="6" name="다이아몬드 5">
            <a:extLst>
              <a:ext uri="{FF2B5EF4-FFF2-40B4-BE49-F238E27FC236}">
                <a16:creationId xmlns:a16="http://schemas.microsoft.com/office/drawing/2014/main" id="{D1037DC4-DF02-469C-AFC1-DEFF9579CBA3}"/>
              </a:ext>
            </a:extLst>
          </p:cNvPr>
          <p:cNvSpPr/>
          <p:nvPr/>
        </p:nvSpPr>
        <p:spPr>
          <a:xfrm>
            <a:off x="2944173" y="1436914"/>
            <a:ext cx="2823587" cy="1024932"/>
          </a:xfrm>
          <a:prstGeom prst="diamond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dirty="0" err="1">
                <a:solidFill>
                  <a:schemeClr val="bg1">
                    <a:lumMod val="50000"/>
                  </a:schemeClr>
                </a:solidFill>
              </a:rPr>
              <a:t>원거절이유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해소</a:t>
            </a:r>
          </a:p>
        </p:txBody>
      </p:sp>
      <p:sp>
        <p:nvSpPr>
          <p:cNvPr id="35" name="다이아몬드 34">
            <a:extLst>
              <a:ext uri="{FF2B5EF4-FFF2-40B4-BE49-F238E27FC236}">
                <a16:creationId xmlns:a16="http://schemas.microsoft.com/office/drawing/2014/main" id="{A41A1D3E-7198-4FFA-9ADB-651A240D1F13}"/>
              </a:ext>
            </a:extLst>
          </p:cNvPr>
          <p:cNvSpPr/>
          <p:nvPr/>
        </p:nvSpPr>
        <p:spPr>
          <a:xfrm>
            <a:off x="2944173" y="2834029"/>
            <a:ext cx="2823587" cy="1024932"/>
          </a:xfrm>
          <a:prstGeom prst="diamond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새로운 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거절이유 발견</a:t>
            </a:r>
          </a:p>
        </p:txBody>
      </p:sp>
      <p:sp>
        <p:nvSpPr>
          <p:cNvPr id="36" name="다이아몬드 35">
            <a:extLst>
              <a:ext uri="{FF2B5EF4-FFF2-40B4-BE49-F238E27FC236}">
                <a16:creationId xmlns:a16="http://schemas.microsoft.com/office/drawing/2014/main" id="{D68DBB18-85A2-49C5-A0E3-D24F90F94FA7}"/>
              </a:ext>
            </a:extLst>
          </p:cNvPr>
          <p:cNvSpPr/>
          <p:nvPr/>
        </p:nvSpPr>
        <p:spPr>
          <a:xfrm>
            <a:off x="2944173" y="4250848"/>
            <a:ext cx="2823587" cy="1024932"/>
          </a:xfrm>
          <a:prstGeom prst="diamond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dirty="0">
                <a:solidFill>
                  <a:schemeClr val="bg1">
                    <a:lumMod val="95000"/>
                  </a:schemeClr>
                </a:solidFill>
              </a:rPr>
              <a:t>거절이유</a:t>
            </a:r>
            <a:endParaRPr lang="en-US" altLang="ko-KR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ko-KR" altLang="en-US" dirty="0">
                <a:solidFill>
                  <a:schemeClr val="bg1">
                    <a:lumMod val="95000"/>
                  </a:schemeClr>
                </a:solidFill>
              </a:rPr>
              <a:t>발생시점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C19DBB-103E-4B33-BE8A-DFC9B1F1B99A}"/>
              </a:ext>
            </a:extLst>
          </p:cNvPr>
          <p:cNvSpPr txBox="1"/>
          <p:nvPr/>
        </p:nvSpPr>
        <p:spPr>
          <a:xfrm>
            <a:off x="6983611" y="1764714"/>
            <a:ext cx="1959428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거절결정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111540D9-93FB-4622-959D-A5D2998E5FFC}"/>
              </a:ext>
            </a:extLst>
          </p:cNvPr>
          <p:cNvCxnSpPr>
            <a:stCxn id="6" idx="2"/>
            <a:endCxn id="35" idx="0"/>
          </p:cNvCxnSpPr>
          <p:nvPr/>
        </p:nvCxnSpPr>
        <p:spPr>
          <a:xfrm>
            <a:off x="4355967" y="2461846"/>
            <a:ext cx="0" cy="37218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09E6AB9-AD63-40CA-9E7B-E7E64EC1370D}"/>
              </a:ext>
            </a:extLst>
          </p:cNvPr>
          <p:cNvCxnSpPr>
            <a:stCxn id="35" idx="2"/>
            <a:endCxn id="36" idx="0"/>
          </p:cNvCxnSpPr>
          <p:nvPr/>
        </p:nvCxnSpPr>
        <p:spPr>
          <a:xfrm>
            <a:off x="4355967" y="3858961"/>
            <a:ext cx="0" cy="39188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9BD92EB-2973-4785-A026-0B882571C437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767760" y="1949380"/>
            <a:ext cx="1215851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64BDC69-FE54-4B9B-A578-77552519923A}"/>
              </a:ext>
            </a:extLst>
          </p:cNvPr>
          <p:cNvSpPr txBox="1"/>
          <p:nvPr/>
        </p:nvSpPr>
        <p:spPr>
          <a:xfrm>
            <a:off x="6983611" y="3161829"/>
            <a:ext cx="1959428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특허결정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ADBDDF1-7D89-4DF5-800B-1F61291F7D8F}"/>
              </a:ext>
            </a:extLst>
          </p:cNvPr>
          <p:cNvCxnSpPr>
            <a:stCxn id="35" idx="3"/>
            <a:endCxn id="45" idx="1"/>
          </p:cNvCxnSpPr>
          <p:nvPr/>
        </p:nvCxnSpPr>
        <p:spPr>
          <a:xfrm>
            <a:off x="5767760" y="3346495"/>
            <a:ext cx="1215851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B0DA8FB-A976-4072-8FC6-EDFD63E1E27B}"/>
              </a:ext>
            </a:extLst>
          </p:cNvPr>
          <p:cNvSpPr txBox="1"/>
          <p:nvPr/>
        </p:nvSpPr>
        <p:spPr>
          <a:xfrm>
            <a:off x="6983611" y="4578648"/>
            <a:ext cx="1959428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최초거절이유통지</a:t>
            </a:r>
            <a:endParaRPr lang="ko-KR" altLang="en-US" dirty="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5C1C86C2-9C5F-4D1E-B721-12E373DB695A}"/>
              </a:ext>
            </a:extLst>
          </p:cNvPr>
          <p:cNvCxnSpPr>
            <a:stCxn id="36" idx="3"/>
            <a:endCxn id="49" idx="1"/>
          </p:cNvCxnSpPr>
          <p:nvPr/>
        </p:nvCxnSpPr>
        <p:spPr>
          <a:xfrm>
            <a:off x="5767760" y="4763314"/>
            <a:ext cx="1215851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1333C313-92D1-48E0-89BD-EA7D872BAB73}"/>
              </a:ext>
            </a:extLst>
          </p:cNvPr>
          <p:cNvSpPr txBox="1"/>
          <p:nvPr/>
        </p:nvSpPr>
        <p:spPr>
          <a:xfrm>
            <a:off x="6983611" y="5611569"/>
            <a:ext cx="1959428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최후거절이유통지</a:t>
            </a:r>
            <a:endParaRPr lang="ko-KR" altLang="en-US" dirty="0"/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CF8A1DC6-0CE6-4A9E-8ED8-CDB9F0A37972}"/>
              </a:ext>
            </a:extLst>
          </p:cNvPr>
          <p:cNvCxnSpPr>
            <a:cxnSpLocks/>
            <a:stCxn id="36" idx="2"/>
            <a:endCxn id="53" idx="1"/>
          </p:cNvCxnSpPr>
          <p:nvPr/>
        </p:nvCxnSpPr>
        <p:spPr>
          <a:xfrm rot="16200000" flipH="1">
            <a:off x="5409562" y="4222185"/>
            <a:ext cx="520455" cy="2627644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6B41E47-D4C8-4F6F-9F82-8DB522569002}"/>
              </a:ext>
            </a:extLst>
          </p:cNvPr>
          <p:cNvSpPr txBox="1"/>
          <p:nvPr/>
        </p:nvSpPr>
        <p:spPr>
          <a:xfrm>
            <a:off x="5767760" y="1641603"/>
            <a:ext cx="670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아니오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B22E7AB-5E42-48FF-9B54-C635D60E870B}"/>
              </a:ext>
            </a:extLst>
          </p:cNvPr>
          <p:cNvSpPr txBox="1"/>
          <p:nvPr/>
        </p:nvSpPr>
        <p:spPr>
          <a:xfrm>
            <a:off x="5767760" y="3038717"/>
            <a:ext cx="670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아니오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F7459B6-CA02-4784-B202-41E92053A961}"/>
              </a:ext>
            </a:extLst>
          </p:cNvPr>
          <p:cNvSpPr txBox="1"/>
          <p:nvPr/>
        </p:nvSpPr>
        <p:spPr>
          <a:xfrm>
            <a:off x="4363654" y="2461774"/>
            <a:ext cx="346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예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589E269-DE21-4B68-B6E0-A4D7CEA73605}"/>
              </a:ext>
            </a:extLst>
          </p:cNvPr>
          <p:cNvSpPr txBox="1"/>
          <p:nvPr/>
        </p:nvSpPr>
        <p:spPr>
          <a:xfrm>
            <a:off x="4363654" y="3861215"/>
            <a:ext cx="346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예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EBF3219-4571-4243-9085-81182B06727B}"/>
              </a:ext>
            </a:extLst>
          </p:cNvPr>
          <p:cNvSpPr txBox="1"/>
          <p:nvPr/>
        </p:nvSpPr>
        <p:spPr>
          <a:xfrm>
            <a:off x="5569081" y="4174697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거절이유통지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 전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원시적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 발생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4C0B4FE-4228-471A-9A21-78939B33CD26}"/>
              </a:ext>
            </a:extLst>
          </p:cNvPr>
          <p:cNvSpPr txBox="1"/>
          <p:nvPr/>
        </p:nvSpPr>
        <p:spPr>
          <a:xfrm>
            <a:off x="4361927" y="5812533"/>
            <a:ext cx="2226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</a:rPr>
              <a:t>최초거절이유통지에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 대응한 </a:t>
            </a:r>
            <a:endParaRPr lang="en-US" altLang="ko-KR" sz="1400" dirty="0">
              <a:solidFill>
                <a:schemeClr val="accent3">
                  <a:lumMod val="5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보정 의하여 발생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269F895-75AE-4B63-B70F-A4E8A04D683B}"/>
              </a:ext>
            </a:extLst>
          </p:cNvPr>
          <p:cNvSpPr/>
          <p:nvPr/>
        </p:nvSpPr>
        <p:spPr>
          <a:xfrm>
            <a:off x="2803495" y="1366576"/>
            <a:ext cx="3054699" cy="2566486"/>
          </a:xfrm>
          <a:custGeom>
            <a:avLst/>
            <a:gdLst>
              <a:gd name="csX0" fmla="*/ 0 w 3054699"/>
              <a:gd name="csY0" fmla="*/ 427756 h 2566486"/>
              <a:gd name="csX1" fmla="*/ 427756 w 3054699"/>
              <a:gd name="csY1" fmla="*/ 0 h 2566486"/>
              <a:gd name="csX2" fmla="*/ 933569 w 3054699"/>
              <a:gd name="csY2" fmla="*/ 0 h 2566486"/>
              <a:gd name="csX3" fmla="*/ 1527350 w 3054699"/>
              <a:gd name="csY3" fmla="*/ 0 h 2566486"/>
              <a:gd name="csX4" fmla="*/ 2077146 w 3054699"/>
              <a:gd name="csY4" fmla="*/ 0 h 2566486"/>
              <a:gd name="csX5" fmla="*/ 2626943 w 3054699"/>
              <a:gd name="csY5" fmla="*/ 0 h 2566486"/>
              <a:gd name="csX6" fmla="*/ 3054699 w 3054699"/>
              <a:gd name="csY6" fmla="*/ 427756 h 2566486"/>
              <a:gd name="csX7" fmla="*/ 3054699 w 3054699"/>
              <a:gd name="csY7" fmla="*/ 980971 h 2566486"/>
              <a:gd name="csX8" fmla="*/ 3054699 w 3054699"/>
              <a:gd name="csY8" fmla="*/ 1534186 h 2566486"/>
              <a:gd name="csX9" fmla="*/ 3054699 w 3054699"/>
              <a:gd name="csY9" fmla="*/ 2138730 h 2566486"/>
              <a:gd name="csX10" fmla="*/ 2626943 w 3054699"/>
              <a:gd name="csY10" fmla="*/ 2566486 h 2566486"/>
              <a:gd name="csX11" fmla="*/ 2055154 w 3054699"/>
              <a:gd name="csY11" fmla="*/ 2566486 h 2566486"/>
              <a:gd name="csX12" fmla="*/ 1571333 w 3054699"/>
              <a:gd name="csY12" fmla="*/ 2566486 h 2566486"/>
              <a:gd name="csX13" fmla="*/ 1065520 w 3054699"/>
              <a:gd name="csY13" fmla="*/ 2566486 h 2566486"/>
              <a:gd name="csX14" fmla="*/ 427756 w 3054699"/>
              <a:gd name="csY14" fmla="*/ 2566486 h 2566486"/>
              <a:gd name="csX15" fmla="*/ 0 w 3054699"/>
              <a:gd name="csY15" fmla="*/ 2138730 h 2566486"/>
              <a:gd name="csX16" fmla="*/ 0 w 3054699"/>
              <a:gd name="csY16" fmla="*/ 1602625 h 2566486"/>
              <a:gd name="csX17" fmla="*/ 0 w 3054699"/>
              <a:gd name="csY17" fmla="*/ 1049410 h 2566486"/>
              <a:gd name="csX18" fmla="*/ 0 w 3054699"/>
              <a:gd name="csY18" fmla="*/ 427756 h 25664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054699" h="2566486" extrusionOk="0">
                <a:moveTo>
                  <a:pt x="0" y="427756"/>
                </a:moveTo>
                <a:cubicBezTo>
                  <a:pt x="-37137" y="218958"/>
                  <a:pt x="173334" y="-27061"/>
                  <a:pt x="427756" y="0"/>
                </a:cubicBezTo>
                <a:cubicBezTo>
                  <a:pt x="599764" y="-19710"/>
                  <a:pt x="812048" y="9387"/>
                  <a:pt x="933569" y="0"/>
                </a:cubicBezTo>
                <a:cubicBezTo>
                  <a:pt x="1055090" y="-9387"/>
                  <a:pt x="1248246" y="41758"/>
                  <a:pt x="1527350" y="0"/>
                </a:cubicBezTo>
                <a:cubicBezTo>
                  <a:pt x="1806454" y="-41758"/>
                  <a:pt x="1819944" y="19603"/>
                  <a:pt x="2077146" y="0"/>
                </a:cubicBezTo>
                <a:cubicBezTo>
                  <a:pt x="2334348" y="-19603"/>
                  <a:pt x="2421055" y="38813"/>
                  <a:pt x="2626943" y="0"/>
                </a:cubicBezTo>
                <a:cubicBezTo>
                  <a:pt x="2895124" y="36088"/>
                  <a:pt x="3050275" y="169270"/>
                  <a:pt x="3054699" y="427756"/>
                </a:cubicBezTo>
                <a:cubicBezTo>
                  <a:pt x="3068484" y="652927"/>
                  <a:pt x="3045711" y="705062"/>
                  <a:pt x="3054699" y="980971"/>
                </a:cubicBezTo>
                <a:cubicBezTo>
                  <a:pt x="3063687" y="1256881"/>
                  <a:pt x="3010144" y="1421064"/>
                  <a:pt x="3054699" y="1534186"/>
                </a:cubicBezTo>
                <a:cubicBezTo>
                  <a:pt x="3099254" y="1647309"/>
                  <a:pt x="3018934" y="1922372"/>
                  <a:pt x="3054699" y="2138730"/>
                </a:cubicBezTo>
                <a:cubicBezTo>
                  <a:pt x="3105559" y="2342565"/>
                  <a:pt x="2908767" y="2546305"/>
                  <a:pt x="2626943" y="2566486"/>
                </a:cubicBezTo>
                <a:cubicBezTo>
                  <a:pt x="2483705" y="2589043"/>
                  <a:pt x="2211501" y="2512527"/>
                  <a:pt x="2055154" y="2566486"/>
                </a:cubicBezTo>
                <a:cubicBezTo>
                  <a:pt x="1898807" y="2620445"/>
                  <a:pt x="1733231" y="2531537"/>
                  <a:pt x="1571333" y="2566486"/>
                </a:cubicBezTo>
                <a:cubicBezTo>
                  <a:pt x="1409435" y="2601435"/>
                  <a:pt x="1179577" y="2521276"/>
                  <a:pt x="1065520" y="2566486"/>
                </a:cubicBezTo>
                <a:cubicBezTo>
                  <a:pt x="951463" y="2611696"/>
                  <a:pt x="595166" y="2551698"/>
                  <a:pt x="427756" y="2566486"/>
                </a:cubicBezTo>
                <a:cubicBezTo>
                  <a:pt x="226181" y="2522402"/>
                  <a:pt x="3490" y="2322430"/>
                  <a:pt x="0" y="2138730"/>
                </a:cubicBezTo>
                <a:cubicBezTo>
                  <a:pt x="-28441" y="1969187"/>
                  <a:pt x="19102" y="1811439"/>
                  <a:pt x="0" y="1602625"/>
                </a:cubicBezTo>
                <a:cubicBezTo>
                  <a:pt x="-19102" y="1393811"/>
                  <a:pt x="41535" y="1241233"/>
                  <a:pt x="0" y="1049410"/>
                </a:cubicBezTo>
                <a:cubicBezTo>
                  <a:pt x="-41535" y="857587"/>
                  <a:pt x="7874" y="716732"/>
                  <a:pt x="0" y="427756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019188760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7E5BFBE-73DD-4A62-9505-7ABC57A578D9}"/>
              </a:ext>
            </a:extLst>
          </p:cNvPr>
          <p:cNvSpPr txBox="1"/>
          <p:nvPr/>
        </p:nvSpPr>
        <p:spPr>
          <a:xfrm>
            <a:off x="314403" y="1869166"/>
            <a:ext cx="1952779" cy="116955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심사관이 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모든 거절이유에 대하여 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ko-KR" altLang="en-US" sz="1400" dirty="0" err="1">
                <a:solidFill>
                  <a:schemeClr val="accent2">
                    <a:lumMod val="50000"/>
                  </a:schemeClr>
                </a:solidFill>
              </a:rPr>
              <a:t>거절이유통지한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 후 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거절결정해야 하는 것은 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아니다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.</a:t>
            </a:r>
            <a:endParaRPr lang="ko-KR" altLang="en-US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100B0B66-DF4D-46EB-8B7A-67ABB6723959}"/>
              </a:ext>
            </a:extLst>
          </p:cNvPr>
          <p:cNvCxnSpPr>
            <a:cxnSpLocks/>
            <a:stCxn id="64" idx="3"/>
            <a:endCxn id="25" idx="1"/>
          </p:cNvCxnSpPr>
          <p:nvPr/>
        </p:nvCxnSpPr>
        <p:spPr>
          <a:xfrm>
            <a:off x="2267182" y="2453942"/>
            <a:ext cx="536313" cy="19587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F99B7BC8-B6B9-44C1-A924-DC1E349A32BF}"/>
              </a:ext>
            </a:extLst>
          </p:cNvPr>
          <p:cNvSpPr/>
          <p:nvPr/>
        </p:nvSpPr>
        <p:spPr>
          <a:xfrm>
            <a:off x="6860078" y="4371032"/>
            <a:ext cx="2351310" cy="1798653"/>
          </a:xfrm>
          <a:custGeom>
            <a:avLst/>
            <a:gdLst>
              <a:gd name="csX0" fmla="*/ 0 w 2351310"/>
              <a:gd name="csY0" fmla="*/ 299781 h 1798653"/>
              <a:gd name="csX1" fmla="*/ 299781 w 2351310"/>
              <a:gd name="csY1" fmla="*/ 0 h 1798653"/>
              <a:gd name="csX2" fmla="*/ 848662 w 2351310"/>
              <a:gd name="csY2" fmla="*/ 0 h 1798653"/>
              <a:gd name="csX3" fmla="*/ 1467613 w 2351310"/>
              <a:gd name="csY3" fmla="*/ 0 h 1798653"/>
              <a:gd name="csX4" fmla="*/ 2051529 w 2351310"/>
              <a:gd name="csY4" fmla="*/ 0 h 1798653"/>
              <a:gd name="csX5" fmla="*/ 2351310 w 2351310"/>
              <a:gd name="csY5" fmla="*/ 299781 h 1798653"/>
              <a:gd name="csX6" fmla="*/ 2351310 w 2351310"/>
              <a:gd name="csY6" fmla="*/ 863354 h 1798653"/>
              <a:gd name="csX7" fmla="*/ 2351310 w 2351310"/>
              <a:gd name="csY7" fmla="*/ 1498872 h 1798653"/>
              <a:gd name="csX8" fmla="*/ 2051529 w 2351310"/>
              <a:gd name="csY8" fmla="*/ 1798653 h 1798653"/>
              <a:gd name="csX9" fmla="*/ 1432578 w 2351310"/>
              <a:gd name="csY9" fmla="*/ 1798653 h 1798653"/>
              <a:gd name="csX10" fmla="*/ 866180 w 2351310"/>
              <a:gd name="csY10" fmla="*/ 1798653 h 1798653"/>
              <a:gd name="csX11" fmla="*/ 299781 w 2351310"/>
              <a:gd name="csY11" fmla="*/ 1798653 h 1798653"/>
              <a:gd name="csX12" fmla="*/ 0 w 2351310"/>
              <a:gd name="csY12" fmla="*/ 1498872 h 1798653"/>
              <a:gd name="csX13" fmla="*/ 0 w 2351310"/>
              <a:gd name="csY13" fmla="*/ 887336 h 1798653"/>
              <a:gd name="csX14" fmla="*/ 0 w 2351310"/>
              <a:gd name="csY14" fmla="*/ 299781 h 17986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351310" h="1798653" extrusionOk="0">
                <a:moveTo>
                  <a:pt x="0" y="299781"/>
                </a:moveTo>
                <a:cubicBezTo>
                  <a:pt x="-24959" y="152662"/>
                  <a:pt x="111850" y="-33295"/>
                  <a:pt x="299781" y="0"/>
                </a:cubicBezTo>
                <a:cubicBezTo>
                  <a:pt x="570647" y="-52456"/>
                  <a:pt x="704856" y="54303"/>
                  <a:pt x="848662" y="0"/>
                </a:cubicBezTo>
                <a:cubicBezTo>
                  <a:pt x="992468" y="-54303"/>
                  <a:pt x="1194039" y="34118"/>
                  <a:pt x="1467613" y="0"/>
                </a:cubicBezTo>
                <a:cubicBezTo>
                  <a:pt x="1741187" y="-34118"/>
                  <a:pt x="1822566" y="12432"/>
                  <a:pt x="2051529" y="0"/>
                </a:cubicBezTo>
                <a:cubicBezTo>
                  <a:pt x="2210482" y="33143"/>
                  <a:pt x="2344753" y="132977"/>
                  <a:pt x="2351310" y="299781"/>
                </a:cubicBezTo>
                <a:cubicBezTo>
                  <a:pt x="2401164" y="499461"/>
                  <a:pt x="2330034" y="713885"/>
                  <a:pt x="2351310" y="863354"/>
                </a:cubicBezTo>
                <a:cubicBezTo>
                  <a:pt x="2372586" y="1012823"/>
                  <a:pt x="2329097" y="1241449"/>
                  <a:pt x="2351310" y="1498872"/>
                </a:cubicBezTo>
                <a:cubicBezTo>
                  <a:pt x="2338230" y="1679799"/>
                  <a:pt x="2235661" y="1819781"/>
                  <a:pt x="2051529" y="1798653"/>
                </a:cubicBezTo>
                <a:cubicBezTo>
                  <a:pt x="1878837" y="1845876"/>
                  <a:pt x="1729808" y="1757918"/>
                  <a:pt x="1432578" y="1798653"/>
                </a:cubicBezTo>
                <a:cubicBezTo>
                  <a:pt x="1135348" y="1839388"/>
                  <a:pt x="1064560" y="1769668"/>
                  <a:pt x="866180" y="1798653"/>
                </a:cubicBezTo>
                <a:cubicBezTo>
                  <a:pt x="667800" y="1827638"/>
                  <a:pt x="554220" y="1787488"/>
                  <a:pt x="299781" y="1798653"/>
                </a:cubicBezTo>
                <a:cubicBezTo>
                  <a:pt x="147159" y="1844691"/>
                  <a:pt x="37487" y="1635372"/>
                  <a:pt x="0" y="1498872"/>
                </a:cubicBezTo>
                <a:cubicBezTo>
                  <a:pt x="-52676" y="1344609"/>
                  <a:pt x="42390" y="1034527"/>
                  <a:pt x="0" y="887336"/>
                </a:cubicBezTo>
                <a:cubicBezTo>
                  <a:pt x="-42390" y="740145"/>
                  <a:pt x="46522" y="467827"/>
                  <a:pt x="0" y="299781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019188760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19458B9-CEC5-489F-B77D-CAFE3A3BA362}"/>
              </a:ext>
            </a:extLst>
          </p:cNvPr>
          <p:cNvSpPr txBox="1"/>
          <p:nvPr/>
        </p:nvSpPr>
        <p:spPr>
          <a:xfrm>
            <a:off x="9418174" y="4194747"/>
            <a:ext cx="2247731" cy="95410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둘 다 발견된 경우에는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출원인의 절차적 이익을 위해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ko-KR" altLang="en-US" sz="1400" dirty="0" err="1">
                <a:solidFill>
                  <a:schemeClr val="accent2">
                    <a:lumMod val="50000"/>
                  </a:schemeClr>
                </a:solidFill>
              </a:rPr>
              <a:t>최초거절이유통지를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한다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.</a:t>
            </a:r>
            <a:endParaRPr lang="ko-KR" altLang="en-US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4CC7FE59-A9CC-4FA6-82BE-4BBB5B521CFF}"/>
              </a:ext>
            </a:extLst>
          </p:cNvPr>
          <p:cNvCxnSpPr>
            <a:stCxn id="70" idx="1"/>
            <a:endCxn id="69" idx="3"/>
          </p:cNvCxnSpPr>
          <p:nvPr/>
        </p:nvCxnSpPr>
        <p:spPr>
          <a:xfrm flipH="1">
            <a:off x="9211388" y="4671801"/>
            <a:ext cx="206786" cy="59855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06977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실체보정에</a:t>
            </a:r>
            <a:r>
              <a:rPr lang="en-US" altLang="ko-KR" dirty="0"/>
              <a:t> </a:t>
            </a:r>
            <a:r>
              <a:rPr lang="ko-KR" altLang="en-US" dirty="0"/>
              <a:t>대한 심사의 진행</a:t>
            </a:r>
            <a:r>
              <a:rPr lang="en-US" altLang="ko-KR" dirty="0"/>
              <a:t> CASE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01" name="직선 화살표 연결선 100"/>
          <p:cNvCxnSpPr>
            <a:cxnSpLocks/>
            <a:stCxn id="102" idx="3"/>
          </p:cNvCxnSpPr>
          <p:nvPr/>
        </p:nvCxnSpPr>
        <p:spPr>
          <a:xfrm>
            <a:off x="1733549" y="1945247"/>
            <a:ext cx="10135163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/>
          <p:cNvSpPr/>
          <p:nvPr/>
        </p:nvSpPr>
        <p:spPr>
          <a:xfrm>
            <a:off x="966086" y="1692834"/>
            <a:ext cx="767463" cy="50482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출원</a:t>
            </a:r>
          </a:p>
        </p:txBody>
      </p:sp>
      <p:sp>
        <p:nvSpPr>
          <p:cNvPr id="105" name="직사각형 104"/>
          <p:cNvSpPr/>
          <p:nvPr/>
        </p:nvSpPr>
        <p:spPr>
          <a:xfrm>
            <a:off x="2622864" y="1364611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</a:p>
        </p:txBody>
      </p:sp>
      <p:cxnSp>
        <p:nvCxnSpPr>
          <p:cNvPr id="107" name="직선 화살표 연결선 106"/>
          <p:cNvCxnSpPr>
            <a:stCxn id="105" idx="2"/>
          </p:cNvCxnSpPr>
          <p:nvPr/>
        </p:nvCxnSpPr>
        <p:spPr>
          <a:xfrm>
            <a:off x="2945884" y="1617024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직사각형 109"/>
          <p:cNvSpPr/>
          <p:nvPr/>
        </p:nvSpPr>
        <p:spPr>
          <a:xfrm>
            <a:off x="3258798" y="1815474"/>
            <a:ext cx="646040" cy="252413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최초</a:t>
            </a:r>
          </a:p>
        </p:txBody>
      </p:sp>
      <p:sp>
        <p:nvSpPr>
          <p:cNvPr id="112" name="직사각형 111"/>
          <p:cNvSpPr/>
          <p:nvPr/>
        </p:nvSpPr>
        <p:spPr>
          <a:xfrm>
            <a:off x="10327254" y="1510674"/>
            <a:ext cx="1065208" cy="42455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보정각하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3791253" y="2364346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</a:p>
        </p:txBody>
      </p:sp>
      <p:cxnSp>
        <p:nvCxnSpPr>
          <p:cNvPr id="128" name="직선 화살표 연결선 127"/>
          <p:cNvCxnSpPr>
            <a:stCxn id="127" idx="0"/>
          </p:cNvCxnSpPr>
          <p:nvPr/>
        </p:nvCxnSpPr>
        <p:spPr>
          <a:xfrm flipH="1" flipV="1">
            <a:off x="4162987" y="1941681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직사각형 162"/>
          <p:cNvSpPr/>
          <p:nvPr/>
        </p:nvSpPr>
        <p:spPr>
          <a:xfrm>
            <a:off x="1800242" y="3143660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42③Ⅰ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966086" y="2828151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29①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cxnSp>
        <p:nvCxnSpPr>
          <p:cNvPr id="9" name="꺾인 연결선 8"/>
          <p:cNvCxnSpPr>
            <a:cxnSpLocks/>
            <a:stCxn id="25" idx="3"/>
            <a:endCxn id="110" idx="2"/>
          </p:cNvCxnSpPr>
          <p:nvPr/>
        </p:nvCxnSpPr>
        <p:spPr>
          <a:xfrm flipV="1">
            <a:off x="1733550" y="2067887"/>
            <a:ext cx="1848268" cy="886471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3791253" y="2828151"/>
            <a:ext cx="746998" cy="252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해소</a:t>
            </a:r>
            <a:r>
              <a:rPr lang="en-US" altLang="ko-KR" sz="1200" dirty="0">
                <a:solidFill>
                  <a:schemeClr val="tx1"/>
                </a:solidFill>
              </a:rPr>
              <a:t>*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3770787" y="3450693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29②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4037789" y="1364611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</a:p>
        </p:txBody>
      </p:sp>
      <p:cxnSp>
        <p:nvCxnSpPr>
          <p:cNvPr id="48" name="직선 화살표 연결선 47"/>
          <p:cNvCxnSpPr>
            <a:stCxn id="47" idx="2"/>
          </p:cNvCxnSpPr>
          <p:nvPr/>
        </p:nvCxnSpPr>
        <p:spPr>
          <a:xfrm>
            <a:off x="4360809" y="1617024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/>
          <p:cNvSpPr/>
          <p:nvPr/>
        </p:nvSpPr>
        <p:spPr>
          <a:xfrm>
            <a:off x="4549898" y="1815474"/>
            <a:ext cx="646040" cy="252413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최후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3770787" y="3769241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36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cxnSp>
        <p:nvCxnSpPr>
          <p:cNvPr id="23" name="꺾인 연결선 22"/>
          <p:cNvCxnSpPr>
            <a:stCxn id="32" idx="3"/>
            <a:endCxn id="49" idx="2"/>
          </p:cNvCxnSpPr>
          <p:nvPr/>
        </p:nvCxnSpPr>
        <p:spPr>
          <a:xfrm flipV="1">
            <a:off x="4538251" y="2067887"/>
            <a:ext cx="334667" cy="1509013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/>
          <p:cNvSpPr/>
          <p:nvPr/>
        </p:nvSpPr>
        <p:spPr>
          <a:xfrm>
            <a:off x="5009915" y="2364346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보정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55" name="직선 화살표 연결선 54"/>
          <p:cNvCxnSpPr>
            <a:stCxn id="54" idx="0"/>
          </p:cNvCxnSpPr>
          <p:nvPr/>
        </p:nvCxnSpPr>
        <p:spPr>
          <a:xfrm flipH="1" flipV="1">
            <a:off x="5381649" y="1941681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/>
          <p:cNvSpPr/>
          <p:nvPr/>
        </p:nvSpPr>
        <p:spPr>
          <a:xfrm>
            <a:off x="5256451" y="1364611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</a:p>
        </p:txBody>
      </p:sp>
      <p:cxnSp>
        <p:nvCxnSpPr>
          <p:cNvPr id="57" name="직선 화살표 연결선 56"/>
          <p:cNvCxnSpPr>
            <a:stCxn id="56" idx="2"/>
          </p:cNvCxnSpPr>
          <p:nvPr/>
        </p:nvCxnSpPr>
        <p:spPr>
          <a:xfrm>
            <a:off x="5579471" y="1617024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/>
          <p:cNvSpPr/>
          <p:nvPr/>
        </p:nvSpPr>
        <p:spPr>
          <a:xfrm>
            <a:off x="5091878" y="3446977"/>
            <a:ext cx="675069" cy="252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해소</a:t>
            </a:r>
            <a:r>
              <a:rPr lang="en-US" altLang="ko-KR" sz="1200" dirty="0">
                <a:solidFill>
                  <a:schemeClr val="tx1"/>
                </a:solidFill>
              </a:rPr>
              <a:t>*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5766947" y="1815474"/>
            <a:ext cx="646040" cy="252413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최후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6226964" y="2364346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보정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62" name="직선 화살표 연결선 61"/>
          <p:cNvCxnSpPr>
            <a:stCxn id="61" idx="0"/>
          </p:cNvCxnSpPr>
          <p:nvPr/>
        </p:nvCxnSpPr>
        <p:spPr>
          <a:xfrm flipH="1" flipV="1">
            <a:off x="6598698" y="1941681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/>
          <p:cNvSpPr/>
          <p:nvPr/>
        </p:nvSpPr>
        <p:spPr>
          <a:xfrm>
            <a:off x="6473500" y="1364611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</a:p>
        </p:txBody>
      </p:sp>
      <p:cxnSp>
        <p:nvCxnSpPr>
          <p:cNvPr id="64" name="직선 화살표 연결선 63"/>
          <p:cNvCxnSpPr>
            <a:stCxn id="63" idx="2"/>
          </p:cNvCxnSpPr>
          <p:nvPr/>
        </p:nvCxnSpPr>
        <p:spPr>
          <a:xfrm>
            <a:off x="6796520" y="1617024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 26"/>
          <p:cNvCxnSpPr>
            <a:stCxn id="51" idx="3"/>
            <a:endCxn id="60" idx="2"/>
          </p:cNvCxnSpPr>
          <p:nvPr/>
        </p:nvCxnSpPr>
        <p:spPr>
          <a:xfrm flipV="1">
            <a:off x="4538251" y="2067887"/>
            <a:ext cx="1551716" cy="1827561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/>
          <p:cNvSpPr/>
          <p:nvPr/>
        </p:nvSpPr>
        <p:spPr>
          <a:xfrm>
            <a:off x="6226965" y="3772372"/>
            <a:ext cx="746997" cy="252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해소</a:t>
            </a:r>
            <a:r>
              <a:rPr lang="en-US" altLang="ko-KR" sz="1200" dirty="0">
                <a:solidFill>
                  <a:schemeClr val="tx1"/>
                </a:solidFill>
              </a:rPr>
              <a:t>*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6983996" y="1815474"/>
            <a:ext cx="646040" cy="252413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최초</a:t>
            </a:r>
          </a:p>
        </p:txBody>
      </p:sp>
      <p:sp>
        <p:nvSpPr>
          <p:cNvPr id="70" name="직사각형 69"/>
          <p:cNvSpPr/>
          <p:nvPr/>
        </p:nvSpPr>
        <p:spPr>
          <a:xfrm>
            <a:off x="7444013" y="2364346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보정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71" name="직선 화살표 연결선 70"/>
          <p:cNvCxnSpPr>
            <a:stCxn id="70" idx="0"/>
          </p:cNvCxnSpPr>
          <p:nvPr/>
        </p:nvCxnSpPr>
        <p:spPr>
          <a:xfrm flipH="1" flipV="1">
            <a:off x="7815747" y="1941681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/>
          <p:cNvSpPr/>
          <p:nvPr/>
        </p:nvSpPr>
        <p:spPr>
          <a:xfrm>
            <a:off x="7690549" y="1364611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</a:p>
        </p:txBody>
      </p:sp>
      <p:cxnSp>
        <p:nvCxnSpPr>
          <p:cNvPr id="73" name="직선 화살표 연결선 72"/>
          <p:cNvCxnSpPr>
            <a:stCxn id="72" idx="2"/>
          </p:cNvCxnSpPr>
          <p:nvPr/>
        </p:nvCxnSpPr>
        <p:spPr>
          <a:xfrm>
            <a:off x="8013569" y="1617024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꺾인 연결선 30"/>
          <p:cNvCxnSpPr>
            <a:cxnSpLocks/>
            <a:stCxn id="163" idx="3"/>
            <a:endCxn id="69" idx="2"/>
          </p:cNvCxnSpPr>
          <p:nvPr/>
        </p:nvCxnSpPr>
        <p:spPr>
          <a:xfrm flipV="1">
            <a:off x="2567706" y="2067887"/>
            <a:ext cx="4739310" cy="1201980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/>
          <p:cNvSpPr/>
          <p:nvPr/>
        </p:nvSpPr>
        <p:spPr>
          <a:xfrm>
            <a:off x="7409797" y="3143659"/>
            <a:ext cx="781214" cy="252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해소</a:t>
            </a:r>
            <a:r>
              <a:rPr lang="en-US" altLang="ko-KR" sz="1200" dirty="0">
                <a:solidFill>
                  <a:schemeClr val="tx1"/>
                </a:solidFill>
              </a:rPr>
              <a:t>*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7444013" y="4159766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42④Ⅰ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10327254" y="1930266"/>
            <a:ext cx="1065208" cy="42455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거절결정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(</a:t>
            </a:r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42④Ⅰ)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cxnSp>
        <p:nvCxnSpPr>
          <p:cNvPr id="35" name="꺾인 연결선 34"/>
          <p:cNvCxnSpPr>
            <a:stCxn id="78" idx="3"/>
            <a:endCxn id="84" idx="2"/>
          </p:cNvCxnSpPr>
          <p:nvPr/>
        </p:nvCxnSpPr>
        <p:spPr>
          <a:xfrm flipV="1">
            <a:off x="8211477" y="2067887"/>
            <a:ext cx="305160" cy="2218086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직사각형 83"/>
          <p:cNvSpPr/>
          <p:nvPr/>
        </p:nvSpPr>
        <p:spPr>
          <a:xfrm>
            <a:off x="8193617" y="1815474"/>
            <a:ext cx="646040" cy="252413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최후</a:t>
            </a:r>
          </a:p>
        </p:txBody>
      </p:sp>
      <p:sp>
        <p:nvSpPr>
          <p:cNvPr id="85" name="직사각형 84"/>
          <p:cNvSpPr/>
          <p:nvPr/>
        </p:nvSpPr>
        <p:spPr>
          <a:xfrm>
            <a:off x="8653634" y="2364346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보정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86" name="직선 화살표 연결선 85"/>
          <p:cNvCxnSpPr>
            <a:stCxn id="85" idx="0"/>
          </p:cNvCxnSpPr>
          <p:nvPr/>
        </p:nvCxnSpPr>
        <p:spPr>
          <a:xfrm flipH="1" flipV="1">
            <a:off x="9025368" y="1941681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/>
          <p:cNvSpPr/>
          <p:nvPr/>
        </p:nvSpPr>
        <p:spPr>
          <a:xfrm>
            <a:off x="8900170" y="1364611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</a:p>
        </p:txBody>
      </p:sp>
      <p:cxnSp>
        <p:nvCxnSpPr>
          <p:cNvPr id="89" name="직선 화살표 연결선 88"/>
          <p:cNvCxnSpPr>
            <a:stCxn id="88" idx="2"/>
          </p:cNvCxnSpPr>
          <p:nvPr/>
        </p:nvCxnSpPr>
        <p:spPr>
          <a:xfrm>
            <a:off x="9223190" y="1617024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직사각형 91"/>
          <p:cNvSpPr/>
          <p:nvPr/>
        </p:nvSpPr>
        <p:spPr>
          <a:xfrm>
            <a:off x="8653634" y="4674116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42⑧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cxnSp>
        <p:nvCxnSpPr>
          <p:cNvPr id="50" name="꺾인 연결선 49"/>
          <p:cNvCxnSpPr>
            <a:stCxn id="92" idx="3"/>
            <a:endCxn id="79" idx="2"/>
          </p:cNvCxnSpPr>
          <p:nvPr/>
        </p:nvCxnSpPr>
        <p:spPr>
          <a:xfrm flipV="1">
            <a:off x="9421098" y="2354821"/>
            <a:ext cx="1438760" cy="2445502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/>
          <p:cNvSpPr/>
          <p:nvPr/>
        </p:nvSpPr>
        <p:spPr>
          <a:xfrm>
            <a:off x="8667778" y="4140566"/>
            <a:ext cx="781214" cy="252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해소여부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무관</a:t>
            </a:r>
            <a:r>
              <a:rPr lang="en-US" altLang="ko-KR" sz="1200" dirty="0">
                <a:solidFill>
                  <a:schemeClr val="tx1"/>
                </a:solidFill>
              </a:rPr>
              <a:t>**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55040" y="5816365"/>
            <a:ext cx="101874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* </a:t>
            </a:r>
            <a:r>
              <a:rPr lang="ko-KR" altLang="en-US" sz="1200" dirty="0"/>
              <a:t>원거절이유가 해소되지 않은 경우 바로 </a:t>
            </a:r>
            <a:r>
              <a:rPr lang="ko-KR" altLang="en-US" sz="1200" dirty="0" err="1"/>
              <a:t>거절결정됨</a:t>
            </a:r>
            <a:endParaRPr lang="en-US" altLang="ko-KR" sz="1200" dirty="0"/>
          </a:p>
          <a:p>
            <a:r>
              <a:rPr lang="en-US" altLang="ko-KR" sz="1200" dirty="0"/>
              <a:t>** </a:t>
            </a:r>
            <a:r>
              <a:rPr lang="ko-KR" altLang="en-US" sz="1200" dirty="0"/>
              <a:t>보정이 </a:t>
            </a:r>
            <a:r>
              <a:rPr lang="ko-KR" altLang="en-US" sz="1200" dirty="0" err="1"/>
              <a:t>부적법하여</a:t>
            </a:r>
            <a:r>
              <a:rPr lang="ko-KR" altLang="en-US" sz="1200" dirty="0"/>
              <a:t> 보정각하되기 때문에 보정된 명세서 또는 도면에 의하여 </a:t>
            </a:r>
            <a:r>
              <a:rPr lang="ko-KR" altLang="en-US" sz="1200" dirty="0" err="1"/>
              <a:t>원거절이유가</a:t>
            </a:r>
            <a:r>
              <a:rPr lang="ko-KR" altLang="en-US" sz="1200" dirty="0"/>
              <a:t> 해소되었는지 여부는 무관함</a:t>
            </a:r>
            <a:endParaRPr lang="en-US" altLang="ko-KR" sz="1200" dirty="0"/>
          </a:p>
          <a:p>
            <a:r>
              <a:rPr lang="en-US" altLang="ko-KR" sz="1200" dirty="0"/>
              <a:t>*** </a:t>
            </a:r>
            <a:r>
              <a:rPr lang="ko-KR" altLang="en-US" sz="1200" dirty="0"/>
              <a:t>거절이유통지전 발생한 거절이유와 </a:t>
            </a:r>
            <a:r>
              <a:rPr lang="ko-KR" altLang="en-US" sz="1200" dirty="0" err="1">
                <a:solidFill>
                  <a:srgbClr val="0000CC"/>
                </a:solidFill>
              </a:rPr>
              <a:t>거절이유통지에</a:t>
            </a:r>
            <a:r>
              <a:rPr lang="ko-KR" altLang="en-US" sz="1200" dirty="0">
                <a:solidFill>
                  <a:srgbClr val="0000CC"/>
                </a:solidFill>
              </a:rPr>
              <a:t> 대응한 </a:t>
            </a:r>
            <a:r>
              <a:rPr lang="ko-KR" altLang="en-US" sz="1200" dirty="0"/>
              <a:t>의견제출기간 내 보정에 의하여 발생한 거절이유를 동시에 발견한 경우에는 최초거절이유통지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169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A50B08-4ADA-64F7-C22F-0CF1C362F770}"/>
              </a:ext>
            </a:extLst>
          </p:cNvPr>
          <p:cNvSpPr txBox="1"/>
          <p:nvPr/>
        </p:nvSpPr>
        <p:spPr>
          <a:xfrm>
            <a:off x="247751" y="4410207"/>
            <a:ext cx="2569934" cy="3385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 err="1"/>
              <a:t>거절이유통지</a:t>
            </a:r>
            <a:r>
              <a:rPr lang="ko-KR" altLang="en-US" sz="1600" dirty="0"/>
              <a:t> 전 원시적 발생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0E2E937C-0F59-3DF4-5231-E795B32FB047}"/>
              </a:ext>
            </a:extLst>
          </p:cNvPr>
          <p:cNvCxnSpPr>
            <a:cxnSpLocks/>
            <a:stCxn id="6" idx="0"/>
            <a:endCxn id="25" idx="2"/>
          </p:cNvCxnSpPr>
          <p:nvPr/>
        </p:nvCxnSpPr>
        <p:spPr>
          <a:xfrm flipH="1" flipV="1">
            <a:off x="1349818" y="3080564"/>
            <a:ext cx="182900" cy="132964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A6F2D3E-A333-2395-E472-63A44F18C64A}"/>
              </a:ext>
            </a:extLst>
          </p:cNvPr>
          <p:cNvSpPr/>
          <p:nvPr/>
        </p:nvSpPr>
        <p:spPr>
          <a:xfrm>
            <a:off x="1820708" y="2364346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8B0C5192-A1D5-A558-45D8-D7934D826CD2}"/>
              </a:ext>
            </a:extLst>
          </p:cNvPr>
          <p:cNvCxnSpPr>
            <a:stCxn id="11" idx="0"/>
          </p:cNvCxnSpPr>
          <p:nvPr/>
        </p:nvCxnSpPr>
        <p:spPr>
          <a:xfrm flipH="1" flipV="1">
            <a:off x="2192442" y="1941681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FBB5AFD7-D3A3-A41F-B520-113736DF6EB6}"/>
              </a:ext>
            </a:extLst>
          </p:cNvPr>
          <p:cNvCxnSpPr>
            <a:cxnSpLocks/>
            <a:stCxn id="6" idx="0"/>
            <a:endCxn id="163" idx="2"/>
          </p:cNvCxnSpPr>
          <p:nvPr/>
        </p:nvCxnSpPr>
        <p:spPr>
          <a:xfrm flipV="1">
            <a:off x="1532718" y="3396073"/>
            <a:ext cx="651256" cy="101413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E1BEB2E-07F5-E464-6B7B-14FD02B5BEC9}"/>
              </a:ext>
            </a:extLst>
          </p:cNvPr>
          <p:cNvSpPr txBox="1"/>
          <p:nvPr/>
        </p:nvSpPr>
        <p:spPr>
          <a:xfrm>
            <a:off x="4462033" y="4946176"/>
            <a:ext cx="3065263" cy="5847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 err="1"/>
              <a:t>최초거절이유통지에</a:t>
            </a:r>
            <a:r>
              <a:rPr lang="ko-KR" altLang="en-US" sz="1600" dirty="0"/>
              <a:t> 대응한 보정에</a:t>
            </a:r>
            <a:endParaRPr lang="en-US" altLang="ko-KR" sz="1600" dirty="0"/>
          </a:p>
          <a:p>
            <a:pPr algn="ctr"/>
            <a:r>
              <a:rPr lang="ko-KR" altLang="en-US" sz="1600" dirty="0"/>
              <a:t>의해 발생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B07A1763-4D84-890A-0F0B-049F0843C018}"/>
              </a:ext>
            </a:extLst>
          </p:cNvPr>
          <p:cNvCxnSpPr>
            <a:cxnSpLocks/>
            <a:stCxn id="21" idx="0"/>
            <a:endCxn id="78" idx="2"/>
          </p:cNvCxnSpPr>
          <p:nvPr/>
        </p:nvCxnSpPr>
        <p:spPr>
          <a:xfrm flipV="1">
            <a:off x="5994665" y="4412179"/>
            <a:ext cx="1833080" cy="533997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F011C438-1ADF-3ECE-1F28-7F1C9DF4DA14}"/>
              </a:ext>
            </a:extLst>
          </p:cNvPr>
          <p:cNvCxnSpPr>
            <a:cxnSpLocks/>
            <a:stCxn id="21" idx="0"/>
            <a:endCxn id="51" idx="2"/>
          </p:cNvCxnSpPr>
          <p:nvPr/>
        </p:nvCxnSpPr>
        <p:spPr>
          <a:xfrm flipH="1" flipV="1">
            <a:off x="4154519" y="4021654"/>
            <a:ext cx="1840146" cy="924522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35715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양쪽 모서리가 둥근 사각형 65"/>
          <p:cNvSpPr/>
          <p:nvPr/>
        </p:nvSpPr>
        <p:spPr>
          <a:xfrm>
            <a:off x="1551837" y="5571051"/>
            <a:ext cx="1797788" cy="46899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양쪽 모서리가 둥근 사각형 67"/>
          <p:cNvSpPr/>
          <p:nvPr/>
        </p:nvSpPr>
        <p:spPr>
          <a:xfrm>
            <a:off x="3404209" y="5571051"/>
            <a:ext cx="1430698" cy="46899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양쪽 모서리가 둥근 사각형 73"/>
          <p:cNvSpPr/>
          <p:nvPr/>
        </p:nvSpPr>
        <p:spPr>
          <a:xfrm>
            <a:off x="5709992" y="5571051"/>
            <a:ext cx="1430698" cy="46899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모서리가 둥근 직사각형 74"/>
          <p:cNvSpPr/>
          <p:nvPr/>
        </p:nvSpPr>
        <p:spPr>
          <a:xfrm>
            <a:off x="9829171" y="5739804"/>
            <a:ext cx="132060" cy="164772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9" name="직선 화살표 연결선 98"/>
          <p:cNvCxnSpPr/>
          <p:nvPr/>
        </p:nvCxnSpPr>
        <p:spPr>
          <a:xfrm>
            <a:off x="963064" y="6035672"/>
            <a:ext cx="10308186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시기적 요건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/>
              <a:t>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59" name="직선 연결선 58"/>
          <p:cNvCxnSpPr/>
          <p:nvPr/>
        </p:nvCxnSpPr>
        <p:spPr>
          <a:xfrm>
            <a:off x="0" y="2592042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77875" y="996556"/>
            <a:ext cx="1193632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47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특허출원의 보정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특허출원인은 제</a:t>
            </a:r>
            <a:r>
              <a:rPr lang="en-US" altLang="ko-KR" sz="1400" dirty="0">
                <a:solidFill>
                  <a:schemeClr val="tx2"/>
                </a:solidFill>
              </a:rPr>
              <a:t>66</a:t>
            </a:r>
            <a:r>
              <a:rPr lang="ko-KR" altLang="en-US" sz="1400" dirty="0">
                <a:solidFill>
                  <a:schemeClr val="tx2"/>
                </a:solidFill>
              </a:rPr>
              <a:t>조에 따른 </a:t>
            </a:r>
            <a:r>
              <a:rPr lang="ko-KR" altLang="en-US" sz="1400" dirty="0" err="1">
                <a:solidFill>
                  <a:schemeClr val="tx2"/>
                </a:solidFill>
              </a:rPr>
              <a:t>특허결정의</a:t>
            </a:r>
            <a:r>
              <a:rPr lang="ko-KR" altLang="en-US" sz="1400" dirty="0">
                <a:solidFill>
                  <a:schemeClr val="tx2"/>
                </a:solidFill>
              </a:rPr>
              <a:t> 등본을 송달하기 전까지 특허출원서에 첨부한 명세서 또는 도면을 보정할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63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거절이유통지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이하 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거절이유통지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라 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를 받은 후에는 다음 각 호의 구분에 따른 기간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호의 경우에는 그 때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에만 보정할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거절이유통지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거절이유통지에 대한 보정에 따라 발생한 </a:t>
            </a:r>
            <a:r>
              <a:rPr lang="ko-KR" altLang="en-US" sz="1400" dirty="0" err="1">
                <a:solidFill>
                  <a:schemeClr val="tx2"/>
                </a:solidFill>
              </a:rPr>
              <a:t>거절이유에</a:t>
            </a:r>
            <a:r>
              <a:rPr lang="ko-KR" altLang="en-US" sz="1400" dirty="0">
                <a:solidFill>
                  <a:schemeClr val="tx2"/>
                </a:solidFill>
              </a:rPr>
              <a:t> 대한 거절이유통지는 제외한다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를 최초로 받거나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호의 거절이유통지가 아닌 거절이유통지를 받은 경우</a:t>
            </a:r>
            <a:r>
              <a:rPr lang="en-US" altLang="ko-KR" sz="1400" dirty="0">
                <a:solidFill>
                  <a:schemeClr val="tx2"/>
                </a:solidFill>
              </a:rPr>
              <a:t>: </a:t>
            </a:r>
            <a:r>
              <a:rPr lang="ko-KR" altLang="en-US" sz="1400" dirty="0">
                <a:solidFill>
                  <a:schemeClr val="tx2"/>
                </a:solidFill>
              </a:rPr>
              <a:t>해당 거절이유통지에 따른 의견서 제출기간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거절이유통지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66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따른 통지를 한 경우에는 그 통지 전의 거절이유통지는 제외한다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 대한 보정에 따라 발생한 </a:t>
            </a:r>
            <a:r>
              <a:rPr lang="ko-KR" altLang="en-US" sz="1400" dirty="0" err="1">
                <a:solidFill>
                  <a:schemeClr val="tx2"/>
                </a:solidFill>
              </a:rPr>
              <a:t>거절이유에</a:t>
            </a:r>
            <a:r>
              <a:rPr lang="ko-KR" altLang="en-US" sz="1400" dirty="0">
                <a:solidFill>
                  <a:schemeClr val="tx2"/>
                </a:solidFill>
              </a:rPr>
              <a:t> 대하여 거절이유통지를 받은 경우</a:t>
            </a:r>
            <a:r>
              <a:rPr lang="en-US" altLang="ko-KR" sz="1400" dirty="0">
                <a:solidFill>
                  <a:schemeClr val="tx2"/>
                </a:solidFill>
              </a:rPr>
              <a:t>: </a:t>
            </a:r>
            <a:r>
              <a:rPr lang="ko-KR" altLang="en-US" sz="1400" dirty="0">
                <a:solidFill>
                  <a:schemeClr val="tx2"/>
                </a:solidFill>
              </a:rPr>
              <a:t>해당 거절이유통지에 따른 의견서 제출기간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67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에 따른 재심사를 청구하는 경우</a:t>
            </a:r>
            <a:r>
              <a:rPr lang="en-US" altLang="ko-KR" sz="1400" dirty="0">
                <a:solidFill>
                  <a:schemeClr val="tx2"/>
                </a:solidFill>
              </a:rPr>
              <a:t>: </a:t>
            </a:r>
            <a:r>
              <a:rPr lang="ko-KR" altLang="en-US" sz="1400" dirty="0">
                <a:solidFill>
                  <a:schemeClr val="tx2"/>
                </a:solidFill>
              </a:rPr>
              <a:t>청구할 때</a:t>
            </a:r>
          </a:p>
        </p:txBody>
      </p:sp>
      <p:sp>
        <p:nvSpPr>
          <p:cNvPr id="77" name="Rectangle 14"/>
          <p:cNvSpPr>
            <a:spLocks noChangeArrowheads="1"/>
          </p:cNvSpPr>
          <p:nvPr/>
        </p:nvSpPr>
        <p:spPr bwMode="auto">
          <a:xfrm>
            <a:off x="1170799" y="5861429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j-ea"/>
                <a:ea typeface="+mj-ea"/>
              </a:rPr>
              <a:t>출원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80" name="Rectangle 14"/>
          <p:cNvSpPr>
            <a:spLocks noChangeArrowheads="1"/>
          </p:cNvSpPr>
          <p:nvPr/>
        </p:nvSpPr>
        <p:spPr bwMode="auto">
          <a:xfrm>
            <a:off x="2932213" y="5861429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>
                <a:latin typeface="+mj-ea"/>
                <a:ea typeface="+mj-ea"/>
              </a:rPr>
              <a:t>최초</a:t>
            </a:r>
            <a:r>
              <a:rPr lang="en-US" altLang="ko-KR" sz="1200" dirty="0">
                <a:latin typeface="+mj-ea"/>
                <a:ea typeface="+mj-ea"/>
              </a:rPr>
              <a:t>OA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81" name="Rectangle 14"/>
          <p:cNvSpPr>
            <a:spLocks noChangeArrowheads="1"/>
          </p:cNvSpPr>
          <p:nvPr/>
        </p:nvSpPr>
        <p:spPr bwMode="auto">
          <a:xfrm>
            <a:off x="5273857" y="5861429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>
                <a:latin typeface="+mj-ea"/>
                <a:ea typeface="+mj-ea"/>
              </a:rPr>
              <a:t>최후</a:t>
            </a:r>
            <a:r>
              <a:rPr lang="en-US" altLang="ko-KR" sz="1200" dirty="0">
                <a:latin typeface="+mj-ea"/>
                <a:ea typeface="+mj-ea"/>
              </a:rPr>
              <a:t>OA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82" name="Rectangle 14"/>
          <p:cNvSpPr>
            <a:spLocks noChangeArrowheads="1"/>
          </p:cNvSpPr>
          <p:nvPr/>
        </p:nvSpPr>
        <p:spPr bwMode="auto">
          <a:xfrm>
            <a:off x="7337094" y="5861429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j-ea"/>
                <a:ea typeface="+mj-ea"/>
              </a:rPr>
              <a:t>거절결정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83" name="Rectangle 14"/>
          <p:cNvSpPr>
            <a:spLocks noChangeArrowheads="1"/>
          </p:cNvSpPr>
          <p:nvPr/>
        </p:nvSpPr>
        <p:spPr bwMode="auto">
          <a:xfrm>
            <a:off x="9474077" y="5861429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j-ea"/>
                <a:ea typeface="+mj-ea"/>
              </a:rPr>
              <a:t>재심사청구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3819470" y="5600577"/>
            <a:ext cx="91563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의견제출기간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altLang="ko-KR" sz="1050" dirty="0">
                <a:solidFill>
                  <a:srgbClr val="FF0000"/>
                </a:solidFill>
              </a:rPr>
              <a:t>4</a:t>
            </a:r>
            <a:r>
              <a:rPr lang="ko-KR" altLang="en-US" sz="1050" dirty="0">
                <a:solidFill>
                  <a:srgbClr val="FF0000"/>
                </a:solidFill>
              </a:rPr>
              <a:t>개월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 이내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145561" y="5612769"/>
            <a:ext cx="91563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의견제출기간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altLang="ko-KR" sz="1050" dirty="0">
                <a:solidFill>
                  <a:srgbClr val="FF0000"/>
                </a:solidFill>
              </a:rPr>
              <a:t>4</a:t>
            </a:r>
            <a:r>
              <a:rPr lang="ko-KR" altLang="en-US" sz="1050" dirty="0">
                <a:solidFill>
                  <a:srgbClr val="FF0000"/>
                </a:solidFill>
              </a:rPr>
              <a:t>개월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 이내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850736" y="5191696"/>
            <a:ext cx="1266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47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 err="1"/>
              <a:t>항본문</a:t>
            </a:r>
            <a:endParaRPr lang="ko-KR" altLang="en-US" sz="1200" dirty="0"/>
          </a:p>
        </p:txBody>
      </p:sp>
      <p:sp>
        <p:nvSpPr>
          <p:cNvPr id="93" name="TextBox 92"/>
          <p:cNvSpPr txBox="1"/>
          <p:nvPr/>
        </p:nvSpPr>
        <p:spPr>
          <a:xfrm>
            <a:off x="3483255" y="5191696"/>
            <a:ext cx="1351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47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 err="1"/>
              <a:t>항제</a:t>
            </a:r>
            <a:r>
              <a:rPr lang="en-US" altLang="ko-KR" sz="1200" dirty="0"/>
              <a:t>1</a:t>
            </a:r>
            <a:r>
              <a:rPr lang="ko-KR" altLang="en-US" sz="1200" dirty="0"/>
              <a:t>호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789038" y="5191696"/>
            <a:ext cx="1351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47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 err="1"/>
              <a:t>항제</a:t>
            </a:r>
            <a:r>
              <a:rPr lang="en-US" altLang="ko-KR" sz="1200" dirty="0"/>
              <a:t>2</a:t>
            </a:r>
            <a:r>
              <a:rPr lang="ko-KR" altLang="en-US" sz="1200" dirty="0"/>
              <a:t>호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219375" y="5468988"/>
            <a:ext cx="1351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47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 err="1"/>
              <a:t>항제</a:t>
            </a:r>
            <a:r>
              <a:rPr lang="en-US" altLang="ko-KR" sz="1200" dirty="0"/>
              <a:t>3</a:t>
            </a:r>
            <a:r>
              <a:rPr lang="ko-KR" altLang="en-US" sz="1200" dirty="0"/>
              <a:t>호</a:t>
            </a:r>
          </a:p>
        </p:txBody>
      </p:sp>
      <p:sp>
        <p:nvSpPr>
          <p:cNvPr id="97" name="자유형 96"/>
          <p:cNvSpPr/>
          <p:nvPr/>
        </p:nvSpPr>
        <p:spPr>
          <a:xfrm>
            <a:off x="8686800" y="5375272"/>
            <a:ext cx="2209800" cy="660400"/>
          </a:xfrm>
          <a:custGeom>
            <a:avLst/>
            <a:gdLst>
              <a:gd name="connsiteX0" fmla="*/ 0 w 2091267"/>
              <a:gd name="connsiteY0" fmla="*/ 660400 h 660400"/>
              <a:gd name="connsiteX1" fmla="*/ 0 w 2091267"/>
              <a:gd name="connsiteY1" fmla="*/ 0 h 660400"/>
              <a:gd name="connsiteX2" fmla="*/ 2091267 w 2091267"/>
              <a:gd name="connsiteY2" fmla="*/ 0 h 660400"/>
              <a:gd name="connsiteX3" fmla="*/ 2091267 w 2091267"/>
              <a:gd name="connsiteY3" fmla="*/ 626533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1267" h="660400">
                <a:moveTo>
                  <a:pt x="0" y="660400"/>
                </a:moveTo>
                <a:lnTo>
                  <a:pt x="0" y="0"/>
                </a:lnTo>
                <a:lnTo>
                  <a:pt x="2091267" y="0"/>
                </a:lnTo>
                <a:lnTo>
                  <a:pt x="2091267" y="626533"/>
                </a:lnTo>
              </a:path>
            </a:pathLst>
          </a:cu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TextBox 97"/>
          <p:cNvSpPr txBox="1"/>
          <p:nvPr/>
        </p:nvSpPr>
        <p:spPr>
          <a:xfrm>
            <a:off x="9345981" y="5098273"/>
            <a:ext cx="8643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3</a:t>
            </a:r>
            <a:r>
              <a:rPr lang="ko-KR" altLang="en-US" sz="1200" dirty="0">
                <a:solidFill>
                  <a:srgbClr val="FF0000"/>
                </a:solidFill>
              </a:rPr>
              <a:t>개월 </a:t>
            </a:r>
            <a:r>
              <a:rPr lang="ko-KR" altLang="en-US" sz="1200" dirty="0"/>
              <a:t>이내</a:t>
            </a:r>
          </a:p>
        </p:txBody>
      </p:sp>
      <p:sp>
        <p:nvSpPr>
          <p:cNvPr id="100" name="Rectangle 14"/>
          <p:cNvSpPr>
            <a:spLocks noChangeArrowheads="1"/>
          </p:cNvSpPr>
          <p:nvPr/>
        </p:nvSpPr>
        <p:spPr bwMode="auto">
          <a:xfrm>
            <a:off x="8278619" y="5861429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 err="1">
                <a:latin typeface="+mj-ea"/>
                <a:ea typeface="+mj-ea"/>
              </a:rPr>
              <a:t>등본송달</a:t>
            </a:r>
            <a:endParaRPr lang="ko-KR" altLang="en-US" sz="1200" b="0" dirty="0">
              <a:latin typeface="+mj-ea"/>
              <a:ea typeface="+mj-ea"/>
            </a:endParaRPr>
          </a:p>
        </p:txBody>
      </p:sp>
      <p:cxnSp>
        <p:nvCxnSpPr>
          <p:cNvPr id="103" name="직선 연결선 102"/>
          <p:cNvCxnSpPr/>
          <p:nvPr/>
        </p:nvCxnSpPr>
        <p:spPr>
          <a:xfrm flipH="1" flipV="1">
            <a:off x="280574" y="4753786"/>
            <a:ext cx="11539951" cy="952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양쪽 모서리가 둥근 사각형 103"/>
          <p:cNvSpPr/>
          <p:nvPr/>
        </p:nvSpPr>
        <p:spPr>
          <a:xfrm>
            <a:off x="1551836" y="3279601"/>
            <a:ext cx="7134963" cy="49676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1" name="직선 화살표 연결선 110"/>
          <p:cNvCxnSpPr/>
          <p:nvPr/>
        </p:nvCxnSpPr>
        <p:spPr>
          <a:xfrm>
            <a:off x="963064" y="3771988"/>
            <a:ext cx="10308186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ctangle 14"/>
          <p:cNvSpPr>
            <a:spLocks noChangeArrowheads="1"/>
          </p:cNvSpPr>
          <p:nvPr/>
        </p:nvSpPr>
        <p:spPr bwMode="auto">
          <a:xfrm>
            <a:off x="1170799" y="3597745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j-ea"/>
                <a:ea typeface="+mj-ea"/>
              </a:rPr>
              <a:t>출원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116" name="Rectangle 14"/>
          <p:cNvSpPr>
            <a:spLocks noChangeArrowheads="1"/>
          </p:cNvSpPr>
          <p:nvPr/>
        </p:nvSpPr>
        <p:spPr bwMode="auto">
          <a:xfrm>
            <a:off x="7337094" y="3597745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 err="1">
                <a:latin typeface="+mj-ea"/>
                <a:ea typeface="+mj-ea"/>
              </a:rPr>
              <a:t>특허결정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3938653" y="2975444"/>
            <a:ext cx="1266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47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 err="1"/>
              <a:t>항본문</a:t>
            </a:r>
            <a:endParaRPr lang="ko-KR" altLang="en-US" sz="1200" dirty="0"/>
          </a:p>
        </p:txBody>
      </p:sp>
      <p:sp>
        <p:nvSpPr>
          <p:cNvPr id="126" name="Rectangle 14"/>
          <p:cNvSpPr>
            <a:spLocks noChangeArrowheads="1"/>
          </p:cNvSpPr>
          <p:nvPr/>
        </p:nvSpPr>
        <p:spPr bwMode="auto">
          <a:xfrm>
            <a:off x="8278619" y="3597745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 err="1">
                <a:latin typeface="+mj-ea"/>
                <a:ea typeface="+mj-ea"/>
              </a:rPr>
              <a:t>등본송달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54362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신규사항추가의 구체적인 </a:t>
            </a:r>
            <a:r>
              <a:rPr lang="en-US" altLang="ko-KR" dirty="0"/>
              <a:t>CASE(</a:t>
            </a:r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11144250" y="3175"/>
            <a:ext cx="1047750" cy="7143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171</a:t>
            </a:fld>
            <a:endParaRPr lang="ko-KR" altLang="en-US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DDC8074D-BBF3-41FB-9224-0E23C4ED74F0}"/>
              </a:ext>
            </a:extLst>
          </p:cNvPr>
          <p:cNvSpPr/>
          <p:nvPr/>
        </p:nvSpPr>
        <p:spPr>
          <a:xfrm>
            <a:off x="404349" y="945953"/>
            <a:ext cx="11493359" cy="425767"/>
          </a:xfrm>
          <a:custGeom>
            <a:avLst/>
            <a:gdLst>
              <a:gd name="connsiteX0" fmla="*/ 0 w 8726406"/>
              <a:gd name="connsiteY0" fmla="*/ 0 h 321468"/>
              <a:gd name="connsiteX1" fmla="*/ 8726406 w 8726406"/>
              <a:gd name="connsiteY1" fmla="*/ 0 h 321468"/>
              <a:gd name="connsiteX2" fmla="*/ 8726406 w 8726406"/>
              <a:gd name="connsiteY2" fmla="*/ 321468 h 321468"/>
              <a:gd name="connsiteX3" fmla="*/ 0 w 8726406"/>
              <a:gd name="connsiteY3" fmla="*/ 321468 h 321468"/>
              <a:gd name="connsiteX4" fmla="*/ 0 w 8726406"/>
              <a:gd name="connsiteY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6406" h="321468">
                <a:moveTo>
                  <a:pt x="0" y="0"/>
                </a:moveTo>
                <a:lnTo>
                  <a:pt x="8726406" y="0"/>
                </a:lnTo>
                <a:lnTo>
                  <a:pt x="8726406" y="321468"/>
                </a:lnTo>
                <a:lnTo>
                  <a:pt x="0" y="3214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t" anchorCtr="0">
            <a:noAutofit/>
          </a:bodyPr>
          <a:lstStyle/>
          <a:p>
            <a:pPr marL="0" lvl="0" indent="0" algn="l" defTabSz="311150" latinLnBrk="1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①</a:t>
            </a:r>
            <a:r>
              <a:rPr lang="ko-KR" altLang="en-US" sz="1250" kern="1200" dirty="0">
                <a:solidFill>
                  <a:srgbClr val="FF0000"/>
                </a:solidFill>
                <a:latin typeface="+mn-ea"/>
              </a:rPr>
              <a:t> 우선권주장의 기초가 된 제</a:t>
            </a:r>
            <a:r>
              <a:rPr lang="en-US" altLang="ko-KR" sz="1250" kern="1200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250" kern="1200" dirty="0">
                <a:solidFill>
                  <a:srgbClr val="FF0000"/>
                </a:solidFill>
                <a:latin typeface="+mn-ea"/>
              </a:rPr>
              <a:t>국 출원 또는 선출원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은 </a:t>
            </a:r>
            <a:r>
              <a:rPr lang="ko-KR" altLang="en-US" sz="1250" kern="1200" dirty="0" err="1">
                <a:solidFill>
                  <a:schemeClr val="tx2"/>
                </a:solidFill>
                <a:latin typeface="+mn-ea"/>
              </a:rPr>
              <a:t>특허출원서에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 최초로 첨부한 명세서 또는 도면에 해당되지 않으므로 신규사항의 추가 여부 판단의 기초로 사용할 수 없다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</a:t>
            </a:r>
            <a:endParaRPr lang="ko-KR" altLang="en-US" sz="1250" kern="1200" dirty="0"/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01D68D92-877A-4F6F-A1FD-727BA033CDFA}"/>
              </a:ext>
            </a:extLst>
          </p:cNvPr>
          <p:cNvSpPr/>
          <p:nvPr/>
        </p:nvSpPr>
        <p:spPr>
          <a:xfrm>
            <a:off x="184731" y="1266620"/>
            <a:ext cx="11712977" cy="0"/>
          </a:xfrm>
          <a:prstGeom prst="line">
            <a:avLst/>
          </a:prstGeom>
        </p:spPr>
        <p:style>
          <a:lnRef idx="2">
            <a:schemeClr val="accent1">
              <a:tint val="5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CFBA4F2A-B0F0-4EAC-9FF1-1B1E9B033DC8}"/>
              </a:ext>
            </a:extLst>
          </p:cNvPr>
          <p:cNvSpPr/>
          <p:nvPr/>
        </p:nvSpPr>
        <p:spPr>
          <a:xfrm>
            <a:off x="404349" y="1256379"/>
            <a:ext cx="11493359" cy="425767"/>
          </a:xfrm>
          <a:custGeom>
            <a:avLst/>
            <a:gdLst>
              <a:gd name="connsiteX0" fmla="*/ 0 w 8726406"/>
              <a:gd name="connsiteY0" fmla="*/ 0 h 321468"/>
              <a:gd name="connsiteX1" fmla="*/ 8726406 w 8726406"/>
              <a:gd name="connsiteY1" fmla="*/ 0 h 321468"/>
              <a:gd name="connsiteX2" fmla="*/ 8726406 w 8726406"/>
              <a:gd name="connsiteY2" fmla="*/ 321468 h 321468"/>
              <a:gd name="connsiteX3" fmla="*/ 0 w 8726406"/>
              <a:gd name="connsiteY3" fmla="*/ 321468 h 321468"/>
              <a:gd name="connsiteX4" fmla="*/ 0 w 8726406"/>
              <a:gd name="connsiteY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6406" h="321468">
                <a:moveTo>
                  <a:pt x="0" y="0"/>
                </a:moveTo>
                <a:lnTo>
                  <a:pt x="8726406" y="0"/>
                </a:lnTo>
                <a:lnTo>
                  <a:pt x="8726406" y="321468"/>
                </a:lnTo>
                <a:lnTo>
                  <a:pt x="0" y="3214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t" anchorCtr="0">
            <a:noAutofit/>
          </a:bodyPr>
          <a:lstStyle/>
          <a:p>
            <a:pPr marL="0" lvl="0" indent="0" algn="l" defTabSz="311150" latinLnBrk="1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② </a:t>
            </a:r>
            <a:r>
              <a:rPr lang="ko-KR" altLang="en-US" sz="1250" kern="1200" dirty="0">
                <a:solidFill>
                  <a:srgbClr val="FF0000"/>
                </a:solidFill>
                <a:latin typeface="+mn-ea"/>
              </a:rPr>
              <a:t>요약서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는 명세서 또는 도면에 해당하지 않으므로 신규사항 추가 여부를 판단하는 기준이 되는 최초 명세서 등에 포함되지 아니한다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</a:t>
            </a:r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1C0F945F-48EF-4C68-B3CF-D4F1DA7BFC79}"/>
              </a:ext>
            </a:extLst>
          </p:cNvPr>
          <p:cNvSpPr/>
          <p:nvPr/>
        </p:nvSpPr>
        <p:spPr>
          <a:xfrm>
            <a:off x="184731" y="1587557"/>
            <a:ext cx="11712977" cy="0"/>
          </a:xfrm>
          <a:prstGeom prst="line">
            <a:avLst/>
          </a:prstGeom>
        </p:spPr>
        <p:style>
          <a:lnRef idx="2">
            <a:schemeClr val="accent1">
              <a:tint val="5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71B61FE3-2DF9-4B55-AA75-0B08588D120C}"/>
              </a:ext>
            </a:extLst>
          </p:cNvPr>
          <p:cNvSpPr/>
          <p:nvPr/>
        </p:nvSpPr>
        <p:spPr>
          <a:xfrm>
            <a:off x="404349" y="1566796"/>
            <a:ext cx="11493359" cy="425767"/>
          </a:xfrm>
          <a:custGeom>
            <a:avLst/>
            <a:gdLst>
              <a:gd name="connsiteX0" fmla="*/ 0 w 8726406"/>
              <a:gd name="connsiteY0" fmla="*/ 0 h 321468"/>
              <a:gd name="connsiteX1" fmla="*/ 8726406 w 8726406"/>
              <a:gd name="connsiteY1" fmla="*/ 0 h 321468"/>
              <a:gd name="connsiteX2" fmla="*/ 8726406 w 8726406"/>
              <a:gd name="connsiteY2" fmla="*/ 321468 h 321468"/>
              <a:gd name="connsiteX3" fmla="*/ 0 w 8726406"/>
              <a:gd name="connsiteY3" fmla="*/ 321468 h 321468"/>
              <a:gd name="connsiteX4" fmla="*/ 0 w 8726406"/>
              <a:gd name="connsiteY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6406" h="321468">
                <a:moveTo>
                  <a:pt x="0" y="0"/>
                </a:moveTo>
                <a:lnTo>
                  <a:pt x="8726406" y="0"/>
                </a:lnTo>
                <a:lnTo>
                  <a:pt x="8726406" y="321468"/>
                </a:lnTo>
                <a:lnTo>
                  <a:pt x="0" y="3214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t" anchorCtr="0">
            <a:noAutofit/>
          </a:bodyPr>
          <a:lstStyle/>
          <a:p>
            <a:pPr marL="0" lvl="0" indent="0" algn="l" defTabSz="311150" latinLnBrk="1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③ </a:t>
            </a:r>
            <a:r>
              <a:rPr lang="ko-KR" altLang="en-US" sz="1250" kern="1200" dirty="0">
                <a:solidFill>
                  <a:srgbClr val="FF0000"/>
                </a:solidFill>
                <a:latin typeface="+mn-ea"/>
              </a:rPr>
              <a:t>미완성발명을 완성시키는 보정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을 한 경우 그 보정은 신규사항을 추가한 것으로 된다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</a:t>
            </a:r>
          </a:p>
        </p:txBody>
      </p:sp>
      <p:sp>
        <p:nvSpPr>
          <p:cNvPr id="16" name="직선 연결선 15">
            <a:extLst>
              <a:ext uri="{FF2B5EF4-FFF2-40B4-BE49-F238E27FC236}">
                <a16:creationId xmlns:a16="http://schemas.microsoft.com/office/drawing/2014/main" id="{DA8E1DB0-F24F-4F1E-9D56-074CBA208705}"/>
              </a:ext>
            </a:extLst>
          </p:cNvPr>
          <p:cNvSpPr/>
          <p:nvPr/>
        </p:nvSpPr>
        <p:spPr>
          <a:xfrm>
            <a:off x="184731" y="1897977"/>
            <a:ext cx="11712977" cy="0"/>
          </a:xfrm>
          <a:prstGeom prst="line">
            <a:avLst/>
          </a:prstGeom>
        </p:spPr>
        <p:style>
          <a:lnRef idx="2">
            <a:schemeClr val="accent1">
              <a:tint val="5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239BEDD9-1F1F-4AE1-A31D-206E33729663}"/>
              </a:ext>
            </a:extLst>
          </p:cNvPr>
          <p:cNvSpPr/>
          <p:nvPr/>
        </p:nvSpPr>
        <p:spPr>
          <a:xfrm>
            <a:off x="404349" y="1898241"/>
            <a:ext cx="11493359" cy="425767"/>
          </a:xfrm>
          <a:custGeom>
            <a:avLst/>
            <a:gdLst>
              <a:gd name="connsiteX0" fmla="*/ 0 w 8726406"/>
              <a:gd name="connsiteY0" fmla="*/ 0 h 321468"/>
              <a:gd name="connsiteX1" fmla="*/ 8726406 w 8726406"/>
              <a:gd name="connsiteY1" fmla="*/ 0 h 321468"/>
              <a:gd name="connsiteX2" fmla="*/ 8726406 w 8726406"/>
              <a:gd name="connsiteY2" fmla="*/ 321468 h 321468"/>
              <a:gd name="connsiteX3" fmla="*/ 0 w 8726406"/>
              <a:gd name="connsiteY3" fmla="*/ 321468 h 321468"/>
              <a:gd name="connsiteX4" fmla="*/ 0 w 8726406"/>
              <a:gd name="connsiteY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6406" h="321468">
                <a:moveTo>
                  <a:pt x="0" y="0"/>
                </a:moveTo>
                <a:lnTo>
                  <a:pt x="8726406" y="0"/>
                </a:lnTo>
                <a:lnTo>
                  <a:pt x="8726406" y="321468"/>
                </a:lnTo>
                <a:lnTo>
                  <a:pt x="0" y="3214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t" anchorCtr="0">
            <a:noAutofit/>
          </a:bodyPr>
          <a:lstStyle/>
          <a:p>
            <a:pPr marL="0" lvl="0" indent="0" algn="l" defTabSz="311150" latinLnBrk="1"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④ </a:t>
            </a:r>
            <a:r>
              <a:rPr lang="ko-KR" altLang="en-US" sz="1250" kern="1200" dirty="0">
                <a:solidFill>
                  <a:srgbClr val="FF0000"/>
                </a:solidFill>
                <a:latin typeface="+mn-ea"/>
              </a:rPr>
              <a:t>상위개념을 하위개념으로 보정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하여 범위를 축소하였더라도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재질이나 용도한정의 경우 포함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),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최초 명세서 등에 그 하위개념이 개시되어 있거나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출원 시의 기술상식을 참작하여 통상의 기술자에게 그러한 상위개념이라고 하면 보정된 하위개념으로 바로 인식될 정도가 아니면 신규사항 추가에 해당한다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7D75678B-ED16-4FDF-AF80-4CA07ADC13DD}"/>
              </a:ext>
            </a:extLst>
          </p:cNvPr>
          <p:cNvSpPr/>
          <p:nvPr/>
        </p:nvSpPr>
        <p:spPr>
          <a:xfrm>
            <a:off x="184731" y="2355545"/>
            <a:ext cx="11712977" cy="0"/>
          </a:xfrm>
          <a:prstGeom prst="line">
            <a:avLst/>
          </a:prstGeom>
        </p:spPr>
        <p:style>
          <a:lnRef idx="2">
            <a:schemeClr val="accent1">
              <a:tint val="5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E56A78D8-753F-41F1-8870-CF8A8907192A}"/>
              </a:ext>
            </a:extLst>
          </p:cNvPr>
          <p:cNvSpPr/>
          <p:nvPr/>
        </p:nvSpPr>
        <p:spPr>
          <a:xfrm>
            <a:off x="404349" y="2355810"/>
            <a:ext cx="11493359" cy="425767"/>
          </a:xfrm>
          <a:custGeom>
            <a:avLst/>
            <a:gdLst>
              <a:gd name="connsiteX0" fmla="*/ 0 w 8726406"/>
              <a:gd name="connsiteY0" fmla="*/ 0 h 321468"/>
              <a:gd name="connsiteX1" fmla="*/ 8726406 w 8726406"/>
              <a:gd name="connsiteY1" fmla="*/ 0 h 321468"/>
              <a:gd name="connsiteX2" fmla="*/ 8726406 w 8726406"/>
              <a:gd name="connsiteY2" fmla="*/ 321468 h 321468"/>
              <a:gd name="connsiteX3" fmla="*/ 0 w 8726406"/>
              <a:gd name="connsiteY3" fmla="*/ 321468 h 321468"/>
              <a:gd name="connsiteX4" fmla="*/ 0 w 8726406"/>
              <a:gd name="connsiteY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6406" h="321468">
                <a:moveTo>
                  <a:pt x="0" y="0"/>
                </a:moveTo>
                <a:lnTo>
                  <a:pt x="8726406" y="0"/>
                </a:lnTo>
                <a:lnTo>
                  <a:pt x="8726406" y="321468"/>
                </a:lnTo>
                <a:lnTo>
                  <a:pt x="0" y="3214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t" anchorCtr="0">
            <a:noAutofit/>
          </a:bodyPr>
          <a:lstStyle/>
          <a:p>
            <a:pPr marL="0" lvl="0" indent="0" algn="l" defTabSz="311150" latinLnBrk="1"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⑤ </a:t>
            </a:r>
            <a:r>
              <a:rPr lang="ko-KR" altLang="en-US" sz="1250" kern="1200" dirty="0">
                <a:solidFill>
                  <a:srgbClr val="FF0000"/>
                </a:solidFill>
                <a:latin typeface="+mn-ea"/>
              </a:rPr>
              <a:t>하위개념을 상위개념으로 보정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하는 경우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그 상위개념 중에 최초 명세서 등의 하위개념과 비교하여 발명의 효과 또는 과제해결 여부가 달라지는 부분이 포함되면 신규사항의 추가에 해당한다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일부 구성을 삭제하는 경우에도 그 삭제되는 구성이 최초 명세서 등에서 과제해결을 위하여 필수적인 것으로 기재된 것이라면 신규사항추가에 해당한다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다만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과제해결과 관계없이 임의로 부가된 사항을 삭제하여 상위개념이 되는 경우라면 최초 명세서 등 범위 내의 보정으로 볼 수 있다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</a:t>
            </a:r>
          </a:p>
        </p:txBody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95EB0BA0-7D13-4328-B555-6AF62FD290FA}"/>
              </a:ext>
            </a:extLst>
          </p:cNvPr>
          <p:cNvSpPr/>
          <p:nvPr/>
        </p:nvSpPr>
        <p:spPr>
          <a:xfrm>
            <a:off x="184731" y="2991786"/>
            <a:ext cx="11712977" cy="0"/>
          </a:xfrm>
          <a:prstGeom prst="line">
            <a:avLst/>
          </a:prstGeom>
        </p:spPr>
        <p:style>
          <a:lnRef idx="2">
            <a:schemeClr val="accent1">
              <a:tint val="5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E3740F2B-FB4D-42B0-A5CE-F26B4C942665}"/>
              </a:ext>
            </a:extLst>
          </p:cNvPr>
          <p:cNvSpPr/>
          <p:nvPr/>
        </p:nvSpPr>
        <p:spPr>
          <a:xfrm>
            <a:off x="404349" y="3002563"/>
            <a:ext cx="11493359" cy="425767"/>
          </a:xfrm>
          <a:custGeom>
            <a:avLst/>
            <a:gdLst>
              <a:gd name="connsiteX0" fmla="*/ 0 w 8726406"/>
              <a:gd name="connsiteY0" fmla="*/ 0 h 321468"/>
              <a:gd name="connsiteX1" fmla="*/ 8726406 w 8726406"/>
              <a:gd name="connsiteY1" fmla="*/ 0 h 321468"/>
              <a:gd name="connsiteX2" fmla="*/ 8726406 w 8726406"/>
              <a:gd name="connsiteY2" fmla="*/ 321468 h 321468"/>
              <a:gd name="connsiteX3" fmla="*/ 0 w 8726406"/>
              <a:gd name="connsiteY3" fmla="*/ 321468 h 321468"/>
              <a:gd name="connsiteX4" fmla="*/ 0 w 8726406"/>
              <a:gd name="connsiteY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6406" h="321468">
                <a:moveTo>
                  <a:pt x="0" y="0"/>
                </a:moveTo>
                <a:lnTo>
                  <a:pt x="8726406" y="0"/>
                </a:lnTo>
                <a:lnTo>
                  <a:pt x="8726406" y="321468"/>
                </a:lnTo>
                <a:lnTo>
                  <a:pt x="0" y="3214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t" anchorCtr="0">
            <a:noAutofit/>
          </a:bodyPr>
          <a:lstStyle/>
          <a:p>
            <a:pPr marL="0" lvl="0" indent="0" algn="l" defTabSz="311150" latinLnBrk="1"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⑥ </a:t>
            </a:r>
            <a:r>
              <a:rPr lang="ko-KR" altLang="en-US" sz="1250" kern="1200" dirty="0">
                <a:solidFill>
                  <a:srgbClr val="FF0000"/>
                </a:solidFill>
                <a:latin typeface="+mn-ea"/>
              </a:rPr>
              <a:t>수치범위를 추가하거나 변경 또는 감축하는 보정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의 경우에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새로운 수치범위가 최초 명세서 등에 기재되어 있지 않고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최초 명세서 등의 기재로부터 자명하지 않은 경우에는 신규사항 추가에 해당한다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</a:t>
            </a:r>
          </a:p>
        </p:txBody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B2677F70-9744-4603-BA75-F9F920E632F0}"/>
              </a:ext>
            </a:extLst>
          </p:cNvPr>
          <p:cNvSpPr/>
          <p:nvPr/>
        </p:nvSpPr>
        <p:spPr>
          <a:xfrm>
            <a:off x="184731" y="3449352"/>
            <a:ext cx="11712977" cy="0"/>
          </a:xfrm>
          <a:prstGeom prst="line">
            <a:avLst/>
          </a:prstGeom>
        </p:spPr>
        <p:style>
          <a:lnRef idx="2">
            <a:schemeClr val="accent1">
              <a:tint val="5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0B9A86BD-57AB-47D6-9288-4A64A56331A8}"/>
              </a:ext>
            </a:extLst>
          </p:cNvPr>
          <p:cNvSpPr/>
          <p:nvPr/>
        </p:nvSpPr>
        <p:spPr>
          <a:xfrm>
            <a:off x="404349" y="3460130"/>
            <a:ext cx="11493359" cy="425767"/>
          </a:xfrm>
          <a:custGeom>
            <a:avLst/>
            <a:gdLst>
              <a:gd name="connsiteX0" fmla="*/ 0 w 8726406"/>
              <a:gd name="connsiteY0" fmla="*/ 0 h 321468"/>
              <a:gd name="connsiteX1" fmla="*/ 8726406 w 8726406"/>
              <a:gd name="connsiteY1" fmla="*/ 0 h 321468"/>
              <a:gd name="connsiteX2" fmla="*/ 8726406 w 8726406"/>
              <a:gd name="connsiteY2" fmla="*/ 321468 h 321468"/>
              <a:gd name="connsiteX3" fmla="*/ 0 w 8726406"/>
              <a:gd name="connsiteY3" fmla="*/ 321468 h 321468"/>
              <a:gd name="connsiteX4" fmla="*/ 0 w 8726406"/>
              <a:gd name="connsiteY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6406" h="321468">
                <a:moveTo>
                  <a:pt x="0" y="0"/>
                </a:moveTo>
                <a:lnTo>
                  <a:pt x="8726406" y="0"/>
                </a:lnTo>
                <a:lnTo>
                  <a:pt x="8726406" y="321468"/>
                </a:lnTo>
                <a:lnTo>
                  <a:pt x="0" y="3214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t" anchorCtr="0">
            <a:noAutofit/>
          </a:bodyPr>
          <a:lstStyle/>
          <a:p>
            <a:pPr marL="0" lvl="0" indent="0" algn="l" defTabSz="311150" latinLnBrk="1"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⑦ </a:t>
            </a:r>
            <a:r>
              <a:rPr lang="ko-KR" altLang="en-US" sz="1250" kern="1200" dirty="0">
                <a:solidFill>
                  <a:srgbClr val="FF0000"/>
                </a:solidFill>
                <a:latin typeface="+mn-ea"/>
              </a:rPr>
              <a:t>청구항에서 일정한 사항을 제외하는 보정</a:t>
            </a:r>
            <a:r>
              <a:rPr lang="en-US" altLang="ko-KR" sz="1250" kern="12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250" kern="1200" dirty="0">
                <a:solidFill>
                  <a:srgbClr val="FF0000"/>
                </a:solidFill>
                <a:latin typeface="+mn-ea"/>
              </a:rPr>
              <a:t>이른바 ‘제외 클레임’ 보정</a:t>
            </a:r>
            <a:r>
              <a:rPr lang="en-US" altLang="ko-KR" sz="1250" kern="1200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은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그러한 제외하는 한정이 최초 명세서 등에 기재된 것으로 볼 수 없는 새로운 기술적 사항이 도입되는 것이 아니라면 허용된다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50" kern="1200" dirty="0">
                <a:solidFill>
                  <a:srgbClr val="FF0000"/>
                </a:solidFill>
                <a:latin typeface="+mn-ea"/>
              </a:rPr>
              <a:t>특히 의료방법 관련 발명의 대상이 사람인지 동물인지가 명시되어 있지 아니한 경우</a:t>
            </a:r>
            <a:r>
              <a:rPr lang="en-US" altLang="ko-KR" sz="1250" kern="120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250" kern="1200" dirty="0">
                <a:solidFill>
                  <a:srgbClr val="FF0000"/>
                </a:solidFill>
                <a:latin typeface="+mn-ea"/>
              </a:rPr>
              <a:t>그 발명이 특정 동물만을 대상으로 하는 것은 아닌 것이 자명할 때 사람에 해당하는 부분을 삭제하기 위하여 한정하는 보정은 신규사항이 추가된 것으로 보지 않는다</a:t>
            </a:r>
            <a:r>
              <a:rPr lang="en-US" altLang="ko-KR" sz="1250" kern="1200" dirty="0">
                <a:solidFill>
                  <a:srgbClr val="FF0000"/>
                </a:solidFill>
                <a:latin typeface="+mn-ea"/>
              </a:rPr>
              <a:t>.</a:t>
            </a:r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D6C206A9-BD56-4521-ADB1-CEB6C4B160BC}"/>
              </a:ext>
            </a:extLst>
          </p:cNvPr>
          <p:cNvSpPr/>
          <p:nvPr/>
        </p:nvSpPr>
        <p:spPr>
          <a:xfrm>
            <a:off x="184731" y="4054057"/>
            <a:ext cx="11712977" cy="0"/>
          </a:xfrm>
          <a:prstGeom prst="line">
            <a:avLst/>
          </a:prstGeom>
        </p:spPr>
        <p:style>
          <a:lnRef idx="2">
            <a:schemeClr val="accent1">
              <a:tint val="5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0AD23758-AC30-4FA1-8A83-E591C152C0B9}"/>
              </a:ext>
            </a:extLst>
          </p:cNvPr>
          <p:cNvSpPr/>
          <p:nvPr/>
        </p:nvSpPr>
        <p:spPr>
          <a:xfrm>
            <a:off x="404349" y="4064836"/>
            <a:ext cx="11493359" cy="425767"/>
          </a:xfrm>
          <a:custGeom>
            <a:avLst/>
            <a:gdLst>
              <a:gd name="connsiteX0" fmla="*/ 0 w 8726406"/>
              <a:gd name="connsiteY0" fmla="*/ 0 h 321468"/>
              <a:gd name="connsiteX1" fmla="*/ 8726406 w 8726406"/>
              <a:gd name="connsiteY1" fmla="*/ 0 h 321468"/>
              <a:gd name="connsiteX2" fmla="*/ 8726406 w 8726406"/>
              <a:gd name="connsiteY2" fmla="*/ 321468 h 321468"/>
              <a:gd name="connsiteX3" fmla="*/ 0 w 8726406"/>
              <a:gd name="connsiteY3" fmla="*/ 321468 h 321468"/>
              <a:gd name="connsiteX4" fmla="*/ 0 w 8726406"/>
              <a:gd name="connsiteY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6406" h="321468">
                <a:moveTo>
                  <a:pt x="0" y="0"/>
                </a:moveTo>
                <a:lnTo>
                  <a:pt x="8726406" y="0"/>
                </a:lnTo>
                <a:lnTo>
                  <a:pt x="8726406" y="321468"/>
                </a:lnTo>
                <a:lnTo>
                  <a:pt x="0" y="3214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t" anchorCtr="0">
            <a:noAutofit/>
          </a:bodyPr>
          <a:lstStyle/>
          <a:p>
            <a:pPr marL="0" lvl="0" indent="0" algn="l" defTabSz="311150" latinLnBrk="1"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⑧ </a:t>
            </a:r>
            <a:r>
              <a:rPr lang="ko-KR" altLang="en-US" sz="1250" kern="1200" dirty="0">
                <a:solidFill>
                  <a:srgbClr val="FF0000"/>
                </a:solidFill>
                <a:latin typeface="+mn-ea"/>
              </a:rPr>
              <a:t>최초 명세서 등에 독립적으로 기재된 개별구성이나 실시예들을 하나의 발명으로 결합하는 보정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을 하는 경우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그러한 결합이 최초 명세서 등에 언급되어 있거나 통상의 기술자가 출원시의 기술상식에 비추어 당연히 상정할 수 있는 정도가 아니면 신규사항 추가에 해당한다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C87AB4E2-3E56-4BDA-B44E-DB2A871F4231}"/>
              </a:ext>
            </a:extLst>
          </p:cNvPr>
          <p:cNvSpPr/>
          <p:nvPr/>
        </p:nvSpPr>
        <p:spPr>
          <a:xfrm>
            <a:off x="184731" y="4501114"/>
            <a:ext cx="11712977" cy="0"/>
          </a:xfrm>
          <a:prstGeom prst="line">
            <a:avLst/>
          </a:prstGeom>
        </p:spPr>
        <p:style>
          <a:lnRef idx="2">
            <a:schemeClr val="accent1">
              <a:tint val="5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7" name="자유형: 도형 26">
            <a:extLst>
              <a:ext uri="{FF2B5EF4-FFF2-40B4-BE49-F238E27FC236}">
                <a16:creationId xmlns:a16="http://schemas.microsoft.com/office/drawing/2014/main" id="{243FBB0D-D565-454F-84FA-DF9036836A95}"/>
              </a:ext>
            </a:extLst>
          </p:cNvPr>
          <p:cNvSpPr/>
          <p:nvPr/>
        </p:nvSpPr>
        <p:spPr>
          <a:xfrm>
            <a:off x="404349" y="4427812"/>
            <a:ext cx="11493359" cy="425767"/>
          </a:xfrm>
          <a:custGeom>
            <a:avLst/>
            <a:gdLst>
              <a:gd name="connsiteX0" fmla="*/ 0 w 8726406"/>
              <a:gd name="connsiteY0" fmla="*/ 0 h 321468"/>
              <a:gd name="connsiteX1" fmla="*/ 8726406 w 8726406"/>
              <a:gd name="connsiteY1" fmla="*/ 0 h 321468"/>
              <a:gd name="connsiteX2" fmla="*/ 8726406 w 8726406"/>
              <a:gd name="connsiteY2" fmla="*/ 321468 h 321468"/>
              <a:gd name="connsiteX3" fmla="*/ 0 w 8726406"/>
              <a:gd name="connsiteY3" fmla="*/ 321468 h 321468"/>
              <a:gd name="connsiteX4" fmla="*/ 0 w 8726406"/>
              <a:gd name="connsiteY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6406" h="321468">
                <a:moveTo>
                  <a:pt x="0" y="0"/>
                </a:moveTo>
                <a:lnTo>
                  <a:pt x="8726406" y="0"/>
                </a:lnTo>
                <a:lnTo>
                  <a:pt x="8726406" y="321468"/>
                </a:lnTo>
                <a:lnTo>
                  <a:pt x="0" y="3214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t" anchorCtr="0">
            <a:noAutofit/>
          </a:bodyPr>
          <a:lstStyle/>
          <a:p>
            <a:pPr marL="0" lvl="0" indent="0" algn="l" defTabSz="311150" latinLnBrk="1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⑨ </a:t>
            </a:r>
            <a:r>
              <a:rPr lang="ko-KR" altLang="en-US" sz="1250" kern="1200" dirty="0">
                <a:solidFill>
                  <a:srgbClr val="FF0000"/>
                </a:solidFill>
                <a:latin typeface="+mn-ea"/>
              </a:rPr>
              <a:t>일반적으로 실시예 또는 시험예를 추가하는 보정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은 신규사항 추가에 해당한다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다만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최초 명세서 등의 기재 범위 내로 볼 수 있는 경우에는 신규사항 추가에 해당하지 않는다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</a:t>
            </a:r>
          </a:p>
        </p:txBody>
      </p:sp>
      <p:sp>
        <p:nvSpPr>
          <p:cNvPr id="28" name="직선 연결선 27">
            <a:extLst>
              <a:ext uri="{FF2B5EF4-FFF2-40B4-BE49-F238E27FC236}">
                <a16:creationId xmlns:a16="http://schemas.microsoft.com/office/drawing/2014/main" id="{9D7289EC-8812-4405-BCB6-AED46C995D52}"/>
              </a:ext>
            </a:extLst>
          </p:cNvPr>
          <p:cNvSpPr/>
          <p:nvPr/>
        </p:nvSpPr>
        <p:spPr>
          <a:xfrm>
            <a:off x="184731" y="4769500"/>
            <a:ext cx="11712977" cy="0"/>
          </a:xfrm>
          <a:prstGeom prst="line">
            <a:avLst/>
          </a:prstGeom>
        </p:spPr>
        <p:style>
          <a:lnRef idx="2">
            <a:schemeClr val="accent1">
              <a:tint val="5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F68FB2EB-C1BB-49E9-A13F-6C3B5556BC8A}"/>
              </a:ext>
            </a:extLst>
          </p:cNvPr>
          <p:cNvSpPr/>
          <p:nvPr/>
        </p:nvSpPr>
        <p:spPr>
          <a:xfrm>
            <a:off x="404349" y="4780279"/>
            <a:ext cx="11493359" cy="425767"/>
          </a:xfrm>
          <a:custGeom>
            <a:avLst/>
            <a:gdLst>
              <a:gd name="connsiteX0" fmla="*/ 0 w 8726406"/>
              <a:gd name="connsiteY0" fmla="*/ 0 h 321468"/>
              <a:gd name="connsiteX1" fmla="*/ 8726406 w 8726406"/>
              <a:gd name="connsiteY1" fmla="*/ 0 h 321468"/>
              <a:gd name="connsiteX2" fmla="*/ 8726406 w 8726406"/>
              <a:gd name="connsiteY2" fmla="*/ 321468 h 321468"/>
              <a:gd name="connsiteX3" fmla="*/ 0 w 8726406"/>
              <a:gd name="connsiteY3" fmla="*/ 321468 h 321468"/>
              <a:gd name="connsiteX4" fmla="*/ 0 w 8726406"/>
              <a:gd name="connsiteY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6406" h="321468">
                <a:moveTo>
                  <a:pt x="0" y="0"/>
                </a:moveTo>
                <a:lnTo>
                  <a:pt x="8726406" y="0"/>
                </a:lnTo>
                <a:lnTo>
                  <a:pt x="8726406" y="321468"/>
                </a:lnTo>
                <a:lnTo>
                  <a:pt x="0" y="3214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t" anchorCtr="0">
            <a:noAutofit/>
          </a:bodyPr>
          <a:lstStyle/>
          <a:p>
            <a:pPr marL="0" lvl="0" indent="0" algn="l" defTabSz="311150" latinLnBrk="1"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⑩ </a:t>
            </a:r>
            <a:r>
              <a:rPr lang="ko-KR" altLang="en-US" sz="1250" kern="1200" dirty="0">
                <a:solidFill>
                  <a:srgbClr val="FF0000"/>
                </a:solidFill>
                <a:latin typeface="+mn-ea"/>
              </a:rPr>
              <a:t>일반적으로 발명의 새로운 효과를 추가하는 보정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은 신규사항 추가에 해당한다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다만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최초 명세서 등에 기재된 발명의 구성 등으로부터 통상의 기술자가 당연히 예측할 수 있는 정도이거나 최초 명세서 등에 기재된 발명의 구성이 그러한 효과를 나타낸다는 것이 해당 기술분야에서 잘 알려진 사실인 경우에는 신규사항 추가에 해당되지 않는다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</a:t>
            </a:r>
          </a:p>
        </p:txBody>
      </p:sp>
      <p:sp>
        <p:nvSpPr>
          <p:cNvPr id="30" name="직선 연결선 29">
            <a:extLst>
              <a:ext uri="{FF2B5EF4-FFF2-40B4-BE49-F238E27FC236}">
                <a16:creationId xmlns:a16="http://schemas.microsoft.com/office/drawing/2014/main" id="{00B0A184-1BA0-4069-A24F-ADF342B5B21C}"/>
              </a:ext>
            </a:extLst>
          </p:cNvPr>
          <p:cNvSpPr/>
          <p:nvPr/>
        </p:nvSpPr>
        <p:spPr>
          <a:xfrm>
            <a:off x="184731" y="5227066"/>
            <a:ext cx="11712977" cy="0"/>
          </a:xfrm>
          <a:prstGeom prst="line">
            <a:avLst/>
          </a:prstGeom>
        </p:spPr>
        <p:style>
          <a:lnRef idx="2">
            <a:schemeClr val="accent1">
              <a:tint val="5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242A70F4-35CF-4580-B7C5-2DFDCE6D6411}"/>
              </a:ext>
            </a:extLst>
          </p:cNvPr>
          <p:cNvSpPr/>
          <p:nvPr/>
        </p:nvSpPr>
        <p:spPr>
          <a:xfrm>
            <a:off x="404349" y="5237845"/>
            <a:ext cx="11493359" cy="425767"/>
          </a:xfrm>
          <a:custGeom>
            <a:avLst/>
            <a:gdLst>
              <a:gd name="connsiteX0" fmla="*/ 0 w 8726406"/>
              <a:gd name="connsiteY0" fmla="*/ 0 h 321468"/>
              <a:gd name="connsiteX1" fmla="*/ 8726406 w 8726406"/>
              <a:gd name="connsiteY1" fmla="*/ 0 h 321468"/>
              <a:gd name="connsiteX2" fmla="*/ 8726406 w 8726406"/>
              <a:gd name="connsiteY2" fmla="*/ 321468 h 321468"/>
              <a:gd name="connsiteX3" fmla="*/ 0 w 8726406"/>
              <a:gd name="connsiteY3" fmla="*/ 321468 h 321468"/>
              <a:gd name="connsiteX4" fmla="*/ 0 w 8726406"/>
              <a:gd name="connsiteY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6406" h="321468">
                <a:moveTo>
                  <a:pt x="0" y="0"/>
                </a:moveTo>
                <a:lnTo>
                  <a:pt x="8726406" y="0"/>
                </a:lnTo>
                <a:lnTo>
                  <a:pt x="8726406" y="321468"/>
                </a:lnTo>
                <a:lnTo>
                  <a:pt x="0" y="3214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t" anchorCtr="0">
            <a:noAutofit/>
          </a:bodyPr>
          <a:lstStyle/>
          <a:p>
            <a:pPr marL="0" lvl="0" indent="0" algn="l" defTabSz="311150" latinLnBrk="1"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⑪ </a:t>
            </a:r>
            <a:r>
              <a:rPr lang="ko-KR" altLang="en-US" sz="1250" kern="1200" dirty="0">
                <a:solidFill>
                  <a:srgbClr val="FF0000"/>
                </a:solidFill>
                <a:latin typeface="+mn-ea"/>
              </a:rPr>
              <a:t>선행기술 문헌명을 명세서에 단순히 추가하는 보정과 선행기술 문헌명과 함께 그 문헌 내용의 간략한 요약만을 추가하는 보정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은 신규사항 추가로 보지 않는다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다만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미완성 발명이 완성되도록 하거나 발명의 실시 등에 관한 발명의 설명 기재요건 미비를 해소하기 위하여 선행기술문헌의 내용을 추가하는 보정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또는 출원발명의 이점을 제시하기 위하여 출원발명과 선행기술을 비교하는 내용을 추가하는 보정은 일반적으로 신규사항 추가에 해당한다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</a:t>
            </a:r>
          </a:p>
        </p:txBody>
      </p:sp>
      <p:sp>
        <p:nvSpPr>
          <p:cNvPr id="32" name="직선 연결선 31">
            <a:extLst>
              <a:ext uri="{FF2B5EF4-FFF2-40B4-BE49-F238E27FC236}">
                <a16:creationId xmlns:a16="http://schemas.microsoft.com/office/drawing/2014/main" id="{112CC94B-265A-4FA3-ACB3-1009C58CBC3C}"/>
              </a:ext>
            </a:extLst>
          </p:cNvPr>
          <p:cNvSpPr/>
          <p:nvPr/>
        </p:nvSpPr>
        <p:spPr>
          <a:xfrm>
            <a:off x="184731" y="5842283"/>
            <a:ext cx="11712977" cy="0"/>
          </a:xfrm>
          <a:prstGeom prst="line">
            <a:avLst/>
          </a:prstGeom>
        </p:spPr>
        <p:style>
          <a:lnRef idx="2">
            <a:schemeClr val="accent1">
              <a:tint val="5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3BD4D861-6CE4-4F95-9A27-B9D12CDC8C6C}"/>
              </a:ext>
            </a:extLst>
          </p:cNvPr>
          <p:cNvSpPr/>
          <p:nvPr/>
        </p:nvSpPr>
        <p:spPr>
          <a:xfrm>
            <a:off x="404349" y="5853060"/>
            <a:ext cx="11493359" cy="425767"/>
          </a:xfrm>
          <a:custGeom>
            <a:avLst/>
            <a:gdLst>
              <a:gd name="connsiteX0" fmla="*/ 0 w 8726406"/>
              <a:gd name="connsiteY0" fmla="*/ 0 h 321468"/>
              <a:gd name="connsiteX1" fmla="*/ 8726406 w 8726406"/>
              <a:gd name="connsiteY1" fmla="*/ 0 h 321468"/>
              <a:gd name="connsiteX2" fmla="*/ 8726406 w 8726406"/>
              <a:gd name="connsiteY2" fmla="*/ 321468 h 321468"/>
              <a:gd name="connsiteX3" fmla="*/ 0 w 8726406"/>
              <a:gd name="connsiteY3" fmla="*/ 321468 h 321468"/>
              <a:gd name="connsiteX4" fmla="*/ 0 w 8726406"/>
              <a:gd name="connsiteY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6406" h="321468">
                <a:moveTo>
                  <a:pt x="0" y="0"/>
                </a:moveTo>
                <a:lnTo>
                  <a:pt x="8726406" y="0"/>
                </a:lnTo>
                <a:lnTo>
                  <a:pt x="8726406" y="321468"/>
                </a:lnTo>
                <a:lnTo>
                  <a:pt x="0" y="3214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t" anchorCtr="0">
            <a:noAutofit/>
          </a:bodyPr>
          <a:lstStyle/>
          <a:p>
            <a:pPr marL="0" lvl="0" indent="0" algn="l" defTabSz="311150" latinLnBrk="1"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⑫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통상의 기술자가 최초 명세서 또는 도면에 오기가 있음을 인식할 수 있고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그러한 오기가 무엇으로 정정되어야 하는지도 명확히 알 수 있다면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그와 같은 오기의 정정은 신규사항 추가로 보지 않는다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또한 명세서 또는 도면 중에 상충하는 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개 이상의 기재 중 어느 것이 올바른 지가 최초 명세서 등의 기재로부터 통상의 기술자에게 자명한 경우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그 올바른 기재로 일치시키는 보정은 신규사항 추가가 아니다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</a:t>
            </a:r>
          </a:p>
        </p:txBody>
      </p:sp>
      <p:sp>
        <p:nvSpPr>
          <p:cNvPr id="34" name="직선 연결선 33">
            <a:extLst>
              <a:ext uri="{FF2B5EF4-FFF2-40B4-BE49-F238E27FC236}">
                <a16:creationId xmlns:a16="http://schemas.microsoft.com/office/drawing/2014/main" id="{2A7109AA-D6BB-49B0-B997-AA18855E5CD7}"/>
              </a:ext>
            </a:extLst>
          </p:cNvPr>
          <p:cNvSpPr/>
          <p:nvPr/>
        </p:nvSpPr>
        <p:spPr>
          <a:xfrm>
            <a:off x="184731" y="6478523"/>
            <a:ext cx="11712977" cy="0"/>
          </a:xfrm>
          <a:prstGeom prst="line">
            <a:avLst/>
          </a:prstGeom>
        </p:spPr>
        <p:style>
          <a:lnRef idx="2">
            <a:schemeClr val="accent1">
              <a:tint val="5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5" name="자유형: 도형 34">
            <a:extLst>
              <a:ext uri="{FF2B5EF4-FFF2-40B4-BE49-F238E27FC236}">
                <a16:creationId xmlns:a16="http://schemas.microsoft.com/office/drawing/2014/main" id="{5A362AB6-5A68-46E3-ACB2-C465D056ECB2}"/>
              </a:ext>
            </a:extLst>
          </p:cNvPr>
          <p:cNvSpPr/>
          <p:nvPr/>
        </p:nvSpPr>
        <p:spPr>
          <a:xfrm>
            <a:off x="404349" y="6426245"/>
            <a:ext cx="11493359" cy="425767"/>
          </a:xfrm>
          <a:custGeom>
            <a:avLst/>
            <a:gdLst>
              <a:gd name="connsiteX0" fmla="*/ 0 w 8726406"/>
              <a:gd name="connsiteY0" fmla="*/ 0 h 321468"/>
              <a:gd name="connsiteX1" fmla="*/ 8726406 w 8726406"/>
              <a:gd name="connsiteY1" fmla="*/ 0 h 321468"/>
              <a:gd name="connsiteX2" fmla="*/ 8726406 w 8726406"/>
              <a:gd name="connsiteY2" fmla="*/ 321468 h 321468"/>
              <a:gd name="connsiteX3" fmla="*/ 0 w 8726406"/>
              <a:gd name="connsiteY3" fmla="*/ 321468 h 321468"/>
              <a:gd name="connsiteX4" fmla="*/ 0 w 8726406"/>
              <a:gd name="connsiteY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6406" h="321468">
                <a:moveTo>
                  <a:pt x="0" y="0"/>
                </a:moveTo>
                <a:lnTo>
                  <a:pt x="8726406" y="0"/>
                </a:lnTo>
                <a:lnTo>
                  <a:pt x="8726406" y="321468"/>
                </a:lnTo>
                <a:lnTo>
                  <a:pt x="0" y="3214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t" anchorCtr="0">
            <a:noAutofit/>
          </a:bodyPr>
          <a:lstStyle/>
          <a:p>
            <a:pPr marL="0" lvl="0" indent="0" algn="l" defTabSz="311150" latinLnBrk="1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1250" kern="12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⑬ </a:t>
            </a:r>
            <a:r>
              <a:rPr lang="ko-KR" altLang="en-US" sz="1250" kern="1200" dirty="0">
                <a:solidFill>
                  <a:srgbClr val="FF0000"/>
                </a:solidFill>
              </a:rPr>
              <a:t>보정된 사항이 </a:t>
            </a:r>
            <a:r>
              <a:rPr lang="ko-KR" altLang="en-US" sz="1250" kern="1200" dirty="0" err="1">
                <a:solidFill>
                  <a:srgbClr val="FF0000"/>
                </a:solidFill>
              </a:rPr>
              <a:t>주지관용기술</a:t>
            </a:r>
            <a:r>
              <a:rPr lang="ko-KR" altLang="en-US" sz="1250" kern="1200" dirty="0" err="1">
                <a:solidFill>
                  <a:schemeClr val="accent1">
                    <a:lumMod val="50000"/>
                  </a:schemeClr>
                </a:solidFill>
              </a:rPr>
              <a:t>이더라도</a:t>
            </a:r>
            <a:r>
              <a:rPr lang="ko-KR" altLang="en-US" sz="1250" kern="1200" dirty="0">
                <a:solidFill>
                  <a:schemeClr val="accent1">
                    <a:lumMod val="50000"/>
                  </a:schemeClr>
                </a:solidFill>
              </a:rPr>
              <a:t> 그것이 통상의 기술자가 최초 명세서 또는 도면에 기재되어 있는 것과 마찬가지라고 이해할 수 있는 사항이 아닌 경우 신규사항추가이다</a:t>
            </a:r>
            <a:r>
              <a:rPr lang="en-US" altLang="ko-KR" sz="1250" kern="1200" dirty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lang="ko-KR" altLang="en-US" sz="1250" kern="1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62124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청구범위의 감축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조제</a:t>
            </a:r>
            <a:r>
              <a:rPr lang="en-US" altLang="ko-KR" dirty="0"/>
              <a:t>3</a:t>
            </a:r>
            <a:r>
              <a:rPr lang="ko-KR" altLang="en-US" dirty="0" err="1"/>
              <a:t>항제</a:t>
            </a:r>
            <a:r>
              <a:rPr lang="en-US" altLang="ko-KR" dirty="0"/>
              <a:t>1</a:t>
            </a:r>
            <a:r>
              <a:rPr lang="ko-KR" altLang="en-US" dirty="0"/>
              <a:t>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청구범위의 감축이란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청구항을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한정 또는 삭제하거나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청구항에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부가</a:t>
            </a:r>
            <a:r>
              <a:rPr lang="ko-KR" altLang="en-US" sz="1400" dirty="0">
                <a:solidFill>
                  <a:schemeClr val="tx2"/>
                </a:solidFill>
              </a:rPr>
              <a:t>하는 것을 말한다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여기서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「</a:t>
            </a:r>
            <a:r>
              <a:rPr lang="ko-KR" altLang="en-US" sz="1400" dirty="0" err="1">
                <a:solidFill>
                  <a:schemeClr val="tx2"/>
                </a:solidFill>
              </a:rPr>
              <a:t>청구항을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한정」하는</a:t>
            </a:r>
            <a:r>
              <a:rPr lang="ko-KR" altLang="en-US" sz="1400" dirty="0">
                <a:solidFill>
                  <a:schemeClr val="tx2"/>
                </a:solidFill>
              </a:rPr>
              <a:t> 경우는 </a:t>
            </a:r>
            <a:r>
              <a:rPr lang="en-US" altLang="ko-KR" sz="1400" dirty="0">
                <a:solidFill>
                  <a:schemeClr val="tx2"/>
                </a:solidFill>
              </a:rPr>
              <a:t>ⅰ) </a:t>
            </a:r>
            <a:r>
              <a:rPr lang="ko-KR" altLang="en-US" sz="1400" dirty="0" err="1">
                <a:solidFill>
                  <a:schemeClr val="tx2"/>
                </a:solidFill>
              </a:rPr>
              <a:t>택일적으로</a:t>
            </a:r>
            <a:r>
              <a:rPr lang="ko-KR" altLang="en-US" sz="1400" dirty="0">
                <a:solidFill>
                  <a:schemeClr val="tx2"/>
                </a:solidFill>
              </a:rPr>
              <a:t> 기재된 요소의 삭제</a:t>
            </a:r>
            <a:r>
              <a:rPr lang="en-US" altLang="ko-KR" sz="1400" dirty="0">
                <a:solidFill>
                  <a:schemeClr val="tx2"/>
                </a:solidFill>
              </a:rPr>
              <a:t>, ⅱ) </a:t>
            </a:r>
            <a:r>
              <a:rPr lang="ko-KR" altLang="en-US" sz="1400" dirty="0">
                <a:solidFill>
                  <a:schemeClr val="tx2"/>
                </a:solidFill>
              </a:rPr>
              <a:t>상위개념의 </a:t>
            </a:r>
            <a:r>
              <a:rPr lang="ko-KR" altLang="en-US" sz="1400" dirty="0" err="1">
                <a:solidFill>
                  <a:schemeClr val="tx2"/>
                </a:solidFill>
              </a:rPr>
              <a:t>기재로부터</a:t>
            </a:r>
            <a:r>
              <a:rPr lang="ko-KR" altLang="en-US" sz="1400" dirty="0">
                <a:solidFill>
                  <a:schemeClr val="tx2"/>
                </a:solidFill>
              </a:rPr>
              <a:t> 하위개념의 기재로의 변경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또는 </a:t>
            </a:r>
            <a:r>
              <a:rPr lang="en-US" altLang="ko-KR" sz="1400" dirty="0">
                <a:solidFill>
                  <a:schemeClr val="tx2"/>
                </a:solidFill>
              </a:rPr>
              <a:t>ⅲ) </a:t>
            </a:r>
            <a:r>
              <a:rPr lang="ko-KR" altLang="en-US" sz="1400" dirty="0" err="1">
                <a:solidFill>
                  <a:schemeClr val="tx2"/>
                </a:solidFill>
              </a:rPr>
              <a:t>수치범위의</a:t>
            </a:r>
            <a:r>
              <a:rPr lang="ko-KR" altLang="en-US" sz="1400" dirty="0">
                <a:solidFill>
                  <a:schemeClr val="tx2"/>
                </a:solidFill>
              </a:rPr>
              <a:t> 축소 등을 말한다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「</a:t>
            </a:r>
            <a:r>
              <a:rPr lang="ko-KR" altLang="en-US" sz="1400" dirty="0" err="1">
                <a:solidFill>
                  <a:schemeClr val="tx2"/>
                </a:solidFill>
              </a:rPr>
              <a:t>청구항을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삭제」하는</a:t>
            </a:r>
            <a:r>
              <a:rPr lang="ko-KR" altLang="en-US" sz="1400" dirty="0">
                <a:solidFill>
                  <a:schemeClr val="tx2"/>
                </a:solidFill>
              </a:rPr>
              <a:t> 경우는 </a:t>
            </a:r>
            <a:r>
              <a:rPr lang="ko-KR" altLang="en-US" sz="1400" dirty="0" err="1">
                <a:solidFill>
                  <a:schemeClr val="tx2"/>
                </a:solidFill>
              </a:rPr>
              <a:t>청구항을</a:t>
            </a:r>
            <a:r>
              <a:rPr lang="ko-KR" altLang="en-US" sz="1400" dirty="0">
                <a:solidFill>
                  <a:schemeClr val="tx2"/>
                </a:solidFill>
              </a:rPr>
              <a:t> 직접 삭제하는 경우뿐만 아니라 </a:t>
            </a:r>
            <a:r>
              <a:rPr lang="ko-KR" altLang="en-US" sz="1400" dirty="0" err="1">
                <a:solidFill>
                  <a:schemeClr val="tx2"/>
                </a:solidFill>
              </a:rPr>
              <a:t>다수항을</a:t>
            </a:r>
            <a:r>
              <a:rPr lang="ko-KR" altLang="en-US" sz="1400" dirty="0">
                <a:solidFill>
                  <a:schemeClr val="tx2"/>
                </a:solidFill>
              </a:rPr>
              <a:t> 인용하는 </a:t>
            </a:r>
            <a:r>
              <a:rPr lang="ko-KR" altLang="en-US" sz="1400" dirty="0" err="1">
                <a:solidFill>
                  <a:schemeClr val="tx2"/>
                </a:solidFill>
              </a:rPr>
              <a:t>종속항에서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인용항수를</a:t>
            </a:r>
            <a:r>
              <a:rPr lang="ko-KR" altLang="en-US" sz="1400" dirty="0">
                <a:solidFill>
                  <a:schemeClr val="tx2"/>
                </a:solidFill>
              </a:rPr>
              <a:t> 감소하는 것도 포함된다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「</a:t>
            </a:r>
            <a:r>
              <a:rPr lang="ko-KR" altLang="en-US" sz="1400" dirty="0" err="1">
                <a:solidFill>
                  <a:schemeClr val="tx2"/>
                </a:solidFill>
              </a:rPr>
              <a:t>청구항에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부가」하는</a:t>
            </a:r>
            <a:r>
              <a:rPr lang="ko-KR" altLang="en-US" sz="1400" dirty="0">
                <a:solidFill>
                  <a:schemeClr val="tx2"/>
                </a:solidFill>
              </a:rPr>
              <a:t> 경우는 청구항의 구성요소를 </a:t>
            </a:r>
            <a:r>
              <a:rPr lang="ko-KR" altLang="en-US" sz="1400" dirty="0" err="1">
                <a:solidFill>
                  <a:schemeClr val="tx2"/>
                </a:solidFill>
              </a:rPr>
              <a:t>직렬적으로</a:t>
            </a:r>
            <a:r>
              <a:rPr lang="ko-KR" altLang="en-US" sz="1400" dirty="0">
                <a:solidFill>
                  <a:schemeClr val="tx2"/>
                </a:solidFill>
              </a:rPr>
              <a:t> 부가하는 것을 의미한다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0" y="176110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971106"/>
              </p:ext>
            </p:extLst>
          </p:nvPr>
        </p:nvGraphicFramePr>
        <p:xfrm>
          <a:off x="5038725" y="2067720"/>
          <a:ext cx="6810375" cy="4390229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616358">
                  <a:extLst>
                    <a:ext uri="{9D8B030D-6E8A-4147-A177-3AD203B41FA5}">
                      <a16:colId xmlns:a16="http://schemas.microsoft.com/office/drawing/2014/main" val="1252374931"/>
                    </a:ext>
                  </a:extLst>
                </a:gridCol>
                <a:gridCol w="5194017">
                  <a:extLst>
                    <a:ext uri="{9D8B030D-6E8A-4147-A177-3AD203B41FA5}">
                      <a16:colId xmlns:a16="http://schemas.microsoft.com/office/drawing/2014/main" val="1803973879"/>
                    </a:ext>
                  </a:extLst>
                </a:gridCol>
              </a:tblGrid>
              <a:tr h="2630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구 분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구체적 예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614047"/>
                  </a:ext>
                </a:extLst>
              </a:tr>
              <a:tr h="48301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179388" algn="l"/>
                          <a:tab pos="185738" algn="l"/>
                          <a:tab pos="185738" algn="l"/>
                        </a:tabLst>
                      </a:pPr>
                      <a:r>
                        <a:rPr lang="ko-KR" altLang="en-US" sz="1200" kern="1200" dirty="0"/>
                        <a:t>상위개념의 기재로의 변경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368300" marR="0" indent="-3683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6690" algn="l"/>
                          <a:tab pos="321310" algn="l"/>
                          <a:tab pos="186690" algn="l"/>
                          <a:tab pos="321310" algn="l"/>
                        </a:tabLst>
                      </a:pPr>
                      <a:r>
                        <a:rPr lang="ko-KR" altLang="en-US" sz="1200" kern="1200" dirty="0"/>
                        <a:t>당초</a:t>
                      </a:r>
                      <a:r>
                        <a:rPr lang="en-US" altLang="ko-KR" sz="1200" kern="1200" dirty="0"/>
                        <a:t>: ...</a:t>
                      </a:r>
                      <a:r>
                        <a:rPr lang="ko-KR" altLang="en-US" sz="1200" kern="1200" dirty="0"/>
                        <a:t>스프링으로 지지되는</a:t>
                      </a:r>
                      <a:r>
                        <a:rPr lang="en-US" altLang="ko-KR" sz="1200" kern="1200" dirty="0"/>
                        <a:t>..... </a:t>
                      </a:r>
                      <a:r>
                        <a:rPr lang="ko-KR" altLang="en-US" sz="1200" kern="1200" dirty="0"/>
                        <a:t>→ </a:t>
                      </a:r>
                      <a:r>
                        <a:rPr lang="en-US" altLang="ko-KR" sz="1200" kern="1200" dirty="0"/>
                        <a:t>....</a:t>
                      </a:r>
                      <a:r>
                        <a:rPr lang="ko-KR" altLang="en-US" sz="1200" kern="1200" dirty="0"/>
                        <a:t>탄성체로 지지되는</a:t>
                      </a:r>
                      <a:r>
                        <a:rPr lang="en-US" altLang="ko-KR" sz="1200" kern="1200" dirty="0"/>
                        <a:t>...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3522068117"/>
                  </a:ext>
                </a:extLst>
              </a:tr>
              <a:tr h="2630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6690" algn="l"/>
                          <a:tab pos="321310" algn="l"/>
                          <a:tab pos="186690" algn="l"/>
                          <a:tab pos="321310" algn="l"/>
                        </a:tabLst>
                      </a:pPr>
                      <a:r>
                        <a:rPr lang="ko-KR" altLang="en-US" sz="1200" kern="1200" dirty="0" err="1"/>
                        <a:t>직렬적</a:t>
                      </a:r>
                      <a:r>
                        <a:rPr lang="ko-KR" altLang="en-US" sz="1200" kern="1200" dirty="0"/>
                        <a:t> 구성요소의 삭제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368300" marR="0" indent="-3683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6690" algn="l"/>
                          <a:tab pos="321310" algn="l"/>
                          <a:tab pos="186690" algn="l"/>
                          <a:tab pos="321310" algn="l"/>
                        </a:tabLst>
                      </a:pPr>
                      <a:r>
                        <a:rPr lang="ko-KR" altLang="en-US" sz="1200" kern="1200" dirty="0"/>
                        <a:t>당초</a:t>
                      </a:r>
                      <a:r>
                        <a:rPr lang="en-US" altLang="ko-KR" sz="1200" kern="1200" dirty="0"/>
                        <a:t>: A, B, C, D</a:t>
                      </a:r>
                      <a:r>
                        <a:rPr lang="ko-KR" altLang="en-US" sz="1200" kern="1200" dirty="0"/>
                        <a:t>로 구성된 자동차 → </a:t>
                      </a:r>
                      <a:r>
                        <a:rPr lang="en-US" altLang="ko-KR" sz="1200" kern="1200" dirty="0"/>
                        <a:t>A, B, C</a:t>
                      </a:r>
                      <a:r>
                        <a:rPr lang="ko-KR" altLang="en-US" sz="1200" kern="1200" dirty="0"/>
                        <a:t>로 구성된 자동차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510045115"/>
                  </a:ext>
                </a:extLst>
              </a:tr>
              <a:tr h="2630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738" algn="l"/>
                          <a:tab pos="185738" algn="l"/>
                        </a:tabLst>
                      </a:pPr>
                      <a:r>
                        <a:rPr lang="ko-KR" altLang="en-US" sz="1200" kern="1200" dirty="0" err="1"/>
                        <a:t>직렬적</a:t>
                      </a:r>
                      <a:r>
                        <a:rPr lang="ko-KR" altLang="en-US" sz="1200" kern="1200" dirty="0"/>
                        <a:t> 구성요소의 가감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368300" marR="0" indent="-3683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6690" algn="l"/>
                          <a:tab pos="321310" algn="l"/>
                          <a:tab pos="186690" algn="l"/>
                          <a:tab pos="321310" algn="l"/>
                        </a:tabLst>
                      </a:pPr>
                      <a:r>
                        <a:rPr lang="ko-KR" altLang="en-US" sz="1200" kern="1200" dirty="0"/>
                        <a:t>당초</a:t>
                      </a:r>
                      <a:r>
                        <a:rPr lang="en-US" altLang="ko-KR" sz="1200" kern="1200" dirty="0"/>
                        <a:t>: A, B, C</a:t>
                      </a:r>
                      <a:r>
                        <a:rPr lang="ko-KR" altLang="en-US" sz="1200" kern="1200" dirty="0"/>
                        <a:t>로 구성된 장치 → </a:t>
                      </a:r>
                      <a:r>
                        <a:rPr lang="en-US" altLang="ko-KR" sz="1200" kern="1200" dirty="0"/>
                        <a:t>B, C, D, E</a:t>
                      </a:r>
                      <a:r>
                        <a:rPr lang="ko-KR" altLang="en-US" sz="1200" kern="1200" dirty="0"/>
                        <a:t>로 구성된 장치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2263474432"/>
                  </a:ext>
                </a:extLst>
              </a:tr>
              <a:tr h="2630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6690" algn="l"/>
                          <a:tab pos="321310" algn="l"/>
                          <a:tab pos="186690" algn="l"/>
                          <a:tab pos="321310" algn="l"/>
                        </a:tabLst>
                      </a:pPr>
                      <a:r>
                        <a:rPr lang="ko-KR" altLang="en-US" sz="1200" kern="1200" dirty="0" err="1"/>
                        <a:t>수치범위의</a:t>
                      </a:r>
                      <a:r>
                        <a:rPr lang="ko-KR" altLang="en-US" sz="1200" kern="1200" dirty="0"/>
                        <a:t> 확장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368300" marR="0" indent="-3683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6690" algn="l"/>
                          <a:tab pos="321310" algn="l"/>
                          <a:tab pos="186690" algn="l"/>
                          <a:tab pos="321310" algn="l"/>
                        </a:tabLst>
                      </a:pPr>
                      <a:r>
                        <a:rPr lang="ko-KR" altLang="en-US" sz="1200" kern="1200" dirty="0"/>
                        <a:t>당초</a:t>
                      </a:r>
                      <a:r>
                        <a:rPr lang="en-US" altLang="ko-KR" sz="1200" kern="1200" dirty="0"/>
                        <a:t>: 10</a:t>
                      </a:r>
                      <a:r>
                        <a:rPr lang="ko-KR" altLang="en-US" sz="1200" kern="1200" dirty="0"/>
                        <a:t>～</a:t>
                      </a:r>
                      <a:r>
                        <a:rPr lang="en-US" altLang="ko-KR" sz="1200" kern="1200" dirty="0"/>
                        <a:t>50°C</a:t>
                      </a:r>
                      <a:r>
                        <a:rPr lang="ko-KR" altLang="en-US" sz="1200" kern="1200" dirty="0"/>
                        <a:t>의 온도에서</a:t>
                      </a:r>
                      <a:r>
                        <a:rPr lang="en-US" altLang="ko-KR" sz="1200" kern="1200" dirty="0"/>
                        <a:t>... </a:t>
                      </a:r>
                      <a:r>
                        <a:rPr lang="ko-KR" altLang="en-US" sz="1200" kern="1200" dirty="0"/>
                        <a:t>→ </a:t>
                      </a:r>
                      <a:r>
                        <a:rPr lang="en-US" altLang="ko-KR" sz="1200" kern="1200" dirty="0"/>
                        <a:t>10</a:t>
                      </a:r>
                      <a:r>
                        <a:rPr lang="ko-KR" altLang="en-US" sz="1200" kern="1200" dirty="0"/>
                        <a:t>～</a:t>
                      </a:r>
                      <a:r>
                        <a:rPr lang="en-US" altLang="ko-KR" sz="1200" kern="1200" dirty="0"/>
                        <a:t>70°C</a:t>
                      </a:r>
                      <a:r>
                        <a:rPr lang="ko-KR" altLang="en-US" sz="1200" kern="1200" dirty="0"/>
                        <a:t>의 온도에서</a:t>
                      </a:r>
                      <a:r>
                        <a:rPr lang="en-US" altLang="ko-KR" sz="1200" kern="1200" dirty="0"/>
                        <a:t>....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1629478147"/>
                  </a:ext>
                </a:extLst>
              </a:tr>
              <a:tr h="2630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738" algn="l"/>
                          <a:tab pos="185738" algn="l"/>
                          <a:tab pos="320675" algn="l"/>
                        </a:tabLst>
                      </a:pPr>
                      <a:r>
                        <a:rPr lang="ko-KR" altLang="en-US" sz="1200" kern="1200" dirty="0"/>
                        <a:t>구성요소의 치환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368300" marR="0" indent="-3683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6690" algn="l"/>
                          <a:tab pos="321310" algn="l"/>
                          <a:tab pos="186690" algn="l"/>
                          <a:tab pos="321310" algn="l"/>
                        </a:tabLst>
                      </a:pPr>
                      <a:r>
                        <a:rPr lang="ko-KR" altLang="en-US" sz="1200" kern="1200" dirty="0"/>
                        <a:t>당초</a:t>
                      </a:r>
                      <a:r>
                        <a:rPr lang="en-US" altLang="ko-KR" sz="1200" kern="1200" dirty="0"/>
                        <a:t>: </a:t>
                      </a:r>
                      <a:r>
                        <a:rPr lang="ko-KR" altLang="en-US" sz="1200" kern="1200" dirty="0"/>
                        <a:t>볼트로 결합시킨</a:t>
                      </a:r>
                      <a:r>
                        <a:rPr lang="en-US" altLang="ko-KR" sz="1200" kern="1200" dirty="0"/>
                        <a:t>... </a:t>
                      </a:r>
                      <a:r>
                        <a:rPr lang="ko-KR" altLang="en-US" sz="1200" kern="1200" dirty="0"/>
                        <a:t>→ </a:t>
                      </a:r>
                      <a:r>
                        <a:rPr lang="ko-KR" altLang="en-US" sz="1200" kern="1200" dirty="0" err="1"/>
                        <a:t>리벳으로</a:t>
                      </a:r>
                      <a:r>
                        <a:rPr lang="ko-KR" altLang="en-US" sz="1200" kern="1200" dirty="0"/>
                        <a:t> 결합시킨</a:t>
                      </a:r>
                      <a:r>
                        <a:rPr lang="en-US" altLang="ko-KR" sz="1200" kern="1200" dirty="0"/>
                        <a:t>....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1427762346"/>
                  </a:ext>
                </a:extLst>
              </a:tr>
              <a:tr h="2630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738" algn="l"/>
                          <a:tab pos="185738" algn="l"/>
                        </a:tabLst>
                      </a:pPr>
                      <a:r>
                        <a:rPr lang="ko-KR" altLang="en-US" sz="1200" kern="1200" dirty="0" err="1"/>
                        <a:t>수치범위의</a:t>
                      </a:r>
                      <a:r>
                        <a:rPr lang="ko-KR" altLang="en-US" sz="1200" kern="1200" dirty="0"/>
                        <a:t> 변경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368300" marR="0" indent="-3683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6690" algn="l"/>
                          <a:tab pos="321310" algn="l"/>
                          <a:tab pos="186690" algn="l"/>
                          <a:tab pos="321310" algn="l"/>
                        </a:tabLst>
                      </a:pPr>
                      <a:r>
                        <a:rPr lang="ko-KR" altLang="en-US" sz="1200" kern="1200" dirty="0"/>
                        <a:t>당초</a:t>
                      </a:r>
                      <a:r>
                        <a:rPr lang="en-US" altLang="ko-KR" sz="1200" kern="1200" dirty="0"/>
                        <a:t>: 10</a:t>
                      </a:r>
                      <a:r>
                        <a:rPr lang="ko-KR" altLang="en-US" sz="1200" kern="1200" dirty="0"/>
                        <a:t>～</a:t>
                      </a:r>
                      <a:r>
                        <a:rPr lang="en-US" altLang="ko-KR" sz="1200" kern="1200" dirty="0"/>
                        <a:t>20°C</a:t>
                      </a:r>
                      <a:r>
                        <a:rPr lang="ko-KR" altLang="en-US" sz="1200" kern="1200" dirty="0"/>
                        <a:t>의 온도에서</a:t>
                      </a:r>
                      <a:r>
                        <a:rPr lang="en-US" altLang="ko-KR" sz="1200" kern="1200" dirty="0"/>
                        <a:t>... </a:t>
                      </a:r>
                      <a:r>
                        <a:rPr lang="ko-KR" altLang="en-US" sz="1200" kern="1200" dirty="0"/>
                        <a:t>→ </a:t>
                      </a:r>
                      <a:r>
                        <a:rPr lang="en-US" altLang="ko-KR" sz="1200" kern="1200" dirty="0"/>
                        <a:t>30</a:t>
                      </a:r>
                      <a:r>
                        <a:rPr lang="ko-KR" altLang="en-US" sz="1200" kern="1200" dirty="0"/>
                        <a:t>～</a:t>
                      </a:r>
                      <a:r>
                        <a:rPr lang="en-US" altLang="ko-KR" sz="1200" kern="1200" dirty="0"/>
                        <a:t>50°C</a:t>
                      </a:r>
                      <a:r>
                        <a:rPr lang="ko-KR" altLang="en-US" sz="1200" kern="1200" dirty="0"/>
                        <a:t>의 온도에서</a:t>
                      </a:r>
                      <a:r>
                        <a:rPr lang="en-US" altLang="ko-KR" sz="1200" kern="1200" dirty="0"/>
                        <a:t>....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2910195488"/>
                  </a:ext>
                </a:extLst>
              </a:tr>
              <a:tr h="263047">
                <a:tc>
                  <a:txBody>
                    <a:bodyPr/>
                    <a:lstStyle/>
                    <a:p>
                      <a:pPr marL="368300" marR="0" indent="-3683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738" algn="l"/>
                          <a:tab pos="185738" algn="l"/>
                        </a:tabLst>
                      </a:pPr>
                      <a:r>
                        <a:rPr lang="ko-KR" altLang="en-US" sz="1200" kern="1200" dirty="0" err="1"/>
                        <a:t>택일적</a:t>
                      </a:r>
                      <a:r>
                        <a:rPr lang="ko-KR" altLang="en-US" sz="1200" kern="1200" dirty="0"/>
                        <a:t> 요소의 추가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368300" marR="0" indent="-36830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6690" algn="l"/>
                          <a:tab pos="321310" algn="l"/>
                          <a:tab pos="186690" algn="l"/>
                          <a:tab pos="321310" algn="l"/>
                        </a:tabLst>
                        <a:defRPr/>
                      </a:pPr>
                      <a:r>
                        <a:rPr lang="en-US" altLang="ko-KR" sz="1200" kern="1200" dirty="0"/>
                        <a:t>Fe </a:t>
                      </a:r>
                      <a:r>
                        <a:rPr lang="ko-KR" altLang="en-US" sz="1200" kern="1200" dirty="0"/>
                        <a:t>또는 </a:t>
                      </a:r>
                      <a:r>
                        <a:rPr lang="en-US" altLang="ko-KR" sz="1200" kern="1200" dirty="0"/>
                        <a:t>Al</a:t>
                      </a:r>
                      <a:r>
                        <a:rPr lang="ko-KR" altLang="en-US" sz="1200" kern="1200" dirty="0"/>
                        <a:t>로</a:t>
                      </a:r>
                      <a:r>
                        <a:rPr lang="en-US" altLang="ko-KR" sz="1200" kern="1200" dirty="0"/>
                        <a:t>...</a:t>
                      </a:r>
                      <a:r>
                        <a:rPr lang="ko-KR" altLang="en-US" sz="1200" kern="1200" dirty="0"/>
                        <a:t>→ </a:t>
                      </a:r>
                      <a:r>
                        <a:rPr lang="en-US" altLang="ko-KR" sz="1200" kern="1200" dirty="0"/>
                        <a:t>Fe, Al </a:t>
                      </a:r>
                      <a:r>
                        <a:rPr lang="ko-KR" altLang="en-US" sz="1200" kern="1200" dirty="0"/>
                        <a:t>또는 </a:t>
                      </a:r>
                      <a:r>
                        <a:rPr lang="en-US" altLang="ko-KR" sz="1200" kern="1200" dirty="0"/>
                        <a:t>Cu</a:t>
                      </a:r>
                      <a:r>
                        <a:rPr lang="ko-KR" altLang="en-US" sz="1200" kern="1200" dirty="0"/>
                        <a:t>로</a:t>
                      </a:r>
                      <a:r>
                        <a:rPr lang="en-US" altLang="ko-KR" sz="1200" kern="1200" dirty="0"/>
                        <a:t>....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253574147"/>
                  </a:ext>
                </a:extLst>
              </a:tr>
              <a:tr h="263047">
                <a:tc>
                  <a:txBody>
                    <a:bodyPr/>
                    <a:lstStyle/>
                    <a:p>
                      <a:pPr marL="368300" marR="0" indent="-3683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6690" algn="l"/>
                          <a:tab pos="321310" algn="l"/>
                          <a:tab pos="186690" algn="l"/>
                          <a:tab pos="321310" algn="l"/>
                        </a:tabLst>
                      </a:pPr>
                      <a:r>
                        <a:rPr lang="ko-KR" altLang="en-US" sz="1200" kern="1200" dirty="0" err="1"/>
                        <a:t>인용항의</a:t>
                      </a:r>
                      <a:r>
                        <a:rPr lang="ko-KR" altLang="en-US" sz="1200" kern="1200" dirty="0"/>
                        <a:t> 추가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368300" marR="0" indent="-36830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6690" algn="l"/>
                          <a:tab pos="321310" algn="l"/>
                          <a:tab pos="186690" algn="l"/>
                          <a:tab pos="321310" algn="l"/>
                        </a:tabLst>
                        <a:defRPr/>
                      </a:pPr>
                      <a:r>
                        <a:rPr lang="ko-KR" altLang="en-US" sz="1200" kern="1200" dirty="0" err="1"/>
                        <a:t>청구항</a:t>
                      </a:r>
                      <a:r>
                        <a:rPr lang="en-US" altLang="ko-KR" sz="1200" kern="1200" dirty="0"/>
                        <a:t>1</a:t>
                      </a:r>
                      <a:r>
                        <a:rPr lang="ko-KR" altLang="en-US" sz="1200" kern="1200" dirty="0"/>
                        <a:t>에 있어서</a:t>
                      </a:r>
                      <a:r>
                        <a:rPr lang="en-US" altLang="ko-KR" sz="1200" kern="1200" dirty="0"/>
                        <a:t>...</a:t>
                      </a:r>
                      <a:r>
                        <a:rPr lang="ko-KR" altLang="en-US" sz="1200" kern="1200" dirty="0"/>
                        <a:t>→ </a:t>
                      </a:r>
                      <a:r>
                        <a:rPr lang="ko-KR" altLang="en-US" sz="1200" kern="1200" dirty="0" err="1"/>
                        <a:t>청구항</a:t>
                      </a:r>
                      <a:r>
                        <a:rPr lang="en-US" altLang="ko-KR" sz="1200" kern="1200" dirty="0"/>
                        <a:t>1 </a:t>
                      </a:r>
                      <a:r>
                        <a:rPr lang="ko-KR" altLang="en-US" sz="1200" kern="1200" dirty="0"/>
                        <a:t>또는 </a:t>
                      </a:r>
                      <a:r>
                        <a:rPr lang="ko-KR" altLang="en-US" sz="1200" kern="1200" dirty="0" err="1"/>
                        <a:t>청구항</a:t>
                      </a:r>
                      <a:r>
                        <a:rPr lang="en-US" altLang="ko-KR" sz="1200" kern="1200" dirty="0"/>
                        <a:t>2</a:t>
                      </a:r>
                      <a:r>
                        <a:rPr lang="ko-KR" altLang="en-US" sz="1200" kern="1200" dirty="0"/>
                        <a:t>에 있어서</a:t>
                      </a:r>
                      <a:r>
                        <a:rPr lang="en-US" altLang="ko-KR" sz="1200" kern="1200" dirty="0"/>
                        <a:t>....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3574795225"/>
                  </a:ext>
                </a:extLst>
              </a:tr>
              <a:tr h="180283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6690" algn="l"/>
                          <a:tab pos="321310" algn="l"/>
                          <a:tab pos="186690" algn="l"/>
                          <a:tab pos="321310" algn="l"/>
                        </a:tabLst>
                      </a:pPr>
                      <a:r>
                        <a:rPr lang="ko-KR" altLang="en-US" sz="12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항 정리 차원에서 청구항의 신설</a:t>
                      </a:r>
                      <a:endParaRPr lang="en-US" altLang="ko-KR" sz="1200" kern="12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6690" algn="l"/>
                          <a:tab pos="321310" algn="l"/>
                          <a:tab pos="186690" algn="l"/>
                          <a:tab pos="321310" algn="l"/>
                        </a:tabLst>
                      </a:pPr>
                      <a:r>
                        <a:rPr lang="en-US" altLang="ko-KR" sz="12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청구범위의 감축</a:t>
                      </a:r>
                      <a:r>
                        <a:rPr lang="en-US" altLang="ko-KR" sz="12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fontAlgn="base" latinLnBrk="1">
                        <a:lnSpc>
                          <a:spcPct val="100000"/>
                        </a:lnSpc>
                      </a:pPr>
                      <a:r>
                        <a:rPr lang="en-US" altLang="ko-KR" sz="1200" kern="1200" dirty="0"/>
                        <a:t> (</a:t>
                      </a:r>
                      <a:r>
                        <a:rPr lang="ko-KR" altLang="en-US" sz="1200" kern="1200" dirty="0"/>
                        <a:t>보정 전</a:t>
                      </a:r>
                      <a:r>
                        <a:rPr lang="en-US" altLang="ko-KR" sz="1200" kern="1200" dirty="0"/>
                        <a:t>)</a:t>
                      </a:r>
                      <a:endParaRPr lang="ko-KR" altLang="en-US" sz="1200" kern="1200" dirty="0"/>
                    </a:p>
                    <a:p>
                      <a:pPr fontAlgn="base" latinLnBrk="1">
                        <a:lnSpc>
                          <a:spcPct val="100000"/>
                        </a:lnSpc>
                      </a:pPr>
                      <a:r>
                        <a:rPr lang="en-US" altLang="ko-KR" sz="1200" kern="1200" dirty="0"/>
                        <a:t>【</a:t>
                      </a:r>
                      <a:r>
                        <a:rPr lang="ko-KR" altLang="en-US" sz="1200" kern="1200" dirty="0" err="1"/>
                        <a:t>청구항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en-US" altLang="ko-KR" sz="1200" kern="1200" dirty="0"/>
                        <a:t>1】 </a:t>
                      </a:r>
                      <a:r>
                        <a:rPr lang="ko-KR" altLang="en-US" sz="1200" kern="1200" dirty="0"/>
                        <a:t>구성요소 </a:t>
                      </a:r>
                      <a:r>
                        <a:rPr lang="en-US" altLang="ko-KR" sz="1200" kern="1200" dirty="0"/>
                        <a:t>A, B, C </a:t>
                      </a:r>
                      <a:r>
                        <a:rPr lang="ko-KR" altLang="en-US" sz="1200" kern="1200" dirty="0"/>
                        <a:t>로 이루어진 물건</a:t>
                      </a:r>
                    </a:p>
                    <a:p>
                      <a:pPr fontAlgn="base" latinLnBrk="1">
                        <a:lnSpc>
                          <a:spcPct val="100000"/>
                        </a:lnSpc>
                      </a:pPr>
                      <a:r>
                        <a:rPr lang="en-US" altLang="ko-KR" sz="1200" kern="1200" dirty="0"/>
                        <a:t>【</a:t>
                      </a:r>
                      <a:r>
                        <a:rPr lang="ko-KR" altLang="en-US" sz="1200" kern="1200" dirty="0" err="1"/>
                        <a:t>청구항</a:t>
                      </a:r>
                      <a:r>
                        <a:rPr lang="en-US" altLang="ko-KR" sz="1200" kern="1200" dirty="0"/>
                        <a:t>2】</a:t>
                      </a:r>
                      <a:r>
                        <a:rPr lang="ko-KR" altLang="en-US" sz="1200" kern="1200" dirty="0" err="1"/>
                        <a:t>청구항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en-US" altLang="ko-KR" sz="1200" kern="1200" dirty="0"/>
                        <a:t>1</a:t>
                      </a:r>
                      <a:r>
                        <a:rPr lang="ko-KR" altLang="en-US" sz="1200" kern="1200" dirty="0"/>
                        <a:t>에 있어서</a:t>
                      </a:r>
                      <a:r>
                        <a:rPr lang="en-US" altLang="ko-KR" sz="1200" kern="1200" dirty="0"/>
                        <a:t>, </a:t>
                      </a:r>
                      <a:r>
                        <a:rPr lang="ko-KR" altLang="en-US" sz="1200" kern="1200" dirty="0"/>
                        <a:t>구성요소 </a:t>
                      </a:r>
                      <a:r>
                        <a:rPr lang="en-US" altLang="ko-KR" sz="1200" kern="1200" dirty="0"/>
                        <a:t>A </a:t>
                      </a:r>
                      <a:r>
                        <a:rPr lang="ko-KR" altLang="en-US" sz="1200" kern="1200" dirty="0"/>
                        <a:t>는 </a:t>
                      </a:r>
                      <a:r>
                        <a:rPr lang="en-US" altLang="ko-KR" sz="1200" kern="1200" dirty="0"/>
                        <a:t>a1, a2, a3 </a:t>
                      </a:r>
                      <a:r>
                        <a:rPr lang="ko-KR" altLang="en-US" sz="1200" kern="1200" dirty="0"/>
                        <a:t>중 하나로 이루어진 물건</a:t>
                      </a:r>
                    </a:p>
                    <a:p>
                      <a:pPr fontAlgn="base" latinLnBrk="1">
                        <a:lnSpc>
                          <a:spcPct val="100000"/>
                        </a:lnSpc>
                      </a:pPr>
                      <a:r>
                        <a:rPr lang="ko-KR" altLang="en-US" sz="1200" kern="1200" dirty="0"/>
                        <a:t> 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 err="1"/>
                        <a:t>보정후</a:t>
                      </a:r>
                      <a:r>
                        <a:rPr lang="en-US" altLang="ko-KR" sz="1200" kern="1200" dirty="0"/>
                        <a:t>)</a:t>
                      </a:r>
                      <a:endParaRPr lang="ko-KR" altLang="en-US" sz="1200" kern="1200" dirty="0"/>
                    </a:p>
                    <a:p>
                      <a:pPr fontAlgn="base" latinLnBrk="1">
                        <a:lnSpc>
                          <a:spcPct val="100000"/>
                        </a:lnSpc>
                      </a:pPr>
                      <a:r>
                        <a:rPr lang="en-US" altLang="ko-KR" sz="1200" kern="1200" dirty="0"/>
                        <a:t>【</a:t>
                      </a:r>
                      <a:r>
                        <a:rPr lang="ko-KR" altLang="en-US" sz="1200" kern="1200" dirty="0" err="1"/>
                        <a:t>청구항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en-US" altLang="ko-KR" sz="1200" kern="1200" dirty="0"/>
                        <a:t>1】</a:t>
                      </a:r>
                      <a:r>
                        <a:rPr lang="ko-KR" altLang="en-US" sz="1200" kern="1200" dirty="0"/>
                        <a:t>삭제</a:t>
                      </a:r>
                    </a:p>
                    <a:p>
                      <a:pPr fontAlgn="base" latinLnBrk="1">
                        <a:lnSpc>
                          <a:spcPct val="100000"/>
                        </a:lnSpc>
                      </a:pPr>
                      <a:r>
                        <a:rPr lang="en-US" altLang="ko-KR" sz="1200" kern="1200" dirty="0"/>
                        <a:t>【</a:t>
                      </a:r>
                      <a:r>
                        <a:rPr lang="ko-KR" altLang="en-US" sz="1200" kern="1200" dirty="0" err="1"/>
                        <a:t>청구항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en-US" altLang="ko-KR" sz="1200" kern="1200" dirty="0"/>
                        <a:t>2】(</a:t>
                      </a:r>
                      <a:r>
                        <a:rPr lang="ko-KR" altLang="en-US" sz="1200" kern="1200" dirty="0"/>
                        <a:t>정정</a:t>
                      </a:r>
                      <a:r>
                        <a:rPr lang="en-US" altLang="ko-KR" sz="1200" kern="1200" dirty="0"/>
                        <a:t>) </a:t>
                      </a:r>
                      <a:r>
                        <a:rPr lang="ko-KR" altLang="en-US" sz="1200" kern="1200" dirty="0"/>
                        <a:t>구성요소 </a:t>
                      </a:r>
                      <a:r>
                        <a:rPr lang="en-US" altLang="ko-KR" sz="1200" kern="1200" dirty="0"/>
                        <a:t>a1, B, C </a:t>
                      </a:r>
                      <a:r>
                        <a:rPr lang="ko-KR" altLang="en-US" sz="1200" kern="1200" dirty="0"/>
                        <a:t>로 이루어진 물건 </a:t>
                      </a:r>
                    </a:p>
                    <a:p>
                      <a:pPr fontAlgn="base" latinLnBrk="1">
                        <a:lnSpc>
                          <a:spcPct val="100000"/>
                        </a:lnSpc>
                      </a:pPr>
                      <a:r>
                        <a:rPr lang="en-US" altLang="ko-KR" sz="1200" kern="1200" dirty="0"/>
                        <a:t>【</a:t>
                      </a:r>
                      <a:r>
                        <a:rPr lang="ko-KR" altLang="en-US" sz="1200" kern="1200" dirty="0" err="1"/>
                        <a:t>청구항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en-US" altLang="ko-KR" sz="1200" kern="1200" dirty="0"/>
                        <a:t>3】(</a:t>
                      </a:r>
                      <a:r>
                        <a:rPr lang="ko-KR" altLang="en-US" sz="1200" kern="1200" dirty="0" err="1"/>
                        <a:t>청구항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en-US" altLang="ko-KR" sz="1200" kern="1200" dirty="0"/>
                        <a:t>2 </a:t>
                      </a:r>
                      <a:r>
                        <a:rPr lang="ko-KR" altLang="en-US" sz="1200" kern="1200" dirty="0"/>
                        <a:t>정정</a:t>
                      </a:r>
                      <a:r>
                        <a:rPr lang="en-US" altLang="ko-KR" sz="1200" kern="1200" dirty="0"/>
                        <a:t>) </a:t>
                      </a:r>
                      <a:r>
                        <a:rPr lang="ko-KR" altLang="en-US" sz="1200" kern="1200" dirty="0"/>
                        <a:t>구성요소 </a:t>
                      </a:r>
                      <a:r>
                        <a:rPr lang="en-US" altLang="ko-KR" sz="1200" kern="1200" dirty="0"/>
                        <a:t>a2, B, C </a:t>
                      </a:r>
                      <a:r>
                        <a:rPr lang="ko-KR" altLang="en-US" sz="1200" kern="1200" dirty="0"/>
                        <a:t>로 이루어진 물건 </a:t>
                      </a:r>
                    </a:p>
                    <a:p>
                      <a:pPr fontAlgn="base" latinLnBrk="1">
                        <a:lnSpc>
                          <a:spcPct val="100000"/>
                        </a:lnSpc>
                      </a:pPr>
                      <a:r>
                        <a:rPr lang="en-US" altLang="ko-KR" sz="1200" kern="1200" dirty="0"/>
                        <a:t>【</a:t>
                      </a:r>
                      <a:r>
                        <a:rPr lang="ko-KR" altLang="en-US" sz="1200" kern="1200" dirty="0" err="1"/>
                        <a:t>청구항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en-US" altLang="ko-KR" sz="1200" kern="1200" dirty="0"/>
                        <a:t>4】(</a:t>
                      </a:r>
                      <a:r>
                        <a:rPr lang="ko-KR" altLang="en-US" sz="1200" kern="1200" dirty="0" err="1"/>
                        <a:t>청구항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en-US" altLang="ko-KR" sz="1200" kern="1200" dirty="0"/>
                        <a:t>2 </a:t>
                      </a:r>
                      <a:r>
                        <a:rPr lang="ko-KR" altLang="en-US" sz="1200" kern="1200" dirty="0"/>
                        <a:t>정정</a:t>
                      </a:r>
                      <a:r>
                        <a:rPr lang="en-US" altLang="ko-KR" sz="1200" kern="1200" dirty="0"/>
                        <a:t>) </a:t>
                      </a:r>
                      <a:r>
                        <a:rPr lang="ko-KR" altLang="en-US" sz="1200" kern="1200" dirty="0"/>
                        <a:t>구성요소 </a:t>
                      </a:r>
                      <a:r>
                        <a:rPr lang="en-US" altLang="ko-KR" sz="1200" kern="1200" dirty="0"/>
                        <a:t>a3, B, C </a:t>
                      </a:r>
                      <a:r>
                        <a:rPr lang="ko-KR" altLang="en-US" sz="1200" kern="1200" dirty="0"/>
                        <a:t>로 이루어진 물건 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1985954515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336295" y="3590925"/>
          <a:ext cx="4188080" cy="184785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882905">
                  <a:extLst>
                    <a:ext uri="{9D8B030D-6E8A-4147-A177-3AD203B41FA5}">
                      <a16:colId xmlns:a16="http://schemas.microsoft.com/office/drawing/2014/main" val="2430808964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3897395578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32530336"/>
                    </a:ext>
                  </a:extLst>
                </a:gridCol>
              </a:tblGrid>
              <a:tr h="695676">
                <a:tc>
                  <a:txBody>
                    <a:bodyPr/>
                    <a:lstStyle/>
                    <a:p>
                      <a:pPr marL="17780" marR="1778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구성요소</a:t>
                      </a:r>
                    </a:p>
                    <a:p>
                      <a:pPr marL="17780" marR="1778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보정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/>
                        <a:t>직렬적</a:t>
                      </a:r>
                      <a:r>
                        <a:rPr lang="ko-KR" altLang="en-US" sz="1200" kern="1200" dirty="0"/>
                        <a:t> 요소</a:t>
                      </a:r>
                      <a:endParaRPr lang="en-US" altLang="ko-KR" sz="1200" kern="1200" dirty="0"/>
                    </a:p>
                    <a:p>
                      <a:pPr marL="17780" marR="1778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(</a:t>
                      </a:r>
                      <a:r>
                        <a:rPr lang="en-US" sz="1200" kern="1200" dirty="0"/>
                        <a:t>AND)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병렬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택일</a:t>
                      </a:r>
                      <a:r>
                        <a:rPr lang="en-US" altLang="ko-KR" sz="1200" kern="1200" dirty="0"/>
                        <a:t>)</a:t>
                      </a:r>
                      <a:r>
                        <a:rPr lang="ko-KR" altLang="en-US" sz="1200" kern="1200" dirty="0"/>
                        <a:t>적 요소</a:t>
                      </a:r>
                      <a:endParaRPr lang="en-US" altLang="ko-KR" sz="1200" kern="1200" dirty="0"/>
                    </a:p>
                    <a:p>
                      <a:pPr marL="17780" marR="1778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(OR)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204210"/>
                  </a:ext>
                </a:extLst>
              </a:tr>
              <a:tr h="576087">
                <a:tc>
                  <a:txBody>
                    <a:bodyPr/>
                    <a:lstStyle/>
                    <a:p>
                      <a:pPr marL="17780" marR="1778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부가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청구범위의 감축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청구범위의 확장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589633923"/>
                  </a:ext>
                </a:extLst>
              </a:tr>
              <a:tr h="576087">
                <a:tc>
                  <a:txBody>
                    <a:bodyPr/>
                    <a:lstStyle/>
                    <a:p>
                      <a:pPr marL="17780" marR="1778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삭제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청구범위의 확장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청구범위의 감축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333366681"/>
                  </a:ext>
                </a:extLst>
              </a:tr>
            </a:tbl>
          </a:graphicData>
        </a:graphic>
      </p:graphicFrame>
      <p:cxnSp>
        <p:nvCxnSpPr>
          <p:cNvPr id="10" name="직선 연결선 9"/>
          <p:cNvCxnSpPr/>
          <p:nvPr/>
        </p:nvCxnSpPr>
        <p:spPr>
          <a:xfrm>
            <a:off x="336295" y="3590925"/>
            <a:ext cx="854330" cy="68580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 flipV="1">
            <a:off x="4733925" y="2067720"/>
            <a:ext cx="0" cy="423783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172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35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양쪽 모서리가 둥근 사각형 12"/>
          <p:cNvSpPr/>
          <p:nvPr/>
        </p:nvSpPr>
        <p:spPr>
          <a:xfrm>
            <a:off x="2599586" y="2763424"/>
            <a:ext cx="2458797" cy="52389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양쪽 모서리가 둥근 사각형 13"/>
          <p:cNvSpPr/>
          <p:nvPr/>
        </p:nvSpPr>
        <p:spPr>
          <a:xfrm>
            <a:off x="5185383" y="2763424"/>
            <a:ext cx="2426095" cy="52389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양쪽 모서리가 둥근 사각형 39"/>
          <p:cNvSpPr/>
          <p:nvPr/>
        </p:nvSpPr>
        <p:spPr>
          <a:xfrm>
            <a:off x="8538584" y="2763424"/>
            <a:ext cx="2426095" cy="52389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조제</a:t>
            </a:r>
            <a:r>
              <a:rPr lang="en-US" altLang="ko-KR" dirty="0"/>
              <a:t>3</a:t>
            </a:r>
            <a:r>
              <a:rPr lang="ko-KR" altLang="en-US" dirty="0" err="1"/>
              <a:t>항제</a:t>
            </a:r>
            <a:r>
              <a:rPr lang="en-US" altLang="ko-KR" dirty="0"/>
              <a:t>1</a:t>
            </a:r>
            <a:r>
              <a:rPr lang="ko-KR" altLang="en-US" dirty="0"/>
              <a:t>호 </a:t>
            </a:r>
            <a:r>
              <a:rPr lang="en-US" altLang="ko-KR" dirty="0"/>
              <a:t>vs </a:t>
            </a:r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조제</a:t>
            </a:r>
            <a:r>
              <a:rPr lang="en-US" altLang="ko-KR" dirty="0"/>
              <a:t>3</a:t>
            </a:r>
            <a:r>
              <a:rPr lang="ko-KR" altLang="en-US" dirty="0" err="1"/>
              <a:t>항제</a:t>
            </a:r>
            <a:r>
              <a:rPr lang="en-US" altLang="ko-KR" dirty="0"/>
              <a:t>4</a:t>
            </a:r>
            <a:r>
              <a:rPr lang="ko-KR" altLang="en-US" dirty="0"/>
              <a:t>호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875" y="986046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보정</a:t>
            </a:r>
            <a:r>
              <a:rPr lang="en-US" altLang="ko-KR" sz="1400" dirty="0">
                <a:solidFill>
                  <a:schemeClr val="tx2"/>
                </a:solidFill>
              </a:rPr>
              <a:t>(β)</a:t>
            </a:r>
            <a:r>
              <a:rPr lang="ko-KR" altLang="en-US" sz="1400" dirty="0">
                <a:solidFill>
                  <a:schemeClr val="tx2"/>
                </a:solidFill>
              </a:rPr>
              <a:t>된 명세서 또는 도면이 출원</a:t>
            </a:r>
            <a:r>
              <a:rPr lang="en-US" altLang="ko-KR" sz="1400" dirty="0">
                <a:solidFill>
                  <a:schemeClr val="tx2"/>
                </a:solidFill>
              </a:rPr>
              <a:t>(α)</a:t>
            </a:r>
            <a:r>
              <a:rPr lang="ko-KR" altLang="en-US" sz="1400" dirty="0">
                <a:solidFill>
                  <a:schemeClr val="tx2"/>
                </a:solidFill>
              </a:rPr>
              <a:t>의 명세서 또는 도면과 비교하여 신규사항추가라는 이유로 최후거절이유가 통지된 경우 보정</a:t>
            </a:r>
            <a:r>
              <a:rPr lang="en-US" altLang="ko-KR" sz="1400" dirty="0">
                <a:solidFill>
                  <a:schemeClr val="tx2"/>
                </a:solidFill>
              </a:rPr>
              <a:t>(γ)</a:t>
            </a:r>
            <a:r>
              <a:rPr lang="ko-KR" altLang="en-US" sz="1400" dirty="0">
                <a:solidFill>
                  <a:schemeClr val="tx2"/>
                </a:solidFill>
              </a:rPr>
              <a:t>이 </a:t>
            </a:r>
            <a:r>
              <a:rPr lang="ko-KR" altLang="en-US" sz="1400" dirty="0" err="1">
                <a:solidFill>
                  <a:schemeClr val="tx2"/>
                </a:solidFill>
              </a:rPr>
              <a:t>적법하기</a:t>
            </a:r>
            <a:r>
              <a:rPr lang="ko-KR" altLang="en-US" sz="1400" dirty="0">
                <a:solidFill>
                  <a:schemeClr val="tx2"/>
                </a:solidFill>
              </a:rPr>
              <a:t> 위해서는 </a:t>
            </a:r>
            <a:r>
              <a:rPr lang="en-US" altLang="ko-KR" sz="1400" dirty="0">
                <a:solidFill>
                  <a:schemeClr val="tx2"/>
                </a:solidFill>
              </a:rPr>
              <a:t>ⅰ) </a:t>
            </a:r>
            <a:r>
              <a:rPr lang="ko-KR" altLang="en-US" sz="1400" dirty="0">
                <a:solidFill>
                  <a:schemeClr val="tx2"/>
                </a:solidFill>
              </a:rPr>
              <a:t>신규사항추가가 아닐 것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47②), ⅱ) </a:t>
            </a:r>
            <a:r>
              <a:rPr lang="ko-KR" altLang="en-US" sz="1400" dirty="0" err="1">
                <a:solidFill>
                  <a:schemeClr val="tx2"/>
                </a:solidFill>
              </a:rPr>
              <a:t>청구범위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보정범위의</a:t>
            </a:r>
            <a:r>
              <a:rPr lang="ko-KR" altLang="en-US" sz="1400" dirty="0">
                <a:solidFill>
                  <a:schemeClr val="tx2"/>
                </a:solidFill>
              </a:rPr>
              <a:t> 제한을 만족할 것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47③), ⅲ) </a:t>
            </a:r>
            <a:r>
              <a:rPr lang="ko-KR" altLang="en-US" sz="1400" dirty="0">
                <a:solidFill>
                  <a:schemeClr val="tx2"/>
                </a:solidFill>
              </a:rPr>
              <a:t>보정에 따라 새로운 거절이유가 생기지 않을 것을 만족하여야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그런데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신규사항추가인지 여부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47②)</a:t>
            </a:r>
            <a:r>
              <a:rPr lang="ko-KR" altLang="en-US" sz="1400" dirty="0">
                <a:solidFill>
                  <a:schemeClr val="tx2"/>
                </a:solidFill>
              </a:rPr>
              <a:t>는 출원</a:t>
            </a:r>
            <a:r>
              <a:rPr lang="en-US" altLang="ko-KR" sz="1400" dirty="0">
                <a:solidFill>
                  <a:schemeClr val="tx2"/>
                </a:solidFill>
              </a:rPr>
              <a:t>(α)</a:t>
            </a:r>
            <a:r>
              <a:rPr lang="ko-KR" altLang="en-US" sz="1400" dirty="0">
                <a:solidFill>
                  <a:schemeClr val="tx2"/>
                </a:solidFill>
              </a:rPr>
              <a:t>의 명세서 또는 도면과 보정</a:t>
            </a:r>
            <a:r>
              <a:rPr lang="en-US" altLang="ko-KR" sz="1400" dirty="0">
                <a:solidFill>
                  <a:schemeClr val="tx2"/>
                </a:solidFill>
              </a:rPr>
              <a:t>(γ)</a:t>
            </a:r>
            <a:r>
              <a:rPr lang="ko-KR" altLang="en-US" sz="1400" dirty="0">
                <a:solidFill>
                  <a:schemeClr val="tx2"/>
                </a:solidFill>
              </a:rPr>
              <a:t>된 명세서 또는 도면을 비교하여 판단하고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청구범위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보정범위의</a:t>
            </a:r>
            <a:r>
              <a:rPr lang="ko-KR" altLang="en-US" sz="1400" dirty="0">
                <a:solidFill>
                  <a:schemeClr val="tx2"/>
                </a:solidFill>
              </a:rPr>
              <a:t> 제한을 만족하는지 여부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47③)</a:t>
            </a:r>
            <a:r>
              <a:rPr lang="ko-KR" altLang="en-US" sz="1400" dirty="0">
                <a:solidFill>
                  <a:schemeClr val="tx2"/>
                </a:solidFill>
              </a:rPr>
              <a:t>는 보정</a:t>
            </a:r>
            <a:r>
              <a:rPr lang="en-US" altLang="ko-KR" sz="1400" dirty="0">
                <a:solidFill>
                  <a:schemeClr val="tx2"/>
                </a:solidFill>
              </a:rPr>
              <a:t>(β)</a:t>
            </a:r>
            <a:r>
              <a:rPr lang="ko-KR" altLang="en-US" sz="1400" dirty="0">
                <a:solidFill>
                  <a:schemeClr val="tx2"/>
                </a:solidFill>
              </a:rPr>
              <a:t>된 </a:t>
            </a:r>
            <a:r>
              <a:rPr lang="ko-KR" altLang="en-US" sz="1400" dirty="0" err="1">
                <a:solidFill>
                  <a:schemeClr val="tx2"/>
                </a:solidFill>
              </a:rPr>
              <a:t>청구범위와</a:t>
            </a:r>
            <a:r>
              <a:rPr lang="ko-KR" altLang="en-US" sz="1400" dirty="0">
                <a:solidFill>
                  <a:schemeClr val="tx2"/>
                </a:solidFill>
              </a:rPr>
              <a:t> 보정</a:t>
            </a:r>
            <a:r>
              <a:rPr lang="en-US" altLang="ko-KR" sz="1400" dirty="0">
                <a:solidFill>
                  <a:schemeClr val="tx2"/>
                </a:solidFill>
              </a:rPr>
              <a:t>(γ)</a:t>
            </a:r>
            <a:r>
              <a:rPr lang="ko-KR" altLang="en-US" sz="1400" dirty="0">
                <a:solidFill>
                  <a:schemeClr val="tx2"/>
                </a:solidFill>
              </a:rPr>
              <a:t>된 청구범위를 비교하여 판단한다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 경우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최후거절이유를 해소하기 위해 신규사항추가한 사항을 삭제하는 보정을 하려고 하는 경우 청구범위의 확장으로 제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47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호 위반의 문제가 될 수 있기 때문에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47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4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호에서 그 예외를 인정</a:t>
            </a:r>
            <a:r>
              <a:rPr lang="ko-KR" altLang="en-US" sz="1400" dirty="0">
                <a:solidFill>
                  <a:schemeClr val="tx2"/>
                </a:solidFill>
              </a:rPr>
              <a:t>하고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0" y="216555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>
            <a:off x="590550" y="3296847"/>
            <a:ext cx="10982325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4713388" y="3108704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j-ea"/>
                <a:ea typeface="+mj-ea"/>
              </a:rPr>
              <a:t>최초</a:t>
            </a:r>
            <a:r>
              <a:rPr lang="en-US" altLang="ko-KR" sz="1200" dirty="0">
                <a:latin typeface="+mj-ea"/>
                <a:ea typeface="+mj-ea"/>
              </a:rPr>
              <a:t>OA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85707" y="2901573"/>
            <a:ext cx="2091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의견제출기간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altLang="ko-KR" sz="1200" dirty="0">
                <a:solidFill>
                  <a:srgbClr val="FF0000"/>
                </a:solidFill>
              </a:rPr>
              <a:t>4</a:t>
            </a:r>
            <a:r>
              <a:rPr lang="ko-KR" altLang="en-US" sz="1200" dirty="0">
                <a:solidFill>
                  <a:srgbClr val="FF0000"/>
                </a:solidFill>
              </a:rPr>
              <a:t>개월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 이내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5" name="직선 화살표 연결선 24"/>
          <p:cNvCxnSpPr/>
          <p:nvPr/>
        </p:nvCxnSpPr>
        <p:spPr>
          <a:xfrm flipV="1">
            <a:off x="2602752" y="3287322"/>
            <a:ext cx="0" cy="631003"/>
          </a:xfrm>
          <a:prstGeom prst="straightConnector1">
            <a:avLst/>
          </a:prstGeom>
          <a:ln w="9525">
            <a:solidFill>
              <a:schemeClr val="bg2">
                <a:lumMod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 flipV="1">
            <a:off x="7070418" y="3287322"/>
            <a:ext cx="0" cy="631003"/>
          </a:xfrm>
          <a:prstGeom prst="straightConnector1">
            <a:avLst/>
          </a:prstGeom>
          <a:ln w="9525">
            <a:solidFill>
              <a:schemeClr val="bg2">
                <a:lumMod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 flipV="1">
            <a:off x="10594668" y="3287322"/>
            <a:ext cx="0" cy="631003"/>
          </a:xfrm>
          <a:prstGeom prst="straightConnector1">
            <a:avLst/>
          </a:prstGeom>
          <a:ln w="9525">
            <a:solidFill>
              <a:schemeClr val="bg2">
                <a:lumMod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738908" y="2901573"/>
            <a:ext cx="2091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의견제출기간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altLang="ko-KR" sz="1200" dirty="0">
                <a:solidFill>
                  <a:srgbClr val="FF0000"/>
                </a:solidFill>
              </a:rPr>
              <a:t>4</a:t>
            </a:r>
            <a:r>
              <a:rPr lang="ko-KR" altLang="en-US" sz="1200" dirty="0">
                <a:solidFill>
                  <a:srgbClr val="FF0000"/>
                </a:solidFill>
              </a:rPr>
              <a:t>개월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 이내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8121832" y="3108704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>
                <a:latin typeface="+mj-ea"/>
                <a:ea typeface="+mj-ea"/>
              </a:rPr>
              <a:t>최후</a:t>
            </a:r>
            <a:r>
              <a:rPr lang="en-US" altLang="ko-KR" sz="1200" dirty="0">
                <a:latin typeface="+mj-ea"/>
                <a:ea typeface="+mj-ea"/>
              </a:rPr>
              <a:t>OA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2218549" y="3623050"/>
            <a:ext cx="787456" cy="3254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j-ea"/>
                <a:ea typeface="+mj-ea"/>
              </a:rPr>
              <a:t>출원</a:t>
            </a:r>
            <a:r>
              <a:rPr lang="en-US" altLang="ko-KR" sz="1200" dirty="0"/>
              <a:t>(α)</a:t>
            </a:r>
            <a:endParaRPr lang="en-US" altLang="ko-KR" sz="1200" dirty="0">
              <a:latin typeface="+mj-ea"/>
              <a:ea typeface="+mj-ea"/>
            </a:endParaRPr>
          </a:p>
        </p:txBody>
      </p:sp>
      <p:sp>
        <p:nvSpPr>
          <p:cNvPr id="36" name="Rectangle 14"/>
          <p:cNvSpPr>
            <a:spLocks noChangeArrowheads="1"/>
          </p:cNvSpPr>
          <p:nvPr/>
        </p:nvSpPr>
        <p:spPr bwMode="auto">
          <a:xfrm>
            <a:off x="6686215" y="3623050"/>
            <a:ext cx="787456" cy="3254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/>
              <a:t>보정</a:t>
            </a:r>
            <a:r>
              <a:rPr lang="en-US" altLang="ko-KR" sz="1200" dirty="0"/>
              <a:t>(β)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38" name="Rectangle 14"/>
          <p:cNvSpPr>
            <a:spLocks noChangeArrowheads="1"/>
          </p:cNvSpPr>
          <p:nvPr/>
        </p:nvSpPr>
        <p:spPr bwMode="auto">
          <a:xfrm>
            <a:off x="10210465" y="3623050"/>
            <a:ext cx="787456" cy="3254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/>
              <a:t>보정</a:t>
            </a:r>
            <a:r>
              <a:rPr lang="en-US" altLang="ko-KR" sz="1200" dirty="0"/>
              <a:t>(γ)</a:t>
            </a:r>
            <a:endParaRPr lang="ko-KR" altLang="en-US" sz="1200" b="0" dirty="0">
              <a:latin typeface="+mj-ea"/>
              <a:ea typeface="+mj-ea"/>
            </a:endParaRPr>
          </a:p>
        </p:txBody>
      </p:sp>
      <p:cxnSp>
        <p:nvCxnSpPr>
          <p:cNvPr id="43" name="직선 화살표 연결선 42"/>
          <p:cNvCxnSpPr/>
          <p:nvPr/>
        </p:nvCxnSpPr>
        <p:spPr>
          <a:xfrm flipV="1">
            <a:off x="1154952" y="3296847"/>
            <a:ext cx="0" cy="1173929"/>
          </a:xfrm>
          <a:prstGeom prst="straightConnector1">
            <a:avLst/>
          </a:prstGeom>
          <a:ln w="9525">
            <a:solidFill>
              <a:schemeClr val="bg2">
                <a:lumMod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14"/>
          <p:cNvSpPr>
            <a:spLocks noChangeArrowheads="1"/>
          </p:cNvSpPr>
          <p:nvPr/>
        </p:nvSpPr>
        <p:spPr bwMode="auto">
          <a:xfrm>
            <a:off x="770749" y="4175500"/>
            <a:ext cx="787456" cy="54297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  <a:latin typeface="+mj-ea"/>
                <a:ea typeface="+mj-ea"/>
              </a:rPr>
              <a:t>공지기술</a:t>
            </a:r>
            <a:endParaRPr lang="en-US" altLang="ko-KR" sz="12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  <a:latin typeface="+mj-ea"/>
                <a:ea typeface="+mj-ea"/>
              </a:rPr>
              <a:t>(abc1)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2133458" y="4020743"/>
            <a:ext cx="932256" cy="3060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</a:rPr>
              <a:t>abc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2133458" y="4326744"/>
            <a:ext cx="932256" cy="3060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</a:rPr>
              <a:t>abc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en-US" altLang="ko-KR" sz="1200" dirty="0" err="1">
                <a:solidFill>
                  <a:schemeClr val="tx1"/>
                </a:solidFill>
              </a:rPr>
              <a:t>abcd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51" name="직선 화살표 연결선 50"/>
          <p:cNvCxnSpPr>
            <a:stCxn id="52" idx="0"/>
            <a:endCxn id="19" idx="2"/>
          </p:cNvCxnSpPr>
          <p:nvPr/>
        </p:nvCxnSpPr>
        <p:spPr>
          <a:xfrm flipV="1">
            <a:off x="5107116" y="3434142"/>
            <a:ext cx="0" cy="1417633"/>
          </a:xfrm>
          <a:prstGeom prst="straightConnector1">
            <a:avLst/>
          </a:prstGeom>
          <a:ln w="9525">
            <a:solidFill>
              <a:schemeClr val="bg2">
                <a:lumMod val="25000"/>
              </a:schemeClr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14"/>
          <p:cNvSpPr>
            <a:spLocks noChangeArrowheads="1"/>
          </p:cNvSpPr>
          <p:nvPr/>
        </p:nvSpPr>
        <p:spPr bwMode="auto">
          <a:xfrm>
            <a:off x="4261107" y="4851775"/>
            <a:ext cx="1692018" cy="542970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200" dirty="0" err="1">
                <a:latin typeface="+mj-ea"/>
                <a:ea typeface="+mj-ea"/>
              </a:rPr>
              <a:t>abc</a:t>
            </a:r>
            <a:r>
              <a:rPr lang="ko-KR" altLang="en-US" sz="1200" dirty="0">
                <a:latin typeface="+mj-ea"/>
                <a:ea typeface="+mj-ea"/>
              </a:rPr>
              <a:t>가 </a:t>
            </a:r>
            <a:r>
              <a:rPr lang="en-US" altLang="ko-KR" sz="1200" dirty="0">
                <a:latin typeface="+mj-ea"/>
                <a:ea typeface="+mj-ea"/>
              </a:rPr>
              <a:t>abc1</a:t>
            </a:r>
            <a:r>
              <a:rPr lang="ko-KR" altLang="en-US" sz="1200" dirty="0">
                <a:latin typeface="+mj-ea"/>
                <a:ea typeface="+mj-ea"/>
              </a:rPr>
              <a:t>로부터 용이</a:t>
            </a:r>
            <a:endParaRPr lang="en-US" altLang="ko-KR" sz="1200" dirty="0">
              <a:latin typeface="+mj-ea"/>
              <a:ea typeface="+mj-ea"/>
            </a:endParaRPr>
          </a:p>
          <a:p>
            <a:pPr algn="ctr"/>
            <a:r>
              <a:rPr lang="en-US" altLang="ko-KR" sz="1200" dirty="0">
                <a:latin typeface="+mj-ea"/>
                <a:ea typeface="+mj-ea"/>
              </a:rPr>
              <a:t>(</a:t>
            </a:r>
            <a:r>
              <a:rPr lang="ko-KR" altLang="en-US" sz="1200" dirty="0">
                <a:latin typeface="+mj-ea"/>
                <a:ea typeface="+mj-ea"/>
              </a:rPr>
              <a:t>진보성 위반</a:t>
            </a:r>
            <a:r>
              <a:rPr lang="en-US" altLang="ko-KR" sz="1200" dirty="0">
                <a:latin typeface="+mj-ea"/>
                <a:ea typeface="+mj-ea"/>
              </a:rPr>
              <a:t>)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6273186" y="4020743"/>
            <a:ext cx="1594464" cy="3060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</a:rPr>
              <a:t>abcde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6273186" y="4326744"/>
            <a:ext cx="1594464" cy="30600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</a:rPr>
              <a:t>abc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en-US" altLang="ko-KR" sz="1200" dirty="0" err="1">
                <a:solidFill>
                  <a:schemeClr val="tx1"/>
                </a:solidFill>
              </a:rPr>
              <a:t>abcd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en-US" altLang="ko-KR" sz="1200" dirty="0" err="1">
                <a:solidFill>
                  <a:schemeClr val="tx1"/>
                </a:solidFill>
              </a:rPr>
              <a:t>abcde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57" name="직선 화살표 연결선 56"/>
          <p:cNvCxnSpPr>
            <a:stCxn id="58" idx="0"/>
          </p:cNvCxnSpPr>
          <p:nvPr/>
        </p:nvCxnSpPr>
        <p:spPr>
          <a:xfrm flipV="1">
            <a:off x="8504799" y="3434143"/>
            <a:ext cx="0" cy="1417632"/>
          </a:xfrm>
          <a:prstGeom prst="straightConnector1">
            <a:avLst/>
          </a:prstGeom>
          <a:ln w="9525">
            <a:solidFill>
              <a:schemeClr val="bg2">
                <a:lumMod val="25000"/>
              </a:schemeClr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14"/>
          <p:cNvSpPr>
            <a:spLocks noChangeArrowheads="1"/>
          </p:cNvSpPr>
          <p:nvPr/>
        </p:nvSpPr>
        <p:spPr bwMode="auto">
          <a:xfrm>
            <a:off x="7507562" y="4851775"/>
            <a:ext cx="1994474" cy="542970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en-US" altLang="ko-KR" sz="1200" dirty="0" err="1">
                <a:latin typeface="+mj-ea"/>
                <a:ea typeface="+mj-ea"/>
              </a:rPr>
              <a:t>abcde</a:t>
            </a:r>
            <a:r>
              <a:rPr lang="ko-KR" altLang="en-US" sz="1200" dirty="0">
                <a:latin typeface="+mj-ea"/>
                <a:ea typeface="+mj-ea"/>
              </a:rPr>
              <a:t>는 진보성 위반이 해소되었으나 신규사항추가</a:t>
            </a:r>
            <a:endParaRPr lang="en-US" altLang="ko-KR" sz="1200" dirty="0">
              <a:latin typeface="+mj-ea"/>
              <a:ea typeface="+mj-ea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10128540" y="4020743"/>
            <a:ext cx="932256" cy="3060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rgbClr val="FF0000"/>
                </a:solidFill>
              </a:rPr>
              <a:t>abc</a:t>
            </a:r>
            <a:r>
              <a:rPr lang="en-US" altLang="ko-KR" sz="1200" dirty="0">
                <a:solidFill>
                  <a:srgbClr val="FF0000"/>
                </a:solidFill>
              </a:rPr>
              <a:t>(d)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10128540" y="4326744"/>
            <a:ext cx="932256" cy="3060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</a:rPr>
              <a:t>abc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en-US" altLang="ko-KR" sz="1200" dirty="0" err="1">
                <a:solidFill>
                  <a:schemeClr val="tx1"/>
                </a:solidFill>
              </a:rPr>
              <a:t>abcd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63" name="직선 화살표 연결선 62"/>
          <p:cNvCxnSpPr>
            <a:stCxn id="54" idx="3"/>
            <a:endCxn id="60" idx="1"/>
          </p:cNvCxnSpPr>
          <p:nvPr/>
        </p:nvCxnSpPr>
        <p:spPr>
          <a:xfrm>
            <a:off x="7867650" y="4173744"/>
            <a:ext cx="2260890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꺾인 연결선 64"/>
          <p:cNvCxnSpPr>
            <a:stCxn id="50" idx="2"/>
            <a:endCxn id="61" idx="2"/>
          </p:cNvCxnSpPr>
          <p:nvPr/>
        </p:nvCxnSpPr>
        <p:spPr>
          <a:xfrm rot="16200000" flipH="1">
            <a:off x="6597127" y="635204"/>
            <a:ext cx="12700" cy="7995082"/>
          </a:xfrm>
          <a:prstGeom prst="bentConnector3">
            <a:avLst>
              <a:gd name="adj1" fmla="val 10275000"/>
            </a:avLst>
          </a:prstGeom>
          <a:ln w="38100">
            <a:solidFill>
              <a:srgbClr val="FF0000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14"/>
          <p:cNvSpPr>
            <a:spLocks noChangeArrowheads="1"/>
          </p:cNvSpPr>
          <p:nvPr/>
        </p:nvSpPr>
        <p:spPr bwMode="auto">
          <a:xfrm>
            <a:off x="5585407" y="5656290"/>
            <a:ext cx="1692018" cy="542970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  <a:latin typeface="+mj-ea"/>
                <a:ea typeface="+mj-ea"/>
              </a:rPr>
              <a:t>제</a:t>
            </a:r>
            <a:r>
              <a:rPr lang="en-US" altLang="ko-KR" sz="1600" dirty="0">
                <a:solidFill>
                  <a:srgbClr val="FF0000"/>
                </a:solidFill>
                <a:latin typeface="+mj-ea"/>
                <a:ea typeface="+mj-ea"/>
              </a:rPr>
              <a:t>47</a:t>
            </a:r>
            <a:r>
              <a:rPr lang="ko-KR" altLang="en-US" sz="1600" dirty="0">
                <a:solidFill>
                  <a:srgbClr val="FF0000"/>
                </a:solidFill>
                <a:latin typeface="+mj-ea"/>
                <a:ea typeface="+mj-ea"/>
              </a:rPr>
              <a:t>조제</a:t>
            </a:r>
            <a:r>
              <a:rPr lang="en-US" altLang="ko-KR" sz="1600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r>
              <a:rPr lang="ko-KR" altLang="en-US" sz="1600" dirty="0">
                <a:solidFill>
                  <a:srgbClr val="FF0000"/>
                </a:solidFill>
                <a:latin typeface="+mj-ea"/>
                <a:ea typeface="+mj-ea"/>
              </a:rPr>
              <a:t>항 판단</a:t>
            </a:r>
            <a:endParaRPr lang="en-US" altLang="ko-KR" sz="16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69" name="Rectangle 14"/>
          <p:cNvSpPr>
            <a:spLocks noChangeArrowheads="1"/>
          </p:cNvSpPr>
          <p:nvPr/>
        </p:nvSpPr>
        <p:spPr bwMode="auto">
          <a:xfrm>
            <a:off x="8556386" y="3894718"/>
            <a:ext cx="1369794" cy="542970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  <a:latin typeface="+mj-ea"/>
                <a:ea typeface="+mj-ea"/>
              </a:rPr>
              <a:t>제</a:t>
            </a:r>
            <a:r>
              <a:rPr lang="en-US" altLang="ko-KR" sz="1600" dirty="0">
                <a:solidFill>
                  <a:srgbClr val="FF0000"/>
                </a:solidFill>
                <a:latin typeface="+mj-ea"/>
                <a:ea typeface="+mj-ea"/>
              </a:rPr>
              <a:t>47</a:t>
            </a:r>
            <a:r>
              <a:rPr lang="ko-KR" altLang="en-US" sz="1600" dirty="0">
                <a:solidFill>
                  <a:srgbClr val="FF0000"/>
                </a:solidFill>
                <a:latin typeface="+mj-ea"/>
                <a:ea typeface="+mj-ea"/>
              </a:rPr>
              <a:t>조제</a:t>
            </a:r>
            <a:r>
              <a:rPr lang="en-US" altLang="ko-KR" sz="1600" dirty="0">
                <a:solidFill>
                  <a:srgbClr val="FF0000"/>
                </a:solidFill>
                <a:latin typeface="+mj-ea"/>
                <a:ea typeface="+mj-ea"/>
              </a:rPr>
              <a:t>3</a:t>
            </a:r>
            <a:r>
              <a:rPr lang="ko-KR" altLang="en-US" sz="1600" dirty="0">
                <a:solidFill>
                  <a:srgbClr val="FF0000"/>
                </a:solidFill>
                <a:latin typeface="+mj-ea"/>
                <a:ea typeface="+mj-ea"/>
              </a:rPr>
              <a:t>항 </a:t>
            </a:r>
            <a:endParaRPr lang="en-US" altLang="ko-KR" sz="1600" dirty="0">
              <a:solidFill>
                <a:srgbClr val="FF0000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600" dirty="0">
                <a:solidFill>
                  <a:srgbClr val="FF0000"/>
                </a:solidFill>
                <a:latin typeface="+mj-ea"/>
                <a:ea typeface="+mj-ea"/>
              </a:rPr>
              <a:t>판단</a:t>
            </a:r>
            <a:endParaRPr lang="en-US" altLang="ko-KR" sz="16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173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2615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1113348" y="1004850"/>
            <a:ext cx="10435186" cy="119178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2" name="직선 화살표 연결선 101"/>
          <p:cNvCxnSpPr/>
          <p:nvPr/>
        </p:nvCxnSpPr>
        <p:spPr>
          <a:xfrm flipV="1">
            <a:off x="2590783" y="1960541"/>
            <a:ext cx="0" cy="817563"/>
          </a:xfrm>
          <a:prstGeom prst="straightConnector1">
            <a:avLst/>
          </a:prstGeom>
          <a:ln w="9525">
            <a:solidFill>
              <a:schemeClr val="bg2">
                <a:lumMod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조제</a:t>
            </a:r>
            <a:r>
              <a:rPr lang="en-US" altLang="ko-KR" dirty="0"/>
              <a:t>4</a:t>
            </a:r>
            <a:r>
              <a:rPr lang="ko-KR" altLang="en-US" dirty="0"/>
              <a:t>항의 의미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양쪽 모서리가 둥근 사각형 6"/>
          <p:cNvSpPr/>
          <p:nvPr/>
        </p:nvSpPr>
        <p:spPr>
          <a:xfrm>
            <a:off x="1825946" y="1638492"/>
            <a:ext cx="1797788" cy="3081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양쪽 모서리가 둥근 사각형 7"/>
          <p:cNvSpPr/>
          <p:nvPr/>
        </p:nvSpPr>
        <p:spPr>
          <a:xfrm>
            <a:off x="3678318" y="1638492"/>
            <a:ext cx="1430698" cy="3081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양쪽 모서리가 둥근 사각형 8"/>
          <p:cNvSpPr/>
          <p:nvPr/>
        </p:nvSpPr>
        <p:spPr>
          <a:xfrm>
            <a:off x="5984101" y="1638492"/>
            <a:ext cx="1430698" cy="3081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1113348" y="3244441"/>
            <a:ext cx="10435186" cy="9905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9427005" y="1646381"/>
            <a:ext cx="132060" cy="164772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/>
          <p:cNvCxnSpPr/>
          <p:nvPr/>
        </p:nvCxnSpPr>
        <p:spPr>
          <a:xfrm>
            <a:off x="1113348" y="1946624"/>
            <a:ext cx="10308186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444908" y="1768006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j-ea"/>
                <a:ea typeface="+mj-ea"/>
              </a:rPr>
              <a:t>출원</a:t>
            </a:r>
            <a:r>
              <a:rPr lang="en-US" altLang="ko-KR" sz="1200" dirty="0">
                <a:latin typeface="+mj-ea"/>
                <a:ea typeface="+mj-ea"/>
              </a:rPr>
              <a:t>(0)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3206322" y="1768006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>
                <a:latin typeface="+mj-ea"/>
                <a:ea typeface="+mj-ea"/>
              </a:rPr>
              <a:t>최초</a:t>
            </a:r>
            <a:r>
              <a:rPr lang="en-US" altLang="ko-KR" sz="1200" dirty="0">
                <a:latin typeface="+mj-ea"/>
                <a:ea typeface="+mj-ea"/>
              </a:rPr>
              <a:t>OA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5547966" y="1768006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>
                <a:latin typeface="+mj-ea"/>
                <a:ea typeface="+mj-ea"/>
              </a:rPr>
              <a:t>최후</a:t>
            </a:r>
            <a:r>
              <a:rPr lang="en-US" altLang="ko-KR" sz="1200" dirty="0">
                <a:latin typeface="+mj-ea"/>
                <a:ea typeface="+mj-ea"/>
              </a:rPr>
              <a:t>OA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7744553" y="1768006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j-ea"/>
                <a:ea typeface="+mj-ea"/>
              </a:rPr>
              <a:t>거절결정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9071911" y="1768006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j-ea"/>
                <a:ea typeface="+mj-ea"/>
              </a:rPr>
              <a:t>재심사청구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945316" y="1665650"/>
            <a:ext cx="12634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의견제출기간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altLang="ko-KR" sz="900" dirty="0">
                <a:solidFill>
                  <a:srgbClr val="FF0000"/>
                </a:solidFill>
              </a:rPr>
              <a:t>4</a:t>
            </a:r>
            <a:r>
              <a:rPr lang="ko-KR" altLang="en-US" sz="900" dirty="0">
                <a:solidFill>
                  <a:srgbClr val="FF0000"/>
                </a:solidFill>
              </a:rPr>
              <a:t>개월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內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45744" y="1665650"/>
            <a:ext cx="12634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의견제출기간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altLang="ko-KR" sz="900" dirty="0">
                <a:solidFill>
                  <a:srgbClr val="FF0000"/>
                </a:solidFill>
              </a:rPr>
              <a:t>4</a:t>
            </a:r>
            <a:r>
              <a:rPr lang="ko-KR" altLang="en-US" sz="900" dirty="0">
                <a:solidFill>
                  <a:srgbClr val="FF0000"/>
                </a:solidFill>
              </a:rPr>
              <a:t>개월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內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순서도: 처리 22"/>
          <p:cNvSpPr/>
          <p:nvPr/>
        </p:nvSpPr>
        <p:spPr>
          <a:xfrm>
            <a:off x="1913287" y="2285392"/>
            <a:ext cx="830037" cy="251834"/>
          </a:xfrm>
          <a:prstGeom prst="flowChartProcess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+mn-ea"/>
              </a:rPr>
              <a:t>보정</a:t>
            </a:r>
            <a:r>
              <a:rPr lang="en-US" altLang="ko-KR" sz="1100" dirty="0">
                <a:latin typeface="+mn-ea"/>
              </a:rPr>
              <a:t>(1)</a:t>
            </a:r>
            <a:endParaRPr lang="ko-KR" altLang="en-US" sz="1100" dirty="0">
              <a:latin typeface="+mn-ea"/>
            </a:endParaRPr>
          </a:p>
        </p:txBody>
      </p:sp>
      <p:cxnSp>
        <p:nvCxnSpPr>
          <p:cNvPr id="24" name="직선 화살표 연결선 23"/>
          <p:cNvCxnSpPr/>
          <p:nvPr/>
        </p:nvCxnSpPr>
        <p:spPr>
          <a:xfrm flipV="1">
            <a:off x="2328306" y="1950894"/>
            <a:ext cx="0" cy="334498"/>
          </a:xfrm>
          <a:prstGeom prst="straightConnector1">
            <a:avLst/>
          </a:prstGeom>
          <a:ln w="9525">
            <a:solidFill>
              <a:schemeClr val="bg2">
                <a:lumMod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순서도: 처리 24"/>
          <p:cNvSpPr/>
          <p:nvPr/>
        </p:nvSpPr>
        <p:spPr>
          <a:xfrm>
            <a:off x="3747175" y="2285392"/>
            <a:ext cx="830037" cy="251834"/>
          </a:xfrm>
          <a:prstGeom prst="flowChartProcess">
            <a:avLst/>
          </a:prstGeom>
          <a:solidFill>
            <a:srgbClr val="FF000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+mn-ea"/>
              </a:rPr>
              <a:t>보정</a:t>
            </a:r>
            <a:r>
              <a:rPr lang="en-US" altLang="ko-KR" sz="1100" dirty="0">
                <a:latin typeface="+mn-ea"/>
              </a:rPr>
              <a:t>(3)</a:t>
            </a:r>
            <a:endParaRPr lang="ko-KR" altLang="en-US" sz="1100" dirty="0">
              <a:latin typeface="+mn-ea"/>
            </a:endParaRPr>
          </a:p>
        </p:txBody>
      </p:sp>
      <p:cxnSp>
        <p:nvCxnSpPr>
          <p:cNvPr id="27" name="직선 화살표 연결선 26"/>
          <p:cNvCxnSpPr>
            <a:stCxn id="25" idx="0"/>
          </p:cNvCxnSpPr>
          <p:nvPr/>
        </p:nvCxnSpPr>
        <p:spPr>
          <a:xfrm flipV="1">
            <a:off x="4162194" y="1950894"/>
            <a:ext cx="0" cy="334498"/>
          </a:xfrm>
          <a:prstGeom prst="straightConnector1">
            <a:avLst/>
          </a:prstGeom>
          <a:ln w="9525">
            <a:solidFill>
              <a:schemeClr val="bg2">
                <a:lumMod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순서도: 처리 27"/>
          <p:cNvSpPr/>
          <p:nvPr/>
        </p:nvSpPr>
        <p:spPr>
          <a:xfrm>
            <a:off x="6089098" y="2285392"/>
            <a:ext cx="830037" cy="251834"/>
          </a:xfrm>
          <a:prstGeom prst="flowChartProcess">
            <a:avLst/>
          </a:prstGeom>
          <a:solidFill>
            <a:srgbClr val="FF000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+mn-ea"/>
              </a:rPr>
              <a:t>보정</a:t>
            </a:r>
            <a:r>
              <a:rPr lang="en-US" altLang="ko-KR" sz="1100" dirty="0">
                <a:latin typeface="+mn-ea"/>
              </a:rPr>
              <a:t>(5)</a:t>
            </a:r>
            <a:endParaRPr lang="ko-KR" altLang="en-US" sz="1100" dirty="0">
              <a:latin typeface="+mn-ea"/>
            </a:endParaRPr>
          </a:p>
        </p:txBody>
      </p:sp>
      <p:cxnSp>
        <p:nvCxnSpPr>
          <p:cNvPr id="29" name="직선 화살표 연결선 28"/>
          <p:cNvCxnSpPr>
            <a:stCxn id="28" idx="0"/>
          </p:cNvCxnSpPr>
          <p:nvPr/>
        </p:nvCxnSpPr>
        <p:spPr>
          <a:xfrm flipH="1" flipV="1">
            <a:off x="6504116" y="1950894"/>
            <a:ext cx="1" cy="334498"/>
          </a:xfrm>
          <a:prstGeom prst="straightConnector1">
            <a:avLst/>
          </a:prstGeom>
          <a:ln w="9525">
            <a:solidFill>
              <a:schemeClr val="accent6">
                <a:lumMod val="7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순서도: 처리 29"/>
          <p:cNvSpPr/>
          <p:nvPr/>
        </p:nvSpPr>
        <p:spPr>
          <a:xfrm>
            <a:off x="9085237" y="2285392"/>
            <a:ext cx="830037" cy="251834"/>
          </a:xfrm>
          <a:prstGeom prst="flowChartProcess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+mn-ea"/>
              </a:rPr>
              <a:t>보정</a:t>
            </a:r>
            <a:r>
              <a:rPr lang="en-US" altLang="ko-KR" sz="1100" dirty="0">
                <a:latin typeface="+mn-ea"/>
              </a:rPr>
              <a:t>(7)</a:t>
            </a:r>
            <a:endParaRPr lang="ko-KR" altLang="en-US" sz="1100" dirty="0">
              <a:latin typeface="+mn-ea"/>
            </a:endParaRPr>
          </a:p>
        </p:txBody>
      </p:sp>
      <p:cxnSp>
        <p:nvCxnSpPr>
          <p:cNvPr id="31" name="직선 화살표 연결선 30"/>
          <p:cNvCxnSpPr>
            <a:stCxn id="30" idx="0"/>
          </p:cNvCxnSpPr>
          <p:nvPr/>
        </p:nvCxnSpPr>
        <p:spPr>
          <a:xfrm flipV="1">
            <a:off x="9500256" y="2107871"/>
            <a:ext cx="0" cy="177521"/>
          </a:xfrm>
          <a:prstGeom prst="straightConnector1">
            <a:avLst/>
          </a:prstGeom>
          <a:ln w="9525">
            <a:solidFill>
              <a:schemeClr val="accent6">
                <a:lumMod val="7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124845" y="1375565"/>
            <a:ext cx="1266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47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 err="1"/>
              <a:t>항본문</a:t>
            </a:r>
            <a:endParaRPr lang="ko-KR" alt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3757364" y="1375565"/>
            <a:ext cx="1351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47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 err="1"/>
              <a:t>항제</a:t>
            </a:r>
            <a:r>
              <a:rPr lang="en-US" altLang="ko-KR" sz="1200" dirty="0"/>
              <a:t>1</a:t>
            </a:r>
            <a:r>
              <a:rPr lang="ko-KR" altLang="en-US" sz="1200" dirty="0"/>
              <a:t>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63147" y="1375565"/>
            <a:ext cx="1351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47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 err="1"/>
              <a:t>항제</a:t>
            </a:r>
            <a:r>
              <a:rPr lang="en-US" altLang="ko-KR" sz="1200" dirty="0"/>
              <a:t>2</a:t>
            </a:r>
            <a:r>
              <a:rPr lang="ko-KR" altLang="en-US" sz="1200" dirty="0"/>
              <a:t>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17209" y="1375565"/>
            <a:ext cx="1351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47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 err="1"/>
              <a:t>항제</a:t>
            </a:r>
            <a:r>
              <a:rPr lang="en-US" altLang="ko-KR" sz="1200" dirty="0"/>
              <a:t>3</a:t>
            </a:r>
            <a:r>
              <a:rPr lang="ko-KR" altLang="en-US" sz="1200" dirty="0"/>
              <a:t>호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541880" y="1004850"/>
            <a:ext cx="567267" cy="119178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시기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41880" y="3244441"/>
            <a:ext cx="567267" cy="99056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심사대상</a:t>
            </a:r>
          </a:p>
        </p:txBody>
      </p:sp>
      <p:sp>
        <p:nvSpPr>
          <p:cNvPr id="56" name="순서도: 처리 55"/>
          <p:cNvSpPr/>
          <p:nvPr/>
        </p:nvSpPr>
        <p:spPr>
          <a:xfrm>
            <a:off x="7199199" y="2918308"/>
            <a:ext cx="830037" cy="251834"/>
          </a:xfrm>
          <a:prstGeom prst="flowChartProcess">
            <a:avLst/>
          </a:prstGeom>
          <a:solidFill>
            <a:schemeClr val="accent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심사</a:t>
            </a:r>
            <a:r>
              <a:rPr lang="en-US" altLang="ko-KR" sz="11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Ⅲ</a:t>
            </a:r>
            <a:endParaRPr lang="ko-KR" altLang="en-US" sz="11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58" name="순서도: 처리 57"/>
          <p:cNvSpPr/>
          <p:nvPr/>
        </p:nvSpPr>
        <p:spPr>
          <a:xfrm>
            <a:off x="9906248" y="2918308"/>
            <a:ext cx="830037" cy="251834"/>
          </a:xfrm>
          <a:prstGeom prst="flowChartProcess">
            <a:avLst/>
          </a:prstGeom>
          <a:solidFill>
            <a:schemeClr val="accent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심사</a:t>
            </a:r>
            <a:r>
              <a:rPr lang="en-US" altLang="ko-KR" sz="11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Ⅳ</a:t>
            </a:r>
            <a:endParaRPr lang="ko-KR" altLang="en-US" sz="11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3069521" y="1917026"/>
            <a:ext cx="7268680" cy="967414"/>
            <a:chOff x="3052587" y="1047099"/>
            <a:chExt cx="7268680" cy="1635127"/>
          </a:xfrm>
        </p:grpSpPr>
        <p:cxnSp>
          <p:nvCxnSpPr>
            <p:cNvPr id="42" name="직선 화살표 연결선 41"/>
            <p:cNvCxnSpPr>
              <a:stCxn id="41" idx="0"/>
            </p:cNvCxnSpPr>
            <p:nvPr/>
          </p:nvCxnSpPr>
          <p:spPr>
            <a:xfrm flipV="1">
              <a:off x="3052587" y="1047099"/>
              <a:ext cx="0" cy="1635127"/>
            </a:xfrm>
            <a:prstGeom prst="straightConnector1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화살표 연결선 54"/>
            <p:cNvCxnSpPr>
              <a:stCxn id="54" idx="0"/>
            </p:cNvCxnSpPr>
            <p:nvPr/>
          </p:nvCxnSpPr>
          <p:spPr>
            <a:xfrm flipV="1">
              <a:off x="5339482" y="1047099"/>
              <a:ext cx="0" cy="1635127"/>
            </a:xfrm>
            <a:prstGeom prst="straightConnector1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화살표 연결선 56"/>
            <p:cNvCxnSpPr>
              <a:stCxn id="56" idx="0"/>
            </p:cNvCxnSpPr>
            <p:nvPr/>
          </p:nvCxnSpPr>
          <p:spPr>
            <a:xfrm flipV="1">
              <a:off x="7614218" y="1047099"/>
              <a:ext cx="0" cy="1635127"/>
            </a:xfrm>
            <a:prstGeom prst="straightConnector1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화살표 연결선 58"/>
            <p:cNvCxnSpPr>
              <a:stCxn id="58" idx="0"/>
            </p:cNvCxnSpPr>
            <p:nvPr/>
          </p:nvCxnSpPr>
          <p:spPr>
            <a:xfrm flipV="1">
              <a:off x="10321267" y="1047099"/>
              <a:ext cx="0" cy="1635127"/>
            </a:xfrm>
            <a:prstGeom prst="straightConnector1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그룹 108"/>
          <p:cNvGrpSpPr/>
          <p:nvPr/>
        </p:nvGrpSpPr>
        <p:grpSpPr>
          <a:xfrm>
            <a:off x="3069519" y="3111408"/>
            <a:ext cx="7246741" cy="840473"/>
            <a:chOff x="3052585" y="2778199"/>
            <a:chExt cx="7246741" cy="2213636"/>
          </a:xfrm>
        </p:grpSpPr>
        <p:cxnSp>
          <p:nvCxnSpPr>
            <p:cNvPr id="61" name="직선 연결선 60"/>
            <p:cNvCxnSpPr>
              <a:stCxn id="41" idx="2"/>
            </p:cNvCxnSpPr>
            <p:nvPr/>
          </p:nvCxnSpPr>
          <p:spPr>
            <a:xfrm flipH="1">
              <a:off x="3052585" y="2816023"/>
              <a:ext cx="2" cy="2061987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/>
            <p:cNvCxnSpPr/>
            <p:nvPr/>
          </p:nvCxnSpPr>
          <p:spPr>
            <a:xfrm flipH="1">
              <a:off x="5320883" y="2778199"/>
              <a:ext cx="2" cy="2061993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/>
            <p:cNvCxnSpPr/>
            <p:nvPr/>
          </p:nvCxnSpPr>
          <p:spPr>
            <a:xfrm flipH="1">
              <a:off x="7602336" y="2929843"/>
              <a:ext cx="2" cy="206199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/>
            <p:cNvCxnSpPr/>
            <p:nvPr/>
          </p:nvCxnSpPr>
          <p:spPr>
            <a:xfrm flipH="1">
              <a:off x="10299324" y="2918691"/>
              <a:ext cx="2" cy="206199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TextBox 64"/>
          <p:cNvSpPr txBox="1"/>
          <p:nvPr/>
        </p:nvSpPr>
        <p:spPr>
          <a:xfrm>
            <a:off x="2702970" y="3390941"/>
            <a:ext cx="699230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/>
              <a:t>(0)(1)(2)</a:t>
            </a:r>
            <a:endParaRPr lang="ko-KR" altLang="en-US" sz="1100" dirty="0"/>
          </a:p>
        </p:txBody>
      </p:sp>
      <p:sp>
        <p:nvSpPr>
          <p:cNvPr id="66" name="TextBox 65"/>
          <p:cNvSpPr txBox="1"/>
          <p:nvPr/>
        </p:nvSpPr>
        <p:spPr>
          <a:xfrm>
            <a:off x="4912573" y="3382474"/>
            <a:ext cx="870751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/>
              <a:t>(0)(1)(2)(4)</a:t>
            </a:r>
            <a:endParaRPr lang="ko-KR" altLang="en-US" sz="1100" dirty="0"/>
          </a:p>
        </p:txBody>
      </p:sp>
      <p:sp>
        <p:nvSpPr>
          <p:cNvPr id="67" name="TextBox 66"/>
          <p:cNvSpPr txBox="1"/>
          <p:nvPr/>
        </p:nvSpPr>
        <p:spPr>
          <a:xfrm>
            <a:off x="6504116" y="3554062"/>
            <a:ext cx="774571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(6)</a:t>
            </a:r>
            <a:r>
              <a:rPr lang="ko-KR" altLang="en-US" sz="1100" dirty="0"/>
              <a:t> 적법성</a:t>
            </a:r>
            <a:endParaRPr lang="en-US" altLang="ko-KR" sz="1100" dirty="0"/>
          </a:p>
        </p:txBody>
      </p:sp>
      <p:sp>
        <p:nvSpPr>
          <p:cNvPr id="68" name="TextBox 67"/>
          <p:cNvSpPr txBox="1"/>
          <p:nvPr/>
        </p:nvSpPr>
        <p:spPr>
          <a:xfrm>
            <a:off x="7418399" y="3945747"/>
            <a:ext cx="1102203" cy="20934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ko-KR" sz="1000" dirty="0">
                <a:solidFill>
                  <a:schemeClr val="accent2"/>
                </a:solidFill>
              </a:rPr>
              <a:t>(6)</a:t>
            </a:r>
            <a:r>
              <a:rPr lang="ko-KR" altLang="en-US" sz="1000" dirty="0">
                <a:solidFill>
                  <a:schemeClr val="accent2"/>
                </a:solidFill>
              </a:rPr>
              <a:t>은 </a:t>
            </a:r>
            <a:r>
              <a:rPr lang="ko-KR" altLang="en-US" sz="1000" dirty="0" err="1">
                <a:solidFill>
                  <a:schemeClr val="accent2"/>
                </a:solidFill>
              </a:rPr>
              <a:t>보정각하</a:t>
            </a:r>
            <a:endParaRPr lang="ko-KR" altLang="en-US" sz="1000" dirty="0">
              <a:solidFill>
                <a:schemeClr val="accent2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7462011" y="3331432"/>
            <a:ext cx="1042273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(0)(1)(2)(4)(6)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62010" y="3694161"/>
            <a:ext cx="1042274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(0)(1)(2)(4)</a:t>
            </a:r>
          </a:p>
        </p:txBody>
      </p:sp>
      <p:cxnSp>
        <p:nvCxnSpPr>
          <p:cNvPr id="85" name="꺾인 연결선 84"/>
          <p:cNvCxnSpPr>
            <a:stCxn id="67" idx="3"/>
            <a:endCxn id="83" idx="1"/>
          </p:cNvCxnSpPr>
          <p:nvPr/>
        </p:nvCxnSpPr>
        <p:spPr>
          <a:xfrm flipV="1">
            <a:off x="7278687" y="3462237"/>
            <a:ext cx="183324" cy="22263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꺾인 연결선 85"/>
          <p:cNvCxnSpPr>
            <a:stCxn id="67" idx="3"/>
            <a:endCxn id="84" idx="1"/>
          </p:cNvCxnSpPr>
          <p:nvPr/>
        </p:nvCxnSpPr>
        <p:spPr>
          <a:xfrm>
            <a:off x="7278687" y="3684867"/>
            <a:ext cx="183323" cy="14009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직사각형 86"/>
          <p:cNvSpPr/>
          <p:nvPr/>
        </p:nvSpPr>
        <p:spPr>
          <a:xfrm>
            <a:off x="7161903" y="3303943"/>
            <a:ext cx="3369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kern="0" spc="-50" dirty="0"/>
              <a:t>Yes</a:t>
            </a:r>
            <a:endParaRPr lang="ko-KR" altLang="en-US" sz="800" dirty="0"/>
          </a:p>
        </p:txBody>
      </p:sp>
      <p:sp>
        <p:nvSpPr>
          <p:cNvPr id="88" name="직사각형 87"/>
          <p:cNvSpPr/>
          <p:nvPr/>
        </p:nvSpPr>
        <p:spPr>
          <a:xfrm>
            <a:off x="7161903" y="3838025"/>
            <a:ext cx="30809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kern="0" spc="-50" dirty="0"/>
              <a:t>No</a:t>
            </a:r>
            <a:endParaRPr lang="ko-KR" altLang="en-US" sz="800" dirty="0"/>
          </a:p>
        </p:txBody>
      </p:sp>
      <p:sp>
        <p:nvSpPr>
          <p:cNvPr id="89" name="TextBox 88"/>
          <p:cNvSpPr txBox="1"/>
          <p:nvPr/>
        </p:nvSpPr>
        <p:spPr>
          <a:xfrm>
            <a:off x="9172304" y="3554062"/>
            <a:ext cx="774571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(7)</a:t>
            </a:r>
            <a:r>
              <a:rPr lang="ko-KR" altLang="en-US" sz="1100" dirty="0"/>
              <a:t> 적법성</a:t>
            </a:r>
            <a:endParaRPr lang="en-US" altLang="ko-KR" sz="1100" dirty="0"/>
          </a:p>
        </p:txBody>
      </p:sp>
      <p:sp>
        <p:nvSpPr>
          <p:cNvPr id="90" name="TextBox 89"/>
          <p:cNvSpPr txBox="1"/>
          <p:nvPr/>
        </p:nvSpPr>
        <p:spPr>
          <a:xfrm>
            <a:off x="10086587" y="3945747"/>
            <a:ext cx="1102203" cy="20934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ko-KR" sz="1000" dirty="0">
                <a:solidFill>
                  <a:schemeClr val="accent2"/>
                </a:solidFill>
              </a:rPr>
              <a:t>(7)</a:t>
            </a:r>
            <a:r>
              <a:rPr lang="ko-KR" altLang="en-US" sz="1000" dirty="0">
                <a:solidFill>
                  <a:schemeClr val="accent2"/>
                </a:solidFill>
              </a:rPr>
              <a:t>은 </a:t>
            </a:r>
            <a:r>
              <a:rPr lang="ko-KR" altLang="en-US" sz="1000" dirty="0" err="1">
                <a:solidFill>
                  <a:schemeClr val="accent2"/>
                </a:solidFill>
              </a:rPr>
              <a:t>보정각하</a:t>
            </a:r>
            <a:endParaRPr lang="ko-KR" altLang="en-US" sz="1000" dirty="0">
              <a:solidFill>
                <a:schemeClr val="accent2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0130199" y="3382234"/>
            <a:ext cx="1213794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(0)(1)(2)(4)</a:t>
            </a:r>
            <a:r>
              <a:rPr lang="en-US" altLang="ko-KR" sz="11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(6)</a:t>
            </a:r>
            <a:r>
              <a:rPr lang="en-US" altLang="ko-KR" sz="1100" dirty="0"/>
              <a:t>(7)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130198" y="3694161"/>
            <a:ext cx="1042274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(0)(1)(2)(4)</a:t>
            </a:r>
            <a:r>
              <a:rPr lang="en-US" altLang="ko-KR" sz="11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(6)</a:t>
            </a:r>
          </a:p>
        </p:txBody>
      </p:sp>
      <p:cxnSp>
        <p:nvCxnSpPr>
          <p:cNvPr id="93" name="꺾인 연결선 92"/>
          <p:cNvCxnSpPr>
            <a:stCxn id="89" idx="3"/>
            <a:endCxn id="91" idx="1"/>
          </p:cNvCxnSpPr>
          <p:nvPr/>
        </p:nvCxnSpPr>
        <p:spPr>
          <a:xfrm flipV="1">
            <a:off x="9946875" y="3513039"/>
            <a:ext cx="183324" cy="17182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꺾인 연결선 93"/>
          <p:cNvCxnSpPr>
            <a:stCxn id="89" idx="3"/>
            <a:endCxn id="92" idx="1"/>
          </p:cNvCxnSpPr>
          <p:nvPr/>
        </p:nvCxnSpPr>
        <p:spPr>
          <a:xfrm>
            <a:off x="9946875" y="3684867"/>
            <a:ext cx="183323" cy="14009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/>
          <p:cNvSpPr/>
          <p:nvPr/>
        </p:nvSpPr>
        <p:spPr>
          <a:xfrm>
            <a:off x="9830091" y="3303943"/>
            <a:ext cx="3369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kern="0" spc="-50" dirty="0"/>
              <a:t>Yes</a:t>
            </a:r>
            <a:endParaRPr lang="ko-KR" altLang="en-US" sz="800" dirty="0"/>
          </a:p>
        </p:txBody>
      </p:sp>
      <p:sp>
        <p:nvSpPr>
          <p:cNvPr id="96" name="직사각형 95"/>
          <p:cNvSpPr/>
          <p:nvPr/>
        </p:nvSpPr>
        <p:spPr>
          <a:xfrm>
            <a:off x="9830091" y="3838025"/>
            <a:ext cx="30809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kern="0" spc="-50" dirty="0"/>
              <a:t>No</a:t>
            </a:r>
            <a:endParaRPr lang="ko-KR" altLang="en-US" sz="800" dirty="0"/>
          </a:p>
        </p:txBody>
      </p:sp>
      <p:cxnSp>
        <p:nvCxnSpPr>
          <p:cNvPr id="97" name="꺾인 연결선 96"/>
          <p:cNvCxnSpPr>
            <a:stCxn id="106" idx="1"/>
            <a:endCxn id="67" idx="1"/>
          </p:cNvCxnSpPr>
          <p:nvPr/>
        </p:nvCxnSpPr>
        <p:spPr>
          <a:xfrm rot="10800000" flipV="1">
            <a:off x="6504117" y="2717747"/>
            <a:ext cx="84091" cy="967120"/>
          </a:xfrm>
          <a:prstGeom prst="bentConnector3">
            <a:avLst>
              <a:gd name="adj1" fmla="val 371848"/>
            </a:avLst>
          </a:prstGeom>
          <a:ln w="28575">
            <a:solidFill>
              <a:schemeClr val="accent6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꺾인 연결선 97"/>
          <p:cNvCxnSpPr>
            <a:stCxn id="30" idx="1"/>
            <a:endCxn id="89" idx="1"/>
          </p:cNvCxnSpPr>
          <p:nvPr/>
        </p:nvCxnSpPr>
        <p:spPr>
          <a:xfrm rot="10800000" flipH="1" flipV="1">
            <a:off x="9085236" y="2411309"/>
            <a:ext cx="87067" cy="1273558"/>
          </a:xfrm>
          <a:prstGeom prst="bentConnector3">
            <a:avLst>
              <a:gd name="adj1" fmla="val -262556"/>
            </a:avLst>
          </a:prstGeom>
          <a:ln w="28575">
            <a:solidFill>
              <a:schemeClr val="accent6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자유형 98"/>
          <p:cNvSpPr/>
          <p:nvPr/>
        </p:nvSpPr>
        <p:spPr>
          <a:xfrm>
            <a:off x="8754534" y="1281849"/>
            <a:ext cx="2091267" cy="660400"/>
          </a:xfrm>
          <a:custGeom>
            <a:avLst/>
            <a:gdLst>
              <a:gd name="connsiteX0" fmla="*/ 0 w 2091267"/>
              <a:gd name="connsiteY0" fmla="*/ 660400 h 660400"/>
              <a:gd name="connsiteX1" fmla="*/ 0 w 2091267"/>
              <a:gd name="connsiteY1" fmla="*/ 0 h 660400"/>
              <a:gd name="connsiteX2" fmla="*/ 2091267 w 2091267"/>
              <a:gd name="connsiteY2" fmla="*/ 0 h 660400"/>
              <a:gd name="connsiteX3" fmla="*/ 2091267 w 2091267"/>
              <a:gd name="connsiteY3" fmla="*/ 626533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1267" h="660400">
                <a:moveTo>
                  <a:pt x="0" y="660400"/>
                </a:moveTo>
                <a:lnTo>
                  <a:pt x="0" y="0"/>
                </a:lnTo>
                <a:lnTo>
                  <a:pt x="2091267" y="0"/>
                </a:lnTo>
                <a:lnTo>
                  <a:pt x="2091267" y="626533"/>
                </a:lnTo>
              </a:path>
            </a:pathLst>
          </a:cu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TextBox 99"/>
          <p:cNvSpPr txBox="1"/>
          <p:nvPr/>
        </p:nvSpPr>
        <p:spPr>
          <a:xfrm>
            <a:off x="8858090" y="1004850"/>
            <a:ext cx="20537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등본 송달일로부터 </a:t>
            </a:r>
            <a:r>
              <a:rPr lang="en-US" altLang="ko-KR" sz="1200" dirty="0">
                <a:solidFill>
                  <a:srgbClr val="FF0000"/>
                </a:solidFill>
              </a:rPr>
              <a:t>3</a:t>
            </a:r>
            <a:r>
              <a:rPr lang="ko-KR" altLang="en-US" sz="1200" dirty="0">
                <a:solidFill>
                  <a:srgbClr val="FF0000"/>
                </a:solidFill>
              </a:rPr>
              <a:t>개월 </a:t>
            </a:r>
            <a:r>
              <a:rPr lang="ko-KR" altLang="en-US" sz="1200" dirty="0"/>
              <a:t>이내</a:t>
            </a:r>
          </a:p>
        </p:txBody>
      </p:sp>
      <p:sp>
        <p:nvSpPr>
          <p:cNvPr id="101" name="순서도: 처리 100"/>
          <p:cNvSpPr/>
          <p:nvPr/>
        </p:nvSpPr>
        <p:spPr>
          <a:xfrm>
            <a:off x="2175764" y="2591830"/>
            <a:ext cx="830037" cy="251834"/>
          </a:xfrm>
          <a:prstGeom prst="flowChartProcess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+mn-ea"/>
              </a:rPr>
              <a:t>보정</a:t>
            </a:r>
            <a:r>
              <a:rPr lang="en-US" altLang="ko-KR" sz="1100" dirty="0">
                <a:latin typeface="+mn-ea"/>
              </a:rPr>
              <a:t>(2)</a:t>
            </a:r>
            <a:endParaRPr lang="ko-KR" altLang="en-US" sz="1100" dirty="0">
              <a:latin typeface="+mn-ea"/>
            </a:endParaRPr>
          </a:p>
        </p:txBody>
      </p:sp>
      <p:cxnSp>
        <p:nvCxnSpPr>
          <p:cNvPr id="103" name="직선 화살표 연결선 102"/>
          <p:cNvCxnSpPr/>
          <p:nvPr/>
        </p:nvCxnSpPr>
        <p:spPr>
          <a:xfrm flipV="1">
            <a:off x="4693980" y="1960541"/>
            <a:ext cx="0" cy="817563"/>
          </a:xfrm>
          <a:prstGeom prst="straightConnector1">
            <a:avLst/>
          </a:prstGeom>
          <a:ln w="9525">
            <a:solidFill>
              <a:schemeClr val="bg2">
                <a:lumMod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순서도: 처리 103"/>
          <p:cNvSpPr/>
          <p:nvPr/>
        </p:nvSpPr>
        <p:spPr>
          <a:xfrm>
            <a:off x="4278961" y="2591830"/>
            <a:ext cx="830037" cy="251834"/>
          </a:xfrm>
          <a:prstGeom prst="flowChartProcess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+mn-ea"/>
              </a:rPr>
              <a:t>보정</a:t>
            </a:r>
            <a:r>
              <a:rPr lang="en-US" altLang="ko-KR" sz="1100" dirty="0">
                <a:latin typeface="+mn-ea"/>
              </a:rPr>
              <a:t>(4)</a:t>
            </a:r>
            <a:endParaRPr lang="ko-KR" altLang="en-US" sz="1100" dirty="0">
              <a:latin typeface="+mn-ea"/>
            </a:endParaRPr>
          </a:p>
        </p:txBody>
      </p:sp>
      <p:cxnSp>
        <p:nvCxnSpPr>
          <p:cNvPr id="105" name="직선 화살표 연결선 104"/>
          <p:cNvCxnSpPr/>
          <p:nvPr/>
        </p:nvCxnSpPr>
        <p:spPr>
          <a:xfrm flipV="1">
            <a:off x="7003226" y="1960541"/>
            <a:ext cx="0" cy="817563"/>
          </a:xfrm>
          <a:prstGeom prst="straightConnector1">
            <a:avLst/>
          </a:prstGeom>
          <a:ln w="9525">
            <a:solidFill>
              <a:schemeClr val="bg2">
                <a:lumMod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순서도: 처리 105"/>
          <p:cNvSpPr/>
          <p:nvPr/>
        </p:nvSpPr>
        <p:spPr>
          <a:xfrm>
            <a:off x="6588207" y="2591830"/>
            <a:ext cx="830037" cy="251834"/>
          </a:xfrm>
          <a:prstGeom prst="flowChartProcess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+mn-ea"/>
              </a:rPr>
              <a:t>보정</a:t>
            </a:r>
            <a:r>
              <a:rPr lang="en-US" altLang="ko-KR" sz="1100" dirty="0">
                <a:latin typeface="+mn-ea"/>
              </a:rPr>
              <a:t>(6)</a:t>
            </a:r>
            <a:endParaRPr lang="ko-KR" altLang="en-US" sz="1100" dirty="0">
              <a:latin typeface="+mn-ea"/>
            </a:endParaRPr>
          </a:p>
        </p:txBody>
      </p:sp>
      <p:graphicFrame>
        <p:nvGraphicFramePr>
          <p:cNvPr id="110" name="표 1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684720"/>
              </p:ext>
            </p:extLst>
          </p:nvPr>
        </p:nvGraphicFramePr>
        <p:xfrm>
          <a:off x="541879" y="4412897"/>
          <a:ext cx="11006655" cy="216027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620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1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06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49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10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10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147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0191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/>
                        <a:t>보정대상항목</a:t>
                      </a:r>
                      <a:endParaRPr lang="ko-KR" altLang="en-US" sz="10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/>
                        <a:t>최초출원</a:t>
                      </a:r>
                      <a:endParaRPr lang="en-US" altLang="ko-KR" sz="1000" b="1" kern="1200" dirty="0"/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(0)</a:t>
                      </a:r>
                      <a:endParaRPr lang="ko-KR" altLang="en-US" sz="10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/>
                        <a:t>최초거절이유통지 전</a:t>
                      </a:r>
                      <a:r>
                        <a:rPr lang="en-US" altLang="ko-KR" sz="1000" b="1" kern="1200" dirty="0"/>
                        <a:t>(</a:t>
                      </a:r>
                      <a:r>
                        <a:rPr lang="ko-KR" altLang="en-US" sz="1000" b="1" kern="1200" dirty="0"/>
                        <a:t>法 </a:t>
                      </a:r>
                      <a:r>
                        <a:rPr lang="en-US" altLang="ko-KR" sz="1000" b="1" kern="1200" dirty="0"/>
                        <a:t>47</a:t>
                      </a:r>
                      <a:r>
                        <a:rPr lang="ko-KR" altLang="en-US" sz="1000" b="1" kern="1200" dirty="0"/>
                        <a:t>①본문</a:t>
                      </a:r>
                      <a:r>
                        <a:rPr lang="en-US" altLang="ko-KR" sz="1000" b="1" kern="1200" dirty="0"/>
                        <a:t>)</a:t>
                      </a:r>
                      <a:endParaRPr lang="ko-KR" altLang="en-US" sz="10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/>
                        <a:t>심사대상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/>
                        <a:t>명세서 또는 도면</a:t>
                      </a:r>
                      <a:endParaRPr lang="en-US" altLang="ko-KR" sz="1000" b="1" kern="1200" dirty="0"/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(0)(1)(2)</a:t>
                      </a:r>
                      <a:endParaRPr lang="ko-KR" altLang="en-US" sz="10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/>
                        <a:t>최초거절이유통지에 따른 의견서 제출기간</a:t>
                      </a:r>
                      <a:r>
                        <a:rPr lang="en-US" altLang="ko-KR" sz="1000" b="1" kern="1200" dirty="0"/>
                        <a:t>(</a:t>
                      </a:r>
                      <a:r>
                        <a:rPr lang="ko-KR" altLang="en-US" sz="1000" b="1" kern="1200" dirty="0"/>
                        <a:t>法 </a:t>
                      </a:r>
                      <a:r>
                        <a:rPr lang="en-US" altLang="ko-KR" sz="1000" b="1" kern="1200" dirty="0"/>
                        <a:t>47</a:t>
                      </a:r>
                      <a:r>
                        <a:rPr lang="ko-KR" altLang="en-US" sz="1000" b="1" kern="1200" dirty="0"/>
                        <a:t>①</a:t>
                      </a:r>
                      <a:r>
                        <a:rPr lang="en-US" altLang="ko-KR" sz="1000" b="1" kern="1200" dirty="0"/>
                        <a:t>Ⅰ)</a:t>
                      </a:r>
                      <a:endParaRPr lang="ko-KR" altLang="en-US" sz="10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/>
                        <a:t>심사대상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/>
                        <a:t>명세서 또는 도면</a:t>
                      </a:r>
                      <a:endParaRPr lang="en-US" altLang="ko-KR" sz="1000" b="1" kern="1200" dirty="0"/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(0)(1)(2)(4)</a:t>
                      </a:r>
                      <a:endParaRPr lang="ko-KR" altLang="en-US" sz="10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6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/>
                        <a:t>제</a:t>
                      </a:r>
                      <a:r>
                        <a:rPr lang="en-US" altLang="ko-KR" sz="1000" b="1" kern="1200" dirty="0"/>
                        <a:t>1</a:t>
                      </a:r>
                      <a:r>
                        <a:rPr lang="ko-KR" altLang="en-US" sz="1000" b="1" kern="1200" dirty="0"/>
                        <a:t>차 보정서</a:t>
                      </a:r>
                      <a:endParaRPr lang="en-US" altLang="ko-KR" sz="1000" b="1" kern="1200" dirty="0"/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1200" dirty="0"/>
                        <a:t>(1)</a:t>
                      </a:r>
                      <a:endParaRPr lang="ko-KR" altLang="en-US" sz="10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/>
                        <a:t>제</a:t>
                      </a:r>
                      <a:r>
                        <a:rPr lang="en-US" altLang="ko-KR" sz="1000" b="1" kern="1200" dirty="0"/>
                        <a:t>2</a:t>
                      </a:r>
                      <a:r>
                        <a:rPr lang="ko-KR" altLang="en-US" sz="1000" b="1" kern="1200" dirty="0"/>
                        <a:t>차 보정서</a:t>
                      </a:r>
                      <a:endParaRPr lang="en-US" altLang="ko-KR" sz="1000" b="1" kern="1200" dirty="0"/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1200" dirty="0"/>
                        <a:t>(2)</a:t>
                      </a:r>
                      <a:endParaRPr lang="ko-KR" altLang="en-US" sz="10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/>
                        <a:t>제</a:t>
                      </a:r>
                      <a:r>
                        <a:rPr lang="en-US" altLang="ko-KR" sz="1000" b="1" kern="1200" dirty="0"/>
                        <a:t>3</a:t>
                      </a:r>
                      <a:r>
                        <a:rPr lang="ko-KR" altLang="en-US" sz="1000" b="1" kern="1200" dirty="0"/>
                        <a:t>차 보정서</a:t>
                      </a:r>
                      <a:endParaRPr lang="en-US" altLang="ko-KR" sz="1000" b="1" kern="1200" dirty="0"/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(3)</a:t>
                      </a:r>
                      <a:endParaRPr lang="ko-KR" altLang="en-US" sz="10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/>
                        <a:t>제</a:t>
                      </a:r>
                      <a:r>
                        <a:rPr lang="en-US" altLang="ko-KR" sz="1000" b="1" kern="1200" dirty="0"/>
                        <a:t>4</a:t>
                      </a:r>
                      <a:r>
                        <a:rPr lang="ko-KR" altLang="en-US" sz="1000" b="1" kern="1200" dirty="0"/>
                        <a:t>차 보정서</a:t>
                      </a:r>
                      <a:endParaRPr lang="en-US" altLang="ko-KR" sz="1000" b="1" kern="1200" dirty="0"/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(4)</a:t>
                      </a:r>
                      <a:endParaRPr lang="ko-KR" altLang="en-US" sz="10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687"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발명의 설명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◇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◇</a:t>
                      </a:r>
                      <a:r>
                        <a:rPr lang="en-US" altLang="ko-KR" sz="1000" kern="1200" dirty="0"/>
                        <a:t>1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◇</a:t>
                      </a:r>
                      <a:r>
                        <a:rPr lang="en-US" altLang="ko-KR" sz="1000" kern="1200"/>
                        <a:t>2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◇</a:t>
                      </a:r>
                      <a:r>
                        <a:rPr lang="en-US" altLang="ko-KR" sz="1000" kern="1200" dirty="0"/>
                        <a:t>2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◇</a:t>
                      </a:r>
                      <a:r>
                        <a:rPr lang="en-US" altLang="ko-KR" sz="1000" kern="1200" dirty="0"/>
                        <a:t>2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687"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제</a:t>
                      </a:r>
                      <a:r>
                        <a:rPr lang="en-US" altLang="ko-KR" sz="1000" kern="1200"/>
                        <a:t>1</a:t>
                      </a:r>
                      <a:r>
                        <a:rPr lang="ko-KR" altLang="en-US" sz="1000" kern="1200"/>
                        <a:t>항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○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○</a:t>
                      </a:r>
                      <a:r>
                        <a:rPr lang="en-US" altLang="ko-KR" sz="1000" kern="1200"/>
                        <a:t>2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○</a:t>
                      </a:r>
                      <a:r>
                        <a:rPr lang="en-US" altLang="ko-KR" sz="1000" kern="1200"/>
                        <a:t>2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○</a:t>
                      </a:r>
                      <a:r>
                        <a:rPr lang="en-US" altLang="ko-KR" sz="1000" kern="1200" dirty="0"/>
                        <a:t>3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○</a:t>
                      </a:r>
                      <a:r>
                        <a:rPr lang="en-US" altLang="ko-KR" sz="1000" kern="1200" dirty="0"/>
                        <a:t>2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687"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제</a:t>
                      </a:r>
                      <a:r>
                        <a:rPr lang="en-US" altLang="ko-KR" sz="1000" kern="1200"/>
                        <a:t>2</a:t>
                      </a:r>
                      <a:r>
                        <a:rPr lang="ko-KR" altLang="en-US" sz="1000" kern="1200"/>
                        <a:t>항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□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□</a:t>
                      </a:r>
                      <a:r>
                        <a:rPr lang="en-US" altLang="ko-KR" sz="1000" kern="1200"/>
                        <a:t>1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□</a:t>
                      </a:r>
                      <a:r>
                        <a:rPr lang="en-US" altLang="ko-KR" sz="1000" kern="1200"/>
                        <a:t>1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□</a:t>
                      </a:r>
                      <a:r>
                        <a:rPr lang="en-US" altLang="ko-KR" sz="1000" kern="1200" dirty="0"/>
                        <a:t>3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□</a:t>
                      </a:r>
                      <a:r>
                        <a:rPr lang="en-US" altLang="ko-KR" sz="1000" kern="1200" dirty="0"/>
                        <a:t>4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□</a:t>
                      </a:r>
                      <a:r>
                        <a:rPr lang="en-US" altLang="ko-KR" sz="1000" kern="1200"/>
                        <a:t>4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687"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제</a:t>
                      </a:r>
                      <a:r>
                        <a:rPr lang="en-US" altLang="ko-KR" sz="1000" kern="1200"/>
                        <a:t>3</a:t>
                      </a:r>
                      <a:r>
                        <a:rPr lang="ko-KR" altLang="en-US" sz="1000" kern="1200"/>
                        <a:t>항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△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△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△</a:t>
                      </a:r>
                      <a:r>
                        <a:rPr lang="en-US" altLang="ko-KR" sz="1000" kern="1200"/>
                        <a:t>3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△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4687"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/>
                        <a:t>-</a:t>
                      </a:r>
                      <a:endParaRPr 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4687"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제</a:t>
                      </a:r>
                      <a:r>
                        <a:rPr lang="en-US" altLang="ko-KR" sz="1000" kern="1200"/>
                        <a:t>10</a:t>
                      </a:r>
                      <a:r>
                        <a:rPr lang="ko-KR" altLang="en-US" sz="1000" kern="1200"/>
                        <a:t>항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☆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☆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☆</a:t>
                      </a:r>
                      <a:r>
                        <a:rPr lang="en-US" altLang="ko-KR" sz="1000" kern="1200"/>
                        <a:t>3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☆</a:t>
                      </a:r>
                      <a:r>
                        <a:rPr lang="en-US" altLang="ko-KR" sz="1000" kern="1200"/>
                        <a:t>4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☆</a:t>
                      </a:r>
                      <a:r>
                        <a:rPr lang="en-US" altLang="ko-KR" sz="1000" kern="1200" dirty="0"/>
                        <a:t>4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4687"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도면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♤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♤</a:t>
                      </a:r>
                      <a:r>
                        <a:rPr lang="en-US" altLang="ko-KR" sz="1000" kern="1200"/>
                        <a:t>1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♤</a:t>
                      </a:r>
                      <a:r>
                        <a:rPr lang="en-US" altLang="ko-KR" sz="1000" kern="1200"/>
                        <a:t>1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♤</a:t>
                      </a:r>
                      <a:r>
                        <a:rPr lang="en-US" altLang="ko-KR" sz="1000" kern="1200"/>
                        <a:t>3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♤</a:t>
                      </a:r>
                      <a:r>
                        <a:rPr lang="en-US" altLang="ko-KR" sz="1000" kern="1200" dirty="0"/>
                        <a:t>1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174</a:t>
            </a:fld>
            <a:endParaRPr lang="ko-KR" altLang="en-US"/>
          </a:p>
        </p:txBody>
      </p:sp>
      <p:sp>
        <p:nvSpPr>
          <p:cNvPr id="41" name="순서도: 처리 40"/>
          <p:cNvSpPr/>
          <p:nvPr/>
        </p:nvSpPr>
        <p:spPr>
          <a:xfrm>
            <a:off x="2637568" y="2918308"/>
            <a:ext cx="830037" cy="251834"/>
          </a:xfrm>
          <a:prstGeom prst="flowChartProcess">
            <a:avLst/>
          </a:prstGeom>
          <a:solidFill>
            <a:schemeClr val="accent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심사</a:t>
            </a:r>
            <a:r>
              <a:rPr lang="en-US" altLang="ko-KR" sz="11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Ⅰ</a:t>
            </a:r>
            <a:endParaRPr lang="ko-KR" altLang="en-US" sz="11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54" name="순서도: 처리 53"/>
          <p:cNvSpPr/>
          <p:nvPr/>
        </p:nvSpPr>
        <p:spPr>
          <a:xfrm>
            <a:off x="4924463" y="2918308"/>
            <a:ext cx="830037" cy="251834"/>
          </a:xfrm>
          <a:prstGeom prst="flowChartProcess">
            <a:avLst/>
          </a:prstGeom>
          <a:solidFill>
            <a:schemeClr val="accent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심사</a:t>
            </a:r>
            <a:r>
              <a:rPr lang="en-US" altLang="ko-KR" sz="11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Ⅱ</a:t>
            </a:r>
            <a:endParaRPr lang="ko-KR" altLang="en-US" sz="11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431350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직사각형 90"/>
          <p:cNvSpPr/>
          <p:nvPr/>
        </p:nvSpPr>
        <p:spPr>
          <a:xfrm>
            <a:off x="523875" y="4696113"/>
            <a:ext cx="10944225" cy="17275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523875" y="2790825"/>
            <a:ext cx="10944225" cy="7143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보정시기에</a:t>
            </a:r>
            <a:r>
              <a:rPr lang="ko-KR" altLang="en-US" dirty="0"/>
              <a:t> 따른 제</a:t>
            </a:r>
            <a:r>
              <a:rPr lang="en-US" altLang="ko-KR" dirty="0"/>
              <a:t>47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 위반의 취급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01" name="직선 화살표 연결선 100"/>
          <p:cNvCxnSpPr/>
          <p:nvPr/>
        </p:nvCxnSpPr>
        <p:spPr>
          <a:xfrm>
            <a:off x="1809750" y="1973263"/>
            <a:ext cx="9658350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/>
          <p:cNvSpPr/>
          <p:nvPr/>
        </p:nvSpPr>
        <p:spPr>
          <a:xfrm>
            <a:off x="1578818" y="1720850"/>
            <a:ext cx="767463" cy="5048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</a:p>
        </p:txBody>
      </p:sp>
      <p:sp>
        <p:nvSpPr>
          <p:cNvPr id="105" name="직사각형 104"/>
          <p:cNvSpPr/>
          <p:nvPr/>
        </p:nvSpPr>
        <p:spPr>
          <a:xfrm>
            <a:off x="3127127" y="1392627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</a:p>
        </p:txBody>
      </p:sp>
      <p:cxnSp>
        <p:nvCxnSpPr>
          <p:cNvPr id="107" name="직선 화살표 연결선 106"/>
          <p:cNvCxnSpPr>
            <a:stCxn id="105" idx="2"/>
          </p:cNvCxnSpPr>
          <p:nvPr/>
        </p:nvCxnSpPr>
        <p:spPr>
          <a:xfrm>
            <a:off x="3450147" y="1645040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직사각형 109"/>
          <p:cNvSpPr/>
          <p:nvPr/>
        </p:nvSpPr>
        <p:spPr>
          <a:xfrm>
            <a:off x="4115486" y="1843490"/>
            <a:ext cx="646040" cy="252413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최초</a:t>
            </a:r>
          </a:p>
        </p:txBody>
      </p:sp>
      <p:sp>
        <p:nvSpPr>
          <p:cNvPr id="112" name="직사각형 111"/>
          <p:cNvSpPr/>
          <p:nvPr/>
        </p:nvSpPr>
        <p:spPr>
          <a:xfrm>
            <a:off x="9440867" y="1691090"/>
            <a:ext cx="903283" cy="26739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보정각하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4914641" y="2392362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보정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28" name="직선 화살표 연결선 127"/>
          <p:cNvCxnSpPr>
            <a:stCxn id="127" idx="0"/>
          </p:cNvCxnSpPr>
          <p:nvPr/>
        </p:nvCxnSpPr>
        <p:spPr>
          <a:xfrm flipH="1" flipV="1">
            <a:off x="5286375" y="1969697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5494552" y="1392627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</a:p>
        </p:txBody>
      </p:sp>
      <p:cxnSp>
        <p:nvCxnSpPr>
          <p:cNvPr id="48" name="직선 화살표 연결선 47"/>
          <p:cNvCxnSpPr>
            <a:stCxn id="47" idx="2"/>
          </p:cNvCxnSpPr>
          <p:nvPr/>
        </p:nvCxnSpPr>
        <p:spPr>
          <a:xfrm>
            <a:off x="5817572" y="1645040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/>
          <p:cNvSpPr/>
          <p:nvPr/>
        </p:nvSpPr>
        <p:spPr>
          <a:xfrm>
            <a:off x="6509335" y="1843490"/>
            <a:ext cx="646040" cy="252413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최후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7283677" y="2392362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보정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62" name="직선 화살표 연결선 61"/>
          <p:cNvCxnSpPr>
            <a:stCxn id="61" idx="0"/>
          </p:cNvCxnSpPr>
          <p:nvPr/>
        </p:nvCxnSpPr>
        <p:spPr>
          <a:xfrm flipH="1" flipV="1">
            <a:off x="7655411" y="1969697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/>
          <p:cNvSpPr/>
          <p:nvPr/>
        </p:nvSpPr>
        <p:spPr>
          <a:xfrm>
            <a:off x="8063613" y="1392627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</a:p>
        </p:txBody>
      </p:sp>
      <p:cxnSp>
        <p:nvCxnSpPr>
          <p:cNvPr id="64" name="직선 화살표 연결선 63"/>
          <p:cNvCxnSpPr>
            <a:stCxn id="63" idx="2"/>
          </p:cNvCxnSpPr>
          <p:nvPr/>
        </p:nvCxnSpPr>
        <p:spPr>
          <a:xfrm>
            <a:off x="8386633" y="1645040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직사각형 77"/>
          <p:cNvSpPr/>
          <p:nvPr/>
        </p:nvSpPr>
        <p:spPr>
          <a:xfrm>
            <a:off x="2560497" y="2952533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47②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9440867" y="1958282"/>
            <a:ext cx="903283" cy="26739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거절결정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35" name="꺾인 연결선 34"/>
          <p:cNvCxnSpPr>
            <a:stCxn id="78" idx="3"/>
            <a:endCxn id="110" idx="2"/>
          </p:cNvCxnSpPr>
          <p:nvPr/>
        </p:nvCxnSpPr>
        <p:spPr>
          <a:xfrm flipV="1">
            <a:off x="3327961" y="2095903"/>
            <a:ext cx="1110545" cy="982837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/>
          <p:cNvSpPr/>
          <p:nvPr/>
        </p:nvSpPr>
        <p:spPr>
          <a:xfrm>
            <a:off x="2580963" y="2392362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보정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65" name="직선 화살표 연결선 64"/>
          <p:cNvCxnSpPr>
            <a:stCxn id="59" idx="0"/>
          </p:cNvCxnSpPr>
          <p:nvPr/>
        </p:nvCxnSpPr>
        <p:spPr>
          <a:xfrm flipH="1" flipV="1">
            <a:off x="2952697" y="1969697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직사각형 65"/>
          <p:cNvSpPr/>
          <p:nvPr/>
        </p:nvSpPr>
        <p:spPr>
          <a:xfrm>
            <a:off x="2560497" y="3750827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29②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cxnSp>
        <p:nvCxnSpPr>
          <p:cNvPr id="11" name="꺾인 연결선 10"/>
          <p:cNvCxnSpPr>
            <a:stCxn id="66" idx="3"/>
            <a:endCxn id="110" idx="2"/>
          </p:cNvCxnSpPr>
          <p:nvPr/>
        </p:nvCxnSpPr>
        <p:spPr>
          <a:xfrm flipV="1">
            <a:off x="3327961" y="2095903"/>
            <a:ext cx="1110545" cy="1781131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/>
          <p:cNvSpPr/>
          <p:nvPr/>
        </p:nvSpPr>
        <p:spPr>
          <a:xfrm>
            <a:off x="4914641" y="3753598"/>
            <a:ext cx="746998" cy="252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해소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4894175" y="4179452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47②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cxnSp>
        <p:nvCxnSpPr>
          <p:cNvPr id="14" name="꺾인 연결선 13"/>
          <p:cNvCxnSpPr>
            <a:stCxn id="74" idx="3"/>
            <a:endCxn id="60" idx="2"/>
          </p:cNvCxnSpPr>
          <p:nvPr/>
        </p:nvCxnSpPr>
        <p:spPr>
          <a:xfrm flipV="1">
            <a:off x="5661639" y="2095903"/>
            <a:ext cx="1170716" cy="2209756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/>
          <p:cNvSpPr/>
          <p:nvPr/>
        </p:nvSpPr>
        <p:spPr>
          <a:xfrm>
            <a:off x="2560497" y="4980128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42③Ⅰ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4914641" y="4982899"/>
            <a:ext cx="746998" cy="2524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해소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4894175" y="5408753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29②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cxnSp>
        <p:nvCxnSpPr>
          <p:cNvPr id="18" name="꺾인 연결선 17"/>
          <p:cNvCxnSpPr>
            <a:stCxn id="75" idx="3"/>
            <a:endCxn id="110" idx="2"/>
          </p:cNvCxnSpPr>
          <p:nvPr/>
        </p:nvCxnSpPr>
        <p:spPr>
          <a:xfrm flipV="1">
            <a:off x="3327961" y="2095903"/>
            <a:ext cx="1110545" cy="3010432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80" idx="3"/>
            <a:endCxn id="60" idx="2"/>
          </p:cNvCxnSpPr>
          <p:nvPr/>
        </p:nvCxnSpPr>
        <p:spPr>
          <a:xfrm flipV="1">
            <a:off x="5661639" y="2095903"/>
            <a:ext cx="1170716" cy="3439057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직사각형 80"/>
          <p:cNvSpPr/>
          <p:nvPr/>
        </p:nvSpPr>
        <p:spPr>
          <a:xfrm>
            <a:off x="7316615" y="5427552"/>
            <a:ext cx="746998" cy="2524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해소여부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무관</a:t>
            </a:r>
          </a:p>
        </p:txBody>
      </p:sp>
      <p:sp>
        <p:nvSpPr>
          <p:cNvPr id="82" name="직사각형 81"/>
          <p:cNvSpPr/>
          <p:nvPr/>
        </p:nvSpPr>
        <p:spPr>
          <a:xfrm>
            <a:off x="7296149" y="5853406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47②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cxnSp>
        <p:nvCxnSpPr>
          <p:cNvPr id="24" name="꺾인 연결선 23"/>
          <p:cNvCxnSpPr>
            <a:stCxn id="82" idx="3"/>
            <a:endCxn id="112" idx="3"/>
          </p:cNvCxnSpPr>
          <p:nvPr/>
        </p:nvCxnSpPr>
        <p:spPr>
          <a:xfrm flipV="1">
            <a:off x="8063613" y="1824787"/>
            <a:ext cx="2280537" cy="4154826"/>
          </a:xfrm>
          <a:prstGeom prst="bentConnector3">
            <a:avLst>
              <a:gd name="adj1" fmla="val 110024"/>
            </a:avLst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그룹 28"/>
          <p:cNvGrpSpPr/>
          <p:nvPr/>
        </p:nvGrpSpPr>
        <p:grpSpPr>
          <a:xfrm>
            <a:off x="523875" y="2790825"/>
            <a:ext cx="10944226" cy="1905000"/>
            <a:chOff x="514350" y="2790825"/>
            <a:chExt cx="11115675" cy="1905000"/>
          </a:xfrm>
        </p:grpSpPr>
        <p:cxnSp>
          <p:nvCxnSpPr>
            <p:cNvPr id="28" name="직선 연결선 27"/>
            <p:cNvCxnSpPr/>
            <p:nvPr/>
          </p:nvCxnSpPr>
          <p:spPr>
            <a:xfrm>
              <a:off x="514350" y="2790825"/>
              <a:ext cx="11115675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>
              <a:off x="514350" y="3505200"/>
              <a:ext cx="11115675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연결선 89"/>
            <p:cNvCxnSpPr/>
            <p:nvPr/>
          </p:nvCxnSpPr>
          <p:spPr>
            <a:xfrm>
              <a:off x="514350" y="4695825"/>
              <a:ext cx="11115675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직사각형 35"/>
          <p:cNvSpPr/>
          <p:nvPr/>
        </p:nvSpPr>
        <p:spPr>
          <a:xfrm>
            <a:off x="1452083" y="2660968"/>
            <a:ext cx="582211" cy="8802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160000"/>
              </a:lnSpc>
            </a:pPr>
            <a:r>
              <a:rPr lang="ko-KR" altLang="en-US" sz="3200" kern="0" dirty="0">
                <a:solidFill>
                  <a:schemeClr val="accent5"/>
                </a:solidFill>
                <a:ea typeface="함초롬바탕" panose="02030504000101010101" pitchFamily="18" charset="-127"/>
              </a:rPr>
              <a:t>❶</a:t>
            </a:r>
            <a:endParaRPr lang="ko-KR" altLang="en-US" sz="3200" kern="0" dirty="0">
              <a:solidFill>
                <a:schemeClr val="accent5"/>
              </a:solidFill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1452083" y="3626880"/>
            <a:ext cx="582211" cy="8802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160000"/>
              </a:lnSpc>
            </a:pPr>
            <a:r>
              <a:rPr lang="ko-KR" altLang="en-US" sz="3200" kern="0" dirty="0">
                <a:solidFill>
                  <a:schemeClr val="accent5"/>
                </a:solidFill>
                <a:ea typeface="함초롬바탕" panose="02030504000101010101" pitchFamily="18" charset="-127"/>
              </a:rPr>
              <a:t>❷</a:t>
            </a:r>
            <a:endParaRPr lang="ko-KR" altLang="en-US" sz="3200" kern="0" dirty="0">
              <a:solidFill>
                <a:schemeClr val="accent5"/>
              </a:solidFill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1452083" y="5092677"/>
            <a:ext cx="582211" cy="8802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160000"/>
              </a:lnSpc>
            </a:pPr>
            <a:r>
              <a:rPr lang="ko-KR" altLang="en-US" sz="3200" kern="0" dirty="0">
                <a:solidFill>
                  <a:schemeClr val="accent5"/>
                </a:solidFill>
                <a:ea typeface="함초롬바탕" panose="02030504000101010101" pitchFamily="18" charset="-127"/>
              </a:rPr>
              <a:t>❸</a:t>
            </a:r>
            <a:endParaRPr lang="ko-KR" altLang="en-US" sz="3200" kern="0" dirty="0">
              <a:solidFill>
                <a:schemeClr val="accent5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356814" y="2771412"/>
            <a:ext cx="11641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거절이유 中</a:t>
            </a:r>
            <a:endParaRPr lang="en-US" altLang="ko-KR" sz="16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하나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23431" y="4013270"/>
            <a:ext cx="11641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거절이유 中</a:t>
            </a:r>
            <a:endParaRPr lang="en-US" altLang="ko-KR" sz="16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하나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513410" y="5687226"/>
            <a:ext cx="12907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보정인정여부</a:t>
            </a:r>
            <a:endParaRPr lang="en-US" altLang="ko-KR" sz="16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600" dirty="0" err="1">
                <a:solidFill>
                  <a:srgbClr val="FF0000"/>
                </a:solidFill>
              </a:rPr>
              <a:t>판단대상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175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4E0EBD-15E2-46D6-BBF5-7F5F0E6936F3}"/>
              </a:ext>
            </a:extLst>
          </p:cNvPr>
          <p:cNvSpPr txBox="1"/>
          <p:nvPr/>
        </p:nvSpPr>
        <p:spPr>
          <a:xfrm>
            <a:off x="535994" y="2897298"/>
            <a:ext cx="1064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chemeClr val="accent1">
                    <a:lumMod val="50000"/>
                  </a:schemeClr>
                </a:solidFill>
              </a:rPr>
              <a:t>CASE</a:t>
            </a:r>
            <a:endParaRPr lang="ko-KR" altLang="en-US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2695262-2677-48F4-BA52-C9F4397E4879}"/>
              </a:ext>
            </a:extLst>
          </p:cNvPr>
          <p:cNvSpPr txBox="1"/>
          <p:nvPr/>
        </p:nvSpPr>
        <p:spPr>
          <a:xfrm>
            <a:off x="535994" y="3873282"/>
            <a:ext cx="1064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chemeClr val="accent1">
                    <a:lumMod val="50000"/>
                  </a:schemeClr>
                </a:solidFill>
              </a:rPr>
              <a:t>CASE</a:t>
            </a:r>
            <a:endParaRPr lang="ko-KR" altLang="en-US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753809-B194-4877-81F9-B6FB02C7F5F6}"/>
              </a:ext>
            </a:extLst>
          </p:cNvPr>
          <p:cNvSpPr txBox="1"/>
          <p:nvPr/>
        </p:nvSpPr>
        <p:spPr>
          <a:xfrm>
            <a:off x="535994" y="5315030"/>
            <a:ext cx="1064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chemeClr val="accent1">
                    <a:lumMod val="50000"/>
                  </a:schemeClr>
                </a:solidFill>
              </a:rPr>
              <a:t>CASE</a:t>
            </a:r>
            <a:endParaRPr lang="ko-KR" altLang="en-US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2075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보정에 따라 발생한 새로운 거절이유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/>
              <a:t>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01" name="직선 화살표 연결선 100"/>
          <p:cNvCxnSpPr/>
          <p:nvPr/>
        </p:nvCxnSpPr>
        <p:spPr>
          <a:xfrm>
            <a:off x="1084613" y="2809568"/>
            <a:ext cx="9658350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/>
          <p:cNvSpPr/>
          <p:nvPr/>
        </p:nvSpPr>
        <p:spPr>
          <a:xfrm>
            <a:off x="853681" y="2557155"/>
            <a:ext cx="767463" cy="5048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</a:p>
        </p:txBody>
      </p:sp>
      <p:sp>
        <p:nvSpPr>
          <p:cNvPr id="105" name="직사각형 104"/>
          <p:cNvSpPr/>
          <p:nvPr/>
        </p:nvSpPr>
        <p:spPr>
          <a:xfrm>
            <a:off x="2401990" y="2228932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07" name="직선 화살표 연결선 106"/>
          <p:cNvCxnSpPr>
            <a:stCxn id="105" idx="2"/>
          </p:cNvCxnSpPr>
          <p:nvPr/>
        </p:nvCxnSpPr>
        <p:spPr>
          <a:xfrm>
            <a:off x="2725010" y="2481345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직사각형 109"/>
          <p:cNvSpPr/>
          <p:nvPr/>
        </p:nvSpPr>
        <p:spPr>
          <a:xfrm>
            <a:off x="3390349" y="2679795"/>
            <a:ext cx="646040" cy="252413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최초</a:t>
            </a:r>
          </a:p>
        </p:txBody>
      </p:sp>
      <p:sp>
        <p:nvSpPr>
          <p:cNvPr id="127" name="직사각형 126"/>
          <p:cNvSpPr/>
          <p:nvPr/>
        </p:nvSpPr>
        <p:spPr>
          <a:xfrm>
            <a:off x="4189504" y="3228667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28" name="직선 화살표 연결선 127"/>
          <p:cNvCxnSpPr>
            <a:stCxn id="127" idx="0"/>
          </p:cNvCxnSpPr>
          <p:nvPr/>
        </p:nvCxnSpPr>
        <p:spPr>
          <a:xfrm flipH="1" flipV="1">
            <a:off x="4561238" y="2806002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4769415" y="2228932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48" name="직선 화살표 연결선 47"/>
          <p:cNvCxnSpPr>
            <a:stCxn id="47" idx="2"/>
          </p:cNvCxnSpPr>
          <p:nvPr/>
        </p:nvCxnSpPr>
        <p:spPr>
          <a:xfrm>
            <a:off x="5092435" y="2481345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/>
          <p:cNvSpPr/>
          <p:nvPr/>
        </p:nvSpPr>
        <p:spPr>
          <a:xfrm>
            <a:off x="5784198" y="2679795"/>
            <a:ext cx="646040" cy="252413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최후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6558540" y="3228667"/>
            <a:ext cx="746998" cy="25241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62" name="직선 화살표 연결선 61"/>
          <p:cNvCxnSpPr>
            <a:stCxn id="61" idx="0"/>
          </p:cNvCxnSpPr>
          <p:nvPr/>
        </p:nvCxnSpPr>
        <p:spPr>
          <a:xfrm flipH="1" flipV="1">
            <a:off x="6930274" y="2806002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/>
          <p:cNvSpPr/>
          <p:nvPr/>
        </p:nvSpPr>
        <p:spPr>
          <a:xfrm>
            <a:off x="8351929" y="3208200"/>
            <a:ext cx="1000384" cy="25241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심사</a:t>
            </a:r>
            <a:r>
              <a:rPr lang="en-US" altLang="ko-KR" sz="1200" dirty="0">
                <a:solidFill>
                  <a:schemeClr val="bg1"/>
                </a:solidFill>
              </a:rPr>
              <a:t>3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64" name="직선 화살표 연결선 63"/>
          <p:cNvCxnSpPr>
            <a:stCxn id="63" idx="0"/>
          </p:cNvCxnSpPr>
          <p:nvPr/>
        </p:nvCxnSpPr>
        <p:spPr>
          <a:xfrm flipV="1">
            <a:off x="8852121" y="2806001"/>
            <a:ext cx="0" cy="40219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/>
          <p:cNvSpPr/>
          <p:nvPr/>
        </p:nvSpPr>
        <p:spPr>
          <a:xfrm>
            <a:off x="1855826" y="3228667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65" name="직선 화살표 연결선 64"/>
          <p:cNvCxnSpPr>
            <a:stCxn id="59" idx="0"/>
          </p:cNvCxnSpPr>
          <p:nvPr/>
        </p:nvCxnSpPr>
        <p:spPr>
          <a:xfrm flipH="1" flipV="1">
            <a:off x="2227560" y="2806002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/>
          <p:cNvSpPr/>
          <p:nvPr/>
        </p:nvSpPr>
        <p:spPr>
          <a:xfrm>
            <a:off x="1835360" y="3892383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42③Ⅰ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4189504" y="3895154"/>
            <a:ext cx="746998" cy="2524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해소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4169038" y="4321008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29②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8" name="꺾인 연결선 17"/>
          <p:cNvCxnSpPr>
            <a:stCxn id="75" idx="3"/>
            <a:endCxn id="110" idx="2"/>
          </p:cNvCxnSpPr>
          <p:nvPr/>
        </p:nvCxnSpPr>
        <p:spPr>
          <a:xfrm flipV="1">
            <a:off x="2602824" y="2932208"/>
            <a:ext cx="1110545" cy="1086382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80" idx="3"/>
            <a:endCxn id="60" idx="2"/>
          </p:cNvCxnSpPr>
          <p:nvPr/>
        </p:nvCxnSpPr>
        <p:spPr>
          <a:xfrm flipV="1">
            <a:off x="4936502" y="2932208"/>
            <a:ext cx="1170716" cy="1515007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/>
          <p:cNvSpPr/>
          <p:nvPr/>
        </p:nvSpPr>
        <p:spPr>
          <a:xfrm>
            <a:off x="6571012" y="4765661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45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1835360" y="4273105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29①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178044" y="4696982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42⑧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7875" y="986046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「그 보정에 따라 새로운 거절이유가 발생한 </a:t>
            </a:r>
            <a:r>
              <a:rPr lang="ko-KR" altLang="en-US" sz="1400" dirty="0" err="1">
                <a:solidFill>
                  <a:schemeClr val="tx2"/>
                </a:solidFill>
              </a:rPr>
              <a:t>경우」란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highlight>
                  <a:srgbClr val="FFFF00"/>
                </a:highlight>
              </a:rPr>
              <a:t>그 </a:t>
            </a:r>
            <a:r>
              <a:rPr lang="ko-KR" altLang="en-US" sz="1400" dirty="0" err="1">
                <a:highlight>
                  <a:srgbClr val="FFFF00"/>
                </a:highlight>
              </a:rPr>
              <a:t>보정서의</a:t>
            </a:r>
            <a:r>
              <a:rPr lang="ko-KR" altLang="en-US" sz="1400" dirty="0">
                <a:highlight>
                  <a:srgbClr val="FFFF00"/>
                </a:highlight>
              </a:rPr>
              <a:t> 제출로 인해 전에 없던 거절이유가 발생한 것</a:t>
            </a:r>
            <a:r>
              <a:rPr lang="ko-KR" altLang="en-US" sz="1400" dirty="0">
                <a:solidFill>
                  <a:schemeClr val="tx2"/>
                </a:solidFill>
              </a:rPr>
              <a:t>을 의미한다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보정에 의하여 새로운 거절이유가 발생한 경우라면 심사관이 다시 거절이유를 통지하지 않고 </a:t>
            </a:r>
            <a:r>
              <a:rPr lang="ko-KR" altLang="en-US" sz="1400" dirty="0" err="1">
                <a:solidFill>
                  <a:schemeClr val="tx2"/>
                </a:solidFill>
              </a:rPr>
              <a:t>보정각하를</a:t>
            </a:r>
            <a:r>
              <a:rPr lang="ko-KR" altLang="en-US" sz="1400" dirty="0">
                <a:solidFill>
                  <a:schemeClr val="tx2"/>
                </a:solidFill>
              </a:rPr>
              <a:t> 한 후 최후거절이유통지 당시의 </a:t>
            </a:r>
            <a:r>
              <a:rPr lang="ko-KR" altLang="en-US" sz="1400" dirty="0" err="1">
                <a:solidFill>
                  <a:schemeClr val="tx2"/>
                </a:solidFill>
              </a:rPr>
              <a:t>심사대상</a:t>
            </a:r>
            <a:r>
              <a:rPr lang="ko-KR" altLang="en-US" sz="1400" dirty="0">
                <a:solidFill>
                  <a:schemeClr val="tx2"/>
                </a:solidFill>
              </a:rPr>
              <a:t> 명세서로 특허거절결정을 할 수 있도록 하여 심사의 신속한 진행을 도모하기 위한 것이다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최후거절이유통지에 대한 보정을 하였으나 여전히 거절이유를 해소하지 못한 경우에는 보정은 적법하나 거절이유가 동일하여 </a:t>
            </a:r>
            <a:r>
              <a:rPr lang="ko-KR" altLang="en-US" sz="1400" dirty="0" err="1">
                <a:solidFill>
                  <a:schemeClr val="tx2"/>
                </a:solidFill>
              </a:rPr>
              <a:t>특허거절결정된다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56" name="직선 연결선 55"/>
          <p:cNvCxnSpPr/>
          <p:nvPr/>
        </p:nvCxnSpPr>
        <p:spPr>
          <a:xfrm>
            <a:off x="0" y="193695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6374912" y="4744150"/>
            <a:ext cx="39220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❹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1621144" y="4215760"/>
            <a:ext cx="415969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❶</a:t>
            </a:r>
          </a:p>
        </p:txBody>
      </p:sp>
      <p:sp>
        <p:nvSpPr>
          <p:cNvPr id="69" name="직사각형 68"/>
          <p:cNvSpPr/>
          <p:nvPr/>
        </p:nvSpPr>
        <p:spPr>
          <a:xfrm>
            <a:off x="3982975" y="4034108"/>
            <a:ext cx="36498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❷</a:t>
            </a:r>
          </a:p>
        </p:txBody>
      </p:sp>
      <p:sp>
        <p:nvSpPr>
          <p:cNvPr id="70" name="직사각형 69"/>
          <p:cNvSpPr/>
          <p:nvPr/>
        </p:nvSpPr>
        <p:spPr>
          <a:xfrm>
            <a:off x="3982975" y="4222343"/>
            <a:ext cx="364983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endParaRPr lang="ko-KR" altLang="en-US" kern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❸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8316846" y="4727511"/>
            <a:ext cx="2387192" cy="160043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❶만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최초거절이유통지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 </a:t>
            </a: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❷만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 err="1">
                <a:solidFill>
                  <a:srgbClr val="FF0000"/>
                </a:solidFill>
                <a:latin typeface="+mn-ea"/>
              </a:rPr>
              <a:t>거절결정</a:t>
            </a:r>
            <a:endParaRPr lang="en-US" altLang="ko-KR" sz="1400" kern="0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❸만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최후거절이유통지</a:t>
            </a:r>
            <a:endParaRPr lang="en-US" altLang="ko-KR" sz="1400" kern="0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❹만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 err="1">
                <a:solidFill>
                  <a:srgbClr val="FF0000"/>
                </a:solidFill>
                <a:latin typeface="+mn-ea"/>
              </a:rPr>
              <a:t>보정각하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/</a:t>
            </a:r>
            <a:r>
              <a:rPr lang="ko-KR" altLang="en-US" sz="1400" kern="0" dirty="0" err="1">
                <a:solidFill>
                  <a:srgbClr val="FF0000"/>
                </a:solidFill>
                <a:latin typeface="+mn-ea"/>
              </a:rPr>
              <a:t>거절결정</a:t>
            </a:r>
            <a:endParaRPr lang="en-US" altLang="ko-KR" sz="1400" kern="0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❶❸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최초거절이유통지</a:t>
            </a:r>
            <a:endParaRPr lang="en-US" altLang="ko-KR" sz="1400" kern="0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❶❷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 err="1">
                <a:solidFill>
                  <a:srgbClr val="FF0000"/>
                </a:solidFill>
                <a:latin typeface="+mn-ea"/>
              </a:rPr>
              <a:t>거절결정</a:t>
            </a:r>
            <a:endParaRPr lang="en-US" altLang="ko-KR" sz="1400" kern="0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❷❸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 err="1">
                <a:solidFill>
                  <a:srgbClr val="FF0000"/>
                </a:solidFill>
                <a:latin typeface="+mn-ea"/>
              </a:rPr>
              <a:t>거절결정</a:t>
            </a:r>
            <a:endParaRPr lang="ko-KR" altLang="en-US" sz="1400" kern="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313828" y="3818692"/>
            <a:ext cx="239020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100" dirty="0"/>
              <a:t>1. </a:t>
            </a:r>
            <a:r>
              <a:rPr lang="ko-KR" altLang="en-US" sz="1100" dirty="0"/>
              <a:t>원거절이유의 </a:t>
            </a:r>
            <a:r>
              <a:rPr lang="ko-KR" altLang="en-US" sz="1100" dirty="0" err="1"/>
              <a:t>해소여부</a:t>
            </a:r>
            <a:r>
              <a:rPr lang="en-US" altLang="ko-KR" sz="1100" dirty="0"/>
              <a:t>(</a:t>
            </a:r>
            <a:r>
              <a:rPr lang="ko-KR" altLang="en-US" sz="1100" dirty="0"/>
              <a:t>❷</a:t>
            </a:r>
            <a:r>
              <a:rPr lang="en-US" altLang="ko-KR" sz="1100" dirty="0"/>
              <a:t>)</a:t>
            </a:r>
            <a:endParaRPr lang="ko-KR" alt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8313828" y="4105703"/>
            <a:ext cx="2390207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2. </a:t>
            </a:r>
            <a:r>
              <a:rPr lang="ko-KR" altLang="en-US" sz="1100" dirty="0"/>
              <a:t>새로운 </a:t>
            </a:r>
            <a:r>
              <a:rPr lang="ko-KR" altLang="en-US" sz="1100" dirty="0" err="1"/>
              <a:t>거절이유의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발견여부</a:t>
            </a:r>
            <a:r>
              <a:rPr lang="en-US" altLang="ko-KR" sz="1100" dirty="0"/>
              <a:t>(</a:t>
            </a:r>
            <a:r>
              <a:rPr lang="ko-KR" altLang="en-US" sz="1100" dirty="0"/>
              <a:t>❶❸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73" name="TextBox 72"/>
          <p:cNvSpPr txBox="1"/>
          <p:nvPr/>
        </p:nvSpPr>
        <p:spPr>
          <a:xfrm>
            <a:off x="8313829" y="4404029"/>
            <a:ext cx="239788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3. </a:t>
            </a:r>
            <a:r>
              <a:rPr lang="ko-KR" altLang="en-US" sz="1100" dirty="0"/>
              <a:t>새로운 거절이유의 발생시점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13828" y="3523445"/>
            <a:ext cx="239020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100" dirty="0"/>
              <a:t>0. </a:t>
            </a:r>
            <a:r>
              <a:rPr lang="ko-KR" altLang="en-US" sz="1100" dirty="0"/>
              <a:t>보정의 적법성</a:t>
            </a:r>
            <a:r>
              <a:rPr lang="en-US" altLang="ko-KR" sz="1100" dirty="0"/>
              <a:t>(❹)</a:t>
            </a:r>
            <a:endParaRPr lang="ko-KR" altLang="en-US" sz="11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38915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525252"/>
                </a:solidFill>
              </a:rPr>
              <a:t>보정에 따라 발생한 새로운 거절이유의 </a:t>
            </a:r>
            <a:r>
              <a:rPr lang="en-US" altLang="ko-KR" dirty="0">
                <a:solidFill>
                  <a:srgbClr val="525252"/>
                </a:solidFill>
              </a:rPr>
              <a:t>CASE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44250" y="3175"/>
            <a:ext cx="1047750" cy="7143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177</a:t>
            </a:fld>
            <a:endParaRPr lang="ko-KR" altLang="en-US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C008379-E292-4BEB-8714-A1019DC5B169}"/>
              </a:ext>
            </a:extLst>
          </p:cNvPr>
          <p:cNvSpPr txBox="1"/>
          <p:nvPr/>
        </p:nvSpPr>
        <p:spPr>
          <a:xfrm>
            <a:off x="77875" y="1341693"/>
            <a:ext cx="1193632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400" b="1" dirty="0"/>
              <a:t>[1] </a:t>
            </a:r>
            <a:r>
              <a:rPr lang="en-US" altLang="ko-KR" sz="1400" dirty="0"/>
              <a:t>2009. 1. 30. </a:t>
            </a:r>
            <a:r>
              <a:rPr lang="ko-KR" altLang="en-US" sz="1400" dirty="0"/>
              <a:t>법률 제</a:t>
            </a:r>
            <a:r>
              <a:rPr lang="en-US" altLang="ko-KR" sz="1400" dirty="0"/>
              <a:t>9381</a:t>
            </a:r>
            <a:r>
              <a:rPr lang="ko-KR" altLang="en-US" sz="1400" dirty="0"/>
              <a:t>호로 개정된 특허법 부칙 제</a:t>
            </a:r>
            <a:r>
              <a:rPr lang="en-US" altLang="ko-KR" sz="1400" dirty="0"/>
              <a:t>3</a:t>
            </a:r>
            <a:r>
              <a:rPr lang="ko-KR" altLang="en-US" sz="1400" dirty="0"/>
              <a:t>조와 그 개정 전의 구 특허법 제</a:t>
            </a:r>
            <a:r>
              <a:rPr lang="en-US" altLang="ko-KR" sz="1400" dirty="0"/>
              <a:t>174</a:t>
            </a:r>
            <a:r>
              <a:rPr lang="ko-KR" altLang="en-US" sz="1400" dirty="0"/>
              <a:t>조에 의하여 구 특허법 제</a:t>
            </a:r>
            <a:r>
              <a:rPr lang="en-US" altLang="ko-KR" sz="1400" dirty="0"/>
              <a:t>173</a:t>
            </a:r>
            <a:r>
              <a:rPr lang="ko-KR" altLang="en-US" sz="1400" dirty="0"/>
              <a:t>조의 심사전치절차에서의 심사에 준용되는 특허법 제</a:t>
            </a:r>
            <a:r>
              <a:rPr lang="en-US" altLang="ko-KR" sz="1400" dirty="0"/>
              <a:t>51</a:t>
            </a:r>
            <a:r>
              <a:rPr lang="ko-KR" altLang="en-US" sz="1400" dirty="0"/>
              <a:t>조 제</a:t>
            </a:r>
            <a:r>
              <a:rPr lang="en-US" altLang="ko-KR" sz="1400" dirty="0"/>
              <a:t>1</a:t>
            </a:r>
            <a:r>
              <a:rPr lang="ko-KR" altLang="en-US" sz="1400" dirty="0"/>
              <a:t>항에 의하면</a:t>
            </a:r>
            <a:r>
              <a:rPr lang="en-US" altLang="ko-KR" sz="1400" dirty="0"/>
              <a:t>, </a:t>
            </a:r>
            <a:r>
              <a:rPr lang="ko-KR" altLang="en-US" sz="1400" dirty="0"/>
              <a:t>심사관은 심사전치보정에 따라 새로운 거절이유가 발생한 것으로 인정하면 결정으로 그 보정을 각하하여야 한다</a:t>
            </a:r>
            <a:r>
              <a:rPr lang="en-US" altLang="ko-KR" sz="1400" dirty="0"/>
              <a:t>. </a:t>
            </a:r>
            <a:r>
              <a:rPr lang="ko-KR" altLang="en-US" sz="1400" dirty="0"/>
              <a:t>위 규정에서 ‘새로운 거절이유가 발생한 </a:t>
            </a:r>
            <a:r>
              <a:rPr lang="ko-KR" altLang="en-US" sz="1400" dirty="0" err="1"/>
              <a:t>것’이란</a:t>
            </a:r>
            <a:r>
              <a:rPr lang="ko-KR" altLang="en-US" sz="1400" dirty="0"/>
              <a:t> 해당 보정으로 인하여 이전에 없던 거절이유가 새롭게 발생한 경우를 의미하는 것으로서</a:t>
            </a:r>
            <a:r>
              <a:rPr lang="en-US" altLang="ko-KR" sz="1400" dirty="0"/>
              <a:t>, </a:t>
            </a:r>
            <a:r>
              <a:rPr lang="ko-KR" altLang="en-US" sz="1400" dirty="0"/>
              <a:t>이러한 경우에 그 보정을 각하하도록 한 취지는 이미 거절이유가 출원인에게 통지되어 그에 대한 의견제출 및 보정의 기회가 충분히 부여되었음에도 그 보정으로 인하여 거절이유가 새롭게 발생하여 그에 대한 </a:t>
            </a:r>
            <a:r>
              <a:rPr lang="ko-KR" altLang="en-US" sz="1400" dirty="0" err="1"/>
              <a:t>거절이유통지와</a:t>
            </a:r>
            <a:r>
              <a:rPr lang="ko-KR" altLang="en-US" sz="1400" dirty="0"/>
              <a:t> 또 다른 보정이 반복되는 것을 배제함으로써 심사절차의 신속한 진행을 도모하는 데에 있다고 할 것이다</a:t>
            </a:r>
            <a:r>
              <a:rPr lang="en-US" altLang="ko-KR" sz="1400" dirty="0"/>
              <a:t>. </a:t>
            </a:r>
            <a:r>
              <a:rPr lang="ko-KR" altLang="en-US" sz="1400" dirty="0"/>
              <a:t>이러한 취지에 비추어 보면</a:t>
            </a:r>
            <a:r>
              <a:rPr lang="en-US" altLang="ko-KR" sz="1400" dirty="0"/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심사관이 ‘발명이 명확하고 간결하게 기재되지 아니하여 특허법 제</a:t>
            </a:r>
            <a:r>
              <a:rPr lang="en-US" altLang="ko-KR" sz="1400" dirty="0">
                <a:highlight>
                  <a:srgbClr val="FFFF00"/>
                </a:highlight>
              </a:rPr>
              <a:t>42</a:t>
            </a:r>
            <a:r>
              <a:rPr lang="ko-KR" altLang="en-US" sz="1400" dirty="0">
                <a:highlight>
                  <a:srgbClr val="FFFF00"/>
                </a:highlight>
              </a:rPr>
              <a:t>조 제</a:t>
            </a:r>
            <a:r>
              <a:rPr lang="en-US" altLang="ko-KR" sz="1400" dirty="0">
                <a:highlight>
                  <a:srgbClr val="FFFF00"/>
                </a:highlight>
              </a:rPr>
              <a:t>4</a:t>
            </a:r>
            <a:r>
              <a:rPr lang="ko-KR" altLang="en-US" sz="1400" dirty="0">
                <a:highlight>
                  <a:srgbClr val="FFFF00"/>
                </a:highlight>
              </a:rPr>
              <a:t>항 제</a:t>
            </a:r>
            <a:r>
              <a:rPr lang="en-US" altLang="ko-KR" sz="1400" dirty="0">
                <a:highlight>
                  <a:srgbClr val="FFFF00"/>
                </a:highlight>
              </a:rPr>
              <a:t>2</a:t>
            </a:r>
            <a:r>
              <a:rPr lang="ko-KR" altLang="en-US" sz="1400" dirty="0">
                <a:highlight>
                  <a:srgbClr val="FFFF00"/>
                </a:highlight>
              </a:rPr>
              <a:t>호의 명세서 기재요건을 구비하지 못한 </a:t>
            </a:r>
            <a:r>
              <a:rPr lang="ko-KR" altLang="en-US" sz="1400" dirty="0" err="1">
                <a:highlight>
                  <a:srgbClr val="FFFF00"/>
                </a:highlight>
              </a:rPr>
              <a:t>기재불비가</a:t>
            </a:r>
            <a:r>
              <a:rPr lang="ko-KR" altLang="en-US" sz="1400" dirty="0">
                <a:highlight>
                  <a:srgbClr val="FFFF00"/>
                </a:highlight>
              </a:rPr>
              <a:t> 있다’는 거절이유를 통지함에 따라 이를 해소하기 위한 보정이 이루어졌는데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그 보정 이후 발명에 대한 심사 결과 신규성이나 진보성 부정의 거절이유가 발견된다고 하더라도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그러한 거절이유는 보정으로 청구항이 신설되거나 실질적으로 신설에 준하는 정도로 변경됨에 따라 비로소 발생한 경우와 같은 특별한 사정이 없는 한 보정으로 인하여 새롭게 발생한 것이라고 할 수 없으므로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심사관으로서는 그 보정에 대한 각하결정을 하여서는 아니 되고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위와 같은 신규성이나 진보성 부정의 거절이유를 출원인에게 통지하여 의견제출 및 보정의 기회를 부여하여야 한다</a:t>
            </a:r>
            <a:r>
              <a:rPr lang="en-US" altLang="ko-KR" sz="1400" dirty="0">
                <a:highlight>
                  <a:srgbClr val="FFFF00"/>
                </a:highlight>
              </a:rPr>
              <a:t>. </a:t>
            </a:r>
          </a:p>
          <a:p>
            <a:pPr fontAlgn="base"/>
            <a:r>
              <a:rPr lang="en-US" altLang="ko-KR" sz="1400" b="1" dirty="0">
                <a:highlight>
                  <a:srgbClr val="FFFF00"/>
                </a:highlight>
              </a:rPr>
              <a:t>[2] </a:t>
            </a:r>
            <a:r>
              <a:rPr lang="ko-KR" altLang="en-US" sz="1400" dirty="0" err="1">
                <a:highlight>
                  <a:srgbClr val="FFFF00"/>
                </a:highlight>
              </a:rPr>
              <a:t>특허거절결정에</a:t>
            </a:r>
            <a:r>
              <a:rPr lang="ko-KR" altLang="en-US" sz="1400" dirty="0">
                <a:highlight>
                  <a:srgbClr val="FFFF00"/>
                </a:highlight>
              </a:rPr>
              <a:t> 대한 불복심판청구를 기각한 </a:t>
            </a:r>
            <a:r>
              <a:rPr lang="ko-KR" altLang="en-US" sz="1400" dirty="0" err="1">
                <a:highlight>
                  <a:srgbClr val="FFFF00"/>
                </a:highlight>
              </a:rPr>
              <a:t>심결의</a:t>
            </a:r>
            <a:r>
              <a:rPr lang="ko-KR" altLang="en-US" sz="1400" dirty="0">
                <a:highlight>
                  <a:srgbClr val="FFFF00"/>
                </a:highlight>
              </a:rPr>
              <a:t> 취소소송에서 법원은 </a:t>
            </a:r>
            <a:r>
              <a:rPr lang="ko-KR" altLang="en-US" sz="1400" dirty="0" err="1">
                <a:highlight>
                  <a:srgbClr val="FFFF00"/>
                </a:highlight>
              </a:rPr>
              <a:t>특허거절결정을</a:t>
            </a:r>
            <a:r>
              <a:rPr lang="ko-KR" altLang="en-US" sz="1400" dirty="0">
                <a:highlight>
                  <a:srgbClr val="FFFF00"/>
                </a:highlight>
              </a:rPr>
              <a:t> 유지한 </a:t>
            </a:r>
            <a:r>
              <a:rPr lang="ko-KR" altLang="en-US" sz="1400" dirty="0" err="1">
                <a:highlight>
                  <a:srgbClr val="FFFF00"/>
                </a:highlight>
              </a:rPr>
              <a:t>심결의</a:t>
            </a:r>
            <a:r>
              <a:rPr lang="ko-KR" altLang="en-US" sz="1400" dirty="0">
                <a:highlight>
                  <a:srgbClr val="FFFF00"/>
                </a:highlight>
              </a:rPr>
              <a:t> 위법성 여부를 판단하는 것일 뿐 특허출원에 대하여 직접 특허결정 또는 </a:t>
            </a:r>
            <a:r>
              <a:rPr lang="ko-KR" altLang="en-US" sz="1400" dirty="0" err="1">
                <a:highlight>
                  <a:srgbClr val="FFFF00"/>
                </a:highlight>
              </a:rPr>
              <a:t>특허거절결정을</a:t>
            </a:r>
            <a:r>
              <a:rPr lang="ko-KR" altLang="en-US" sz="1400" dirty="0">
                <a:highlight>
                  <a:srgbClr val="FFFF00"/>
                </a:highlight>
              </a:rPr>
              <a:t> 하는 것은 아니다</a:t>
            </a:r>
            <a:r>
              <a:rPr lang="en-US" altLang="ko-KR" sz="1400" dirty="0">
                <a:highlight>
                  <a:srgbClr val="FFFF00"/>
                </a:highlight>
              </a:rPr>
              <a:t>. </a:t>
            </a:r>
            <a:r>
              <a:rPr lang="ko-KR" altLang="en-US" sz="1400" dirty="0"/>
              <a:t>따라서 심사관이 특허출원의 보정에 대한 각하결정을 한 후 ‘보정 전의 </a:t>
            </a:r>
            <a:r>
              <a:rPr lang="ko-KR" altLang="en-US" sz="1400" dirty="0" err="1"/>
              <a:t>특허출원’에</a:t>
            </a:r>
            <a:r>
              <a:rPr lang="ko-KR" altLang="en-US" sz="1400" dirty="0"/>
              <a:t> 대하여 거절결정을 하였고</a:t>
            </a:r>
            <a:r>
              <a:rPr lang="en-US" altLang="ko-KR" sz="1400" dirty="0"/>
              <a:t>, </a:t>
            </a:r>
            <a:r>
              <a:rPr lang="ko-KR" altLang="en-US" sz="1400" dirty="0"/>
              <a:t>그에 대한 불복심판 절차에서 위 </a:t>
            </a:r>
            <a:r>
              <a:rPr lang="ko-KR" altLang="en-US" sz="1400" dirty="0" err="1"/>
              <a:t>보정각하결정</a:t>
            </a:r>
            <a:r>
              <a:rPr lang="ko-KR" altLang="en-US" sz="1400" dirty="0"/>
              <a:t> 및 거절결정이 적법하다는 이유로 심판청구를 기각하는 특허심판원의 </a:t>
            </a:r>
            <a:r>
              <a:rPr lang="ko-KR" altLang="en-US" sz="1400" dirty="0" err="1"/>
              <a:t>심결이</a:t>
            </a:r>
            <a:r>
              <a:rPr lang="ko-KR" altLang="en-US" sz="1400" dirty="0"/>
              <a:t> 있었던 경우</a:t>
            </a:r>
            <a:r>
              <a:rPr lang="en-US" altLang="ko-KR" sz="1400" dirty="0"/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그 </a:t>
            </a:r>
            <a:r>
              <a:rPr lang="ko-KR" altLang="en-US" sz="1400" dirty="0" err="1">
                <a:highlight>
                  <a:srgbClr val="FFFF00"/>
                </a:highlight>
              </a:rPr>
              <a:t>심결취소소송에서</a:t>
            </a:r>
            <a:r>
              <a:rPr lang="ko-KR" altLang="en-US" sz="1400" dirty="0">
                <a:highlight>
                  <a:srgbClr val="FFFF00"/>
                </a:highlight>
              </a:rPr>
              <a:t> 법원은 위 </a:t>
            </a:r>
            <a:r>
              <a:rPr lang="ko-KR" altLang="en-US" sz="1400" dirty="0" err="1">
                <a:highlight>
                  <a:srgbClr val="FFFF00"/>
                </a:highlight>
              </a:rPr>
              <a:t>보정각하결정이</a:t>
            </a:r>
            <a:r>
              <a:rPr lang="ko-KR" altLang="en-US" sz="1400" dirty="0">
                <a:highlight>
                  <a:srgbClr val="FFFF00"/>
                </a:highlight>
              </a:rPr>
              <a:t> </a:t>
            </a:r>
            <a:r>
              <a:rPr lang="ko-KR" altLang="en-US" sz="1400" dirty="0" err="1">
                <a:highlight>
                  <a:srgbClr val="FFFF00"/>
                </a:highlight>
              </a:rPr>
              <a:t>위법하다면</a:t>
            </a:r>
            <a:r>
              <a:rPr lang="ko-KR" altLang="en-US" sz="1400" dirty="0">
                <a:highlight>
                  <a:srgbClr val="FFFF00"/>
                </a:highlight>
              </a:rPr>
              <a:t> </a:t>
            </a:r>
            <a:r>
              <a:rPr lang="ko-KR" altLang="en-US" sz="1400" dirty="0" err="1">
                <a:highlight>
                  <a:srgbClr val="FFFF00"/>
                </a:highlight>
              </a:rPr>
              <a:t>그것만을</a:t>
            </a:r>
            <a:r>
              <a:rPr lang="ko-KR" altLang="en-US" sz="1400" dirty="0">
                <a:highlight>
                  <a:srgbClr val="FFFF00"/>
                </a:highlight>
              </a:rPr>
              <a:t> 이유로 곧바로 </a:t>
            </a:r>
            <a:r>
              <a:rPr lang="ko-KR" altLang="en-US" sz="1400" dirty="0" err="1">
                <a:highlight>
                  <a:srgbClr val="FFFF00"/>
                </a:highlight>
              </a:rPr>
              <a:t>심결을</a:t>
            </a:r>
            <a:r>
              <a:rPr lang="ko-KR" altLang="en-US" sz="1400" dirty="0">
                <a:highlight>
                  <a:srgbClr val="FFFF00"/>
                </a:highlight>
              </a:rPr>
              <a:t> 취소</a:t>
            </a:r>
            <a:r>
              <a:rPr lang="ko-KR" altLang="en-US" sz="1400" dirty="0"/>
              <a:t>하여야 하는 것이지</a:t>
            </a:r>
            <a:r>
              <a:rPr lang="en-US" altLang="ko-KR" sz="1400" dirty="0"/>
              <a:t>, </a:t>
            </a:r>
            <a:r>
              <a:rPr lang="ko-KR" altLang="en-US" sz="1400" dirty="0"/>
              <a:t>심사관 또는 특허심판원이 하지도 아니한 ‘보정 이후의 </a:t>
            </a:r>
            <a:r>
              <a:rPr lang="ko-KR" altLang="en-US" sz="1400" dirty="0" err="1"/>
              <a:t>특허출원’에</a:t>
            </a:r>
            <a:r>
              <a:rPr lang="ko-KR" altLang="en-US" sz="1400" dirty="0"/>
              <a:t> 대한 거절결정의 위법성 여부까지 스스로 심리하여 이 역시 위법한 경우에만 </a:t>
            </a:r>
            <a:r>
              <a:rPr lang="ko-KR" altLang="en-US" sz="1400" dirty="0" err="1"/>
              <a:t>심결을</a:t>
            </a:r>
            <a:r>
              <a:rPr lang="ko-KR" altLang="en-US" sz="1400" dirty="0"/>
              <a:t> 취소할 것은 아니다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43" name="Line 5">
            <a:extLst>
              <a:ext uri="{FF2B5EF4-FFF2-40B4-BE49-F238E27FC236}">
                <a16:creationId xmlns:a16="http://schemas.microsoft.com/office/drawing/2014/main" id="{DA48233C-02D6-440C-9540-EF8093BA665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658" y="5174531"/>
            <a:ext cx="11001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BDA7A5D-C679-44B7-AE17-A42DDE44AFC6}"/>
              </a:ext>
            </a:extLst>
          </p:cNvPr>
          <p:cNvSpPr txBox="1"/>
          <p:nvPr/>
        </p:nvSpPr>
        <p:spPr>
          <a:xfrm>
            <a:off x="245888" y="5430706"/>
            <a:ext cx="114732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특허출원</a:t>
            </a: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B18F9E8E-0B8A-434C-8C2D-C5AFF8150927}"/>
              </a:ext>
            </a:extLst>
          </p:cNvPr>
          <p:cNvSpPr/>
          <p:nvPr/>
        </p:nvSpPr>
        <p:spPr>
          <a:xfrm>
            <a:off x="748977" y="5087682"/>
            <a:ext cx="141148" cy="14716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99696AEE-669E-4DC3-BB10-CD96676BA191}"/>
              </a:ext>
            </a:extLst>
          </p:cNvPr>
          <p:cNvCxnSpPr>
            <a:cxnSpLocks/>
            <a:stCxn id="44" idx="0"/>
            <a:endCxn id="45" idx="4"/>
          </p:cNvCxnSpPr>
          <p:nvPr/>
        </p:nvCxnSpPr>
        <p:spPr>
          <a:xfrm flipH="1" flipV="1">
            <a:off x="819551" y="5234850"/>
            <a:ext cx="1" cy="195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35183F3B-F554-4BD0-97F3-9D013B236D87}"/>
              </a:ext>
            </a:extLst>
          </p:cNvPr>
          <p:cNvSpPr/>
          <p:nvPr/>
        </p:nvSpPr>
        <p:spPr>
          <a:xfrm>
            <a:off x="113937" y="964867"/>
            <a:ext cx="5318734" cy="346234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bIns="0">
            <a:spAutoFit/>
          </a:bodyPr>
          <a:lstStyle/>
          <a:p>
            <a:r>
              <a:rPr lang="ko-KR" altLang="en-US" sz="1600" dirty="0"/>
              <a:t>대법원 </a:t>
            </a:r>
            <a:r>
              <a:rPr lang="en-US" altLang="ko-KR" sz="1600" dirty="0"/>
              <a:t>2014. 7. 10. </a:t>
            </a:r>
            <a:r>
              <a:rPr lang="ko-KR" altLang="en-US" sz="1600" dirty="0"/>
              <a:t>선고 </a:t>
            </a:r>
            <a:r>
              <a:rPr lang="en-US" altLang="ko-KR" sz="1600" dirty="0"/>
              <a:t>2012</a:t>
            </a:r>
            <a:r>
              <a:rPr lang="ko-KR" altLang="en-US" sz="1600" dirty="0"/>
              <a:t>후</a:t>
            </a:r>
            <a:r>
              <a:rPr lang="en-US" altLang="ko-KR" sz="1600" dirty="0"/>
              <a:t>3121 </a:t>
            </a:r>
            <a:r>
              <a:rPr lang="ko-KR" altLang="en-US" sz="1600" dirty="0"/>
              <a:t>판결 </a:t>
            </a:r>
            <a:r>
              <a:rPr lang="en-US" altLang="ko-KR" sz="1600" dirty="0"/>
              <a:t>【</a:t>
            </a:r>
            <a:r>
              <a:rPr lang="ko-KR" altLang="en-US" sz="1600" dirty="0"/>
              <a:t>거절결정</a:t>
            </a:r>
            <a:r>
              <a:rPr lang="en-US" altLang="ko-KR" sz="1600" dirty="0"/>
              <a:t>(</a:t>
            </a:r>
            <a:r>
              <a:rPr lang="ko-KR" altLang="en-US" sz="1600" dirty="0" err="1"/>
              <a:t>특</a:t>
            </a:r>
            <a:r>
              <a:rPr lang="en-US" altLang="ko-KR" sz="1600" dirty="0"/>
              <a:t>)】</a:t>
            </a:r>
            <a:endParaRPr lang="ko-KR" altLang="en-US" sz="1600" dirty="0"/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43CD101A-6725-470F-A40A-2794DA0A5429}"/>
              </a:ext>
            </a:extLst>
          </p:cNvPr>
          <p:cNvCxnSpPr/>
          <p:nvPr/>
        </p:nvCxnSpPr>
        <p:spPr>
          <a:xfrm>
            <a:off x="0" y="4678822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979A85C2-527E-4BBD-948B-25CE4489598E}"/>
              </a:ext>
            </a:extLst>
          </p:cNvPr>
          <p:cNvSpPr txBox="1"/>
          <p:nvPr/>
        </p:nvSpPr>
        <p:spPr>
          <a:xfrm>
            <a:off x="1589047" y="5430706"/>
            <a:ext cx="1147328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최후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33C8A62E-C601-4450-8E7C-4EC530D5F41C}"/>
              </a:ext>
            </a:extLst>
          </p:cNvPr>
          <p:cNvSpPr/>
          <p:nvPr/>
        </p:nvSpPr>
        <p:spPr>
          <a:xfrm>
            <a:off x="2092136" y="5087682"/>
            <a:ext cx="141148" cy="14716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0E2486E0-80CE-4356-9DCD-8490CEA0AA51}"/>
              </a:ext>
            </a:extLst>
          </p:cNvPr>
          <p:cNvCxnSpPr>
            <a:cxnSpLocks/>
            <a:stCxn id="68" idx="0"/>
            <a:endCxn id="74" idx="4"/>
          </p:cNvCxnSpPr>
          <p:nvPr/>
        </p:nvCxnSpPr>
        <p:spPr>
          <a:xfrm flipH="1" flipV="1">
            <a:off x="2162710" y="5234850"/>
            <a:ext cx="1" cy="195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72B4417C-F9E8-4A61-9E79-F3C98AB92B37}"/>
              </a:ext>
            </a:extLst>
          </p:cNvPr>
          <p:cNvSpPr txBox="1"/>
          <p:nvPr/>
        </p:nvSpPr>
        <p:spPr>
          <a:xfrm>
            <a:off x="1591897" y="5872013"/>
            <a:ext cx="1142768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기재불비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D4B7FC13-CFD1-4EBB-9A79-568218F67FCE}"/>
              </a:ext>
            </a:extLst>
          </p:cNvPr>
          <p:cNvCxnSpPr>
            <a:cxnSpLocks/>
            <a:stCxn id="89" idx="0"/>
            <a:endCxn id="68" idx="2"/>
          </p:cNvCxnSpPr>
          <p:nvPr/>
        </p:nvCxnSpPr>
        <p:spPr>
          <a:xfrm flipH="1" flipV="1">
            <a:off x="2162711" y="5707705"/>
            <a:ext cx="570" cy="16430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3CDC7E26-A913-4A23-907D-FA8D8A2D6D02}"/>
              </a:ext>
            </a:extLst>
          </p:cNvPr>
          <p:cNvSpPr txBox="1"/>
          <p:nvPr/>
        </p:nvSpPr>
        <p:spPr>
          <a:xfrm>
            <a:off x="3223244" y="5430706"/>
            <a:ext cx="114732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보정</a:t>
            </a:r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31AA8854-4C19-4E36-A8F3-DE9101F4F65A}"/>
              </a:ext>
            </a:extLst>
          </p:cNvPr>
          <p:cNvSpPr/>
          <p:nvPr/>
        </p:nvSpPr>
        <p:spPr>
          <a:xfrm>
            <a:off x="3726333" y="5087682"/>
            <a:ext cx="141148" cy="14716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AE1EAE1B-C0A4-4542-AD14-7DE10CE3FA60}"/>
              </a:ext>
            </a:extLst>
          </p:cNvPr>
          <p:cNvCxnSpPr>
            <a:cxnSpLocks/>
            <a:stCxn id="91" idx="0"/>
            <a:endCxn id="92" idx="4"/>
          </p:cNvCxnSpPr>
          <p:nvPr/>
        </p:nvCxnSpPr>
        <p:spPr>
          <a:xfrm flipH="1" flipV="1">
            <a:off x="3796907" y="5234850"/>
            <a:ext cx="1" cy="195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16AF1079-74EA-43A1-AF0E-8565EB7C148C}"/>
              </a:ext>
            </a:extLst>
          </p:cNvPr>
          <p:cNvSpPr txBox="1"/>
          <p:nvPr/>
        </p:nvSpPr>
        <p:spPr>
          <a:xfrm>
            <a:off x="2826297" y="5869119"/>
            <a:ext cx="1950744" cy="64633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기재불비해소하였으나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</a:t>
            </a:r>
          </a:p>
          <a:p>
            <a:pPr algn="ctr"/>
            <a:r>
              <a:rPr lang="ko-KR" altLang="en-US" sz="1200" dirty="0" err="1">
                <a:solidFill>
                  <a:schemeClr val="tx1"/>
                </a:solidFill>
                <a:highlight>
                  <a:srgbClr val="00FFFF"/>
                </a:highlight>
                <a:latin typeface="+mn-ea"/>
              </a:rPr>
              <a:t>거절이유통지</a:t>
            </a:r>
            <a:r>
              <a:rPr lang="ko-KR" altLang="en-US" sz="1200" dirty="0">
                <a:solidFill>
                  <a:schemeClr val="tx1"/>
                </a:solidFill>
                <a:highlight>
                  <a:srgbClr val="00FFFF"/>
                </a:highlight>
                <a:latin typeface="+mn-ea"/>
              </a:rPr>
              <a:t> 전부터 발생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한 진보성 위반 발견</a:t>
            </a: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9D64EE1E-1936-4C07-A26D-E128BB703896}"/>
              </a:ext>
            </a:extLst>
          </p:cNvPr>
          <p:cNvCxnSpPr>
            <a:cxnSpLocks/>
            <a:stCxn id="94" idx="0"/>
            <a:endCxn id="91" idx="2"/>
          </p:cNvCxnSpPr>
          <p:nvPr/>
        </p:nvCxnSpPr>
        <p:spPr>
          <a:xfrm flipH="1" flipV="1">
            <a:off x="3796908" y="5707705"/>
            <a:ext cx="4761" cy="1614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1739725B-083C-4942-8A39-BD1359231B5A}"/>
              </a:ext>
            </a:extLst>
          </p:cNvPr>
          <p:cNvSpPr txBox="1"/>
          <p:nvPr/>
        </p:nvSpPr>
        <p:spPr>
          <a:xfrm>
            <a:off x="4437338" y="5430706"/>
            <a:ext cx="1477384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보정각하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거절결정</a:t>
            </a:r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44CC6585-CFBB-4251-9BDD-4CBA55EEAF0F}"/>
              </a:ext>
            </a:extLst>
          </p:cNvPr>
          <p:cNvSpPr/>
          <p:nvPr/>
        </p:nvSpPr>
        <p:spPr>
          <a:xfrm>
            <a:off x="5105455" y="5087682"/>
            <a:ext cx="141148" cy="14716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593DD2BA-54B9-41F3-9B64-1D2BCD0B2D6E}"/>
              </a:ext>
            </a:extLst>
          </p:cNvPr>
          <p:cNvCxnSpPr>
            <a:cxnSpLocks/>
            <a:stCxn id="96" idx="0"/>
            <a:endCxn id="97" idx="4"/>
          </p:cNvCxnSpPr>
          <p:nvPr/>
        </p:nvCxnSpPr>
        <p:spPr>
          <a:xfrm flipH="1" flipV="1">
            <a:off x="5176029" y="5234850"/>
            <a:ext cx="1" cy="195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D37C996-215E-4407-8BE7-9F6D62C296E7}"/>
              </a:ext>
            </a:extLst>
          </p:cNvPr>
          <p:cNvSpPr txBox="1"/>
          <p:nvPr/>
        </p:nvSpPr>
        <p:spPr>
          <a:xfrm>
            <a:off x="6036008" y="5430706"/>
            <a:ext cx="114732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심판청구</a:t>
            </a:r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F71D90DB-9C66-46E3-88EC-0EE7A2D92BD6}"/>
              </a:ext>
            </a:extLst>
          </p:cNvPr>
          <p:cNvSpPr/>
          <p:nvPr/>
        </p:nvSpPr>
        <p:spPr>
          <a:xfrm>
            <a:off x="6539097" y="5087682"/>
            <a:ext cx="141148" cy="14716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8857DC56-6C85-4BB4-A710-321391B11ABE}"/>
              </a:ext>
            </a:extLst>
          </p:cNvPr>
          <p:cNvCxnSpPr>
            <a:cxnSpLocks/>
            <a:stCxn id="103" idx="0"/>
            <a:endCxn id="104" idx="4"/>
          </p:cNvCxnSpPr>
          <p:nvPr/>
        </p:nvCxnSpPr>
        <p:spPr>
          <a:xfrm flipH="1" flipV="1">
            <a:off x="6609671" y="5234850"/>
            <a:ext cx="1" cy="195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66FA8B43-F2FF-4199-934D-A2E02F5DF5A7}"/>
              </a:ext>
            </a:extLst>
          </p:cNvPr>
          <p:cNvSpPr txBox="1"/>
          <p:nvPr/>
        </p:nvSpPr>
        <p:spPr>
          <a:xfrm>
            <a:off x="7277790" y="5430706"/>
            <a:ext cx="1477384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DB8D4CA6-197B-4E5A-94D5-3171F4C530C8}"/>
              </a:ext>
            </a:extLst>
          </p:cNvPr>
          <p:cNvSpPr/>
          <p:nvPr/>
        </p:nvSpPr>
        <p:spPr>
          <a:xfrm>
            <a:off x="7945907" y="5087682"/>
            <a:ext cx="141148" cy="14716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502F66A0-2F9C-4737-B3E0-11F2AF84D292}"/>
              </a:ext>
            </a:extLst>
          </p:cNvPr>
          <p:cNvCxnSpPr>
            <a:cxnSpLocks/>
            <a:stCxn id="111" idx="0"/>
            <a:endCxn id="112" idx="4"/>
          </p:cNvCxnSpPr>
          <p:nvPr/>
        </p:nvCxnSpPr>
        <p:spPr>
          <a:xfrm flipH="1" flipV="1">
            <a:off x="8016481" y="5234850"/>
            <a:ext cx="1" cy="195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113219BB-B18B-4332-B47C-43BBEAC9DE60}"/>
              </a:ext>
            </a:extLst>
          </p:cNvPr>
          <p:cNvSpPr txBox="1"/>
          <p:nvPr/>
        </p:nvSpPr>
        <p:spPr>
          <a:xfrm>
            <a:off x="8876460" y="5430706"/>
            <a:ext cx="114732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소제기</a:t>
            </a:r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729FB739-E16A-4346-BADF-E7D0F56D42B9}"/>
              </a:ext>
            </a:extLst>
          </p:cNvPr>
          <p:cNvSpPr/>
          <p:nvPr/>
        </p:nvSpPr>
        <p:spPr>
          <a:xfrm>
            <a:off x="9379549" y="5087682"/>
            <a:ext cx="141148" cy="14716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B98DBAC9-37A1-4D79-B473-D5B849FBAEF2}"/>
              </a:ext>
            </a:extLst>
          </p:cNvPr>
          <p:cNvCxnSpPr>
            <a:cxnSpLocks/>
            <a:stCxn id="114" idx="0"/>
            <a:endCxn id="115" idx="4"/>
          </p:cNvCxnSpPr>
          <p:nvPr/>
        </p:nvCxnSpPr>
        <p:spPr>
          <a:xfrm flipH="1" flipV="1">
            <a:off x="9450123" y="5234850"/>
            <a:ext cx="1" cy="195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BDE1E00D-5B81-4F98-B8C6-8526D2FAB7DC}"/>
              </a:ext>
            </a:extLst>
          </p:cNvPr>
          <p:cNvSpPr txBox="1"/>
          <p:nvPr/>
        </p:nvSpPr>
        <p:spPr>
          <a:xfrm>
            <a:off x="10143200" y="5430706"/>
            <a:ext cx="1147328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판결</a:t>
            </a:r>
          </a:p>
        </p:txBody>
      </p:sp>
      <p:sp>
        <p:nvSpPr>
          <p:cNvPr id="118" name="타원 117">
            <a:extLst>
              <a:ext uri="{FF2B5EF4-FFF2-40B4-BE49-F238E27FC236}">
                <a16:creationId xmlns:a16="http://schemas.microsoft.com/office/drawing/2014/main" id="{54BDFDA8-CA68-4134-AFA4-D1F8F477F020}"/>
              </a:ext>
            </a:extLst>
          </p:cNvPr>
          <p:cNvSpPr/>
          <p:nvPr/>
        </p:nvSpPr>
        <p:spPr>
          <a:xfrm>
            <a:off x="10646289" y="5087682"/>
            <a:ext cx="141148" cy="14716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A452C374-2CAC-4B62-8B58-602B6D46F398}"/>
              </a:ext>
            </a:extLst>
          </p:cNvPr>
          <p:cNvCxnSpPr>
            <a:cxnSpLocks/>
            <a:stCxn id="117" idx="0"/>
            <a:endCxn id="118" idx="4"/>
          </p:cNvCxnSpPr>
          <p:nvPr/>
        </p:nvCxnSpPr>
        <p:spPr>
          <a:xfrm flipH="1" flipV="1">
            <a:off x="10716863" y="5234850"/>
            <a:ext cx="1" cy="195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3F7AA20A-47A5-46AD-AB29-C5E96509A259}"/>
              </a:ext>
            </a:extLst>
          </p:cNvPr>
          <p:cNvSpPr txBox="1"/>
          <p:nvPr/>
        </p:nvSpPr>
        <p:spPr>
          <a:xfrm>
            <a:off x="9635324" y="5889943"/>
            <a:ext cx="2164220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보정각하가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부적법함을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발견한 경우 그 자체만으로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취소환송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A292F464-0424-4603-9516-3062D368DBAB}"/>
              </a:ext>
            </a:extLst>
          </p:cNvPr>
          <p:cNvCxnSpPr>
            <a:cxnSpLocks/>
            <a:stCxn id="120" idx="0"/>
            <a:endCxn id="117" idx="2"/>
          </p:cNvCxnSpPr>
          <p:nvPr/>
        </p:nvCxnSpPr>
        <p:spPr>
          <a:xfrm flipH="1" flipV="1">
            <a:off x="10716864" y="5707705"/>
            <a:ext cx="570" cy="18223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0743F61-52E5-1B1C-98E8-F310C87549F7}"/>
              </a:ext>
            </a:extLst>
          </p:cNvPr>
          <p:cNvSpPr txBox="1"/>
          <p:nvPr/>
        </p:nvSpPr>
        <p:spPr>
          <a:xfrm>
            <a:off x="4912659" y="6149012"/>
            <a:ext cx="2541080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최초거절이유통지가</a:t>
            </a:r>
            <a:r>
              <a:rPr lang="ko-KR" altLang="en-US" dirty="0">
                <a:solidFill>
                  <a:srgbClr val="FF0000"/>
                </a:solidFill>
              </a:rPr>
              <a:t> 타당</a:t>
            </a:r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2F767CC1-AB90-D8A9-7C5A-8CCFA698F777}"/>
              </a:ext>
            </a:extLst>
          </p:cNvPr>
          <p:cNvCxnSpPr>
            <a:stCxn id="6" idx="0"/>
            <a:endCxn id="96" idx="2"/>
          </p:cNvCxnSpPr>
          <p:nvPr/>
        </p:nvCxnSpPr>
        <p:spPr>
          <a:xfrm rot="16200000" flipV="1">
            <a:off x="5458962" y="5424774"/>
            <a:ext cx="441307" cy="1007169"/>
          </a:xfrm>
          <a:prstGeom prst="bentConnector3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59139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보정각하의</a:t>
            </a:r>
            <a:r>
              <a:rPr lang="ko-KR" altLang="en-US" dirty="0"/>
              <a:t> 예외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항본문</a:t>
            </a:r>
            <a:r>
              <a:rPr lang="ko-KR" altLang="en-US" dirty="0"/>
              <a:t> 괄호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2" name="Rectangle 5"/>
          <p:cNvSpPr>
            <a:spLocks noChangeArrowheads="1"/>
          </p:cNvSpPr>
          <p:nvPr/>
        </p:nvSpPr>
        <p:spPr bwMode="auto">
          <a:xfrm>
            <a:off x="347687" y="1094336"/>
            <a:ext cx="5748313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청구항을 삭제하는 보정에 의하여 새로운 거절이유가 발생한 경우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178</a:t>
            </a:fld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72B124B-1B33-49C7-839E-CE44F3CD4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048864"/>
              </p:ext>
            </p:extLst>
          </p:nvPr>
        </p:nvGraphicFramePr>
        <p:xfrm>
          <a:off x="647490" y="1691282"/>
          <a:ext cx="10715054" cy="4579159"/>
        </p:xfrm>
        <a:graphic>
          <a:graphicData uri="http://schemas.openxmlformats.org/drawingml/2006/table">
            <a:tbl>
              <a:tblPr/>
              <a:tblGrid>
                <a:gridCol w="5639911">
                  <a:extLst>
                    <a:ext uri="{9D8B030D-6E8A-4147-A177-3AD203B41FA5}">
                      <a16:colId xmlns:a16="http://schemas.microsoft.com/office/drawing/2014/main" val="4028275499"/>
                    </a:ext>
                  </a:extLst>
                </a:gridCol>
                <a:gridCol w="5075143">
                  <a:extLst>
                    <a:ext uri="{9D8B030D-6E8A-4147-A177-3AD203B41FA5}">
                      <a16:colId xmlns:a16="http://schemas.microsoft.com/office/drawing/2014/main" val="2964529776"/>
                    </a:ext>
                  </a:extLst>
                </a:gridCol>
              </a:tblGrid>
              <a:tr h="27437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구체적 예</a:t>
                      </a:r>
                    </a:p>
                  </a:txBody>
                  <a:tcPr marL="72000" marR="7200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 명</a:t>
                      </a:r>
                    </a:p>
                  </a:txBody>
                  <a:tcPr marL="72000" marR="7200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837926"/>
                  </a:ext>
                </a:extLst>
              </a:tr>
              <a:tr h="1907934"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: A+B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 이루어진 장치</a:t>
                      </a:r>
                    </a:p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 :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 있어서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C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를 부가한 장치</a:t>
                      </a:r>
                    </a:p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【</a:t>
                      </a:r>
                      <a:r>
                        <a:rPr lang="ko-KR" altLang="en-US" sz="1400" kern="0" spc="-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최후거절이유통지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】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은 진보성 없음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【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최후보정 후의 명세서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】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: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</a:p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 :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 있어서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C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를 부가한 장치</a:t>
                      </a:r>
                    </a:p>
                  </a:txBody>
                  <a:tcPr marL="72000" marR="7200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【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보정인정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】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을 삭제하는 보정은 청구범위의 감축에 해당함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 삭제로 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 </a:t>
                      </a:r>
                      <a:r>
                        <a:rPr lang="ko-KR" altLang="en-US" sz="1400" kern="0" spc="-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기재불비라는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새로운 거절이유가 발생하였으나 제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51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 괄호 규정에 의하여 보정은 인정함</a:t>
                      </a:r>
                    </a:p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【</a:t>
                      </a:r>
                      <a:r>
                        <a:rPr lang="ko-KR" altLang="en-US" sz="1400" kern="0" spc="-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최후거절이유통지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】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청구항을 삭제하면서 제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42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400" kern="0" spc="-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항제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호 위반의 새로운 거절이유가 생긴 경우 다시 </a:t>
                      </a:r>
                      <a:r>
                        <a:rPr lang="ko-KR" altLang="en-US" sz="1400" kern="0" spc="-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최후거절이유통지를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함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1508617"/>
                  </a:ext>
                </a:extLst>
              </a:tr>
              <a:tr h="2378871"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: A+B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 이루어진 장치</a:t>
                      </a:r>
                    </a:p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 : A+E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 이루어진 장치</a:t>
                      </a:r>
                    </a:p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 :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또는 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 있어서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C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를 부가한 장치</a:t>
                      </a:r>
                    </a:p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【</a:t>
                      </a:r>
                      <a:r>
                        <a:rPr lang="ko-KR" altLang="en-US" sz="1400" kern="0" spc="-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최후거절이유통지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】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은 진보성 없음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【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최후보정 후의 명세서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】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: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</a:p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 : A+E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 이루어진 장치</a:t>
                      </a:r>
                    </a:p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 :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또는 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 있어서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C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를 부가한 장치</a:t>
                      </a:r>
                    </a:p>
                  </a:txBody>
                  <a:tcPr marL="72000" marR="7200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【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보정인정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】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을 삭제하는 보정은 청구범위의 감축에 해당함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한편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은 삭제된 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을 인용하고 있지만 삭제된 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 인용을 제외하고 해석하여 청구항의 발명이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A+E+C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 명확하게 파악되기 때문에 오기임이 명백한 경우로 취급하여 보정을 인정함</a:t>
                      </a:r>
                    </a:p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【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특허결정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】</a:t>
                      </a:r>
                      <a:r>
                        <a:rPr lang="ko-KR" altLang="en-US" sz="1400" kern="0" spc="-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특허결정하면서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명백한 오기에 대해서는 </a:t>
                      </a:r>
                      <a:r>
                        <a:rPr lang="ko-KR" altLang="en-US" sz="1400" kern="0" spc="-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직권보정함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8217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11195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err="1"/>
              <a:t>보정각하의</a:t>
            </a:r>
            <a:r>
              <a:rPr lang="ko-KR" altLang="en-US" sz="2400" dirty="0"/>
              <a:t> 예외</a:t>
            </a:r>
            <a:r>
              <a:rPr lang="en-US" altLang="ko-KR" sz="2400" dirty="0"/>
              <a:t>: </a:t>
            </a:r>
            <a:r>
              <a:rPr lang="ko-KR" altLang="en-US" sz="2400" dirty="0"/>
              <a:t>제</a:t>
            </a:r>
            <a:r>
              <a:rPr lang="en-US" altLang="ko-KR" sz="2400" dirty="0"/>
              <a:t>51</a:t>
            </a:r>
            <a:r>
              <a:rPr lang="ko-KR" altLang="en-US" sz="2400" dirty="0"/>
              <a:t>조제</a:t>
            </a:r>
            <a:r>
              <a:rPr lang="en-US" altLang="ko-KR" sz="2400" dirty="0"/>
              <a:t>1</a:t>
            </a:r>
            <a:r>
              <a:rPr lang="ko-KR" altLang="en-US" sz="2400" dirty="0" err="1"/>
              <a:t>항본문</a:t>
            </a:r>
            <a:r>
              <a:rPr lang="ko-KR" altLang="en-US" sz="2400" dirty="0"/>
              <a:t> 괄호 </a:t>
            </a:r>
            <a:r>
              <a:rPr lang="en-US" altLang="ko-KR" sz="2400" dirty="0"/>
              <a:t>CASE</a:t>
            </a:r>
            <a:endParaRPr lang="ko-KR" altLang="en-US" sz="24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44250" y="3175"/>
            <a:ext cx="1047750" cy="7143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179</a:t>
            </a:fld>
            <a:endParaRPr lang="ko-KR" altLang="en-US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9F4A705-4410-4E65-AF81-CF552010A9CD}"/>
              </a:ext>
            </a:extLst>
          </p:cNvPr>
          <p:cNvCxnSpPr>
            <a:cxnSpLocks/>
          </p:cNvCxnSpPr>
          <p:nvPr/>
        </p:nvCxnSpPr>
        <p:spPr>
          <a:xfrm>
            <a:off x="5031698" y="1964556"/>
            <a:ext cx="0" cy="420601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84648307-CFF5-46A6-8499-B7AD819D4672}"/>
              </a:ext>
            </a:extLst>
          </p:cNvPr>
          <p:cNvSpPr/>
          <p:nvPr/>
        </p:nvSpPr>
        <p:spPr>
          <a:xfrm>
            <a:off x="314070" y="1784535"/>
            <a:ext cx="4572722" cy="310891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 anchor="b">
            <a:noAutofit/>
          </a:bodyPr>
          <a:lstStyle/>
          <a:p>
            <a:pPr algn="just" fontAlgn="base">
              <a:lnSpc>
                <a:spcPct val="150000"/>
              </a:lnSpc>
              <a:spcAft>
                <a:spcPts val="200"/>
              </a:spcAft>
              <a:tabLst>
                <a:tab pos="228600" algn="l"/>
                <a:tab pos="408940" algn="l"/>
                <a:tab pos="624840" algn="l"/>
                <a:tab pos="4561840" algn="r"/>
                <a:tab pos="5036820" algn="r"/>
                <a:tab pos="228600" algn="l"/>
                <a:tab pos="408940" algn="l"/>
                <a:tab pos="624840" algn="l"/>
                <a:tab pos="4561840" algn="r"/>
                <a:tab pos="5036820" algn="r"/>
              </a:tabLst>
            </a:pP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단순히 ‘</a:t>
            </a:r>
            <a:r>
              <a:rPr lang="ko-KR" altLang="en-US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청구항을 삭제하는 보정을 하면서 그 삭제된 청구항을 인용하던 종속항에서 인용번호를 그대로 둠으로써 특허법 제</a:t>
            </a:r>
            <a:r>
              <a:rPr lang="en-US" altLang="ko-KR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42</a:t>
            </a:r>
            <a:r>
              <a:rPr lang="ko-KR" altLang="en-US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조 제</a:t>
            </a:r>
            <a:r>
              <a:rPr lang="en-US" altLang="ko-KR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3</a:t>
            </a:r>
            <a:r>
              <a:rPr lang="ko-KR" altLang="en-US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항</a:t>
            </a:r>
            <a:r>
              <a:rPr lang="en-US" altLang="ko-KR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제</a:t>
            </a:r>
            <a:r>
              <a:rPr lang="en-US" altLang="ko-KR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4</a:t>
            </a:r>
            <a:r>
              <a:rPr lang="ko-KR" altLang="en-US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항에서 정한 명세서 기재요건을 충족하지 않은 </a:t>
            </a:r>
            <a:r>
              <a:rPr lang="ko-KR" altLang="en-US" sz="1200" kern="0" spc="-30" dirty="0" err="1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기재불비가</a:t>
            </a:r>
            <a:r>
              <a:rPr lang="ko-KR" altLang="en-US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 발생한 </a:t>
            </a:r>
            <a:r>
              <a:rPr lang="ko-KR" altLang="en-US" sz="1200" kern="0" spc="-30" dirty="0" err="1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경우</a:t>
            </a:r>
            <a:r>
              <a:rPr lang="ko-KR" altLang="en-US" sz="1200" kern="0" spc="-3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’뿐만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 아니라</a:t>
            </a:r>
            <a:r>
              <a:rPr lang="en-US" altLang="ko-KR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‘</a:t>
            </a:r>
            <a:r>
              <a:rPr lang="ko-KR" altLang="en-US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청구항을 삭제하는 보정을 하면서 그 삭제한 청구항을 직</a:t>
            </a:r>
            <a:r>
              <a:rPr lang="en-US" altLang="ko-KR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․</a:t>
            </a:r>
            <a:r>
              <a:rPr lang="ko-KR" altLang="en-US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간접적으로 인용하던 종속항에서 그 인용번호를 잘못 변경함으로써 위와 같은 </a:t>
            </a:r>
            <a:r>
              <a:rPr lang="ko-KR" altLang="en-US" sz="1200" kern="0" spc="-30" dirty="0" err="1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기재불비가</a:t>
            </a:r>
            <a:r>
              <a:rPr lang="ko-KR" altLang="en-US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 발생한 </a:t>
            </a:r>
            <a:r>
              <a:rPr lang="ko-KR" altLang="en-US" sz="1200" kern="0" spc="-30" dirty="0" err="1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경우</a:t>
            </a:r>
            <a:r>
              <a:rPr lang="ko-KR" altLang="en-US" sz="1200" kern="0" spc="-3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’에도</a:t>
            </a:r>
            <a:r>
              <a:rPr lang="en-US" altLang="ko-KR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이에 대해 거절이유를 통지하여 보정의 기회를 다시 부여하더라도 또 </a:t>
            </a:r>
            <a:r>
              <a:rPr lang="ko-KR" altLang="en-US" sz="1200" kern="0" spc="-30" dirty="0">
                <a:solidFill>
                  <a:srgbClr val="000000"/>
                </a:solidFill>
                <a:highlight>
                  <a:srgbClr val="FFFF00"/>
                </a:highlight>
                <a:uFill>
                  <a:solidFill>
                    <a:srgbClr val="000000"/>
                  </a:solidFill>
                </a:uFill>
                <a:latin typeface="+mn-ea"/>
              </a:rPr>
              <a:t>다른 보정의 반복에 의하여 심사관의 새로운 심사에 따른 업무량 가중 및 심사절차의 지연의 문제가 생길 염려가 없음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은 마찬가지이므로</a:t>
            </a:r>
            <a:r>
              <a:rPr lang="en-US" altLang="ko-KR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이들 경우 모두가 위 규정에서 말하는 ‘청구항을 삭제하는 보정에 따라 새로운 거절이유가 발생한 </a:t>
            </a:r>
            <a:r>
              <a:rPr lang="ko-KR" altLang="en-US" sz="1200" kern="0" spc="-3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경우‘에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 포함된다고 할 것이다</a:t>
            </a:r>
            <a:r>
              <a:rPr lang="en-US" altLang="ko-KR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.</a:t>
            </a:r>
            <a:endParaRPr lang="ko-KR" altLang="en-US" sz="1200" kern="0" spc="-3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0" name="모서리가 둥근 직사각형 55">
            <a:extLst>
              <a:ext uri="{FF2B5EF4-FFF2-40B4-BE49-F238E27FC236}">
                <a16:creationId xmlns:a16="http://schemas.microsoft.com/office/drawing/2014/main" id="{1C304AFE-FFFD-49BA-841C-EFD7C28399FF}"/>
              </a:ext>
            </a:extLst>
          </p:cNvPr>
          <p:cNvSpPr/>
          <p:nvPr/>
        </p:nvSpPr>
        <p:spPr bwMode="auto">
          <a:xfrm>
            <a:off x="438660" y="1604516"/>
            <a:ext cx="3130870" cy="360040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 </a:t>
            </a:r>
            <a:r>
              <a:rPr lang="en-US" altLang="ko-KR" sz="1400" dirty="0"/>
              <a:t>2014. 7. 10 </a:t>
            </a:r>
            <a:r>
              <a:rPr lang="ko-KR" altLang="en-US" sz="1400" dirty="0"/>
              <a:t>선고 </a:t>
            </a:r>
            <a:r>
              <a:rPr lang="en-US" altLang="ko-KR" sz="1400" dirty="0"/>
              <a:t>2013</a:t>
            </a:r>
            <a:r>
              <a:rPr lang="ko-KR" altLang="en-US" sz="1400" dirty="0"/>
              <a:t>후</a:t>
            </a:r>
            <a:r>
              <a:rPr lang="en-US" altLang="ko-KR" sz="1400" dirty="0"/>
              <a:t>2101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3F7D12C-EEFE-482E-A3B3-62171CDE64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747555"/>
              </p:ext>
            </p:extLst>
          </p:nvPr>
        </p:nvGraphicFramePr>
        <p:xfrm>
          <a:off x="321243" y="4966093"/>
          <a:ext cx="4572720" cy="1565345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524240">
                  <a:extLst>
                    <a:ext uri="{9D8B030D-6E8A-4147-A177-3AD203B41FA5}">
                      <a16:colId xmlns:a16="http://schemas.microsoft.com/office/drawing/2014/main" val="2821898448"/>
                    </a:ext>
                  </a:extLst>
                </a:gridCol>
                <a:gridCol w="1524240">
                  <a:extLst>
                    <a:ext uri="{9D8B030D-6E8A-4147-A177-3AD203B41FA5}">
                      <a16:colId xmlns:a16="http://schemas.microsoft.com/office/drawing/2014/main" val="1955978822"/>
                    </a:ext>
                  </a:extLst>
                </a:gridCol>
                <a:gridCol w="1524240">
                  <a:extLst>
                    <a:ext uri="{9D8B030D-6E8A-4147-A177-3AD203B41FA5}">
                      <a16:colId xmlns:a16="http://schemas.microsoft.com/office/drawing/2014/main" val="524729482"/>
                    </a:ext>
                  </a:extLst>
                </a:gridCol>
              </a:tblGrid>
              <a:tr h="3130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청구항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err="1"/>
                        <a:t>보정전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err="1"/>
                        <a:t>보정후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943648"/>
                  </a:ext>
                </a:extLst>
              </a:tr>
              <a:tr h="3130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22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C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C1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0182188"/>
                  </a:ext>
                </a:extLst>
              </a:tr>
              <a:tr h="3130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23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제</a:t>
                      </a:r>
                      <a:r>
                        <a:rPr lang="en-US" altLang="ko-KR" sz="900" dirty="0"/>
                        <a:t>22</a:t>
                      </a:r>
                      <a:r>
                        <a:rPr lang="ko-KR" altLang="en-US" sz="900" dirty="0"/>
                        <a:t>항에 있어서</a:t>
                      </a:r>
                      <a:r>
                        <a:rPr lang="en-US" altLang="ko-KR" sz="900" dirty="0"/>
                        <a:t>, C</a:t>
                      </a:r>
                      <a:r>
                        <a:rPr lang="ko-KR" altLang="en-US" sz="900" dirty="0"/>
                        <a:t>는</a:t>
                      </a:r>
                      <a:r>
                        <a:rPr lang="en-US" altLang="ko-KR" sz="900" dirty="0"/>
                        <a:t> C1 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삭제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4159174"/>
                  </a:ext>
                </a:extLst>
              </a:tr>
              <a:tr h="3130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24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제</a:t>
                      </a:r>
                      <a:r>
                        <a:rPr lang="en-US" altLang="ko-KR" sz="900" dirty="0"/>
                        <a:t>23</a:t>
                      </a:r>
                      <a:r>
                        <a:rPr lang="ko-KR" altLang="en-US" sz="900" dirty="0"/>
                        <a:t>항에 있어서</a:t>
                      </a:r>
                      <a:r>
                        <a:rPr lang="en-US" altLang="ko-KR" sz="900" dirty="0"/>
                        <a:t>, C1</a:t>
                      </a:r>
                      <a:r>
                        <a:rPr lang="ko-KR" altLang="en-US" sz="900" dirty="0"/>
                        <a:t>은 </a:t>
                      </a:r>
                      <a:r>
                        <a:rPr lang="en-US" altLang="ko-KR" sz="900" dirty="0"/>
                        <a:t>C2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제</a:t>
                      </a:r>
                      <a:r>
                        <a:rPr lang="en-US" altLang="ko-KR" sz="900" dirty="0"/>
                        <a:t>22</a:t>
                      </a:r>
                      <a:r>
                        <a:rPr lang="ko-KR" altLang="en-US" sz="900" dirty="0"/>
                        <a:t>항에 있어서</a:t>
                      </a:r>
                      <a:r>
                        <a:rPr lang="en-US" altLang="ko-KR" sz="900" dirty="0"/>
                        <a:t>, C1</a:t>
                      </a:r>
                      <a:r>
                        <a:rPr lang="ko-KR" altLang="en-US" sz="900" dirty="0"/>
                        <a:t>은 </a:t>
                      </a:r>
                      <a:r>
                        <a:rPr lang="en-US" altLang="ko-KR" sz="900" dirty="0"/>
                        <a:t>C2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1391485"/>
                  </a:ext>
                </a:extLst>
              </a:tr>
              <a:tr h="3130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25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제</a:t>
                      </a:r>
                      <a:r>
                        <a:rPr lang="en-US" altLang="ko-KR" sz="900" dirty="0"/>
                        <a:t>24</a:t>
                      </a:r>
                      <a:r>
                        <a:rPr lang="ko-KR" altLang="en-US" sz="900" dirty="0"/>
                        <a:t>항에 있어서</a:t>
                      </a:r>
                      <a:r>
                        <a:rPr lang="en-US" altLang="ko-KR" sz="900" dirty="0"/>
                        <a:t>, C2</a:t>
                      </a:r>
                      <a:r>
                        <a:rPr lang="ko-KR" altLang="en-US" sz="900" dirty="0"/>
                        <a:t>는 </a:t>
                      </a:r>
                      <a:r>
                        <a:rPr lang="en-US" altLang="ko-KR" sz="900" dirty="0"/>
                        <a:t>C3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rgbClr val="FF0000"/>
                          </a:solidFill>
                        </a:rPr>
                        <a:t>제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</a:rPr>
                        <a:t>22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</a:rPr>
                        <a:t>항에 있어서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</a:rPr>
                        <a:t>, C2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</a:rPr>
                        <a:t>는 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</a:rPr>
                        <a:t>C3</a:t>
                      </a:r>
                      <a:endParaRPr lang="ko-KR" altLang="en-US" sz="9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3865070"/>
                  </a:ext>
                </a:extLst>
              </a:tr>
            </a:tbl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FB7AD22A-3ECB-4225-B647-0ED3F77B6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87" y="1094336"/>
            <a:ext cx="5748313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청구항을 삭제하는 보정에 의하여 새로운 거절이유가 발생한 경우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6BD2C39-77D1-404D-935D-43F9D3F9BDD7}"/>
              </a:ext>
            </a:extLst>
          </p:cNvPr>
          <p:cNvSpPr/>
          <p:nvPr/>
        </p:nvSpPr>
        <p:spPr>
          <a:xfrm>
            <a:off x="5245833" y="1784536"/>
            <a:ext cx="6701325" cy="187306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 anchor="b">
            <a:noAutofit/>
          </a:bodyPr>
          <a:lstStyle/>
          <a:p>
            <a:pPr algn="just" fontAlgn="base">
              <a:lnSpc>
                <a:spcPct val="150000"/>
              </a:lnSpc>
              <a:spcAft>
                <a:spcPts val="200"/>
              </a:spcAft>
              <a:tabLst>
                <a:tab pos="228600" algn="l"/>
                <a:tab pos="408940" algn="l"/>
                <a:tab pos="624840" algn="l"/>
                <a:tab pos="4561840" algn="r"/>
                <a:tab pos="5036820" algn="r"/>
                <a:tab pos="228600" algn="l"/>
                <a:tab pos="408940" algn="l"/>
                <a:tab pos="624840" algn="l"/>
                <a:tab pos="4561840" algn="r"/>
                <a:tab pos="5036820" algn="r"/>
              </a:tabLst>
            </a:pP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청구항을 삭제하는 보정에 따라 발생한 새로운 거절이유에는 단순히 ‘청구항을 삭제하는 보정을 하면서 그 삭제된 청구항을 인용하던 종속항에서 인용번호를 그대로 둠으로써 명세서 기재요건을 충족하지 않은 </a:t>
            </a:r>
            <a:r>
              <a:rPr lang="ko-KR" altLang="en-US" sz="1200" kern="0" spc="-3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기재불비가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 발생한 </a:t>
            </a:r>
            <a:r>
              <a:rPr lang="ko-KR" altLang="en-US" sz="1200" kern="0" spc="-3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경우’뿐만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 아니라</a:t>
            </a:r>
            <a:r>
              <a:rPr lang="en-US" altLang="ko-KR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, ‘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청구항을 삭제하는 보정을 하면서 그 삭제된 청구항을 직</a:t>
            </a:r>
            <a:r>
              <a:rPr lang="en-US" altLang="ko-KR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·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간접적으로 인용하던 종속항을 보정하는 과정에서</a:t>
            </a:r>
            <a:r>
              <a:rPr lang="en-US" altLang="ko-KR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그 인용번호를 잘못 변경하거나</a:t>
            </a:r>
            <a:r>
              <a:rPr lang="en-US" altLang="ko-KR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종속항이 </a:t>
            </a:r>
            <a:r>
              <a:rPr lang="en-US" altLang="ko-KR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2 </a:t>
            </a:r>
            <a:r>
              <a:rPr lang="ko-KR" altLang="en-US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이상의 항을 인용하는 경우에 인용되는 항의 번호 사이의 </a:t>
            </a:r>
            <a:r>
              <a:rPr lang="ko-KR" altLang="en-US" sz="1200" kern="0" spc="-30" dirty="0" err="1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택일적</a:t>
            </a:r>
            <a:r>
              <a:rPr lang="ko-KR" altLang="en-US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 관계에 대한 기재를 누락함으로써 위와 같은 </a:t>
            </a:r>
            <a:r>
              <a:rPr lang="ko-KR" altLang="en-US" sz="1200" kern="0" spc="-30" dirty="0" err="1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기재불비가</a:t>
            </a:r>
            <a:r>
              <a:rPr lang="ko-KR" altLang="en-US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 발생한 </a:t>
            </a:r>
            <a:r>
              <a:rPr lang="ko-KR" altLang="en-US" sz="1200" kern="0" spc="-30" dirty="0" err="1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경우</a:t>
            </a:r>
            <a:r>
              <a:rPr lang="ko-KR" altLang="en-US" sz="1200" kern="0" spc="-3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’도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 포함된다고 보아야 한다</a:t>
            </a:r>
            <a:r>
              <a:rPr lang="en-US" altLang="ko-KR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. </a:t>
            </a:r>
            <a:endParaRPr lang="ko-KR" altLang="en-US" sz="1200" kern="0" spc="-3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4" name="모서리가 둥근 직사각형 55">
            <a:extLst>
              <a:ext uri="{FF2B5EF4-FFF2-40B4-BE49-F238E27FC236}">
                <a16:creationId xmlns:a16="http://schemas.microsoft.com/office/drawing/2014/main" id="{C0763EFE-7E5B-4038-916E-8085671FB4B1}"/>
              </a:ext>
            </a:extLst>
          </p:cNvPr>
          <p:cNvSpPr/>
          <p:nvPr/>
        </p:nvSpPr>
        <p:spPr bwMode="auto">
          <a:xfrm>
            <a:off x="5370424" y="1604516"/>
            <a:ext cx="3130870" cy="360040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 </a:t>
            </a:r>
            <a:r>
              <a:rPr lang="en-US" altLang="ko-KR" sz="1400" dirty="0"/>
              <a:t>2018. 6. 28 </a:t>
            </a:r>
            <a:r>
              <a:rPr lang="ko-KR" altLang="en-US" sz="1400" dirty="0"/>
              <a:t>선고 </a:t>
            </a:r>
            <a:r>
              <a:rPr lang="en-US" altLang="ko-KR" sz="1400" dirty="0"/>
              <a:t>2014</a:t>
            </a:r>
            <a:r>
              <a:rPr lang="ko-KR" altLang="en-US" sz="1400" dirty="0"/>
              <a:t>후</a:t>
            </a:r>
            <a:r>
              <a:rPr lang="en-US" altLang="ko-KR" sz="1400" dirty="0"/>
              <a:t>553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F8CE1F7-3D44-4034-94E6-4D93AB2762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870928"/>
              </p:ext>
            </p:extLst>
          </p:nvPr>
        </p:nvGraphicFramePr>
        <p:xfrm>
          <a:off x="5245833" y="3723320"/>
          <a:ext cx="6701324" cy="45720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415567">
                  <a:extLst>
                    <a:ext uri="{9D8B030D-6E8A-4147-A177-3AD203B41FA5}">
                      <a16:colId xmlns:a16="http://schemas.microsoft.com/office/drawing/2014/main" val="2519011853"/>
                    </a:ext>
                  </a:extLst>
                </a:gridCol>
                <a:gridCol w="3285757">
                  <a:extLst>
                    <a:ext uri="{9D8B030D-6E8A-4147-A177-3AD203B41FA5}">
                      <a16:colId xmlns:a16="http://schemas.microsoft.com/office/drawing/2014/main" val="36505683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보정전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보정후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430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상기 제</a:t>
                      </a:r>
                      <a:r>
                        <a:rPr lang="en-US" altLang="ko-KR" sz="900" dirty="0"/>
                        <a:t>1</a:t>
                      </a:r>
                      <a:r>
                        <a:rPr lang="ko-KR" altLang="en-US" sz="900" dirty="0"/>
                        <a:t>항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제</a:t>
                      </a:r>
                      <a:r>
                        <a:rPr lang="en-US" altLang="ko-KR" sz="900" dirty="0"/>
                        <a:t>2</a:t>
                      </a:r>
                      <a:r>
                        <a:rPr lang="ko-KR" altLang="en-US" sz="900" dirty="0"/>
                        <a:t>항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제</a:t>
                      </a:r>
                      <a:r>
                        <a:rPr lang="en-US" altLang="ko-KR" sz="900" dirty="0"/>
                        <a:t>3</a:t>
                      </a:r>
                      <a:r>
                        <a:rPr lang="ko-KR" altLang="en-US" sz="900" dirty="0"/>
                        <a:t>항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제</a:t>
                      </a:r>
                      <a:r>
                        <a:rPr lang="en-US" altLang="ko-KR" sz="900" dirty="0"/>
                        <a:t>4</a:t>
                      </a:r>
                      <a:r>
                        <a:rPr lang="ko-KR" altLang="en-US" sz="900" dirty="0"/>
                        <a:t>항 또는 제</a:t>
                      </a:r>
                      <a:r>
                        <a:rPr lang="en-US" altLang="ko-KR" sz="900" dirty="0"/>
                        <a:t>8</a:t>
                      </a:r>
                      <a:r>
                        <a:rPr lang="ko-KR" altLang="en-US" sz="900" dirty="0"/>
                        <a:t>항의 인 함유 구리 </a:t>
                      </a:r>
                      <a:r>
                        <a:rPr lang="ko-KR" altLang="en-US" sz="900" dirty="0" err="1"/>
                        <a:t>애노드</a:t>
                      </a:r>
                      <a:endParaRPr lang="ko-KR" altLang="en-US" sz="9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상기 제</a:t>
                      </a:r>
                      <a:r>
                        <a:rPr lang="en-US" altLang="ko-KR" sz="900" dirty="0"/>
                        <a:t>1</a:t>
                      </a:r>
                      <a:r>
                        <a:rPr lang="ko-KR" altLang="en-US" sz="900" dirty="0"/>
                        <a:t>항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제</a:t>
                      </a:r>
                      <a:r>
                        <a:rPr lang="en-US" altLang="ko-KR" sz="900" dirty="0"/>
                        <a:t>2</a:t>
                      </a:r>
                      <a:r>
                        <a:rPr lang="ko-KR" altLang="en-US" sz="900" dirty="0"/>
                        <a:t>항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제</a:t>
                      </a:r>
                      <a:r>
                        <a:rPr lang="en-US" altLang="ko-KR" sz="900" dirty="0"/>
                        <a:t>3</a:t>
                      </a:r>
                      <a:r>
                        <a:rPr lang="ko-KR" altLang="en-US" sz="900" dirty="0"/>
                        <a:t>항의 인 함유 구리 </a:t>
                      </a:r>
                      <a:r>
                        <a:rPr lang="ko-KR" altLang="en-US" sz="900" dirty="0" err="1"/>
                        <a:t>애노드</a:t>
                      </a:r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730311"/>
                  </a:ext>
                </a:extLst>
              </a:tr>
            </a:tbl>
          </a:graphicData>
        </a:graphic>
      </p:graphicFrame>
      <p:sp>
        <p:nvSpPr>
          <p:cNvPr id="16" name="직사각형 15">
            <a:extLst>
              <a:ext uri="{FF2B5EF4-FFF2-40B4-BE49-F238E27FC236}">
                <a16:creationId xmlns:a16="http://schemas.microsoft.com/office/drawing/2014/main" id="{D865B413-4115-427E-BA7C-A8888BC235C2}"/>
              </a:ext>
            </a:extLst>
          </p:cNvPr>
          <p:cNvSpPr/>
          <p:nvPr/>
        </p:nvSpPr>
        <p:spPr>
          <a:xfrm>
            <a:off x="5245833" y="4551429"/>
            <a:ext cx="6701327" cy="139054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 anchor="b">
            <a:noAutofit/>
          </a:bodyPr>
          <a:lstStyle/>
          <a:p>
            <a:pPr algn="just" fontAlgn="base">
              <a:lnSpc>
                <a:spcPct val="150000"/>
              </a:lnSpc>
              <a:spcAft>
                <a:spcPts val="200"/>
              </a:spcAft>
              <a:tabLst>
                <a:tab pos="228600" algn="l"/>
                <a:tab pos="408940" algn="l"/>
                <a:tab pos="624840" algn="l"/>
                <a:tab pos="4561840" algn="r"/>
                <a:tab pos="5036820" algn="r"/>
                <a:tab pos="228600" algn="l"/>
                <a:tab pos="408940" algn="l"/>
                <a:tab pos="624840" algn="l"/>
                <a:tab pos="4561840" algn="r"/>
                <a:tab pos="5036820" algn="r"/>
              </a:tabLst>
            </a:pP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이러한 규정의 취지에 비추어 볼 때</a:t>
            </a:r>
            <a:r>
              <a:rPr lang="en-US" altLang="ko-KR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청구항을 삭제하는 보정을 하였더라도 </a:t>
            </a:r>
            <a:r>
              <a:rPr lang="ko-KR" altLang="en-US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삭제된 청구항과 관련이 없는 부분에서 새롭게 발생한 거절이유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는 심사관에게 새로운 심사에 따른 업무량을 가중시키고</a:t>
            </a:r>
            <a:r>
              <a:rPr lang="en-US" altLang="ko-KR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심사절차가 지연되는 결과를 가져오게 하는 등 달리 취급하여야 할 필요가 없으므로 </a:t>
            </a:r>
            <a:r>
              <a:rPr lang="en-US" altLang="ko-KR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2009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년 개정 특허법 제</a:t>
            </a:r>
            <a:r>
              <a:rPr lang="en-US" altLang="ko-KR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51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조 제</a:t>
            </a:r>
            <a:r>
              <a:rPr lang="en-US" altLang="ko-KR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1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항 본문이 규정하는 청구항을 삭제하는 보정에 따라 발생한 새로운 거절이유에 포함된다고 할 수 없다</a:t>
            </a:r>
            <a:r>
              <a:rPr lang="en-US" altLang="ko-KR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. </a:t>
            </a:r>
            <a:endParaRPr lang="ko-KR" altLang="en-US" sz="1200" kern="0" spc="-3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7" name="모서리가 둥근 직사각형 55">
            <a:extLst>
              <a:ext uri="{FF2B5EF4-FFF2-40B4-BE49-F238E27FC236}">
                <a16:creationId xmlns:a16="http://schemas.microsoft.com/office/drawing/2014/main" id="{9C718279-9D7B-4833-B7B6-3F61C5822514}"/>
              </a:ext>
            </a:extLst>
          </p:cNvPr>
          <p:cNvSpPr/>
          <p:nvPr/>
        </p:nvSpPr>
        <p:spPr bwMode="auto">
          <a:xfrm>
            <a:off x="5370424" y="4371409"/>
            <a:ext cx="3130870" cy="360040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 </a:t>
            </a:r>
            <a:r>
              <a:rPr lang="en-US" altLang="ko-KR" sz="1400" dirty="0"/>
              <a:t>2018. 7. 12 </a:t>
            </a:r>
            <a:r>
              <a:rPr lang="ko-KR" altLang="en-US" sz="1400" dirty="0"/>
              <a:t>선고 </a:t>
            </a:r>
            <a:r>
              <a:rPr lang="en-US" altLang="ko-KR" sz="1400" dirty="0"/>
              <a:t>2015</a:t>
            </a:r>
            <a:r>
              <a:rPr lang="ko-KR" altLang="en-US" sz="1400" dirty="0"/>
              <a:t>후</a:t>
            </a:r>
            <a:r>
              <a:rPr lang="en-US" altLang="ko-KR" sz="1400" dirty="0"/>
              <a:t>2259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5A43B0D6-CB49-47B2-A23A-5634953397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67149"/>
              </p:ext>
            </p:extLst>
          </p:nvPr>
        </p:nvGraphicFramePr>
        <p:xfrm>
          <a:off x="5245833" y="6074238"/>
          <a:ext cx="6701324" cy="59436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415567">
                  <a:extLst>
                    <a:ext uri="{9D8B030D-6E8A-4147-A177-3AD203B41FA5}">
                      <a16:colId xmlns:a16="http://schemas.microsoft.com/office/drawing/2014/main" val="2519011853"/>
                    </a:ext>
                  </a:extLst>
                </a:gridCol>
                <a:gridCol w="3285757">
                  <a:extLst>
                    <a:ext uri="{9D8B030D-6E8A-4147-A177-3AD203B41FA5}">
                      <a16:colId xmlns:a16="http://schemas.microsoft.com/office/drawing/2014/main" val="36505683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보정전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보정후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430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적층된</a:t>
                      </a:r>
                      <a:r>
                        <a:rPr lang="ko-KR" altLang="en-US" sz="900" dirty="0"/>
                        <a:t> 소자들의 스택은 새로운 소자가 배치될 때마다 소자들을 위치시키는 </a:t>
                      </a:r>
                      <a:r>
                        <a:rPr lang="ko-KR" altLang="en-US" sz="900" dirty="0" err="1"/>
                        <a:t>수평력이</a:t>
                      </a:r>
                      <a:r>
                        <a:rPr lang="ko-KR" altLang="en-US" sz="900" dirty="0"/>
                        <a:t> 가해지는 것을 특징으로 하는 방법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적층된</a:t>
                      </a:r>
                      <a:r>
                        <a:rPr lang="ko-KR" altLang="en-US" sz="900" dirty="0"/>
                        <a:t> 소자들의 스택은 새로운 소자가 배치될 때마다 소자들을 위치시키는 </a:t>
                      </a:r>
                      <a:r>
                        <a:rPr lang="ko-KR" altLang="en-US" sz="900" dirty="0" err="1"/>
                        <a:t>수평력이</a:t>
                      </a:r>
                      <a:r>
                        <a:rPr lang="ko-KR" altLang="en-US" sz="900" dirty="0"/>
                        <a:t> 가해지고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730311"/>
                  </a:ext>
                </a:extLst>
              </a:tr>
            </a:tbl>
          </a:graphicData>
        </a:graphic>
      </p:graphicFrame>
      <p:sp>
        <p:nvSpPr>
          <p:cNvPr id="6" name="타원 5">
            <a:extLst>
              <a:ext uri="{FF2B5EF4-FFF2-40B4-BE49-F238E27FC236}">
                <a16:creationId xmlns:a16="http://schemas.microsoft.com/office/drawing/2014/main" id="{255DAC8B-5282-FD1A-2559-E55BF4720FE2}"/>
              </a:ext>
            </a:extLst>
          </p:cNvPr>
          <p:cNvSpPr/>
          <p:nvPr/>
        </p:nvSpPr>
        <p:spPr>
          <a:xfrm>
            <a:off x="3857426" y="1899741"/>
            <a:ext cx="259977" cy="259977"/>
          </a:xfrm>
          <a:prstGeom prst="ellipse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69DAA78-0204-0595-1590-95FEABFE672B}"/>
              </a:ext>
            </a:extLst>
          </p:cNvPr>
          <p:cNvSpPr/>
          <p:nvPr/>
        </p:nvSpPr>
        <p:spPr>
          <a:xfrm>
            <a:off x="4806335" y="3116520"/>
            <a:ext cx="259977" cy="259977"/>
          </a:xfrm>
          <a:prstGeom prst="ellipse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DD04062-F7C2-3B0E-6457-0386126B0216}"/>
              </a:ext>
            </a:extLst>
          </p:cNvPr>
          <p:cNvSpPr/>
          <p:nvPr/>
        </p:nvSpPr>
        <p:spPr>
          <a:xfrm>
            <a:off x="6805870" y="3338990"/>
            <a:ext cx="259977" cy="259977"/>
          </a:xfrm>
          <a:prstGeom prst="ellipse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3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19F08AD-6583-78F6-3687-42060912896B}"/>
              </a:ext>
            </a:extLst>
          </p:cNvPr>
          <p:cNvSpPr/>
          <p:nvPr/>
        </p:nvSpPr>
        <p:spPr>
          <a:xfrm>
            <a:off x="10651729" y="4601460"/>
            <a:ext cx="259977" cy="259977"/>
          </a:xfrm>
          <a:prstGeom prst="ellipse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4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2601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보정각하의</a:t>
            </a:r>
            <a:r>
              <a:rPr lang="ko-KR" altLang="en-US" dirty="0"/>
              <a:t> 예외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항단서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180</a:t>
            </a:fld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84FFE19-DE7C-4CE4-9DF5-F390A2A46657}"/>
              </a:ext>
            </a:extLst>
          </p:cNvPr>
          <p:cNvCxnSpPr>
            <a:cxnSpLocks/>
          </p:cNvCxnSpPr>
          <p:nvPr/>
        </p:nvCxnSpPr>
        <p:spPr>
          <a:xfrm>
            <a:off x="1799239" y="1347894"/>
            <a:ext cx="9953296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9C478DD-17F6-4CFE-9E4A-E5F07C919C4B}"/>
              </a:ext>
            </a:extLst>
          </p:cNvPr>
          <p:cNvSpPr/>
          <p:nvPr/>
        </p:nvSpPr>
        <p:spPr>
          <a:xfrm>
            <a:off x="4516601" y="1126775"/>
            <a:ext cx="819807" cy="4753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직권보정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특허결정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D0A136A-4BD5-4153-8818-1E1F15352BC2}"/>
              </a:ext>
            </a:extLst>
          </p:cNvPr>
          <p:cNvSpPr/>
          <p:nvPr/>
        </p:nvSpPr>
        <p:spPr>
          <a:xfrm>
            <a:off x="5677556" y="1132650"/>
            <a:ext cx="1135118" cy="4753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직권보정취소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특허결정취소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2C7BDE6-589E-4F1A-8D45-738004CCDFFD}"/>
              </a:ext>
            </a:extLst>
          </p:cNvPr>
          <p:cNvSpPr/>
          <p:nvPr/>
        </p:nvSpPr>
        <p:spPr>
          <a:xfrm>
            <a:off x="1799239" y="1638082"/>
            <a:ext cx="1258208" cy="3888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제</a:t>
            </a:r>
            <a:r>
              <a:rPr lang="en-US" altLang="ko-KR" sz="1050" dirty="0">
                <a:solidFill>
                  <a:schemeClr val="tx1"/>
                </a:solidFill>
              </a:rPr>
              <a:t>47</a:t>
            </a:r>
            <a:r>
              <a:rPr lang="ko-KR" altLang="en-US" sz="1050" dirty="0">
                <a:solidFill>
                  <a:schemeClr val="tx1"/>
                </a:solidFill>
              </a:rPr>
              <a:t>조제</a:t>
            </a:r>
            <a:r>
              <a:rPr lang="en-US" altLang="ko-KR" sz="1050" dirty="0">
                <a:solidFill>
                  <a:schemeClr val="tx1"/>
                </a:solidFill>
              </a:rPr>
              <a:t>1</a:t>
            </a:r>
            <a:r>
              <a:rPr lang="ko-KR" altLang="en-US" sz="1050" dirty="0" err="1">
                <a:solidFill>
                  <a:schemeClr val="tx1"/>
                </a:solidFill>
              </a:rPr>
              <a:t>항제</a:t>
            </a:r>
            <a:r>
              <a:rPr lang="en-US" altLang="ko-KR" sz="1050" dirty="0">
                <a:solidFill>
                  <a:schemeClr val="tx1"/>
                </a:solidFill>
              </a:rPr>
              <a:t>2</a:t>
            </a:r>
            <a:r>
              <a:rPr lang="ko-KR" altLang="en-US" sz="1050" dirty="0">
                <a:solidFill>
                  <a:schemeClr val="tx1"/>
                </a:solidFill>
              </a:rPr>
              <a:t>호부적법 보정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98774C9-355F-4905-9CD6-75FAF56D5858}"/>
              </a:ext>
            </a:extLst>
          </p:cNvPr>
          <p:cNvSpPr/>
          <p:nvPr/>
        </p:nvSpPr>
        <p:spPr>
          <a:xfrm>
            <a:off x="3204325" y="2026959"/>
            <a:ext cx="1258208" cy="3888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제</a:t>
            </a:r>
            <a:r>
              <a:rPr lang="en-US" altLang="ko-KR" sz="1050" dirty="0">
                <a:solidFill>
                  <a:schemeClr val="tx1"/>
                </a:solidFill>
              </a:rPr>
              <a:t>47</a:t>
            </a:r>
            <a:r>
              <a:rPr lang="ko-KR" altLang="en-US" sz="1050" dirty="0">
                <a:solidFill>
                  <a:schemeClr val="tx1"/>
                </a:solidFill>
              </a:rPr>
              <a:t>조제</a:t>
            </a:r>
            <a:r>
              <a:rPr lang="en-US" altLang="ko-KR" sz="1050" dirty="0">
                <a:solidFill>
                  <a:schemeClr val="tx1"/>
                </a:solidFill>
              </a:rPr>
              <a:t>1</a:t>
            </a:r>
            <a:r>
              <a:rPr lang="ko-KR" altLang="en-US" sz="1050" dirty="0" err="1">
                <a:solidFill>
                  <a:schemeClr val="tx1"/>
                </a:solidFill>
              </a:rPr>
              <a:t>항제</a:t>
            </a:r>
            <a:r>
              <a:rPr lang="en-US" altLang="ko-KR" sz="1050" dirty="0">
                <a:solidFill>
                  <a:schemeClr val="tx1"/>
                </a:solidFill>
              </a:rPr>
              <a:t>3</a:t>
            </a:r>
            <a:r>
              <a:rPr lang="ko-KR" altLang="en-US" sz="1050" dirty="0">
                <a:solidFill>
                  <a:schemeClr val="tx1"/>
                </a:solidFill>
              </a:rPr>
              <a:t>호부적법 보정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6B570B7-AD25-431D-8B15-AF708C253445}"/>
              </a:ext>
            </a:extLst>
          </p:cNvPr>
          <p:cNvSpPr/>
          <p:nvPr/>
        </p:nvSpPr>
        <p:spPr>
          <a:xfrm>
            <a:off x="7075432" y="2414106"/>
            <a:ext cx="1258208" cy="388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제</a:t>
            </a:r>
            <a:r>
              <a:rPr lang="en-US" altLang="ko-KR" sz="1050" dirty="0">
                <a:solidFill>
                  <a:schemeClr val="tx1"/>
                </a:solidFill>
              </a:rPr>
              <a:t>47</a:t>
            </a:r>
            <a:r>
              <a:rPr lang="ko-KR" altLang="en-US" sz="1050" dirty="0">
                <a:solidFill>
                  <a:schemeClr val="tx1"/>
                </a:solidFill>
              </a:rPr>
              <a:t>조제</a:t>
            </a:r>
            <a:r>
              <a:rPr lang="en-US" altLang="ko-KR" sz="1050" dirty="0">
                <a:solidFill>
                  <a:schemeClr val="tx1"/>
                </a:solidFill>
              </a:rPr>
              <a:t>1</a:t>
            </a:r>
            <a:r>
              <a:rPr lang="ko-KR" altLang="en-US" sz="1050" dirty="0" err="1">
                <a:solidFill>
                  <a:schemeClr val="tx1"/>
                </a:solidFill>
              </a:rPr>
              <a:t>항제</a:t>
            </a:r>
            <a:r>
              <a:rPr lang="en-US" altLang="ko-KR" sz="1050" dirty="0">
                <a:solidFill>
                  <a:schemeClr val="tx1"/>
                </a:solidFill>
              </a:rPr>
              <a:t>2</a:t>
            </a:r>
            <a:r>
              <a:rPr lang="ko-KR" altLang="en-US" sz="1050" dirty="0">
                <a:solidFill>
                  <a:schemeClr val="tx1"/>
                </a:solidFill>
              </a:rPr>
              <a:t>호부적법 보정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5869C5B-E42D-406B-9731-360C87F7A5F7}"/>
              </a:ext>
            </a:extLst>
          </p:cNvPr>
          <p:cNvSpPr/>
          <p:nvPr/>
        </p:nvSpPr>
        <p:spPr>
          <a:xfrm>
            <a:off x="8480518" y="2802983"/>
            <a:ext cx="1258208" cy="3888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제</a:t>
            </a:r>
            <a:r>
              <a:rPr lang="en-US" altLang="ko-KR" sz="1050" dirty="0">
                <a:solidFill>
                  <a:schemeClr val="tx1"/>
                </a:solidFill>
              </a:rPr>
              <a:t>47</a:t>
            </a:r>
            <a:r>
              <a:rPr lang="ko-KR" altLang="en-US" sz="1050" dirty="0">
                <a:solidFill>
                  <a:schemeClr val="tx1"/>
                </a:solidFill>
              </a:rPr>
              <a:t>조제</a:t>
            </a:r>
            <a:r>
              <a:rPr lang="en-US" altLang="ko-KR" sz="1050" dirty="0">
                <a:solidFill>
                  <a:schemeClr val="tx1"/>
                </a:solidFill>
              </a:rPr>
              <a:t>1</a:t>
            </a:r>
            <a:r>
              <a:rPr lang="ko-KR" altLang="en-US" sz="1050" dirty="0" err="1">
                <a:solidFill>
                  <a:schemeClr val="tx1"/>
                </a:solidFill>
              </a:rPr>
              <a:t>항제</a:t>
            </a:r>
            <a:r>
              <a:rPr lang="en-US" altLang="ko-KR" sz="1050" dirty="0">
                <a:solidFill>
                  <a:schemeClr val="tx1"/>
                </a:solidFill>
              </a:rPr>
              <a:t>3</a:t>
            </a:r>
            <a:r>
              <a:rPr lang="ko-KR" altLang="en-US" sz="1050" dirty="0">
                <a:solidFill>
                  <a:schemeClr val="tx1"/>
                </a:solidFill>
              </a:rPr>
              <a:t>호부적법 보정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4A6C33C-C62D-43F0-912A-006C76CB5769}"/>
              </a:ext>
            </a:extLst>
          </p:cNvPr>
          <p:cNvSpPr/>
          <p:nvPr/>
        </p:nvSpPr>
        <p:spPr>
          <a:xfrm>
            <a:off x="10207514" y="1638082"/>
            <a:ext cx="1258208" cy="3888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보정인정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5F60534-2E5B-4660-BF1C-B982B6A3EAF5}"/>
              </a:ext>
            </a:extLst>
          </p:cNvPr>
          <p:cNvSpPr/>
          <p:nvPr/>
        </p:nvSpPr>
        <p:spPr>
          <a:xfrm>
            <a:off x="10543845" y="1050775"/>
            <a:ext cx="567559" cy="567559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600" dirty="0"/>
              <a:t>발견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32FD870-30C1-43FF-A449-DA3D2E823108}"/>
              </a:ext>
            </a:extLst>
          </p:cNvPr>
          <p:cNvSpPr/>
          <p:nvPr/>
        </p:nvSpPr>
        <p:spPr>
          <a:xfrm>
            <a:off x="10207514" y="2026958"/>
            <a:ext cx="1258208" cy="3888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보정인정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A3E072E-CBDB-4B41-BFA0-299C41697F60}"/>
              </a:ext>
            </a:extLst>
          </p:cNvPr>
          <p:cNvSpPr/>
          <p:nvPr/>
        </p:nvSpPr>
        <p:spPr>
          <a:xfrm>
            <a:off x="10207514" y="2415835"/>
            <a:ext cx="1258208" cy="388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>
                <a:solidFill>
                  <a:schemeClr val="tx1"/>
                </a:solidFill>
              </a:rPr>
              <a:t>보정각하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1B0C1D4-C4D0-4D50-9831-B3A64D01CFA2}"/>
              </a:ext>
            </a:extLst>
          </p:cNvPr>
          <p:cNvSpPr/>
          <p:nvPr/>
        </p:nvSpPr>
        <p:spPr>
          <a:xfrm>
            <a:off x="10207514" y="2804711"/>
            <a:ext cx="1258208" cy="3888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>
                <a:solidFill>
                  <a:schemeClr val="tx1"/>
                </a:solidFill>
              </a:rPr>
              <a:t>보정각하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D0802BE4-11B9-4C07-B02C-208E2058854E}"/>
              </a:ext>
            </a:extLst>
          </p:cNvPr>
          <p:cNvCxnSpPr>
            <a:stCxn id="13" idx="3"/>
            <a:endCxn id="19" idx="1"/>
          </p:cNvCxnSpPr>
          <p:nvPr/>
        </p:nvCxnSpPr>
        <p:spPr>
          <a:xfrm>
            <a:off x="3057447" y="1832521"/>
            <a:ext cx="715006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C3F14887-8472-4B27-B9C4-C8D0F5F533B4}"/>
              </a:ext>
            </a:extLst>
          </p:cNvPr>
          <p:cNvCxnSpPr>
            <a:stCxn id="16" idx="3"/>
            <a:endCxn id="21" idx="1"/>
          </p:cNvCxnSpPr>
          <p:nvPr/>
        </p:nvCxnSpPr>
        <p:spPr>
          <a:xfrm flipV="1">
            <a:off x="4462533" y="2221397"/>
            <a:ext cx="5744981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DBEDF507-2222-4678-99D9-907CB65404F7}"/>
              </a:ext>
            </a:extLst>
          </p:cNvPr>
          <p:cNvCxnSpPr>
            <a:stCxn id="17" idx="3"/>
            <a:endCxn id="22" idx="1"/>
          </p:cNvCxnSpPr>
          <p:nvPr/>
        </p:nvCxnSpPr>
        <p:spPr>
          <a:xfrm>
            <a:off x="8333640" y="2608545"/>
            <a:ext cx="1873874" cy="172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CAE62AF6-B951-4003-BB38-E11EAC61F1CE}"/>
              </a:ext>
            </a:extLst>
          </p:cNvPr>
          <p:cNvCxnSpPr>
            <a:stCxn id="18" idx="3"/>
            <a:endCxn id="23" idx="1"/>
          </p:cNvCxnSpPr>
          <p:nvPr/>
        </p:nvCxnSpPr>
        <p:spPr>
          <a:xfrm>
            <a:off x="9738726" y="2997422"/>
            <a:ext cx="468788" cy="172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ADDD8A7B-FDCC-4700-82E4-BCFD2B01459C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2428343" y="1329935"/>
            <a:ext cx="0" cy="308147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34BD0F32-B6FC-451B-8DF4-316EFD20E54E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3833429" y="1365854"/>
            <a:ext cx="0" cy="661105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DF521989-EFFE-4A1E-B117-208D1C6C724C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7704536" y="1329935"/>
            <a:ext cx="0" cy="1084171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E9DC59D6-5710-4FEA-99B5-BF6972B80CEE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9082909" y="1360433"/>
            <a:ext cx="26713" cy="144255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E6B1C9D8-D1C1-4235-BD2C-D3F48DF70EC5}"/>
              </a:ext>
            </a:extLst>
          </p:cNvPr>
          <p:cNvSpPr/>
          <p:nvPr/>
        </p:nvSpPr>
        <p:spPr>
          <a:xfrm>
            <a:off x="173929" y="1441100"/>
            <a:ext cx="1223001" cy="1223001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  <a:endParaRPr lang="en-US" altLang="ko-KR" dirty="0"/>
          </a:p>
          <a:p>
            <a:pPr algn="ctr"/>
            <a:r>
              <a:rPr lang="ko-KR" altLang="en-US" dirty="0"/>
              <a:t>제</a:t>
            </a:r>
            <a:r>
              <a:rPr lang="en-US" altLang="ko-KR" dirty="0"/>
              <a:t>1</a:t>
            </a:r>
            <a:r>
              <a:rPr lang="ko-KR" altLang="en-US" dirty="0"/>
              <a:t>항</a:t>
            </a:r>
            <a:endParaRPr lang="en-US" altLang="ko-KR" dirty="0"/>
          </a:p>
          <a:p>
            <a:pPr algn="ctr"/>
            <a:r>
              <a:rPr lang="ko-KR" altLang="en-US" dirty="0"/>
              <a:t>제</a:t>
            </a:r>
            <a:r>
              <a:rPr lang="en-US" altLang="ko-KR" dirty="0"/>
              <a:t>1</a:t>
            </a:r>
            <a:r>
              <a:rPr lang="ko-KR" altLang="en-US" dirty="0"/>
              <a:t>호</a:t>
            </a: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745638EC-55D1-41FA-B0B0-0C8F705B3899}"/>
              </a:ext>
            </a:extLst>
          </p:cNvPr>
          <p:cNvCxnSpPr/>
          <p:nvPr/>
        </p:nvCxnSpPr>
        <p:spPr>
          <a:xfrm>
            <a:off x="0" y="3609782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6DC2680A-DA20-46A3-98A4-7C6D14A33DE0}"/>
              </a:ext>
            </a:extLst>
          </p:cNvPr>
          <p:cNvCxnSpPr>
            <a:cxnSpLocks/>
          </p:cNvCxnSpPr>
          <p:nvPr/>
        </p:nvCxnSpPr>
        <p:spPr>
          <a:xfrm>
            <a:off x="1799239" y="4414853"/>
            <a:ext cx="9953296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CBD9A306-6442-4B41-8068-E4F7B30F8996}"/>
              </a:ext>
            </a:extLst>
          </p:cNvPr>
          <p:cNvSpPr/>
          <p:nvPr/>
        </p:nvSpPr>
        <p:spPr>
          <a:xfrm>
            <a:off x="4516601" y="4193734"/>
            <a:ext cx="819807" cy="4753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특허결정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착오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FE22BE7-5B4E-47D2-898C-C9CBDB78F8DD}"/>
              </a:ext>
            </a:extLst>
          </p:cNvPr>
          <p:cNvSpPr/>
          <p:nvPr/>
        </p:nvSpPr>
        <p:spPr>
          <a:xfrm>
            <a:off x="5677556" y="4199609"/>
            <a:ext cx="1135118" cy="4753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특허결정취소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4E3B0FB-3474-46F4-8ED3-F31BC70CCB3C}"/>
              </a:ext>
            </a:extLst>
          </p:cNvPr>
          <p:cNvSpPr/>
          <p:nvPr/>
        </p:nvSpPr>
        <p:spPr>
          <a:xfrm>
            <a:off x="1799239" y="4705041"/>
            <a:ext cx="1258208" cy="3888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제</a:t>
            </a:r>
            <a:r>
              <a:rPr lang="en-US" altLang="ko-KR" sz="1050" dirty="0">
                <a:solidFill>
                  <a:schemeClr val="tx1"/>
                </a:solidFill>
              </a:rPr>
              <a:t>47</a:t>
            </a:r>
            <a:r>
              <a:rPr lang="ko-KR" altLang="en-US" sz="1050" dirty="0">
                <a:solidFill>
                  <a:schemeClr val="tx1"/>
                </a:solidFill>
              </a:rPr>
              <a:t>조제</a:t>
            </a:r>
            <a:r>
              <a:rPr lang="en-US" altLang="ko-KR" sz="1050" dirty="0">
                <a:solidFill>
                  <a:schemeClr val="tx1"/>
                </a:solidFill>
              </a:rPr>
              <a:t>1</a:t>
            </a:r>
            <a:r>
              <a:rPr lang="ko-KR" altLang="en-US" sz="1050" dirty="0" err="1">
                <a:solidFill>
                  <a:schemeClr val="tx1"/>
                </a:solidFill>
              </a:rPr>
              <a:t>항제</a:t>
            </a:r>
            <a:r>
              <a:rPr lang="en-US" altLang="ko-KR" sz="1050" dirty="0">
                <a:solidFill>
                  <a:schemeClr val="tx1"/>
                </a:solidFill>
              </a:rPr>
              <a:t>2</a:t>
            </a:r>
            <a:r>
              <a:rPr lang="ko-KR" altLang="en-US" sz="1050" dirty="0">
                <a:solidFill>
                  <a:schemeClr val="tx1"/>
                </a:solidFill>
              </a:rPr>
              <a:t>호부적법 보정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59903E6-38E4-4EEC-8575-CE687DD34A60}"/>
              </a:ext>
            </a:extLst>
          </p:cNvPr>
          <p:cNvSpPr/>
          <p:nvPr/>
        </p:nvSpPr>
        <p:spPr>
          <a:xfrm>
            <a:off x="3204325" y="5093918"/>
            <a:ext cx="1258208" cy="3888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제</a:t>
            </a:r>
            <a:r>
              <a:rPr lang="en-US" altLang="ko-KR" sz="1050" dirty="0">
                <a:solidFill>
                  <a:schemeClr val="tx1"/>
                </a:solidFill>
              </a:rPr>
              <a:t>47</a:t>
            </a:r>
            <a:r>
              <a:rPr lang="ko-KR" altLang="en-US" sz="1050" dirty="0">
                <a:solidFill>
                  <a:schemeClr val="tx1"/>
                </a:solidFill>
              </a:rPr>
              <a:t>조제</a:t>
            </a:r>
            <a:r>
              <a:rPr lang="en-US" altLang="ko-KR" sz="1050" dirty="0">
                <a:solidFill>
                  <a:schemeClr val="tx1"/>
                </a:solidFill>
              </a:rPr>
              <a:t>1</a:t>
            </a:r>
            <a:r>
              <a:rPr lang="ko-KR" altLang="en-US" sz="1050" dirty="0" err="1">
                <a:solidFill>
                  <a:schemeClr val="tx1"/>
                </a:solidFill>
              </a:rPr>
              <a:t>항제</a:t>
            </a:r>
            <a:r>
              <a:rPr lang="en-US" altLang="ko-KR" sz="1050" dirty="0">
                <a:solidFill>
                  <a:schemeClr val="tx1"/>
                </a:solidFill>
              </a:rPr>
              <a:t>3</a:t>
            </a:r>
            <a:r>
              <a:rPr lang="ko-KR" altLang="en-US" sz="1050" dirty="0">
                <a:solidFill>
                  <a:schemeClr val="tx1"/>
                </a:solidFill>
              </a:rPr>
              <a:t>호부적법 보정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072C6C8-1505-483E-97F0-FA1A46E1DBDA}"/>
              </a:ext>
            </a:extLst>
          </p:cNvPr>
          <p:cNvSpPr/>
          <p:nvPr/>
        </p:nvSpPr>
        <p:spPr>
          <a:xfrm>
            <a:off x="7075432" y="5481065"/>
            <a:ext cx="1258208" cy="388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제</a:t>
            </a:r>
            <a:r>
              <a:rPr lang="en-US" altLang="ko-KR" sz="1050" dirty="0">
                <a:solidFill>
                  <a:schemeClr val="tx1"/>
                </a:solidFill>
              </a:rPr>
              <a:t>47</a:t>
            </a:r>
            <a:r>
              <a:rPr lang="ko-KR" altLang="en-US" sz="1050" dirty="0">
                <a:solidFill>
                  <a:schemeClr val="tx1"/>
                </a:solidFill>
              </a:rPr>
              <a:t>조제</a:t>
            </a:r>
            <a:r>
              <a:rPr lang="en-US" altLang="ko-KR" sz="1050" dirty="0">
                <a:solidFill>
                  <a:schemeClr val="tx1"/>
                </a:solidFill>
              </a:rPr>
              <a:t>1</a:t>
            </a:r>
            <a:r>
              <a:rPr lang="ko-KR" altLang="en-US" sz="1050" dirty="0" err="1">
                <a:solidFill>
                  <a:schemeClr val="tx1"/>
                </a:solidFill>
              </a:rPr>
              <a:t>항제</a:t>
            </a:r>
            <a:r>
              <a:rPr lang="en-US" altLang="ko-KR" sz="1050" dirty="0">
                <a:solidFill>
                  <a:schemeClr val="tx1"/>
                </a:solidFill>
              </a:rPr>
              <a:t>2</a:t>
            </a:r>
            <a:r>
              <a:rPr lang="ko-KR" altLang="en-US" sz="1050" dirty="0">
                <a:solidFill>
                  <a:schemeClr val="tx1"/>
                </a:solidFill>
              </a:rPr>
              <a:t>호부적법 보정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ACBF4A4-B3F7-4055-8D37-8A9ACD33455A}"/>
              </a:ext>
            </a:extLst>
          </p:cNvPr>
          <p:cNvSpPr/>
          <p:nvPr/>
        </p:nvSpPr>
        <p:spPr>
          <a:xfrm>
            <a:off x="8480518" y="5869942"/>
            <a:ext cx="1258208" cy="3888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제</a:t>
            </a:r>
            <a:r>
              <a:rPr lang="en-US" altLang="ko-KR" sz="1050" dirty="0">
                <a:solidFill>
                  <a:schemeClr val="tx1"/>
                </a:solidFill>
              </a:rPr>
              <a:t>47</a:t>
            </a:r>
            <a:r>
              <a:rPr lang="ko-KR" altLang="en-US" sz="1050" dirty="0">
                <a:solidFill>
                  <a:schemeClr val="tx1"/>
                </a:solidFill>
              </a:rPr>
              <a:t>조제</a:t>
            </a:r>
            <a:r>
              <a:rPr lang="en-US" altLang="ko-KR" sz="1050" dirty="0">
                <a:solidFill>
                  <a:schemeClr val="tx1"/>
                </a:solidFill>
              </a:rPr>
              <a:t>1</a:t>
            </a:r>
            <a:r>
              <a:rPr lang="ko-KR" altLang="en-US" sz="1050" dirty="0" err="1">
                <a:solidFill>
                  <a:schemeClr val="tx1"/>
                </a:solidFill>
              </a:rPr>
              <a:t>항제</a:t>
            </a:r>
            <a:r>
              <a:rPr lang="en-US" altLang="ko-KR" sz="1050" dirty="0">
                <a:solidFill>
                  <a:schemeClr val="tx1"/>
                </a:solidFill>
              </a:rPr>
              <a:t>3</a:t>
            </a:r>
            <a:r>
              <a:rPr lang="ko-KR" altLang="en-US" sz="1050" dirty="0">
                <a:solidFill>
                  <a:schemeClr val="tx1"/>
                </a:solidFill>
              </a:rPr>
              <a:t>호부적법 보정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3BA05F9-9F94-4A9D-B647-9D2ACB36FDEB}"/>
              </a:ext>
            </a:extLst>
          </p:cNvPr>
          <p:cNvSpPr/>
          <p:nvPr/>
        </p:nvSpPr>
        <p:spPr>
          <a:xfrm>
            <a:off x="10207514" y="4705041"/>
            <a:ext cx="1258208" cy="3888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보정인정</a:t>
            </a: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90B4DAD7-BECE-49C0-9B76-DB88746F2425}"/>
              </a:ext>
            </a:extLst>
          </p:cNvPr>
          <p:cNvSpPr/>
          <p:nvPr/>
        </p:nvSpPr>
        <p:spPr>
          <a:xfrm>
            <a:off x="10543845" y="4117734"/>
            <a:ext cx="567559" cy="567559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600" dirty="0"/>
              <a:t>발견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77DBDC9-A57A-4ADB-A16A-53669227EABF}"/>
              </a:ext>
            </a:extLst>
          </p:cNvPr>
          <p:cNvSpPr/>
          <p:nvPr/>
        </p:nvSpPr>
        <p:spPr>
          <a:xfrm>
            <a:off x="10207514" y="5093917"/>
            <a:ext cx="1258208" cy="3888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보정인정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C9FC857D-261D-4A8A-BF91-48C0E07B7EAD}"/>
              </a:ext>
            </a:extLst>
          </p:cNvPr>
          <p:cNvSpPr/>
          <p:nvPr/>
        </p:nvSpPr>
        <p:spPr>
          <a:xfrm>
            <a:off x="10207514" y="5482794"/>
            <a:ext cx="1258208" cy="388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>
                <a:solidFill>
                  <a:schemeClr val="tx1"/>
                </a:solidFill>
              </a:rPr>
              <a:t>보정각하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DB9FA43A-7009-434C-8475-9010620FB43B}"/>
              </a:ext>
            </a:extLst>
          </p:cNvPr>
          <p:cNvSpPr/>
          <p:nvPr/>
        </p:nvSpPr>
        <p:spPr>
          <a:xfrm>
            <a:off x="10207514" y="5871670"/>
            <a:ext cx="1258208" cy="3888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>
                <a:solidFill>
                  <a:schemeClr val="tx1"/>
                </a:solidFill>
              </a:rPr>
              <a:t>보정각하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D2C63300-36A4-4C76-85DA-CFBAF8F3F222}"/>
              </a:ext>
            </a:extLst>
          </p:cNvPr>
          <p:cNvCxnSpPr>
            <a:stCxn id="52" idx="3"/>
            <a:endCxn id="56" idx="1"/>
          </p:cNvCxnSpPr>
          <p:nvPr/>
        </p:nvCxnSpPr>
        <p:spPr>
          <a:xfrm>
            <a:off x="3057447" y="4899480"/>
            <a:ext cx="715006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6145C1D4-1331-4879-AD9B-7B3EB84A94DC}"/>
              </a:ext>
            </a:extLst>
          </p:cNvPr>
          <p:cNvCxnSpPr>
            <a:stCxn id="53" idx="3"/>
            <a:endCxn id="58" idx="1"/>
          </p:cNvCxnSpPr>
          <p:nvPr/>
        </p:nvCxnSpPr>
        <p:spPr>
          <a:xfrm flipV="1">
            <a:off x="4462533" y="5288356"/>
            <a:ext cx="5744981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03E7E9C0-AF39-4B9C-A615-E77FAE2C1957}"/>
              </a:ext>
            </a:extLst>
          </p:cNvPr>
          <p:cNvCxnSpPr>
            <a:stCxn id="54" idx="3"/>
            <a:endCxn id="59" idx="1"/>
          </p:cNvCxnSpPr>
          <p:nvPr/>
        </p:nvCxnSpPr>
        <p:spPr>
          <a:xfrm>
            <a:off x="8333640" y="5675504"/>
            <a:ext cx="1873874" cy="172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0A54A14F-B8DD-49A8-A7BF-6F570259B4DA}"/>
              </a:ext>
            </a:extLst>
          </p:cNvPr>
          <p:cNvCxnSpPr>
            <a:stCxn id="55" idx="3"/>
            <a:endCxn id="60" idx="1"/>
          </p:cNvCxnSpPr>
          <p:nvPr/>
        </p:nvCxnSpPr>
        <p:spPr>
          <a:xfrm>
            <a:off x="9738726" y="6064381"/>
            <a:ext cx="468788" cy="172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F8B29AE3-16B8-4C7B-AC98-CEC249D727DE}"/>
              </a:ext>
            </a:extLst>
          </p:cNvPr>
          <p:cNvCxnSpPr>
            <a:cxnSpLocks/>
            <a:stCxn id="52" idx="0"/>
          </p:cNvCxnSpPr>
          <p:nvPr/>
        </p:nvCxnSpPr>
        <p:spPr>
          <a:xfrm flipV="1">
            <a:off x="2428343" y="4396894"/>
            <a:ext cx="0" cy="308147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12C8C896-E665-4081-8DE1-60641280AB03}"/>
              </a:ext>
            </a:extLst>
          </p:cNvPr>
          <p:cNvCxnSpPr>
            <a:cxnSpLocks/>
            <a:stCxn id="53" idx="0"/>
          </p:cNvCxnSpPr>
          <p:nvPr/>
        </p:nvCxnSpPr>
        <p:spPr>
          <a:xfrm flipV="1">
            <a:off x="3833429" y="4432813"/>
            <a:ext cx="0" cy="661105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AC761B94-4E57-4151-97E8-4BEDFF6EEC6E}"/>
              </a:ext>
            </a:extLst>
          </p:cNvPr>
          <p:cNvCxnSpPr>
            <a:cxnSpLocks/>
            <a:stCxn id="54" idx="0"/>
          </p:cNvCxnSpPr>
          <p:nvPr/>
        </p:nvCxnSpPr>
        <p:spPr>
          <a:xfrm flipV="1">
            <a:off x="7704536" y="4396894"/>
            <a:ext cx="0" cy="1084171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6C08433F-68E5-405F-A0B1-250F09C726FB}"/>
              </a:ext>
            </a:extLst>
          </p:cNvPr>
          <p:cNvCxnSpPr>
            <a:cxnSpLocks/>
            <a:stCxn id="55" idx="0"/>
          </p:cNvCxnSpPr>
          <p:nvPr/>
        </p:nvCxnSpPr>
        <p:spPr>
          <a:xfrm flipH="1" flipV="1">
            <a:off x="9082909" y="4427392"/>
            <a:ext cx="26713" cy="144255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ED39616A-D03B-4EB9-AD4B-F3503714A4AF}"/>
              </a:ext>
            </a:extLst>
          </p:cNvPr>
          <p:cNvSpPr/>
          <p:nvPr/>
        </p:nvSpPr>
        <p:spPr>
          <a:xfrm>
            <a:off x="173929" y="4508059"/>
            <a:ext cx="1223001" cy="1223001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  <a:endParaRPr lang="en-US" altLang="ko-KR" dirty="0"/>
          </a:p>
          <a:p>
            <a:pPr algn="ctr"/>
            <a:r>
              <a:rPr lang="ko-KR" altLang="en-US" dirty="0"/>
              <a:t>제</a:t>
            </a:r>
            <a:r>
              <a:rPr lang="en-US" altLang="ko-KR" dirty="0"/>
              <a:t>1</a:t>
            </a:r>
            <a:r>
              <a:rPr lang="ko-KR" altLang="en-US" dirty="0"/>
              <a:t>항</a:t>
            </a:r>
            <a:endParaRPr lang="en-US" altLang="ko-KR" dirty="0"/>
          </a:p>
          <a:p>
            <a:pPr algn="ctr"/>
            <a:r>
              <a:rPr lang="ko-KR" altLang="en-US" dirty="0"/>
              <a:t>제</a:t>
            </a:r>
            <a:r>
              <a:rPr lang="en-US" altLang="ko-KR" dirty="0"/>
              <a:t>2</a:t>
            </a:r>
            <a:r>
              <a:rPr lang="ko-KR" altLang="en-US" dirty="0"/>
              <a:t>호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8BE3A5F-F9A3-4E83-8631-5455D1AB6F77}"/>
              </a:ext>
            </a:extLst>
          </p:cNvPr>
          <p:cNvSpPr txBox="1"/>
          <p:nvPr/>
        </p:nvSpPr>
        <p:spPr>
          <a:xfrm>
            <a:off x="6947737" y="3717207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Reset</a:t>
            </a: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96084280-B911-412C-8F6C-54D82783F5E9}"/>
              </a:ext>
            </a:extLst>
          </p:cNvPr>
          <p:cNvCxnSpPr>
            <a:stCxn id="70" idx="2"/>
          </p:cNvCxnSpPr>
          <p:nvPr/>
        </p:nvCxnSpPr>
        <p:spPr>
          <a:xfrm flipH="1">
            <a:off x="7335022" y="4086539"/>
            <a:ext cx="1" cy="31035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F011706-6E7B-8FBD-539A-454D2EFF991F}"/>
              </a:ext>
            </a:extLst>
          </p:cNvPr>
          <p:cNvSpPr txBox="1"/>
          <p:nvPr/>
        </p:nvSpPr>
        <p:spPr>
          <a:xfrm>
            <a:off x="11204430" y="2805110"/>
            <a:ext cx="9268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accent5"/>
                </a:solidFill>
              </a:rPr>
              <a:t>제</a:t>
            </a:r>
            <a:r>
              <a:rPr lang="en-US" altLang="ko-KR" sz="1050" dirty="0">
                <a:solidFill>
                  <a:schemeClr val="accent5"/>
                </a:solidFill>
              </a:rPr>
              <a:t>51</a:t>
            </a:r>
            <a:r>
              <a:rPr lang="ko-KR" altLang="en-US" sz="1050" dirty="0">
                <a:solidFill>
                  <a:schemeClr val="accent5"/>
                </a:solidFill>
              </a:rPr>
              <a:t>조제</a:t>
            </a:r>
            <a:r>
              <a:rPr lang="en-US" altLang="ko-KR" sz="1050" dirty="0">
                <a:solidFill>
                  <a:schemeClr val="accent5"/>
                </a:solidFill>
              </a:rPr>
              <a:t>1</a:t>
            </a:r>
            <a:r>
              <a:rPr lang="ko-KR" altLang="en-US" sz="1050" dirty="0">
                <a:solidFill>
                  <a:schemeClr val="accent5"/>
                </a:solidFill>
              </a:rPr>
              <a:t>항</a:t>
            </a:r>
            <a:endParaRPr lang="en-US" altLang="ko-KR" sz="1050" dirty="0">
              <a:solidFill>
                <a:schemeClr val="accent5"/>
              </a:solidFill>
            </a:endParaRPr>
          </a:p>
          <a:p>
            <a:pPr algn="ctr"/>
            <a:r>
              <a:rPr lang="ko-KR" altLang="en-US" sz="1050" dirty="0">
                <a:solidFill>
                  <a:schemeClr val="accent5"/>
                </a:solidFill>
              </a:rPr>
              <a:t>본문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B9B884-E571-6654-2975-4AB0144A735D}"/>
              </a:ext>
            </a:extLst>
          </p:cNvPr>
          <p:cNvSpPr txBox="1"/>
          <p:nvPr/>
        </p:nvSpPr>
        <p:spPr>
          <a:xfrm>
            <a:off x="11204430" y="2391784"/>
            <a:ext cx="9268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accent5"/>
                </a:solidFill>
              </a:rPr>
              <a:t>제</a:t>
            </a:r>
            <a:r>
              <a:rPr lang="en-US" altLang="ko-KR" sz="1050" dirty="0">
                <a:solidFill>
                  <a:schemeClr val="accent5"/>
                </a:solidFill>
              </a:rPr>
              <a:t>51</a:t>
            </a:r>
            <a:r>
              <a:rPr lang="ko-KR" altLang="en-US" sz="1050" dirty="0">
                <a:solidFill>
                  <a:schemeClr val="accent5"/>
                </a:solidFill>
              </a:rPr>
              <a:t>조제</a:t>
            </a:r>
            <a:r>
              <a:rPr lang="en-US" altLang="ko-KR" sz="1050" dirty="0">
                <a:solidFill>
                  <a:schemeClr val="accent5"/>
                </a:solidFill>
              </a:rPr>
              <a:t>1</a:t>
            </a:r>
            <a:r>
              <a:rPr lang="ko-KR" altLang="en-US" sz="1050" dirty="0">
                <a:solidFill>
                  <a:schemeClr val="accent5"/>
                </a:solidFill>
              </a:rPr>
              <a:t>항</a:t>
            </a:r>
            <a:endParaRPr lang="en-US" altLang="ko-KR" sz="1050" dirty="0">
              <a:solidFill>
                <a:schemeClr val="accent5"/>
              </a:solidFill>
            </a:endParaRPr>
          </a:p>
          <a:p>
            <a:pPr algn="ctr"/>
            <a:r>
              <a:rPr lang="ko-KR" altLang="en-US" sz="1050" dirty="0">
                <a:solidFill>
                  <a:schemeClr val="accent5"/>
                </a:solidFill>
              </a:rPr>
              <a:t>본문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8E64A9-0CEF-3F7B-F057-62C4E93BEEF4}"/>
              </a:ext>
            </a:extLst>
          </p:cNvPr>
          <p:cNvSpPr txBox="1"/>
          <p:nvPr/>
        </p:nvSpPr>
        <p:spPr>
          <a:xfrm>
            <a:off x="11204430" y="1610764"/>
            <a:ext cx="9268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51</a:t>
            </a:r>
            <a:r>
              <a:rPr lang="ko-KR" altLang="en-US" sz="1050" dirty="0">
                <a:solidFill>
                  <a:srgbClr val="FF0000"/>
                </a:solidFill>
              </a:rPr>
              <a:t>조제</a:t>
            </a:r>
            <a:r>
              <a:rPr lang="en-US" altLang="ko-KR" sz="1050" dirty="0">
                <a:solidFill>
                  <a:srgbClr val="FF0000"/>
                </a:solidFill>
              </a:rPr>
              <a:t>1</a:t>
            </a:r>
            <a:r>
              <a:rPr lang="ko-KR" altLang="en-US" sz="1050" dirty="0">
                <a:solidFill>
                  <a:srgbClr val="FF0000"/>
                </a:solidFill>
              </a:rPr>
              <a:t>항</a:t>
            </a:r>
            <a:endParaRPr lang="en-US" altLang="ko-KR" sz="105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1</a:t>
            </a:r>
            <a:r>
              <a:rPr lang="ko-KR" altLang="en-US" sz="1050" dirty="0">
                <a:solidFill>
                  <a:srgbClr val="FF0000"/>
                </a:solidFill>
              </a:rPr>
              <a:t>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30673-EE10-7A1D-309E-9C804CD55FC4}"/>
              </a:ext>
            </a:extLst>
          </p:cNvPr>
          <p:cNvSpPr txBox="1"/>
          <p:nvPr/>
        </p:nvSpPr>
        <p:spPr>
          <a:xfrm>
            <a:off x="11204430" y="2013298"/>
            <a:ext cx="9268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51</a:t>
            </a:r>
            <a:r>
              <a:rPr lang="ko-KR" altLang="en-US" sz="1050" dirty="0">
                <a:solidFill>
                  <a:srgbClr val="FF0000"/>
                </a:solidFill>
              </a:rPr>
              <a:t>조제</a:t>
            </a:r>
            <a:r>
              <a:rPr lang="en-US" altLang="ko-KR" sz="1050" dirty="0">
                <a:solidFill>
                  <a:srgbClr val="FF0000"/>
                </a:solidFill>
              </a:rPr>
              <a:t>1</a:t>
            </a:r>
            <a:r>
              <a:rPr lang="ko-KR" altLang="en-US" sz="1050" dirty="0">
                <a:solidFill>
                  <a:srgbClr val="FF0000"/>
                </a:solidFill>
              </a:rPr>
              <a:t>항</a:t>
            </a:r>
            <a:endParaRPr lang="en-US" altLang="ko-KR" sz="105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1</a:t>
            </a:r>
            <a:r>
              <a:rPr lang="ko-KR" altLang="en-US" sz="1050" dirty="0">
                <a:solidFill>
                  <a:srgbClr val="FF0000"/>
                </a:solidFill>
              </a:rPr>
              <a:t>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EE78C0-59C9-A8E9-C3D8-99DAEF819E4E}"/>
              </a:ext>
            </a:extLst>
          </p:cNvPr>
          <p:cNvSpPr txBox="1"/>
          <p:nvPr/>
        </p:nvSpPr>
        <p:spPr>
          <a:xfrm>
            <a:off x="11204430" y="5896991"/>
            <a:ext cx="9268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accent5"/>
                </a:solidFill>
              </a:rPr>
              <a:t>제</a:t>
            </a:r>
            <a:r>
              <a:rPr lang="en-US" altLang="ko-KR" sz="1050" dirty="0">
                <a:solidFill>
                  <a:schemeClr val="accent5"/>
                </a:solidFill>
              </a:rPr>
              <a:t>51</a:t>
            </a:r>
            <a:r>
              <a:rPr lang="ko-KR" altLang="en-US" sz="1050" dirty="0">
                <a:solidFill>
                  <a:schemeClr val="accent5"/>
                </a:solidFill>
              </a:rPr>
              <a:t>조제</a:t>
            </a:r>
            <a:r>
              <a:rPr lang="en-US" altLang="ko-KR" sz="1050" dirty="0">
                <a:solidFill>
                  <a:schemeClr val="accent5"/>
                </a:solidFill>
              </a:rPr>
              <a:t>1</a:t>
            </a:r>
            <a:r>
              <a:rPr lang="ko-KR" altLang="en-US" sz="1050" dirty="0">
                <a:solidFill>
                  <a:schemeClr val="accent5"/>
                </a:solidFill>
              </a:rPr>
              <a:t>항</a:t>
            </a:r>
            <a:endParaRPr lang="en-US" altLang="ko-KR" sz="1050" dirty="0">
              <a:solidFill>
                <a:schemeClr val="accent5"/>
              </a:solidFill>
            </a:endParaRPr>
          </a:p>
          <a:p>
            <a:pPr algn="ctr"/>
            <a:r>
              <a:rPr lang="ko-KR" altLang="en-US" sz="1050" dirty="0">
                <a:solidFill>
                  <a:schemeClr val="accent5"/>
                </a:solidFill>
              </a:rPr>
              <a:t>본문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D98721-9C2F-0BE8-62E2-8BD30B0E1C86}"/>
              </a:ext>
            </a:extLst>
          </p:cNvPr>
          <p:cNvSpPr txBox="1"/>
          <p:nvPr/>
        </p:nvSpPr>
        <p:spPr>
          <a:xfrm>
            <a:off x="11204430" y="5483665"/>
            <a:ext cx="9268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accent5"/>
                </a:solidFill>
              </a:rPr>
              <a:t>제</a:t>
            </a:r>
            <a:r>
              <a:rPr lang="en-US" altLang="ko-KR" sz="1050" dirty="0">
                <a:solidFill>
                  <a:schemeClr val="accent5"/>
                </a:solidFill>
              </a:rPr>
              <a:t>51</a:t>
            </a:r>
            <a:r>
              <a:rPr lang="ko-KR" altLang="en-US" sz="1050" dirty="0">
                <a:solidFill>
                  <a:schemeClr val="accent5"/>
                </a:solidFill>
              </a:rPr>
              <a:t>조제</a:t>
            </a:r>
            <a:r>
              <a:rPr lang="en-US" altLang="ko-KR" sz="1050" dirty="0">
                <a:solidFill>
                  <a:schemeClr val="accent5"/>
                </a:solidFill>
              </a:rPr>
              <a:t>1</a:t>
            </a:r>
            <a:r>
              <a:rPr lang="ko-KR" altLang="en-US" sz="1050" dirty="0">
                <a:solidFill>
                  <a:schemeClr val="accent5"/>
                </a:solidFill>
              </a:rPr>
              <a:t>항</a:t>
            </a:r>
            <a:endParaRPr lang="en-US" altLang="ko-KR" sz="1050" dirty="0">
              <a:solidFill>
                <a:schemeClr val="accent5"/>
              </a:solidFill>
            </a:endParaRPr>
          </a:p>
          <a:p>
            <a:pPr algn="ctr"/>
            <a:r>
              <a:rPr lang="ko-KR" altLang="en-US" sz="1050" dirty="0">
                <a:solidFill>
                  <a:schemeClr val="accent5"/>
                </a:solidFill>
              </a:rPr>
              <a:t>본문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EB0A216-E1E1-9349-3D23-2286BEFDBBB3}"/>
              </a:ext>
            </a:extLst>
          </p:cNvPr>
          <p:cNvSpPr txBox="1"/>
          <p:nvPr/>
        </p:nvSpPr>
        <p:spPr>
          <a:xfrm>
            <a:off x="11204430" y="4693701"/>
            <a:ext cx="9268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51</a:t>
            </a:r>
            <a:r>
              <a:rPr lang="ko-KR" altLang="en-US" sz="1050" dirty="0">
                <a:solidFill>
                  <a:srgbClr val="FF0000"/>
                </a:solidFill>
              </a:rPr>
              <a:t>조제</a:t>
            </a:r>
            <a:r>
              <a:rPr lang="en-US" altLang="ko-KR" sz="1050" dirty="0">
                <a:solidFill>
                  <a:srgbClr val="FF0000"/>
                </a:solidFill>
              </a:rPr>
              <a:t>1</a:t>
            </a:r>
            <a:r>
              <a:rPr lang="ko-KR" altLang="en-US" sz="1050" dirty="0">
                <a:solidFill>
                  <a:srgbClr val="FF0000"/>
                </a:solidFill>
              </a:rPr>
              <a:t>항</a:t>
            </a:r>
            <a:endParaRPr lang="en-US" altLang="ko-KR" sz="105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2</a:t>
            </a:r>
            <a:r>
              <a:rPr lang="ko-KR" altLang="en-US" sz="1050" dirty="0">
                <a:solidFill>
                  <a:srgbClr val="FF0000"/>
                </a:solidFill>
              </a:rPr>
              <a:t>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2B7818-860E-1EBF-0FB0-D34FAC82BEE6}"/>
              </a:ext>
            </a:extLst>
          </p:cNvPr>
          <p:cNvSpPr txBox="1"/>
          <p:nvPr/>
        </p:nvSpPr>
        <p:spPr>
          <a:xfrm>
            <a:off x="11204430" y="5096235"/>
            <a:ext cx="9268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51</a:t>
            </a:r>
            <a:r>
              <a:rPr lang="ko-KR" altLang="en-US" sz="1050" dirty="0">
                <a:solidFill>
                  <a:srgbClr val="FF0000"/>
                </a:solidFill>
              </a:rPr>
              <a:t>조제</a:t>
            </a:r>
            <a:r>
              <a:rPr lang="en-US" altLang="ko-KR" sz="1050" dirty="0">
                <a:solidFill>
                  <a:srgbClr val="FF0000"/>
                </a:solidFill>
              </a:rPr>
              <a:t>1</a:t>
            </a:r>
            <a:r>
              <a:rPr lang="ko-KR" altLang="en-US" sz="1050" dirty="0">
                <a:solidFill>
                  <a:srgbClr val="FF0000"/>
                </a:solidFill>
              </a:rPr>
              <a:t>항</a:t>
            </a:r>
            <a:endParaRPr lang="en-US" altLang="ko-KR" sz="105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2</a:t>
            </a:r>
            <a:r>
              <a:rPr lang="ko-KR" altLang="en-US" sz="1050" dirty="0">
                <a:solidFill>
                  <a:srgbClr val="FF0000"/>
                </a:solidFill>
              </a:rPr>
              <a:t>호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67092F-23CB-A473-93BD-BA6E16032B66}"/>
              </a:ext>
            </a:extLst>
          </p:cNvPr>
          <p:cNvSpPr txBox="1"/>
          <p:nvPr/>
        </p:nvSpPr>
        <p:spPr>
          <a:xfrm>
            <a:off x="5124750" y="3788927"/>
            <a:ext cx="736099" cy="27699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FFFF00"/>
                </a:solidFill>
              </a:rPr>
              <a:t>정보제공</a:t>
            </a:r>
            <a:endParaRPr lang="en-US" altLang="ko-KR" sz="1200" dirty="0">
              <a:solidFill>
                <a:srgbClr val="FFFF00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1E775A8A-84A2-84C2-526D-4F56C6042DBA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5492800" y="4065926"/>
            <a:ext cx="0" cy="33096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4600DDE-9355-4067-E7E7-6E5A1B3EDB93}"/>
              </a:ext>
            </a:extLst>
          </p:cNvPr>
          <p:cNvSpPr txBox="1"/>
          <p:nvPr/>
        </p:nvSpPr>
        <p:spPr>
          <a:xfrm>
            <a:off x="5193679" y="722831"/>
            <a:ext cx="598241" cy="27699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FFFF00"/>
                </a:solidFill>
              </a:rPr>
              <a:t>의견서</a:t>
            </a:r>
            <a:endParaRPr lang="en-US" altLang="ko-KR" sz="1200" dirty="0">
              <a:solidFill>
                <a:srgbClr val="FFFF00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292D8478-1E5F-2B7A-E5A8-379C55810156}"/>
              </a:ext>
            </a:extLst>
          </p:cNvPr>
          <p:cNvCxnSpPr>
            <a:cxnSpLocks/>
            <a:stCxn id="36" idx="2"/>
          </p:cNvCxnSpPr>
          <p:nvPr/>
        </p:nvCxnSpPr>
        <p:spPr>
          <a:xfrm>
            <a:off x="5492800" y="999830"/>
            <a:ext cx="0" cy="33096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9028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solidFill>
                  <a:srgbClr val="525252"/>
                </a:solidFill>
              </a:rPr>
              <a:t>보정각하의</a:t>
            </a:r>
            <a:r>
              <a:rPr lang="ko-KR" altLang="en-US" dirty="0">
                <a:solidFill>
                  <a:srgbClr val="525252"/>
                </a:solidFill>
              </a:rPr>
              <a:t> 예외</a:t>
            </a:r>
            <a:r>
              <a:rPr lang="en-US" altLang="ko-KR" dirty="0">
                <a:solidFill>
                  <a:srgbClr val="525252"/>
                </a:solidFill>
              </a:rPr>
              <a:t>(</a:t>
            </a:r>
            <a:r>
              <a:rPr lang="ko-KR" altLang="en-US" dirty="0">
                <a:solidFill>
                  <a:srgbClr val="525252"/>
                </a:solidFill>
              </a:rPr>
              <a:t>제</a:t>
            </a:r>
            <a:r>
              <a:rPr lang="en-US" altLang="ko-KR" dirty="0">
                <a:solidFill>
                  <a:srgbClr val="525252"/>
                </a:solidFill>
              </a:rPr>
              <a:t>51</a:t>
            </a:r>
            <a:r>
              <a:rPr lang="ko-KR" altLang="en-US" dirty="0">
                <a:solidFill>
                  <a:srgbClr val="525252"/>
                </a:solidFill>
              </a:rPr>
              <a:t>조제</a:t>
            </a:r>
            <a:r>
              <a:rPr lang="en-US" altLang="ko-KR" dirty="0">
                <a:solidFill>
                  <a:srgbClr val="525252"/>
                </a:solidFill>
              </a:rPr>
              <a:t>1</a:t>
            </a:r>
            <a:r>
              <a:rPr lang="ko-KR" altLang="en-US" dirty="0" err="1">
                <a:solidFill>
                  <a:srgbClr val="525252"/>
                </a:solidFill>
              </a:rPr>
              <a:t>항단서</a:t>
            </a:r>
            <a:r>
              <a:rPr lang="en-US" altLang="ko-KR" dirty="0">
                <a:solidFill>
                  <a:srgbClr val="525252"/>
                </a:solidFill>
              </a:rPr>
              <a:t>)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181</a:t>
            </a:fld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84FFE19-DE7C-4CE4-9DF5-F390A2A46657}"/>
              </a:ext>
            </a:extLst>
          </p:cNvPr>
          <p:cNvCxnSpPr>
            <a:cxnSpLocks/>
          </p:cNvCxnSpPr>
          <p:nvPr/>
        </p:nvCxnSpPr>
        <p:spPr>
          <a:xfrm>
            <a:off x="1799239" y="1347894"/>
            <a:ext cx="9953296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9C478DD-17F6-4CFE-9E4A-E5F07C919C4B}"/>
              </a:ext>
            </a:extLst>
          </p:cNvPr>
          <p:cNvSpPr/>
          <p:nvPr/>
        </p:nvSpPr>
        <p:spPr>
          <a:xfrm>
            <a:off x="4516601" y="1126775"/>
            <a:ext cx="819807" cy="4753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재심사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청구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2C7BDE6-589E-4F1A-8D45-738004CCDFFD}"/>
              </a:ext>
            </a:extLst>
          </p:cNvPr>
          <p:cNvSpPr/>
          <p:nvPr/>
        </p:nvSpPr>
        <p:spPr>
          <a:xfrm>
            <a:off x="1799239" y="1638082"/>
            <a:ext cx="1258208" cy="3888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제</a:t>
            </a:r>
            <a:r>
              <a:rPr lang="en-US" altLang="ko-KR" sz="1050" dirty="0">
                <a:solidFill>
                  <a:schemeClr val="tx1"/>
                </a:solidFill>
              </a:rPr>
              <a:t>47</a:t>
            </a:r>
            <a:r>
              <a:rPr lang="ko-KR" altLang="en-US" sz="1050" dirty="0">
                <a:solidFill>
                  <a:schemeClr val="tx1"/>
                </a:solidFill>
              </a:rPr>
              <a:t>조제</a:t>
            </a:r>
            <a:r>
              <a:rPr lang="en-US" altLang="ko-KR" sz="1050" dirty="0">
                <a:solidFill>
                  <a:schemeClr val="tx1"/>
                </a:solidFill>
              </a:rPr>
              <a:t>1</a:t>
            </a:r>
            <a:r>
              <a:rPr lang="ko-KR" altLang="en-US" sz="1050" dirty="0" err="1">
                <a:solidFill>
                  <a:schemeClr val="tx1"/>
                </a:solidFill>
              </a:rPr>
              <a:t>항제</a:t>
            </a:r>
            <a:r>
              <a:rPr lang="en-US" altLang="ko-KR" sz="1050" dirty="0">
                <a:solidFill>
                  <a:schemeClr val="tx1"/>
                </a:solidFill>
              </a:rPr>
              <a:t>2</a:t>
            </a:r>
            <a:r>
              <a:rPr lang="ko-KR" altLang="en-US" sz="1050" dirty="0">
                <a:solidFill>
                  <a:schemeClr val="tx1"/>
                </a:solidFill>
              </a:rPr>
              <a:t>호부적법 보정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98774C9-355F-4905-9CD6-75FAF56D5858}"/>
              </a:ext>
            </a:extLst>
          </p:cNvPr>
          <p:cNvSpPr/>
          <p:nvPr/>
        </p:nvSpPr>
        <p:spPr>
          <a:xfrm>
            <a:off x="4302217" y="2026959"/>
            <a:ext cx="1258208" cy="3888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제</a:t>
            </a:r>
            <a:r>
              <a:rPr lang="en-US" altLang="ko-KR" sz="1050" dirty="0">
                <a:solidFill>
                  <a:schemeClr val="tx1"/>
                </a:solidFill>
              </a:rPr>
              <a:t>47</a:t>
            </a:r>
            <a:r>
              <a:rPr lang="ko-KR" altLang="en-US" sz="1050" dirty="0">
                <a:solidFill>
                  <a:schemeClr val="tx1"/>
                </a:solidFill>
              </a:rPr>
              <a:t>조제</a:t>
            </a:r>
            <a:r>
              <a:rPr lang="en-US" altLang="ko-KR" sz="1050" dirty="0">
                <a:solidFill>
                  <a:schemeClr val="tx1"/>
                </a:solidFill>
              </a:rPr>
              <a:t>1</a:t>
            </a:r>
            <a:r>
              <a:rPr lang="ko-KR" altLang="en-US" sz="1050" dirty="0" err="1">
                <a:solidFill>
                  <a:schemeClr val="tx1"/>
                </a:solidFill>
              </a:rPr>
              <a:t>항제</a:t>
            </a:r>
            <a:r>
              <a:rPr lang="en-US" altLang="ko-KR" sz="1050" dirty="0">
                <a:solidFill>
                  <a:schemeClr val="tx1"/>
                </a:solidFill>
              </a:rPr>
              <a:t>3</a:t>
            </a:r>
            <a:r>
              <a:rPr lang="ko-KR" altLang="en-US" sz="1050" dirty="0">
                <a:solidFill>
                  <a:schemeClr val="tx1"/>
                </a:solidFill>
              </a:rPr>
              <a:t>호부적법 보정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6B570B7-AD25-431D-8B15-AF708C253445}"/>
              </a:ext>
            </a:extLst>
          </p:cNvPr>
          <p:cNvSpPr/>
          <p:nvPr/>
        </p:nvSpPr>
        <p:spPr>
          <a:xfrm>
            <a:off x="7075432" y="2414106"/>
            <a:ext cx="1258208" cy="388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제</a:t>
            </a:r>
            <a:r>
              <a:rPr lang="en-US" altLang="ko-KR" sz="1050" dirty="0">
                <a:solidFill>
                  <a:schemeClr val="tx1"/>
                </a:solidFill>
              </a:rPr>
              <a:t>47</a:t>
            </a:r>
            <a:r>
              <a:rPr lang="ko-KR" altLang="en-US" sz="1050" dirty="0">
                <a:solidFill>
                  <a:schemeClr val="tx1"/>
                </a:solidFill>
              </a:rPr>
              <a:t>조제</a:t>
            </a:r>
            <a:r>
              <a:rPr lang="en-US" altLang="ko-KR" sz="1050" dirty="0">
                <a:solidFill>
                  <a:schemeClr val="tx1"/>
                </a:solidFill>
              </a:rPr>
              <a:t>1</a:t>
            </a:r>
            <a:r>
              <a:rPr lang="ko-KR" altLang="en-US" sz="1050" dirty="0" err="1">
                <a:solidFill>
                  <a:schemeClr val="tx1"/>
                </a:solidFill>
              </a:rPr>
              <a:t>항제</a:t>
            </a:r>
            <a:r>
              <a:rPr lang="en-US" altLang="ko-KR" sz="1050" dirty="0">
                <a:solidFill>
                  <a:schemeClr val="tx1"/>
                </a:solidFill>
              </a:rPr>
              <a:t>2</a:t>
            </a:r>
            <a:r>
              <a:rPr lang="ko-KR" altLang="en-US" sz="1050" dirty="0">
                <a:solidFill>
                  <a:schemeClr val="tx1"/>
                </a:solidFill>
              </a:rPr>
              <a:t>호부적법 보정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4A6C33C-C62D-43F0-912A-006C76CB5769}"/>
              </a:ext>
            </a:extLst>
          </p:cNvPr>
          <p:cNvSpPr/>
          <p:nvPr/>
        </p:nvSpPr>
        <p:spPr>
          <a:xfrm>
            <a:off x="10207514" y="1638082"/>
            <a:ext cx="1258208" cy="3888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보정인정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5F60534-2E5B-4660-BF1C-B982B6A3EAF5}"/>
              </a:ext>
            </a:extLst>
          </p:cNvPr>
          <p:cNvSpPr/>
          <p:nvPr/>
        </p:nvSpPr>
        <p:spPr>
          <a:xfrm>
            <a:off x="10543845" y="1050775"/>
            <a:ext cx="567559" cy="567559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600" dirty="0"/>
              <a:t>발견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32FD870-30C1-43FF-A449-DA3D2E823108}"/>
              </a:ext>
            </a:extLst>
          </p:cNvPr>
          <p:cNvSpPr/>
          <p:nvPr/>
        </p:nvSpPr>
        <p:spPr>
          <a:xfrm>
            <a:off x="10207514" y="2026958"/>
            <a:ext cx="1258208" cy="3888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>
                <a:solidFill>
                  <a:schemeClr val="tx1"/>
                </a:solidFill>
              </a:rPr>
              <a:t>보정각하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A3E072E-CBDB-4B41-BFA0-299C41697F60}"/>
              </a:ext>
            </a:extLst>
          </p:cNvPr>
          <p:cNvSpPr/>
          <p:nvPr/>
        </p:nvSpPr>
        <p:spPr>
          <a:xfrm>
            <a:off x="10207514" y="2415835"/>
            <a:ext cx="1258208" cy="388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>
                <a:solidFill>
                  <a:schemeClr val="tx1"/>
                </a:solidFill>
              </a:rPr>
              <a:t>보정각하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D0802BE4-11B9-4C07-B02C-208E2058854E}"/>
              </a:ext>
            </a:extLst>
          </p:cNvPr>
          <p:cNvCxnSpPr>
            <a:stCxn id="13" idx="3"/>
            <a:endCxn id="19" idx="1"/>
          </p:cNvCxnSpPr>
          <p:nvPr/>
        </p:nvCxnSpPr>
        <p:spPr>
          <a:xfrm>
            <a:off x="3057447" y="1832521"/>
            <a:ext cx="715006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C3F14887-8472-4B27-B9C4-C8D0F5F533B4}"/>
              </a:ext>
            </a:extLst>
          </p:cNvPr>
          <p:cNvCxnSpPr>
            <a:stCxn id="16" idx="3"/>
            <a:endCxn id="21" idx="1"/>
          </p:cNvCxnSpPr>
          <p:nvPr/>
        </p:nvCxnSpPr>
        <p:spPr>
          <a:xfrm flipV="1">
            <a:off x="5560425" y="2221397"/>
            <a:ext cx="4647089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DBEDF507-2222-4678-99D9-907CB65404F7}"/>
              </a:ext>
            </a:extLst>
          </p:cNvPr>
          <p:cNvCxnSpPr>
            <a:stCxn id="17" idx="3"/>
            <a:endCxn id="22" idx="1"/>
          </p:cNvCxnSpPr>
          <p:nvPr/>
        </p:nvCxnSpPr>
        <p:spPr>
          <a:xfrm>
            <a:off x="8333640" y="2608545"/>
            <a:ext cx="1873874" cy="172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ADDD8A7B-FDCC-4700-82E4-BCFD2B01459C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2428343" y="1329935"/>
            <a:ext cx="0" cy="308147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34BD0F32-B6FC-451B-8DF4-316EFD20E54E}"/>
              </a:ext>
            </a:extLst>
          </p:cNvPr>
          <p:cNvCxnSpPr>
            <a:cxnSpLocks/>
            <a:stCxn id="16" idx="0"/>
            <a:endCxn id="11" idx="2"/>
          </p:cNvCxnSpPr>
          <p:nvPr/>
        </p:nvCxnSpPr>
        <p:spPr>
          <a:xfrm flipH="1" flipV="1">
            <a:off x="4926505" y="1602163"/>
            <a:ext cx="4816" cy="424796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DF521989-EFFE-4A1E-B117-208D1C6C724C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7704536" y="1329935"/>
            <a:ext cx="0" cy="1084171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E6B1C9D8-D1C1-4235-BD2C-D3F48DF70EC5}"/>
              </a:ext>
            </a:extLst>
          </p:cNvPr>
          <p:cNvSpPr/>
          <p:nvPr/>
        </p:nvSpPr>
        <p:spPr>
          <a:xfrm>
            <a:off x="173929" y="1441100"/>
            <a:ext cx="1223001" cy="1223001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  <a:endParaRPr lang="en-US" altLang="ko-KR" dirty="0"/>
          </a:p>
          <a:p>
            <a:pPr algn="ctr"/>
            <a:r>
              <a:rPr lang="ko-KR" altLang="en-US" dirty="0"/>
              <a:t>제</a:t>
            </a:r>
            <a:r>
              <a:rPr lang="en-US" altLang="ko-KR" dirty="0"/>
              <a:t>1</a:t>
            </a:r>
            <a:r>
              <a:rPr lang="ko-KR" altLang="en-US" dirty="0"/>
              <a:t>항</a:t>
            </a:r>
            <a:endParaRPr lang="en-US" altLang="ko-KR" dirty="0"/>
          </a:p>
          <a:p>
            <a:pPr algn="ctr"/>
            <a:r>
              <a:rPr lang="ko-KR" altLang="en-US" dirty="0"/>
              <a:t>제</a:t>
            </a:r>
            <a:r>
              <a:rPr lang="en-US" altLang="ko-KR" dirty="0"/>
              <a:t>3</a:t>
            </a:r>
            <a:r>
              <a:rPr lang="ko-KR" altLang="en-US" dirty="0"/>
              <a:t>호</a:t>
            </a: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745638EC-55D1-41FA-B0B0-0C8F705B3899}"/>
              </a:ext>
            </a:extLst>
          </p:cNvPr>
          <p:cNvCxnSpPr/>
          <p:nvPr/>
        </p:nvCxnSpPr>
        <p:spPr>
          <a:xfrm>
            <a:off x="0" y="3609782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6DC2680A-DA20-46A3-98A4-7C6D14A33DE0}"/>
              </a:ext>
            </a:extLst>
          </p:cNvPr>
          <p:cNvCxnSpPr>
            <a:cxnSpLocks/>
          </p:cNvCxnSpPr>
          <p:nvPr/>
        </p:nvCxnSpPr>
        <p:spPr>
          <a:xfrm>
            <a:off x="1799239" y="4414853"/>
            <a:ext cx="9953296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FE22BE7-5B4E-47D2-898C-C9CBDB78F8DD}"/>
              </a:ext>
            </a:extLst>
          </p:cNvPr>
          <p:cNvSpPr/>
          <p:nvPr/>
        </p:nvSpPr>
        <p:spPr>
          <a:xfrm>
            <a:off x="5677556" y="4172714"/>
            <a:ext cx="1135118" cy="4753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심판청구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4E3B0FB-3474-46F4-8ED3-F31BC70CCB3C}"/>
              </a:ext>
            </a:extLst>
          </p:cNvPr>
          <p:cNvSpPr/>
          <p:nvPr/>
        </p:nvSpPr>
        <p:spPr>
          <a:xfrm>
            <a:off x="1799239" y="4705041"/>
            <a:ext cx="1258208" cy="3888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제</a:t>
            </a:r>
            <a:r>
              <a:rPr lang="en-US" altLang="ko-KR" sz="1050" dirty="0">
                <a:solidFill>
                  <a:schemeClr val="tx1"/>
                </a:solidFill>
              </a:rPr>
              <a:t>47</a:t>
            </a:r>
            <a:r>
              <a:rPr lang="ko-KR" altLang="en-US" sz="1050" dirty="0">
                <a:solidFill>
                  <a:schemeClr val="tx1"/>
                </a:solidFill>
              </a:rPr>
              <a:t>조제</a:t>
            </a:r>
            <a:r>
              <a:rPr lang="en-US" altLang="ko-KR" sz="1050" dirty="0">
                <a:solidFill>
                  <a:schemeClr val="tx1"/>
                </a:solidFill>
              </a:rPr>
              <a:t>1</a:t>
            </a:r>
            <a:r>
              <a:rPr lang="ko-KR" altLang="en-US" sz="1050" dirty="0" err="1">
                <a:solidFill>
                  <a:schemeClr val="tx1"/>
                </a:solidFill>
              </a:rPr>
              <a:t>항제</a:t>
            </a:r>
            <a:r>
              <a:rPr lang="en-US" altLang="ko-KR" sz="1050" dirty="0">
                <a:solidFill>
                  <a:schemeClr val="tx1"/>
                </a:solidFill>
              </a:rPr>
              <a:t>2</a:t>
            </a:r>
            <a:r>
              <a:rPr lang="ko-KR" altLang="en-US" sz="1050" dirty="0">
                <a:solidFill>
                  <a:schemeClr val="tx1"/>
                </a:solidFill>
              </a:rPr>
              <a:t>호부적법 보정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59903E6-38E4-4EEC-8575-CE687DD34A60}"/>
              </a:ext>
            </a:extLst>
          </p:cNvPr>
          <p:cNvSpPr/>
          <p:nvPr/>
        </p:nvSpPr>
        <p:spPr>
          <a:xfrm>
            <a:off x="3204325" y="5093918"/>
            <a:ext cx="1258208" cy="3888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제</a:t>
            </a:r>
            <a:r>
              <a:rPr lang="en-US" altLang="ko-KR" sz="1050" dirty="0">
                <a:solidFill>
                  <a:schemeClr val="tx1"/>
                </a:solidFill>
              </a:rPr>
              <a:t>47</a:t>
            </a:r>
            <a:r>
              <a:rPr lang="ko-KR" altLang="en-US" sz="1050" dirty="0">
                <a:solidFill>
                  <a:schemeClr val="tx1"/>
                </a:solidFill>
              </a:rPr>
              <a:t>조제</a:t>
            </a:r>
            <a:r>
              <a:rPr lang="en-US" altLang="ko-KR" sz="1050" dirty="0">
                <a:solidFill>
                  <a:schemeClr val="tx1"/>
                </a:solidFill>
              </a:rPr>
              <a:t>1</a:t>
            </a:r>
            <a:r>
              <a:rPr lang="ko-KR" altLang="en-US" sz="1050" dirty="0" err="1">
                <a:solidFill>
                  <a:schemeClr val="tx1"/>
                </a:solidFill>
              </a:rPr>
              <a:t>항제</a:t>
            </a:r>
            <a:r>
              <a:rPr lang="en-US" altLang="ko-KR" sz="1050" dirty="0">
                <a:solidFill>
                  <a:schemeClr val="tx1"/>
                </a:solidFill>
              </a:rPr>
              <a:t>3</a:t>
            </a:r>
            <a:r>
              <a:rPr lang="ko-KR" altLang="en-US" sz="1050" dirty="0">
                <a:solidFill>
                  <a:schemeClr val="tx1"/>
                </a:solidFill>
              </a:rPr>
              <a:t>호부적법 보정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072C6C8-1505-483E-97F0-FA1A46E1DBDA}"/>
              </a:ext>
            </a:extLst>
          </p:cNvPr>
          <p:cNvSpPr/>
          <p:nvPr/>
        </p:nvSpPr>
        <p:spPr>
          <a:xfrm>
            <a:off x="7075432" y="5481065"/>
            <a:ext cx="1258208" cy="388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제</a:t>
            </a:r>
            <a:r>
              <a:rPr lang="en-US" altLang="ko-KR" sz="1050" dirty="0">
                <a:solidFill>
                  <a:schemeClr val="tx1"/>
                </a:solidFill>
              </a:rPr>
              <a:t>47</a:t>
            </a:r>
            <a:r>
              <a:rPr lang="ko-KR" altLang="en-US" sz="1050" dirty="0">
                <a:solidFill>
                  <a:schemeClr val="tx1"/>
                </a:solidFill>
              </a:rPr>
              <a:t>조제</a:t>
            </a:r>
            <a:r>
              <a:rPr lang="en-US" altLang="ko-KR" sz="1050" dirty="0">
                <a:solidFill>
                  <a:schemeClr val="tx1"/>
                </a:solidFill>
              </a:rPr>
              <a:t>1</a:t>
            </a:r>
            <a:r>
              <a:rPr lang="ko-KR" altLang="en-US" sz="1050" dirty="0" err="1">
                <a:solidFill>
                  <a:schemeClr val="tx1"/>
                </a:solidFill>
              </a:rPr>
              <a:t>항제</a:t>
            </a:r>
            <a:r>
              <a:rPr lang="en-US" altLang="ko-KR" sz="1050" dirty="0">
                <a:solidFill>
                  <a:schemeClr val="tx1"/>
                </a:solidFill>
              </a:rPr>
              <a:t>2</a:t>
            </a:r>
            <a:r>
              <a:rPr lang="ko-KR" altLang="en-US" sz="1050" dirty="0">
                <a:solidFill>
                  <a:schemeClr val="tx1"/>
                </a:solidFill>
              </a:rPr>
              <a:t>호부적법 보정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3BA05F9-9F94-4A9D-B647-9D2ACB36FDEB}"/>
              </a:ext>
            </a:extLst>
          </p:cNvPr>
          <p:cNvSpPr/>
          <p:nvPr/>
        </p:nvSpPr>
        <p:spPr>
          <a:xfrm>
            <a:off x="10207514" y="4705041"/>
            <a:ext cx="1258208" cy="3888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보정인정</a:t>
            </a: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90B4DAD7-BECE-49C0-9B76-DB88746F2425}"/>
              </a:ext>
            </a:extLst>
          </p:cNvPr>
          <p:cNvSpPr/>
          <p:nvPr/>
        </p:nvSpPr>
        <p:spPr>
          <a:xfrm>
            <a:off x="10543845" y="4117734"/>
            <a:ext cx="567559" cy="567559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600" dirty="0"/>
              <a:t>발견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77DBDC9-A57A-4ADB-A16A-53669227EABF}"/>
              </a:ext>
            </a:extLst>
          </p:cNvPr>
          <p:cNvSpPr/>
          <p:nvPr/>
        </p:nvSpPr>
        <p:spPr>
          <a:xfrm>
            <a:off x="10207514" y="5093917"/>
            <a:ext cx="1258208" cy="3888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보정인정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C9FC857D-261D-4A8A-BF91-48C0E07B7EAD}"/>
              </a:ext>
            </a:extLst>
          </p:cNvPr>
          <p:cNvSpPr/>
          <p:nvPr/>
        </p:nvSpPr>
        <p:spPr>
          <a:xfrm>
            <a:off x="10207514" y="5482794"/>
            <a:ext cx="1258208" cy="388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>
                <a:solidFill>
                  <a:schemeClr val="tx1"/>
                </a:solidFill>
              </a:rPr>
              <a:t>보정각하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D2C63300-36A4-4C76-85DA-CFBAF8F3F222}"/>
              </a:ext>
            </a:extLst>
          </p:cNvPr>
          <p:cNvCxnSpPr>
            <a:stCxn id="52" idx="3"/>
            <a:endCxn id="56" idx="1"/>
          </p:cNvCxnSpPr>
          <p:nvPr/>
        </p:nvCxnSpPr>
        <p:spPr>
          <a:xfrm>
            <a:off x="3057447" y="4899480"/>
            <a:ext cx="715006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6145C1D4-1331-4879-AD9B-7B3EB84A94DC}"/>
              </a:ext>
            </a:extLst>
          </p:cNvPr>
          <p:cNvCxnSpPr>
            <a:stCxn id="53" idx="3"/>
            <a:endCxn id="58" idx="1"/>
          </p:cNvCxnSpPr>
          <p:nvPr/>
        </p:nvCxnSpPr>
        <p:spPr>
          <a:xfrm flipV="1">
            <a:off x="4462533" y="5288356"/>
            <a:ext cx="5744981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03E7E9C0-AF39-4B9C-A615-E77FAE2C1957}"/>
              </a:ext>
            </a:extLst>
          </p:cNvPr>
          <p:cNvCxnSpPr>
            <a:stCxn id="54" idx="3"/>
            <a:endCxn id="59" idx="1"/>
          </p:cNvCxnSpPr>
          <p:nvPr/>
        </p:nvCxnSpPr>
        <p:spPr>
          <a:xfrm>
            <a:off x="8333640" y="5675504"/>
            <a:ext cx="1873874" cy="172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F8B29AE3-16B8-4C7B-AC98-CEC249D727DE}"/>
              </a:ext>
            </a:extLst>
          </p:cNvPr>
          <p:cNvCxnSpPr>
            <a:cxnSpLocks/>
            <a:stCxn id="52" idx="0"/>
          </p:cNvCxnSpPr>
          <p:nvPr/>
        </p:nvCxnSpPr>
        <p:spPr>
          <a:xfrm flipV="1">
            <a:off x="2428343" y="4396894"/>
            <a:ext cx="0" cy="308147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12C8C896-E665-4081-8DE1-60641280AB03}"/>
              </a:ext>
            </a:extLst>
          </p:cNvPr>
          <p:cNvCxnSpPr>
            <a:cxnSpLocks/>
            <a:stCxn id="53" idx="0"/>
          </p:cNvCxnSpPr>
          <p:nvPr/>
        </p:nvCxnSpPr>
        <p:spPr>
          <a:xfrm flipV="1">
            <a:off x="3833429" y="4432813"/>
            <a:ext cx="0" cy="661105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AC761B94-4E57-4151-97E8-4BEDFF6EEC6E}"/>
              </a:ext>
            </a:extLst>
          </p:cNvPr>
          <p:cNvCxnSpPr>
            <a:cxnSpLocks/>
            <a:stCxn id="54" idx="0"/>
          </p:cNvCxnSpPr>
          <p:nvPr/>
        </p:nvCxnSpPr>
        <p:spPr>
          <a:xfrm flipV="1">
            <a:off x="7704536" y="4396894"/>
            <a:ext cx="0" cy="1084171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ED39616A-D03B-4EB9-AD4B-F3503714A4AF}"/>
              </a:ext>
            </a:extLst>
          </p:cNvPr>
          <p:cNvSpPr/>
          <p:nvPr/>
        </p:nvSpPr>
        <p:spPr>
          <a:xfrm>
            <a:off x="173929" y="4508059"/>
            <a:ext cx="1223001" cy="1223001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</a:t>
            </a:r>
            <a:r>
              <a:rPr lang="en-US" altLang="ko-KR" dirty="0"/>
              <a:t>170</a:t>
            </a:r>
            <a:r>
              <a:rPr lang="ko-KR" altLang="en-US" dirty="0"/>
              <a:t>조</a:t>
            </a:r>
            <a:endParaRPr lang="en-US" altLang="ko-KR" dirty="0"/>
          </a:p>
          <a:p>
            <a:pPr algn="ctr"/>
            <a:r>
              <a:rPr lang="ko-KR" altLang="en-US" dirty="0"/>
              <a:t>제</a:t>
            </a:r>
            <a:r>
              <a:rPr lang="en-US" altLang="ko-KR" dirty="0"/>
              <a:t>1</a:t>
            </a:r>
            <a:r>
              <a:rPr lang="ko-KR" altLang="en-US" dirty="0"/>
              <a:t>항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717B5C-F759-9924-14C0-6BA8F40D8D85}"/>
              </a:ext>
            </a:extLst>
          </p:cNvPr>
          <p:cNvSpPr txBox="1"/>
          <p:nvPr/>
        </p:nvSpPr>
        <p:spPr>
          <a:xfrm>
            <a:off x="11204430" y="2423328"/>
            <a:ext cx="9268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accent5"/>
                </a:solidFill>
              </a:rPr>
              <a:t>제</a:t>
            </a:r>
            <a:r>
              <a:rPr lang="en-US" altLang="ko-KR" sz="1050" dirty="0">
                <a:solidFill>
                  <a:schemeClr val="accent5"/>
                </a:solidFill>
              </a:rPr>
              <a:t>51</a:t>
            </a:r>
            <a:r>
              <a:rPr lang="ko-KR" altLang="en-US" sz="1050" dirty="0">
                <a:solidFill>
                  <a:schemeClr val="accent5"/>
                </a:solidFill>
              </a:rPr>
              <a:t>조제</a:t>
            </a:r>
            <a:r>
              <a:rPr lang="en-US" altLang="ko-KR" sz="1050" dirty="0">
                <a:solidFill>
                  <a:schemeClr val="accent5"/>
                </a:solidFill>
              </a:rPr>
              <a:t>1</a:t>
            </a:r>
            <a:r>
              <a:rPr lang="ko-KR" altLang="en-US" sz="1050" dirty="0">
                <a:solidFill>
                  <a:schemeClr val="accent5"/>
                </a:solidFill>
              </a:rPr>
              <a:t>항</a:t>
            </a:r>
            <a:endParaRPr lang="en-US" altLang="ko-KR" sz="1050" dirty="0">
              <a:solidFill>
                <a:schemeClr val="accent5"/>
              </a:solidFill>
            </a:endParaRPr>
          </a:p>
          <a:p>
            <a:pPr algn="ctr"/>
            <a:r>
              <a:rPr lang="ko-KR" altLang="en-US" sz="1050" dirty="0">
                <a:solidFill>
                  <a:schemeClr val="accent5"/>
                </a:solidFill>
              </a:rPr>
              <a:t>본문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81745C-4287-FFE9-A703-0D7DE964F656}"/>
              </a:ext>
            </a:extLst>
          </p:cNvPr>
          <p:cNvSpPr txBox="1"/>
          <p:nvPr/>
        </p:nvSpPr>
        <p:spPr>
          <a:xfrm>
            <a:off x="11204430" y="2019121"/>
            <a:ext cx="9268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accent5"/>
                </a:solidFill>
              </a:rPr>
              <a:t>제</a:t>
            </a:r>
            <a:r>
              <a:rPr lang="en-US" altLang="ko-KR" sz="1050" dirty="0">
                <a:solidFill>
                  <a:schemeClr val="accent5"/>
                </a:solidFill>
              </a:rPr>
              <a:t>51</a:t>
            </a:r>
            <a:r>
              <a:rPr lang="ko-KR" altLang="en-US" sz="1050" dirty="0">
                <a:solidFill>
                  <a:schemeClr val="accent5"/>
                </a:solidFill>
              </a:rPr>
              <a:t>조제</a:t>
            </a:r>
            <a:r>
              <a:rPr lang="en-US" altLang="ko-KR" sz="1050" dirty="0">
                <a:solidFill>
                  <a:schemeClr val="accent5"/>
                </a:solidFill>
              </a:rPr>
              <a:t>1</a:t>
            </a:r>
            <a:r>
              <a:rPr lang="ko-KR" altLang="en-US" sz="1050" dirty="0">
                <a:solidFill>
                  <a:schemeClr val="accent5"/>
                </a:solidFill>
              </a:rPr>
              <a:t>항</a:t>
            </a:r>
            <a:endParaRPr lang="en-US" altLang="ko-KR" sz="1050" dirty="0">
              <a:solidFill>
                <a:schemeClr val="accent5"/>
              </a:solidFill>
            </a:endParaRPr>
          </a:p>
          <a:p>
            <a:pPr algn="ctr"/>
            <a:r>
              <a:rPr lang="ko-KR" altLang="en-US" sz="1050" dirty="0">
                <a:solidFill>
                  <a:schemeClr val="accent5"/>
                </a:solidFill>
              </a:rPr>
              <a:t>본문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8FA039-4AEF-F781-BA80-603C22C34AC3}"/>
              </a:ext>
            </a:extLst>
          </p:cNvPr>
          <p:cNvSpPr txBox="1"/>
          <p:nvPr/>
        </p:nvSpPr>
        <p:spPr>
          <a:xfrm>
            <a:off x="11204430" y="1609240"/>
            <a:ext cx="9268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51</a:t>
            </a:r>
            <a:r>
              <a:rPr lang="ko-KR" altLang="en-US" sz="1050" dirty="0">
                <a:solidFill>
                  <a:srgbClr val="FF0000"/>
                </a:solidFill>
              </a:rPr>
              <a:t>조제</a:t>
            </a:r>
            <a:r>
              <a:rPr lang="en-US" altLang="ko-KR" sz="1050" dirty="0">
                <a:solidFill>
                  <a:srgbClr val="FF0000"/>
                </a:solidFill>
              </a:rPr>
              <a:t>1</a:t>
            </a:r>
            <a:r>
              <a:rPr lang="ko-KR" altLang="en-US" sz="1050" dirty="0">
                <a:solidFill>
                  <a:srgbClr val="FF0000"/>
                </a:solidFill>
              </a:rPr>
              <a:t>항</a:t>
            </a:r>
            <a:endParaRPr lang="en-US" altLang="ko-KR" sz="105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3</a:t>
            </a:r>
            <a:r>
              <a:rPr lang="ko-KR" altLang="en-US" sz="1050" dirty="0">
                <a:solidFill>
                  <a:srgbClr val="FF0000"/>
                </a:solidFill>
              </a:rPr>
              <a:t>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E21725-8A45-B650-FBB0-C7C86960264B}"/>
              </a:ext>
            </a:extLst>
          </p:cNvPr>
          <p:cNvSpPr txBox="1"/>
          <p:nvPr/>
        </p:nvSpPr>
        <p:spPr>
          <a:xfrm>
            <a:off x="11340685" y="5477487"/>
            <a:ext cx="65434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170</a:t>
            </a:r>
            <a:r>
              <a:rPr lang="ko-KR" altLang="en-US" sz="1050" dirty="0">
                <a:solidFill>
                  <a:srgbClr val="FF0000"/>
                </a:solidFill>
              </a:rPr>
              <a:t>조</a:t>
            </a:r>
            <a:endParaRPr lang="en-US" altLang="ko-KR" sz="105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1</a:t>
            </a:r>
            <a:r>
              <a:rPr lang="ko-KR" altLang="en-US" sz="1050" dirty="0">
                <a:solidFill>
                  <a:srgbClr val="FF0000"/>
                </a:solidFill>
              </a:rPr>
              <a:t>항</a:t>
            </a:r>
          </a:p>
        </p:txBody>
      </p:sp>
    </p:spTree>
    <p:extLst>
      <p:ext uri="{BB962C8B-B14F-4D97-AF65-F5344CB8AC3E}">
        <p14:creationId xmlns:p14="http://schemas.microsoft.com/office/powerpoint/2010/main" val="1801400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직선 화살표 연결선 124"/>
          <p:cNvCxnSpPr/>
          <p:nvPr/>
        </p:nvCxnSpPr>
        <p:spPr>
          <a:xfrm>
            <a:off x="1147397" y="2982913"/>
            <a:ext cx="9658350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보정각하의</a:t>
            </a:r>
            <a:r>
              <a:rPr lang="ko-KR" altLang="en-US" dirty="0"/>
              <a:t> 예외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항제</a:t>
            </a:r>
            <a:r>
              <a:rPr lang="en-US" altLang="ko-KR" dirty="0"/>
              <a:t>3</a:t>
            </a:r>
            <a:r>
              <a:rPr lang="ko-KR" altLang="en-US" dirty="0"/>
              <a:t>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2" name="Rectangle 5"/>
          <p:cNvSpPr>
            <a:spLocks noChangeArrowheads="1"/>
          </p:cNvSpPr>
          <p:nvPr/>
        </p:nvSpPr>
        <p:spPr bwMode="auto">
          <a:xfrm>
            <a:off x="347687" y="1094336"/>
            <a:ext cx="6119523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재심사의 청구 전에 한 </a:t>
            </a:r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부적법한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 보정이 재심사 청구 발견된 경우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916465" y="2730500"/>
            <a:ext cx="767463" cy="5048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</a:p>
        </p:txBody>
      </p:sp>
      <p:sp>
        <p:nvSpPr>
          <p:cNvPr id="93" name="직사각형 92"/>
          <p:cNvSpPr/>
          <p:nvPr/>
        </p:nvSpPr>
        <p:spPr>
          <a:xfrm>
            <a:off x="2259671" y="2402277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4" name="직선 화살표 연결선 93"/>
          <p:cNvCxnSpPr>
            <a:stCxn id="93" idx="2"/>
          </p:cNvCxnSpPr>
          <p:nvPr/>
        </p:nvCxnSpPr>
        <p:spPr>
          <a:xfrm>
            <a:off x="2582691" y="2654690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/>
          <p:cNvSpPr/>
          <p:nvPr/>
        </p:nvSpPr>
        <p:spPr>
          <a:xfrm>
            <a:off x="2728678" y="2853140"/>
            <a:ext cx="693430" cy="2524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최초</a:t>
            </a:r>
          </a:p>
        </p:txBody>
      </p:sp>
      <p:sp>
        <p:nvSpPr>
          <p:cNvPr id="96" name="직사각형 95"/>
          <p:cNvSpPr/>
          <p:nvPr/>
        </p:nvSpPr>
        <p:spPr>
          <a:xfrm>
            <a:off x="3337882" y="3402012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7" name="직선 화살표 연결선 96"/>
          <p:cNvCxnSpPr>
            <a:stCxn id="96" idx="0"/>
          </p:cNvCxnSpPr>
          <p:nvPr/>
        </p:nvCxnSpPr>
        <p:spPr>
          <a:xfrm flipH="1" flipV="1">
            <a:off x="3709616" y="2979347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3823787" y="2402277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9" name="직선 화살표 연결선 98"/>
          <p:cNvCxnSpPr>
            <a:stCxn id="98" idx="2"/>
          </p:cNvCxnSpPr>
          <p:nvPr/>
        </p:nvCxnSpPr>
        <p:spPr>
          <a:xfrm>
            <a:off x="4146807" y="2654690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/>
          <p:cNvSpPr/>
          <p:nvPr/>
        </p:nvSpPr>
        <p:spPr>
          <a:xfrm>
            <a:off x="4308211" y="2853140"/>
            <a:ext cx="783810" cy="2524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최후</a:t>
            </a:r>
          </a:p>
        </p:txBody>
      </p:sp>
      <p:sp>
        <p:nvSpPr>
          <p:cNvPr id="103" name="직사각형 102"/>
          <p:cNvSpPr/>
          <p:nvPr/>
        </p:nvSpPr>
        <p:spPr>
          <a:xfrm>
            <a:off x="5151438" y="3402012"/>
            <a:ext cx="746998" cy="2524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06" name="직선 화살표 연결선 105"/>
          <p:cNvCxnSpPr>
            <a:stCxn id="103" idx="0"/>
          </p:cNvCxnSpPr>
          <p:nvPr/>
        </p:nvCxnSpPr>
        <p:spPr>
          <a:xfrm flipH="1" flipV="1">
            <a:off x="5523172" y="2979347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/>
          <p:cNvSpPr/>
          <p:nvPr/>
        </p:nvSpPr>
        <p:spPr>
          <a:xfrm>
            <a:off x="1713507" y="3402012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09" name="직선 화살표 연결선 108"/>
          <p:cNvCxnSpPr>
            <a:stCxn id="108" idx="0"/>
          </p:cNvCxnSpPr>
          <p:nvPr/>
        </p:nvCxnSpPr>
        <p:spPr>
          <a:xfrm flipH="1" flipV="1">
            <a:off x="2085241" y="2979347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직사각형 112"/>
          <p:cNvSpPr/>
          <p:nvPr/>
        </p:nvSpPr>
        <p:spPr>
          <a:xfrm>
            <a:off x="1693041" y="4065728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42③Ⅰ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3337882" y="4068499"/>
            <a:ext cx="746998" cy="2524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해소</a:t>
            </a:r>
          </a:p>
        </p:txBody>
      </p:sp>
      <p:sp>
        <p:nvSpPr>
          <p:cNvPr id="115" name="직사각형 114"/>
          <p:cNvSpPr/>
          <p:nvPr/>
        </p:nvSpPr>
        <p:spPr>
          <a:xfrm>
            <a:off x="3317416" y="4494353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29②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16" name="꺾인 연결선 115"/>
          <p:cNvCxnSpPr>
            <a:stCxn id="113" idx="3"/>
            <a:endCxn id="95" idx="2"/>
          </p:cNvCxnSpPr>
          <p:nvPr/>
        </p:nvCxnSpPr>
        <p:spPr>
          <a:xfrm flipV="1">
            <a:off x="2460505" y="3105553"/>
            <a:ext cx="614888" cy="1086382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/>
          <p:cNvCxnSpPr>
            <a:stCxn id="115" idx="3"/>
            <a:endCxn id="100" idx="2"/>
          </p:cNvCxnSpPr>
          <p:nvPr/>
        </p:nvCxnSpPr>
        <p:spPr>
          <a:xfrm flipV="1">
            <a:off x="4084880" y="3105553"/>
            <a:ext cx="615236" cy="1515007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/>
          <p:cNvSpPr/>
          <p:nvPr/>
        </p:nvSpPr>
        <p:spPr>
          <a:xfrm>
            <a:off x="5163910" y="5443210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36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1693041" y="4446450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29①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0" name="직사각형 119"/>
          <p:cNvSpPr/>
          <p:nvPr/>
        </p:nvSpPr>
        <p:spPr>
          <a:xfrm>
            <a:off x="3326422" y="4870327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42⑧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4967810" y="5421699"/>
            <a:ext cx="39220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❹</a:t>
            </a:r>
          </a:p>
        </p:txBody>
      </p:sp>
      <p:sp>
        <p:nvSpPr>
          <p:cNvPr id="122" name="직사각형 121"/>
          <p:cNvSpPr/>
          <p:nvPr/>
        </p:nvSpPr>
        <p:spPr>
          <a:xfrm>
            <a:off x="1478825" y="4389105"/>
            <a:ext cx="415969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❶</a:t>
            </a:r>
          </a:p>
        </p:txBody>
      </p:sp>
      <p:sp>
        <p:nvSpPr>
          <p:cNvPr id="123" name="직사각형 122"/>
          <p:cNvSpPr/>
          <p:nvPr/>
        </p:nvSpPr>
        <p:spPr>
          <a:xfrm>
            <a:off x="3131353" y="4207453"/>
            <a:ext cx="36498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❷</a:t>
            </a:r>
          </a:p>
        </p:txBody>
      </p:sp>
      <p:sp>
        <p:nvSpPr>
          <p:cNvPr id="124" name="직사각형 123"/>
          <p:cNvSpPr/>
          <p:nvPr/>
        </p:nvSpPr>
        <p:spPr>
          <a:xfrm>
            <a:off x="3131353" y="4395688"/>
            <a:ext cx="364983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endParaRPr lang="ko-KR" altLang="en-US" kern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❸</a:t>
            </a:r>
          </a:p>
        </p:txBody>
      </p:sp>
      <p:sp>
        <p:nvSpPr>
          <p:cNvPr id="126" name="직사각형 125"/>
          <p:cNvSpPr/>
          <p:nvPr/>
        </p:nvSpPr>
        <p:spPr>
          <a:xfrm>
            <a:off x="6515049" y="2723368"/>
            <a:ext cx="807218" cy="511958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거절결정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착오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7760107" y="2853140"/>
            <a:ext cx="878214" cy="2524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재심사청구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44" name="직사각형 143"/>
          <p:cNvSpPr/>
          <p:nvPr/>
        </p:nvSpPr>
        <p:spPr>
          <a:xfrm>
            <a:off x="7840523" y="3522613"/>
            <a:ext cx="746998" cy="2524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4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45" name="직선 화살표 연결선 144"/>
          <p:cNvCxnSpPr>
            <a:stCxn id="144" idx="0"/>
          </p:cNvCxnSpPr>
          <p:nvPr/>
        </p:nvCxnSpPr>
        <p:spPr>
          <a:xfrm flipH="1" flipV="1">
            <a:off x="8212257" y="3099948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직사각형 147"/>
          <p:cNvSpPr/>
          <p:nvPr/>
        </p:nvSpPr>
        <p:spPr>
          <a:xfrm>
            <a:off x="5870559" y="2402277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53" name="직선 화살표 연결선 152"/>
          <p:cNvCxnSpPr>
            <a:stCxn id="148" idx="2"/>
          </p:cNvCxnSpPr>
          <p:nvPr/>
        </p:nvCxnSpPr>
        <p:spPr>
          <a:xfrm>
            <a:off x="6193579" y="2654690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직사각형 159"/>
          <p:cNvSpPr/>
          <p:nvPr/>
        </p:nvSpPr>
        <p:spPr>
          <a:xfrm>
            <a:off x="9277840" y="3381545"/>
            <a:ext cx="1000384" cy="25241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재심사</a:t>
            </a:r>
            <a:r>
              <a:rPr lang="en-US" altLang="ko-KR" sz="1200" dirty="0">
                <a:solidFill>
                  <a:schemeClr val="bg1"/>
                </a:solidFill>
              </a:rPr>
              <a:t>4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164" name="직선 화살표 연결선 163"/>
          <p:cNvCxnSpPr>
            <a:stCxn id="160" idx="0"/>
          </p:cNvCxnSpPr>
          <p:nvPr/>
        </p:nvCxnSpPr>
        <p:spPr>
          <a:xfrm flipV="1">
            <a:off x="9778032" y="2979346"/>
            <a:ext cx="0" cy="40219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직사각형 164"/>
          <p:cNvSpPr/>
          <p:nvPr/>
        </p:nvSpPr>
        <p:spPr>
          <a:xfrm>
            <a:off x="9242757" y="4900856"/>
            <a:ext cx="2183611" cy="95410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pPr fontAlgn="base"/>
            <a:r>
              <a:rPr lang="ko-KR" altLang="en-US" sz="1400" kern="0" dirty="0">
                <a:solidFill>
                  <a:schemeClr val="accent4"/>
                </a:solidFill>
                <a:latin typeface="+mn-ea"/>
              </a:rPr>
              <a:t>❶ 발견</a:t>
            </a:r>
            <a:r>
              <a:rPr lang="en-US" altLang="ko-KR" sz="1400" kern="0" dirty="0">
                <a:solidFill>
                  <a:schemeClr val="accent4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chemeClr val="accent4"/>
                </a:solidFill>
                <a:latin typeface="+mn-ea"/>
              </a:rPr>
              <a:t>최초거절이유통지</a:t>
            </a:r>
            <a:r>
              <a:rPr lang="en-US" altLang="ko-KR" sz="1400" kern="0" dirty="0">
                <a:solidFill>
                  <a:schemeClr val="accent4"/>
                </a:solidFill>
                <a:latin typeface="+mn-ea"/>
              </a:rPr>
              <a:t> </a:t>
            </a:r>
          </a:p>
          <a:p>
            <a:pPr fontAlgn="base"/>
            <a:r>
              <a:rPr lang="ko-KR" altLang="en-US" sz="1400" kern="0" dirty="0">
                <a:solidFill>
                  <a:schemeClr val="accent4"/>
                </a:solidFill>
                <a:latin typeface="+mn-ea"/>
              </a:rPr>
              <a:t>❷ 발견</a:t>
            </a:r>
            <a:r>
              <a:rPr lang="en-US" altLang="ko-KR" sz="1400" kern="0" dirty="0">
                <a:solidFill>
                  <a:schemeClr val="accent4"/>
                </a:solidFill>
                <a:latin typeface="+mn-ea"/>
              </a:rPr>
              <a:t>: </a:t>
            </a:r>
            <a:r>
              <a:rPr lang="ko-KR" altLang="en-US" sz="1400" kern="0" dirty="0" err="1">
                <a:solidFill>
                  <a:schemeClr val="accent4"/>
                </a:solidFill>
                <a:latin typeface="+mn-ea"/>
              </a:rPr>
              <a:t>거절결정</a:t>
            </a:r>
            <a:endParaRPr lang="en-US" altLang="ko-KR" sz="1400" kern="0" dirty="0">
              <a:solidFill>
                <a:schemeClr val="accent4"/>
              </a:solidFill>
              <a:latin typeface="+mn-ea"/>
            </a:endParaRPr>
          </a:p>
          <a:p>
            <a:pPr fontAlgn="base"/>
            <a:r>
              <a:rPr lang="ko-KR" altLang="en-US" sz="1400" kern="0" dirty="0">
                <a:solidFill>
                  <a:schemeClr val="accent4"/>
                </a:solidFill>
                <a:latin typeface="+mn-ea"/>
              </a:rPr>
              <a:t>❸ 발견</a:t>
            </a:r>
            <a:r>
              <a:rPr lang="en-US" altLang="ko-KR" sz="1400" kern="0" dirty="0">
                <a:solidFill>
                  <a:schemeClr val="accent4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chemeClr val="accent4"/>
                </a:solidFill>
                <a:latin typeface="+mn-ea"/>
              </a:rPr>
              <a:t>최후거절이유통지</a:t>
            </a:r>
            <a:endParaRPr lang="en-US" altLang="ko-KR" sz="1400" kern="0" dirty="0">
              <a:solidFill>
                <a:schemeClr val="accent4"/>
              </a:solidFill>
              <a:latin typeface="+mn-ea"/>
            </a:endParaRP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❹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 err="1">
                <a:solidFill>
                  <a:srgbClr val="FF0000"/>
                </a:solidFill>
                <a:latin typeface="+mn-ea"/>
              </a:rPr>
              <a:t>최후거절이유통지</a:t>
            </a:r>
            <a:endParaRPr lang="en-US" altLang="ko-KR" sz="1400" kern="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9239739" y="3992037"/>
            <a:ext cx="239020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100" dirty="0"/>
              <a:t>1. </a:t>
            </a:r>
            <a:r>
              <a:rPr lang="ko-KR" altLang="en-US" sz="1100" dirty="0"/>
              <a:t>원거절이유의 </a:t>
            </a:r>
            <a:r>
              <a:rPr lang="ko-KR" altLang="en-US" sz="1100" dirty="0" err="1"/>
              <a:t>해소여부</a:t>
            </a:r>
            <a:endParaRPr lang="ko-KR" altLang="en-US" dirty="0"/>
          </a:p>
        </p:txBody>
      </p:sp>
      <p:sp>
        <p:nvSpPr>
          <p:cNvPr id="167" name="TextBox 166"/>
          <p:cNvSpPr txBox="1"/>
          <p:nvPr/>
        </p:nvSpPr>
        <p:spPr>
          <a:xfrm>
            <a:off x="9239739" y="4279048"/>
            <a:ext cx="2390207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2. </a:t>
            </a:r>
            <a:r>
              <a:rPr lang="ko-KR" altLang="en-US" sz="1100" dirty="0"/>
              <a:t>새로운 </a:t>
            </a:r>
            <a:r>
              <a:rPr lang="ko-KR" altLang="en-US" sz="1100" dirty="0" err="1"/>
              <a:t>거절이유의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발견여부</a:t>
            </a:r>
            <a:endParaRPr lang="ko-KR" altLang="en-US" sz="1100" dirty="0"/>
          </a:p>
        </p:txBody>
      </p:sp>
      <p:sp>
        <p:nvSpPr>
          <p:cNvPr id="168" name="TextBox 167"/>
          <p:cNvSpPr txBox="1"/>
          <p:nvPr/>
        </p:nvSpPr>
        <p:spPr>
          <a:xfrm>
            <a:off x="9239740" y="4577374"/>
            <a:ext cx="239788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3. </a:t>
            </a:r>
            <a:r>
              <a:rPr lang="ko-KR" altLang="en-US" sz="1100" dirty="0"/>
              <a:t>새로운 거절이유의 발생시점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239739" y="3696790"/>
            <a:ext cx="239020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100" dirty="0"/>
              <a:t>0. </a:t>
            </a:r>
            <a:r>
              <a:rPr lang="ko-KR" altLang="en-US" sz="1100" dirty="0"/>
              <a:t>보정의 적법성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182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340994-5186-0134-7336-87D3315DD179}"/>
              </a:ext>
            </a:extLst>
          </p:cNvPr>
          <p:cNvSpPr txBox="1"/>
          <p:nvPr/>
        </p:nvSpPr>
        <p:spPr>
          <a:xfrm>
            <a:off x="6498380" y="3794921"/>
            <a:ext cx="838098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法 </a:t>
            </a:r>
            <a:r>
              <a:rPr lang="en-US" altLang="ko-KR" sz="14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29② 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위반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EDA07F88-A709-C8EB-5352-5AE73919A1DC}"/>
              </a:ext>
            </a:extLst>
          </p:cNvPr>
          <p:cNvCxnSpPr>
            <a:cxnSpLocks/>
            <a:stCxn id="126" idx="2"/>
            <a:endCxn id="7" idx="0"/>
          </p:cNvCxnSpPr>
          <p:nvPr/>
        </p:nvCxnSpPr>
        <p:spPr>
          <a:xfrm flipH="1">
            <a:off x="6917429" y="3235326"/>
            <a:ext cx="1229" cy="55959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83180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직사각형 245"/>
          <p:cNvSpPr/>
          <p:nvPr/>
        </p:nvSpPr>
        <p:spPr>
          <a:xfrm>
            <a:off x="1428750" y="5052838"/>
            <a:ext cx="10439400" cy="6019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직사각형 246"/>
          <p:cNvSpPr/>
          <p:nvPr/>
        </p:nvSpPr>
        <p:spPr>
          <a:xfrm>
            <a:off x="1428750" y="5740908"/>
            <a:ext cx="10439400" cy="6019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직사각형 244"/>
          <p:cNvSpPr/>
          <p:nvPr/>
        </p:nvSpPr>
        <p:spPr>
          <a:xfrm>
            <a:off x="1428750" y="4314181"/>
            <a:ext cx="10439400" cy="6019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4" name="직사각형 243"/>
          <p:cNvSpPr/>
          <p:nvPr/>
        </p:nvSpPr>
        <p:spPr>
          <a:xfrm>
            <a:off x="1428750" y="3599806"/>
            <a:ext cx="10439400" cy="6019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3" name="직사각형 242"/>
          <p:cNvSpPr/>
          <p:nvPr/>
        </p:nvSpPr>
        <p:spPr>
          <a:xfrm>
            <a:off x="1428750" y="2183367"/>
            <a:ext cx="10439400" cy="12928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보정각하의</a:t>
            </a:r>
            <a:r>
              <a:rPr lang="ko-KR" altLang="en-US" dirty="0"/>
              <a:t> 예외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항제</a:t>
            </a:r>
            <a:r>
              <a:rPr lang="en-US" altLang="ko-KR" dirty="0"/>
              <a:t>3</a:t>
            </a:r>
            <a:r>
              <a:rPr lang="ko-KR" altLang="en-US" dirty="0"/>
              <a:t>호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170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/>
              <a:t>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01" name="직선 화살표 연결선 100"/>
          <p:cNvCxnSpPr/>
          <p:nvPr/>
        </p:nvCxnSpPr>
        <p:spPr>
          <a:xfrm>
            <a:off x="1657351" y="2590964"/>
            <a:ext cx="10172700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/>
          <p:cNvSpPr/>
          <p:nvPr/>
        </p:nvSpPr>
        <p:spPr>
          <a:xfrm>
            <a:off x="1657351" y="2342117"/>
            <a:ext cx="536160" cy="50482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출원</a:t>
            </a:r>
          </a:p>
        </p:txBody>
      </p:sp>
      <p:sp>
        <p:nvSpPr>
          <p:cNvPr id="105" name="직사각형 104"/>
          <p:cNvSpPr/>
          <p:nvPr/>
        </p:nvSpPr>
        <p:spPr>
          <a:xfrm>
            <a:off x="2324645" y="3013629"/>
            <a:ext cx="442003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보정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07" name="직선 화살표 연결선 106"/>
          <p:cNvCxnSpPr>
            <a:stCxn id="105" idx="0"/>
          </p:cNvCxnSpPr>
          <p:nvPr/>
        </p:nvCxnSpPr>
        <p:spPr>
          <a:xfrm flipH="1" flipV="1">
            <a:off x="2540167" y="2590964"/>
            <a:ext cx="5480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직사각형 109"/>
          <p:cNvSpPr/>
          <p:nvPr/>
        </p:nvSpPr>
        <p:spPr>
          <a:xfrm>
            <a:off x="2832897" y="2464757"/>
            <a:ext cx="442003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최초</a:t>
            </a:r>
          </a:p>
        </p:txBody>
      </p:sp>
      <p:sp>
        <p:nvSpPr>
          <p:cNvPr id="111" name="직사각형 110"/>
          <p:cNvSpPr/>
          <p:nvPr/>
        </p:nvSpPr>
        <p:spPr>
          <a:xfrm>
            <a:off x="3570711" y="2464757"/>
            <a:ext cx="442003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최후</a:t>
            </a:r>
          </a:p>
        </p:txBody>
      </p:sp>
      <p:sp>
        <p:nvSpPr>
          <p:cNvPr id="112" name="직사각형 111"/>
          <p:cNvSpPr/>
          <p:nvPr/>
        </p:nvSpPr>
        <p:spPr>
          <a:xfrm>
            <a:off x="4336607" y="2464757"/>
            <a:ext cx="741152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보정각하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3164070" y="3013629"/>
            <a:ext cx="442003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보정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28" name="직선 화살표 연결선 127"/>
          <p:cNvCxnSpPr>
            <a:stCxn id="127" idx="0"/>
          </p:cNvCxnSpPr>
          <p:nvPr/>
        </p:nvCxnSpPr>
        <p:spPr>
          <a:xfrm flipH="1" flipV="1">
            <a:off x="3379592" y="2590964"/>
            <a:ext cx="5480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직사각형 128"/>
          <p:cNvSpPr/>
          <p:nvPr/>
        </p:nvSpPr>
        <p:spPr>
          <a:xfrm>
            <a:off x="3904019" y="3013629"/>
            <a:ext cx="442003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보정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30" name="직선 화살표 연결선 129"/>
          <p:cNvCxnSpPr>
            <a:stCxn id="129" idx="0"/>
          </p:cNvCxnSpPr>
          <p:nvPr/>
        </p:nvCxnSpPr>
        <p:spPr>
          <a:xfrm flipH="1" flipV="1">
            <a:off x="4119541" y="2590964"/>
            <a:ext cx="5480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화살표 연결선 133"/>
          <p:cNvCxnSpPr>
            <a:stCxn id="133" idx="0"/>
            <a:endCxn id="131" idx="2"/>
          </p:cNvCxnSpPr>
          <p:nvPr/>
        </p:nvCxnSpPr>
        <p:spPr>
          <a:xfrm flipV="1">
            <a:off x="5450531" y="2846942"/>
            <a:ext cx="0" cy="23792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/>
          <p:cNvSpPr/>
          <p:nvPr/>
        </p:nvSpPr>
        <p:spPr>
          <a:xfrm>
            <a:off x="6025208" y="2464757"/>
            <a:ext cx="442003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최초</a:t>
            </a:r>
          </a:p>
        </p:txBody>
      </p:sp>
      <p:sp>
        <p:nvSpPr>
          <p:cNvPr id="136" name="직사각형 135"/>
          <p:cNvSpPr/>
          <p:nvPr/>
        </p:nvSpPr>
        <p:spPr>
          <a:xfrm>
            <a:off x="6763022" y="2464757"/>
            <a:ext cx="442003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최후</a:t>
            </a:r>
          </a:p>
        </p:txBody>
      </p:sp>
      <p:sp>
        <p:nvSpPr>
          <p:cNvPr id="138" name="직사각형 137"/>
          <p:cNvSpPr/>
          <p:nvPr/>
        </p:nvSpPr>
        <p:spPr>
          <a:xfrm>
            <a:off x="6356381" y="3013629"/>
            <a:ext cx="442003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보정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39" name="직선 화살표 연결선 138"/>
          <p:cNvCxnSpPr>
            <a:stCxn id="138" idx="0"/>
          </p:cNvCxnSpPr>
          <p:nvPr/>
        </p:nvCxnSpPr>
        <p:spPr>
          <a:xfrm flipH="1" flipV="1">
            <a:off x="6571903" y="2590964"/>
            <a:ext cx="5480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39"/>
          <p:cNvSpPr/>
          <p:nvPr/>
        </p:nvSpPr>
        <p:spPr>
          <a:xfrm>
            <a:off x="7096331" y="3013629"/>
            <a:ext cx="442003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보정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41" name="직선 화살표 연결선 140"/>
          <p:cNvCxnSpPr>
            <a:stCxn id="140" idx="0"/>
          </p:cNvCxnSpPr>
          <p:nvPr/>
        </p:nvCxnSpPr>
        <p:spPr>
          <a:xfrm flipH="1" flipV="1">
            <a:off x="7311853" y="2590964"/>
            <a:ext cx="5480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1" name="그룹 250"/>
          <p:cNvGrpSpPr/>
          <p:nvPr/>
        </p:nvGrpSpPr>
        <p:grpSpPr>
          <a:xfrm>
            <a:off x="1925431" y="1831955"/>
            <a:ext cx="6717411" cy="662760"/>
            <a:chOff x="1925431" y="1162050"/>
            <a:chExt cx="6717411" cy="2486026"/>
          </a:xfrm>
        </p:grpSpPr>
        <p:cxnSp>
          <p:nvCxnSpPr>
            <p:cNvPr id="104" name="직선 연결선 103"/>
            <p:cNvCxnSpPr/>
            <p:nvPr/>
          </p:nvCxnSpPr>
          <p:spPr>
            <a:xfrm>
              <a:off x="1925431" y="1162050"/>
              <a:ext cx="0" cy="2486026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>
              <a:off x="5450531" y="1162050"/>
              <a:ext cx="0" cy="2486026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직선 연결선 142"/>
            <p:cNvCxnSpPr/>
            <p:nvPr/>
          </p:nvCxnSpPr>
          <p:spPr>
            <a:xfrm>
              <a:off x="8642842" y="1162050"/>
              <a:ext cx="0" cy="2486026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6" name="직사각형 145"/>
          <p:cNvSpPr/>
          <p:nvPr/>
        </p:nvSpPr>
        <p:spPr>
          <a:xfrm>
            <a:off x="9282227" y="2464757"/>
            <a:ext cx="442003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최초</a:t>
            </a:r>
          </a:p>
        </p:txBody>
      </p:sp>
      <p:sp>
        <p:nvSpPr>
          <p:cNvPr id="147" name="직사각형 146"/>
          <p:cNvSpPr/>
          <p:nvPr/>
        </p:nvSpPr>
        <p:spPr>
          <a:xfrm>
            <a:off x="10020042" y="2464757"/>
            <a:ext cx="442003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최후</a:t>
            </a:r>
          </a:p>
        </p:txBody>
      </p:sp>
      <p:sp>
        <p:nvSpPr>
          <p:cNvPr id="149" name="직사각형 148"/>
          <p:cNvSpPr/>
          <p:nvPr/>
        </p:nvSpPr>
        <p:spPr>
          <a:xfrm>
            <a:off x="9613401" y="3013629"/>
            <a:ext cx="442003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보정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50" name="직선 화살표 연결선 149"/>
          <p:cNvCxnSpPr>
            <a:stCxn id="149" idx="0"/>
          </p:cNvCxnSpPr>
          <p:nvPr/>
        </p:nvCxnSpPr>
        <p:spPr>
          <a:xfrm flipH="1" flipV="1">
            <a:off x="9828922" y="2590964"/>
            <a:ext cx="5480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직사각형 150"/>
          <p:cNvSpPr/>
          <p:nvPr/>
        </p:nvSpPr>
        <p:spPr>
          <a:xfrm>
            <a:off x="10353350" y="3013629"/>
            <a:ext cx="442003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보정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52" name="직선 화살표 연결선 151"/>
          <p:cNvCxnSpPr>
            <a:stCxn id="151" idx="0"/>
          </p:cNvCxnSpPr>
          <p:nvPr/>
        </p:nvCxnSpPr>
        <p:spPr>
          <a:xfrm flipH="1" flipV="1">
            <a:off x="10568872" y="2590964"/>
            <a:ext cx="5480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직사각형 130"/>
          <p:cNvSpPr/>
          <p:nvPr/>
        </p:nvSpPr>
        <p:spPr>
          <a:xfrm>
            <a:off x="5182451" y="2342117"/>
            <a:ext cx="536160" cy="50482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/>
              <a:t>재심사</a:t>
            </a:r>
            <a:endParaRPr lang="en-US" altLang="ko-KR" sz="1100" dirty="0"/>
          </a:p>
          <a:p>
            <a:pPr algn="ctr"/>
            <a:r>
              <a:rPr lang="ko-KR" altLang="en-US" sz="1100" dirty="0"/>
              <a:t>청구</a:t>
            </a:r>
          </a:p>
        </p:txBody>
      </p:sp>
      <p:sp>
        <p:nvSpPr>
          <p:cNvPr id="142" name="직사각형 141"/>
          <p:cNvSpPr/>
          <p:nvPr/>
        </p:nvSpPr>
        <p:spPr>
          <a:xfrm>
            <a:off x="8374762" y="2342117"/>
            <a:ext cx="536160" cy="50482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36000" rtlCol="0" anchor="ctr"/>
          <a:lstStyle/>
          <a:p>
            <a:pPr algn="ctr"/>
            <a:r>
              <a:rPr lang="ko-KR" altLang="en-US" sz="1100" dirty="0"/>
              <a:t>심판</a:t>
            </a:r>
            <a:endParaRPr lang="en-US" altLang="ko-KR" sz="1100" dirty="0"/>
          </a:p>
          <a:p>
            <a:pPr algn="ctr"/>
            <a:r>
              <a:rPr lang="ko-KR" altLang="en-US" sz="1100" dirty="0"/>
              <a:t>청구</a:t>
            </a:r>
          </a:p>
        </p:txBody>
      </p:sp>
      <p:sp>
        <p:nvSpPr>
          <p:cNvPr id="154" name="직사각형 153"/>
          <p:cNvSpPr/>
          <p:nvPr/>
        </p:nvSpPr>
        <p:spPr>
          <a:xfrm>
            <a:off x="2324645" y="3773893"/>
            <a:ext cx="442003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55" name="직사각형 154"/>
          <p:cNvSpPr/>
          <p:nvPr/>
        </p:nvSpPr>
        <p:spPr>
          <a:xfrm>
            <a:off x="3164070" y="3773893"/>
            <a:ext cx="442003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2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3904019" y="3773893"/>
            <a:ext cx="442003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3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5217976" y="3773892"/>
            <a:ext cx="442003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4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58" name="직사각형 157"/>
          <p:cNvSpPr/>
          <p:nvPr/>
        </p:nvSpPr>
        <p:spPr>
          <a:xfrm>
            <a:off x="6356381" y="3773893"/>
            <a:ext cx="442003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5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59" name="직사각형 158"/>
          <p:cNvSpPr/>
          <p:nvPr/>
        </p:nvSpPr>
        <p:spPr>
          <a:xfrm>
            <a:off x="7096331" y="3773893"/>
            <a:ext cx="442003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6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61" name="직사각형 160"/>
          <p:cNvSpPr/>
          <p:nvPr/>
        </p:nvSpPr>
        <p:spPr>
          <a:xfrm>
            <a:off x="9613401" y="3773893"/>
            <a:ext cx="442003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7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62" name="직사각형 161"/>
          <p:cNvSpPr/>
          <p:nvPr/>
        </p:nvSpPr>
        <p:spPr>
          <a:xfrm>
            <a:off x="10353350" y="3773893"/>
            <a:ext cx="442003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8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63" name="직사각형 162"/>
          <p:cNvSpPr/>
          <p:nvPr/>
        </p:nvSpPr>
        <p:spPr>
          <a:xfrm>
            <a:off x="1717404" y="3773893"/>
            <a:ext cx="442003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0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98" name="직선 연결선 197"/>
          <p:cNvCxnSpPr/>
          <p:nvPr/>
        </p:nvCxnSpPr>
        <p:spPr>
          <a:xfrm>
            <a:off x="11868151" y="1162050"/>
            <a:ext cx="0" cy="248602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직사각형 132"/>
          <p:cNvSpPr/>
          <p:nvPr/>
        </p:nvSpPr>
        <p:spPr>
          <a:xfrm>
            <a:off x="5229529" y="3084870"/>
            <a:ext cx="442003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보정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201" name="직선 화살표 연결선 200"/>
          <p:cNvCxnSpPr/>
          <p:nvPr/>
        </p:nvCxnSpPr>
        <p:spPr>
          <a:xfrm>
            <a:off x="1925431" y="1973817"/>
            <a:ext cx="3519620" cy="0"/>
          </a:xfrm>
          <a:prstGeom prst="straightConnector1">
            <a:avLst/>
          </a:prstGeom>
          <a:ln w="28575">
            <a:solidFill>
              <a:schemeClr val="accent4">
                <a:lumMod val="50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직사각형 198"/>
          <p:cNvSpPr/>
          <p:nvPr/>
        </p:nvSpPr>
        <p:spPr>
          <a:xfrm>
            <a:off x="3017750" y="1851982"/>
            <a:ext cx="1328272" cy="252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일반심사단계</a:t>
            </a:r>
          </a:p>
        </p:txBody>
      </p:sp>
      <p:cxnSp>
        <p:nvCxnSpPr>
          <p:cNvPr id="202" name="직선 화살표 연결선 201"/>
          <p:cNvCxnSpPr/>
          <p:nvPr/>
        </p:nvCxnSpPr>
        <p:spPr>
          <a:xfrm>
            <a:off x="5456011" y="1973817"/>
            <a:ext cx="3186831" cy="0"/>
          </a:xfrm>
          <a:prstGeom prst="straightConnector1">
            <a:avLst/>
          </a:prstGeom>
          <a:ln w="28575">
            <a:solidFill>
              <a:schemeClr val="accent4">
                <a:lumMod val="50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직사각형 203"/>
          <p:cNvSpPr/>
          <p:nvPr/>
        </p:nvSpPr>
        <p:spPr>
          <a:xfrm>
            <a:off x="6405896" y="1851982"/>
            <a:ext cx="1132438" cy="252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chemeClr val="tx1"/>
                </a:solidFill>
              </a:rPr>
              <a:t>재심사단계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205" name="직선 화살표 연결선 204"/>
          <p:cNvCxnSpPr/>
          <p:nvPr/>
        </p:nvCxnSpPr>
        <p:spPr>
          <a:xfrm>
            <a:off x="8643220" y="1973817"/>
            <a:ext cx="3186831" cy="0"/>
          </a:xfrm>
          <a:prstGeom prst="straightConnector1">
            <a:avLst/>
          </a:prstGeom>
          <a:ln w="28575">
            <a:solidFill>
              <a:schemeClr val="accent4">
                <a:lumMod val="50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직사각형 205"/>
          <p:cNvSpPr/>
          <p:nvPr/>
        </p:nvSpPr>
        <p:spPr>
          <a:xfrm>
            <a:off x="9593105" y="1851982"/>
            <a:ext cx="1132438" cy="252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chemeClr val="tx1"/>
                </a:solidFill>
              </a:rPr>
              <a:t>심판단계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08" name="직사각형 207"/>
          <p:cNvSpPr/>
          <p:nvPr/>
        </p:nvSpPr>
        <p:spPr>
          <a:xfrm>
            <a:off x="320493" y="2183367"/>
            <a:ext cx="1096986" cy="129281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절차</a:t>
            </a:r>
            <a:endParaRPr lang="en-US" altLang="ko-KR" sz="1400" dirty="0"/>
          </a:p>
          <a:p>
            <a:pPr algn="ctr"/>
            <a:r>
              <a:rPr lang="ko-KR" altLang="en-US" sz="1400" dirty="0"/>
              <a:t>진행</a:t>
            </a:r>
          </a:p>
        </p:txBody>
      </p:sp>
      <p:sp>
        <p:nvSpPr>
          <p:cNvPr id="209" name="직사각형 208"/>
          <p:cNvSpPr/>
          <p:nvPr/>
        </p:nvSpPr>
        <p:spPr>
          <a:xfrm>
            <a:off x="320494" y="3598473"/>
            <a:ext cx="1098302" cy="60325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거절이유</a:t>
            </a:r>
            <a:endParaRPr lang="en-US" altLang="ko-KR" sz="1400" dirty="0"/>
          </a:p>
          <a:p>
            <a:pPr algn="ctr"/>
            <a:r>
              <a:rPr lang="ko-KR" altLang="en-US" sz="1400" dirty="0"/>
              <a:t>발생</a:t>
            </a:r>
          </a:p>
        </p:txBody>
      </p:sp>
      <p:sp>
        <p:nvSpPr>
          <p:cNvPr id="210" name="직사각형 209"/>
          <p:cNvSpPr/>
          <p:nvPr/>
        </p:nvSpPr>
        <p:spPr>
          <a:xfrm>
            <a:off x="320494" y="4312848"/>
            <a:ext cx="422456" cy="203131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발견</a:t>
            </a:r>
            <a:endParaRPr lang="en-US" altLang="ko-KR" sz="1400" dirty="0"/>
          </a:p>
          <a:p>
            <a:pPr algn="ctr"/>
            <a:r>
              <a:rPr lang="en-US" altLang="ko-KR" sz="1400" dirty="0"/>
              <a:t>*</a:t>
            </a:r>
            <a:endParaRPr lang="ko-KR" altLang="en-US" sz="1400" dirty="0"/>
          </a:p>
        </p:txBody>
      </p:sp>
      <p:sp>
        <p:nvSpPr>
          <p:cNvPr id="212" name="직사각형 211"/>
          <p:cNvSpPr/>
          <p:nvPr/>
        </p:nvSpPr>
        <p:spPr>
          <a:xfrm>
            <a:off x="828675" y="4312848"/>
            <a:ext cx="588804" cy="60325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/>
              <a:t>일반</a:t>
            </a:r>
            <a:endParaRPr lang="en-US" altLang="ko-KR" sz="1200" dirty="0"/>
          </a:p>
          <a:p>
            <a:pPr algn="ctr"/>
            <a:r>
              <a:rPr lang="ko-KR" altLang="en-US" sz="1200" dirty="0"/>
              <a:t>심사</a:t>
            </a:r>
            <a:endParaRPr lang="en-US" altLang="ko-KR" sz="1200" dirty="0"/>
          </a:p>
          <a:p>
            <a:pPr algn="ctr"/>
            <a:r>
              <a:rPr lang="ko-KR" altLang="en-US" sz="1200" dirty="0"/>
              <a:t>단계</a:t>
            </a:r>
          </a:p>
        </p:txBody>
      </p:sp>
      <p:sp>
        <p:nvSpPr>
          <p:cNvPr id="213" name="직사각형 212"/>
          <p:cNvSpPr/>
          <p:nvPr/>
        </p:nvSpPr>
        <p:spPr>
          <a:xfrm>
            <a:off x="828675" y="5039923"/>
            <a:ext cx="588804" cy="60325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/>
              <a:t>재심사</a:t>
            </a:r>
            <a:endParaRPr lang="en-US" altLang="ko-KR" sz="1200" dirty="0"/>
          </a:p>
          <a:p>
            <a:pPr algn="ctr"/>
            <a:r>
              <a:rPr lang="ko-KR" altLang="en-US" sz="1200" dirty="0"/>
              <a:t>단계</a:t>
            </a:r>
          </a:p>
        </p:txBody>
      </p:sp>
      <p:sp>
        <p:nvSpPr>
          <p:cNvPr id="214" name="직사각형 213"/>
          <p:cNvSpPr/>
          <p:nvPr/>
        </p:nvSpPr>
        <p:spPr>
          <a:xfrm>
            <a:off x="828675" y="5740908"/>
            <a:ext cx="588804" cy="60325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/>
              <a:t>심판</a:t>
            </a:r>
            <a:endParaRPr lang="en-US" altLang="ko-KR" sz="1200" dirty="0"/>
          </a:p>
          <a:p>
            <a:pPr algn="ctr"/>
            <a:r>
              <a:rPr lang="ko-KR" altLang="en-US" sz="1200" dirty="0"/>
              <a:t>단계</a:t>
            </a:r>
          </a:p>
        </p:txBody>
      </p:sp>
      <p:sp>
        <p:nvSpPr>
          <p:cNvPr id="215" name="직사각형 214"/>
          <p:cNvSpPr/>
          <p:nvPr/>
        </p:nvSpPr>
        <p:spPr>
          <a:xfrm>
            <a:off x="2324645" y="4515106"/>
            <a:ext cx="442003" cy="25241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최초</a:t>
            </a:r>
          </a:p>
        </p:txBody>
      </p:sp>
      <p:sp>
        <p:nvSpPr>
          <p:cNvPr id="216" name="직사각형 215"/>
          <p:cNvSpPr/>
          <p:nvPr/>
        </p:nvSpPr>
        <p:spPr>
          <a:xfrm>
            <a:off x="3164070" y="4515106"/>
            <a:ext cx="442003" cy="25241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최후</a:t>
            </a:r>
          </a:p>
        </p:txBody>
      </p:sp>
      <p:sp>
        <p:nvSpPr>
          <p:cNvPr id="217" name="직사각형 216"/>
          <p:cNvSpPr/>
          <p:nvPr/>
        </p:nvSpPr>
        <p:spPr>
          <a:xfrm>
            <a:off x="3904019" y="4515106"/>
            <a:ext cx="442003" cy="252413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각하</a:t>
            </a:r>
          </a:p>
        </p:txBody>
      </p:sp>
      <p:sp>
        <p:nvSpPr>
          <p:cNvPr id="223" name="직사각형 222"/>
          <p:cNvSpPr/>
          <p:nvPr/>
        </p:nvSpPr>
        <p:spPr>
          <a:xfrm>
            <a:off x="1717404" y="4515106"/>
            <a:ext cx="442003" cy="25241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최초</a:t>
            </a:r>
          </a:p>
        </p:txBody>
      </p:sp>
      <p:sp>
        <p:nvSpPr>
          <p:cNvPr id="224" name="직사각형 223"/>
          <p:cNvSpPr/>
          <p:nvPr/>
        </p:nvSpPr>
        <p:spPr>
          <a:xfrm>
            <a:off x="2324645" y="5227592"/>
            <a:ext cx="442003" cy="25241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최초</a:t>
            </a:r>
          </a:p>
        </p:txBody>
      </p:sp>
      <p:sp>
        <p:nvSpPr>
          <p:cNvPr id="225" name="직사각형 224"/>
          <p:cNvSpPr/>
          <p:nvPr/>
        </p:nvSpPr>
        <p:spPr>
          <a:xfrm>
            <a:off x="3164070" y="5227592"/>
            <a:ext cx="442003" cy="25241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최후</a:t>
            </a:r>
          </a:p>
        </p:txBody>
      </p:sp>
      <p:sp>
        <p:nvSpPr>
          <p:cNvPr id="226" name="직사각형 225"/>
          <p:cNvSpPr/>
          <p:nvPr/>
        </p:nvSpPr>
        <p:spPr>
          <a:xfrm>
            <a:off x="3904019" y="5227592"/>
            <a:ext cx="442003" cy="252413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인정</a:t>
            </a:r>
          </a:p>
        </p:txBody>
      </p:sp>
      <p:sp>
        <p:nvSpPr>
          <p:cNvPr id="227" name="직사각형 226"/>
          <p:cNvSpPr/>
          <p:nvPr/>
        </p:nvSpPr>
        <p:spPr>
          <a:xfrm>
            <a:off x="5217976" y="5227591"/>
            <a:ext cx="442003" cy="252413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각하</a:t>
            </a:r>
          </a:p>
        </p:txBody>
      </p:sp>
      <p:sp>
        <p:nvSpPr>
          <p:cNvPr id="228" name="직사각형 227"/>
          <p:cNvSpPr/>
          <p:nvPr/>
        </p:nvSpPr>
        <p:spPr>
          <a:xfrm>
            <a:off x="6356381" y="5227592"/>
            <a:ext cx="442003" cy="25241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최후</a:t>
            </a:r>
          </a:p>
        </p:txBody>
      </p:sp>
      <p:sp>
        <p:nvSpPr>
          <p:cNvPr id="229" name="직사각형 228"/>
          <p:cNvSpPr/>
          <p:nvPr/>
        </p:nvSpPr>
        <p:spPr>
          <a:xfrm>
            <a:off x="7096331" y="5227592"/>
            <a:ext cx="442003" cy="252413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각하</a:t>
            </a:r>
          </a:p>
        </p:txBody>
      </p:sp>
      <p:sp>
        <p:nvSpPr>
          <p:cNvPr id="232" name="직사각형 231"/>
          <p:cNvSpPr/>
          <p:nvPr/>
        </p:nvSpPr>
        <p:spPr>
          <a:xfrm>
            <a:off x="1717404" y="5227592"/>
            <a:ext cx="442003" cy="25241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최초</a:t>
            </a:r>
          </a:p>
        </p:txBody>
      </p:sp>
      <p:sp>
        <p:nvSpPr>
          <p:cNvPr id="233" name="직사각형 232"/>
          <p:cNvSpPr/>
          <p:nvPr/>
        </p:nvSpPr>
        <p:spPr>
          <a:xfrm>
            <a:off x="2324645" y="5940077"/>
            <a:ext cx="442003" cy="25241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최초</a:t>
            </a:r>
          </a:p>
        </p:txBody>
      </p:sp>
      <p:sp>
        <p:nvSpPr>
          <p:cNvPr id="234" name="직사각형 233"/>
          <p:cNvSpPr/>
          <p:nvPr/>
        </p:nvSpPr>
        <p:spPr>
          <a:xfrm>
            <a:off x="3164070" y="5940077"/>
            <a:ext cx="442003" cy="25241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최후</a:t>
            </a:r>
          </a:p>
        </p:txBody>
      </p:sp>
      <p:sp>
        <p:nvSpPr>
          <p:cNvPr id="235" name="직사각형 234"/>
          <p:cNvSpPr/>
          <p:nvPr/>
        </p:nvSpPr>
        <p:spPr>
          <a:xfrm>
            <a:off x="3904019" y="5940077"/>
            <a:ext cx="442003" cy="252413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인정</a:t>
            </a:r>
          </a:p>
        </p:txBody>
      </p:sp>
      <p:sp>
        <p:nvSpPr>
          <p:cNvPr id="236" name="직사각형 235"/>
          <p:cNvSpPr/>
          <p:nvPr/>
        </p:nvSpPr>
        <p:spPr>
          <a:xfrm>
            <a:off x="5217976" y="5940076"/>
            <a:ext cx="442003" cy="252413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인정</a:t>
            </a:r>
          </a:p>
        </p:txBody>
      </p:sp>
      <p:sp>
        <p:nvSpPr>
          <p:cNvPr id="237" name="직사각형 236"/>
          <p:cNvSpPr/>
          <p:nvPr/>
        </p:nvSpPr>
        <p:spPr>
          <a:xfrm>
            <a:off x="6356381" y="5940077"/>
            <a:ext cx="442003" cy="25241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최후</a:t>
            </a:r>
          </a:p>
        </p:txBody>
      </p:sp>
      <p:sp>
        <p:nvSpPr>
          <p:cNvPr id="238" name="직사각형 237"/>
          <p:cNvSpPr/>
          <p:nvPr/>
        </p:nvSpPr>
        <p:spPr>
          <a:xfrm>
            <a:off x="7096331" y="5940077"/>
            <a:ext cx="442003" cy="252413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인정</a:t>
            </a:r>
          </a:p>
        </p:txBody>
      </p:sp>
      <p:sp>
        <p:nvSpPr>
          <p:cNvPr id="239" name="직사각형 238"/>
          <p:cNvSpPr/>
          <p:nvPr/>
        </p:nvSpPr>
        <p:spPr>
          <a:xfrm>
            <a:off x="9613401" y="5940077"/>
            <a:ext cx="442003" cy="25241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최후</a:t>
            </a:r>
          </a:p>
        </p:txBody>
      </p:sp>
      <p:sp>
        <p:nvSpPr>
          <p:cNvPr id="240" name="직사각형 239"/>
          <p:cNvSpPr/>
          <p:nvPr/>
        </p:nvSpPr>
        <p:spPr>
          <a:xfrm>
            <a:off x="10353350" y="5940077"/>
            <a:ext cx="442003" cy="252413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각하</a:t>
            </a:r>
          </a:p>
        </p:txBody>
      </p:sp>
      <p:sp>
        <p:nvSpPr>
          <p:cNvPr id="241" name="직사각형 240"/>
          <p:cNvSpPr/>
          <p:nvPr/>
        </p:nvSpPr>
        <p:spPr>
          <a:xfrm>
            <a:off x="1717404" y="5940077"/>
            <a:ext cx="442003" cy="25241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최초</a:t>
            </a:r>
          </a:p>
        </p:txBody>
      </p:sp>
      <p:sp>
        <p:nvSpPr>
          <p:cNvPr id="254" name="직사각형 253"/>
          <p:cNvSpPr/>
          <p:nvPr/>
        </p:nvSpPr>
        <p:spPr>
          <a:xfrm>
            <a:off x="342231" y="6467983"/>
            <a:ext cx="10383311" cy="252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* 2, 5, 7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은 원거절이유가 해소됨을 전제로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3, 4, 6, 8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은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원거절이유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해소 여부와 무관하게 적용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4336607" y="2712005"/>
            <a:ext cx="741152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거절결정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7527565" y="2464757"/>
            <a:ext cx="741152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보정각하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7527565" y="2712005"/>
            <a:ext cx="741152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거절결정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10802953" y="2464757"/>
            <a:ext cx="741152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보정각하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10802953" y="2712005"/>
            <a:ext cx="741152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기각심결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2" name="Rectangle 5"/>
          <p:cNvSpPr>
            <a:spLocks noChangeArrowheads="1"/>
          </p:cNvSpPr>
          <p:nvPr/>
        </p:nvSpPr>
        <p:spPr bwMode="auto">
          <a:xfrm>
            <a:off x="347687" y="1094336"/>
            <a:ext cx="6119523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심판청구 전 </a:t>
            </a:r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부적법한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 보정이 심판청구 후 발견된 경우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72675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4742916" y="5122740"/>
            <a:ext cx="1306862" cy="1038778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5" name="직선 화살표 연결선 124"/>
          <p:cNvCxnSpPr/>
          <p:nvPr/>
        </p:nvCxnSpPr>
        <p:spPr>
          <a:xfrm>
            <a:off x="1003596" y="2982913"/>
            <a:ext cx="9658350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보정각하의</a:t>
            </a:r>
            <a:r>
              <a:rPr lang="ko-KR" altLang="en-US" dirty="0"/>
              <a:t> 예외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항제</a:t>
            </a:r>
            <a:r>
              <a:rPr lang="en-US" altLang="ko-KR" dirty="0"/>
              <a:t>1</a:t>
            </a:r>
            <a:r>
              <a:rPr lang="ko-KR" altLang="en-US" dirty="0"/>
              <a:t>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2" name="Rectangle 5"/>
          <p:cNvSpPr>
            <a:spLocks noChangeArrowheads="1"/>
          </p:cNvSpPr>
          <p:nvPr/>
        </p:nvSpPr>
        <p:spPr bwMode="auto">
          <a:xfrm>
            <a:off x="347687" y="1094336"/>
            <a:ext cx="6119523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직권보정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 전에 한 </a:t>
            </a:r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부적법한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 보정이 </a:t>
            </a:r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특허결정이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 취소된 후 발견된 경우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772664" y="2730500"/>
            <a:ext cx="767463" cy="5048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</a:p>
        </p:txBody>
      </p:sp>
      <p:sp>
        <p:nvSpPr>
          <p:cNvPr id="93" name="직사각형 92"/>
          <p:cNvSpPr/>
          <p:nvPr/>
        </p:nvSpPr>
        <p:spPr>
          <a:xfrm>
            <a:off x="2115870" y="2402277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4" name="직선 화살표 연결선 93"/>
          <p:cNvCxnSpPr>
            <a:stCxn id="93" idx="2"/>
          </p:cNvCxnSpPr>
          <p:nvPr/>
        </p:nvCxnSpPr>
        <p:spPr>
          <a:xfrm>
            <a:off x="2438890" y="2654690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/>
          <p:cNvSpPr/>
          <p:nvPr/>
        </p:nvSpPr>
        <p:spPr>
          <a:xfrm>
            <a:off x="2584877" y="2853140"/>
            <a:ext cx="693430" cy="2524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최초</a:t>
            </a:r>
          </a:p>
        </p:txBody>
      </p:sp>
      <p:sp>
        <p:nvSpPr>
          <p:cNvPr id="96" name="직사각형 95"/>
          <p:cNvSpPr/>
          <p:nvPr/>
        </p:nvSpPr>
        <p:spPr>
          <a:xfrm>
            <a:off x="3194081" y="3402012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7" name="직선 화살표 연결선 96"/>
          <p:cNvCxnSpPr>
            <a:stCxn id="96" idx="0"/>
          </p:cNvCxnSpPr>
          <p:nvPr/>
        </p:nvCxnSpPr>
        <p:spPr>
          <a:xfrm flipH="1" flipV="1">
            <a:off x="3565815" y="2979347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3679986" y="2402277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9" name="직선 화살표 연결선 98"/>
          <p:cNvCxnSpPr>
            <a:stCxn id="98" idx="2"/>
          </p:cNvCxnSpPr>
          <p:nvPr/>
        </p:nvCxnSpPr>
        <p:spPr>
          <a:xfrm>
            <a:off x="4003006" y="2654690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/>
          <p:cNvSpPr/>
          <p:nvPr/>
        </p:nvSpPr>
        <p:spPr>
          <a:xfrm>
            <a:off x="4164410" y="2853140"/>
            <a:ext cx="783810" cy="2524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최후</a:t>
            </a:r>
          </a:p>
        </p:txBody>
      </p:sp>
      <p:sp>
        <p:nvSpPr>
          <p:cNvPr id="103" name="직사각형 102"/>
          <p:cNvSpPr/>
          <p:nvPr/>
        </p:nvSpPr>
        <p:spPr>
          <a:xfrm>
            <a:off x="5007637" y="3402012"/>
            <a:ext cx="746998" cy="2524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06" name="직선 화살표 연결선 105"/>
          <p:cNvCxnSpPr>
            <a:stCxn id="103" idx="0"/>
          </p:cNvCxnSpPr>
          <p:nvPr/>
        </p:nvCxnSpPr>
        <p:spPr>
          <a:xfrm flipH="1" flipV="1">
            <a:off x="5379371" y="2979347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/>
          <p:cNvSpPr/>
          <p:nvPr/>
        </p:nvSpPr>
        <p:spPr>
          <a:xfrm>
            <a:off x="1569706" y="3402012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09" name="직선 화살표 연결선 108"/>
          <p:cNvCxnSpPr>
            <a:stCxn id="108" idx="0"/>
          </p:cNvCxnSpPr>
          <p:nvPr/>
        </p:nvCxnSpPr>
        <p:spPr>
          <a:xfrm flipH="1" flipV="1">
            <a:off x="1941440" y="2979347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직사각형 112"/>
          <p:cNvSpPr/>
          <p:nvPr/>
        </p:nvSpPr>
        <p:spPr>
          <a:xfrm>
            <a:off x="1549240" y="4065728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42③Ⅰ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3194081" y="4068499"/>
            <a:ext cx="746998" cy="2524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해소</a:t>
            </a:r>
          </a:p>
        </p:txBody>
      </p:sp>
      <p:sp>
        <p:nvSpPr>
          <p:cNvPr id="115" name="직사각형 114"/>
          <p:cNvSpPr/>
          <p:nvPr/>
        </p:nvSpPr>
        <p:spPr>
          <a:xfrm>
            <a:off x="3173615" y="4494353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29②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16" name="꺾인 연결선 115"/>
          <p:cNvCxnSpPr>
            <a:stCxn id="113" idx="3"/>
            <a:endCxn id="95" idx="2"/>
          </p:cNvCxnSpPr>
          <p:nvPr/>
        </p:nvCxnSpPr>
        <p:spPr>
          <a:xfrm flipV="1">
            <a:off x="2316704" y="3105553"/>
            <a:ext cx="614888" cy="1086382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/>
          <p:cNvCxnSpPr>
            <a:stCxn id="115" idx="3"/>
            <a:endCxn id="100" idx="2"/>
          </p:cNvCxnSpPr>
          <p:nvPr/>
        </p:nvCxnSpPr>
        <p:spPr>
          <a:xfrm flipV="1">
            <a:off x="3941079" y="3105553"/>
            <a:ext cx="615236" cy="1515007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/>
          <p:cNvSpPr/>
          <p:nvPr/>
        </p:nvSpPr>
        <p:spPr>
          <a:xfrm>
            <a:off x="5020109" y="5443210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42④Ⅰ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1549240" y="4446450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29①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0" name="직사각형 119"/>
          <p:cNvSpPr/>
          <p:nvPr/>
        </p:nvSpPr>
        <p:spPr>
          <a:xfrm>
            <a:off x="3182621" y="4870327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42⑧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4824009" y="5421699"/>
            <a:ext cx="39220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❹</a:t>
            </a:r>
          </a:p>
        </p:txBody>
      </p:sp>
      <p:sp>
        <p:nvSpPr>
          <p:cNvPr id="122" name="직사각형 121"/>
          <p:cNvSpPr/>
          <p:nvPr/>
        </p:nvSpPr>
        <p:spPr>
          <a:xfrm>
            <a:off x="1335024" y="4389105"/>
            <a:ext cx="415969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❶</a:t>
            </a:r>
          </a:p>
        </p:txBody>
      </p:sp>
      <p:sp>
        <p:nvSpPr>
          <p:cNvPr id="123" name="직사각형 122"/>
          <p:cNvSpPr/>
          <p:nvPr/>
        </p:nvSpPr>
        <p:spPr>
          <a:xfrm>
            <a:off x="2987552" y="4207453"/>
            <a:ext cx="36498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❷</a:t>
            </a:r>
          </a:p>
        </p:txBody>
      </p:sp>
      <p:sp>
        <p:nvSpPr>
          <p:cNvPr id="124" name="직사각형 123"/>
          <p:cNvSpPr/>
          <p:nvPr/>
        </p:nvSpPr>
        <p:spPr>
          <a:xfrm>
            <a:off x="2987552" y="4395688"/>
            <a:ext cx="364983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endParaRPr lang="ko-KR" altLang="en-US" kern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❸</a:t>
            </a:r>
          </a:p>
        </p:txBody>
      </p:sp>
      <p:sp>
        <p:nvSpPr>
          <p:cNvPr id="126" name="직사각형 125"/>
          <p:cNvSpPr/>
          <p:nvPr/>
        </p:nvSpPr>
        <p:spPr>
          <a:xfrm>
            <a:off x="6567802" y="2654691"/>
            <a:ext cx="807218" cy="649312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특허결정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+</a:t>
            </a:r>
          </a:p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직권보정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8063378" y="2654690"/>
            <a:ext cx="1121260" cy="630700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특허결정</a:t>
            </a:r>
            <a:r>
              <a:rPr lang="ko-KR" altLang="en-US" sz="1200" dirty="0">
                <a:solidFill>
                  <a:schemeClr val="bg1"/>
                </a:solidFill>
              </a:rPr>
              <a:t> 취소</a:t>
            </a:r>
            <a:r>
              <a:rPr lang="en-US" altLang="ko-KR" sz="1200" dirty="0">
                <a:solidFill>
                  <a:schemeClr val="bg1"/>
                </a:solidFill>
              </a:rPr>
              <a:t>+</a:t>
            </a:r>
          </a:p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직권보정</a:t>
            </a:r>
            <a:r>
              <a:rPr lang="ko-KR" altLang="en-US" sz="1200" dirty="0">
                <a:solidFill>
                  <a:schemeClr val="bg1"/>
                </a:solidFill>
              </a:rPr>
              <a:t> 취소</a:t>
            </a:r>
          </a:p>
        </p:txBody>
      </p:sp>
      <p:sp>
        <p:nvSpPr>
          <p:cNvPr id="144" name="직사각형 143"/>
          <p:cNvSpPr/>
          <p:nvPr/>
        </p:nvSpPr>
        <p:spPr>
          <a:xfrm>
            <a:off x="7389073" y="3522613"/>
            <a:ext cx="746998" cy="43578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의견서 제출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45" name="직선 화살표 연결선 144"/>
          <p:cNvCxnSpPr>
            <a:stCxn id="144" idx="0"/>
          </p:cNvCxnSpPr>
          <p:nvPr/>
        </p:nvCxnSpPr>
        <p:spPr>
          <a:xfrm flipH="1" flipV="1">
            <a:off x="7760807" y="2999482"/>
            <a:ext cx="1765" cy="52313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직사각형 147"/>
          <p:cNvSpPr/>
          <p:nvPr/>
        </p:nvSpPr>
        <p:spPr>
          <a:xfrm>
            <a:off x="5726758" y="2402277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53" name="직선 화살표 연결선 152"/>
          <p:cNvCxnSpPr>
            <a:stCxn id="148" idx="2"/>
          </p:cNvCxnSpPr>
          <p:nvPr/>
        </p:nvCxnSpPr>
        <p:spPr>
          <a:xfrm>
            <a:off x="6049778" y="2654690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직사각형 159"/>
          <p:cNvSpPr/>
          <p:nvPr/>
        </p:nvSpPr>
        <p:spPr>
          <a:xfrm>
            <a:off x="8988761" y="3381545"/>
            <a:ext cx="1000384" cy="25241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심사</a:t>
            </a:r>
            <a:r>
              <a:rPr lang="en-US" altLang="ko-KR" sz="1200" dirty="0">
                <a:solidFill>
                  <a:schemeClr val="bg1"/>
                </a:solidFill>
              </a:rPr>
              <a:t>4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164" name="직선 화살표 연결선 163"/>
          <p:cNvCxnSpPr>
            <a:stCxn id="160" idx="0"/>
          </p:cNvCxnSpPr>
          <p:nvPr/>
        </p:nvCxnSpPr>
        <p:spPr>
          <a:xfrm flipV="1">
            <a:off x="9488953" y="2979346"/>
            <a:ext cx="0" cy="40219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직사각형 164"/>
          <p:cNvSpPr/>
          <p:nvPr/>
        </p:nvSpPr>
        <p:spPr>
          <a:xfrm>
            <a:off x="8979316" y="4917948"/>
            <a:ext cx="2183611" cy="95410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pPr fontAlgn="base"/>
            <a:r>
              <a:rPr lang="ko-KR" altLang="en-US" sz="1400" kern="0" dirty="0">
                <a:solidFill>
                  <a:schemeClr val="accent4"/>
                </a:solidFill>
                <a:latin typeface="+mn-ea"/>
              </a:rPr>
              <a:t>❶ 발견</a:t>
            </a:r>
            <a:r>
              <a:rPr lang="en-US" altLang="ko-KR" sz="1400" kern="0" dirty="0">
                <a:solidFill>
                  <a:schemeClr val="accent4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chemeClr val="accent4"/>
                </a:solidFill>
                <a:latin typeface="+mn-ea"/>
              </a:rPr>
              <a:t>최초거절이유통지</a:t>
            </a:r>
            <a:r>
              <a:rPr lang="en-US" altLang="ko-KR" sz="1400" kern="0" dirty="0">
                <a:solidFill>
                  <a:schemeClr val="accent4"/>
                </a:solidFill>
                <a:latin typeface="+mn-ea"/>
              </a:rPr>
              <a:t> </a:t>
            </a: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❷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최후거절이유통지</a:t>
            </a:r>
            <a:endParaRPr lang="en-US" altLang="ko-KR" sz="1400" kern="0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lang="ko-KR" altLang="en-US" sz="1400" kern="0" dirty="0">
                <a:solidFill>
                  <a:schemeClr val="accent4"/>
                </a:solidFill>
                <a:latin typeface="+mn-ea"/>
              </a:rPr>
              <a:t>❸ 발견</a:t>
            </a:r>
            <a:r>
              <a:rPr lang="en-US" altLang="ko-KR" sz="1400" kern="0" dirty="0">
                <a:solidFill>
                  <a:schemeClr val="accent4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chemeClr val="accent4"/>
                </a:solidFill>
                <a:latin typeface="+mn-ea"/>
              </a:rPr>
              <a:t>최후거절이유통지</a:t>
            </a:r>
            <a:endParaRPr lang="en-US" altLang="ko-KR" sz="1400" kern="0" dirty="0">
              <a:solidFill>
                <a:schemeClr val="accent4"/>
              </a:solidFill>
              <a:latin typeface="+mn-ea"/>
            </a:endParaRP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❹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최후거절이유통지</a:t>
            </a:r>
            <a:endParaRPr lang="en-US" altLang="ko-KR" sz="1400" kern="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974820" y="3992037"/>
            <a:ext cx="239020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100" dirty="0"/>
              <a:t>1. </a:t>
            </a:r>
            <a:r>
              <a:rPr lang="ko-KR" altLang="en-US" sz="1100" dirty="0"/>
              <a:t>원거절이유의 </a:t>
            </a:r>
            <a:r>
              <a:rPr lang="ko-KR" altLang="en-US" sz="1100" dirty="0" err="1"/>
              <a:t>해소여부</a:t>
            </a:r>
            <a:endParaRPr lang="ko-KR" alt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8974820" y="4279048"/>
            <a:ext cx="2390207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2. </a:t>
            </a:r>
            <a:r>
              <a:rPr lang="ko-KR" altLang="en-US" sz="1100" dirty="0"/>
              <a:t>새로운 </a:t>
            </a:r>
            <a:r>
              <a:rPr lang="ko-KR" altLang="en-US" sz="1100" dirty="0" err="1"/>
              <a:t>거절이유의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발견여부</a:t>
            </a:r>
            <a:endParaRPr lang="ko-KR" altLang="en-US" sz="1100" dirty="0"/>
          </a:p>
        </p:txBody>
      </p:sp>
      <p:sp>
        <p:nvSpPr>
          <p:cNvPr id="48" name="TextBox 47"/>
          <p:cNvSpPr txBox="1"/>
          <p:nvPr/>
        </p:nvSpPr>
        <p:spPr>
          <a:xfrm>
            <a:off x="8974821" y="4577374"/>
            <a:ext cx="239788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3. </a:t>
            </a:r>
            <a:r>
              <a:rPr lang="ko-KR" altLang="en-US" sz="1100" dirty="0"/>
              <a:t>새로운 거절이유의 발생시점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74820" y="3696790"/>
            <a:ext cx="239020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100" dirty="0"/>
              <a:t>0. </a:t>
            </a:r>
            <a:r>
              <a:rPr lang="ko-KR" altLang="en-US" sz="1100" dirty="0"/>
              <a:t>보정의 적법성</a:t>
            </a:r>
          </a:p>
        </p:txBody>
      </p:sp>
      <p:cxnSp>
        <p:nvCxnSpPr>
          <p:cNvPr id="8" name="꺾인 연결선 7"/>
          <p:cNvCxnSpPr>
            <a:stCxn id="6" idx="3"/>
            <a:endCxn id="126" idx="2"/>
          </p:cNvCxnSpPr>
          <p:nvPr/>
        </p:nvCxnSpPr>
        <p:spPr>
          <a:xfrm flipV="1">
            <a:off x="6049778" y="3304003"/>
            <a:ext cx="921633" cy="2338126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/>
          <p:cNvSpPr/>
          <p:nvPr/>
        </p:nvSpPr>
        <p:spPr>
          <a:xfrm>
            <a:off x="6083503" y="5595458"/>
            <a:ext cx="2735755" cy="6344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특허출원서에 첨부된 명세서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도면 또는 </a:t>
            </a:r>
            <a:r>
              <a:rPr lang="ko-KR" altLang="en-US" sz="1200" dirty="0" err="1">
                <a:solidFill>
                  <a:schemeClr val="tx1"/>
                </a:solidFill>
              </a:rPr>
              <a:t>요약서에</a:t>
            </a:r>
            <a:r>
              <a:rPr lang="ko-KR" altLang="en-US" sz="1200" dirty="0">
                <a:solidFill>
                  <a:schemeClr val="tx1"/>
                </a:solidFill>
              </a:rPr>
              <a:t> 적힌 사항이 명백히 잘못된 경우 </a:t>
            </a:r>
          </a:p>
        </p:txBody>
      </p:sp>
      <p:sp>
        <p:nvSpPr>
          <p:cNvPr id="54" name="Rectangle 5"/>
          <p:cNvSpPr>
            <a:spLocks noChangeArrowheads="1"/>
          </p:cNvSpPr>
          <p:nvPr/>
        </p:nvSpPr>
        <p:spPr bwMode="auto">
          <a:xfrm>
            <a:off x="347687" y="1505158"/>
            <a:ext cx="6119523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발생한 새로운 거절이유가 </a:t>
            </a:r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직권보정</a:t>
            </a:r>
            <a:r>
              <a:rPr lang="en-US" altLang="ko-KR" sz="1600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法 </a:t>
            </a:r>
            <a:r>
              <a:rPr lang="en-US" altLang="ko-KR" sz="1600" dirty="0">
                <a:solidFill>
                  <a:schemeClr val="bg1"/>
                </a:solidFill>
                <a:latin typeface="+mj-ea"/>
                <a:ea typeface="+mj-ea"/>
              </a:rPr>
              <a:t>66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의</a:t>
            </a:r>
            <a:r>
              <a:rPr lang="en-US" altLang="ko-KR" sz="1600" dirty="0">
                <a:solidFill>
                  <a:schemeClr val="bg1"/>
                </a:solidFill>
                <a:latin typeface="+mj-ea"/>
                <a:ea typeface="+mj-ea"/>
              </a:rPr>
              <a:t>2)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을 할 수 있는 경우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184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66928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직선 화살표 연결선 124"/>
          <p:cNvCxnSpPr/>
          <p:nvPr/>
        </p:nvCxnSpPr>
        <p:spPr>
          <a:xfrm>
            <a:off x="1003596" y="2982913"/>
            <a:ext cx="9658350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보정각하의</a:t>
            </a:r>
            <a:r>
              <a:rPr lang="ko-KR" altLang="en-US" dirty="0"/>
              <a:t> 예외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항제</a:t>
            </a:r>
            <a:r>
              <a:rPr lang="en-US" altLang="ko-KR" dirty="0"/>
              <a:t>2</a:t>
            </a:r>
            <a:r>
              <a:rPr lang="ko-KR" altLang="en-US" dirty="0"/>
              <a:t>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2" name="Rectangle 5"/>
          <p:cNvSpPr>
            <a:spLocks noChangeArrowheads="1"/>
          </p:cNvSpPr>
          <p:nvPr/>
        </p:nvSpPr>
        <p:spPr bwMode="auto">
          <a:xfrm>
            <a:off x="347687" y="1094336"/>
            <a:ext cx="6119523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취소된 </a:t>
            </a:r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특허결정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 전에 한 </a:t>
            </a:r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부적법한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 보정이 직권 재심사 후 발견된 경우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772664" y="2730500"/>
            <a:ext cx="767463" cy="5048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</a:p>
        </p:txBody>
      </p:sp>
      <p:sp>
        <p:nvSpPr>
          <p:cNvPr id="93" name="직사각형 92"/>
          <p:cNvSpPr/>
          <p:nvPr/>
        </p:nvSpPr>
        <p:spPr>
          <a:xfrm>
            <a:off x="2115870" y="2402277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4" name="직선 화살표 연결선 93"/>
          <p:cNvCxnSpPr>
            <a:stCxn id="93" idx="2"/>
          </p:cNvCxnSpPr>
          <p:nvPr/>
        </p:nvCxnSpPr>
        <p:spPr>
          <a:xfrm>
            <a:off x="2438890" y="2654690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/>
          <p:cNvSpPr/>
          <p:nvPr/>
        </p:nvSpPr>
        <p:spPr>
          <a:xfrm>
            <a:off x="2584877" y="2853140"/>
            <a:ext cx="693430" cy="2524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최초</a:t>
            </a:r>
          </a:p>
        </p:txBody>
      </p:sp>
      <p:sp>
        <p:nvSpPr>
          <p:cNvPr id="96" name="직사각형 95"/>
          <p:cNvSpPr/>
          <p:nvPr/>
        </p:nvSpPr>
        <p:spPr>
          <a:xfrm>
            <a:off x="3194081" y="3402012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7" name="직선 화살표 연결선 96"/>
          <p:cNvCxnSpPr>
            <a:stCxn id="96" idx="0"/>
          </p:cNvCxnSpPr>
          <p:nvPr/>
        </p:nvCxnSpPr>
        <p:spPr>
          <a:xfrm flipH="1" flipV="1">
            <a:off x="3565815" y="2979347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3679986" y="2402277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9" name="직선 화살표 연결선 98"/>
          <p:cNvCxnSpPr>
            <a:stCxn id="98" idx="2"/>
          </p:cNvCxnSpPr>
          <p:nvPr/>
        </p:nvCxnSpPr>
        <p:spPr>
          <a:xfrm>
            <a:off x="4003006" y="2654690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/>
          <p:cNvSpPr/>
          <p:nvPr/>
        </p:nvSpPr>
        <p:spPr>
          <a:xfrm>
            <a:off x="4164410" y="2853140"/>
            <a:ext cx="783810" cy="2524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최후</a:t>
            </a:r>
          </a:p>
        </p:txBody>
      </p:sp>
      <p:sp>
        <p:nvSpPr>
          <p:cNvPr id="103" name="직사각형 102"/>
          <p:cNvSpPr/>
          <p:nvPr/>
        </p:nvSpPr>
        <p:spPr>
          <a:xfrm>
            <a:off x="5007637" y="3402012"/>
            <a:ext cx="746998" cy="2524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06" name="직선 화살표 연결선 105"/>
          <p:cNvCxnSpPr>
            <a:stCxn id="103" idx="0"/>
          </p:cNvCxnSpPr>
          <p:nvPr/>
        </p:nvCxnSpPr>
        <p:spPr>
          <a:xfrm flipH="1" flipV="1">
            <a:off x="5379371" y="2979347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/>
          <p:cNvSpPr/>
          <p:nvPr/>
        </p:nvSpPr>
        <p:spPr>
          <a:xfrm>
            <a:off x="1569706" y="3402012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09" name="직선 화살표 연결선 108"/>
          <p:cNvCxnSpPr>
            <a:stCxn id="108" idx="0"/>
          </p:cNvCxnSpPr>
          <p:nvPr/>
        </p:nvCxnSpPr>
        <p:spPr>
          <a:xfrm flipH="1" flipV="1">
            <a:off x="1941440" y="2979347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직사각형 112"/>
          <p:cNvSpPr/>
          <p:nvPr/>
        </p:nvSpPr>
        <p:spPr>
          <a:xfrm>
            <a:off x="1549240" y="4065728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42③Ⅰ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3194081" y="4068499"/>
            <a:ext cx="746998" cy="2524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해소</a:t>
            </a:r>
          </a:p>
        </p:txBody>
      </p:sp>
      <p:sp>
        <p:nvSpPr>
          <p:cNvPr id="115" name="직사각형 114"/>
          <p:cNvSpPr/>
          <p:nvPr/>
        </p:nvSpPr>
        <p:spPr>
          <a:xfrm>
            <a:off x="3173615" y="4494353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29②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16" name="꺾인 연결선 115"/>
          <p:cNvCxnSpPr>
            <a:stCxn id="113" idx="3"/>
            <a:endCxn id="95" idx="2"/>
          </p:cNvCxnSpPr>
          <p:nvPr/>
        </p:nvCxnSpPr>
        <p:spPr>
          <a:xfrm flipV="1">
            <a:off x="2316704" y="3105553"/>
            <a:ext cx="614888" cy="1086382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/>
          <p:cNvCxnSpPr>
            <a:stCxn id="115" idx="3"/>
            <a:endCxn id="100" idx="2"/>
          </p:cNvCxnSpPr>
          <p:nvPr/>
        </p:nvCxnSpPr>
        <p:spPr>
          <a:xfrm flipV="1">
            <a:off x="3941079" y="3105553"/>
            <a:ext cx="615236" cy="1515007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/>
          <p:cNvSpPr/>
          <p:nvPr/>
        </p:nvSpPr>
        <p:spPr>
          <a:xfrm>
            <a:off x="5020109" y="5443210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36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1549240" y="4446450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29①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0" name="직사각형 119"/>
          <p:cNvSpPr/>
          <p:nvPr/>
        </p:nvSpPr>
        <p:spPr>
          <a:xfrm>
            <a:off x="3182621" y="4870327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42⑧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4824009" y="5421699"/>
            <a:ext cx="39220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❹</a:t>
            </a:r>
          </a:p>
        </p:txBody>
      </p:sp>
      <p:sp>
        <p:nvSpPr>
          <p:cNvPr id="122" name="직사각형 121"/>
          <p:cNvSpPr/>
          <p:nvPr/>
        </p:nvSpPr>
        <p:spPr>
          <a:xfrm>
            <a:off x="1335024" y="4389105"/>
            <a:ext cx="415969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❶</a:t>
            </a:r>
          </a:p>
        </p:txBody>
      </p:sp>
      <p:sp>
        <p:nvSpPr>
          <p:cNvPr id="123" name="직사각형 122"/>
          <p:cNvSpPr/>
          <p:nvPr/>
        </p:nvSpPr>
        <p:spPr>
          <a:xfrm>
            <a:off x="2987552" y="4207453"/>
            <a:ext cx="36498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❷</a:t>
            </a:r>
          </a:p>
        </p:txBody>
      </p:sp>
      <p:sp>
        <p:nvSpPr>
          <p:cNvPr id="124" name="직사각형 123"/>
          <p:cNvSpPr/>
          <p:nvPr/>
        </p:nvSpPr>
        <p:spPr>
          <a:xfrm>
            <a:off x="2987552" y="4395688"/>
            <a:ext cx="364983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endParaRPr lang="ko-KR" altLang="en-US" kern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❸</a:t>
            </a:r>
          </a:p>
        </p:txBody>
      </p:sp>
      <p:sp>
        <p:nvSpPr>
          <p:cNvPr id="126" name="직사각형 125"/>
          <p:cNvSpPr/>
          <p:nvPr/>
        </p:nvSpPr>
        <p:spPr>
          <a:xfrm>
            <a:off x="6567802" y="2723369"/>
            <a:ext cx="807218" cy="511956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특허결정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착오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8063378" y="2853141"/>
            <a:ext cx="1121260" cy="252412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특허결정취소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44" name="직사각형 143"/>
          <p:cNvSpPr/>
          <p:nvPr/>
        </p:nvSpPr>
        <p:spPr>
          <a:xfrm>
            <a:off x="7389073" y="3522613"/>
            <a:ext cx="746998" cy="43578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정보제공</a:t>
            </a:r>
          </a:p>
        </p:txBody>
      </p:sp>
      <p:cxnSp>
        <p:nvCxnSpPr>
          <p:cNvPr id="145" name="직선 화살표 연결선 144"/>
          <p:cNvCxnSpPr>
            <a:stCxn id="144" idx="0"/>
          </p:cNvCxnSpPr>
          <p:nvPr/>
        </p:nvCxnSpPr>
        <p:spPr>
          <a:xfrm flipH="1" flipV="1">
            <a:off x="7760807" y="2999482"/>
            <a:ext cx="1765" cy="52313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직사각형 147"/>
          <p:cNvSpPr/>
          <p:nvPr/>
        </p:nvSpPr>
        <p:spPr>
          <a:xfrm>
            <a:off x="5726758" y="2402277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53" name="직선 화살표 연결선 152"/>
          <p:cNvCxnSpPr>
            <a:stCxn id="148" idx="2"/>
          </p:cNvCxnSpPr>
          <p:nvPr/>
        </p:nvCxnSpPr>
        <p:spPr>
          <a:xfrm>
            <a:off x="6049778" y="2654690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직사각형 159"/>
          <p:cNvSpPr/>
          <p:nvPr/>
        </p:nvSpPr>
        <p:spPr>
          <a:xfrm>
            <a:off x="8980215" y="3381545"/>
            <a:ext cx="1000384" cy="25241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직권 재심사</a:t>
            </a:r>
            <a:r>
              <a:rPr lang="en-US" altLang="ko-KR" sz="1200" dirty="0">
                <a:solidFill>
                  <a:schemeClr val="bg1"/>
                </a:solidFill>
              </a:rPr>
              <a:t>4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164" name="직선 화살표 연결선 163"/>
          <p:cNvCxnSpPr>
            <a:stCxn id="160" idx="0"/>
          </p:cNvCxnSpPr>
          <p:nvPr/>
        </p:nvCxnSpPr>
        <p:spPr>
          <a:xfrm flipV="1">
            <a:off x="9488953" y="2979346"/>
            <a:ext cx="0" cy="40219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직사각형 164"/>
          <p:cNvSpPr/>
          <p:nvPr/>
        </p:nvSpPr>
        <p:spPr>
          <a:xfrm>
            <a:off x="8953678" y="4900858"/>
            <a:ext cx="2183611" cy="95410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❶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최초거절이유통지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 </a:t>
            </a: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❷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최초거절이유통지</a:t>
            </a:r>
            <a:endParaRPr lang="en-US" altLang="ko-KR" sz="1400" kern="0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❸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최초거절이유통지</a:t>
            </a:r>
            <a:endParaRPr lang="en-US" altLang="ko-KR" sz="1400" kern="0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❹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최초거절이유통지</a:t>
            </a:r>
            <a:endParaRPr lang="en-US" altLang="ko-KR" sz="1400" kern="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983365" y="3992037"/>
            <a:ext cx="239020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100" dirty="0"/>
              <a:t>1. </a:t>
            </a:r>
            <a:r>
              <a:rPr lang="ko-KR" altLang="en-US" sz="1100" dirty="0"/>
              <a:t>원거절이유의 </a:t>
            </a:r>
            <a:r>
              <a:rPr lang="ko-KR" altLang="en-US" sz="1100" dirty="0" err="1"/>
              <a:t>해소여부</a:t>
            </a:r>
            <a:endParaRPr lang="ko-KR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8983365" y="4279048"/>
            <a:ext cx="2390207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2. </a:t>
            </a:r>
            <a:r>
              <a:rPr lang="ko-KR" altLang="en-US" sz="1100" dirty="0"/>
              <a:t>새로운 </a:t>
            </a:r>
            <a:r>
              <a:rPr lang="ko-KR" altLang="en-US" sz="1100" dirty="0" err="1"/>
              <a:t>거절이유의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발견여부</a:t>
            </a:r>
            <a:endParaRPr lang="ko-KR" altLang="en-US" sz="1100" dirty="0"/>
          </a:p>
        </p:txBody>
      </p:sp>
      <p:sp>
        <p:nvSpPr>
          <p:cNvPr id="46" name="TextBox 45"/>
          <p:cNvSpPr txBox="1"/>
          <p:nvPr/>
        </p:nvSpPr>
        <p:spPr>
          <a:xfrm>
            <a:off x="8983366" y="4577374"/>
            <a:ext cx="239788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3. </a:t>
            </a:r>
            <a:r>
              <a:rPr lang="ko-KR" altLang="en-US" sz="1100" dirty="0"/>
              <a:t>새로운 거절이유의 발생시점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83365" y="3696790"/>
            <a:ext cx="239020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100" dirty="0"/>
              <a:t>0. </a:t>
            </a:r>
            <a:r>
              <a:rPr lang="ko-KR" altLang="en-US" sz="1100" dirty="0"/>
              <a:t>보정의 적법성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185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E4AD60-A424-7981-4F2A-43BE63AF280C}"/>
              </a:ext>
            </a:extLst>
          </p:cNvPr>
          <p:cNvSpPr txBox="1"/>
          <p:nvPr/>
        </p:nvSpPr>
        <p:spPr>
          <a:xfrm>
            <a:off x="8949510" y="2282565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Reset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9E04E6B2-E092-3184-E7F3-A817D22D399E}"/>
              </a:ext>
            </a:extLst>
          </p:cNvPr>
          <p:cNvCxnSpPr>
            <a:stCxn id="6" idx="2"/>
          </p:cNvCxnSpPr>
          <p:nvPr/>
        </p:nvCxnSpPr>
        <p:spPr>
          <a:xfrm flipH="1">
            <a:off x="9336795" y="2651897"/>
            <a:ext cx="1" cy="31035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5210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조의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외국어특허출원 등의 법조문</a:t>
            </a:r>
          </a:p>
        </p:txBody>
      </p:sp>
      <p:cxnSp>
        <p:nvCxnSpPr>
          <p:cNvPr id="60" name="직선 연결선 59"/>
          <p:cNvCxnSpPr/>
          <p:nvPr/>
        </p:nvCxnSpPr>
        <p:spPr>
          <a:xfrm>
            <a:off x="0" y="474377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7875" y="986046"/>
            <a:ext cx="1193632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42</a:t>
            </a:r>
            <a:r>
              <a:rPr lang="ko-KR" altLang="en-US" sz="1400" b="1" dirty="0">
                <a:solidFill>
                  <a:schemeClr val="accent1"/>
                </a:solidFill>
              </a:rPr>
              <a:t>조의</a:t>
            </a:r>
            <a:r>
              <a:rPr lang="en-US" altLang="ko-KR" sz="1400" b="1" dirty="0">
                <a:solidFill>
                  <a:schemeClr val="accent1"/>
                </a:solidFill>
              </a:rPr>
              <a:t>3(</a:t>
            </a:r>
            <a:r>
              <a:rPr lang="ko-KR" altLang="en-US" sz="1400" b="1" dirty="0">
                <a:solidFill>
                  <a:schemeClr val="accent1"/>
                </a:solidFill>
              </a:rPr>
              <a:t>외국어특허출원 등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특허출원인이 명세서 및 도면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도면 중 </a:t>
            </a:r>
            <a:r>
              <a:rPr lang="ko-KR" altLang="en-US" sz="1400" dirty="0" err="1">
                <a:solidFill>
                  <a:schemeClr val="tx2"/>
                </a:solidFill>
              </a:rPr>
              <a:t>설명부분에</a:t>
            </a:r>
            <a:r>
              <a:rPr lang="ko-KR" altLang="en-US" sz="1400" dirty="0">
                <a:solidFill>
                  <a:schemeClr val="tx2"/>
                </a:solidFill>
              </a:rPr>
              <a:t> 한정한다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이하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 및 제</a:t>
            </a:r>
            <a:r>
              <a:rPr lang="en-US" altLang="ko-KR" sz="1400" dirty="0">
                <a:solidFill>
                  <a:schemeClr val="tx2"/>
                </a:solidFill>
              </a:rPr>
              <a:t>5</a:t>
            </a:r>
            <a:r>
              <a:rPr lang="ko-KR" altLang="en-US" sz="1400" dirty="0">
                <a:solidFill>
                  <a:schemeClr val="tx2"/>
                </a:solidFill>
              </a:rPr>
              <a:t>항에서 같다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을 국어가 아닌 총리령으로 정하는 언어로 적겠다는 취지를 특허출원을 할 때 특허출원서에 적은 경우에는 그 언어로 적을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특허출원인이 특허출원서에 최초로 첨부한 명세서 및 도면을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언어로 적은 특허출원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이하 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외국어특허출원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이라 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을 한 경우에는 제</a:t>
            </a:r>
            <a:r>
              <a:rPr lang="en-US" altLang="ko-KR" sz="1400" dirty="0">
                <a:solidFill>
                  <a:schemeClr val="tx2"/>
                </a:solidFill>
              </a:rPr>
              <a:t>64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각 호의 구분에 따른 날부터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개월이 되는 날까지 그 명세서 및 도면의 국어번역문을 총리령으로 정하는 방법에 따라 제출하여야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본문에 따른 기한 이전에 제</a:t>
            </a:r>
            <a:r>
              <a:rPr lang="en-US" altLang="ko-KR" sz="1400" dirty="0">
                <a:solidFill>
                  <a:schemeClr val="tx2"/>
                </a:solidFill>
              </a:rPr>
              <a:t>60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항에 따른 </a:t>
            </a:r>
            <a:r>
              <a:rPr lang="ko-KR" altLang="en-US" sz="1400" dirty="0" err="1">
                <a:solidFill>
                  <a:schemeClr val="tx2"/>
                </a:solidFill>
              </a:rPr>
              <a:t>출원심사</a:t>
            </a:r>
            <a:r>
              <a:rPr lang="ko-KR" altLang="en-US" sz="1400" dirty="0">
                <a:solidFill>
                  <a:schemeClr val="tx2"/>
                </a:solidFill>
              </a:rPr>
              <a:t> 청구의 취지를 </a:t>
            </a:r>
            <a:r>
              <a:rPr lang="ko-KR" altLang="en-US" sz="1400" dirty="0" err="1">
                <a:solidFill>
                  <a:schemeClr val="tx2"/>
                </a:solidFill>
              </a:rPr>
              <a:t>통지받은</a:t>
            </a:r>
            <a:r>
              <a:rPr lang="ko-KR" altLang="en-US" sz="1400" dirty="0">
                <a:solidFill>
                  <a:schemeClr val="tx2"/>
                </a:solidFill>
              </a:rPr>
              <a:t> 경우에는 그 통지를 받은 날부터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개월이 되는 날 또는 제</a:t>
            </a:r>
            <a:r>
              <a:rPr lang="en-US" altLang="ko-KR" sz="1400" dirty="0">
                <a:solidFill>
                  <a:schemeClr val="tx2"/>
                </a:solidFill>
              </a:rPr>
              <a:t>64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각 호의 구분에 따른 날부터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개월이 되는 날 중 빠른 날까지 제출하여야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따라 국어번역문을 제출한 특허출원인은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따른 기한 이전에 그 국어번역문을 갈음하여 새로운 국어번역문을 제출할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다음 각 호의 어느 하나에 해당하는 경우에는 그러하지 아니하다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명세서 또는 도면을 보정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5</a:t>
            </a:r>
            <a:r>
              <a:rPr lang="ko-KR" altLang="en-US" sz="1400" dirty="0">
                <a:solidFill>
                  <a:schemeClr val="tx2"/>
                </a:solidFill>
              </a:rPr>
              <a:t>항에 따라 보정한 것으로 보는 경우는 제외한다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한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특허출원인이 </a:t>
            </a:r>
            <a:r>
              <a:rPr lang="ko-KR" altLang="en-US" sz="1400" dirty="0" err="1">
                <a:solidFill>
                  <a:schemeClr val="tx2"/>
                </a:solidFill>
              </a:rPr>
              <a:t>출원심사의</a:t>
            </a:r>
            <a:r>
              <a:rPr lang="ko-KR" altLang="en-US" sz="1400" dirty="0">
                <a:solidFill>
                  <a:schemeClr val="tx2"/>
                </a:solidFill>
              </a:rPr>
              <a:t> 청구를 한 경우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④ 특허출원인이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따른 </a:t>
            </a:r>
            <a:r>
              <a:rPr lang="ko-KR" altLang="en-US" sz="1400" dirty="0">
                <a:solidFill>
                  <a:srgbClr val="FF0000"/>
                </a:solidFill>
              </a:rPr>
              <a:t>명세서</a:t>
            </a:r>
            <a:r>
              <a:rPr lang="ko-KR" altLang="en-US" sz="1400" dirty="0">
                <a:solidFill>
                  <a:schemeClr val="tx2"/>
                </a:solidFill>
              </a:rPr>
              <a:t>의 국어번역문을 제출하지 아니한 경우에는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따른 기한이 되는 날의 다음 날에 해당 특허출원을 취하한 것으로 본다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⑤ </a:t>
            </a:r>
            <a:r>
              <a:rPr lang="ko-KR" altLang="en-US" sz="1400" dirty="0">
                <a:solidFill>
                  <a:schemeClr val="tx2"/>
                </a:solidFill>
              </a:rPr>
              <a:t>특허출원인이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따른 </a:t>
            </a:r>
            <a:r>
              <a:rPr lang="ko-KR" altLang="en-US" sz="1400" dirty="0" err="1">
                <a:solidFill>
                  <a:schemeClr val="tx2"/>
                </a:solidFill>
              </a:rPr>
              <a:t>국어번역문</a:t>
            </a:r>
            <a:r>
              <a:rPr lang="ko-KR" altLang="en-US" sz="1400" dirty="0">
                <a:solidFill>
                  <a:schemeClr val="tx2"/>
                </a:solidFill>
              </a:rPr>
              <a:t> 또는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 본문에 따른 새로운 국어번역문을 제출한 경우에는 외국어특허출원의 특허출원서에 최초로 첨부한 명세서 및 도면을 그 국어번역문에 따라 보정한 것으로 본다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 본문에 따라 새로운 국어번역문을 제출한 경우에는 마지막 </a:t>
            </a:r>
            <a:r>
              <a:rPr lang="ko-KR" altLang="en-US" sz="1400" dirty="0" err="1">
                <a:solidFill>
                  <a:schemeClr val="tx2"/>
                </a:solidFill>
              </a:rPr>
              <a:t>국어번역문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이하 이 조 및 제</a:t>
            </a:r>
            <a:r>
              <a:rPr lang="en-US" altLang="ko-KR" sz="1400" dirty="0">
                <a:solidFill>
                  <a:schemeClr val="tx2"/>
                </a:solidFill>
              </a:rPr>
              <a:t>47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 후단에서 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최종 </a:t>
            </a:r>
            <a:r>
              <a:rPr lang="ko-KR" altLang="en-US" sz="1400" dirty="0" err="1">
                <a:solidFill>
                  <a:schemeClr val="tx2"/>
                </a:solidFill>
              </a:rPr>
              <a:t>국어번역문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이라 한다</a:t>
            </a:r>
            <a:r>
              <a:rPr lang="en-US" altLang="ko-KR" sz="1400" dirty="0">
                <a:solidFill>
                  <a:schemeClr val="tx2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전에 제출한 국어번역문에 따라 보정한 것으로 보는 모든 보정은 처음부터 없었던 것으로 본다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⑥ </a:t>
            </a:r>
            <a:r>
              <a:rPr lang="ko-KR" altLang="en-US" sz="1400" dirty="0">
                <a:solidFill>
                  <a:schemeClr val="tx2"/>
                </a:solidFill>
              </a:rPr>
              <a:t>특허출원인은 제</a:t>
            </a:r>
            <a:r>
              <a:rPr lang="en-US" altLang="ko-KR" sz="1400" dirty="0">
                <a:solidFill>
                  <a:schemeClr val="tx2"/>
                </a:solidFill>
              </a:rPr>
              <a:t>47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보정을 할 수 있는 기간에 최종 국어번역문의 잘못된 번역을 총리령으로 정하는 방법에 따라 정정할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 경우 정정된 국어번역문에 관하여는 제</a:t>
            </a:r>
            <a:r>
              <a:rPr lang="en-US" altLang="ko-KR" sz="1400" dirty="0">
                <a:solidFill>
                  <a:schemeClr val="tx2"/>
                </a:solidFill>
              </a:rPr>
              <a:t>5</a:t>
            </a:r>
            <a:r>
              <a:rPr lang="ko-KR" altLang="en-US" sz="1400" dirty="0">
                <a:solidFill>
                  <a:schemeClr val="tx2"/>
                </a:solidFill>
              </a:rPr>
              <a:t>항을 적용하지 아니한다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⑦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</a:t>
            </a:r>
            <a:r>
              <a:rPr lang="ko-KR" altLang="en-US" sz="1400" dirty="0">
                <a:solidFill>
                  <a:schemeClr val="tx2"/>
                </a:solidFill>
              </a:rPr>
              <a:t>항 전단에 따라 제</a:t>
            </a:r>
            <a:r>
              <a:rPr lang="en-US" altLang="ko-KR" sz="1400" dirty="0">
                <a:solidFill>
                  <a:schemeClr val="tx2"/>
                </a:solidFill>
              </a:rPr>
              <a:t>47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호 또는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호에 따른 기간에 정정을 하는 경우에는 마지막 정정 전에 한 모든 정정은 처음부터 없었던 것으로 본다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1605890" y="5054120"/>
            <a:ext cx="1509648" cy="29412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출원서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1605890" y="5446621"/>
            <a:ext cx="1509648" cy="29412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명세서</a:t>
            </a:r>
            <a:r>
              <a:rPr lang="en-US" altLang="ko-KR" sz="1200" dirty="0">
                <a:solidFill>
                  <a:schemeClr val="tx1"/>
                </a:solidFill>
              </a:rPr>
              <a:t>*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1605890" y="5863002"/>
            <a:ext cx="1509648" cy="29412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필요한 도면</a:t>
            </a:r>
            <a:r>
              <a:rPr lang="en-US" altLang="ko-KR" sz="1200" dirty="0">
                <a:solidFill>
                  <a:schemeClr val="tx1"/>
                </a:solidFill>
              </a:rPr>
              <a:t>*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1605890" y="6255504"/>
            <a:ext cx="1509648" cy="29412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요약서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71" name="꺾인 연결선 70"/>
          <p:cNvCxnSpPr>
            <a:stCxn id="76" idx="3"/>
            <a:endCxn id="67" idx="1"/>
          </p:cNvCxnSpPr>
          <p:nvPr/>
        </p:nvCxnSpPr>
        <p:spPr>
          <a:xfrm>
            <a:off x="931494" y="5789247"/>
            <a:ext cx="674396" cy="61332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꺾인 연결선 71"/>
          <p:cNvCxnSpPr>
            <a:stCxn id="76" idx="3"/>
            <a:endCxn id="64" idx="1"/>
          </p:cNvCxnSpPr>
          <p:nvPr/>
        </p:nvCxnSpPr>
        <p:spPr>
          <a:xfrm flipV="1">
            <a:off x="931494" y="5593685"/>
            <a:ext cx="674396" cy="19556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stCxn id="76" idx="3"/>
            <a:endCxn id="66" idx="1"/>
          </p:cNvCxnSpPr>
          <p:nvPr/>
        </p:nvCxnSpPr>
        <p:spPr>
          <a:xfrm>
            <a:off x="931494" y="5789247"/>
            <a:ext cx="674396" cy="220819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/>
          <p:cNvSpPr/>
          <p:nvPr/>
        </p:nvSpPr>
        <p:spPr>
          <a:xfrm>
            <a:off x="258630" y="5485343"/>
            <a:ext cx="672864" cy="60780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출원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서류</a:t>
            </a:r>
          </a:p>
        </p:txBody>
      </p:sp>
      <p:cxnSp>
        <p:nvCxnSpPr>
          <p:cNvPr id="77" name="꺾인 연결선 76"/>
          <p:cNvCxnSpPr>
            <a:stCxn id="62" idx="1"/>
            <a:endCxn id="76" idx="3"/>
          </p:cNvCxnSpPr>
          <p:nvPr/>
        </p:nvCxnSpPr>
        <p:spPr>
          <a:xfrm rot="10800000" flipV="1">
            <a:off x="931494" y="5201183"/>
            <a:ext cx="674396" cy="588063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/>
          <p:cNvSpPr/>
          <p:nvPr/>
        </p:nvSpPr>
        <p:spPr>
          <a:xfrm>
            <a:off x="3607249" y="5857613"/>
            <a:ext cx="1195490" cy="2972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설명부분</a:t>
            </a:r>
            <a:r>
              <a:rPr lang="ko-KR" altLang="en-US" sz="1200" dirty="0">
                <a:solidFill>
                  <a:schemeClr val="tx1"/>
                </a:solidFill>
              </a:rPr>
              <a:t> 포함</a:t>
            </a:r>
            <a:r>
              <a:rPr lang="en-US" altLang="ko-KR" sz="1200" dirty="0">
                <a:solidFill>
                  <a:schemeClr val="tx1"/>
                </a:solidFill>
              </a:rPr>
              <a:t>*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3607251" y="6277076"/>
            <a:ext cx="1195489" cy="29412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설명부분</a:t>
            </a:r>
            <a:r>
              <a:rPr lang="ko-KR" altLang="en-US" sz="1200" dirty="0">
                <a:solidFill>
                  <a:schemeClr val="tx1"/>
                </a:solidFill>
              </a:rPr>
              <a:t> 제외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24" name="꺾인 연결선 23"/>
          <p:cNvCxnSpPr>
            <a:stCxn id="66" idx="3"/>
            <a:endCxn id="26" idx="1"/>
          </p:cNvCxnSpPr>
          <p:nvPr/>
        </p:nvCxnSpPr>
        <p:spPr>
          <a:xfrm flipV="1">
            <a:off x="3115538" y="6006218"/>
            <a:ext cx="491711" cy="384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 27"/>
          <p:cNvCxnSpPr>
            <a:stCxn id="66" idx="3"/>
            <a:endCxn id="27" idx="1"/>
          </p:cNvCxnSpPr>
          <p:nvPr/>
        </p:nvCxnSpPr>
        <p:spPr>
          <a:xfrm>
            <a:off x="3115538" y="6010066"/>
            <a:ext cx="491713" cy="41407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>
            <a:off x="5049603" y="4948015"/>
            <a:ext cx="0" cy="181633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/>
          <p:cNvSpPr/>
          <p:nvPr/>
        </p:nvSpPr>
        <p:spPr>
          <a:xfrm>
            <a:off x="5543027" y="5242937"/>
            <a:ext cx="1144412" cy="4571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외국어특허출원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(</a:t>
            </a:r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</a:t>
            </a:r>
            <a:r>
              <a:rPr lang="ko-KR" altLang="en-US" sz="1050" dirty="0">
                <a:solidFill>
                  <a:schemeClr val="tx1"/>
                </a:solidFill>
              </a:rPr>
              <a:t>의</a:t>
            </a:r>
            <a:r>
              <a:rPr lang="en-US" altLang="ko-KR" sz="1050" dirty="0">
                <a:solidFill>
                  <a:schemeClr val="tx1"/>
                </a:solidFill>
              </a:rPr>
              <a:t>3①)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7100028" y="5242937"/>
            <a:ext cx="1144412" cy="4571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번역문제출기간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(</a:t>
            </a:r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</a:t>
            </a:r>
            <a:r>
              <a:rPr lang="ko-KR" altLang="en-US" sz="1050" dirty="0">
                <a:solidFill>
                  <a:schemeClr val="tx1"/>
                </a:solidFill>
              </a:rPr>
              <a:t>의</a:t>
            </a:r>
            <a:r>
              <a:rPr lang="en-US" altLang="ko-KR" sz="1050" dirty="0">
                <a:solidFill>
                  <a:schemeClr val="tx1"/>
                </a:solidFill>
              </a:rPr>
              <a:t>3②)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8621505" y="4999191"/>
            <a:ext cx="1144412" cy="4571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不제출효과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(</a:t>
            </a:r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</a:t>
            </a:r>
            <a:r>
              <a:rPr lang="ko-KR" altLang="en-US" sz="1050" dirty="0">
                <a:solidFill>
                  <a:schemeClr val="tx1"/>
                </a:solidFill>
              </a:rPr>
              <a:t>의</a:t>
            </a:r>
            <a:r>
              <a:rPr lang="en-US" altLang="ko-KR" sz="1050" dirty="0">
                <a:solidFill>
                  <a:schemeClr val="tx1"/>
                </a:solidFill>
              </a:rPr>
              <a:t>3④)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8621505" y="5524791"/>
            <a:ext cx="1144412" cy="4571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제출효과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10131151" y="5516245"/>
            <a:ext cx="1144412" cy="4571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보정간주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(</a:t>
            </a:r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</a:t>
            </a:r>
            <a:r>
              <a:rPr lang="ko-KR" altLang="en-US" sz="1050" dirty="0">
                <a:solidFill>
                  <a:schemeClr val="tx1"/>
                </a:solidFill>
              </a:rPr>
              <a:t>의</a:t>
            </a:r>
            <a:r>
              <a:rPr lang="en-US" altLang="ko-KR" sz="1050" dirty="0">
                <a:solidFill>
                  <a:schemeClr val="tx1"/>
                </a:solidFill>
              </a:rPr>
              <a:t>3⑤)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10131151" y="6152953"/>
            <a:ext cx="1144412" cy="4571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오역정정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(</a:t>
            </a:r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</a:t>
            </a:r>
            <a:r>
              <a:rPr lang="ko-KR" altLang="en-US" sz="1050" dirty="0">
                <a:solidFill>
                  <a:schemeClr val="tx1"/>
                </a:solidFill>
              </a:rPr>
              <a:t>의</a:t>
            </a:r>
            <a:r>
              <a:rPr lang="en-US" altLang="ko-KR" sz="1050" dirty="0">
                <a:solidFill>
                  <a:schemeClr val="tx1"/>
                </a:solidFill>
              </a:rPr>
              <a:t>3⑥⑦)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7107904" y="5954518"/>
            <a:ext cx="1144412" cy="4571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번역문 교체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(</a:t>
            </a:r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</a:t>
            </a:r>
            <a:r>
              <a:rPr lang="ko-KR" altLang="en-US" sz="1050" dirty="0">
                <a:solidFill>
                  <a:schemeClr val="tx1"/>
                </a:solidFill>
              </a:rPr>
              <a:t>의</a:t>
            </a:r>
            <a:r>
              <a:rPr lang="en-US" altLang="ko-KR" sz="1050" dirty="0">
                <a:solidFill>
                  <a:schemeClr val="tx1"/>
                </a:solidFill>
              </a:rPr>
              <a:t>3③)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38" name="직선 연결선 37"/>
          <p:cNvCxnSpPr>
            <a:stCxn id="54" idx="3"/>
            <a:endCxn id="55" idx="1"/>
          </p:cNvCxnSpPr>
          <p:nvPr/>
        </p:nvCxnSpPr>
        <p:spPr>
          <a:xfrm>
            <a:off x="6687439" y="5471490"/>
            <a:ext cx="412589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>
            <a:stCxn id="63" idx="0"/>
            <a:endCxn id="55" idx="2"/>
          </p:cNvCxnSpPr>
          <p:nvPr/>
        </p:nvCxnSpPr>
        <p:spPr>
          <a:xfrm flipH="1" flipV="1">
            <a:off x="7672234" y="5700042"/>
            <a:ext cx="7876" cy="25447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>
            <a:stCxn id="55" idx="3"/>
            <a:endCxn id="56" idx="1"/>
          </p:cNvCxnSpPr>
          <p:nvPr/>
        </p:nvCxnSpPr>
        <p:spPr>
          <a:xfrm flipV="1">
            <a:off x="8244440" y="5227744"/>
            <a:ext cx="377065" cy="24374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꺾인 연결선 43"/>
          <p:cNvCxnSpPr>
            <a:stCxn id="55" idx="3"/>
            <a:endCxn id="57" idx="1"/>
          </p:cNvCxnSpPr>
          <p:nvPr/>
        </p:nvCxnSpPr>
        <p:spPr>
          <a:xfrm>
            <a:off x="8244440" y="5471490"/>
            <a:ext cx="377065" cy="28185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꺾인 연결선 46"/>
          <p:cNvCxnSpPr>
            <a:stCxn id="57" idx="3"/>
            <a:endCxn id="58" idx="1"/>
          </p:cNvCxnSpPr>
          <p:nvPr/>
        </p:nvCxnSpPr>
        <p:spPr>
          <a:xfrm flipV="1">
            <a:off x="9765917" y="5744798"/>
            <a:ext cx="365234" cy="854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꺾인 연결선 48"/>
          <p:cNvCxnSpPr>
            <a:stCxn id="57" idx="3"/>
            <a:endCxn id="59" idx="1"/>
          </p:cNvCxnSpPr>
          <p:nvPr/>
        </p:nvCxnSpPr>
        <p:spPr>
          <a:xfrm>
            <a:off x="9765917" y="5753344"/>
            <a:ext cx="365234" cy="62816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186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7081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/>
        </p:nvSpPr>
        <p:spPr>
          <a:xfrm>
            <a:off x="3749758" y="2024885"/>
            <a:ext cx="958306" cy="49244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공개준비기간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최대 </a:t>
            </a:r>
            <a:r>
              <a:rPr lang="en-US" altLang="ko-KR" sz="1100" dirty="0">
                <a:solidFill>
                  <a:srgbClr val="FF0000"/>
                </a:solidFill>
              </a:rPr>
              <a:t>4</a:t>
            </a:r>
            <a:r>
              <a:rPr lang="ko-KR" altLang="en-US" sz="1100" dirty="0">
                <a:solidFill>
                  <a:srgbClr val="FF0000"/>
                </a:solidFill>
              </a:rPr>
              <a:t>개월</a:t>
            </a:r>
            <a:r>
              <a:rPr lang="en-US" altLang="ko-KR" sz="1100" dirty="0">
                <a:solidFill>
                  <a:srgbClr val="FF0000"/>
                </a:solidFill>
              </a:rPr>
              <a:t>)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조의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국어번역문</a:t>
            </a:r>
            <a:r>
              <a:rPr lang="ko-KR" altLang="en-US" dirty="0"/>
              <a:t> 제출기간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27524" y="1106382"/>
            <a:ext cx="2153886" cy="50591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원칙적 제출기간</a:t>
            </a:r>
            <a:endParaRPr lang="en-US" altLang="ko-KR" sz="16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1100" b="0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42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조의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r>
              <a:rPr lang="ko-KR" altLang="en-US" sz="1100" dirty="0" err="1">
                <a:solidFill>
                  <a:schemeClr val="bg1"/>
                </a:solidFill>
                <a:latin typeface="+mj-ea"/>
                <a:ea typeface="+mj-ea"/>
              </a:rPr>
              <a:t>항본문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100299" y="2536498"/>
            <a:ext cx="5453829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stCxn id="7" idx="0"/>
          </p:cNvCxnSpPr>
          <p:nvPr/>
        </p:nvCxnSpPr>
        <p:spPr>
          <a:xfrm flipV="1">
            <a:off x="752933" y="2536500"/>
            <a:ext cx="0" cy="28284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stCxn id="8" idx="0"/>
          </p:cNvCxnSpPr>
          <p:nvPr/>
        </p:nvCxnSpPr>
        <p:spPr>
          <a:xfrm flipV="1">
            <a:off x="4860421" y="2536500"/>
            <a:ext cx="0" cy="28284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자유형 16"/>
          <p:cNvSpPr/>
          <p:nvPr/>
        </p:nvSpPr>
        <p:spPr>
          <a:xfrm>
            <a:off x="745975" y="1864623"/>
            <a:ext cx="4098634" cy="633033"/>
          </a:xfrm>
          <a:custGeom>
            <a:avLst/>
            <a:gdLst>
              <a:gd name="connsiteX0" fmla="*/ 0 w 4944533"/>
              <a:gd name="connsiteY0" fmla="*/ 524934 h 524934"/>
              <a:gd name="connsiteX1" fmla="*/ 0 w 4944533"/>
              <a:gd name="connsiteY1" fmla="*/ 0 h 524934"/>
              <a:gd name="connsiteX2" fmla="*/ 4944533 w 4944533"/>
              <a:gd name="connsiteY2" fmla="*/ 0 h 524934"/>
              <a:gd name="connsiteX3" fmla="*/ 4944533 w 4944533"/>
              <a:gd name="connsiteY3" fmla="*/ 524934 h 524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44533" h="524934">
                <a:moveTo>
                  <a:pt x="0" y="524934"/>
                </a:moveTo>
                <a:lnTo>
                  <a:pt x="0" y="0"/>
                </a:lnTo>
                <a:lnTo>
                  <a:pt x="4944533" y="0"/>
                </a:lnTo>
                <a:lnTo>
                  <a:pt x="4944533" y="524934"/>
                </a:lnTo>
              </a:path>
            </a:pathLst>
          </a:cu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자유형 17"/>
          <p:cNvSpPr/>
          <p:nvPr/>
        </p:nvSpPr>
        <p:spPr>
          <a:xfrm>
            <a:off x="745975" y="2128971"/>
            <a:ext cx="2883347" cy="379076"/>
          </a:xfrm>
          <a:custGeom>
            <a:avLst/>
            <a:gdLst>
              <a:gd name="connsiteX0" fmla="*/ 0 w 4944533"/>
              <a:gd name="connsiteY0" fmla="*/ 524934 h 524934"/>
              <a:gd name="connsiteX1" fmla="*/ 0 w 4944533"/>
              <a:gd name="connsiteY1" fmla="*/ 0 h 524934"/>
              <a:gd name="connsiteX2" fmla="*/ 4944533 w 4944533"/>
              <a:gd name="connsiteY2" fmla="*/ 0 h 524934"/>
              <a:gd name="connsiteX3" fmla="*/ 4944533 w 4944533"/>
              <a:gd name="connsiteY3" fmla="*/ 524934 h 524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44533" h="524934">
                <a:moveTo>
                  <a:pt x="0" y="524934"/>
                </a:moveTo>
                <a:lnTo>
                  <a:pt x="0" y="0"/>
                </a:lnTo>
                <a:lnTo>
                  <a:pt x="4944533" y="0"/>
                </a:lnTo>
                <a:lnTo>
                  <a:pt x="4944533" y="524934"/>
                </a:lnTo>
              </a:path>
            </a:pathLst>
          </a:cu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2777221" y="1715973"/>
            <a:ext cx="81144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1</a:t>
            </a:r>
            <a:r>
              <a:rPr lang="ko-KR" altLang="en-US" sz="1200" dirty="0"/>
              <a:t>년 </a:t>
            </a:r>
            <a:r>
              <a:rPr lang="en-US" altLang="ko-KR" sz="1200" dirty="0"/>
              <a:t>6</a:t>
            </a:r>
            <a:r>
              <a:rPr lang="ko-KR" altLang="en-US" sz="1200" dirty="0"/>
              <a:t>개월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6913" y="1956603"/>
            <a:ext cx="67262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</a:t>
            </a:r>
            <a:r>
              <a:rPr lang="ko-KR" altLang="en-US" sz="1200" dirty="0"/>
              <a:t>년 </a:t>
            </a:r>
            <a:r>
              <a:rPr lang="en-US" altLang="ko-KR" sz="1200" dirty="0"/>
              <a:t>2</a:t>
            </a:r>
            <a:r>
              <a:rPr lang="ko-KR" altLang="en-US" sz="1200" dirty="0"/>
              <a:t>개월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2657" y="2196485"/>
            <a:ext cx="136768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일반적 제출기간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75735" y="2819345"/>
            <a:ext cx="754396" cy="495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외국어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4483223" y="2819346"/>
            <a:ext cx="754396" cy="3387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출원공개</a:t>
            </a:r>
          </a:p>
        </p:txBody>
      </p:sp>
      <p:sp>
        <p:nvSpPr>
          <p:cNvPr id="53" name="자유형 52"/>
          <p:cNvSpPr/>
          <p:nvPr/>
        </p:nvSpPr>
        <p:spPr>
          <a:xfrm>
            <a:off x="8425865" y="2552095"/>
            <a:ext cx="840132" cy="465666"/>
          </a:xfrm>
          <a:custGeom>
            <a:avLst/>
            <a:gdLst>
              <a:gd name="connsiteX0" fmla="*/ 0 w 939800"/>
              <a:gd name="connsiteY0" fmla="*/ 8466 h 465666"/>
              <a:gd name="connsiteX1" fmla="*/ 135466 w 939800"/>
              <a:gd name="connsiteY1" fmla="*/ 465666 h 465666"/>
              <a:gd name="connsiteX2" fmla="*/ 804333 w 939800"/>
              <a:gd name="connsiteY2" fmla="*/ 465666 h 465666"/>
              <a:gd name="connsiteX3" fmla="*/ 939800 w 939800"/>
              <a:gd name="connsiteY3" fmla="*/ 0 h 46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9800" h="465666">
                <a:moveTo>
                  <a:pt x="0" y="8466"/>
                </a:moveTo>
                <a:lnTo>
                  <a:pt x="135466" y="465666"/>
                </a:lnTo>
                <a:lnTo>
                  <a:pt x="804333" y="465666"/>
                </a:lnTo>
                <a:lnTo>
                  <a:pt x="939800" y="0"/>
                </a:lnTo>
              </a:path>
            </a:pathLst>
          </a:custGeom>
          <a:pattFill prst="dotGrid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/>
                </a:solidFill>
              </a:rPr>
              <a:t>3</a:t>
            </a:r>
            <a:r>
              <a:rPr lang="ko-KR" altLang="en-US" dirty="0">
                <a:solidFill>
                  <a:schemeClr val="accent2"/>
                </a:solidFill>
              </a:rPr>
              <a:t>개월</a:t>
            </a:r>
          </a:p>
        </p:txBody>
      </p:sp>
      <p:cxnSp>
        <p:nvCxnSpPr>
          <p:cNvPr id="27" name="직선 연결선 26"/>
          <p:cNvCxnSpPr/>
          <p:nvPr/>
        </p:nvCxnSpPr>
        <p:spPr>
          <a:xfrm>
            <a:off x="6132541" y="2531671"/>
            <a:ext cx="588166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6429584" y="2814518"/>
            <a:ext cx="813575" cy="4998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외국어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cxnSp>
        <p:nvCxnSpPr>
          <p:cNvPr id="30" name="직선 화살표 연결선 29"/>
          <p:cNvCxnSpPr>
            <a:stCxn id="28" idx="0"/>
          </p:cNvCxnSpPr>
          <p:nvPr/>
        </p:nvCxnSpPr>
        <p:spPr>
          <a:xfrm flipV="1">
            <a:off x="6836371" y="2531673"/>
            <a:ext cx="0" cy="28284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자유형 32"/>
          <p:cNvSpPr/>
          <p:nvPr/>
        </p:nvSpPr>
        <p:spPr>
          <a:xfrm>
            <a:off x="6828867" y="2124144"/>
            <a:ext cx="4007714" cy="379076"/>
          </a:xfrm>
          <a:custGeom>
            <a:avLst/>
            <a:gdLst>
              <a:gd name="connsiteX0" fmla="*/ 0 w 4944533"/>
              <a:gd name="connsiteY0" fmla="*/ 524934 h 524934"/>
              <a:gd name="connsiteX1" fmla="*/ 0 w 4944533"/>
              <a:gd name="connsiteY1" fmla="*/ 0 h 524934"/>
              <a:gd name="connsiteX2" fmla="*/ 4944533 w 4944533"/>
              <a:gd name="connsiteY2" fmla="*/ 0 h 524934"/>
              <a:gd name="connsiteX3" fmla="*/ 4944533 w 4944533"/>
              <a:gd name="connsiteY3" fmla="*/ 524934 h 524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44533" h="524934">
                <a:moveTo>
                  <a:pt x="0" y="524934"/>
                </a:moveTo>
                <a:lnTo>
                  <a:pt x="0" y="0"/>
                </a:lnTo>
                <a:lnTo>
                  <a:pt x="4944533" y="0"/>
                </a:lnTo>
                <a:lnTo>
                  <a:pt x="4944533" y="524934"/>
                </a:lnTo>
              </a:path>
            </a:pathLst>
          </a:cu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8186073" y="1951776"/>
            <a:ext cx="81144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1</a:t>
            </a:r>
            <a:r>
              <a:rPr lang="ko-KR" altLang="en-US" sz="1200" dirty="0"/>
              <a:t>년 </a:t>
            </a:r>
            <a:r>
              <a:rPr lang="en-US" altLang="ko-KR" sz="1200" dirty="0"/>
              <a:t>2</a:t>
            </a:r>
            <a:r>
              <a:rPr lang="ko-KR" altLang="en-US" sz="1200" dirty="0"/>
              <a:t>개월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7139176" y="3442558"/>
            <a:ext cx="813575" cy="47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심사청구</a:t>
            </a:r>
          </a:p>
        </p:txBody>
      </p:sp>
      <p:cxnSp>
        <p:nvCxnSpPr>
          <p:cNvPr id="42" name="직선 화살표 연결선 41"/>
          <p:cNvCxnSpPr>
            <a:stCxn id="41" idx="0"/>
          </p:cNvCxnSpPr>
          <p:nvPr/>
        </p:nvCxnSpPr>
        <p:spPr>
          <a:xfrm flipH="1" flipV="1">
            <a:off x="7545963" y="2531674"/>
            <a:ext cx="1" cy="91088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/>
          <p:cNvSpPr/>
          <p:nvPr/>
        </p:nvSpPr>
        <p:spPr>
          <a:xfrm>
            <a:off x="8001406" y="3442558"/>
            <a:ext cx="813575" cy="47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취지통지</a:t>
            </a:r>
          </a:p>
        </p:txBody>
      </p:sp>
      <p:cxnSp>
        <p:nvCxnSpPr>
          <p:cNvPr id="46" name="직선 화살표 연결선 45"/>
          <p:cNvCxnSpPr>
            <a:stCxn id="45" idx="0"/>
          </p:cNvCxnSpPr>
          <p:nvPr/>
        </p:nvCxnSpPr>
        <p:spPr>
          <a:xfrm flipV="1">
            <a:off x="8408194" y="2531674"/>
            <a:ext cx="0" cy="91088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9274312" y="3441083"/>
            <a:ext cx="813575" cy="47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심사청구</a:t>
            </a:r>
          </a:p>
        </p:txBody>
      </p:sp>
      <p:cxnSp>
        <p:nvCxnSpPr>
          <p:cNvPr id="48" name="직선 화살표 연결선 47"/>
          <p:cNvCxnSpPr>
            <a:stCxn id="47" idx="0"/>
          </p:cNvCxnSpPr>
          <p:nvPr/>
        </p:nvCxnSpPr>
        <p:spPr>
          <a:xfrm flipV="1">
            <a:off x="9681100" y="2531674"/>
            <a:ext cx="0" cy="90940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/>
          <p:cNvSpPr/>
          <p:nvPr/>
        </p:nvSpPr>
        <p:spPr>
          <a:xfrm>
            <a:off x="10136543" y="3441083"/>
            <a:ext cx="813575" cy="47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취지통지</a:t>
            </a:r>
          </a:p>
        </p:txBody>
      </p:sp>
      <p:cxnSp>
        <p:nvCxnSpPr>
          <p:cNvPr id="50" name="직선 화살표 연결선 49"/>
          <p:cNvCxnSpPr>
            <a:stCxn id="49" idx="0"/>
          </p:cNvCxnSpPr>
          <p:nvPr/>
        </p:nvCxnSpPr>
        <p:spPr>
          <a:xfrm flipV="1">
            <a:off x="10543330" y="2531674"/>
            <a:ext cx="0" cy="90940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자유형 53"/>
          <p:cNvSpPr/>
          <p:nvPr/>
        </p:nvSpPr>
        <p:spPr>
          <a:xfrm>
            <a:off x="10543330" y="2552095"/>
            <a:ext cx="840132" cy="465666"/>
          </a:xfrm>
          <a:custGeom>
            <a:avLst/>
            <a:gdLst>
              <a:gd name="connsiteX0" fmla="*/ 0 w 939800"/>
              <a:gd name="connsiteY0" fmla="*/ 8466 h 465666"/>
              <a:gd name="connsiteX1" fmla="*/ 135466 w 939800"/>
              <a:gd name="connsiteY1" fmla="*/ 465666 h 465666"/>
              <a:gd name="connsiteX2" fmla="*/ 804333 w 939800"/>
              <a:gd name="connsiteY2" fmla="*/ 465666 h 465666"/>
              <a:gd name="connsiteX3" fmla="*/ 939800 w 939800"/>
              <a:gd name="connsiteY3" fmla="*/ 0 h 46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9800" h="465666">
                <a:moveTo>
                  <a:pt x="0" y="8466"/>
                </a:moveTo>
                <a:lnTo>
                  <a:pt x="135466" y="465666"/>
                </a:lnTo>
                <a:lnTo>
                  <a:pt x="804333" y="465666"/>
                </a:lnTo>
                <a:lnTo>
                  <a:pt x="939800" y="0"/>
                </a:lnTo>
              </a:path>
            </a:pathLst>
          </a:custGeom>
          <a:pattFill prst="dotGrid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/>
                </a:solidFill>
              </a:rPr>
              <a:t>3</a:t>
            </a:r>
            <a:r>
              <a:rPr lang="ko-KR" altLang="en-US" dirty="0">
                <a:solidFill>
                  <a:schemeClr val="accent2"/>
                </a:solidFill>
              </a:rPr>
              <a:t>개월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57895" y="3071751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13962" y="2945789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06441" y="2367429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58715" y="2249134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59" name="Rectangle 5"/>
          <p:cNvSpPr>
            <a:spLocks noChangeArrowheads="1"/>
          </p:cNvSpPr>
          <p:nvPr/>
        </p:nvSpPr>
        <p:spPr bwMode="auto">
          <a:xfrm>
            <a:off x="6166216" y="1106382"/>
            <a:ext cx="2153886" cy="50591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sz="1600" b="0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자의 심사청구</a:t>
            </a:r>
            <a:endParaRPr lang="en-US" altLang="ko-KR" sz="1600" b="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1100" b="0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42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조의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r>
              <a:rPr lang="ko-KR" altLang="en-US" sz="1100" dirty="0" err="1">
                <a:solidFill>
                  <a:schemeClr val="bg1"/>
                </a:solidFill>
                <a:latin typeface="+mj-ea"/>
                <a:ea typeface="+mj-ea"/>
              </a:rPr>
              <a:t>항단서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63" name="직선 연결선 62"/>
          <p:cNvCxnSpPr/>
          <p:nvPr/>
        </p:nvCxnSpPr>
        <p:spPr>
          <a:xfrm>
            <a:off x="5741812" y="1095555"/>
            <a:ext cx="0" cy="2816524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/>
          <p:nvPr/>
        </p:nvCxnSpPr>
        <p:spPr>
          <a:xfrm>
            <a:off x="375735" y="4140200"/>
            <a:ext cx="11469132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5"/>
          <p:cNvSpPr>
            <a:spLocks noChangeArrowheads="1"/>
          </p:cNvSpPr>
          <p:nvPr/>
        </p:nvSpPr>
        <p:spPr bwMode="auto">
          <a:xfrm>
            <a:off x="127524" y="4323715"/>
            <a:ext cx="2153886" cy="50591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분할출원</a:t>
            </a:r>
            <a:r>
              <a:rPr lang="en-US" altLang="ko-KR" sz="1600" dirty="0">
                <a:solidFill>
                  <a:schemeClr val="bg1"/>
                </a:solidFill>
                <a:latin typeface="+mj-ea"/>
                <a:ea typeface="+mj-ea"/>
              </a:rPr>
              <a:t>, </a:t>
            </a:r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변경출원</a:t>
            </a:r>
            <a:endParaRPr lang="en-US" altLang="ko-KR" sz="16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52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조제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7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항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, 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53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조제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7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항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</a:p>
        </p:txBody>
      </p:sp>
      <p:sp>
        <p:nvSpPr>
          <p:cNvPr id="80" name="자유형 79"/>
          <p:cNvSpPr/>
          <p:nvPr/>
        </p:nvSpPr>
        <p:spPr>
          <a:xfrm>
            <a:off x="5415468" y="5068041"/>
            <a:ext cx="840132" cy="465666"/>
          </a:xfrm>
          <a:custGeom>
            <a:avLst/>
            <a:gdLst>
              <a:gd name="connsiteX0" fmla="*/ 0 w 939800"/>
              <a:gd name="connsiteY0" fmla="*/ 8466 h 465666"/>
              <a:gd name="connsiteX1" fmla="*/ 135466 w 939800"/>
              <a:gd name="connsiteY1" fmla="*/ 465666 h 465666"/>
              <a:gd name="connsiteX2" fmla="*/ 804333 w 939800"/>
              <a:gd name="connsiteY2" fmla="*/ 465666 h 465666"/>
              <a:gd name="connsiteX3" fmla="*/ 939800 w 939800"/>
              <a:gd name="connsiteY3" fmla="*/ 0 h 46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9800" h="465666">
                <a:moveTo>
                  <a:pt x="0" y="8466"/>
                </a:moveTo>
                <a:lnTo>
                  <a:pt x="135466" y="465666"/>
                </a:lnTo>
                <a:lnTo>
                  <a:pt x="804333" y="465666"/>
                </a:lnTo>
                <a:lnTo>
                  <a:pt x="939800" y="0"/>
                </a:lnTo>
              </a:path>
            </a:pathLst>
          </a:custGeom>
          <a:pattFill prst="ltHorz">
            <a:fgClr>
              <a:schemeClr val="accent4"/>
            </a:fgClr>
            <a:bgClr>
              <a:schemeClr val="bg1"/>
            </a:bgClr>
          </a:patt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>
                    <a:lumMod val="50000"/>
                  </a:schemeClr>
                </a:solidFill>
              </a:rPr>
              <a:t>30</a:t>
            </a:r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일</a:t>
            </a:r>
          </a:p>
        </p:txBody>
      </p:sp>
      <p:cxnSp>
        <p:nvCxnSpPr>
          <p:cNvPr id="81" name="직선 연결선 80"/>
          <p:cNvCxnSpPr/>
          <p:nvPr/>
        </p:nvCxnSpPr>
        <p:spPr>
          <a:xfrm>
            <a:off x="3122144" y="5047617"/>
            <a:ext cx="8527989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/>
          <p:cNvSpPr/>
          <p:nvPr/>
        </p:nvSpPr>
        <p:spPr>
          <a:xfrm>
            <a:off x="3419187" y="5330465"/>
            <a:ext cx="813575" cy="3387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cxnSp>
        <p:nvCxnSpPr>
          <p:cNvPr id="83" name="직선 화살표 연결선 82"/>
          <p:cNvCxnSpPr>
            <a:stCxn id="82" idx="0"/>
          </p:cNvCxnSpPr>
          <p:nvPr/>
        </p:nvCxnSpPr>
        <p:spPr>
          <a:xfrm flipV="1">
            <a:off x="3825974" y="5047619"/>
            <a:ext cx="0" cy="28284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자유형 83"/>
          <p:cNvSpPr/>
          <p:nvPr/>
        </p:nvSpPr>
        <p:spPr>
          <a:xfrm>
            <a:off x="3818470" y="4640090"/>
            <a:ext cx="4007714" cy="379076"/>
          </a:xfrm>
          <a:custGeom>
            <a:avLst/>
            <a:gdLst>
              <a:gd name="connsiteX0" fmla="*/ 0 w 4944533"/>
              <a:gd name="connsiteY0" fmla="*/ 524934 h 524934"/>
              <a:gd name="connsiteX1" fmla="*/ 0 w 4944533"/>
              <a:gd name="connsiteY1" fmla="*/ 0 h 524934"/>
              <a:gd name="connsiteX2" fmla="*/ 4944533 w 4944533"/>
              <a:gd name="connsiteY2" fmla="*/ 0 h 524934"/>
              <a:gd name="connsiteX3" fmla="*/ 4944533 w 4944533"/>
              <a:gd name="connsiteY3" fmla="*/ 524934 h 524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44533" h="524934">
                <a:moveTo>
                  <a:pt x="0" y="524934"/>
                </a:moveTo>
                <a:lnTo>
                  <a:pt x="0" y="0"/>
                </a:lnTo>
                <a:lnTo>
                  <a:pt x="4944533" y="0"/>
                </a:lnTo>
                <a:lnTo>
                  <a:pt x="4944533" y="524934"/>
                </a:lnTo>
              </a:path>
            </a:pathLst>
          </a:cu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/>
          <p:cNvSpPr txBox="1"/>
          <p:nvPr/>
        </p:nvSpPr>
        <p:spPr>
          <a:xfrm>
            <a:off x="4002579" y="4501590"/>
            <a:ext cx="359746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일반적인 제출기간</a:t>
            </a:r>
            <a:r>
              <a:rPr lang="en-US" altLang="ko-KR" sz="1200" dirty="0"/>
              <a:t>(</a:t>
            </a:r>
            <a:r>
              <a:rPr lang="ko-KR" altLang="en-US" sz="1200" dirty="0"/>
              <a:t>제</a:t>
            </a:r>
            <a:r>
              <a:rPr lang="en-US" altLang="ko-KR" sz="1200" dirty="0"/>
              <a:t>42</a:t>
            </a:r>
            <a:r>
              <a:rPr lang="ko-KR" altLang="en-US" sz="1200" dirty="0"/>
              <a:t>조의</a:t>
            </a:r>
            <a:r>
              <a:rPr lang="en-US" altLang="ko-KR" sz="1200" dirty="0"/>
              <a:t>3</a:t>
            </a:r>
            <a:r>
              <a:rPr lang="ko-KR" altLang="en-US" sz="1200" dirty="0"/>
              <a:t>제</a:t>
            </a:r>
            <a:r>
              <a:rPr lang="en-US" altLang="ko-KR" sz="1200" dirty="0"/>
              <a:t>2</a:t>
            </a:r>
            <a:r>
              <a:rPr lang="ko-KR" altLang="en-US" sz="1200" dirty="0"/>
              <a:t>항 본문</a:t>
            </a:r>
            <a:r>
              <a:rPr lang="en-US" altLang="ko-KR" sz="1200" dirty="0"/>
              <a:t>+</a:t>
            </a:r>
            <a:r>
              <a:rPr lang="ko-KR" altLang="en-US" sz="1200" dirty="0"/>
              <a:t>단서</a:t>
            </a:r>
            <a:r>
              <a:rPr lang="en-US" altLang="ko-KR" sz="1200" dirty="0"/>
              <a:t>, </a:t>
            </a:r>
            <a:r>
              <a:rPr lang="ko-KR" altLang="en-US" sz="1200" dirty="0"/>
              <a:t>제</a:t>
            </a:r>
            <a:r>
              <a:rPr lang="en-US" altLang="ko-KR" sz="1200" dirty="0"/>
              <a:t>3</a:t>
            </a:r>
            <a:r>
              <a:rPr lang="ko-KR" altLang="en-US" sz="1200" dirty="0"/>
              <a:t>항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88" name="직사각형 87"/>
          <p:cNvSpPr/>
          <p:nvPr/>
        </p:nvSpPr>
        <p:spPr>
          <a:xfrm>
            <a:off x="4991009" y="5940071"/>
            <a:ext cx="813575" cy="6853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외국어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분할출원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변경출원</a:t>
            </a:r>
          </a:p>
        </p:txBody>
      </p:sp>
      <p:cxnSp>
        <p:nvCxnSpPr>
          <p:cNvPr id="89" name="직선 화살표 연결선 88"/>
          <p:cNvCxnSpPr>
            <a:stCxn id="88" idx="0"/>
          </p:cNvCxnSpPr>
          <p:nvPr/>
        </p:nvCxnSpPr>
        <p:spPr>
          <a:xfrm flipH="1" flipV="1">
            <a:off x="5389000" y="5076507"/>
            <a:ext cx="8797" cy="86356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직사각형 91"/>
          <p:cNvSpPr/>
          <p:nvPr/>
        </p:nvSpPr>
        <p:spPr>
          <a:xfrm>
            <a:off x="7126146" y="5957029"/>
            <a:ext cx="813575" cy="6683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외국어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분할출원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변경출원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93" name="직선 화살표 연결선 92"/>
          <p:cNvCxnSpPr>
            <a:stCxn id="92" idx="0"/>
          </p:cNvCxnSpPr>
          <p:nvPr/>
        </p:nvCxnSpPr>
        <p:spPr>
          <a:xfrm flipV="1">
            <a:off x="7532933" y="5047620"/>
            <a:ext cx="0" cy="90940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자유형 93"/>
          <p:cNvSpPr/>
          <p:nvPr/>
        </p:nvSpPr>
        <p:spPr>
          <a:xfrm>
            <a:off x="7532933" y="5068041"/>
            <a:ext cx="840132" cy="465666"/>
          </a:xfrm>
          <a:custGeom>
            <a:avLst/>
            <a:gdLst>
              <a:gd name="connsiteX0" fmla="*/ 0 w 939800"/>
              <a:gd name="connsiteY0" fmla="*/ 8466 h 465666"/>
              <a:gd name="connsiteX1" fmla="*/ 135466 w 939800"/>
              <a:gd name="connsiteY1" fmla="*/ 465666 h 465666"/>
              <a:gd name="connsiteX2" fmla="*/ 804333 w 939800"/>
              <a:gd name="connsiteY2" fmla="*/ 465666 h 465666"/>
              <a:gd name="connsiteX3" fmla="*/ 939800 w 939800"/>
              <a:gd name="connsiteY3" fmla="*/ 0 h 46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9800" h="465666">
                <a:moveTo>
                  <a:pt x="0" y="8466"/>
                </a:moveTo>
                <a:lnTo>
                  <a:pt x="135466" y="465666"/>
                </a:lnTo>
                <a:lnTo>
                  <a:pt x="804333" y="465666"/>
                </a:lnTo>
                <a:lnTo>
                  <a:pt x="939800" y="0"/>
                </a:lnTo>
              </a:path>
            </a:pathLst>
          </a:custGeom>
          <a:pattFill prst="ltHorz">
            <a:fgClr>
              <a:schemeClr val="accent4"/>
            </a:fgClr>
            <a:bgClr>
              <a:schemeClr val="bg1"/>
            </a:bgClr>
          </a:patt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>
                    <a:lumMod val="50000"/>
                  </a:schemeClr>
                </a:solidFill>
              </a:rPr>
              <a:t>30</a:t>
            </a:r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일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47498" y="5587697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203565" y="5554872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32931" y="4857974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15607" y="4866684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100" name="직사각형 99"/>
          <p:cNvSpPr/>
          <p:nvPr/>
        </p:nvSpPr>
        <p:spPr>
          <a:xfrm>
            <a:off x="9417031" y="5957029"/>
            <a:ext cx="813575" cy="6683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외국어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분할출원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변경출원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101" name="직선 화살표 연결선 100"/>
          <p:cNvCxnSpPr>
            <a:stCxn id="100" idx="0"/>
          </p:cNvCxnSpPr>
          <p:nvPr/>
        </p:nvCxnSpPr>
        <p:spPr>
          <a:xfrm flipV="1">
            <a:off x="9823818" y="5047620"/>
            <a:ext cx="0" cy="90940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자유형 101"/>
          <p:cNvSpPr/>
          <p:nvPr/>
        </p:nvSpPr>
        <p:spPr>
          <a:xfrm>
            <a:off x="9823818" y="5068041"/>
            <a:ext cx="840132" cy="465666"/>
          </a:xfrm>
          <a:custGeom>
            <a:avLst/>
            <a:gdLst>
              <a:gd name="connsiteX0" fmla="*/ 0 w 939800"/>
              <a:gd name="connsiteY0" fmla="*/ 8466 h 465666"/>
              <a:gd name="connsiteX1" fmla="*/ 135466 w 939800"/>
              <a:gd name="connsiteY1" fmla="*/ 465666 h 465666"/>
              <a:gd name="connsiteX2" fmla="*/ 804333 w 939800"/>
              <a:gd name="connsiteY2" fmla="*/ 465666 h 465666"/>
              <a:gd name="connsiteX3" fmla="*/ 939800 w 939800"/>
              <a:gd name="connsiteY3" fmla="*/ 0 h 46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9800" h="465666">
                <a:moveTo>
                  <a:pt x="0" y="8466"/>
                </a:moveTo>
                <a:lnTo>
                  <a:pt x="135466" y="465666"/>
                </a:lnTo>
                <a:lnTo>
                  <a:pt x="804333" y="465666"/>
                </a:lnTo>
                <a:lnTo>
                  <a:pt x="939800" y="0"/>
                </a:lnTo>
              </a:path>
            </a:pathLst>
          </a:custGeom>
          <a:pattFill prst="ltHorz">
            <a:fgClr>
              <a:schemeClr val="accent4"/>
            </a:fgClr>
            <a:bgClr>
              <a:schemeClr val="bg1"/>
            </a:bgClr>
          </a:patt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>
                    <a:lumMod val="50000"/>
                  </a:schemeClr>
                </a:solidFill>
              </a:rPr>
              <a:t>30</a:t>
            </a:r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일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638383" y="5587697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❸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503045" y="4857914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❸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187</a:t>
            </a:fld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7D60BFE-FF2D-4283-B162-8F15D9669701}"/>
              </a:ext>
            </a:extLst>
          </p:cNvPr>
          <p:cNvSpPr txBox="1"/>
          <p:nvPr/>
        </p:nvSpPr>
        <p:spPr>
          <a:xfrm>
            <a:off x="100299" y="6527335"/>
            <a:ext cx="24432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* </a:t>
            </a:r>
            <a:r>
              <a:rPr lang="ko-KR" altLang="en-US" sz="1100" dirty="0">
                <a:solidFill>
                  <a:srgbClr val="FF0000"/>
                </a:solidFill>
              </a:rPr>
              <a:t>분리출원의 경우 </a:t>
            </a:r>
            <a:r>
              <a:rPr lang="ko-KR" altLang="en-US" sz="1100" dirty="0" err="1">
                <a:solidFill>
                  <a:srgbClr val="FF0000"/>
                </a:solidFill>
              </a:rPr>
              <a:t>외국어특허출원</a:t>
            </a:r>
            <a:r>
              <a:rPr lang="ko-KR" altLang="en-US" sz="1100" dirty="0">
                <a:solidFill>
                  <a:srgbClr val="FF0000"/>
                </a:solidFill>
              </a:rPr>
              <a:t> 불가</a:t>
            </a:r>
          </a:p>
        </p:txBody>
      </p:sp>
    </p:spTree>
    <p:extLst>
      <p:ext uri="{BB962C8B-B14F-4D97-AF65-F5344CB8AC3E}">
        <p14:creationId xmlns:p14="http://schemas.microsoft.com/office/powerpoint/2010/main" val="29616621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조의</a:t>
            </a:r>
            <a:r>
              <a:rPr lang="en-US" altLang="ko-KR" dirty="0"/>
              <a:t>3, </a:t>
            </a:r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외국어특허출원의 보정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875" y="986046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47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특허출원의 보정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②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</a:t>
            </a:r>
            <a:r>
              <a:rPr lang="ko-KR" altLang="en-US" sz="1400" b="1" dirty="0">
                <a:solidFill>
                  <a:schemeClr val="accent1"/>
                </a:solidFill>
              </a:rPr>
              <a:t>명세서 또는 도면</a:t>
            </a:r>
            <a:r>
              <a:rPr lang="ko-KR" altLang="en-US" sz="1400" dirty="0">
                <a:solidFill>
                  <a:schemeClr val="tx2"/>
                </a:solidFill>
              </a:rPr>
              <a:t>의 보정은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</a:rPr>
              <a:t>최초로 첨부한 명세서 또는 도면</a:t>
            </a:r>
            <a:r>
              <a:rPr lang="ko-KR" altLang="en-US" sz="1400" dirty="0">
                <a:solidFill>
                  <a:schemeClr val="tx2"/>
                </a:solidFill>
              </a:rPr>
              <a:t>에 기재된 사항의 범위에서 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 경우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외국어특허출원에 대한 보정은 </a:t>
            </a:r>
            <a:r>
              <a:rPr lang="ko-KR" altLang="en-US" sz="1400" b="1" dirty="0">
                <a:solidFill>
                  <a:schemeClr val="accent4">
                    <a:lumMod val="75000"/>
                  </a:schemeClr>
                </a:solidFill>
              </a:rPr>
              <a:t>최종 국어번역문</a:t>
            </a:r>
            <a:r>
              <a:rPr lang="en-US" altLang="ko-KR" sz="1400" b="1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ko-KR" altLang="en-US" sz="1400" b="1" dirty="0">
                <a:solidFill>
                  <a:schemeClr val="accent4">
                    <a:lumMod val="75000"/>
                  </a:schemeClr>
                </a:solidFill>
              </a:rPr>
              <a:t>제</a:t>
            </a:r>
            <a:r>
              <a:rPr lang="en-US" altLang="ko-KR" sz="1400" b="1" dirty="0">
                <a:solidFill>
                  <a:schemeClr val="accent4">
                    <a:lumMod val="75000"/>
                  </a:schemeClr>
                </a:solidFill>
              </a:rPr>
              <a:t>42</a:t>
            </a:r>
            <a:r>
              <a:rPr lang="ko-KR" altLang="en-US" sz="1400" b="1" dirty="0">
                <a:solidFill>
                  <a:schemeClr val="accent4">
                    <a:lumMod val="75000"/>
                  </a:schemeClr>
                </a:solidFill>
              </a:rPr>
              <a:t>조의</a:t>
            </a:r>
            <a:r>
              <a:rPr lang="en-US" altLang="ko-KR" sz="1400" b="1" dirty="0">
                <a:solidFill>
                  <a:schemeClr val="accent4">
                    <a:lumMod val="75000"/>
                  </a:schemeClr>
                </a:solidFill>
              </a:rPr>
              <a:t>3</a:t>
            </a:r>
            <a:r>
              <a:rPr lang="ko-KR" altLang="en-US" sz="1400" b="1" dirty="0">
                <a:solidFill>
                  <a:schemeClr val="accent4">
                    <a:lumMod val="75000"/>
                  </a:schemeClr>
                </a:solidFill>
              </a:rPr>
              <a:t>제</a:t>
            </a:r>
            <a:r>
              <a:rPr lang="en-US" altLang="ko-KR" sz="1400" b="1" dirty="0">
                <a:solidFill>
                  <a:schemeClr val="accent4">
                    <a:lumMod val="75000"/>
                  </a:schemeClr>
                </a:solidFill>
              </a:rPr>
              <a:t>6</a:t>
            </a:r>
            <a:r>
              <a:rPr lang="ko-KR" altLang="en-US" sz="1400" b="1" dirty="0">
                <a:solidFill>
                  <a:schemeClr val="accent4">
                    <a:lumMod val="75000"/>
                  </a:schemeClr>
                </a:solidFill>
              </a:rPr>
              <a:t>항 전단에 따른 정정이 있는 경우에는 정정된 국어번역문을 말한다</a:t>
            </a:r>
            <a:r>
              <a:rPr lang="en-US" altLang="ko-KR" sz="1400" b="1" dirty="0">
                <a:solidFill>
                  <a:schemeClr val="accent4">
                    <a:lumMod val="75000"/>
                  </a:schemeClr>
                </a:solidFill>
              </a:rPr>
              <a:t>) </a:t>
            </a:r>
            <a:r>
              <a:rPr lang="ko-KR" altLang="en-US" sz="1400" b="1" dirty="0">
                <a:solidFill>
                  <a:schemeClr val="accent4">
                    <a:lumMod val="75000"/>
                  </a:schemeClr>
                </a:solidFill>
              </a:rPr>
              <a:t>또는 </a:t>
            </a:r>
            <a:r>
              <a:rPr lang="ko-KR" altLang="en-US" sz="1400" b="1" dirty="0" err="1">
                <a:solidFill>
                  <a:schemeClr val="accent4">
                    <a:lumMod val="75000"/>
                  </a:schemeClr>
                </a:solidFill>
              </a:rPr>
              <a:t>특허출원서에</a:t>
            </a:r>
            <a:r>
              <a:rPr lang="ko-KR" altLang="en-US" sz="1400" b="1" dirty="0">
                <a:solidFill>
                  <a:schemeClr val="accent4">
                    <a:lumMod val="75000"/>
                  </a:schemeClr>
                </a:solidFill>
              </a:rPr>
              <a:t> 최초로 첨부한 도면</a:t>
            </a:r>
            <a:r>
              <a:rPr lang="en-US" altLang="ko-KR" sz="1400" b="1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ko-KR" altLang="en-US" sz="1400" b="1" dirty="0">
                <a:solidFill>
                  <a:schemeClr val="accent4">
                    <a:lumMod val="75000"/>
                  </a:schemeClr>
                </a:solidFill>
              </a:rPr>
              <a:t>도면 중 설명부분은 제외한다</a:t>
            </a:r>
            <a:r>
              <a:rPr lang="en-US" altLang="ko-KR" sz="1400" b="1" dirty="0">
                <a:solidFill>
                  <a:schemeClr val="accent4">
                    <a:lumMod val="75000"/>
                  </a:schemeClr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 기재된 사항의 범위에서도 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⑤ </a:t>
            </a:r>
            <a:r>
              <a:rPr lang="ko-KR" altLang="en-US" sz="1400" dirty="0">
                <a:solidFill>
                  <a:schemeClr val="tx2"/>
                </a:solidFill>
              </a:rPr>
              <a:t>외국어특허출원인 경우에는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본문에도 불구하고 제</a:t>
            </a:r>
            <a:r>
              <a:rPr lang="en-US" altLang="ko-KR" sz="1400" dirty="0">
                <a:solidFill>
                  <a:schemeClr val="tx2"/>
                </a:solidFill>
              </a:rPr>
              <a:t>42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따라 국어번역문을 제출한 경우에만 명세서 또는 도면을 보정할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62" name="직선 연결선 61"/>
          <p:cNvCxnSpPr/>
          <p:nvPr/>
        </p:nvCxnSpPr>
        <p:spPr>
          <a:xfrm>
            <a:off x="0" y="194015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2" name="표 1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525445"/>
              </p:ext>
            </p:extLst>
          </p:nvPr>
        </p:nvGraphicFramePr>
        <p:xfrm>
          <a:off x="307647" y="4632414"/>
          <a:ext cx="11545369" cy="1295009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957986">
                  <a:extLst>
                    <a:ext uri="{9D8B030D-6E8A-4147-A177-3AD203B41FA5}">
                      <a16:colId xmlns:a16="http://schemas.microsoft.com/office/drawing/2014/main" val="3751731299"/>
                    </a:ext>
                  </a:extLst>
                </a:gridCol>
                <a:gridCol w="939459">
                  <a:extLst>
                    <a:ext uri="{9D8B030D-6E8A-4147-A177-3AD203B41FA5}">
                      <a16:colId xmlns:a16="http://schemas.microsoft.com/office/drawing/2014/main" val="499447288"/>
                    </a:ext>
                  </a:extLst>
                </a:gridCol>
                <a:gridCol w="844456">
                  <a:extLst>
                    <a:ext uri="{9D8B030D-6E8A-4147-A177-3AD203B41FA5}">
                      <a16:colId xmlns:a16="http://schemas.microsoft.com/office/drawing/2014/main" val="3041599319"/>
                    </a:ext>
                  </a:extLst>
                </a:gridCol>
                <a:gridCol w="939459">
                  <a:extLst>
                    <a:ext uri="{9D8B030D-6E8A-4147-A177-3AD203B41FA5}">
                      <a16:colId xmlns:a16="http://schemas.microsoft.com/office/drawing/2014/main" val="3480615590"/>
                    </a:ext>
                  </a:extLst>
                </a:gridCol>
                <a:gridCol w="7864009">
                  <a:extLst>
                    <a:ext uri="{9D8B030D-6E8A-4147-A177-3AD203B41FA5}">
                      <a16:colId xmlns:a16="http://schemas.microsoft.com/office/drawing/2014/main" val="2921291221"/>
                    </a:ext>
                  </a:extLst>
                </a:gridCol>
              </a:tblGrid>
              <a:tr h="40339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원문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/>
                        <a:t>(</a:t>
                      </a:r>
                      <a:r>
                        <a:rPr lang="en-US" sz="1000" kern="1200" dirty="0"/>
                        <a:t>Ca)(1)</a:t>
                      </a:r>
                      <a:endParaRPr 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 err="1"/>
                        <a:t>국어번역문</a:t>
                      </a:r>
                      <a:endParaRPr lang="ko-KR" altLang="en-US" sz="1000" kern="1200" dirty="0"/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/>
                        <a:t>(</a:t>
                      </a:r>
                      <a:r>
                        <a:rPr lang="ko-KR" altLang="en-US" sz="1000" kern="1200" dirty="0"/>
                        <a:t>칼륨</a:t>
                      </a:r>
                      <a:r>
                        <a:rPr lang="en-US" altLang="ko-KR" sz="1000" kern="1200" dirty="0"/>
                        <a:t>)(2)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 err="1"/>
                        <a:t>오역정정</a:t>
                      </a:r>
                      <a:endParaRPr lang="ko-KR" altLang="en-US" sz="1000" kern="1200" dirty="0"/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/>
                        <a:t>(</a:t>
                      </a:r>
                      <a:r>
                        <a:rPr lang="ko-KR" altLang="en-US" sz="1000" kern="1200" dirty="0"/>
                        <a:t>칼슘</a:t>
                      </a:r>
                      <a:r>
                        <a:rPr lang="en-US" altLang="ko-KR" sz="1000" kern="1200" dirty="0"/>
                        <a:t>)(3)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 err="1"/>
                        <a:t>명세서보정</a:t>
                      </a:r>
                      <a:endParaRPr lang="ko-KR" altLang="en-US" sz="1000" kern="1200" dirty="0"/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/>
                        <a:t>(</a:t>
                      </a:r>
                      <a:r>
                        <a:rPr lang="ko-KR" altLang="en-US" sz="1000" kern="1200" dirty="0"/>
                        <a:t>칼슘</a:t>
                      </a:r>
                      <a:r>
                        <a:rPr lang="en-US" altLang="ko-KR" sz="1000" kern="1200" dirty="0"/>
                        <a:t>)(4)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신규사항추가의 판단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221416"/>
                  </a:ext>
                </a:extLst>
              </a:tr>
              <a:tr h="222904"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○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○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/>
                        <a:t>-</a:t>
                      </a:r>
                      <a:endParaRPr 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/>
                        <a:t>-</a:t>
                      </a:r>
                      <a:endParaRPr 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/>
                        <a:t>(2)</a:t>
                      </a:r>
                      <a:r>
                        <a:rPr lang="ko-KR" altLang="en-US" sz="1000" kern="1200" dirty="0"/>
                        <a:t>가 </a:t>
                      </a:r>
                      <a:r>
                        <a:rPr lang="en-US" altLang="ko-KR" sz="1000" kern="1200" dirty="0"/>
                        <a:t>(1)(</a:t>
                      </a:r>
                      <a:r>
                        <a:rPr lang="ko-KR" altLang="en-US" sz="1000" kern="1200" dirty="0"/>
                        <a:t>法 </a:t>
                      </a:r>
                      <a:r>
                        <a:rPr lang="en-US" altLang="ko-KR" sz="1000" kern="1200" dirty="0"/>
                        <a:t>47</a:t>
                      </a:r>
                      <a:r>
                        <a:rPr lang="ko-KR" altLang="en-US" sz="1000" kern="1200" dirty="0"/>
                        <a:t>②전단</a:t>
                      </a:r>
                      <a:r>
                        <a:rPr lang="en-US" altLang="ko-KR" sz="1000" kern="1200" dirty="0"/>
                        <a:t>)</a:t>
                      </a:r>
                      <a:r>
                        <a:rPr lang="ko-KR" altLang="en-US" sz="1000" kern="1200" dirty="0"/>
                        <a:t>과 </a:t>
                      </a:r>
                      <a:r>
                        <a:rPr lang="en-US" altLang="ko-KR" sz="1000" kern="1200" dirty="0"/>
                        <a:t>(2)(</a:t>
                      </a:r>
                      <a:r>
                        <a:rPr lang="ko-KR" altLang="en-US" sz="1000" kern="1200" dirty="0"/>
                        <a:t>法 </a:t>
                      </a:r>
                      <a:r>
                        <a:rPr lang="en-US" altLang="ko-KR" sz="1000" kern="1200" dirty="0"/>
                        <a:t>47</a:t>
                      </a:r>
                      <a:r>
                        <a:rPr lang="ko-KR" altLang="en-US" sz="1000" kern="1200" dirty="0"/>
                        <a:t>②후단</a:t>
                      </a:r>
                      <a:r>
                        <a:rPr lang="en-US" altLang="ko-KR" sz="1000" kern="1200" dirty="0"/>
                        <a:t>)</a:t>
                      </a:r>
                      <a:r>
                        <a:rPr lang="ko-KR" altLang="en-US" sz="1000" kern="1200" dirty="0"/>
                        <a:t>의 기재된 사항의 범위를 만족했는지 여부에 의하여 판단 → 제</a:t>
                      </a:r>
                      <a:r>
                        <a:rPr lang="en-US" altLang="ko-KR" sz="1000" kern="1200" dirty="0"/>
                        <a:t>47</a:t>
                      </a:r>
                      <a:r>
                        <a:rPr lang="ko-KR" altLang="en-US" sz="1000" kern="1200" dirty="0"/>
                        <a:t>조제</a:t>
                      </a:r>
                      <a:r>
                        <a:rPr lang="en-US" altLang="ko-KR" sz="1000" kern="1200" dirty="0"/>
                        <a:t>2</a:t>
                      </a:r>
                      <a:r>
                        <a:rPr lang="ko-KR" altLang="en-US" sz="1000" kern="1200" dirty="0"/>
                        <a:t>항 전단에 위반됨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361921594"/>
                  </a:ext>
                </a:extLst>
              </a:tr>
              <a:tr h="222904"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○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○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○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/>
                        <a:t>-</a:t>
                      </a:r>
                      <a:endParaRPr 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/>
                        <a:t>(2)</a:t>
                      </a:r>
                      <a:r>
                        <a:rPr lang="ko-KR" altLang="en-US" sz="1000" kern="1200" dirty="0"/>
                        <a:t>가 </a:t>
                      </a:r>
                      <a:r>
                        <a:rPr lang="en-US" altLang="ko-KR" sz="1000" kern="1200" dirty="0"/>
                        <a:t>(1)(</a:t>
                      </a:r>
                      <a:r>
                        <a:rPr lang="ko-KR" altLang="en-US" sz="1000" kern="1200" dirty="0"/>
                        <a:t>法 </a:t>
                      </a:r>
                      <a:r>
                        <a:rPr lang="en-US" altLang="ko-KR" sz="1000" kern="1200" dirty="0"/>
                        <a:t>47</a:t>
                      </a:r>
                      <a:r>
                        <a:rPr lang="ko-KR" altLang="en-US" sz="1000" kern="1200" dirty="0"/>
                        <a:t>②전단</a:t>
                      </a:r>
                      <a:r>
                        <a:rPr lang="en-US" altLang="ko-KR" sz="1000" kern="1200" dirty="0"/>
                        <a:t>)</a:t>
                      </a:r>
                      <a:r>
                        <a:rPr lang="ko-KR" altLang="en-US" sz="1000" kern="1200" dirty="0"/>
                        <a:t>과 </a:t>
                      </a:r>
                      <a:r>
                        <a:rPr lang="en-US" altLang="ko-KR" sz="1000" kern="1200" dirty="0"/>
                        <a:t>(3)(</a:t>
                      </a:r>
                      <a:r>
                        <a:rPr lang="ko-KR" altLang="en-US" sz="1000" kern="1200" dirty="0"/>
                        <a:t>法 </a:t>
                      </a:r>
                      <a:r>
                        <a:rPr lang="en-US" altLang="ko-KR" sz="1000" kern="1200" dirty="0"/>
                        <a:t>47</a:t>
                      </a:r>
                      <a:r>
                        <a:rPr lang="ko-KR" altLang="en-US" sz="1000" kern="1200" dirty="0"/>
                        <a:t>②후단</a:t>
                      </a:r>
                      <a:r>
                        <a:rPr lang="en-US" altLang="ko-KR" sz="1000" kern="1200" dirty="0"/>
                        <a:t>)</a:t>
                      </a:r>
                      <a:r>
                        <a:rPr lang="ko-KR" altLang="en-US" sz="1000" kern="1200" dirty="0"/>
                        <a:t>의 기재된 사항의 범위를 만족했는지 여부에 의하여 판단 → 제</a:t>
                      </a:r>
                      <a:r>
                        <a:rPr lang="en-US" altLang="ko-KR" sz="1000" kern="1200" dirty="0"/>
                        <a:t>47</a:t>
                      </a:r>
                      <a:r>
                        <a:rPr lang="ko-KR" altLang="en-US" sz="1000" kern="1200" dirty="0"/>
                        <a:t>조제</a:t>
                      </a:r>
                      <a:r>
                        <a:rPr lang="en-US" altLang="ko-KR" sz="1000" kern="1200" dirty="0"/>
                        <a:t>2</a:t>
                      </a:r>
                      <a:r>
                        <a:rPr lang="ko-KR" altLang="en-US" sz="1000" kern="1200" dirty="0"/>
                        <a:t>항 전단과 후단에 위반됨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00856374"/>
                  </a:ext>
                </a:extLst>
              </a:tr>
              <a:tr h="222904"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○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○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/>
                        <a:t>-</a:t>
                      </a:r>
                      <a:endParaRPr 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○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/>
                        <a:t>(4)</a:t>
                      </a:r>
                      <a:r>
                        <a:rPr lang="ko-KR" altLang="en-US" sz="1000" kern="1200" dirty="0"/>
                        <a:t>가 </a:t>
                      </a:r>
                      <a:r>
                        <a:rPr lang="en-US" altLang="ko-KR" sz="1000" kern="1200" dirty="0"/>
                        <a:t>(1)(</a:t>
                      </a:r>
                      <a:r>
                        <a:rPr lang="ko-KR" altLang="en-US" sz="1000" kern="1200" dirty="0"/>
                        <a:t>法 </a:t>
                      </a:r>
                      <a:r>
                        <a:rPr lang="en-US" altLang="ko-KR" sz="1000" kern="1200" dirty="0"/>
                        <a:t>47</a:t>
                      </a:r>
                      <a:r>
                        <a:rPr lang="ko-KR" altLang="en-US" sz="1000" kern="1200" dirty="0"/>
                        <a:t>②전단</a:t>
                      </a:r>
                      <a:r>
                        <a:rPr lang="en-US" altLang="ko-KR" sz="1000" kern="1200" dirty="0"/>
                        <a:t>)</a:t>
                      </a:r>
                      <a:r>
                        <a:rPr lang="ko-KR" altLang="en-US" sz="1000" kern="1200" dirty="0"/>
                        <a:t>과 </a:t>
                      </a:r>
                      <a:r>
                        <a:rPr lang="en-US" altLang="ko-KR" sz="1000" kern="1200" dirty="0"/>
                        <a:t>(2)(</a:t>
                      </a:r>
                      <a:r>
                        <a:rPr lang="ko-KR" altLang="en-US" sz="1000" kern="1200" dirty="0"/>
                        <a:t>法 </a:t>
                      </a:r>
                      <a:r>
                        <a:rPr lang="en-US" altLang="ko-KR" sz="1000" kern="1200" dirty="0"/>
                        <a:t>47</a:t>
                      </a:r>
                      <a:r>
                        <a:rPr lang="ko-KR" altLang="en-US" sz="1000" kern="1200" dirty="0"/>
                        <a:t>②후단</a:t>
                      </a:r>
                      <a:r>
                        <a:rPr lang="en-US" altLang="ko-KR" sz="1000" kern="1200" dirty="0"/>
                        <a:t>)</a:t>
                      </a:r>
                      <a:r>
                        <a:rPr lang="ko-KR" altLang="en-US" sz="1000" kern="1200" dirty="0"/>
                        <a:t>의 기재된 사항의 범위를 만족했는지 여부에 의하여 판단 → 제</a:t>
                      </a:r>
                      <a:r>
                        <a:rPr lang="en-US" altLang="ko-KR" sz="1000" kern="1200" dirty="0"/>
                        <a:t>47</a:t>
                      </a:r>
                      <a:r>
                        <a:rPr lang="ko-KR" altLang="en-US" sz="1000" kern="1200" dirty="0"/>
                        <a:t>조제</a:t>
                      </a:r>
                      <a:r>
                        <a:rPr lang="en-US" altLang="ko-KR" sz="1000" kern="1200" dirty="0"/>
                        <a:t>2</a:t>
                      </a:r>
                      <a:r>
                        <a:rPr lang="ko-KR" altLang="en-US" sz="1000" kern="1200" dirty="0"/>
                        <a:t>항 후단에 위반됨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4259281918"/>
                  </a:ext>
                </a:extLst>
              </a:tr>
              <a:tr h="222904"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○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○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○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○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</a:rPr>
                        <a:t>(4)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</a:rPr>
                        <a:t>가 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</a:rPr>
                        <a:t>(1)(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</a:rPr>
                        <a:t>法 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</a:rPr>
                        <a:t>47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</a:rPr>
                        <a:t>②전단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</a:rPr>
                        <a:t>)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</a:rPr>
                        <a:t>과 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</a:rPr>
                        <a:t>(3)(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</a:rPr>
                        <a:t>法 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</a:rPr>
                        <a:t>47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</a:rPr>
                        <a:t>②후단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</a:rPr>
                        <a:t>)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</a:rPr>
                        <a:t>의 기재된 사항의 범위를 만족했는지 여부에 의하여 판단 → 제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</a:rPr>
                        <a:t>47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</a:rPr>
                        <a:t>조제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</a:rPr>
                        <a:t>항 후단에 위반되지 아니함</a:t>
                      </a:r>
                      <a:endParaRPr lang="ko-KR" altLang="en-US" sz="10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982519584"/>
                  </a:ext>
                </a:extLst>
              </a:tr>
            </a:tbl>
          </a:graphicData>
        </a:graphic>
      </p:graphicFrame>
      <p:cxnSp>
        <p:nvCxnSpPr>
          <p:cNvPr id="66" name="직선 연결선 65"/>
          <p:cNvCxnSpPr>
            <a:cxnSpLocks/>
          </p:cNvCxnSpPr>
          <p:nvPr/>
        </p:nvCxnSpPr>
        <p:spPr>
          <a:xfrm>
            <a:off x="2912096" y="2749283"/>
            <a:ext cx="923507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/>
          <p:cNvSpPr/>
          <p:nvPr/>
        </p:nvSpPr>
        <p:spPr>
          <a:xfrm>
            <a:off x="3049880" y="2553456"/>
            <a:ext cx="997645" cy="340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외국어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특허출원</a:t>
            </a:r>
            <a:r>
              <a:rPr lang="en-US" altLang="ko-KR" sz="1100" dirty="0">
                <a:solidFill>
                  <a:schemeClr val="tx1"/>
                </a:solidFill>
              </a:rPr>
              <a:t>(1)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4986806" y="2553456"/>
            <a:ext cx="997645" cy="340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번역문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제출</a:t>
            </a:r>
            <a:r>
              <a:rPr lang="en-US" altLang="ko-KR" sz="1100" dirty="0">
                <a:solidFill>
                  <a:schemeClr val="tx1"/>
                </a:solidFill>
              </a:rPr>
              <a:t>(2)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9425055" y="2553456"/>
            <a:ext cx="997645" cy="340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명세서</a:t>
            </a:r>
            <a:r>
              <a:rPr lang="en-US" altLang="ko-KR" sz="1100" dirty="0">
                <a:solidFill>
                  <a:schemeClr val="tx1"/>
                </a:solidFill>
              </a:rPr>
              <a:t>/</a:t>
            </a:r>
            <a:r>
              <a:rPr lang="ko-KR" altLang="en-US" sz="1100" dirty="0">
                <a:solidFill>
                  <a:schemeClr val="tx1"/>
                </a:solidFill>
              </a:rPr>
              <a:t>도면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보정</a:t>
            </a:r>
            <a:r>
              <a:rPr lang="en-US" altLang="ko-KR" sz="1100" dirty="0">
                <a:solidFill>
                  <a:schemeClr val="tx1"/>
                </a:solidFill>
              </a:rPr>
              <a:t>(4)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404443" y="3063944"/>
            <a:ext cx="1053400" cy="18440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</a:rPr>
              <a:t>출원서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404443" y="3266477"/>
            <a:ext cx="1053400" cy="1844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명세서</a:t>
            </a:r>
            <a:r>
              <a:rPr lang="en-US" altLang="ko-KR" sz="900" dirty="0">
                <a:solidFill>
                  <a:schemeClr val="tx1"/>
                </a:solidFill>
              </a:rPr>
              <a:t>*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404443" y="3467783"/>
            <a:ext cx="1053400" cy="1844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필요한 도면</a:t>
            </a:r>
            <a:r>
              <a:rPr lang="en-US" altLang="ko-KR" sz="900" dirty="0">
                <a:solidFill>
                  <a:schemeClr val="tx1"/>
                </a:solidFill>
              </a:rPr>
              <a:t>*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404443" y="3921028"/>
            <a:ext cx="1053400" cy="18440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요약서</a:t>
            </a:r>
          </a:p>
        </p:txBody>
      </p:sp>
      <p:sp>
        <p:nvSpPr>
          <p:cNvPr id="109" name="직사각형 108"/>
          <p:cNvSpPr/>
          <p:nvPr/>
        </p:nvSpPr>
        <p:spPr>
          <a:xfrm>
            <a:off x="1724165" y="3436469"/>
            <a:ext cx="990568" cy="21988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설명부분포함</a:t>
            </a:r>
            <a:r>
              <a:rPr lang="en-US" altLang="ko-KR" sz="900" dirty="0">
                <a:solidFill>
                  <a:schemeClr val="tx1"/>
                </a:solidFill>
              </a:rPr>
              <a:t>*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10" name="직사각형 109"/>
          <p:cNvSpPr/>
          <p:nvPr/>
        </p:nvSpPr>
        <p:spPr>
          <a:xfrm>
            <a:off x="1724167" y="3683181"/>
            <a:ext cx="990567" cy="186614"/>
          </a:xfrm>
          <a:prstGeom prst="rect">
            <a:avLst/>
          </a:prstGeom>
          <a:solidFill>
            <a:schemeClr val="accent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설명부분제외</a:t>
            </a:r>
          </a:p>
        </p:txBody>
      </p:sp>
      <p:cxnSp>
        <p:nvCxnSpPr>
          <p:cNvPr id="111" name="꺾인 연결선 110"/>
          <p:cNvCxnSpPr>
            <a:stCxn id="90" idx="3"/>
            <a:endCxn id="109" idx="1"/>
          </p:cNvCxnSpPr>
          <p:nvPr/>
        </p:nvCxnSpPr>
        <p:spPr>
          <a:xfrm flipV="1">
            <a:off x="1457843" y="3546411"/>
            <a:ext cx="266322" cy="1357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/>
          <p:cNvCxnSpPr>
            <a:stCxn id="90" idx="3"/>
            <a:endCxn id="110" idx="1"/>
          </p:cNvCxnSpPr>
          <p:nvPr/>
        </p:nvCxnSpPr>
        <p:spPr>
          <a:xfrm>
            <a:off x="1457843" y="3559988"/>
            <a:ext cx="266324" cy="2165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4868554" y="2219783"/>
            <a:ext cx="1231675" cy="20892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보정 효과 인정</a:t>
            </a:r>
          </a:p>
        </p:txBody>
      </p:sp>
      <p:cxnSp>
        <p:nvCxnSpPr>
          <p:cNvPr id="43" name="직선 연결선 42"/>
          <p:cNvCxnSpPr>
            <a:stCxn id="39" idx="2"/>
            <a:endCxn id="77" idx="0"/>
          </p:cNvCxnSpPr>
          <p:nvPr/>
        </p:nvCxnSpPr>
        <p:spPr>
          <a:xfrm>
            <a:off x="5484392" y="2428710"/>
            <a:ext cx="1237" cy="12474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직사각형 112"/>
          <p:cNvSpPr/>
          <p:nvPr/>
        </p:nvSpPr>
        <p:spPr>
          <a:xfrm>
            <a:off x="6952323" y="2219783"/>
            <a:ext cx="1231675" cy="20892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보정 효과 </a:t>
            </a:r>
            <a:r>
              <a:rPr lang="ko-KR" altLang="en-US" sz="1200" dirty="0" err="1">
                <a:solidFill>
                  <a:schemeClr val="tx2"/>
                </a:solidFill>
              </a:rPr>
              <a:t>不인정</a:t>
            </a:r>
            <a:endParaRPr lang="ko-KR" altLang="en-US" sz="1200" dirty="0">
              <a:solidFill>
                <a:schemeClr val="tx2"/>
              </a:solidFill>
            </a:endParaRPr>
          </a:p>
        </p:txBody>
      </p:sp>
      <p:cxnSp>
        <p:nvCxnSpPr>
          <p:cNvPr id="114" name="직선 연결선 113"/>
          <p:cNvCxnSpPr>
            <a:stCxn id="113" idx="2"/>
            <a:endCxn id="78" idx="0"/>
          </p:cNvCxnSpPr>
          <p:nvPr/>
        </p:nvCxnSpPr>
        <p:spPr>
          <a:xfrm>
            <a:off x="7568161" y="2428710"/>
            <a:ext cx="822" cy="12474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직사각형 114"/>
          <p:cNvSpPr/>
          <p:nvPr/>
        </p:nvSpPr>
        <p:spPr>
          <a:xfrm>
            <a:off x="3049880" y="3264273"/>
            <a:ext cx="997645" cy="3879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2"/>
                </a:solidFill>
              </a:rPr>
              <a:t>영어</a:t>
            </a:r>
            <a:r>
              <a:rPr lang="en-US" altLang="ko-KR" sz="1100" dirty="0">
                <a:solidFill>
                  <a:schemeClr val="tx2"/>
                </a:solidFill>
              </a:rPr>
              <a:t>(Ca)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4986806" y="3264273"/>
            <a:ext cx="997645" cy="3879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2"/>
                </a:solidFill>
              </a:rPr>
              <a:t>국어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칼륨</a:t>
            </a:r>
            <a:r>
              <a:rPr lang="en-US" altLang="ko-KR" sz="1100" dirty="0">
                <a:solidFill>
                  <a:schemeClr val="tx2"/>
                </a:solidFill>
              </a:rPr>
              <a:t>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7069338" y="3264273"/>
            <a:ext cx="997645" cy="38791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2"/>
                </a:solidFill>
              </a:rPr>
              <a:t>국어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칼슘</a:t>
            </a:r>
            <a:r>
              <a:rPr lang="en-US" altLang="ko-KR" sz="1100" dirty="0">
                <a:solidFill>
                  <a:schemeClr val="tx2"/>
                </a:solidFill>
              </a:rPr>
              <a:t>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9425055" y="3264273"/>
            <a:ext cx="997645" cy="38791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2"/>
                </a:solidFill>
              </a:rPr>
              <a:t>국어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칼슘</a:t>
            </a:r>
            <a:r>
              <a:rPr lang="en-US" altLang="ko-KR" sz="1100" dirty="0">
                <a:solidFill>
                  <a:schemeClr val="tx2"/>
                </a:solidFill>
              </a:rPr>
              <a:t>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3049880" y="3683180"/>
            <a:ext cx="997645" cy="186614"/>
          </a:xfrm>
          <a:prstGeom prst="rect">
            <a:avLst/>
          </a:prstGeom>
          <a:solidFill>
            <a:schemeClr val="accent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20" name="직사각형 119"/>
          <p:cNvSpPr/>
          <p:nvPr/>
        </p:nvSpPr>
        <p:spPr>
          <a:xfrm>
            <a:off x="4986806" y="3665250"/>
            <a:ext cx="997645" cy="205452"/>
          </a:xfrm>
          <a:prstGeom prst="rect">
            <a:avLst/>
          </a:prstGeom>
          <a:solidFill>
            <a:schemeClr val="accent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9424234" y="3665250"/>
            <a:ext cx="997645" cy="20545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9222012" y="3186164"/>
            <a:ext cx="1402090" cy="750158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직사각형 125"/>
          <p:cNvSpPr/>
          <p:nvPr/>
        </p:nvSpPr>
        <p:spPr>
          <a:xfrm>
            <a:off x="4841445" y="3179528"/>
            <a:ext cx="3422029" cy="494824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TextBox 124"/>
          <p:cNvSpPr txBox="1"/>
          <p:nvPr/>
        </p:nvSpPr>
        <p:spPr>
          <a:xfrm>
            <a:off x="5880499" y="2888349"/>
            <a:ext cx="3034251" cy="32247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accent4">
                    <a:lumMod val="75000"/>
                  </a:schemeClr>
                </a:solidFill>
              </a:rPr>
              <a:t>최종 </a:t>
            </a:r>
            <a:r>
              <a:rPr lang="ko-KR" altLang="en-US" sz="1200" dirty="0" err="1">
                <a:solidFill>
                  <a:schemeClr val="accent4">
                    <a:lumMod val="75000"/>
                  </a:schemeClr>
                </a:solidFill>
              </a:rPr>
              <a:t>국어번역문</a:t>
            </a:r>
            <a:r>
              <a:rPr lang="en-US" altLang="ko-KR" sz="1200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accent4">
                    <a:lumMod val="75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accent4">
                    <a:lumMod val="75000"/>
                  </a:schemeClr>
                </a:solidFill>
              </a:rPr>
              <a:t>42</a:t>
            </a:r>
            <a:r>
              <a:rPr lang="ko-KR" altLang="en-US" sz="1200" dirty="0">
                <a:solidFill>
                  <a:schemeClr val="accent4">
                    <a:lumMod val="75000"/>
                  </a:schemeClr>
                </a:solidFill>
              </a:rPr>
              <a:t>조의</a:t>
            </a:r>
            <a:r>
              <a:rPr lang="en-US" altLang="ko-KR" sz="1200" dirty="0">
                <a:solidFill>
                  <a:schemeClr val="accent4">
                    <a:lumMod val="75000"/>
                  </a:schemeClr>
                </a:solidFill>
              </a:rPr>
              <a:t>3</a:t>
            </a:r>
            <a:r>
              <a:rPr lang="ko-KR" altLang="en-US" sz="1200" dirty="0">
                <a:solidFill>
                  <a:schemeClr val="accent4">
                    <a:lumMod val="75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accent4">
                    <a:lumMod val="75000"/>
                  </a:schemeClr>
                </a:solidFill>
              </a:rPr>
              <a:t>6</a:t>
            </a:r>
            <a:r>
              <a:rPr lang="ko-KR" altLang="en-US" sz="1200" dirty="0">
                <a:solidFill>
                  <a:schemeClr val="accent4">
                    <a:lumMod val="75000"/>
                  </a:schemeClr>
                </a:solidFill>
              </a:rPr>
              <a:t>항 전단에 따른 </a:t>
            </a:r>
            <a:endParaRPr lang="en-US" altLang="ko-KR" sz="12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ko-KR" altLang="en-US" sz="1200" dirty="0">
                <a:solidFill>
                  <a:schemeClr val="accent4">
                    <a:lumMod val="75000"/>
                  </a:schemeClr>
                </a:solidFill>
              </a:rPr>
              <a:t>정정이 있는 경우에는 정정된 국어번역문을 말한다</a:t>
            </a:r>
            <a:r>
              <a:rPr lang="en-US" altLang="ko-KR" sz="1200" dirty="0">
                <a:solidFill>
                  <a:schemeClr val="accent4">
                    <a:lumMod val="75000"/>
                  </a:schemeClr>
                </a:solidFill>
              </a:rPr>
              <a:t>)</a:t>
            </a:r>
            <a:endParaRPr lang="ko-KR" altLang="en-US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4841445" y="3669908"/>
            <a:ext cx="1286118" cy="364863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TextBox 127"/>
          <p:cNvSpPr txBox="1"/>
          <p:nvPr/>
        </p:nvSpPr>
        <p:spPr>
          <a:xfrm>
            <a:off x="5484391" y="3936322"/>
            <a:ext cx="2034556" cy="32247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accent4">
                    <a:lumMod val="75000"/>
                  </a:schemeClr>
                </a:solidFill>
              </a:rPr>
              <a:t>특허출원서에 최초로 첨부한 도면</a:t>
            </a:r>
            <a:endParaRPr lang="en-US" altLang="ko-KR" sz="12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altLang="ko-KR" sz="1200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accent4">
                    <a:lumMod val="75000"/>
                  </a:schemeClr>
                </a:solidFill>
              </a:rPr>
              <a:t>도면 중 </a:t>
            </a:r>
            <a:r>
              <a:rPr lang="ko-KR" altLang="en-US" sz="1200" dirty="0" err="1">
                <a:solidFill>
                  <a:schemeClr val="accent4">
                    <a:lumMod val="75000"/>
                  </a:schemeClr>
                </a:solidFill>
              </a:rPr>
              <a:t>설명부분은</a:t>
            </a:r>
            <a:r>
              <a:rPr lang="ko-KR" altLang="en-US" sz="1200" dirty="0">
                <a:solidFill>
                  <a:schemeClr val="accent4">
                    <a:lumMod val="75000"/>
                  </a:schemeClr>
                </a:solidFill>
              </a:rPr>
              <a:t> 제외한다</a:t>
            </a:r>
            <a:r>
              <a:rPr lang="en-US" altLang="ko-KR" sz="1200" dirty="0">
                <a:solidFill>
                  <a:schemeClr val="accent4">
                    <a:lumMod val="75000"/>
                  </a:schemeClr>
                </a:solidFill>
              </a:rPr>
              <a:t>) 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575970" y="3025662"/>
            <a:ext cx="1120589" cy="19348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chemeClr val="accent1"/>
                </a:solidFill>
              </a:rPr>
              <a:t>명세서 또는 도면</a:t>
            </a:r>
            <a:endParaRPr lang="en-US" altLang="ko-KR" sz="1200" b="1" dirty="0">
              <a:solidFill>
                <a:schemeClr val="accent1"/>
              </a:solidFill>
            </a:endParaRPr>
          </a:p>
        </p:txBody>
      </p:sp>
      <p:sp>
        <p:nvSpPr>
          <p:cNvPr id="131" name="직사각형 130"/>
          <p:cNvSpPr/>
          <p:nvPr/>
        </p:nvSpPr>
        <p:spPr>
          <a:xfrm>
            <a:off x="2923356" y="3186164"/>
            <a:ext cx="1300212" cy="750158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TextBox 129"/>
          <p:cNvSpPr txBox="1"/>
          <p:nvPr/>
        </p:nvSpPr>
        <p:spPr>
          <a:xfrm>
            <a:off x="3635175" y="3910390"/>
            <a:ext cx="1120589" cy="32247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최초로 첨부한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명세서 또는 도면</a:t>
            </a:r>
            <a:endParaRPr lang="en-US" altLang="ko-KR" sz="1200" dirty="0">
              <a:solidFill>
                <a:srgbClr val="FF0000"/>
              </a:solidFill>
            </a:endParaRPr>
          </a:p>
        </p:txBody>
      </p:sp>
      <p:cxnSp>
        <p:nvCxnSpPr>
          <p:cNvPr id="133" name="꺾인 연결선 132"/>
          <p:cNvCxnSpPr>
            <a:stCxn id="129" idx="3"/>
            <a:endCxn id="39" idx="0"/>
          </p:cNvCxnSpPr>
          <p:nvPr/>
        </p:nvCxnSpPr>
        <p:spPr>
          <a:xfrm flipH="1" flipV="1">
            <a:off x="5484392" y="2219783"/>
            <a:ext cx="5212167" cy="902623"/>
          </a:xfrm>
          <a:prstGeom prst="bentConnector4">
            <a:avLst>
              <a:gd name="adj1" fmla="val -1290"/>
              <a:gd name="adj2" fmla="val 125326"/>
            </a:avLst>
          </a:prstGeom>
          <a:ln w="12700">
            <a:solidFill>
              <a:srgbClr val="00B0F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8122201" y="2016918"/>
            <a:ext cx="2620272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chemeClr val="accent1"/>
                </a:solidFill>
              </a:rPr>
              <a:t>단</a:t>
            </a:r>
            <a:r>
              <a:rPr lang="en-US" altLang="ko-KR" sz="1200" b="1" dirty="0">
                <a:solidFill>
                  <a:schemeClr val="accent1"/>
                </a:solidFill>
              </a:rPr>
              <a:t>, (4)</a:t>
            </a:r>
            <a:r>
              <a:rPr lang="ko-KR" altLang="en-US" sz="1200" b="1" dirty="0">
                <a:solidFill>
                  <a:schemeClr val="accent1"/>
                </a:solidFill>
              </a:rPr>
              <a:t>가 없는 경우 </a:t>
            </a:r>
            <a:r>
              <a:rPr lang="en-US" altLang="ko-KR" sz="1200" b="1" dirty="0">
                <a:solidFill>
                  <a:schemeClr val="accent1"/>
                </a:solidFill>
              </a:rPr>
              <a:t>(2)</a:t>
            </a:r>
            <a:r>
              <a:rPr lang="ko-KR" altLang="en-US" sz="1200" b="1" dirty="0">
                <a:solidFill>
                  <a:schemeClr val="accent1"/>
                </a:solidFill>
              </a:rPr>
              <a:t>번이 이에 해당</a:t>
            </a:r>
            <a:endParaRPr lang="en-US" altLang="ko-KR" sz="1200" b="1" dirty="0">
              <a:solidFill>
                <a:schemeClr val="accent1"/>
              </a:solidFill>
            </a:endParaRPr>
          </a:p>
        </p:txBody>
      </p:sp>
      <p:cxnSp>
        <p:nvCxnSpPr>
          <p:cNvPr id="138" name="직선 연결선 137"/>
          <p:cNvCxnSpPr/>
          <p:nvPr/>
        </p:nvCxnSpPr>
        <p:spPr>
          <a:xfrm>
            <a:off x="375735" y="4483098"/>
            <a:ext cx="11469132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직사각형 138"/>
          <p:cNvSpPr/>
          <p:nvPr/>
        </p:nvSpPr>
        <p:spPr>
          <a:xfrm>
            <a:off x="269103" y="6068105"/>
            <a:ext cx="11575763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kern="0" dirty="0">
                <a:solidFill>
                  <a:srgbClr val="000000"/>
                </a:solidFill>
                <a:latin typeface="+mn-ea"/>
              </a:rPr>
              <a:t>오역 정정은 명세서를 보정한 것이 아니라 국어번역문만을 정정한 것이기 때문에 국어번역문에 오역이 있는 경우에는 국어번역문에 대한 오역정정과 별도로 심사대상 명세서 등에 대하여 보정해야 함</a:t>
            </a:r>
          </a:p>
        </p:txBody>
      </p:sp>
      <p:cxnSp>
        <p:nvCxnSpPr>
          <p:cNvPr id="150" name="꺾인 연결선 149"/>
          <p:cNvCxnSpPr>
            <a:stCxn id="86" idx="1"/>
            <a:endCxn id="91" idx="1"/>
          </p:cNvCxnSpPr>
          <p:nvPr/>
        </p:nvCxnSpPr>
        <p:spPr>
          <a:xfrm rot="10800000" flipV="1">
            <a:off x="404443" y="3156149"/>
            <a:ext cx="12700" cy="857084"/>
          </a:xfrm>
          <a:prstGeom prst="bentConnector3">
            <a:avLst>
              <a:gd name="adj1" fmla="val 180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꺾인 연결선 151"/>
          <p:cNvCxnSpPr>
            <a:stCxn id="86" idx="1"/>
            <a:endCxn id="90" idx="1"/>
          </p:cNvCxnSpPr>
          <p:nvPr/>
        </p:nvCxnSpPr>
        <p:spPr>
          <a:xfrm rot="10800000" flipV="1">
            <a:off x="404443" y="3156148"/>
            <a:ext cx="12700" cy="403839"/>
          </a:xfrm>
          <a:prstGeom prst="bentConnector3">
            <a:avLst>
              <a:gd name="adj1" fmla="val 180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꺾인 연결선 153"/>
          <p:cNvCxnSpPr>
            <a:stCxn id="86" idx="1"/>
            <a:endCxn id="87" idx="1"/>
          </p:cNvCxnSpPr>
          <p:nvPr/>
        </p:nvCxnSpPr>
        <p:spPr>
          <a:xfrm rot="10800000" flipV="1">
            <a:off x="404443" y="3156148"/>
            <a:ext cx="12700" cy="202533"/>
          </a:xfrm>
          <a:prstGeom prst="bentConnector3">
            <a:avLst>
              <a:gd name="adj1" fmla="val 180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/>
          <p:cNvCxnSpPr/>
          <p:nvPr/>
        </p:nvCxnSpPr>
        <p:spPr>
          <a:xfrm>
            <a:off x="2804746" y="2016918"/>
            <a:ext cx="0" cy="236165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188</a:t>
            </a:fld>
            <a:endParaRPr lang="ko-KR" altLang="en-US"/>
          </a:p>
        </p:txBody>
      </p:sp>
      <p:sp>
        <p:nvSpPr>
          <p:cNvPr id="3" name="말풍선: 모서리가 둥근 사각형 2">
            <a:extLst>
              <a:ext uri="{FF2B5EF4-FFF2-40B4-BE49-F238E27FC236}">
                <a16:creationId xmlns:a16="http://schemas.microsoft.com/office/drawing/2014/main" id="{A3CB99E4-CDA3-4913-80E6-64776F4A9261}"/>
              </a:ext>
            </a:extLst>
          </p:cNvPr>
          <p:cNvSpPr/>
          <p:nvPr/>
        </p:nvSpPr>
        <p:spPr>
          <a:xfrm>
            <a:off x="7742293" y="4105437"/>
            <a:ext cx="2796958" cy="329971"/>
          </a:xfrm>
          <a:prstGeom prst="wedgeRoundRectCallout">
            <a:avLst>
              <a:gd name="adj1" fmla="val -57677"/>
              <a:gd name="adj2" fmla="val -2858"/>
              <a:gd name="adj3" fmla="val 16667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원문과 번역문의 형식적 범위를 일치시켜 설명부분 제외 도면 범위내에서도 보정할 수 있도록 함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0DB35C3-25BA-6AAE-8B4D-F52CD18E6D07}"/>
              </a:ext>
            </a:extLst>
          </p:cNvPr>
          <p:cNvCxnSpPr>
            <a:cxnSpLocks/>
          </p:cNvCxnSpPr>
          <p:nvPr/>
        </p:nvCxnSpPr>
        <p:spPr>
          <a:xfrm>
            <a:off x="77875" y="3257318"/>
            <a:ext cx="1048744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415556D-1A72-7CEE-3D4B-8CBFE9AE6FD5}"/>
              </a:ext>
            </a:extLst>
          </p:cNvPr>
          <p:cNvCxnSpPr>
            <a:cxnSpLocks/>
          </p:cNvCxnSpPr>
          <p:nvPr/>
        </p:nvCxnSpPr>
        <p:spPr>
          <a:xfrm>
            <a:off x="77875" y="3869794"/>
            <a:ext cx="1048744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ABB280E-1923-2150-C7E1-3DF65DCA97E2}"/>
              </a:ext>
            </a:extLst>
          </p:cNvPr>
          <p:cNvCxnSpPr>
            <a:cxnSpLocks/>
          </p:cNvCxnSpPr>
          <p:nvPr/>
        </p:nvCxnSpPr>
        <p:spPr>
          <a:xfrm flipV="1">
            <a:off x="77875" y="3675529"/>
            <a:ext cx="10482549" cy="35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856A077-909E-50DB-D72F-250036310779}"/>
              </a:ext>
            </a:extLst>
          </p:cNvPr>
          <p:cNvSpPr/>
          <p:nvPr/>
        </p:nvSpPr>
        <p:spPr>
          <a:xfrm>
            <a:off x="10876943" y="2553456"/>
            <a:ext cx="997645" cy="340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번역문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교체불가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7070160" y="2553456"/>
            <a:ext cx="997645" cy="340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오역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정정</a:t>
            </a:r>
            <a:r>
              <a:rPr lang="en-US" altLang="ko-KR" sz="1100" dirty="0">
                <a:solidFill>
                  <a:schemeClr val="tx1"/>
                </a:solidFill>
              </a:rPr>
              <a:t>(3)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09572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조의</a:t>
            </a:r>
            <a:r>
              <a:rPr lang="en-US" altLang="ko-KR" dirty="0"/>
              <a:t>3, </a:t>
            </a:r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외국어특허출원의 보정</a:t>
            </a:r>
          </a:p>
        </p:txBody>
      </p:sp>
      <p:cxnSp>
        <p:nvCxnSpPr>
          <p:cNvPr id="66" name="직선 연결선 65"/>
          <p:cNvCxnSpPr>
            <a:cxnSpLocks/>
          </p:cNvCxnSpPr>
          <p:nvPr/>
        </p:nvCxnSpPr>
        <p:spPr>
          <a:xfrm>
            <a:off x="553483" y="3458742"/>
            <a:ext cx="11063879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/>
          <p:cNvSpPr/>
          <p:nvPr/>
        </p:nvSpPr>
        <p:spPr>
          <a:xfrm>
            <a:off x="671851" y="2252514"/>
            <a:ext cx="1528378" cy="5023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외국어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특허출원</a:t>
            </a:r>
            <a:r>
              <a:rPr lang="en-US" altLang="ko-KR" sz="1400" dirty="0">
                <a:solidFill>
                  <a:schemeClr val="tx1"/>
                </a:solidFill>
              </a:rPr>
              <a:t>(Ca)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39" name="직사각형 138"/>
          <p:cNvSpPr/>
          <p:nvPr/>
        </p:nvSpPr>
        <p:spPr>
          <a:xfrm>
            <a:off x="269103" y="1142904"/>
            <a:ext cx="11575763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kern="0" dirty="0">
                <a:solidFill>
                  <a:srgbClr val="000000"/>
                </a:solidFill>
                <a:latin typeface="+mn-ea"/>
              </a:rPr>
              <a:t>오역 정정은 명세서를 보정한 것이 아니라 국어번역문만을 정정한 것이기 때문에 국어번역문에 오역이 있는 경우에는 국어번역문에 대한 오역정정과 별도로 심사대상 명세서 등에 대하여 보정해야 함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189</a:t>
            </a:fld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A7917018-5FD4-47DE-BAEC-3D448313434B}"/>
              </a:ext>
            </a:extLst>
          </p:cNvPr>
          <p:cNvCxnSpPr>
            <a:stCxn id="75" idx="2"/>
          </p:cNvCxnSpPr>
          <p:nvPr/>
        </p:nvCxnSpPr>
        <p:spPr>
          <a:xfrm>
            <a:off x="1436040" y="2754868"/>
            <a:ext cx="0" cy="67815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CE8C3BA6-4DAC-451F-92A3-77BC8A32CB7D}"/>
              </a:ext>
            </a:extLst>
          </p:cNvPr>
          <p:cNvSpPr/>
          <p:nvPr/>
        </p:nvSpPr>
        <p:spPr>
          <a:xfrm>
            <a:off x="3727124" y="2252514"/>
            <a:ext cx="1528378" cy="5023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보정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칼륨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04AE11F8-013D-4F48-ACED-3FEFF5B8E594}"/>
              </a:ext>
            </a:extLst>
          </p:cNvPr>
          <p:cNvCxnSpPr>
            <a:stCxn id="54" idx="2"/>
          </p:cNvCxnSpPr>
          <p:nvPr/>
        </p:nvCxnSpPr>
        <p:spPr>
          <a:xfrm>
            <a:off x="4491313" y="2754868"/>
            <a:ext cx="0" cy="67815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7ABC79C-970A-4AAB-B224-9EF73234AEEB}"/>
              </a:ext>
            </a:extLst>
          </p:cNvPr>
          <p:cNvSpPr/>
          <p:nvPr/>
        </p:nvSpPr>
        <p:spPr>
          <a:xfrm>
            <a:off x="3727124" y="4319439"/>
            <a:ext cx="1528378" cy="5023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번역문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칼륨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31CE7AD9-3728-404E-AFB4-8EFD3B507A24}"/>
              </a:ext>
            </a:extLst>
          </p:cNvPr>
          <p:cNvCxnSpPr>
            <a:cxnSpLocks/>
            <a:stCxn id="56" idx="0"/>
          </p:cNvCxnSpPr>
          <p:nvPr/>
        </p:nvCxnSpPr>
        <p:spPr>
          <a:xfrm flipV="1">
            <a:off x="4491313" y="3458743"/>
            <a:ext cx="0" cy="86069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9C9E69CF-F7B6-4111-92BF-1B5CDECA1EF8}"/>
              </a:ext>
            </a:extLst>
          </p:cNvPr>
          <p:cNvSpPr/>
          <p:nvPr/>
        </p:nvSpPr>
        <p:spPr>
          <a:xfrm>
            <a:off x="6145618" y="4319439"/>
            <a:ext cx="1528378" cy="5023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오역정정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칼슘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B0900EB4-4F38-4041-AD17-16DEE93DDFF8}"/>
              </a:ext>
            </a:extLst>
          </p:cNvPr>
          <p:cNvCxnSpPr>
            <a:cxnSpLocks/>
            <a:stCxn id="61" idx="0"/>
          </p:cNvCxnSpPr>
          <p:nvPr/>
        </p:nvCxnSpPr>
        <p:spPr>
          <a:xfrm flipV="1">
            <a:off x="6909807" y="3458743"/>
            <a:ext cx="0" cy="86069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EFEFFE63-B5E3-4D22-A980-840ACB31BFD2}"/>
              </a:ext>
            </a:extLst>
          </p:cNvPr>
          <p:cNvSpPr/>
          <p:nvPr/>
        </p:nvSpPr>
        <p:spPr>
          <a:xfrm>
            <a:off x="8132700" y="2252514"/>
            <a:ext cx="1528378" cy="50235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보정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칼슘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D26AA33B-FC5D-4839-B50D-2D5CADE41748}"/>
              </a:ext>
            </a:extLst>
          </p:cNvPr>
          <p:cNvCxnSpPr>
            <a:stCxn id="64" idx="2"/>
          </p:cNvCxnSpPr>
          <p:nvPr/>
        </p:nvCxnSpPr>
        <p:spPr>
          <a:xfrm>
            <a:off x="8896889" y="2754868"/>
            <a:ext cx="0" cy="67815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168EF248-242A-4EDD-899D-C935794A0AC3}"/>
              </a:ext>
            </a:extLst>
          </p:cNvPr>
          <p:cNvSpPr/>
          <p:nvPr/>
        </p:nvSpPr>
        <p:spPr>
          <a:xfrm>
            <a:off x="2674226" y="2338239"/>
            <a:ext cx="504825" cy="345528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화살표: 오른쪽 66">
            <a:extLst>
              <a:ext uri="{FF2B5EF4-FFF2-40B4-BE49-F238E27FC236}">
                <a16:creationId xmlns:a16="http://schemas.microsoft.com/office/drawing/2014/main" id="{BC95A65A-2F35-4F37-AFD2-1761611FBA46}"/>
              </a:ext>
            </a:extLst>
          </p:cNvPr>
          <p:cNvSpPr/>
          <p:nvPr/>
        </p:nvSpPr>
        <p:spPr>
          <a:xfrm>
            <a:off x="5498389" y="4397852"/>
            <a:ext cx="504825" cy="345528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화살표: 오른쪽 67">
            <a:extLst>
              <a:ext uri="{FF2B5EF4-FFF2-40B4-BE49-F238E27FC236}">
                <a16:creationId xmlns:a16="http://schemas.microsoft.com/office/drawing/2014/main" id="{FE50F082-BFEA-4AA6-98BF-7F640852139E}"/>
              </a:ext>
            </a:extLst>
          </p:cNvPr>
          <p:cNvSpPr/>
          <p:nvPr/>
        </p:nvSpPr>
        <p:spPr>
          <a:xfrm>
            <a:off x="6567292" y="2351296"/>
            <a:ext cx="504825" cy="345528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왼쪽으로 구부러짐 15">
            <a:extLst>
              <a:ext uri="{FF2B5EF4-FFF2-40B4-BE49-F238E27FC236}">
                <a16:creationId xmlns:a16="http://schemas.microsoft.com/office/drawing/2014/main" id="{17EFEEDD-6AC8-4D96-A833-868ECC14E5C2}"/>
              </a:ext>
            </a:extLst>
          </p:cNvPr>
          <p:cNvSpPr/>
          <p:nvPr/>
        </p:nvSpPr>
        <p:spPr>
          <a:xfrm rot="10800000">
            <a:off x="3124749" y="2801045"/>
            <a:ext cx="504824" cy="1770634"/>
          </a:xfrm>
          <a:prstGeom prst="curvedLef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47AFE8-D25C-44D0-888C-CA206E6CA185}"/>
              </a:ext>
            </a:extLst>
          </p:cNvPr>
          <p:cNvSpPr txBox="1"/>
          <p:nvPr/>
        </p:nvSpPr>
        <p:spPr>
          <a:xfrm>
            <a:off x="2106897" y="3581265"/>
            <a:ext cx="989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FF0000"/>
                </a:solidFill>
              </a:rPr>
              <a:t>COPY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459923A-CB5D-4D64-BC20-D3D6E3967521}"/>
              </a:ext>
            </a:extLst>
          </p:cNvPr>
          <p:cNvCxnSpPr>
            <a:cxnSpLocks/>
          </p:cNvCxnSpPr>
          <p:nvPr/>
        </p:nvCxnSpPr>
        <p:spPr>
          <a:xfrm>
            <a:off x="5498389" y="2130251"/>
            <a:ext cx="0" cy="319537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9854AC20-F7A5-4874-83F9-2F3D1FFD6681}"/>
              </a:ext>
            </a:extLst>
          </p:cNvPr>
          <p:cNvCxnSpPr>
            <a:cxnSpLocks/>
          </p:cNvCxnSpPr>
          <p:nvPr/>
        </p:nvCxnSpPr>
        <p:spPr>
          <a:xfrm>
            <a:off x="7879848" y="2130251"/>
            <a:ext cx="0" cy="370335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B0F8617-3443-48B4-AF38-260967829450}"/>
              </a:ext>
            </a:extLst>
          </p:cNvPr>
          <p:cNvCxnSpPr>
            <a:cxnSpLocks/>
          </p:cNvCxnSpPr>
          <p:nvPr/>
        </p:nvCxnSpPr>
        <p:spPr>
          <a:xfrm>
            <a:off x="9909615" y="2130251"/>
            <a:ext cx="0" cy="4189977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타원 7">
            <a:extLst>
              <a:ext uri="{FF2B5EF4-FFF2-40B4-BE49-F238E27FC236}">
                <a16:creationId xmlns:a16="http://schemas.microsoft.com/office/drawing/2014/main" id="{31D62CC4-DFD9-441C-84BA-F324DE6AB1AA}"/>
              </a:ext>
            </a:extLst>
          </p:cNvPr>
          <p:cNvSpPr/>
          <p:nvPr/>
        </p:nvSpPr>
        <p:spPr>
          <a:xfrm>
            <a:off x="1997881" y="2067414"/>
            <a:ext cx="382650" cy="36756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352AF085-DE30-45DA-9370-2D1BF54C0D2D}"/>
              </a:ext>
            </a:extLst>
          </p:cNvPr>
          <p:cNvSpPr/>
          <p:nvPr/>
        </p:nvSpPr>
        <p:spPr>
          <a:xfrm>
            <a:off x="5064177" y="2067414"/>
            <a:ext cx="382650" cy="36756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52CA0E05-5EF0-4506-B3E1-568D263EA136}"/>
              </a:ext>
            </a:extLst>
          </p:cNvPr>
          <p:cNvSpPr/>
          <p:nvPr/>
        </p:nvSpPr>
        <p:spPr>
          <a:xfrm>
            <a:off x="5064177" y="4638011"/>
            <a:ext cx="382650" cy="36756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ED76A243-8CD6-49E2-A321-46DA858630B6}"/>
              </a:ext>
            </a:extLst>
          </p:cNvPr>
          <p:cNvSpPr/>
          <p:nvPr/>
        </p:nvSpPr>
        <p:spPr>
          <a:xfrm>
            <a:off x="7463826" y="4638011"/>
            <a:ext cx="382650" cy="36756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95C6DCB8-257F-46E5-9246-55B2F0632047}"/>
              </a:ext>
            </a:extLst>
          </p:cNvPr>
          <p:cNvSpPr/>
          <p:nvPr/>
        </p:nvSpPr>
        <p:spPr>
          <a:xfrm>
            <a:off x="9469753" y="2051545"/>
            <a:ext cx="382650" cy="36756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F0D064-DBC5-453A-A9AB-D8AA07F4FF22}"/>
              </a:ext>
            </a:extLst>
          </p:cNvPr>
          <p:cNvSpPr txBox="1"/>
          <p:nvPr/>
        </p:nvSpPr>
        <p:spPr>
          <a:xfrm>
            <a:off x="456934" y="5341166"/>
            <a:ext cx="6069290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보정된 명도</a:t>
            </a:r>
            <a:r>
              <a:rPr lang="en-US" altLang="ko-KR" dirty="0"/>
              <a:t>(2)</a:t>
            </a:r>
            <a:r>
              <a:rPr lang="ko-KR" altLang="en-US" dirty="0"/>
              <a:t>가 원문</a:t>
            </a:r>
            <a:r>
              <a:rPr lang="en-US" altLang="ko-KR" dirty="0"/>
              <a:t>(1)</a:t>
            </a:r>
            <a:r>
              <a:rPr lang="ko-KR" altLang="en-US" dirty="0"/>
              <a:t>과 번역문</a:t>
            </a:r>
            <a:r>
              <a:rPr lang="en-US" altLang="ko-KR" dirty="0"/>
              <a:t>(3)</a:t>
            </a:r>
            <a:r>
              <a:rPr lang="ko-KR" altLang="en-US" dirty="0"/>
              <a:t>의 범위를 만족하는지 여부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371424-0E76-4763-8FDA-231FFFB03E1C}"/>
              </a:ext>
            </a:extLst>
          </p:cNvPr>
          <p:cNvSpPr txBox="1"/>
          <p:nvPr/>
        </p:nvSpPr>
        <p:spPr>
          <a:xfrm>
            <a:off x="456933" y="5833604"/>
            <a:ext cx="7571695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보정된 명도</a:t>
            </a:r>
            <a:r>
              <a:rPr lang="en-US" altLang="ko-KR" dirty="0"/>
              <a:t>(2)</a:t>
            </a:r>
            <a:r>
              <a:rPr lang="ko-KR" altLang="en-US" dirty="0"/>
              <a:t>가 원문</a:t>
            </a:r>
            <a:r>
              <a:rPr lang="en-US" altLang="ko-KR" dirty="0"/>
              <a:t>(1)</a:t>
            </a:r>
            <a:r>
              <a:rPr lang="ko-KR" altLang="en-US" dirty="0"/>
              <a:t>과 번역문</a:t>
            </a:r>
            <a:r>
              <a:rPr lang="en-US" altLang="ko-KR" dirty="0"/>
              <a:t>(4)</a:t>
            </a:r>
            <a:r>
              <a:rPr lang="ko-KR" altLang="en-US" dirty="0"/>
              <a:t>의 범위를 만족하는지 여부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AC9DED2-87BB-4BF7-8517-676D030C1A07}"/>
              </a:ext>
            </a:extLst>
          </p:cNvPr>
          <p:cNvSpPr txBox="1"/>
          <p:nvPr/>
        </p:nvSpPr>
        <p:spPr>
          <a:xfrm>
            <a:off x="456933" y="6320228"/>
            <a:ext cx="9742139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보정된 명도</a:t>
            </a:r>
            <a:r>
              <a:rPr lang="en-US" altLang="ko-KR" dirty="0"/>
              <a:t>(5)</a:t>
            </a:r>
            <a:r>
              <a:rPr lang="ko-KR" altLang="en-US" dirty="0"/>
              <a:t>가 원문</a:t>
            </a:r>
            <a:r>
              <a:rPr lang="en-US" altLang="ko-KR" dirty="0"/>
              <a:t>(1)</a:t>
            </a:r>
            <a:r>
              <a:rPr lang="ko-KR" altLang="en-US" dirty="0"/>
              <a:t>과 번역문</a:t>
            </a:r>
            <a:r>
              <a:rPr lang="en-US" altLang="ko-KR" dirty="0"/>
              <a:t>(4)</a:t>
            </a:r>
            <a:r>
              <a:rPr lang="ko-KR" altLang="en-US" dirty="0"/>
              <a:t>의 범위를 만족하는지 여부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B895464-578B-4F78-B853-784EBBD5A799}"/>
              </a:ext>
            </a:extLst>
          </p:cNvPr>
          <p:cNvSpPr/>
          <p:nvPr/>
        </p:nvSpPr>
        <p:spPr>
          <a:xfrm>
            <a:off x="5107042" y="3100480"/>
            <a:ext cx="795690" cy="689050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실체심사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092D8063-3F3E-452E-8F05-74F94DD3C4B2}"/>
              </a:ext>
            </a:extLst>
          </p:cNvPr>
          <p:cNvSpPr/>
          <p:nvPr/>
        </p:nvSpPr>
        <p:spPr>
          <a:xfrm>
            <a:off x="7482003" y="3100480"/>
            <a:ext cx="795690" cy="689050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실체심사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6C792051-3D87-4201-819E-E8D755ED66D4}"/>
              </a:ext>
            </a:extLst>
          </p:cNvPr>
          <p:cNvSpPr/>
          <p:nvPr/>
        </p:nvSpPr>
        <p:spPr>
          <a:xfrm>
            <a:off x="9469753" y="3100480"/>
            <a:ext cx="795690" cy="689050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실체심사</a:t>
            </a:r>
          </a:p>
        </p:txBody>
      </p:sp>
      <p:sp>
        <p:nvSpPr>
          <p:cNvPr id="36" name="화살표: 왼쪽으로 구부러짐 35">
            <a:extLst>
              <a:ext uri="{FF2B5EF4-FFF2-40B4-BE49-F238E27FC236}">
                <a16:creationId xmlns:a16="http://schemas.microsoft.com/office/drawing/2014/main" id="{8F8D6D87-292F-4A9E-8628-8C8B44132F30}"/>
              </a:ext>
            </a:extLst>
          </p:cNvPr>
          <p:cNvSpPr/>
          <p:nvPr/>
        </p:nvSpPr>
        <p:spPr>
          <a:xfrm rot="10800000">
            <a:off x="6505465" y="2801045"/>
            <a:ext cx="504824" cy="1518394"/>
          </a:xfrm>
          <a:prstGeom prst="curvedLef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0C68491-5B51-4DE1-8024-5E97846AB6A4}"/>
              </a:ext>
            </a:extLst>
          </p:cNvPr>
          <p:cNvSpPr txBox="1"/>
          <p:nvPr/>
        </p:nvSpPr>
        <p:spPr>
          <a:xfrm>
            <a:off x="5943905" y="3560242"/>
            <a:ext cx="15502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FF0000"/>
                </a:solidFill>
              </a:rPr>
              <a:t>NO COPY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33206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8" name="직선 연결선 147"/>
          <p:cNvCxnSpPr/>
          <p:nvPr/>
        </p:nvCxnSpPr>
        <p:spPr>
          <a:xfrm>
            <a:off x="3424780" y="3790950"/>
            <a:ext cx="0" cy="233934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/>
          <p:cNvCxnSpPr/>
          <p:nvPr/>
        </p:nvCxnSpPr>
        <p:spPr>
          <a:xfrm>
            <a:off x="1112099" y="3790950"/>
            <a:ext cx="0" cy="233934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/>
          <p:cNvCxnSpPr/>
          <p:nvPr/>
        </p:nvCxnSpPr>
        <p:spPr>
          <a:xfrm>
            <a:off x="10583090" y="3124200"/>
            <a:ext cx="0" cy="233934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7369775" y="3124200"/>
            <a:ext cx="0" cy="233934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분할출원의</a:t>
            </a:r>
            <a:r>
              <a:rPr lang="ko-KR" altLang="en-US" dirty="0"/>
              <a:t> 취지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1519" y="1427277"/>
            <a:ext cx="5554921" cy="1425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심사관은 출원된 발명의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청구항별로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거절이유를 판단하지만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하나의 청구항이라도 거절이유가 있으면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출원전체를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거절결정함</a:t>
            </a:r>
            <a:endParaRPr lang="en-US" altLang="ko-KR" sz="1200" dirty="0">
              <a:solidFill>
                <a:schemeClr val="tx2"/>
              </a:solidFill>
              <a:latin typeface="+mn-ea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따라서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일부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청구항에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거절이유가 있는 경우 거절이유가 있는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청구항은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분할출원하여 대응방안을 모색하고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거절이유가 없는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청구항은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먼저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등록받는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것이 바람직함</a:t>
            </a:r>
            <a:endParaRPr lang="en-US" altLang="ko-KR" sz="1200" dirty="0">
              <a:solidFill>
                <a:schemeClr val="tx2"/>
              </a:solidFill>
              <a:latin typeface="+mn-ea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이때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분할출원의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심사청구시기와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청구항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수를 조절하여 비용을 절감함</a:t>
            </a:r>
            <a:endParaRPr lang="en-US" altLang="ko-KR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497427" y="1427277"/>
            <a:ext cx="5351932" cy="1425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발명의 설명 또는 도면에만 기재된 발명을 보호받고자 할 경우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분할출원을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이용함</a:t>
            </a:r>
            <a:endParaRPr lang="en-US" altLang="ko-KR" sz="1200" dirty="0">
              <a:solidFill>
                <a:schemeClr val="tx2"/>
              </a:solidFill>
              <a:latin typeface="+mn-ea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특허결정등본이 송달된 후라도 시장에서 사용가능성이 있는 중요한 특허의 경우에는 권리범위를 재설계하여 특허 포트폴리오를 구축하기 위하여 분할출원을 이용함</a:t>
            </a:r>
            <a:endParaRPr lang="en-US" altLang="ko-KR" sz="1200" dirty="0">
              <a:solidFill>
                <a:schemeClr val="tx2"/>
              </a:solidFill>
              <a:latin typeface="+mn-ea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이때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분할출원의 심사청구시기와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청구항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수를 조절하여 비용을 절감함</a:t>
            </a:r>
            <a:endParaRPr lang="en-US" altLang="ko-KR" sz="1200" dirty="0">
              <a:solidFill>
                <a:schemeClr val="tx2"/>
              </a:solidFill>
              <a:latin typeface="+mn-ea"/>
            </a:endParaRPr>
          </a:p>
        </p:txBody>
      </p:sp>
      <p:cxnSp>
        <p:nvCxnSpPr>
          <p:cNvPr id="53" name="직선 화살표 연결선 52"/>
          <p:cNvCxnSpPr/>
          <p:nvPr/>
        </p:nvCxnSpPr>
        <p:spPr>
          <a:xfrm>
            <a:off x="296294" y="4001133"/>
            <a:ext cx="5070464" cy="0"/>
          </a:xfrm>
          <a:prstGeom prst="straightConnector1">
            <a:avLst/>
          </a:prstGeom>
          <a:noFill/>
          <a:ln w="28575" cap="flat" cmpd="sng" algn="ctr">
            <a:solidFill>
              <a:sysClr val="window" lastClr="FFFFFF">
                <a:lumMod val="50000"/>
              </a:sysClr>
            </a:solidFill>
            <a:prstDash val="solid"/>
            <a:headEnd type="none" w="med" len="med"/>
            <a:tailEnd type="triangle"/>
          </a:ln>
          <a:effectLst/>
        </p:spPr>
      </p:cxnSp>
      <p:sp>
        <p:nvSpPr>
          <p:cNvPr id="54" name="Rectangle 14"/>
          <p:cNvSpPr>
            <a:spLocks noChangeArrowheads="1"/>
          </p:cNvSpPr>
          <p:nvPr/>
        </p:nvSpPr>
        <p:spPr bwMode="auto">
          <a:xfrm>
            <a:off x="780136" y="4103378"/>
            <a:ext cx="676062" cy="3668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출원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(X)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5" name="Rectangle 14"/>
          <p:cNvSpPr>
            <a:spLocks noChangeArrowheads="1"/>
          </p:cNvSpPr>
          <p:nvPr/>
        </p:nvSpPr>
        <p:spPr bwMode="auto">
          <a:xfrm>
            <a:off x="1408574" y="4103378"/>
            <a:ext cx="676062" cy="3668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OA(X)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8" name="원호 57"/>
          <p:cNvSpPr/>
          <p:nvPr/>
        </p:nvSpPr>
        <p:spPr>
          <a:xfrm>
            <a:off x="1762474" y="3455872"/>
            <a:ext cx="3223999" cy="1014323"/>
          </a:xfrm>
          <a:prstGeom prst="arc">
            <a:avLst>
              <a:gd name="adj1" fmla="val 10786536"/>
              <a:gd name="adj2" fmla="val 68641"/>
            </a:avLst>
          </a:prstGeom>
          <a:noFill/>
          <a:ln w="3175" cap="flat" cmpd="sng" algn="ctr">
            <a:solidFill>
              <a:sysClr val="window" lastClr="FFFFFF">
                <a:lumMod val="50000"/>
              </a:sysClr>
            </a:solidFill>
            <a:prstDash val="solid"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9" name="Rectangle 14"/>
          <p:cNvSpPr>
            <a:spLocks noChangeArrowheads="1"/>
          </p:cNvSpPr>
          <p:nvPr/>
        </p:nvSpPr>
        <p:spPr bwMode="auto">
          <a:xfrm>
            <a:off x="3085049" y="3174821"/>
            <a:ext cx="676062" cy="3668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의견제출기간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(2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월 </a:t>
            </a:r>
            <a:r>
              <a:rPr lang="ko-KR" altLang="en-US" sz="1000" kern="0" dirty="0">
                <a:solidFill>
                  <a:prstClr val="black"/>
                </a:solidFill>
                <a:latin typeface="+mn-ea"/>
              </a:rPr>
              <a:t>이내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)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1" name="순서도: 처리 60"/>
          <p:cNvSpPr/>
          <p:nvPr/>
        </p:nvSpPr>
        <p:spPr>
          <a:xfrm>
            <a:off x="845595" y="4801916"/>
            <a:ext cx="549301" cy="213950"/>
          </a:xfrm>
          <a:prstGeom prst="flowChartProcess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A, B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3" name="순서도: 처리 62"/>
          <p:cNvSpPr/>
          <p:nvPr/>
        </p:nvSpPr>
        <p:spPr>
          <a:xfrm>
            <a:off x="845595" y="4590363"/>
            <a:ext cx="549301" cy="213950"/>
          </a:xfrm>
          <a:prstGeom prst="flowChartProcess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A, B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4" name="Rectangle 14"/>
          <p:cNvSpPr>
            <a:spLocks noChangeArrowheads="1"/>
          </p:cNvSpPr>
          <p:nvPr/>
        </p:nvSpPr>
        <p:spPr bwMode="auto">
          <a:xfrm>
            <a:off x="2102053" y="4103378"/>
            <a:ext cx="676062" cy="3668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5" name="Rectangle 14"/>
          <p:cNvSpPr>
            <a:spLocks noChangeArrowheads="1"/>
          </p:cNvSpPr>
          <p:nvPr/>
        </p:nvSpPr>
        <p:spPr bwMode="auto">
          <a:xfrm>
            <a:off x="2109320" y="4103378"/>
            <a:ext cx="676062" cy="3668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의견서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(X)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8" name="Rectangle 14"/>
          <p:cNvSpPr>
            <a:spLocks noChangeArrowheads="1"/>
          </p:cNvSpPr>
          <p:nvPr/>
        </p:nvSpPr>
        <p:spPr bwMode="auto">
          <a:xfrm>
            <a:off x="4135432" y="4103378"/>
            <a:ext cx="676062" cy="3668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보정서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(X)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0" name="Rectangle 14"/>
          <p:cNvSpPr>
            <a:spLocks noChangeArrowheads="1"/>
          </p:cNvSpPr>
          <p:nvPr/>
        </p:nvSpPr>
        <p:spPr bwMode="auto">
          <a:xfrm>
            <a:off x="3089584" y="4103378"/>
            <a:ext cx="676062" cy="3668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분할출원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(Y)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6" name="Rectangle 14"/>
          <p:cNvSpPr>
            <a:spLocks noChangeArrowheads="1"/>
          </p:cNvSpPr>
          <p:nvPr/>
        </p:nvSpPr>
        <p:spPr bwMode="auto">
          <a:xfrm flipV="1">
            <a:off x="1067049" y="3944490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2" name="순서도: 처리 71"/>
          <p:cNvSpPr/>
          <p:nvPr/>
        </p:nvSpPr>
        <p:spPr>
          <a:xfrm>
            <a:off x="3168058" y="4801916"/>
            <a:ext cx="549301" cy="213950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A, B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3" name="순서도: 처리 72"/>
          <p:cNvSpPr/>
          <p:nvPr/>
        </p:nvSpPr>
        <p:spPr>
          <a:xfrm>
            <a:off x="3168058" y="4590363"/>
            <a:ext cx="549301" cy="213950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B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4" name="순서도: 처리 73"/>
          <p:cNvSpPr/>
          <p:nvPr/>
        </p:nvSpPr>
        <p:spPr>
          <a:xfrm>
            <a:off x="4160521" y="4801916"/>
            <a:ext cx="549301" cy="213950"/>
          </a:xfrm>
          <a:prstGeom prst="flowChartProcess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A, B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6" name="순서도: 처리 75"/>
          <p:cNvSpPr/>
          <p:nvPr/>
        </p:nvSpPr>
        <p:spPr>
          <a:xfrm>
            <a:off x="4160521" y="4590363"/>
            <a:ext cx="549301" cy="213950"/>
          </a:xfrm>
          <a:prstGeom prst="flowChartProcess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A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0" name="모서리가 둥근 사각형 설명선 79"/>
          <p:cNvSpPr/>
          <p:nvPr/>
        </p:nvSpPr>
        <p:spPr>
          <a:xfrm>
            <a:off x="423055" y="3104161"/>
            <a:ext cx="1309870" cy="351711"/>
          </a:xfrm>
          <a:prstGeom prst="wedgeRoundRectCallout">
            <a:avLst>
              <a:gd name="adj1" fmla="val 47367"/>
              <a:gd name="adj2" fmla="val 198976"/>
              <a:gd name="adj3" fmla="val 16667"/>
            </a:avLst>
          </a:prstGeom>
          <a:solidFill>
            <a:sysClr val="window" lastClr="FFFFFF"/>
          </a:solidFill>
          <a:ln w="6350" cap="flat" cmpd="sng" algn="ctr">
            <a:solidFill>
              <a:srgbClr val="4F81BD">
                <a:shade val="50000"/>
              </a:srgbClr>
            </a:solidFill>
            <a:prstDash val="sysDot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A</a:t>
            </a: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가 진보성 위반이다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.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1" name="모서리가 둥근 사각형 설명선 80"/>
          <p:cNvSpPr/>
          <p:nvPr/>
        </p:nvSpPr>
        <p:spPr>
          <a:xfrm>
            <a:off x="1474927" y="4754292"/>
            <a:ext cx="1197465" cy="413202"/>
          </a:xfrm>
          <a:prstGeom prst="wedgeRoundRectCallout">
            <a:avLst>
              <a:gd name="adj1" fmla="val 25708"/>
              <a:gd name="adj2" fmla="val -131983"/>
              <a:gd name="adj3" fmla="val 16667"/>
            </a:avLst>
          </a:prstGeom>
          <a:solidFill>
            <a:sysClr val="window" lastClr="FFFFFF"/>
          </a:solidFill>
          <a:ln w="6350" cap="flat" cmpd="sng" algn="ctr">
            <a:solidFill>
              <a:srgbClr val="4F81BD">
                <a:shade val="50000"/>
              </a:srgbClr>
            </a:solidFill>
            <a:prstDash val="sysDot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A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가 진보성 위반이 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아니다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.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84" name="직선 화살표 연결선 83"/>
          <p:cNvCxnSpPr/>
          <p:nvPr/>
        </p:nvCxnSpPr>
        <p:spPr>
          <a:xfrm>
            <a:off x="6544273" y="3458208"/>
            <a:ext cx="5305086" cy="0"/>
          </a:xfrm>
          <a:prstGeom prst="straightConnector1">
            <a:avLst/>
          </a:prstGeom>
          <a:noFill/>
          <a:ln w="28575" cap="flat" cmpd="sng" algn="ctr">
            <a:solidFill>
              <a:sysClr val="window" lastClr="FFFFFF">
                <a:lumMod val="50000"/>
              </a:sysClr>
            </a:solidFill>
            <a:prstDash val="solid"/>
            <a:headEnd type="none" w="med" len="med"/>
            <a:tailEnd type="triangle"/>
          </a:ln>
          <a:effectLst/>
        </p:spPr>
      </p:cxnSp>
      <p:sp>
        <p:nvSpPr>
          <p:cNvPr id="85" name="Rectangle 14"/>
          <p:cNvSpPr>
            <a:spLocks noChangeArrowheads="1"/>
          </p:cNvSpPr>
          <p:nvPr/>
        </p:nvSpPr>
        <p:spPr bwMode="auto">
          <a:xfrm>
            <a:off x="7030572" y="3560453"/>
            <a:ext cx="707345" cy="3668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출원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(X)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8" name="Rectangle 14"/>
          <p:cNvSpPr>
            <a:spLocks noChangeArrowheads="1"/>
          </p:cNvSpPr>
          <p:nvPr/>
        </p:nvSpPr>
        <p:spPr bwMode="auto">
          <a:xfrm>
            <a:off x="8672384" y="3637925"/>
            <a:ext cx="707345" cy="3668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solidFill>
                  <a:prstClr val="black"/>
                </a:solidFill>
                <a:latin typeface="+mn-ea"/>
              </a:rPr>
              <a:t>제</a:t>
            </a:r>
            <a:r>
              <a:rPr lang="en-US" altLang="ko-KR" sz="1000" kern="0" dirty="0">
                <a:solidFill>
                  <a:prstClr val="black"/>
                </a:solidFill>
                <a:latin typeface="+mn-ea"/>
              </a:rPr>
              <a:t>3</a:t>
            </a:r>
            <a:r>
              <a:rPr lang="ko-KR" altLang="en-US" sz="1000" kern="0" dirty="0">
                <a:solidFill>
                  <a:prstClr val="black"/>
                </a:solidFill>
                <a:latin typeface="+mn-ea"/>
              </a:rPr>
              <a:t>자의</a:t>
            </a:r>
            <a:endParaRPr lang="en-US" altLang="ko-KR" sz="1000" kern="0" dirty="0">
              <a:solidFill>
                <a:prstClr val="black"/>
              </a:solidFill>
              <a:latin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B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공지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/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출원</a:t>
            </a:r>
          </a:p>
        </p:txBody>
      </p:sp>
      <p:sp>
        <p:nvSpPr>
          <p:cNvPr id="95" name="Rectangle 14"/>
          <p:cNvSpPr>
            <a:spLocks noChangeArrowheads="1"/>
          </p:cNvSpPr>
          <p:nvPr/>
        </p:nvSpPr>
        <p:spPr bwMode="auto">
          <a:xfrm>
            <a:off x="8323965" y="3560453"/>
            <a:ext cx="707345" cy="3668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6" name="Rectangle 14"/>
          <p:cNvSpPr>
            <a:spLocks noChangeArrowheads="1"/>
          </p:cNvSpPr>
          <p:nvPr/>
        </p:nvSpPr>
        <p:spPr bwMode="auto">
          <a:xfrm>
            <a:off x="10234208" y="3560453"/>
            <a:ext cx="707345" cy="3668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분할출원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(Y)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00" name="직선 연결선 99"/>
          <p:cNvCxnSpPr/>
          <p:nvPr/>
        </p:nvCxnSpPr>
        <p:spPr>
          <a:xfrm>
            <a:off x="6109281" y="1095555"/>
            <a:ext cx="0" cy="553598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5"/>
          <p:cNvSpPr>
            <a:spLocks noChangeArrowheads="1"/>
          </p:cNvSpPr>
          <p:nvPr/>
        </p:nvSpPr>
        <p:spPr bwMode="auto">
          <a:xfrm>
            <a:off x="347687" y="1265255"/>
            <a:ext cx="1843001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>
                <a:solidFill>
                  <a:schemeClr val="bg1"/>
                </a:solidFill>
                <a:latin typeface="+mj-ea"/>
                <a:ea typeface="+mj-ea"/>
              </a:rPr>
              <a:t>거절이유 </a:t>
            </a:r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대응형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2" name="Rectangle 5"/>
          <p:cNvSpPr>
            <a:spLocks noChangeArrowheads="1"/>
          </p:cNvSpPr>
          <p:nvPr/>
        </p:nvSpPr>
        <p:spPr bwMode="auto">
          <a:xfrm>
            <a:off x="6637457" y="1265255"/>
            <a:ext cx="1843001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권리범위 </a:t>
            </a:r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재설계형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3" name="Rectangle 14"/>
          <p:cNvSpPr>
            <a:spLocks noChangeArrowheads="1"/>
          </p:cNvSpPr>
          <p:nvPr/>
        </p:nvSpPr>
        <p:spPr bwMode="auto">
          <a:xfrm flipV="1">
            <a:off x="1686751" y="3944490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4" name="Rectangle 14"/>
          <p:cNvSpPr>
            <a:spLocks noChangeArrowheads="1"/>
          </p:cNvSpPr>
          <p:nvPr/>
        </p:nvSpPr>
        <p:spPr bwMode="auto">
          <a:xfrm flipV="1">
            <a:off x="2368366" y="3944490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5" name="Rectangle 14"/>
          <p:cNvSpPr>
            <a:spLocks noChangeArrowheads="1"/>
          </p:cNvSpPr>
          <p:nvPr/>
        </p:nvSpPr>
        <p:spPr bwMode="auto">
          <a:xfrm flipV="1">
            <a:off x="4410307" y="3944490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6" name="Rectangle 14"/>
          <p:cNvSpPr>
            <a:spLocks noChangeArrowheads="1"/>
          </p:cNvSpPr>
          <p:nvPr/>
        </p:nvSpPr>
        <p:spPr bwMode="auto">
          <a:xfrm flipV="1">
            <a:off x="3358135" y="3944490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7" name="Rectangle 14"/>
          <p:cNvSpPr>
            <a:spLocks noChangeArrowheads="1"/>
          </p:cNvSpPr>
          <p:nvPr/>
        </p:nvSpPr>
        <p:spPr bwMode="auto">
          <a:xfrm flipV="1">
            <a:off x="7312625" y="3401565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8" name="Rectangle 14"/>
          <p:cNvSpPr>
            <a:spLocks noChangeArrowheads="1"/>
          </p:cNvSpPr>
          <p:nvPr/>
        </p:nvSpPr>
        <p:spPr bwMode="auto">
          <a:xfrm flipV="1">
            <a:off x="8949719" y="3401565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23" name="Rectangle 14"/>
          <p:cNvSpPr>
            <a:spLocks noChangeArrowheads="1"/>
          </p:cNvSpPr>
          <p:nvPr/>
        </p:nvSpPr>
        <p:spPr bwMode="auto">
          <a:xfrm flipV="1">
            <a:off x="10528515" y="3401565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32" name="순서도: 처리 131"/>
          <p:cNvSpPr/>
          <p:nvPr/>
        </p:nvSpPr>
        <p:spPr>
          <a:xfrm>
            <a:off x="7095977" y="4211366"/>
            <a:ext cx="549301" cy="213950"/>
          </a:xfrm>
          <a:prstGeom prst="flowChartProcess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A, B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34" name="순서도: 처리 133"/>
          <p:cNvSpPr/>
          <p:nvPr/>
        </p:nvSpPr>
        <p:spPr>
          <a:xfrm>
            <a:off x="7095977" y="3999813"/>
            <a:ext cx="549301" cy="213950"/>
          </a:xfrm>
          <a:prstGeom prst="flowChartProcess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A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35" name="순서도: 처리 134"/>
          <p:cNvSpPr/>
          <p:nvPr/>
        </p:nvSpPr>
        <p:spPr>
          <a:xfrm>
            <a:off x="10313820" y="4211366"/>
            <a:ext cx="549301" cy="213950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A, B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37" name="순서도: 처리 136"/>
          <p:cNvSpPr/>
          <p:nvPr/>
        </p:nvSpPr>
        <p:spPr>
          <a:xfrm>
            <a:off x="10313820" y="3999813"/>
            <a:ext cx="549301" cy="213950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B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2" name="직사각형 141"/>
          <p:cNvSpPr/>
          <p:nvPr/>
        </p:nvSpPr>
        <p:spPr>
          <a:xfrm>
            <a:off x="6497426" y="5715680"/>
            <a:ext cx="5347439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발명의 설명 또는 도면에만 기재된 발명을 보호받기 위한 조치로는 </a:t>
            </a:r>
            <a:r>
              <a:rPr lang="ko-KR" altLang="en-US" sz="1400" kern="0" dirty="0" err="1">
                <a:solidFill>
                  <a:srgbClr val="000000"/>
                </a:solidFill>
                <a:latin typeface="+mn-ea"/>
              </a:rPr>
              <a:t>별도출원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보정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400" kern="0" dirty="0" err="1">
                <a:solidFill>
                  <a:srgbClr val="000000"/>
                </a:solidFill>
                <a:latin typeface="+mn-ea"/>
              </a:rPr>
              <a:t>분할출원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우선권주장출원 등이 있으며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각 제도의 장단점을 분석하여 대응방안을 모색함</a:t>
            </a:r>
          </a:p>
        </p:txBody>
      </p:sp>
      <p:sp>
        <p:nvSpPr>
          <p:cNvPr id="144" name="순서도: 처리 143"/>
          <p:cNvSpPr/>
          <p:nvPr/>
        </p:nvSpPr>
        <p:spPr>
          <a:xfrm>
            <a:off x="7095124" y="4917870"/>
            <a:ext cx="549301" cy="213950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A, B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5" name="순서도: 처리 144"/>
          <p:cNvSpPr/>
          <p:nvPr/>
        </p:nvSpPr>
        <p:spPr>
          <a:xfrm>
            <a:off x="7095124" y="4706317"/>
            <a:ext cx="549301" cy="213950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B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1" name="직선 화살표 연결선 10"/>
          <p:cNvCxnSpPr/>
          <p:nvPr/>
        </p:nvCxnSpPr>
        <p:spPr>
          <a:xfrm flipH="1">
            <a:off x="7737917" y="4211366"/>
            <a:ext cx="2496291" cy="70650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540627" y="4243410"/>
            <a:ext cx="873957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출원일 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소급효</a:t>
            </a:r>
          </a:p>
        </p:txBody>
      </p:sp>
      <p:cxnSp>
        <p:nvCxnSpPr>
          <p:cNvPr id="149" name="직선 화살표 연결선 148"/>
          <p:cNvCxnSpPr/>
          <p:nvPr/>
        </p:nvCxnSpPr>
        <p:spPr>
          <a:xfrm flipH="1">
            <a:off x="1456198" y="4889741"/>
            <a:ext cx="1628851" cy="99638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1803347" y="5242187"/>
            <a:ext cx="873957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출원일 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소급효</a:t>
            </a:r>
          </a:p>
        </p:txBody>
      </p:sp>
      <p:sp>
        <p:nvSpPr>
          <p:cNvPr id="153" name="순서도: 처리 152"/>
          <p:cNvSpPr/>
          <p:nvPr/>
        </p:nvSpPr>
        <p:spPr>
          <a:xfrm>
            <a:off x="855283" y="5886121"/>
            <a:ext cx="549301" cy="213950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A, B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55" name="순서도: 처리 154"/>
          <p:cNvSpPr/>
          <p:nvPr/>
        </p:nvSpPr>
        <p:spPr>
          <a:xfrm>
            <a:off x="855283" y="5674568"/>
            <a:ext cx="549301" cy="213950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B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7" name="모서리가 둥근 사각형 설명선 56"/>
          <p:cNvSpPr/>
          <p:nvPr/>
        </p:nvSpPr>
        <p:spPr>
          <a:xfrm>
            <a:off x="3568522" y="5366740"/>
            <a:ext cx="1197465" cy="413202"/>
          </a:xfrm>
          <a:prstGeom prst="wedgeRoundRectCallout">
            <a:avLst>
              <a:gd name="adj1" fmla="val 25708"/>
              <a:gd name="adj2" fmla="val -131983"/>
              <a:gd name="adj3" fmla="val 16667"/>
            </a:avLst>
          </a:prstGeom>
          <a:solidFill>
            <a:sysClr val="window" lastClr="FFFFFF"/>
          </a:solidFill>
          <a:ln w="6350" cap="flat" cmpd="sng" algn="ctr">
            <a:solidFill>
              <a:srgbClr val="4F81BD">
                <a:shade val="50000"/>
              </a:srgbClr>
            </a:solidFill>
            <a:prstDash val="sysDot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협의제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 회피 방안</a:t>
            </a:r>
          </a:p>
        </p:txBody>
      </p:sp>
      <p:sp>
        <p:nvSpPr>
          <p:cNvPr id="60" name="Rectangle 14"/>
          <p:cNvSpPr>
            <a:spLocks noChangeArrowheads="1"/>
          </p:cNvSpPr>
          <p:nvPr/>
        </p:nvSpPr>
        <p:spPr bwMode="auto">
          <a:xfrm>
            <a:off x="780136" y="6067049"/>
            <a:ext cx="676062" cy="3668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출원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(Y)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7048748" y="5108153"/>
            <a:ext cx="676062" cy="3668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출원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(Y)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190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3425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분할출원</a:t>
            </a:r>
            <a:r>
              <a:rPr lang="ko-KR" altLang="en-US" dirty="0"/>
              <a:t> 당시</a:t>
            </a:r>
            <a:r>
              <a:rPr lang="en-US" altLang="ko-KR" dirty="0"/>
              <a:t>(</a:t>
            </a:r>
            <a:r>
              <a:rPr lang="ko-KR" altLang="en-US" dirty="0" err="1"/>
              <a:t>분할출원할</a:t>
            </a:r>
            <a:r>
              <a:rPr lang="ko-KR" altLang="en-US" dirty="0"/>
              <a:t> 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77875" y="986046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원특허출원의 「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특허출원인」이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분할출원을</a:t>
            </a:r>
            <a:r>
              <a:rPr lang="ko-KR" altLang="en-US" sz="1400" dirty="0">
                <a:solidFill>
                  <a:schemeClr val="tx2"/>
                </a:solidFill>
              </a:rPr>
              <a:t> 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즉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분할출원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당시 분할출원인은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원출원의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출원인 또는 그 승계인과 동일인</a:t>
            </a:r>
            <a:r>
              <a:rPr lang="ko-KR" altLang="en-US" sz="1400" dirty="0">
                <a:solidFill>
                  <a:schemeClr val="tx2"/>
                </a:solidFill>
              </a:rPr>
              <a:t>이어야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「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</a:t>
            </a:r>
            <a:r>
              <a:rPr lang="ko-KR" altLang="en-US" sz="1400" dirty="0">
                <a:solidFill>
                  <a:schemeClr val="tx2"/>
                </a:solidFill>
              </a:rPr>
              <a:t> 당시」 </a:t>
            </a:r>
            <a:r>
              <a:rPr lang="ko-KR" altLang="en-US" sz="1400" dirty="0" err="1">
                <a:solidFill>
                  <a:schemeClr val="tx2"/>
                </a:solidFill>
              </a:rPr>
              <a:t>원출원이</a:t>
            </a:r>
            <a:r>
              <a:rPr lang="ko-KR" altLang="en-US" sz="1400" dirty="0">
                <a:solidFill>
                  <a:schemeClr val="tx2"/>
                </a:solidFill>
              </a:rPr>
              <a:t> 적법하게 </a:t>
            </a:r>
            <a:r>
              <a:rPr lang="ko-KR" altLang="en-US" sz="1400" dirty="0" err="1">
                <a:solidFill>
                  <a:schemeClr val="tx2"/>
                </a:solidFill>
              </a:rPr>
              <a:t>출원계속</a:t>
            </a:r>
            <a:r>
              <a:rPr lang="ko-KR" altLang="en-US" sz="1400" dirty="0">
                <a:solidFill>
                  <a:schemeClr val="tx2"/>
                </a:solidFill>
              </a:rPr>
              <a:t> 중이어야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이미 </a:t>
            </a:r>
            <a:r>
              <a:rPr lang="ko-KR" altLang="en-US" sz="1400" dirty="0" err="1">
                <a:solidFill>
                  <a:schemeClr val="tx2"/>
                </a:solidFill>
              </a:rPr>
              <a:t>출원절차가</a:t>
            </a:r>
            <a:r>
              <a:rPr lang="ko-KR" altLang="en-US" sz="1400" dirty="0">
                <a:solidFill>
                  <a:schemeClr val="tx2"/>
                </a:solidFill>
              </a:rPr>
              <a:t> 종료된 출원에 관하여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분할출원을</a:t>
            </a:r>
            <a:r>
              <a:rPr lang="ko-KR" altLang="en-US" sz="1400" dirty="0">
                <a:solidFill>
                  <a:schemeClr val="tx2"/>
                </a:solidFill>
              </a:rPr>
              <a:t> 인정해 준다면 행정절차가 복잡해지고 영속적으로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분할출원할</a:t>
            </a:r>
            <a:r>
              <a:rPr lang="ko-KR" altLang="en-US" sz="1400" dirty="0">
                <a:solidFill>
                  <a:schemeClr val="tx2"/>
                </a:solidFill>
              </a:rPr>
              <a:t> 수 있는 권리를 인정하게 되어 절차의 안정성을 해치는 결과를 초래하기 때문이다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따라서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</a:t>
            </a:r>
            <a:r>
              <a:rPr lang="ko-KR" altLang="en-US" sz="1400" dirty="0">
                <a:solidFill>
                  <a:schemeClr val="tx2"/>
                </a:solidFill>
              </a:rPr>
              <a:t> 시에 </a:t>
            </a:r>
            <a:r>
              <a:rPr lang="ko-KR" altLang="en-US" sz="1400" dirty="0" err="1">
                <a:solidFill>
                  <a:schemeClr val="tx2"/>
                </a:solidFill>
              </a:rPr>
              <a:t>원출원이</a:t>
            </a:r>
            <a:r>
              <a:rPr lang="ko-KR" altLang="en-US" sz="1400" dirty="0">
                <a:solidFill>
                  <a:schemeClr val="tx2"/>
                </a:solidFill>
              </a:rPr>
              <a:t> 취하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포기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무효되거나</a:t>
            </a:r>
            <a:r>
              <a:rPr lang="ko-KR" altLang="en-US" sz="1400" dirty="0">
                <a:solidFill>
                  <a:schemeClr val="tx2"/>
                </a:solidFill>
              </a:rPr>
              <a:t> 특허거절결정이 확정되어 </a:t>
            </a:r>
            <a:r>
              <a:rPr lang="ko-KR" altLang="en-US" sz="1400" dirty="0" err="1">
                <a:solidFill>
                  <a:schemeClr val="tx2"/>
                </a:solidFill>
              </a:rPr>
              <a:t>원출원의</a:t>
            </a:r>
            <a:r>
              <a:rPr lang="ko-KR" altLang="en-US" sz="1400" dirty="0">
                <a:solidFill>
                  <a:schemeClr val="tx2"/>
                </a:solidFill>
              </a:rPr>
              <a:t> 절차가 종료된 때에는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분할출원을</a:t>
            </a:r>
            <a:r>
              <a:rPr lang="ko-KR" altLang="en-US" sz="1400" dirty="0">
                <a:solidFill>
                  <a:schemeClr val="tx2"/>
                </a:solidFill>
              </a:rPr>
              <a:t> 할 수 없다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60" name="직선 연결선 59"/>
          <p:cNvCxnSpPr/>
          <p:nvPr/>
        </p:nvCxnSpPr>
        <p:spPr>
          <a:xfrm>
            <a:off x="0" y="194022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65026" y="3115562"/>
            <a:ext cx="1020302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53005" y="2797546"/>
            <a:ext cx="1326004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특허출원</a:t>
            </a:r>
            <a:r>
              <a:rPr lang="en-US" altLang="ko-KR" dirty="0"/>
              <a:t>(X)</a:t>
            </a:r>
          </a:p>
          <a:p>
            <a:pPr algn="ctr"/>
            <a:r>
              <a:rPr lang="ko-KR" altLang="en-US" dirty="0"/>
              <a:t>甲</a:t>
            </a:r>
            <a:endParaRPr lang="en-US" altLang="ko-KR" dirty="0"/>
          </a:p>
        </p:txBody>
      </p:sp>
      <p:sp>
        <p:nvSpPr>
          <p:cNvPr id="77" name="TextBox 76"/>
          <p:cNvSpPr txBox="1"/>
          <p:nvPr/>
        </p:nvSpPr>
        <p:spPr>
          <a:xfrm>
            <a:off x="3715448" y="4846263"/>
            <a:ext cx="177163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甲 </a:t>
            </a:r>
            <a:r>
              <a:rPr lang="ko-KR" altLang="en-US" dirty="0" err="1"/>
              <a:t>분할출원</a:t>
            </a:r>
            <a:r>
              <a:rPr lang="ko-KR" altLang="en-US" dirty="0"/>
              <a:t> 가능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77524" y="2788021"/>
            <a:ext cx="1951175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출원인변경신고</a:t>
            </a:r>
            <a:r>
              <a:rPr lang="en-US" altLang="ko-KR" dirty="0"/>
              <a:t>(X)</a:t>
            </a:r>
          </a:p>
          <a:p>
            <a:pPr algn="ctr"/>
            <a:r>
              <a:rPr lang="ko-KR" altLang="en-US" dirty="0"/>
              <a:t>甲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乙</a:t>
            </a:r>
            <a:endParaRPr lang="en-US" altLang="ko-KR" dirty="0"/>
          </a:p>
        </p:txBody>
      </p:sp>
      <p:sp>
        <p:nvSpPr>
          <p:cNvPr id="87" name="TextBox 86"/>
          <p:cNvSpPr txBox="1"/>
          <p:nvPr/>
        </p:nvSpPr>
        <p:spPr>
          <a:xfrm>
            <a:off x="8016685" y="2788021"/>
            <a:ext cx="1806905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/>
              <a:t>출원절차</a:t>
            </a:r>
            <a:r>
              <a:rPr lang="ko-KR" altLang="en-US" dirty="0"/>
              <a:t> 종료</a:t>
            </a:r>
            <a:r>
              <a:rPr lang="en-US" altLang="ko-KR" dirty="0"/>
              <a:t>(X)</a:t>
            </a:r>
          </a:p>
          <a:p>
            <a:pPr algn="ctr"/>
            <a:r>
              <a:rPr lang="ko-KR" altLang="en-US" dirty="0"/>
              <a:t>乙</a:t>
            </a:r>
            <a:endParaRPr lang="en-US" altLang="ko-KR" dirty="0"/>
          </a:p>
        </p:txBody>
      </p:sp>
      <p:sp>
        <p:nvSpPr>
          <p:cNvPr id="89" name="TextBox 88"/>
          <p:cNvSpPr txBox="1"/>
          <p:nvPr/>
        </p:nvSpPr>
        <p:spPr>
          <a:xfrm>
            <a:off x="2724777" y="2797546"/>
            <a:ext cx="1326004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/>
              <a:t>양도계약</a:t>
            </a:r>
            <a:r>
              <a:rPr lang="en-US" altLang="ko-KR" dirty="0"/>
              <a:t>(X)</a:t>
            </a:r>
          </a:p>
          <a:p>
            <a:pPr algn="ctr"/>
            <a:r>
              <a:rPr lang="ko-KR" altLang="en-US" dirty="0"/>
              <a:t>甲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乙</a:t>
            </a:r>
            <a:endParaRPr lang="en-US" altLang="ko-KR" dirty="0"/>
          </a:p>
        </p:txBody>
      </p:sp>
      <p:sp>
        <p:nvSpPr>
          <p:cNvPr id="3" name="직사각형 2"/>
          <p:cNvSpPr/>
          <p:nvPr/>
        </p:nvSpPr>
        <p:spPr>
          <a:xfrm>
            <a:off x="7206741" y="2583437"/>
            <a:ext cx="631904" cy="87017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3600" kern="0" dirty="0">
                <a:solidFill>
                  <a:schemeClr val="tx2"/>
                </a:solidFill>
                <a:ea typeface="함초롬바탕" panose="02030504000101010101" pitchFamily="18" charset="-127"/>
              </a:rPr>
              <a:t>❷</a:t>
            </a:r>
            <a:endParaRPr lang="ko-KR" altLang="en-US" sz="3600" kern="0" dirty="0">
              <a:solidFill>
                <a:schemeClr val="tx2"/>
              </a:solidFill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4285314" y="2575618"/>
            <a:ext cx="631904" cy="978729"/>
          </a:xfrm>
          <a:prstGeom prst="rect">
            <a:avLst/>
          </a:prstGeom>
          <a:solidFill>
            <a:schemeClr val="bg1"/>
          </a:solidFill>
        </p:spPr>
        <p:txBody>
          <a:bodyPr wrap="none" anchor="ctr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3600" kern="0" dirty="0">
                <a:solidFill>
                  <a:schemeClr val="tx2"/>
                </a:solidFill>
                <a:ea typeface="함초롬바탕" panose="02030504000101010101" pitchFamily="18" charset="-127"/>
              </a:rPr>
              <a:t>❶</a:t>
            </a:r>
            <a:endParaRPr lang="ko-KR" altLang="en-US" sz="3600" kern="0" dirty="0">
              <a:solidFill>
                <a:schemeClr val="tx2"/>
              </a:solidFill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10001630" y="2583437"/>
            <a:ext cx="631904" cy="87017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3600" kern="0" dirty="0">
                <a:solidFill>
                  <a:schemeClr val="tx2"/>
                </a:solidFill>
                <a:ea typeface="함초롬바탕" panose="02030504000101010101" pitchFamily="18" charset="-127"/>
              </a:rPr>
              <a:t>❸</a:t>
            </a:r>
            <a:endParaRPr lang="ko-KR" altLang="en-US" sz="3600" kern="0" dirty="0">
              <a:solidFill>
                <a:schemeClr val="tx2"/>
              </a:solidFill>
            </a:endParaRPr>
          </a:p>
        </p:txBody>
      </p:sp>
      <p:cxnSp>
        <p:nvCxnSpPr>
          <p:cNvPr id="7" name="직선 화살표 연결선 6"/>
          <p:cNvCxnSpPr>
            <a:cxnSpLocks/>
            <a:stCxn id="77" idx="0"/>
          </p:cNvCxnSpPr>
          <p:nvPr/>
        </p:nvCxnSpPr>
        <p:spPr>
          <a:xfrm flipV="1">
            <a:off x="4601268" y="3429000"/>
            <a:ext cx="0" cy="141726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6620573" y="4846263"/>
            <a:ext cx="177163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乙 </a:t>
            </a:r>
            <a:r>
              <a:rPr lang="ko-KR" altLang="en-US" dirty="0" err="1"/>
              <a:t>분할출원</a:t>
            </a:r>
            <a:r>
              <a:rPr lang="ko-KR" altLang="en-US" dirty="0"/>
              <a:t> 가능</a:t>
            </a:r>
          </a:p>
        </p:txBody>
      </p:sp>
      <p:cxnSp>
        <p:nvCxnSpPr>
          <p:cNvPr id="93" name="직선 화살표 연결선 92"/>
          <p:cNvCxnSpPr>
            <a:stCxn id="92" idx="0"/>
          </p:cNvCxnSpPr>
          <p:nvPr/>
        </p:nvCxnSpPr>
        <p:spPr>
          <a:xfrm flipV="1">
            <a:off x="7506393" y="3343275"/>
            <a:ext cx="0" cy="150298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9547654" y="4846263"/>
            <a:ext cx="149912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분할출원 불가</a:t>
            </a:r>
          </a:p>
        </p:txBody>
      </p:sp>
      <p:cxnSp>
        <p:nvCxnSpPr>
          <p:cNvPr id="97" name="직선 화살표 연결선 96"/>
          <p:cNvCxnSpPr>
            <a:stCxn id="94" idx="0"/>
          </p:cNvCxnSpPr>
          <p:nvPr/>
        </p:nvCxnSpPr>
        <p:spPr>
          <a:xfrm flipV="1">
            <a:off x="10297219" y="3343275"/>
            <a:ext cx="0" cy="150298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191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57703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>
            <a:stCxn id="23" idx="2"/>
          </p:cNvCxnSpPr>
          <p:nvPr/>
        </p:nvCxnSpPr>
        <p:spPr>
          <a:xfrm>
            <a:off x="1640034" y="2407026"/>
            <a:ext cx="0" cy="339262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출원 계속 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특허출원이 지식재산처에 </a:t>
            </a:r>
            <a:r>
              <a:rPr lang="ko-KR" altLang="en-US" sz="1400" dirty="0" err="1">
                <a:solidFill>
                  <a:schemeClr val="tx2"/>
                </a:solidFill>
              </a:rPr>
              <a:t>출원계속</a:t>
            </a:r>
            <a:r>
              <a:rPr lang="ko-KR" altLang="en-US" sz="1400" dirty="0">
                <a:solidFill>
                  <a:schemeClr val="tx2"/>
                </a:solidFill>
              </a:rPr>
              <a:t> 중인 경우란 출원에 대하여 지식재산처가 특허를 허여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87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따른 설정등록을 말한다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하는데 필요한 행정행위를 할 수 있는 상태를 말하는 것으로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출원이 무효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취하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포기 또는 특허거절결정이 확정되기 전이나 </a:t>
            </a:r>
            <a:r>
              <a:rPr lang="ko-KR" altLang="en-US" sz="1400" dirty="0" err="1">
                <a:solidFill>
                  <a:srgbClr val="FF0000"/>
                </a:solidFill>
              </a:rPr>
              <a:t>설정등록되기</a:t>
            </a:r>
            <a:r>
              <a:rPr lang="ko-KR" altLang="en-US" sz="1400" dirty="0">
                <a:solidFill>
                  <a:srgbClr val="FF0000"/>
                </a:solidFill>
              </a:rPr>
              <a:t> 전</a:t>
            </a:r>
            <a:r>
              <a:rPr lang="ko-KR" altLang="en-US" sz="1400" dirty="0">
                <a:solidFill>
                  <a:schemeClr val="tx2"/>
                </a:solidFill>
              </a:rPr>
              <a:t>을 말한다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1506192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2" name="직선 화살표 연결선 21"/>
          <p:cNvCxnSpPr/>
          <p:nvPr/>
        </p:nvCxnSpPr>
        <p:spPr>
          <a:xfrm>
            <a:off x="546644" y="2227524"/>
            <a:ext cx="1058986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14"/>
          <p:cNvSpPr>
            <a:spLocks noChangeArrowheads="1"/>
          </p:cNvSpPr>
          <p:nvPr/>
        </p:nvSpPr>
        <p:spPr bwMode="auto">
          <a:xfrm>
            <a:off x="1285398" y="2048021"/>
            <a:ext cx="70927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>
                <a:latin typeface="+mn-ea"/>
              </a:rPr>
              <a:t>출원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58" name="Rectangle 14"/>
          <p:cNvSpPr>
            <a:spLocks noChangeArrowheads="1"/>
          </p:cNvSpPr>
          <p:nvPr/>
        </p:nvSpPr>
        <p:spPr bwMode="auto">
          <a:xfrm>
            <a:off x="6383866" y="2048021"/>
            <a:ext cx="2032013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latin typeface="+mn-ea"/>
              </a:rPr>
              <a:t>출원의 무효</a:t>
            </a:r>
            <a:r>
              <a:rPr lang="en-US" altLang="ko-KR" sz="1400" b="0" dirty="0">
                <a:latin typeface="+mn-ea"/>
              </a:rPr>
              <a:t>, </a:t>
            </a:r>
            <a:r>
              <a:rPr lang="ko-KR" altLang="en-US" sz="1400" b="0" dirty="0">
                <a:latin typeface="+mn-ea"/>
              </a:rPr>
              <a:t>취하</a:t>
            </a:r>
            <a:r>
              <a:rPr lang="en-US" altLang="ko-KR" sz="1400" b="0" dirty="0">
                <a:latin typeface="+mn-ea"/>
              </a:rPr>
              <a:t>, </a:t>
            </a:r>
            <a:r>
              <a:rPr lang="ko-KR" altLang="en-US" sz="1400" b="0" dirty="0">
                <a:latin typeface="+mn-ea"/>
              </a:rPr>
              <a:t>포기</a:t>
            </a:r>
          </a:p>
        </p:txBody>
      </p:sp>
      <p:cxnSp>
        <p:nvCxnSpPr>
          <p:cNvPr id="59" name="직선 화살표 연결선 58"/>
          <p:cNvCxnSpPr/>
          <p:nvPr/>
        </p:nvCxnSpPr>
        <p:spPr>
          <a:xfrm>
            <a:off x="546644" y="3683794"/>
            <a:ext cx="1058986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14"/>
          <p:cNvSpPr>
            <a:spLocks noChangeArrowheads="1"/>
          </p:cNvSpPr>
          <p:nvPr/>
        </p:nvSpPr>
        <p:spPr bwMode="auto">
          <a:xfrm>
            <a:off x="1285398" y="3504291"/>
            <a:ext cx="70927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>
                <a:latin typeface="+mn-ea"/>
              </a:rPr>
              <a:t>출원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61" name="Rectangle 14"/>
          <p:cNvSpPr>
            <a:spLocks noChangeArrowheads="1"/>
          </p:cNvSpPr>
          <p:nvPr/>
        </p:nvSpPr>
        <p:spPr bwMode="auto">
          <a:xfrm>
            <a:off x="5198512" y="3504291"/>
            <a:ext cx="93980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>
                <a:latin typeface="+mn-ea"/>
              </a:rPr>
              <a:t>거절결정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6790245" y="3504291"/>
            <a:ext cx="93980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latin typeface="+mn-ea"/>
              </a:rPr>
              <a:t>등본송달</a:t>
            </a:r>
          </a:p>
        </p:txBody>
      </p:sp>
      <p:sp>
        <p:nvSpPr>
          <p:cNvPr id="63" name="Rectangle 14"/>
          <p:cNvSpPr>
            <a:spLocks noChangeArrowheads="1"/>
          </p:cNvSpPr>
          <p:nvPr/>
        </p:nvSpPr>
        <p:spPr bwMode="auto">
          <a:xfrm>
            <a:off x="9321807" y="3504291"/>
            <a:ext cx="93980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latin typeface="+mn-ea"/>
              </a:rPr>
              <a:t>확정</a:t>
            </a:r>
          </a:p>
        </p:txBody>
      </p:sp>
      <p:cxnSp>
        <p:nvCxnSpPr>
          <p:cNvPr id="64" name="직선 화살표 연결선 63"/>
          <p:cNvCxnSpPr/>
          <p:nvPr/>
        </p:nvCxnSpPr>
        <p:spPr>
          <a:xfrm>
            <a:off x="546644" y="5190865"/>
            <a:ext cx="1058986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14"/>
          <p:cNvSpPr>
            <a:spLocks noChangeArrowheads="1"/>
          </p:cNvSpPr>
          <p:nvPr/>
        </p:nvSpPr>
        <p:spPr bwMode="auto">
          <a:xfrm>
            <a:off x="1285398" y="5011362"/>
            <a:ext cx="70927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>
                <a:latin typeface="+mn-ea"/>
              </a:rPr>
              <a:t>출원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66" name="Rectangle 14"/>
          <p:cNvSpPr>
            <a:spLocks noChangeArrowheads="1"/>
          </p:cNvSpPr>
          <p:nvPr/>
        </p:nvSpPr>
        <p:spPr bwMode="auto">
          <a:xfrm>
            <a:off x="5198512" y="5011362"/>
            <a:ext cx="93980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특허결정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67" name="Rectangle 14"/>
          <p:cNvSpPr>
            <a:spLocks noChangeArrowheads="1"/>
          </p:cNvSpPr>
          <p:nvPr/>
        </p:nvSpPr>
        <p:spPr bwMode="auto">
          <a:xfrm>
            <a:off x="6790245" y="5011362"/>
            <a:ext cx="93980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latin typeface="+mn-ea"/>
              </a:rPr>
              <a:t>등본송달</a:t>
            </a:r>
          </a:p>
        </p:txBody>
      </p:sp>
      <p:sp>
        <p:nvSpPr>
          <p:cNvPr id="68" name="Rectangle 14"/>
          <p:cNvSpPr>
            <a:spLocks noChangeArrowheads="1"/>
          </p:cNvSpPr>
          <p:nvPr/>
        </p:nvSpPr>
        <p:spPr bwMode="auto">
          <a:xfrm>
            <a:off x="9321807" y="5011362"/>
            <a:ext cx="93980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latin typeface="+mn-ea"/>
              </a:rPr>
              <a:t>설정등록</a:t>
            </a:r>
          </a:p>
        </p:txBody>
      </p:sp>
      <p:sp>
        <p:nvSpPr>
          <p:cNvPr id="69" name="Rectangle 14"/>
          <p:cNvSpPr>
            <a:spLocks noChangeArrowheads="1"/>
          </p:cNvSpPr>
          <p:nvPr/>
        </p:nvSpPr>
        <p:spPr bwMode="auto">
          <a:xfrm>
            <a:off x="8077178" y="5011362"/>
            <a:ext cx="93980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latin typeface="+mn-ea"/>
              </a:rPr>
              <a:t>특허료납부</a:t>
            </a:r>
          </a:p>
        </p:txBody>
      </p:sp>
      <p:cxnSp>
        <p:nvCxnSpPr>
          <p:cNvPr id="70" name="직선 연결선 69"/>
          <p:cNvCxnSpPr>
            <a:stCxn id="58" idx="2"/>
          </p:cNvCxnSpPr>
          <p:nvPr/>
        </p:nvCxnSpPr>
        <p:spPr>
          <a:xfrm>
            <a:off x="7399873" y="2407026"/>
            <a:ext cx="0" cy="54782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>
            <a:stCxn id="63" idx="2"/>
          </p:cNvCxnSpPr>
          <p:nvPr/>
        </p:nvCxnSpPr>
        <p:spPr>
          <a:xfrm flipH="1">
            <a:off x="9791707" y="3863296"/>
            <a:ext cx="1" cy="62104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/>
          <p:cNvCxnSpPr>
            <a:stCxn id="68" idx="2"/>
          </p:cNvCxnSpPr>
          <p:nvPr/>
        </p:nvCxnSpPr>
        <p:spPr>
          <a:xfrm>
            <a:off x="9791708" y="5370367"/>
            <a:ext cx="0" cy="61555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>
            <a:off x="1640034" y="2760124"/>
            <a:ext cx="5759838" cy="0"/>
          </a:xfrm>
          <a:prstGeom prst="straightConnector1">
            <a:avLst/>
          </a:prstGeom>
          <a:ln w="57150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/>
          <p:cNvCxnSpPr/>
          <p:nvPr/>
        </p:nvCxnSpPr>
        <p:spPr>
          <a:xfrm>
            <a:off x="1640034" y="4258728"/>
            <a:ext cx="8151673" cy="0"/>
          </a:xfrm>
          <a:prstGeom prst="straightConnector1">
            <a:avLst/>
          </a:prstGeom>
          <a:ln w="57150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/>
          <p:cNvCxnSpPr/>
          <p:nvPr/>
        </p:nvCxnSpPr>
        <p:spPr>
          <a:xfrm>
            <a:off x="1640034" y="5737420"/>
            <a:ext cx="8151673" cy="0"/>
          </a:xfrm>
          <a:prstGeom prst="straightConnector1">
            <a:avLst/>
          </a:prstGeom>
          <a:ln w="57150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14"/>
          <p:cNvSpPr>
            <a:spLocks noChangeArrowheads="1"/>
          </p:cNvSpPr>
          <p:nvPr/>
        </p:nvSpPr>
        <p:spPr bwMode="auto">
          <a:xfrm>
            <a:off x="3767625" y="2580621"/>
            <a:ext cx="1058376" cy="35900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latin typeface="+mn-ea"/>
              </a:rPr>
              <a:t>출원 계속 中</a:t>
            </a:r>
          </a:p>
        </p:txBody>
      </p:sp>
      <p:sp>
        <p:nvSpPr>
          <p:cNvPr id="76" name="Rectangle 14"/>
          <p:cNvSpPr>
            <a:spLocks noChangeArrowheads="1"/>
          </p:cNvSpPr>
          <p:nvPr/>
        </p:nvSpPr>
        <p:spPr bwMode="auto">
          <a:xfrm>
            <a:off x="3767625" y="4098239"/>
            <a:ext cx="1058376" cy="35900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latin typeface="+mn-ea"/>
              </a:rPr>
              <a:t>출원 계속 中</a:t>
            </a:r>
          </a:p>
        </p:txBody>
      </p:sp>
      <p:sp>
        <p:nvSpPr>
          <p:cNvPr id="77" name="Rectangle 14"/>
          <p:cNvSpPr>
            <a:spLocks noChangeArrowheads="1"/>
          </p:cNvSpPr>
          <p:nvPr/>
        </p:nvSpPr>
        <p:spPr bwMode="auto">
          <a:xfrm>
            <a:off x="3767625" y="5557917"/>
            <a:ext cx="1058376" cy="35900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latin typeface="+mn-ea"/>
              </a:rPr>
              <a:t>출원 계속 中</a:t>
            </a:r>
          </a:p>
        </p:txBody>
      </p:sp>
      <p:sp>
        <p:nvSpPr>
          <p:cNvPr id="19" name="원호 18"/>
          <p:cNvSpPr/>
          <p:nvPr/>
        </p:nvSpPr>
        <p:spPr>
          <a:xfrm>
            <a:off x="7323667" y="3217348"/>
            <a:ext cx="1998140" cy="645948"/>
          </a:xfrm>
          <a:prstGeom prst="arc">
            <a:avLst>
              <a:gd name="adj1" fmla="val 11004324"/>
              <a:gd name="adj2" fmla="val 21516169"/>
            </a:avLst>
          </a:prstGeom>
          <a:ln w="38100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Rectangle 14"/>
          <p:cNvSpPr>
            <a:spLocks noChangeArrowheads="1"/>
          </p:cNvSpPr>
          <p:nvPr/>
        </p:nvSpPr>
        <p:spPr bwMode="auto">
          <a:xfrm>
            <a:off x="7823131" y="3029778"/>
            <a:ext cx="1058376" cy="35900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b="0" dirty="0">
                <a:solidFill>
                  <a:srgbClr val="FF0000"/>
                </a:solidFill>
                <a:latin typeface="+mn-ea"/>
              </a:rPr>
              <a:t>3</a:t>
            </a:r>
            <a:r>
              <a:rPr lang="ko-KR" altLang="en-US" sz="1400" b="0" dirty="0">
                <a:solidFill>
                  <a:srgbClr val="FF0000"/>
                </a:solidFill>
                <a:latin typeface="+mn-ea"/>
              </a:rPr>
              <a:t>개월 </a:t>
            </a:r>
            <a:r>
              <a:rPr lang="ko-KR" altLang="en-US" sz="1400" b="0" dirty="0">
                <a:latin typeface="+mn-ea"/>
              </a:rPr>
              <a:t>경과</a:t>
            </a:r>
          </a:p>
        </p:txBody>
      </p:sp>
      <p:sp>
        <p:nvSpPr>
          <p:cNvPr id="79" name="Rectangle 14"/>
          <p:cNvSpPr>
            <a:spLocks noChangeArrowheads="1"/>
          </p:cNvSpPr>
          <p:nvPr/>
        </p:nvSpPr>
        <p:spPr bwMode="auto">
          <a:xfrm>
            <a:off x="6443114" y="6052754"/>
            <a:ext cx="1634064" cy="359005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>
                <a:latin typeface="+mn-ea"/>
              </a:rPr>
              <a:t>특허결정의 확정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21" name="직선 화살표 연결선 20"/>
          <p:cNvCxnSpPr>
            <a:stCxn id="79" idx="0"/>
            <a:endCxn id="67" idx="2"/>
          </p:cNvCxnSpPr>
          <p:nvPr/>
        </p:nvCxnSpPr>
        <p:spPr>
          <a:xfrm flipV="1">
            <a:off x="7260146" y="5370367"/>
            <a:ext cx="0" cy="68238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모서리가 둥근 사각형 설명선 79"/>
          <p:cNvSpPr/>
          <p:nvPr/>
        </p:nvSpPr>
        <p:spPr>
          <a:xfrm>
            <a:off x="9685867" y="2836326"/>
            <a:ext cx="1710266" cy="457225"/>
          </a:xfrm>
          <a:prstGeom prst="wedgeRoundRectCallout">
            <a:avLst>
              <a:gd name="adj1" fmla="val -41130"/>
              <a:gd name="adj2" fmla="val 95646"/>
              <a:gd name="adj3" fmla="val 16667"/>
            </a:avLst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더 이상 불복할 수 없는 상태에 이른 것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192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4215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1266825" y="3913403"/>
            <a:ext cx="2065849" cy="27636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연결선 29"/>
          <p:cNvCxnSpPr/>
          <p:nvPr/>
        </p:nvCxnSpPr>
        <p:spPr>
          <a:xfrm>
            <a:off x="2292950" y="3100104"/>
            <a:ext cx="0" cy="357692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객체적 요건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분할출원의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명세서 또는 도면</a:t>
            </a:r>
            <a:r>
              <a:rPr lang="ko-KR" altLang="en-US" sz="1400" dirty="0">
                <a:solidFill>
                  <a:schemeClr val="tx2"/>
                </a:solidFill>
              </a:rPr>
              <a:t>에 기재된 발명은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원출원의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출원서에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최초로 첨부한 명세서 또는 도면</a:t>
            </a:r>
            <a:r>
              <a:rPr lang="ko-KR" altLang="en-US" sz="1400" dirty="0">
                <a:solidFill>
                  <a:schemeClr val="tx2"/>
                </a:solidFill>
              </a:rPr>
              <a:t>에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기재된 사항의 범위 이내</a:t>
            </a:r>
            <a:r>
              <a:rPr lang="ko-KR" altLang="en-US" sz="1400" dirty="0">
                <a:solidFill>
                  <a:schemeClr val="tx2"/>
                </a:solidFill>
              </a:rPr>
              <a:t>이어야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「최초로 첨부한 명세서 또는 도면에 기재된 </a:t>
            </a:r>
            <a:r>
              <a:rPr lang="ko-KR" altLang="en-US" sz="1400" dirty="0" err="1">
                <a:solidFill>
                  <a:schemeClr val="tx2"/>
                </a:solidFill>
              </a:rPr>
              <a:t>사항」이란</a:t>
            </a:r>
            <a:r>
              <a:rPr lang="ko-KR" altLang="en-US" sz="1400" dirty="0">
                <a:solidFill>
                  <a:schemeClr val="tx2"/>
                </a:solidFill>
              </a:rPr>
              <a:t> 최초 명세서 등에 명시적으로 기재되어 있는 사항이거나 또는 명시적인 기재가 없더라도 통상의 기술자라면 출원시의 기술상식에 비추어 보아 최초 명세서 등에 기재되어 있는 것과 마찬가지라고 이해할 수 있는 사항을 말한다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분할출원에</a:t>
            </a:r>
            <a:r>
              <a:rPr lang="ko-KR" altLang="en-US" sz="1400" dirty="0">
                <a:solidFill>
                  <a:schemeClr val="tx2"/>
                </a:solidFill>
              </a:rPr>
              <a:t> 포함된 발명 중 일부라도 </a:t>
            </a:r>
            <a:r>
              <a:rPr lang="ko-KR" altLang="en-US" sz="1400" dirty="0" err="1">
                <a:solidFill>
                  <a:schemeClr val="tx2"/>
                </a:solidFill>
              </a:rPr>
              <a:t>원출원의</a:t>
            </a:r>
            <a:r>
              <a:rPr lang="ko-KR" altLang="en-US" sz="1400" dirty="0">
                <a:solidFill>
                  <a:schemeClr val="tx2"/>
                </a:solidFill>
              </a:rPr>
              <a:t> 최초 명세서 또는 도면에 기재된 사항의 범위에 있지 아니하면 </a:t>
            </a:r>
            <a:r>
              <a:rPr lang="ko-KR" altLang="en-US" sz="1400" dirty="0" err="1">
                <a:solidFill>
                  <a:schemeClr val="tx2"/>
                </a:solidFill>
              </a:rPr>
              <a:t>거절이유에</a:t>
            </a:r>
            <a:r>
              <a:rPr lang="ko-KR" altLang="en-US" sz="1400" dirty="0">
                <a:solidFill>
                  <a:schemeClr val="tx2"/>
                </a:solidFill>
              </a:rPr>
              <a:t> 해당한다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52①, 62). </a:t>
            </a: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194015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/>
          <p:nvPr/>
        </p:nvCxnSpPr>
        <p:spPr>
          <a:xfrm>
            <a:off x="811564" y="3100104"/>
            <a:ext cx="1058986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14"/>
          <p:cNvSpPr>
            <a:spLocks noChangeArrowheads="1"/>
          </p:cNvSpPr>
          <p:nvPr/>
        </p:nvSpPr>
        <p:spPr bwMode="auto">
          <a:xfrm>
            <a:off x="1540559" y="2912588"/>
            <a:ext cx="14185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 err="1">
                <a:latin typeface="+mn-ea"/>
              </a:rPr>
              <a:t>원출원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1886402" y="2141452"/>
            <a:ext cx="932256" cy="3060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1886402" y="2447453"/>
            <a:ext cx="932256" cy="30600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3926723" y="2141452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3926723" y="2447454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9" name="Rectangle 14"/>
          <p:cNvSpPr>
            <a:spLocks noChangeArrowheads="1"/>
          </p:cNvSpPr>
          <p:nvPr/>
        </p:nvSpPr>
        <p:spPr bwMode="auto">
          <a:xfrm>
            <a:off x="3624459" y="2912588"/>
            <a:ext cx="14185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보정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6641598" y="3459109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6641598" y="3765111"/>
            <a:ext cx="932256" cy="3060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7" name="Rectangle 14"/>
          <p:cNvSpPr>
            <a:spLocks noChangeArrowheads="1"/>
          </p:cNvSpPr>
          <p:nvPr/>
        </p:nvSpPr>
        <p:spPr bwMode="auto">
          <a:xfrm>
            <a:off x="6162884" y="2912588"/>
            <a:ext cx="1771442" cy="359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 err="1">
                <a:latin typeface="+mn-ea"/>
              </a:rPr>
              <a:t>분할출원</a:t>
            </a:r>
            <a:r>
              <a:rPr lang="en-US" altLang="ko-KR" sz="1400" dirty="0">
                <a:latin typeface="+mn-ea"/>
              </a:rPr>
              <a:t>(Y)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9250817" y="3459109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9250817" y="3765111"/>
            <a:ext cx="932256" cy="306002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9" name="Rectangle 14"/>
          <p:cNvSpPr>
            <a:spLocks noChangeArrowheads="1"/>
          </p:cNvSpPr>
          <p:nvPr/>
        </p:nvSpPr>
        <p:spPr bwMode="auto">
          <a:xfrm>
            <a:off x="8948553" y="2912588"/>
            <a:ext cx="1418541" cy="359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보정</a:t>
            </a:r>
            <a:r>
              <a:rPr lang="en-US" altLang="ko-KR" sz="1400" dirty="0">
                <a:latin typeface="+mn-ea"/>
              </a:rPr>
              <a:t>(Y)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22" name="직선 화살표 연결선 21"/>
          <p:cNvCxnSpPr>
            <a:stCxn id="58" idx="3"/>
            <a:endCxn id="66" idx="1"/>
          </p:cNvCxnSpPr>
          <p:nvPr/>
        </p:nvCxnSpPr>
        <p:spPr>
          <a:xfrm>
            <a:off x="2818658" y="2600454"/>
            <a:ext cx="3822940" cy="1317658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/>
          <p:cNvCxnSpPr>
            <a:stCxn id="58" idx="3"/>
            <a:endCxn id="78" idx="1"/>
          </p:cNvCxnSpPr>
          <p:nvPr/>
        </p:nvCxnSpPr>
        <p:spPr>
          <a:xfrm>
            <a:off x="2818658" y="2600454"/>
            <a:ext cx="6432159" cy="1317658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/>
          <p:cNvSpPr/>
          <p:nvPr/>
        </p:nvSpPr>
        <p:spPr>
          <a:xfrm>
            <a:off x="5471707" y="3415089"/>
            <a:ext cx="5437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83" name="직사각형 82"/>
          <p:cNvSpPr/>
          <p:nvPr/>
        </p:nvSpPr>
        <p:spPr>
          <a:xfrm>
            <a:off x="8053991" y="3492033"/>
            <a:ext cx="5437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32" name="Rectangle 14"/>
          <p:cNvSpPr>
            <a:spLocks noChangeArrowheads="1"/>
          </p:cNvSpPr>
          <p:nvPr/>
        </p:nvSpPr>
        <p:spPr bwMode="auto">
          <a:xfrm>
            <a:off x="1583679" y="4846163"/>
            <a:ext cx="14185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출원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1826822" y="4162156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1826822" y="4468158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Rectangle 14"/>
          <p:cNvSpPr>
            <a:spLocks noChangeArrowheads="1"/>
          </p:cNvSpPr>
          <p:nvPr/>
        </p:nvSpPr>
        <p:spPr bwMode="auto">
          <a:xfrm>
            <a:off x="1583679" y="6169227"/>
            <a:ext cx="1418541" cy="359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출원</a:t>
            </a:r>
            <a:r>
              <a:rPr lang="en-US" altLang="ko-KR" sz="1400" dirty="0">
                <a:latin typeface="+mn-ea"/>
              </a:rPr>
              <a:t>(Y)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1826822" y="5485220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1826822" y="5791222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38" name="직선 화살표 연결선 37"/>
          <p:cNvCxnSpPr>
            <a:endCxn id="32" idx="3"/>
          </p:cNvCxnSpPr>
          <p:nvPr/>
        </p:nvCxnSpPr>
        <p:spPr>
          <a:xfrm flipH="1">
            <a:off x="3002220" y="3287621"/>
            <a:ext cx="1380653" cy="173804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>
            <a:off x="7046030" y="3100104"/>
            <a:ext cx="0" cy="357692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14"/>
          <p:cNvSpPr>
            <a:spLocks noChangeArrowheads="1"/>
          </p:cNvSpPr>
          <p:nvPr/>
        </p:nvSpPr>
        <p:spPr bwMode="auto">
          <a:xfrm>
            <a:off x="6336759" y="6169227"/>
            <a:ext cx="1418541" cy="359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출원</a:t>
            </a:r>
            <a:r>
              <a:rPr lang="en-US" altLang="ko-KR" sz="1400" dirty="0">
                <a:latin typeface="+mn-ea"/>
              </a:rPr>
              <a:t>(Y)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6579902" y="5485220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6579902" y="5791222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44" name="직선 화살표 연결선 43"/>
          <p:cNvCxnSpPr>
            <a:cxnSpLocks/>
          </p:cNvCxnSpPr>
          <p:nvPr/>
        </p:nvCxnSpPr>
        <p:spPr>
          <a:xfrm flipH="1">
            <a:off x="7788373" y="3278409"/>
            <a:ext cx="1201982" cy="300549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/>
          <p:cNvCxnSpPr>
            <a:stCxn id="41" idx="1"/>
            <a:endCxn id="35" idx="3"/>
          </p:cNvCxnSpPr>
          <p:nvPr/>
        </p:nvCxnSpPr>
        <p:spPr>
          <a:xfrm flipH="1">
            <a:off x="3002220" y="6348730"/>
            <a:ext cx="3334539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389824" y="4003950"/>
            <a:ext cx="1290738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보정에 의한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출원일 소급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5116" y="4594118"/>
            <a:ext cx="1290738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보정에 의한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출원일 소급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84759" y="6022868"/>
            <a:ext cx="1707519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>
                <a:solidFill>
                  <a:srgbClr val="FF0000"/>
                </a:solidFill>
              </a:rPr>
              <a:t>분할출원에</a:t>
            </a:r>
            <a:r>
              <a:rPr lang="ko-KR" altLang="en-US" dirty="0">
                <a:solidFill>
                  <a:srgbClr val="FF0000"/>
                </a:solidFill>
              </a:rPr>
              <a:t> 의한</a:t>
            </a:r>
            <a:endParaRPr lang="en-US" altLang="ko-KR" dirty="0">
              <a:solidFill>
                <a:srgbClr val="FF0000"/>
              </a:solidFill>
            </a:endParaRPr>
          </a:p>
          <a:p>
            <a:pPr algn="ctr"/>
            <a:r>
              <a:rPr lang="ko-KR" altLang="en-US" dirty="0">
                <a:solidFill>
                  <a:srgbClr val="FF0000"/>
                </a:solidFill>
              </a:rPr>
              <a:t>출원일 소급</a:t>
            </a:r>
          </a:p>
        </p:txBody>
      </p:sp>
      <p:cxnSp>
        <p:nvCxnSpPr>
          <p:cNvPr id="54" name="직선 화살표 연결선 53"/>
          <p:cNvCxnSpPr>
            <a:endCxn id="77" idx="1"/>
          </p:cNvCxnSpPr>
          <p:nvPr/>
        </p:nvCxnSpPr>
        <p:spPr>
          <a:xfrm>
            <a:off x="4837911" y="2289961"/>
            <a:ext cx="4412906" cy="1322149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491709" y="2421920"/>
            <a:ext cx="104387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400" err="1"/>
              <a:t>협의제</a:t>
            </a:r>
            <a:r>
              <a:rPr lang="ko-KR" altLang="en-US" sz="1400" dirty="0"/>
              <a:t> 회피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193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6184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양쪽 모서리가 둥근 사각형 7"/>
          <p:cNvSpPr/>
          <p:nvPr/>
        </p:nvSpPr>
        <p:spPr>
          <a:xfrm>
            <a:off x="3842173" y="1943099"/>
            <a:ext cx="4110606" cy="49977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  <a:r>
              <a:rPr lang="ko-KR" altLang="en-US" dirty="0">
                <a:solidFill>
                  <a:schemeClr val="tx1"/>
                </a:solidFill>
              </a:rPr>
              <a:t>개월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시기적 요건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특허거절결정등본을 </a:t>
            </a:r>
            <a:r>
              <a:rPr lang="ko-KR" altLang="en-US" sz="1400" dirty="0" err="1">
                <a:solidFill>
                  <a:schemeClr val="tx2"/>
                </a:solidFill>
              </a:rPr>
              <a:t>송달받은</a:t>
            </a:r>
            <a:r>
              <a:rPr lang="ko-KR" altLang="en-US" sz="1400" dirty="0">
                <a:solidFill>
                  <a:schemeClr val="tx2"/>
                </a:solidFill>
              </a:rPr>
              <a:t> 날부터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개월 이내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 err="1">
                <a:solidFill>
                  <a:schemeClr val="tx2"/>
                </a:solidFill>
              </a:rPr>
              <a:t>거절결정불복심판청구를</a:t>
            </a:r>
            <a:r>
              <a:rPr lang="ko-KR" altLang="en-US" sz="1400" dirty="0">
                <a:solidFill>
                  <a:schemeClr val="tx2"/>
                </a:solidFill>
              </a:rPr>
              <a:t> 할 수 있는 기간이 연장된 경우에는 그 기간을 말한다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에는 거절결정불복심판을 청구하였더라도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분할출원을</a:t>
            </a:r>
            <a:r>
              <a:rPr lang="ko-KR" altLang="en-US" sz="1400" dirty="0">
                <a:solidFill>
                  <a:schemeClr val="tx2"/>
                </a:solidFill>
              </a:rPr>
              <a:t> 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재심사청구가 있는 경우에는 특허거절결정은 취소된 것으로 보므로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분할출원을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할 수 없다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물론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재심사청구와 동시에 분할출원하거나 재심사 과정에서 거절이유통지에 따른 의견서 </a:t>
            </a:r>
            <a:r>
              <a:rPr lang="ko-KR" altLang="en-US" sz="1400" dirty="0" err="1">
                <a:solidFill>
                  <a:schemeClr val="tx2"/>
                </a:solidFill>
              </a:rPr>
              <a:t>제출기간에</a:t>
            </a:r>
            <a:r>
              <a:rPr lang="ko-KR" altLang="en-US" sz="1400" dirty="0">
                <a:solidFill>
                  <a:schemeClr val="tx2"/>
                </a:solidFill>
              </a:rPr>
              <a:t> 다시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분할출원을</a:t>
            </a:r>
            <a:r>
              <a:rPr lang="ko-KR" altLang="en-US" sz="1400" dirty="0">
                <a:solidFill>
                  <a:schemeClr val="tx2"/>
                </a:solidFill>
              </a:rPr>
              <a:t> 할 수는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172107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/>
          <p:nvPr/>
        </p:nvCxnSpPr>
        <p:spPr>
          <a:xfrm>
            <a:off x="811564" y="2442879"/>
            <a:ext cx="1058986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14"/>
          <p:cNvSpPr>
            <a:spLocks noChangeArrowheads="1"/>
          </p:cNvSpPr>
          <p:nvPr/>
        </p:nvSpPr>
        <p:spPr bwMode="auto">
          <a:xfrm>
            <a:off x="607469" y="2253851"/>
            <a:ext cx="853392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출원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46" name="Rectangle 14"/>
          <p:cNvSpPr>
            <a:spLocks noChangeArrowheads="1"/>
          </p:cNvSpPr>
          <p:nvPr/>
        </p:nvSpPr>
        <p:spPr bwMode="auto">
          <a:xfrm>
            <a:off x="1842193" y="2253851"/>
            <a:ext cx="1089044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 err="1">
                <a:latin typeface="+mn-ea"/>
              </a:rPr>
              <a:t>거절결정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55" name="Rectangle 14"/>
          <p:cNvSpPr>
            <a:spLocks noChangeArrowheads="1"/>
          </p:cNvSpPr>
          <p:nvPr/>
        </p:nvSpPr>
        <p:spPr bwMode="auto">
          <a:xfrm>
            <a:off x="3297651" y="2253851"/>
            <a:ext cx="1089044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 err="1">
                <a:latin typeface="+mn-ea"/>
              </a:rPr>
              <a:t>등본송달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63" name="Rectangle 14"/>
          <p:cNvSpPr>
            <a:spLocks noChangeArrowheads="1"/>
          </p:cNvSpPr>
          <p:nvPr/>
        </p:nvSpPr>
        <p:spPr bwMode="auto">
          <a:xfrm>
            <a:off x="5252143" y="3340487"/>
            <a:ext cx="1089044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심판청구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10" name="직선 연결선 9"/>
          <p:cNvCxnSpPr>
            <a:stCxn id="63" idx="0"/>
          </p:cNvCxnSpPr>
          <p:nvPr/>
        </p:nvCxnSpPr>
        <p:spPr>
          <a:xfrm flipV="1">
            <a:off x="5796665" y="2464873"/>
            <a:ext cx="0" cy="8756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>
            <a:stCxn id="55" idx="2"/>
          </p:cNvCxnSpPr>
          <p:nvPr/>
        </p:nvCxnSpPr>
        <p:spPr>
          <a:xfrm flipH="1">
            <a:off x="3842172" y="2612856"/>
            <a:ext cx="1" cy="94949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7952779" y="2439248"/>
            <a:ext cx="1" cy="112310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14"/>
          <p:cNvSpPr>
            <a:spLocks noChangeArrowheads="1"/>
          </p:cNvSpPr>
          <p:nvPr/>
        </p:nvSpPr>
        <p:spPr bwMode="auto">
          <a:xfrm>
            <a:off x="8738293" y="3340487"/>
            <a:ext cx="1089044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 err="1">
                <a:latin typeface="+mn-ea"/>
              </a:rPr>
              <a:t>인용심결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69" name="직선 연결선 68"/>
          <p:cNvCxnSpPr>
            <a:stCxn id="68" idx="0"/>
          </p:cNvCxnSpPr>
          <p:nvPr/>
        </p:nvCxnSpPr>
        <p:spPr>
          <a:xfrm flipV="1">
            <a:off x="9282815" y="2464873"/>
            <a:ext cx="0" cy="8756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모서리가 둥근 사각형 설명선 15"/>
          <p:cNvSpPr/>
          <p:nvPr/>
        </p:nvSpPr>
        <p:spPr>
          <a:xfrm>
            <a:off x="10115551" y="3067050"/>
            <a:ext cx="1898648" cy="742950"/>
          </a:xfrm>
          <a:prstGeom prst="wedgeRoundRectCallout">
            <a:avLst>
              <a:gd name="adj1" fmla="val -64845"/>
              <a:gd name="adj2" fmla="val 17628"/>
              <a:gd name="adj3" fmla="val 16667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거절결정취소</a:t>
            </a:r>
            <a:endParaRPr lang="en-US" altLang="ko-KR" sz="1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+</a:t>
            </a:r>
          </a:p>
          <a:p>
            <a:pPr algn="ctr"/>
            <a:r>
              <a:rPr lang="ko-KR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자판 또는 환송</a:t>
            </a:r>
            <a:endParaRPr lang="en-US" altLang="ko-KR" sz="1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70" name="직선 연결선 69"/>
          <p:cNvCxnSpPr/>
          <p:nvPr/>
        </p:nvCxnSpPr>
        <p:spPr>
          <a:xfrm>
            <a:off x="342900" y="4143375"/>
            <a:ext cx="11496675" cy="924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>
            <a:off x="3842172" y="3067050"/>
            <a:ext cx="4110607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14"/>
          <p:cNvSpPr>
            <a:spLocks noChangeArrowheads="1"/>
          </p:cNvSpPr>
          <p:nvPr/>
        </p:nvSpPr>
        <p:spPr bwMode="auto">
          <a:xfrm>
            <a:off x="5894513" y="2899600"/>
            <a:ext cx="1649756" cy="366818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</a:rPr>
              <a:t>분할출원가능</a:t>
            </a:r>
            <a:endParaRPr kumimoji="0" lang="ko-KR" altLang="en-US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2" name="양쪽 모서리가 둥근 사각형 71"/>
          <p:cNvSpPr/>
          <p:nvPr/>
        </p:nvSpPr>
        <p:spPr>
          <a:xfrm>
            <a:off x="3842173" y="4535281"/>
            <a:ext cx="4110606" cy="49977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  <a:r>
              <a:rPr lang="ko-KR" altLang="en-US" dirty="0">
                <a:solidFill>
                  <a:schemeClr val="tx1"/>
                </a:solidFill>
              </a:rPr>
              <a:t>개월</a:t>
            </a:r>
          </a:p>
        </p:txBody>
      </p:sp>
      <p:cxnSp>
        <p:nvCxnSpPr>
          <p:cNvPr id="73" name="직선 화살표 연결선 72"/>
          <p:cNvCxnSpPr/>
          <p:nvPr/>
        </p:nvCxnSpPr>
        <p:spPr>
          <a:xfrm>
            <a:off x="811564" y="5035061"/>
            <a:ext cx="1058986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14"/>
          <p:cNvSpPr>
            <a:spLocks noChangeArrowheads="1"/>
          </p:cNvSpPr>
          <p:nvPr/>
        </p:nvSpPr>
        <p:spPr bwMode="auto">
          <a:xfrm>
            <a:off x="607469" y="4846033"/>
            <a:ext cx="853392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출원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75" name="Rectangle 14"/>
          <p:cNvSpPr>
            <a:spLocks noChangeArrowheads="1"/>
          </p:cNvSpPr>
          <p:nvPr/>
        </p:nvSpPr>
        <p:spPr bwMode="auto">
          <a:xfrm>
            <a:off x="1842193" y="4846033"/>
            <a:ext cx="1089044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 err="1">
                <a:latin typeface="+mn-ea"/>
              </a:rPr>
              <a:t>거절결정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76" name="Rectangle 14"/>
          <p:cNvSpPr>
            <a:spLocks noChangeArrowheads="1"/>
          </p:cNvSpPr>
          <p:nvPr/>
        </p:nvSpPr>
        <p:spPr bwMode="auto">
          <a:xfrm>
            <a:off x="3297651" y="4846033"/>
            <a:ext cx="1089044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 err="1">
                <a:latin typeface="+mn-ea"/>
              </a:rPr>
              <a:t>등본송달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80" name="Rectangle 14"/>
          <p:cNvSpPr>
            <a:spLocks noChangeArrowheads="1"/>
          </p:cNvSpPr>
          <p:nvPr/>
        </p:nvSpPr>
        <p:spPr bwMode="auto">
          <a:xfrm>
            <a:off x="5097280" y="5932669"/>
            <a:ext cx="1398770" cy="5501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 err="1">
                <a:latin typeface="+mn-ea"/>
              </a:rPr>
              <a:t>재심사청구</a:t>
            </a:r>
            <a:r>
              <a:rPr lang="en-US" altLang="ko-KR" sz="1400" dirty="0">
                <a:latin typeface="+mn-ea"/>
              </a:rPr>
              <a:t>(X)</a:t>
            </a:r>
          </a:p>
          <a:p>
            <a:pPr algn="ctr"/>
            <a:r>
              <a:rPr lang="en-US" altLang="ko-KR" sz="1400" b="0" dirty="0">
                <a:latin typeface="+mn-ea"/>
              </a:rPr>
              <a:t>(</a:t>
            </a:r>
            <a:r>
              <a:rPr lang="ko-KR" altLang="en-US" sz="1400" b="0" dirty="0">
                <a:latin typeface="+mn-ea"/>
              </a:rPr>
              <a:t>보정</a:t>
            </a:r>
            <a:r>
              <a:rPr lang="en-US" altLang="ko-KR" sz="1400" b="0" dirty="0">
                <a:latin typeface="+mn-ea"/>
              </a:rPr>
              <a:t>)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84" name="직선 연결선 83"/>
          <p:cNvCxnSpPr>
            <a:stCxn id="80" idx="0"/>
          </p:cNvCxnSpPr>
          <p:nvPr/>
        </p:nvCxnSpPr>
        <p:spPr>
          <a:xfrm flipV="1">
            <a:off x="5796665" y="5057055"/>
            <a:ext cx="0" cy="8756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/>
          <p:cNvCxnSpPr>
            <a:stCxn id="76" idx="2"/>
          </p:cNvCxnSpPr>
          <p:nvPr/>
        </p:nvCxnSpPr>
        <p:spPr>
          <a:xfrm flipH="1">
            <a:off x="3842172" y="5205038"/>
            <a:ext cx="1" cy="94949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/>
          <p:cNvCxnSpPr/>
          <p:nvPr/>
        </p:nvCxnSpPr>
        <p:spPr>
          <a:xfrm>
            <a:off x="3842172" y="5659232"/>
            <a:ext cx="1954493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14"/>
          <p:cNvSpPr>
            <a:spLocks noChangeArrowheads="1"/>
          </p:cNvSpPr>
          <p:nvPr/>
        </p:nvSpPr>
        <p:spPr bwMode="auto">
          <a:xfrm>
            <a:off x="4087466" y="5475823"/>
            <a:ext cx="1479029" cy="366818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</a:rPr>
              <a:t>분할출원가능</a:t>
            </a:r>
            <a:endParaRPr kumimoji="0" lang="ko-KR" altLang="en-US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2" name="모서리가 둥근 사각형 설명선 91"/>
          <p:cNvSpPr/>
          <p:nvPr/>
        </p:nvSpPr>
        <p:spPr>
          <a:xfrm>
            <a:off x="6719391" y="6091520"/>
            <a:ext cx="1898648" cy="471522"/>
          </a:xfrm>
          <a:prstGeom prst="wedgeRoundRectCallout">
            <a:avLst>
              <a:gd name="adj1" fmla="val -60832"/>
              <a:gd name="adj2" fmla="val -36913"/>
              <a:gd name="adj3" fmla="val 16667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거절결정취소</a:t>
            </a:r>
            <a:endParaRPr lang="en-US" altLang="ko-KR" sz="1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194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0F5238-6704-4C68-9EE8-52ACDFB3930F}"/>
              </a:ext>
            </a:extLst>
          </p:cNvPr>
          <p:cNvSpPr txBox="1"/>
          <p:nvPr/>
        </p:nvSpPr>
        <p:spPr>
          <a:xfrm>
            <a:off x="7020140" y="6571282"/>
            <a:ext cx="11320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제</a:t>
            </a:r>
            <a:r>
              <a:rPr lang="en-US" altLang="ko-KR" sz="1100" dirty="0">
                <a:solidFill>
                  <a:srgbClr val="FF0000"/>
                </a:solidFill>
              </a:rPr>
              <a:t>67</a:t>
            </a:r>
            <a:r>
              <a:rPr lang="ko-KR" altLang="en-US" sz="1100" dirty="0">
                <a:solidFill>
                  <a:srgbClr val="FF0000"/>
                </a:solidFill>
              </a:rPr>
              <a:t>조의</a:t>
            </a:r>
            <a:r>
              <a:rPr lang="en-US" altLang="ko-KR" sz="1100" dirty="0">
                <a:solidFill>
                  <a:srgbClr val="FF0000"/>
                </a:solidFill>
              </a:rPr>
              <a:t>2</a:t>
            </a:r>
            <a:r>
              <a:rPr lang="ko-KR" altLang="en-US" sz="1100" dirty="0">
                <a:solidFill>
                  <a:srgbClr val="FF0000"/>
                </a:solidFill>
              </a:rPr>
              <a:t>제</a:t>
            </a:r>
            <a:r>
              <a:rPr lang="en-US" altLang="ko-KR" sz="1100" dirty="0">
                <a:solidFill>
                  <a:srgbClr val="FF0000"/>
                </a:solidFill>
              </a:rPr>
              <a:t>3</a:t>
            </a:r>
            <a:r>
              <a:rPr lang="ko-KR" altLang="en-US" sz="1100" dirty="0">
                <a:solidFill>
                  <a:srgbClr val="FF0000"/>
                </a:solidFill>
              </a:rPr>
              <a:t>항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D679FC-9D48-4702-983E-51752C8F0D73}"/>
              </a:ext>
            </a:extLst>
          </p:cNvPr>
          <p:cNvSpPr txBox="1"/>
          <p:nvPr/>
        </p:nvSpPr>
        <p:spPr>
          <a:xfrm>
            <a:off x="10631958" y="3812303"/>
            <a:ext cx="6735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제</a:t>
            </a:r>
            <a:r>
              <a:rPr lang="en-US" altLang="ko-KR" sz="1100" dirty="0">
                <a:solidFill>
                  <a:srgbClr val="FF0000"/>
                </a:solidFill>
              </a:rPr>
              <a:t>176</a:t>
            </a:r>
            <a:r>
              <a:rPr lang="ko-KR" altLang="en-US" sz="1100" dirty="0">
                <a:solidFill>
                  <a:srgbClr val="FF0000"/>
                </a:solidFill>
              </a:rPr>
              <a:t>조</a:t>
            </a:r>
          </a:p>
        </p:txBody>
      </p:sp>
    </p:spTree>
    <p:extLst>
      <p:ext uri="{BB962C8B-B14F-4D97-AF65-F5344CB8AC3E}">
        <p14:creationId xmlns:p14="http://schemas.microsoft.com/office/powerpoint/2010/main" val="13649991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타원 97"/>
          <p:cNvSpPr/>
          <p:nvPr/>
        </p:nvSpPr>
        <p:spPr>
          <a:xfrm>
            <a:off x="1147202" y="6181761"/>
            <a:ext cx="533473" cy="533473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분할출원의 확대된 </a:t>
            </a:r>
            <a:r>
              <a:rPr lang="ko-KR" altLang="en-US" dirty="0" err="1"/>
              <a:t>선출원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 err="1"/>
              <a:t>항제</a:t>
            </a:r>
            <a:r>
              <a:rPr lang="en-US" altLang="ko-KR" dirty="0"/>
              <a:t>1</a:t>
            </a:r>
            <a:r>
              <a:rPr lang="ko-KR" altLang="en-US" dirty="0"/>
              <a:t>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확대된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선출원에</a:t>
            </a:r>
            <a:r>
              <a:rPr lang="ko-KR" altLang="en-US" sz="1400" dirty="0">
                <a:solidFill>
                  <a:schemeClr val="tx2"/>
                </a:solidFill>
              </a:rPr>
              <a:t> 관한 규정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29③④)</a:t>
            </a:r>
            <a:r>
              <a:rPr lang="ko-KR" altLang="en-US" sz="1400" dirty="0">
                <a:solidFill>
                  <a:schemeClr val="tx2"/>
                </a:solidFill>
              </a:rPr>
              <a:t>에서의 다른 출원에 해당하는 경우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원출원의 최초 명세서 또는 도면에는 포함되어 있지 아니하지만 분할출원의 최초 명세서 또는 도면에 포함된 발명에 의하여 원출원과 분할출원 사이의 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자의 출원을 거절시키는 것은 먼저 출원하여 공개시킨 자에게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독점ㆍ배타적인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특허권을 부여한다는 특허법의 목적에 반하기 때문</a:t>
            </a:r>
            <a:r>
              <a:rPr lang="ko-KR" altLang="en-US" sz="1400" dirty="0">
                <a:solidFill>
                  <a:schemeClr val="tx2"/>
                </a:solidFill>
              </a:rPr>
              <a:t>에 확대된 선출원을 적용할 때 소급효가 인정되지 않고 현실의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분할출원일을</a:t>
            </a:r>
            <a:r>
              <a:rPr lang="ko-KR" altLang="en-US" sz="1400" dirty="0">
                <a:solidFill>
                  <a:schemeClr val="tx2"/>
                </a:solidFill>
              </a:rPr>
              <a:t> 기준으로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</p:txBody>
      </p:sp>
      <p:cxnSp>
        <p:nvCxnSpPr>
          <p:cNvPr id="27" name="직선 연결선 26"/>
          <p:cNvCxnSpPr>
            <a:cxnSpLocks/>
          </p:cNvCxnSpPr>
          <p:nvPr/>
        </p:nvCxnSpPr>
        <p:spPr>
          <a:xfrm>
            <a:off x="0" y="1724710"/>
            <a:ext cx="9253535" cy="17787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109535" y="3928667"/>
            <a:ext cx="567393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/>
          <p:cNvSpPr/>
          <p:nvPr/>
        </p:nvSpPr>
        <p:spPr>
          <a:xfrm>
            <a:off x="274623" y="2053476"/>
            <a:ext cx="850393" cy="2295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274623" y="2282977"/>
            <a:ext cx="850393" cy="2295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274624" y="3813917"/>
            <a:ext cx="850392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원출원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1583053" y="2053476"/>
            <a:ext cx="850393" cy="229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1583053" y="2282977"/>
            <a:ext cx="850393" cy="2295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 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1583054" y="3813917"/>
            <a:ext cx="85039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분할출원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2891562" y="2053476"/>
            <a:ext cx="850393" cy="2295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2891562" y="2282977"/>
            <a:ext cx="850393" cy="229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2891563" y="3813917"/>
            <a:ext cx="85039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보정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4093580" y="3813917"/>
            <a:ext cx="850392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공개</a:t>
            </a:r>
            <a:r>
              <a:rPr lang="en-US" altLang="ko-KR" sz="1100" dirty="0">
                <a:solidFill>
                  <a:schemeClr val="tx1"/>
                </a:solidFill>
              </a:rPr>
              <a:t>(X, 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9" name="직선 연결선 8"/>
          <p:cNvCxnSpPr>
            <a:stCxn id="34" idx="2"/>
            <a:endCxn id="37" idx="0"/>
          </p:cNvCxnSpPr>
          <p:nvPr/>
        </p:nvCxnSpPr>
        <p:spPr>
          <a:xfrm>
            <a:off x="699820" y="2512477"/>
            <a:ext cx="0" cy="130144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>
            <a:stCxn id="67" idx="2"/>
            <a:endCxn id="77" idx="0"/>
          </p:cNvCxnSpPr>
          <p:nvPr/>
        </p:nvCxnSpPr>
        <p:spPr>
          <a:xfrm>
            <a:off x="2008250" y="2512477"/>
            <a:ext cx="0" cy="130144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자유형 16"/>
          <p:cNvSpPr/>
          <p:nvPr/>
        </p:nvSpPr>
        <p:spPr>
          <a:xfrm>
            <a:off x="276225" y="4057650"/>
            <a:ext cx="5400675" cy="381000"/>
          </a:xfrm>
          <a:custGeom>
            <a:avLst/>
            <a:gdLst>
              <a:gd name="connsiteX0" fmla="*/ 0 w 5400675"/>
              <a:gd name="connsiteY0" fmla="*/ 0 h 381000"/>
              <a:gd name="connsiteX1" fmla="*/ 381000 w 5400675"/>
              <a:gd name="connsiteY1" fmla="*/ 381000 h 381000"/>
              <a:gd name="connsiteX2" fmla="*/ 5400675 w 5400675"/>
              <a:gd name="connsiteY2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00675" h="381000">
                <a:moveTo>
                  <a:pt x="0" y="0"/>
                </a:moveTo>
                <a:lnTo>
                  <a:pt x="381000" y="381000"/>
                </a:lnTo>
                <a:lnTo>
                  <a:pt x="5400675" y="381000"/>
                </a:lnTo>
              </a:path>
            </a:pathLst>
          </a:cu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자유형 17"/>
          <p:cNvSpPr/>
          <p:nvPr/>
        </p:nvSpPr>
        <p:spPr>
          <a:xfrm>
            <a:off x="1123950" y="3419475"/>
            <a:ext cx="3394826" cy="390525"/>
          </a:xfrm>
          <a:custGeom>
            <a:avLst/>
            <a:gdLst>
              <a:gd name="connsiteX0" fmla="*/ 0 w 3467100"/>
              <a:gd name="connsiteY0" fmla="*/ 381000 h 390525"/>
              <a:gd name="connsiteX1" fmla="*/ 381000 w 3467100"/>
              <a:gd name="connsiteY1" fmla="*/ 0 h 390525"/>
              <a:gd name="connsiteX2" fmla="*/ 3076575 w 3467100"/>
              <a:gd name="connsiteY2" fmla="*/ 0 h 390525"/>
              <a:gd name="connsiteX3" fmla="*/ 3467100 w 3467100"/>
              <a:gd name="connsiteY3" fmla="*/ 390525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00" h="390525">
                <a:moveTo>
                  <a:pt x="0" y="381000"/>
                </a:moveTo>
                <a:lnTo>
                  <a:pt x="381000" y="0"/>
                </a:lnTo>
                <a:lnTo>
                  <a:pt x="3076575" y="0"/>
                </a:lnTo>
                <a:lnTo>
                  <a:pt x="3467100" y="390525"/>
                </a:lnTo>
              </a:path>
            </a:pathLst>
          </a:cu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자유형 18"/>
          <p:cNvSpPr/>
          <p:nvPr/>
        </p:nvSpPr>
        <p:spPr>
          <a:xfrm>
            <a:off x="4514850" y="3390900"/>
            <a:ext cx="1228725" cy="400050"/>
          </a:xfrm>
          <a:custGeom>
            <a:avLst/>
            <a:gdLst>
              <a:gd name="connsiteX0" fmla="*/ 0 w 1228725"/>
              <a:gd name="connsiteY0" fmla="*/ 400050 h 400050"/>
              <a:gd name="connsiteX1" fmla="*/ 400050 w 1228725"/>
              <a:gd name="connsiteY1" fmla="*/ 0 h 400050"/>
              <a:gd name="connsiteX2" fmla="*/ 1228725 w 1228725"/>
              <a:gd name="connsiteY2" fmla="*/ 0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28725" h="400050">
                <a:moveTo>
                  <a:pt x="0" y="400050"/>
                </a:moveTo>
                <a:lnTo>
                  <a:pt x="400050" y="0"/>
                </a:lnTo>
                <a:lnTo>
                  <a:pt x="1228725" y="0"/>
                </a:lnTo>
              </a:path>
            </a:pathLst>
          </a:cu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자유형 20"/>
          <p:cNvSpPr/>
          <p:nvPr/>
        </p:nvSpPr>
        <p:spPr>
          <a:xfrm>
            <a:off x="2428875" y="3057525"/>
            <a:ext cx="2066925" cy="723900"/>
          </a:xfrm>
          <a:custGeom>
            <a:avLst/>
            <a:gdLst>
              <a:gd name="connsiteX0" fmla="*/ 0 w 2066925"/>
              <a:gd name="connsiteY0" fmla="*/ 723900 h 723900"/>
              <a:gd name="connsiteX1" fmla="*/ 304800 w 2066925"/>
              <a:gd name="connsiteY1" fmla="*/ 0 h 723900"/>
              <a:gd name="connsiteX2" fmla="*/ 1857375 w 2066925"/>
              <a:gd name="connsiteY2" fmla="*/ 0 h 723900"/>
              <a:gd name="connsiteX3" fmla="*/ 2066925 w 2066925"/>
              <a:gd name="connsiteY3" fmla="*/ 7239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925" h="723900">
                <a:moveTo>
                  <a:pt x="0" y="723900"/>
                </a:moveTo>
                <a:lnTo>
                  <a:pt x="304800" y="0"/>
                </a:lnTo>
                <a:lnTo>
                  <a:pt x="1857375" y="0"/>
                </a:lnTo>
                <a:lnTo>
                  <a:pt x="2066925" y="723900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자유형 21"/>
          <p:cNvSpPr/>
          <p:nvPr/>
        </p:nvSpPr>
        <p:spPr>
          <a:xfrm>
            <a:off x="4495800" y="3057525"/>
            <a:ext cx="1295400" cy="704850"/>
          </a:xfrm>
          <a:custGeom>
            <a:avLst/>
            <a:gdLst>
              <a:gd name="connsiteX0" fmla="*/ 0 w 1295400"/>
              <a:gd name="connsiteY0" fmla="*/ 742950 h 742950"/>
              <a:gd name="connsiteX1" fmla="*/ 257175 w 1295400"/>
              <a:gd name="connsiteY1" fmla="*/ 0 h 742950"/>
              <a:gd name="connsiteX2" fmla="*/ 1295400 w 1295400"/>
              <a:gd name="connsiteY2" fmla="*/ 0 h 74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5400" h="742950">
                <a:moveTo>
                  <a:pt x="0" y="742950"/>
                </a:moveTo>
                <a:lnTo>
                  <a:pt x="257175" y="0"/>
                </a:lnTo>
                <a:lnTo>
                  <a:pt x="1295400" y="0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자유형 22"/>
          <p:cNvSpPr/>
          <p:nvPr/>
        </p:nvSpPr>
        <p:spPr>
          <a:xfrm>
            <a:off x="285750" y="4067175"/>
            <a:ext cx="5429250" cy="752475"/>
          </a:xfrm>
          <a:custGeom>
            <a:avLst/>
            <a:gdLst>
              <a:gd name="connsiteX0" fmla="*/ 0 w 5429250"/>
              <a:gd name="connsiteY0" fmla="*/ 0 h 752475"/>
              <a:gd name="connsiteX1" fmla="*/ 361950 w 5429250"/>
              <a:gd name="connsiteY1" fmla="*/ 752475 h 752475"/>
              <a:gd name="connsiteX2" fmla="*/ 5429250 w 5429250"/>
              <a:gd name="connsiteY2" fmla="*/ 752475 h 75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29250" h="752475">
                <a:moveTo>
                  <a:pt x="0" y="0"/>
                </a:moveTo>
                <a:lnTo>
                  <a:pt x="361950" y="752475"/>
                </a:lnTo>
                <a:lnTo>
                  <a:pt x="5429250" y="752475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2257821" y="4827686"/>
            <a:ext cx="1406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선출원의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(Y-B)</a:t>
            </a:r>
            <a:endParaRPr lang="ko-KR" altLang="en-US" sz="1200" dirty="0"/>
          </a:p>
        </p:txBody>
      </p:sp>
      <p:sp>
        <p:nvSpPr>
          <p:cNvPr id="83" name="TextBox 82"/>
          <p:cNvSpPr txBox="1"/>
          <p:nvPr/>
        </p:nvSpPr>
        <p:spPr>
          <a:xfrm>
            <a:off x="4743846" y="2617886"/>
            <a:ext cx="1192955" cy="461665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공지기술의 지위</a:t>
            </a:r>
            <a:endParaRPr lang="en-US" altLang="ko-KR" sz="1200" dirty="0"/>
          </a:p>
          <a:p>
            <a:pPr algn="ctr"/>
            <a:r>
              <a:rPr lang="en-US" altLang="ko-KR" sz="1200" dirty="0"/>
              <a:t>(Y-B, C)</a:t>
            </a:r>
            <a:endParaRPr lang="ko-KR" altLang="en-US" sz="1200" dirty="0"/>
          </a:p>
        </p:txBody>
      </p:sp>
      <p:sp>
        <p:nvSpPr>
          <p:cNvPr id="86" name="TextBox 85"/>
          <p:cNvSpPr txBox="1"/>
          <p:nvPr/>
        </p:nvSpPr>
        <p:spPr>
          <a:xfrm>
            <a:off x="2794769" y="2798860"/>
            <a:ext cx="14494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확선의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(Y-B, C)</a:t>
            </a:r>
            <a:endParaRPr lang="ko-KR" altLang="en-US" sz="1200" dirty="0"/>
          </a:p>
        </p:txBody>
      </p:sp>
      <p:cxnSp>
        <p:nvCxnSpPr>
          <p:cNvPr id="15" name="직선 연결선 14"/>
          <p:cNvCxnSpPr>
            <a:stCxn id="79" idx="2"/>
            <a:endCxn id="81" idx="0"/>
          </p:cNvCxnSpPr>
          <p:nvPr/>
        </p:nvCxnSpPr>
        <p:spPr>
          <a:xfrm>
            <a:off x="3316759" y="2512477"/>
            <a:ext cx="0" cy="130144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1124715" y="3176200"/>
            <a:ext cx="14654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확선의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(X-A, B)</a:t>
            </a:r>
            <a:endParaRPr lang="ko-KR" altLang="en-US" sz="1200" dirty="0"/>
          </a:p>
        </p:txBody>
      </p:sp>
      <p:sp>
        <p:nvSpPr>
          <p:cNvPr id="89" name="TextBox 88"/>
          <p:cNvSpPr txBox="1"/>
          <p:nvPr/>
        </p:nvSpPr>
        <p:spPr>
          <a:xfrm>
            <a:off x="4829571" y="3360836"/>
            <a:ext cx="1192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공지기술의 지위</a:t>
            </a:r>
            <a:endParaRPr lang="en-US" altLang="ko-KR" sz="1200" dirty="0"/>
          </a:p>
          <a:p>
            <a:pPr algn="ctr"/>
            <a:r>
              <a:rPr lang="en-US" altLang="ko-KR" sz="1200" dirty="0"/>
              <a:t>(X-A, B)</a:t>
            </a:r>
            <a:endParaRPr lang="ko-KR" altLang="en-US" sz="1200" dirty="0"/>
          </a:p>
        </p:txBody>
      </p:sp>
      <p:sp>
        <p:nvSpPr>
          <p:cNvPr id="93" name="TextBox 92"/>
          <p:cNvSpPr txBox="1"/>
          <p:nvPr/>
        </p:nvSpPr>
        <p:spPr>
          <a:xfrm>
            <a:off x="2257821" y="4437935"/>
            <a:ext cx="14221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선출원의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(X-A)</a:t>
            </a:r>
            <a:endParaRPr lang="ko-KR" altLang="en-US" sz="1200" dirty="0"/>
          </a:p>
        </p:txBody>
      </p:sp>
      <p:sp>
        <p:nvSpPr>
          <p:cNvPr id="25" name="TextBox 24"/>
          <p:cNvSpPr txBox="1"/>
          <p:nvPr/>
        </p:nvSpPr>
        <p:spPr>
          <a:xfrm>
            <a:off x="1238250" y="5324475"/>
            <a:ext cx="351378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A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B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31" name="직선 연결선 30"/>
          <p:cNvCxnSpPr>
            <a:stCxn id="25" idx="0"/>
          </p:cNvCxnSpPr>
          <p:nvPr/>
        </p:nvCxnSpPr>
        <p:spPr>
          <a:xfrm flipV="1">
            <a:off x="1413939" y="3928667"/>
            <a:ext cx="0" cy="139580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3820866" y="5324475"/>
            <a:ext cx="351378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A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B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95" name="직선 연결선 94"/>
          <p:cNvCxnSpPr>
            <a:stCxn id="94" idx="0"/>
          </p:cNvCxnSpPr>
          <p:nvPr/>
        </p:nvCxnSpPr>
        <p:spPr>
          <a:xfrm flipV="1">
            <a:off x="3996555" y="3928667"/>
            <a:ext cx="0" cy="139580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5223125" y="5324475"/>
            <a:ext cx="351378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A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B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97" name="직선 연결선 96"/>
          <p:cNvCxnSpPr/>
          <p:nvPr/>
        </p:nvCxnSpPr>
        <p:spPr>
          <a:xfrm flipV="1">
            <a:off x="5408339" y="3928667"/>
            <a:ext cx="0" cy="139580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/>
          <p:cNvSpPr/>
          <p:nvPr/>
        </p:nvSpPr>
        <p:spPr>
          <a:xfrm>
            <a:off x="1594950" y="5448300"/>
            <a:ext cx="1033950" cy="3048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X-36, 29③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1594950" y="5876961"/>
            <a:ext cx="1033950" cy="3048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X- 29③/Y-36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2821363" y="5448300"/>
            <a:ext cx="1033950" cy="3048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X-36, 29③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2821363" y="5876961"/>
            <a:ext cx="1033950" cy="3048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X- 29③/</a:t>
            </a:r>
          </a:p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Y-36, 29③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2821363" y="6296097"/>
            <a:ext cx="1033950" cy="3048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Y-29③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4226871" y="5448300"/>
            <a:ext cx="1033950" cy="3048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X-36, 29①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5" name="직사각형 104"/>
          <p:cNvSpPr/>
          <p:nvPr/>
        </p:nvSpPr>
        <p:spPr>
          <a:xfrm>
            <a:off x="4226871" y="5876961"/>
            <a:ext cx="1033950" cy="3048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X- 29①/</a:t>
            </a:r>
          </a:p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Y-36, 29①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4226871" y="6296097"/>
            <a:ext cx="1033950" cy="3048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Y-29①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07" name="직선 연결선 106"/>
          <p:cNvCxnSpPr/>
          <p:nvPr/>
        </p:nvCxnSpPr>
        <p:spPr>
          <a:xfrm>
            <a:off x="6096000" y="1924050"/>
            <a:ext cx="0" cy="4791184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/>
          <p:cNvCxnSpPr/>
          <p:nvPr/>
        </p:nvCxnSpPr>
        <p:spPr>
          <a:xfrm>
            <a:off x="6141270" y="3928667"/>
            <a:ext cx="567393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직사각형 113"/>
          <p:cNvSpPr/>
          <p:nvPr/>
        </p:nvSpPr>
        <p:spPr>
          <a:xfrm>
            <a:off x="6306359" y="3813917"/>
            <a:ext cx="850392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원출원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5" name="직사각형 114"/>
          <p:cNvSpPr/>
          <p:nvPr/>
        </p:nvSpPr>
        <p:spPr>
          <a:xfrm>
            <a:off x="7614789" y="3813917"/>
            <a:ext cx="85039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분할출원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8923298" y="3813917"/>
            <a:ext cx="85039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보정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10125315" y="3813917"/>
            <a:ext cx="850392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공개</a:t>
            </a:r>
            <a:r>
              <a:rPr lang="en-US" altLang="ko-KR" sz="1100" dirty="0">
                <a:solidFill>
                  <a:schemeClr val="tx1"/>
                </a:solidFill>
              </a:rPr>
              <a:t>(X, 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8" name="자유형 117"/>
          <p:cNvSpPr/>
          <p:nvPr/>
        </p:nvSpPr>
        <p:spPr>
          <a:xfrm>
            <a:off x="6307960" y="4057650"/>
            <a:ext cx="5400675" cy="381000"/>
          </a:xfrm>
          <a:custGeom>
            <a:avLst/>
            <a:gdLst>
              <a:gd name="connsiteX0" fmla="*/ 0 w 5400675"/>
              <a:gd name="connsiteY0" fmla="*/ 0 h 381000"/>
              <a:gd name="connsiteX1" fmla="*/ 381000 w 5400675"/>
              <a:gd name="connsiteY1" fmla="*/ 381000 h 381000"/>
              <a:gd name="connsiteX2" fmla="*/ 5400675 w 5400675"/>
              <a:gd name="connsiteY2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00675" h="381000">
                <a:moveTo>
                  <a:pt x="0" y="0"/>
                </a:moveTo>
                <a:lnTo>
                  <a:pt x="381000" y="381000"/>
                </a:lnTo>
                <a:lnTo>
                  <a:pt x="5400675" y="381000"/>
                </a:lnTo>
              </a:path>
            </a:pathLst>
          </a:cu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자유형 118"/>
          <p:cNvSpPr/>
          <p:nvPr/>
        </p:nvSpPr>
        <p:spPr>
          <a:xfrm>
            <a:off x="7155685" y="3419475"/>
            <a:ext cx="3394826" cy="390525"/>
          </a:xfrm>
          <a:custGeom>
            <a:avLst/>
            <a:gdLst>
              <a:gd name="connsiteX0" fmla="*/ 0 w 3467100"/>
              <a:gd name="connsiteY0" fmla="*/ 381000 h 390525"/>
              <a:gd name="connsiteX1" fmla="*/ 381000 w 3467100"/>
              <a:gd name="connsiteY1" fmla="*/ 0 h 390525"/>
              <a:gd name="connsiteX2" fmla="*/ 3076575 w 3467100"/>
              <a:gd name="connsiteY2" fmla="*/ 0 h 390525"/>
              <a:gd name="connsiteX3" fmla="*/ 3467100 w 3467100"/>
              <a:gd name="connsiteY3" fmla="*/ 390525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00" h="390525">
                <a:moveTo>
                  <a:pt x="0" y="381000"/>
                </a:moveTo>
                <a:lnTo>
                  <a:pt x="381000" y="0"/>
                </a:lnTo>
                <a:lnTo>
                  <a:pt x="3076575" y="0"/>
                </a:lnTo>
                <a:lnTo>
                  <a:pt x="3467100" y="390525"/>
                </a:lnTo>
              </a:path>
            </a:pathLst>
          </a:cu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자유형 119"/>
          <p:cNvSpPr/>
          <p:nvPr/>
        </p:nvSpPr>
        <p:spPr>
          <a:xfrm>
            <a:off x="10546585" y="3390900"/>
            <a:ext cx="1228725" cy="400050"/>
          </a:xfrm>
          <a:custGeom>
            <a:avLst/>
            <a:gdLst>
              <a:gd name="connsiteX0" fmla="*/ 0 w 1228725"/>
              <a:gd name="connsiteY0" fmla="*/ 400050 h 400050"/>
              <a:gd name="connsiteX1" fmla="*/ 400050 w 1228725"/>
              <a:gd name="connsiteY1" fmla="*/ 0 h 400050"/>
              <a:gd name="connsiteX2" fmla="*/ 1228725 w 1228725"/>
              <a:gd name="connsiteY2" fmla="*/ 0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28725" h="400050">
                <a:moveTo>
                  <a:pt x="0" y="400050"/>
                </a:moveTo>
                <a:lnTo>
                  <a:pt x="400050" y="0"/>
                </a:lnTo>
                <a:lnTo>
                  <a:pt x="1228725" y="0"/>
                </a:lnTo>
              </a:path>
            </a:pathLst>
          </a:cu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자유형 120"/>
          <p:cNvSpPr/>
          <p:nvPr/>
        </p:nvSpPr>
        <p:spPr>
          <a:xfrm>
            <a:off x="8460610" y="3057525"/>
            <a:ext cx="2066925" cy="723900"/>
          </a:xfrm>
          <a:custGeom>
            <a:avLst/>
            <a:gdLst>
              <a:gd name="connsiteX0" fmla="*/ 0 w 2066925"/>
              <a:gd name="connsiteY0" fmla="*/ 723900 h 723900"/>
              <a:gd name="connsiteX1" fmla="*/ 304800 w 2066925"/>
              <a:gd name="connsiteY1" fmla="*/ 0 h 723900"/>
              <a:gd name="connsiteX2" fmla="*/ 1857375 w 2066925"/>
              <a:gd name="connsiteY2" fmla="*/ 0 h 723900"/>
              <a:gd name="connsiteX3" fmla="*/ 2066925 w 2066925"/>
              <a:gd name="connsiteY3" fmla="*/ 7239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925" h="723900">
                <a:moveTo>
                  <a:pt x="0" y="723900"/>
                </a:moveTo>
                <a:lnTo>
                  <a:pt x="304800" y="0"/>
                </a:lnTo>
                <a:lnTo>
                  <a:pt x="1857375" y="0"/>
                </a:lnTo>
                <a:lnTo>
                  <a:pt x="2066925" y="723900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자유형 121"/>
          <p:cNvSpPr/>
          <p:nvPr/>
        </p:nvSpPr>
        <p:spPr>
          <a:xfrm>
            <a:off x="10527535" y="3057525"/>
            <a:ext cx="1295400" cy="704850"/>
          </a:xfrm>
          <a:custGeom>
            <a:avLst/>
            <a:gdLst>
              <a:gd name="connsiteX0" fmla="*/ 0 w 1295400"/>
              <a:gd name="connsiteY0" fmla="*/ 742950 h 742950"/>
              <a:gd name="connsiteX1" fmla="*/ 257175 w 1295400"/>
              <a:gd name="connsiteY1" fmla="*/ 0 h 742950"/>
              <a:gd name="connsiteX2" fmla="*/ 1295400 w 1295400"/>
              <a:gd name="connsiteY2" fmla="*/ 0 h 74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5400" h="742950">
                <a:moveTo>
                  <a:pt x="0" y="742950"/>
                </a:moveTo>
                <a:lnTo>
                  <a:pt x="257175" y="0"/>
                </a:lnTo>
                <a:lnTo>
                  <a:pt x="1295400" y="0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자유형 122"/>
          <p:cNvSpPr/>
          <p:nvPr/>
        </p:nvSpPr>
        <p:spPr>
          <a:xfrm>
            <a:off x="6317485" y="4067175"/>
            <a:ext cx="5429250" cy="752475"/>
          </a:xfrm>
          <a:custGeom>
            <a:avLst/>
            <a:gdLst>
              <a:gd name="connsiteX0" fmla="*/ 0 w 5429250"/>
              <a:gd name="connsiteY0" fmla="*/ 0 h 752475"/>
              <a:gd name="connsiteX1" fmla="*/ 361950 w 5429250"/>
              <a:gd name="connsiteY1" fmla="*/ 752475 h 752475"/>
              <a:gd name="connsiteX2" fmla="*/ 5429250 w 5429250"/>
              <a:gd name="connsiteY2" fmla="*/ 752475 h 75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29250" h="752475">
                <a:moveTo>
                  <a:pt x="0" y="0"/>
                </a:moveTo>
                <a:lnTo>
                  <a:pt x="361950" y="752475"/>
                </a:lnTo>
                <a:lnTo>
                  <a:pt x="5429250" y="752475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TextBox 123"/>
          <p:cNvSpPr txBox="1"/>
          <p:nvPr/>
        </p:nvSpPr>
        <p:spPr>
          <a:xfrm>
            <a:off x="8289556" y="4837211"/>
            <a:ext cx="18630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선출원의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(Y-</a:t>
            </a:r>
            <a:r>
              <a:rPr lang="ko-KR" altLang="en-US" sz="1200" dirty="0"/>
              <a:t>청구범위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25" name="TextBox 124"/>
          <p:cNvSpPr txBox="1"/>
          <p:nvPr/>
        </p:nvSpPr>
        <p:spPr>
          <a:xfrm>
            <a:off x="10775581" y="2617886"/>
            <a:ext cx="1192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공지기술의 지위</a:t>
            </a:r>
            <a:endParaRPr lang="en-US" altLang="ko-KR" sz="1200" dirty="0"/>
          </a:p>
          <a:p>
            <a:pPr algn="ctr"/>
            <a:r>
              <a:rPr lang="en-US" altLang="ko-KR" sz="1200" dirty="0"/>
              <a:t>(Y-</a:t>
            </a:r>
            <a:r>
              <a:rPr lang="ko-KR" altLang="en-US" sz="1200" dirty="0" err="1"/>
              <a:t>최명도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26" name="TextBox 125"/>
          <p:cNvSpPr txBox="1"/>
          <p:nvPr/>
        </p:nvSpPr>
        <p:spPr>
          <a:xfrm>
            <a:off x="8769354" y="2770285"/>
            <a:ext cx="15872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확선의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(Y-</a:t>
            </a:r>
            <a:r>
              <a:rPr lang="ko-KR" altLang="en-US" sz="1200" dirty="0" err="1"/>
              <a:t>최명도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27" name="TextBox 126"/>
          <p:cNvSpPr txBox="1"/>
          <p:nvPr/>
        </p:nvSpPr>
        <p:spPr>
          <a:xfrm>
            <a:off x="8700425" y="3424623"/>
            <a:ext cx="15872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확선의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(X-</a:t>
            </a:r>
            <a:r>
              <a:rPr lang="ko-KR" altLang="en-US" sz="1200" dirty="0" err="1"/>
              <a:t>최명도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28" name="TextBox 127"/>
          <p:cNvSpPr txBox="1"/>
          <p:nvPr/>
        </p:nvSpPr>
        <p:spPr>
          <a:xfrm>
            <a:off x="10861306" y="3360836"/>
            <a:ext cx="1192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공지기술의 지위</a:t>
            </a:r>
            <a:endParaRPr lang="en-US" altLang="ko-KR" sz="1200" dirty="0"/>
          </a:p>
          <a:p>
            <a:pPr algn="ctr"/>
            <a:r>
              <a:rPr lang="en-US" altLang="ko-KR" sz="1200" dirty="0"/>
              <a:t>(X-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최명도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29" name="TextBox 128"/>
          <p:cNvSpPr txBox="1"/>
          <p:nvPr/>
        </p:nvSpPr>
        <p:spPr>
          <a:xfrm>
            <a:off x="8289556" y="4447460"/>
            <a:ext cx="18630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선출원의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(X-</a:t>
            </a:r>
            <a:r>
              <a:rPr lang="ko-KR" altLang="en-US" sz="1200" dirty="0"/>
              <a:t>청구범위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30" name="왼쪽 화살표 설명선 129"/>
          <p:cNvSpPr/>
          <p:nvPr/>
        </p:nvSpPr>
        <p:spPr>
          <a:xfrm>
            <a:off x="5505450" y="1924050"/>
            <a:ext cx="923925" cy="588427"/>
          </a:xfrm>
          <a:prstGeom prst="leftArrowCallout">
            <a:avLst>
              <a:gd name="adj1" fmla="val 63849"/>
              <a:gd name="adj2" fmla="val 46043"/>
              <a:gd name="adj3" fmla="val 39568"/>
              <a:gd name="adj4" fmla="val 64977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구체적</a:t>
            </a:r>
            <a:endParaRPr lang="en-US" altLang="ko-KR" sz="1200" dirty="0"/>
          </a:p>
          <a:p>
            <a:pPr algn="ctr"/>
            <a:r>
              <a:rPr lang="ko-KR" altLang="en-US" sz="1200" dirty="0"/>
              <a:t>예시</a:t>
            </a:r>
          </a:p>
        </p:txBody>
      </p:sp>
      <p:sp>
        <p:nvSpPr>
          <p:cNvPr id="131" name="오른쪽 화살표 설명선 130"/>
          <p:cNvSpPr/>
          <p:nvPr/>
        </p:nvSpPr>
        <p:spPr>
          <a:xfrm>
            <a:off x="5819775" y="5753100"/>
            <a:ext cx="923925" cy="588427"/>
          </a:xfrm>
          <a:prstGeom prst="rightArrowCallout">
            <a:avLst>
              <a:gd name="adj1" fmla="val 47662"/>
              <a:gd name="adj2" fmla="val 50000"/>
              <a:gd name="adj3" fmla="val 41187"/>
              <a:gd name="adj4" fmla="val 64977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일반화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8934450" y="6181761"/>
            <a:ext cx="514350" cy="51435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확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9561203" y="6181761"/>
            <a:ext cx="514350" cy="514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</a:t>
            </a:r>
          </a:p>
        </p:txBody>
      </p:sp>
      <p:sp>
        <p:nvSpPr>
          <p:cNvPr id="69" name="직사각형 68"/>
          <p:cNvSpPr/>
          <p:nvPr/>
        </p:nvSpPr>
        <p:spPr>
          <a:xfrm>
            <a:off x="10187956" y="6181761"/>
            <a:ext cx="514350" cy="514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조</a:t>
            </a:r>
          </a:p>
        </p:txBody>
      </p:sp>
      <p:sp>
        <p:nvSpPr>
          <p:cNvPr id="70" name="직사각형 69"/>
          <p:cNvSpPr/>
          <p:nvPr/>
        </p:nvSpPr>
        <p:spPr>
          <a:xfrm>
            <a:off x="10803760" y="6181761"/>
            <a:ext cx="514350" cy="514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국</a:t>
            </a:r>
          </a:p>
        </p:txBody>
      </p:sp>
      <p:sp>
        <p:nvSpPr>
          <p:cNvPr id="71" name="직사각형 70"/>
          <p:cNvSpPr/>
          <p:nvPr/>
        </p:nvSpPr>
        <p:spPr>
          <a:xfrm>
            <a:off x="11394310" y="6181761"/>
            <a:ext cx="514350" cy="514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등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195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7581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2856346" y="5029726"/>
            <a:ext cx="1613106" cy="1715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cxnSp>
        <p:nvCxnSpPr>
          <p:cNvPr id="7" name="직선 연결선 6"/>
          <p:cNvCxnSpPr>
            <a:stCxn id="143" idx="0"/>
          </p:cNvCxnSpPr>
          <p:nvPr/>
        </p:nvCxnSpPr>
        <p:spPr>
          <a:xfrm flipH="1">
            <a:off x="3666935" y="4167355"/>
            <a:ext cx="4" cy="269064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양쪽 모서리가 둥근 사각형 146"/>
          <p:cNvSpPr/>
          <p:nvPr/>
        </p:nvSpPr>
        <p:spPr>
          <a:xfrm rot="10800000">
            <a:off x="3666936" y="4031883"/>
            <a:ext cx="4419655" cy="762009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공지예외적용주장을 수반하는 분할출원</a:t>
            </a:r>
            <a:r>
              <a:rPr lang="en-US" altLang="ko-KR" sz="2400" dirty="0"/>
              <a:t>(</a:t>
            </a:r>
            <a:r>
              <a:rPr lang="ko-KR" altLang="en-US" sz="2400" dirty="0"/>
              <a:t>제</a:t>
            </a:r>
            <a:r>
              <a:rPr lang="en-US" altLang="ko-KR" sz="2400" dirty="0"/>
              <a:t>52</a:t>
            </a:r>
            <a:r>
              <a:rPr lang="ko-KR" altLang="en-US" sz="2400" dirty="0"/>
              <a:t>조제</a:t>
            </a:r>
            <a:r>
              <a:rPr lang="en-US" altLang="ko-KR" sz="2400" dirty="0"/>
              <a:t>2</a:t>
            </a:r>
            <a:r>
              <a:rPr lang="ko-KR" altLang="en-US" sz="2400" dirty="0" err="1"/>
              <a:t>항제</a:t>
            </a:r>
            <a:r>
              <a:rPr lang="en-US" altLang="ko-KR" sz="2400" dirty="0"/>
              <a:t>2</a:t>
            </a:r>
            <a:r>
              <a:rPr lang="ko-KR" altLang="en-US" sz="2400" dirty="0"/>
              <a:t>호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분할출원</a:t>
            </a:r>
            <a:r>
              <a:rPr lang="en-US" altLang="ko-KR" sz="1400" dirty="0">
                <a:solidFill>
                  <a:schemeClr val="tx2"/>
                </a:solidFill>
              </a:rPr>
              <a:t>(Y)</a:t>
            </a:r>
            <a:r>
              <a:rPr lang="ko-KR" altLang="en-US" sz="1400" dirty="0">
                <a:solidFill>
                  <a:schemeClr val="tx2"/>
                </a:solidFill>
              </a:rPr>
              <a:t>은 </a:t>
            </a:r>
            <a:r>
              <a:rPr lang="ko-KR" altLang="en-US" sz="1400" dirty="0" err="1">
                <a:solidFill>
                  <a:schemeClr val="tx2"/>
                </a:solidFill>
              </a:rPr>
              <a:t>원출원</a:t>
            </a:r>
            <a:r>
              <a:rPr lang="en-US" altLang="ko-KR" sz="1400" dirty="0">
                <a:solidFill>
                  <a:schemeClr val="tx2"/>
                </a:solidFill>
              </a:rPr>
              <a:t>(X)</a:t>
            </a:r>
            <a:r>
              <a:rPr lang="ko-KR" altLang="en-US" sz="1400" dirty="0">
                <a:solidFill>
                  <a:schemeClr val="tx2"/>
                </a:solidFill>
              </a:rPr>
              <a:t>의 출원일로 소급효가 인정되는 것을 제외하고는 </a:t>
            </a:r>
            <a:r>
              <a:rPr lang="ko-KR" altLang="en-US" sz="1400" dirty="0" err="1">
                <a:solidFill>
                  <a:schemeClr val="tx2"/>
                </a:solidFill>
              </a:rPr>
              <a:t>원출원</a:t>
            </a:r>
            <a:r>
              <a:rPr lang="en-US" altLang="ko-KR" sz="1400" dirty="0">
                <a:solidFill>
                  <a:schemeClr val="tx2"/>
                </a:solidFill>
              </a:rPr>
              <a:t>(X)</a:t>
            </a:r>
            <a:r>
              <a:rPr lang="ko-KR" altLang="en-US" sz="1400" dirty="0">
                <a:solidFill>
                  <a:schemeClr val="tx2"/>
                </a:solidFill>
              </a:rPr>
              <a:t>과는 별개의 특허출원이다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따라서 </a:t>
            </a:r>
            <a:r>
              <a:rPr lang="ko-KR" altLang="en-US" sz="1400" dirty="0" err="1">
                <a:solidFill>
                  <a:schemeClr val="tx2"/>
                </a:solidFill>
              </a:rPr>
              <a:t>원출원</a:t>
            </a:r>
            <a:r>
              <a:rPr lang="en-US" altLang="ko-KR" sz="1400" dirty="0">
                <a:solidFill>
                  <a:schemeClr val="tx2"/>
                </a:solidFill>
              </a:rPr>
              <a:t>(X)</a:t>
            </a:r>
            <a:r>
              <a:rPr lang="ko-KR" altLang="en-US" sz="1400" dirty="0">
                <a:solidFill>
                  <a:schemeClr val="tx2"/>
                </a:solidFill>
              </a:rPr>
              <a:t>이 공지예외적용주장을 하였다고 하여 분할출원</a:t>
            </a:r>
            <a:r>
              <a:rPr lang="en-US" altLang="ko-KR" sz="1400" dirty="0">
                <a:solidFill>
                  <a:schemeClr val="tx2"/>
                </a:solidFill>
              </a:rPr>
              <a:t>(Y)</a:t>
            </a:r>
            <a:r>
              <a:rPr lang="ko-KR" altLang="en-US" sz="1400" dirty="0">
                <a:solidFill>
                  <a:schemeClr val="tx2"/>
                </a:solidFill>
              </a:rPr>
              <a:t>이 그 효과를 누릴 수 있는 것은 아니며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분할출원</a:t>
            </a:r>
            <a:r>
              <a:rPr lang="en-US" altLang="ko-KR" sz="1400" dirty="0">
                <a:solidFill>
                  <a:schemeClr val="tx2"/>
                </a:solidFill>
              </a:rPr>
              <a:t>(Y)</a:t>
            </a:r>
            <a:r>
              <a:rPr lang="ko-KR" altLang="en-US" sz="1400" dirty="0">
                <a:solidFill>
                  <a:schemeClr val="tx2"/>
                </a:solidFill>
              </a:rPr>
              <a:t>이 그 효과를 </a:t>
            </a:r>
            <a:r>
              <a:rPr lang="ko-KR" altLang="en-US" sz="1400" dirty="0" err="1">
                <a:solidFill>
                  <a:schemeClr val="tx2"/>
                </a:solidFill>
              </a:rPr>
              <a:t>적용받기</a:t>
            </a:r>
            <a:r>
              <a:rPr lang="ko-KR" altLang="en-US" sz="1400" dirty="0">
                <a:solidFill>
                  <a:schemeClr val="tx2"/>
                </a:solidFill>
              </a:rPr>
              <a:t> 위해서는 분할출원 역시 공지예외적용주장을 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공지예외적용주장을 하기 위해서는 공지된 날로부터 </a:t>
            </a:r>
            <a:r>
              <a:rPr lang="en-US" altLang="ko-KR" sz="1400" dirty="0">
                <a:solidFill>
                  <a:schemeClr val="tx2"/>
                </a:solidFill>
              </a:rPr>
              <a:t>12</a:t>
            </a:r>
            <a:r>
              <a:rPr lang="ko-KR" altLang="en-US" sz="1400" dirty="0">
                <a:solidFill>
                  <a:schemeClr val="tx2"/>
                </a:solidFill>
              </a:rPr>
              <a:t>개월 이내에 그 취지를 적어 출원하여야 하고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그 출원일로부터 </a:t>
            </a:r>
            <a:r>
              <a:rPr lang="en-US" altLang="ko-KR" sz="1400" dirty="0">
                <a:solidFill>
                  <a:schemeClr val="tx2"/>
                </a:solidFill>
              </a:rPr>
              <a:t>30</a:t>
            </a:r>
            <a:r>
              <a:rPr lang="ko-KR" altLang="en-US" sz="1400" dirty="0">
                <a:solidFill>
                  <a:schemeClr val="tx2"/>
                </a:solidFill>
              </a:rPr>
              <a:t>일 이내 증명서류를 제출하여야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그런데</a:t>
            </a:r>
            <a:r>
              <a:rPr lang="en-US" altLang="ko-KR" sz="1400" dirty="0">
                <a:solidFill>
                  <a:schemeClr val="tx2"/>
                </a:solidFill>
              </a:rPr>
              <a:t>,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분할출원이 이와 같은 공지예외적용주장을 수반하는 경우에는 출원인의 이익을 위해서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12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개월의 판단은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X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출원일을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기준으로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취지 및 증명서류에 대한 것은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Y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출원일을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기준으로 판단</a:t>
            </a:r>
            <a:r>
              <a:rPr lang="ko-KR" altLang="en-US" sz="1400" dirty="0">
                <a:solidFill>
                  <a:schemeClr val="tx2"/>
                </a:solidFill>
              </a:rPr>
              <a:t>하게 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214970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/>
          <p:cNvCxnSpPr/>
          <p:nvPr/>
        </p:nvCxnSpPr>
        <p:spPr>
          <a:xfrm>
            <a:off x="887767" y="4020503"/>
            <a:ext cx="1058986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14"/>
          <p:cNvSpPr>
            <a:spLocks noChangeArrowheads="1"/>
          </p:cNvSpPr>
          <p:nvPr/>
        </p:nvSpPr>
        <p:spPr bwMode="auto">
          <a:xfrm>
            <a:off x="1108778" y="3076776"/>
            <a:ext cx="1228042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b="0" dirty="0">
                <a:latin typeface="+mn-ea"/>
              </a:rPr>
              <a:t>A, B </a:t>
            </a:r>
            <a:r>
              <a:rPr lang="ko-KR" altLang="en-US" sz="1400" b="0" dirty="0">
                <a:latin typeface="+mn-ea"/>
              </a:rPr>
              <a:t>논문발표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3200813" y="2253738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3200813" y="2559740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5" name="직선 연결선 4"/>
          <p:cNvCxnSpPr>
            <a:stCxn id="69" idx="2"/>
          </p:cNvCxnSpPr>
          <p:nvPr/>
        </p:nvCxnSpPr>
        <p:spPr>
          <a:xfrm>
            <a:off x="1722799" y="3435781"/>
            <a:ext cx="0" cy="4835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 14"/>
          <p:cNvSpPr>
            <a:spLocks noChangeArrowheads="1"/>
          </p:cNvSpPr>
          <p:nvPr/>
        </p:nvSpPr>
        <p:spPr bwMode="auto">
          <a:xfrm>
            <a:off x="2957671" y="2952951"/>
            <a:ext cx="1418541" cy="359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latin typeface="+mn-ea"/>
              </a:rPr>
              <a:t>출원</a:t>
            </a:r>
            <a:r>
              <a:rPr lang="en-US" altLang="ko-KR" sz="1400" b="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110" name="Rectangle 14"/>
          <p:cNvSpPr>
            <a:spLocks noChangeArrowheads="1"/>
          </p:cNvSpPr>
          <p:nvPr/>
        </p:nvSpPr>
        <p:spPr bwMode="auto">
          <a:xfrm>
            <a:off x="2957671" y="3311956"/>
            <a:ext cx="14185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공지예외적용주장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111" name="직선 연결선 110"/>
          <p:cNvCxnSpPr>
            <a:stCxn id="110" idx="2"/>
          </p:cNvCxnSpPr>
          <p:nvPr/>
        </p:nvCxnSpPr>
        <p:spPr>
          <a:xfrm>
            <a:off x="3666942" y="3670961"/>
            <a:ext cx="0" cy="2483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ectangle 14"/>
          <p:cNvSpPr>
            <a:spLocks noChangeArrowheads="1"/>
          </p:cNvSpPr>
          <p:nvPr/>
        </p:nvSpPr>
        <p:spPr bwMode="auto">
          <a:xfrm>
            <a:off x="4757911" y="3076776"/>
            <a:ext cx="1228042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증명서류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132" name="직선 연결선 131"/>
          <p:cNvCxnSpPr>
            <a:stCxn id="112" idx="2"/>
          </p:cNvCxnSpPr>
          <p:nvPr/>
        </p:nvCxnSpPr>
        <p:spPr>
          <a:xfrm>
            <a:off x="5371932" y="3435781"/>
            <a:ext cx="0" cy="4835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직사각형 132"/>
          <p:cNvSpPr/>
          <p:nvPr/>
        </p:nvSpPr>
        <p:spPr>
          <a:xfrm>
            <a:off x="7679703" y="2253738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7679703" y="2559740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35" name="Rectangle 14"/>
          <p:cNvSpPr>
            <a:spLocks noChangeArrowheads="1"/>
          </p:cNvSpPr>
          <p:nvPr/>
        </p:nvSpPr>
        <p:spPr bwMode="auto">
          <a:xfrm>
            <a:off x="7436561" y="2952951"/>
            <a:ext cx="1418541" cy="3590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latin typeface="+mn-ea"/>
              </a:rPr>
              <a:t>분할출원</a:t>
            </a:r>
            <a:r>
              <a:rPr lang="en-US" altLang="ko-KR" sz="1400" b="0" dirty="0">
                <a:latin typeface="+mn-ea"/>
              </a:rPr>
              <a:t>(Y)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136" name="Rectangle 14"/>
          <p:cNvSpPr>
            <a:spLocks noChangeArrowheads="1"/>
          </p:cNvSpPr>
          <p:nvPr/>
        </p:nvSpPr>
        <p:spPr bwMode="auto">
          <a:xfrm>
            <a:off x="7436561" y="3311956"/>
            <a:ext cx="14185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공지예외적용주장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137" name="직선 연결선 136"/>
          <p:cNvCxnSpPr>
            <a:stCxn id="136" idx="2"/>
          </p:cNvCxnSpPr>
          <p:nvPr/>
        </p:nvCxnSpPr>
        <p:spPr>
          <a:xfrm>
            <a:off x="8145832" y="3670961"/>
            <a:ext cx="0" cy="2483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Rectangle 14"/>
          <p:cNvSpPr>
            <a:spLocks noChangeArrowheads="1"/>
          </p:cNvSpPr>
          <p:nvPr/>
        </p:nvSpPr>
        <p:spPr bwMode="auto">
          <a:xfrm>
            <a:off x="9236801" y="3076776"/>
            <a:ext cx="1228042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증명서류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139" name="직선 연결선 138"/>
          <p:cNvCxnSpPr>
            <a:stCxn id="138" idx="2"/>
          </p:cNvCxnSpPr>
          <p:nvPr/>
        </p:nvCxnSpPr>
        <p:spPr>
          <a:xfrm>
            <a:off x="9850822" y="3435781"/>
            <a:ext cx="0" cy="4835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양쪽 모서리가 둥근 사각형 11"/>
          <p:cNvSpPr/>
          <p:nvPr/>
        </p:nvSpPr>
        <p:spPr>
          <a:xfrm rot="10800000">
            <a:off x="3698298" y="4031885"/>
            <a:ext cx="1673631" cy="406414"/>
          </a:xfrm>
          <a:prstGeom prst="round2SameRect">
            <a:avLst>
              <a:gd name="adj1" fmla="val 50000"/>
              <a:gd name="adj2" fmla="val 0"/>
            </a:avLst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양쪽 모서리가 둥근 사각형 139"/>
          <p:cNvSpPr/>
          <p:nvPr/>
        </p:nvSpPr>
        <p:spPr>
          <a:xfrm rot="10800000">
            <a:off x="1722797" y="4031885"/>
            <a:ext cx="1903494" cy="406414"/>
          </a:xfrm>
          <a:prstGeom prst="round2SameRect">
            <a:avLst>
              <a:gd name="adj1" fmla="val 50000"/>
              <a:gd name="adj2" fmla="val 0"/>
            </a:avLst>
          </a:prstGeom>
          <a:pattFill prst="dotGrid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1" name="양쪽 모서리가 둥근 사각형 140"/>
          <p:cNvSpPr/>
          <p:nvPr/>
        </p:nvSpPr>
        <p:spPr>
          <a:xfrm rot="10800000">
            <a:off x="8162794" y="4031885"/>
            <a:ext cx="1688025" cy="406414"/>
          </a:xfrm>
          <a:prstGeom prst="round2SameRect">
            <a:avLst>
              <a:gd name="adj1" fmla="val 50000"/>
              <a:gd name="adj2" fmla="val 0"/>
            </a:avLst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Rectangle 14"/>
          <p:cNvSpPr>
            <a:spLocks noChangeArrowheads="1"/>
          </p:cNvSpPr>
          <p:nvPr/>
        </p:nvSpPr>
        <p:spPr bwMode="auto">
          <a:xfrm flipV="1">
            <a:off x="1600470" y="3912388"/>
            <a:ext cx="238000" cy="254967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3" name="Rectangle 14"/>
          <p:cNvSpPr>
            <a:spLocks noChangeArrowheads="1"/>
          </p:cNvSpPr>
          <p:nvPr/>
        </p:nvSpPr>
        <p:spPr bwMode="auto">
          <a:xfrm flipV="1">
            <a:off x="3547939" y="3912388"/>
            <a:ext cx="238000" cy="254967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4" name="Rectangle 14"/>
          <p:cNvSpPr>
            <a:spLocks noChangeArrowheads="1"/>
          </p:cNvSpPr>
          <p:nvPr/>
        </p:nvSpPr>
        <p:spPr bwMode="auto">
          <a:xfrm flipV="1">
            <a:off x="5252930" y="3912388"/>
            <a:ext cx="238000" cy="254967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5" name="Rectangle 14"/>
          <p:cNvSpPr>
            <a:spLocks noChangeArrowheads="1"/>
          </p:cNvSpPr>
          <p:nvPr/>
        </p:nvSpPr>
        <p:spPr bwMode="auto">
          <a:xfrm flipV="1">
            <a:off x="8026832" y="3912388"/>
            <a:ext cx="238000" cy="254967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6" name="Rectangle 14"/>
          <p:cNvSpPr>
            <a:spLocks noChangeArrowheads="1"/>
          </p:cNvSpPr>
          <p:nvPr/>
        </p:nvSpPr>
        <p:spPr bwMode="auto">
          <a:xfrm flipV="1">
            <a:off x="9731822" y="3912388"/>
            <a:ext cx="238000" cy="254967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51514" y="4438299"/>
            <a:ext cx="9492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12</a:t>
            </a:r>
            <a:r>
              <a:rPr lang="ko-KR" altLang="en-US" sz="1200" dirty="0"/>
              <a:t>개월 이내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133069" y="4438299"/>
            <a:ext cx="8114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30</a:t>
            </a:r>
            <a:r>
              <a:rPr lang="ko-KR" altLang="en-US" sz="1200" dirty="0"/>
              <a:t>일 이내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611959" y="4438299"/>
            <a:ext cx="8114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30</a:t>
            </a:r>
            <a:r>
              <a:rPr lang="ko-KR" altLang="en-US" sz="1200" dirty="0"/>
              <a:t>일 이내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490930" y="4793893"/>
            <a:ext cx="12875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분할출원가능기간</a:t>
            </a:r>
          </a:p>
        </p:txBody>
      </p:sp>
      <p:sp>
        <p:nvSpPr>
          <p:cNvPr id="37" name="Rectangle 14"/>
          <p:cNvSpPr>
            <a:spLocks noChangeArrowheads="1"/>
          </p:cNvSpPr>
          <p:nvPr/>
        </p:nvSpPr>
        <p:spPr bwMode="auto">
          <a:xfrm>
            <a:off x="3190291" y="5608786"/>
            <a:ext cx="978938" cy="222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n-ea"/>
              </a:rPr>
              <a:t>출원</a:t>
            </a:r>
            <a:r>
              <a:rPr lang="en-US" altLang="ko-KR" sz="1100" dirty="0">
                <a:latin typeface="+mn-ea"/>
              </a:rPr>
              <a:t>(X)</a:t>
            </a:r>
            <a:endParaRPr lang="ko-KR" altLang="en-US" sz="1100" b="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365067" y="5184152"/>
            <a:ext cx="643352" cy="1899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A, C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3365067" y="5374119"/>
            <a:ext cx="643352" cy="1899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A, B, C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40" name="Rectangle 14"/>
          <p:cNvSpPr>
            <a:spLocks noChangeArrowheads="1"/>
          </p:cNvSpPr>
          <p:nvPr/>
        </p:nvSpPr>
        <p:spPr bwMode="auto">
          <a:xfrm>
            <a:off x="3181747" y="6430147"/>
            <a:ext cx="978938" cy="2228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n-ea"/>
              </a:rPr>
              <a:t>출원</a:t>
            </a:r>
            <a:r>
              <a:rPr lang="en-US" altLang="ko-KR" sz="1100" dirty="0">
                <a:latin typeface="+mn-ea"/>
              </a:rPr>
              <a:t>(Y)</a:t>
            </a:r>
            <a:endParaRPr lang="ko-KR" altLang="en-US" sz="1100" b="0" dirty="0">
              <a:latin typeface="+mn-ea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3365067" y="6005514"/>
            <a:ext cx="643352" cy="1899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B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3365067" y="6195481"/>
            <a:ext cx="643352" cy="1899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B, C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46" name="곱셈 기호 45"/>
          <p:cNvSpPr/>
          <p:nvPr/>
        </p:nvSpPr>
        <p:spPr>
          <a:xfrm>
            <a:off x="1253524" y="4925082"/>
            <a:ext cx="931892" cy="1074638"/>
          </a:xfrm>
          <a:prstGeom prst="mathMultiply">
            <a:avLst>
              <a:gd name="adj1" fmla="val 849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곱셈 기호 46"/>
          <p:cNvSpPr/>
          <p:nvPr/>
        </p:nvSpPr>
        <p:spPr>
          <a:xfrm>
            <a:off x="1253524" y="5753145"/>
            <a:ext cx="931892" cy="1074638"/>
          </a:xfrm>
          <a:prstGeom prst="mathMultiply">
            <a:avLst>
              <a:gd name="adj1" fmla="val 849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/>
          <p:cNvSpPr/>
          <p:nvPr/>
        </p:nvSpPr>
        <p:spPr>
          <a:xfrm>
            <a:off x="8934450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확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9561203" y="6181761"/>
            <a:ext cx="514350" cy="51435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10187956" y="6181761"/>
            <a:ext cx="514350" cy="514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조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10803760" y="6181761"/>
            <a:ext cx="514350" cy="514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국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11394310" y="6181761"/>
            <a:ext cx="514350" cy="514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등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196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0927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곱셈 기호 155"/>
          <p:cNvSpPr/>
          <p:nvPr/>
        </p:nvSpPr>
        <p:spPr>
          <a:xfrm>
            <a:off x="6524037" y="5125704"/>
            <a:ext cx="931892" cy="1074638"/>
          </a:xfrm>
          <a:prstGeom prst="mathMultiply">
            <a:avLst>
              <a:gd name="adj1" fmla="val 849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5" name="곱셈 기호 154"/>
          <p:cNvSpPr/>
          <p:nvPr/>
        </p:nvSpPr>
        <p:spPr>
          <a:xfrm>
            <a:off x="5493693" y="5665884"/>
            <a:ext cx="931892" cy="1074638"/>
          </a:xfrm>
          <a:prstGeom prst="mathMultiply">
            <a:avLst>
              <a:gd name="adj1" fmla="val 849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3" name="양쪽 모서리가 둥근 사각형 152"/>
          <p:cNvSpPr/>
          <p:nvPr/>
        </p:nvSpPr>
        <p:spPr>
          <a:xfrm>
            <a:off x="5959639" y="4132314"/>
            <a:ext cx="1548161" cy="363303"/>
          </a:xfrm>
          <a:prstGeom prst="round2SameRect">
            <a:avLst>
              <a:gd name="adj1" fmla="val 50000"/>
              <a:gd name="adj2" fmla="val 0"/>
            </a:avLst>
          </a:prstGeom>
          <a:pattFill prst="dkHorz">
            <a:fgClr>
              <a:schemeClr val="accent4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원출원과의</a:t>
            </a:r>
            <a:r>
              <a:rPr lang="ko-KR" altLang="en-US" dirty="0"/>
              <a:t> 관계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분할출원은 원출원과는 전혀 별개의 새로운 출원이다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따라서 분할출원은 원출원에 대하여 생긴 절차상의 효력을 그대로 승계할 수 없다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즉 분할출원에 대한 심사청구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출원공개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특허여부결정도 </a:t>
            </a:r>
            <a:r>
              <a:rPr lang="ko-KR" altLang="en-US" sz="1400" dirty="0" err="1">
                <a:solidFill>
                  <a:schemeClr val="tx2"/>
                </a:solidFill>
              </a:rPr>
              <a:t>원특허출원과</a:t>
            </a:r>
            <a:r>
              <a:rPr lang="ko-KR" altLang="en-US" sz="1400" dirty="0">
                <a:solidFill>
                  <a:schemeClr val="tx2"/>
                </a:solidFill>
              </a:rPr>
              <a:t> 독립하여 </a:t>
            </a:r>
            <a:r>
              <a:rPr lang="ko-KR" altLang="en-US" sz="1400" dirty="0" err="1">
                <a:solidFill>
                  <a:schemeClr val="tx2"/>
                </a:solidFill>
              </a:rPr>
              <a:t>행하여진다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예를 들어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분할출원은 </a:t>
            </a:r>
            <a:r>
              <a:rPr lang="ko-KR" altLang="en-US" sz="1400" dirty="0" err="1">
                <a:solidFill>
                  <a:schemeClr val="tx2"/>
                </a:solidFill>
              </a:rPr>
              <a:t>원출원일부터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6</a:t>
            </a:r>
            <a:r>
              <a:rPr lang="ko-KR" altLang="en-US" sz="1400" dirty="0">
                <a:solidFill>
                  <a:schemeClr val="tx2"/>
                </a:solidFill>
              </a:rPr>
              <a:t>개월이 지나기 전에 분할된 경우에는 </a:t>
            </a:r>
            <a:r>
              <a:rPr lang="ko-KR" altLang="en-US" sz="1400" dirty="0" err="1">
                <a:solidFill>
                  <a:schemeClr val="tx2"/>
                </a:solidFill>
              </a:rPr>
              <a:t>원출원일부터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6</a:t>
            </a:r>
            <a:r>
              <a:rPr lang="ko-KR" altLang="en-US" sz="1400" dirty="0">
                <a:solidFill>
                  <a:schemeClr val="tx2"/>
                </a:solidFill>
              </a:rPr>
              <a:t>개월이 지난 후에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원출원일부터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6</a:t>
            </a:r>
            <a:r>
              <a:rPr lang="ko-KR" altLang="en-US" sz="1400" dirty="0">
                <a:solidFill>
                  <a:schemeClr val="tx2"/>
                </a:solidFill>
              </a:rPr>
              <a:t>개월이 지난 후에 분할된 경우에는 즉시 </a:t>
            </a:r>
            <a:r>
              <a:rPr lang="ko-KR" altLang="en-US" sz="1400" dirty="0" err="1">
                <a:solidFill>
                  <a:schemeClr val="tx2"/>
                </a:solidFill>
              </a:rPr>
              <a:t>출원공개된다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분할출원의 심사는 지식재산처장이 정하는 바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*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에 따른다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施規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38②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).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이는 심사순서를 탄력적으로 운영하여 변동하는 심사환경에 대응하기 위함이다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.</a:t>
            </a:r>
            <a:r>
              <a:rPr lang="en-US" altLang="ko-KR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이는 원출원과 분할출원에 기재된 발명이 관련기술인 경우가 많이 있기 때문에 원출원과 분할출원을 같이 심사하여 심사의 효율성을 높이기 위함이다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상술한 바와 같이 원출원이 우선권주장절차를 밟았다고 하더라도 분할출원이 이들 절차의 효력을 누리기 위해서는 다시 절차를 밟아야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rgbClr val="FF0000"/>
                </a:solidFill>
              </a:rPr>
              <a:t>,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원출원이 우선권주장을 하지 아니한 경우 실무상 분할출원 역시 상기 주장을 할 수 없다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  <a:r>
              <a:rPr lang="en-US" altLang="ko-KR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이는 원출원과 동시에 우선권주장을 하지 아니하여 그 효과가 발생하지 아니한 경우 이를 회피하기 위한 수단으로서 분할출원을 이용하는 것을 방지하기 위해서이다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259408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양쪽 모서리가 둥근 사각형 99"/>
          <p:cNvSpPr/>
          <p:nvPr/>
        </p:nvSpPr>
        <p:spPr>
          <a:xfrm rot="10800000">
            <a:off x="2999649" y="4513346"/>
            <a:ext cx="1191101" cy="363303"/>
          </a:xfrm>
          <a:prstGeom prst="round2SameRect">
            <a:avLst>
              <a:gd name="adj1" fmla="val 50000"/>
              <a:gd name="adj2" fmla="val 0"/>
            </a:avLst>
          </a:prstGeom>
          <a:pattFill prst="pct25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양쪽 모서리가 둥근 사각형 100"/>
          <p:cNvSpPr/>
          <p:nvPr/>
        </p:nvSpPr>
        <p:spPr>
          <a:xfrm>
            <a:off x="3038810" y="4132314"/>
            <a:ext cx="2530247" cy="363303"/>
          </a:xfrm>
          <a:prstGeom prst="round2SameRect">
            <a:avLst>
              <a:gd name="adj1" fmla="val 50000"/>
              <a:gd name="adj2" fmla="val 0"/>
            </a:avLst>
          </a:prstGeom>
          <a:pattFill prst="dotGrid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2" name="직선 화살표 연결선 101"/>
          <p:cNvCxnSpPr/>
          <p:nvPr/>
        </p:nvCxnSpPr>
        <p:spPr>
          <a:xfrm>
            <a:off x="2637417" y="4503217"/>
            <a:ext cx="5451349" cy="0"/>
          </a:xfrm>
          <a:prstGeom prst="straightConnector1">
            <a:avLst/>
          </a:prstGeom>
          <a:noFill/>
          <a:ln w="28575" cap="flat" cmpd="sng" algn="ctr">
            <a:solidFill>
              <a:sysClr val="window" lastClr="FFFFFF">
                <a:lumMod val="50000"/>
              </a:sysClr>
            </a:solidFill>
            <a:prstDash val="solid"/>
            <a:headEnd type="none" w="med" len="med"/>
            <a:tailEnd type="triangle"/>
          </a:ln>
          <a:effectLst/>
        </p:spPr>
      </p:cxnSp>
      <p:sp>
        <p:nvSpPr>
          <p:cNvPr id="103" name="Rectangle 14"/>
          <p:cNvSpPr>
            <a:spLocks noChangeArrowheads="1"/>
          </p:cNvSpPr>
          <p:nvPr/>
        </p:nvSpPr>
        <p:spPr bwMode="auto">
          <a:xfrm flipV="1">
            <a:off x="4139434" y="4440763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4" name="Rectangle 14"/>
          <p:cNvSpPr>
            <a:spLocks noChangeArrowheads="1"/>
          </p:cNvSpPr>
          <p:nvPr/>
        </p:nvSpPr>
        <p:spPr bwMode="auto">
          <a:xfrm>
            <a:off x="3713439" y="3496302"/>
            <a:ext cx="982630" cy="275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+mn-ea"/>
              </a:rPr>
              <a:t>원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출원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(X)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05" name="직선 연결선 104"/>
          <p:cNvCxnSpPr>
            <a:cxnSpLocks/>
            <a:stCxn id="104" idx="2"/>
          </p:cNvCxnSpPr>
          <p:nvPr/>
        </p:nvCxnSpPr>
        <p:spPr>
          <a:xfrm>
            <a:off x="4204754" y="3771734"/>
            <a:ext cx="0" cy="62723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 14"/>
          <p:cNvSpPr>
            <a:spLocks noChangeArrowheads="1"/>
          </p:cNvSpPr>
          <p:nvPr/>
        </p:nvSpPr>
        <p:spPr bwMode="auto">
          <a:xfrm>
            <a:off x="5441710" y="5510133"/>
            <a:ext cx="982630" cy="2754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 err="1">
                <a:solidFill>
                  <a:prstClr val="black"/>
                </a:solidFill>
                <a:latin typeface="+mn-ea"/>
              </a:rPr>
              <a:t>분할출원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(Y)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15" name="직선 연결선 114"/>
          <p:cNvCxnSpPr>
            <a:cxnSpLocks/>
            <a:stCxn id="114" idx="0"/>
          </p:cNvCxnSpPr>
          <p:nvPr/>
        </p:nvCxnSpPr>
        <p:spPr>
          <a:xfrm flipV="1">
            <a:off x="5933025" y="4646793"/>
            <a:ext cx="0" cy="86334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 14"/>
          <p:cNvSpPr>
            <a:spLocks noChangeArrowheads="1"/>
          </p:cNvSpPr>
          <p:nvPr/>
        </p:nvSpPr>
        <p:spPr bwMode="auto">
          <a:xfrm>
            <a:off x="6492152" y="5510133"/>
            <a:ext cx="982630" cy="27543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+mn-ea"/>
              </a:rPr>
              <a:t>증명서류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17" name="직선 연결선 116"/>
          <p:cNvCxnSpPr>
            <a:cxnSpLocks/>
            <a:stCxn id="116" idx="0"/>
          </p:cNvCxnSpPr>
          <p:nvPr/>
        </p:nvCxnSpPr>
        <p:spPr>
          <a:xfrm flipV="1">
            <a:off x="6983467" y="4646793"/>
            <a:ext cx="0" cy="86334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14"/>
          <p:cNvSpPr>
            <a:spLocks noChangeArrowheads="1"/>
          </p:cNvSpPr>
          <p:nvPr/>
        </p:nvSpPr>
        <p:spPr bwMode="auto">
          <a:xfrm flipV="1">
            <a:off x="5874727" y="4440763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24" name="Rectangle 14"/>
          <p:cNvSpPr>
            <a:spLocks noChangeArrowheads="1"/>
          </p:cNvSpPr>
          <p:nvPr/>
        </p:nvSpPr>
        <p:spPr bwMode="auto">
          <a:xfrm flipV="1">
            <a:off x="6925169" y="4440763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4404384" y="3845119"/>
            <a:ext cx="9188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1</a:t>
            </a:r>
            <a:r>
              <a:rPr lang="ko-KR" altLang="en-US" sz="1400" dirty="0"/>
              <a:t>년 </a:t>
            </a:r>
            <a:r>
              <a:rPr lang="en-US" altLang="ko-KR" sz="1400" dirty="0"/>
              <a:t>4</a:t>
            </a:r>
            <a:r>
              <a:rPr lang="ko-KR" altLang="en-US" sz="1400" dirty="0"/>
              <a:t>개월</a:t>
            </a:r>
          </a:p>
        </p:txBody>
      </p:sp>
      <p:sp>
        <p:nvSpPr>
          <p:cNvPr id="128" name="Rectangle 14"/>
          <p:cNvSpPr>
            <a:spLocks noChangeArrowheads="1"/>
          </p:cNvSpPr>
          <p:nvPr/>
        </p:nvSpPr>
        <p:spPr bwMode="auto">
          <a:xfrm>
            <a:off x="2520229" y="3496302"/>
            <a:ext cx="982630" cy="2754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 err="1">
                <a:solidFill>
                  <a:prstClr val="black"/>
                </a:solidFill>
                <a:latin typeface="+mn-ea"/>
              </a:rPr>
              <a:t>일본출원</a:t>
            </a:r>
            <a:r>
              <a:rPr lang="en-US" altLang="ko-KR" sz="1200" kern="0" dirty="0">
                <a:solidFill>
                  <a:prstClr val="black"/>
                </a:solidFill>
                <a:latin typeface="+mn-ea"/>
              </a:rPr>
              <a:t>(Z)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29" name="Rectangle 14"/>
          <p:cNvSpPr>
            <a:spLocks noChangeArrowheads="1"/>
          </p:cNvSpPr>
          <p:nvPr/>
        </p:nvSpPr>
        <p:spPr bwMode="auto">
          <a:xfrm flipV="1">
            <a:off x="2944304" y="4440763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30" name="직선 연결선 129"/>
          <p:cNvCxnSpPr/>
          <p:nvPr/>
        </p:nvCxnSpPr>
        <p:spPr>
          <a:xfrm>
            <a:off x="3009624" y="3771734"/>
            <a:ext cx="0" cy="62723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3395122" y="4885614"/>
            <a:ext cx="4459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1</a:t>
            </a:r>
            <a:r>
              <a:rPr lang="ko-KR" altLang="en-US" sz="1400" dirty="0"/>
              <a:t>년</a:t>
            </a:r>
          </a:p>
        </p:txBody>
      </p:sp>
      <p:sp>
        <p:nvSpPr>
          <p:cNvPr id="151" name="Rectangle 14"/>
          <p:cNvSpPr>
            <a:spLocks noChangeArrowheads="1"/>
          </p:cNvSpPr>
          <p:nvPr/>
        </p:nvSpPr>
        <p:spPr bwMode="auto">
          <a:xfrm>
            <a:off x="4897563" y="6021486"/>
            <a:ext cx="2070924" cy="27543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+mn-ea"/>
              </a:rPr>
              <a:t>조약우선권주장 수반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52" name="직선 연결선 151"/>
          <p:cNvCxnSpPr>
            <a:cxnSpLocks/>
            <a:endCxn id="114" idx="2"/>
          </p:cNvCxnSpPr>
          <p:nvPr/>
        </p:nvCxnSpPr>
        <p:spPr>
          <a:xfrm flipV="1">
            <a:off x="5933025" y="5785565"/>
            <a:ext cx="0" cy="23592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6512807" y="3829698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3</a:t>
            </a:r>
            <a:r>
              <a:rPr lang="ko-KR" altLang="en-US" sz="1400" dirty="0"/>
              <a:t>개월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197</a:t>
            </a:fld>
            <a:endParaRPr lang="ko-KR" altLang="en-US"/>
          </a:p>
        </p:txBody>
      </p:sp>
      <p:sp>
        <p:nvSpPr>
          <p:cNvPr id="59" name="Rectangle 14">
            <a:extLst>
              <a:ext uri="{FF2B5EF4-FFF2-40B4-BE49-F238E27FC236}">
                <a16:creationId xmlns:a16="http://schemas.microsoft.com/office/drawing/2014/main" id="{3F3C0EA4-3A89-432C-924E-3661CE5EFED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753613" y="4440763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0" name="Rectangle 14">
            <a:extLst>
              <a:ext uri="{FF2B5EF4-FFF2-40B4-BE49-F238E27FC236}">
                <a16:creationId xmlns:a16="http://schemas.microsoft.com/office/drawing/2014/main" id="{0561C03F-C33C-4429-BC61-B275D215F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7618" y="3496302"/>
            <a:ext cx="982630" cy="275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+mn-ea"/>
              </a:rPr>
              <a:t>취하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(X)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E2A806AE-8705-4D81-9AB5-651BFC5A7598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7818933" y="3771734"/>
            <a:ext cx="0" cy="62723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3D4448B-1574-1879-B468-6BA2FA9D17D0}"/>
              </a:ext>
            </a:extLst>
          </p:cNvPr>
          <p:cNvSpPr txBox="1"/>
          <p:nvPr/>
        </p:nvSpPr>
        <p:spPr>
          <a:xfrm>
            <a:off x="77875" y="2621271"/>
            <a:ext cx="18726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* </a:t>
            </a:r>
            <a:r>
              <a:rPr lang="ko-KR" altLang="en-US" sz="1200" dirty="0"/>
              <a:t>분할출원의 심사청구순서</a:t>
            </a:r>
          </a:p>
        </p:txBody>
      </p:sp>
    </p:spTree>
    <p:extLst>
      <p:ext uri="{BB962C8B-B14F-4D97-AF65-F5344CB8AC3E}">
        <p14:creationId xmlns:p14="http://schemas.microsoft.com/office/powerpoint/2010/main" val="29072619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시퀀스 제어회로의 배선 방법 </a:t>
            </a:r>
            <a:r>
              <a:rPr lang="en-US" altLang="ko-KR" dirty="0">
                <a:solidFill>
                  <a:srgbClr val="525252"/>
                </a:solidFill>
              </a:rPr>
              <a:t>CASE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75FC6C-1516-4DC4-8C58-3090F7D4F003}" type="slidenum">
              <a:rPr kumimoji="0" lang="ko-KR" altLang="en-US" sz="3600" b="1" i="0" u="none" strike="noStrike" kern="1200" cap="none" spc="0" normalizeH="0" baseline="0" noProof="0" smtClean="0">
                <a:ln w="12700">
                  <a:solidFill>
                    <a:srgbClr val="44546A">
                      <a:satMod val="155000"/>
                    </a:srgbClr>
                  </a:solidFill>
                  <a:prstDash val="solid"/>
                </a:ln>
                <a:solidFill>
                  <a:srgbClr val="E7E6E6">
                    <a:tint val="85000"/>
                    <a:satMod val="155000"/>
                  </a:srgbClr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198</a:t>
            </a:fld>
            <a:endParaRPr kumimoji="0" lang="ko-KR" altLang="en-US" sz="3600" b="1" i="0" u="none" strike="noStrike" kern="1200" cap="none" spc="0" normalizeH="0" baseline="0" noProof="0">
              <a:ln w="12700">
                <a:solidFill>
                  <a:srgbClr val="44546A">
                    <a:satMod val="155000"/>
                  </a:srgbClr>
                </a:solidFill>
                <a:prstDash val="solid"/>
              </a:ln>
              <a:solidFill>
                <a:srgbClr val="E7E6E6">
                  <a:tint val="85000"/>
                  <a:satMod val="155000"/>
                </a:srgbClr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46" name="모서리가 둥근 직사각형 10">
            <a:extLst>
              <a:ext uri="{FF2B5EF4-FFF2-40B4-BE49-F238E27FC236}">
                <a16:creationId xmlns:a16="http://schemas.microsoft.com/office/drawing/2014/main" id="{EA6D0AA3-A795-463F-A932-E97DEE7EE09B}"/>
              </a:ext>
            </a:extLst>
          </p:cNvPr>
          <p:cNvSpPr/>
          <p:nvPr/>
        </p:nvSpPr>
        <p:spPr bwMode="auto">
          <a:xfrm>
            <a:off x="335289" y="1008637"/>
            <a:ext cx="4314352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대법원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2022. 08. 31.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선고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2020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11479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판결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【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거절결정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특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)】</a:t>
            </a:r>
          </a:p>
        </p:txBody>
      </p:sp>
      <p:sp>
        <p:nvSpPr>
          <p:cNvPr id="43" name="Line 5">
            <a:extLst>
              <a:ext uri="{FF2B5EF4-FFF2-40B4-BE49-F238E27FC236}">
                <a16:creationId xmlns:a16="http://schemas.microsoft.com/office/drawing/2014/main" id="{ABAE3AC7-7FE1-8ADD-1432-67BAEC16EF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566" y="1765765"/>
            <a:ext cx="1166614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모던고딕 B"/>
              <a:ea typeface="Rix모던고딕 B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F84359-9871-66A5-E826-5160E5B432B4}"/>
              </a:ext>
            </a:extLst>
          </p:cNvPr>
          <p:cNvSpPr txBox="1"/>
          <p:nvPr/>
        </p:nvSpPr>
        <p:spPr>
          <a:xfrm>
            <a:off x="874275" y="2021940"/>
            <a:ext cx="1013644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모던고딕 B"/>
                <a:ea typeface="Rix모던고딕 B"/>
                <a:cs typeface="+mn-cs"/>
              </a:rPr>
              <a:t>본인 석사논문 공지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모던고딕 B"/>
              <a:ea typeface="Rix모던고딕 B"/>
              <a:cs typeface="+mn-cs"/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3D157A13-FF42-DAC4-1332-4A47747E3990}"/>
              </a:ext>
            </a:extLst>
          </p:cNvPr>
          <p:cNvSpPr/>
          <p:nvPr/>
        </p:nvSpPr>
        <p:spPr>
          <a:xfrm>
            <a:off x="1303727" y="1671831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모던고딕 B"/>
              <a:ea typeface="Rix모던고딕 B"/>
              <a:cs typeface="+mn-cs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3C4C2C44-0229-162C-9B34-B2E800853779}"/>
              </a:ext>
            </a:extLst>
          </p:cNvPr>
          <p:cNvCxnSpPr>
            <a:cxnSpLocks/>
            <a:stCxn id="44" idx="0"/>
            <a:endCxn id="45" idx="4"/>
          </p:cNvCxnSpPr>
          <p:nvPr/>
        </p:nvCxnSpPr>
        <p:spPr>
          <a:xfrm flipH="1" flipV="1">
            <a:off x="1381096" y="183316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AA4448B-FD1A-4CAB-6735-5B7C7918C6D3}"/>
              </a:ext>
            </a:extLst>
          </p:cNvPr>
          <p:cNvSpPr txBox="1"/>
          <p:nvPr/>
        </p:nvSpPr>
        <p:spPr>
          <a:xfrm>
            <a:off x="2308864" y="2021940"/>
            <a:ext cx="1151340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모던고딕 B"/>
                <a:ea typeface="Rix모던고딕 B"/>
                <a:cs typeface="+mn-cs"/>
              </a:rPr>
              <a:t>원출원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모던고딕 B"/>
                <a:ea typeface="Rix모던고딕 B"/>
                <a:cs typeface="+mn-cs"/>
              </a:rPr>
              <a:t>(X)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모던고딕 B"/>
              <a:ea typeface="Rix모던고딕 B"/>
              <a:cs typeface="+mn-cs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D8AA1A97-F1E3-1121-E061-1D106AA544C4}"/>
              </a:ext>
            </a:extLst>
          </p:cNvPr>
          <p:cNvSpPr/>
          <p:nvPr/>
        </p:nvSpPr>
        <p:spPr>
          <a:xfrm>
            <a:off x="2807164" y="1671831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모던고딕 B"/>
              <a:ea typeface="Rix모던고딕 B"/>
              <a:cs typeface="+mn-cs"/>
            </a:endParaRP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BAADB412-F75D-2CE4-4D63-C16F5C8985AE}"/>
              </a:ext>
            </a:extLst>
          </p:cNvPr>
          <p:cNvCxnSpPr>
            <a:cxnSpLocks/>
            <a:stCxn id="48" idx="0"/>
            <a:endCxn id="49" idx="4"/>
          </p:cNvCxnSpPr>
          <p:nvPr/>
        </p:nvCxnSpPr>
        <p:spPr>
          <a:xfrm flipH="1" flipV="1">
            <a:off x="2884533" y="183316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BF503960-8FCB-F3A5-3594-9BB0433FF137}"/>
              </a:ext>
            </a:extLst>
          </p:cNvPr>
          <p:cNvSpPr txBox="1"/>
          <p:nvPr/>
        </p:nvSpPr>
        <p:spPr>
          <a:xfrm>
            <a:off x="2120090" y="2413852"/>
            <a:ext cx="1528888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공지예외적용주장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하지 않음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F4408CA-55B3-CD6D-5EDC-117172EB9810}"/>
              </a:ext>
            </a:extLst>
          </p:cNvPr>
          <p:cNvSpPr txBox="1"/>
          <p:nvPr/>
        </p:nvSpPr>
        <p:spPr>
          <a:xfrm>
            <a:off x="1008358" y="1403855"/>
            <a:ext cx="7377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2014.08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1B1EC0C-F4FF-3087-D21D-B2F153186EAD}"/>
              </a:ext>
            </a:extLst>
          </p:cNvPr>
          <p:cNvSpPr txBox="1"/>
          <p:nvPr/>
        </p:nvSpPr>
        <p:spPr>
          <a:xfrm>
            <a:off x="2387442" y="1403855"/>
            <a:ext cx="9941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2014.12.23.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E98B2DF4-9109-E2C2-10A0-F94415F5E390}"/>
              </a:ext>
            </a:extLst>
          </p:cNvPr>
          <p:cNvCxnSpPr>
            <a:cxnSpLocks/>
            <a:stCxn id="54" idx="0"/>
            <a:endCxn id="48" idx="2"/>
          </p:cNvCxnSpPr>
          <p:nvPr/>
        </p:nvCxnSpPr>
        <p:spPr>
          <a:xfrm flipV="1">
            <a:off x="2884534" y="2329717"/>
            <a:ext cx="0" cy="8413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6691E7E7-F6BA-B9E1-F102-FFF52424D3C3}"/>
              </a:ext>
            </a:extLst>
          </p:cNvPr>
          <p:cNvSpPr txBox="1"/>
          <p:nvPr/>
        </p:nvSpPr>
        <p:spPr>
          <a:xfrm>
            <a:off x="3909989" y="2021940"/>
            <a:ext cx="1151340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모던고딕 B"/>
                <a:ea typeface="Rix모던고딕 B"/>
                <a:cs typeface="+mn-cs"/>
              </a:rPr>
              <a:t>분할출원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모던고딕 B"/>
                <a:ea typeface="Rix모던고딕 B"/>
                <a:cs typeface="+mn-cs"/>
              </a:rPr>
              <a:t>(Y)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모던고딕 B"/>
              <a:ea typeface="Rix모던고딕 B"/>
              <a:cs typeface="+mn-cs"/>
            </a:endParaRPr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EF3BC7C0-568A-15FA-35D1-B7546683896E}"/>
              </a:ext>
            </a:extLst>
          </p:cNvPr>
          <p:cNvSpPr/>
          <p:nvPr/>
        </p:nvSpPr>
        <p:spPr>
          <a:xfrm>
            <a:off x="4408289" y="1671831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모던고딕 B"/>
              <a:ea typeface="Rix모던고딕 B"/>
              <a:cs typeface="+mn-cs"/>
            </a:endParaRP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ADE9C0B9-AD5D-2955-E977-A5BDFF719EC2}"/>
              </a:ext>
            </a:extLst>
          </p:cNvPr>
          <p:cNvCxnSpPr>
            <a:cxnSpLocks/>
            <a:stCxn id="75" idx="0"/>
            <a:endCxn id="76" idx="4"/>
          </p:cNvCxnSpPr>
          <p:nvPr/>
        </p:nvCxnSpPr>
        <p:spPr>
          <a:xfrm flipH="1" flipV="1">
            <a:off x="4485658" y="183316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CA9ADFFE-C53C-68A4-14FF-BE3FFB402537}"/>
              </a:ext>
            </a:extLst>
          </p:cNvPr>
          <p:cNvSpPr txBox="1"/>
          <p:nvPr/>
        </p:nvSpPr>
        <p:spPr>
          <a:xfrm>
            <a:off x="3721215" y="2413852"/>
            <a:ext cx="1528888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공지예외적용주장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859EAFB-61F5-61F0-B094-2A16EB55EBE8}"/>
              </a:ext>
            </a:extLst>
          </p:cNvPr>
          <p:cNvSpPr txBox="1"/>
          <p:nvPr/>
        </p:nvSpPr>
        <p:spPr>
          <a:xfrm>
            <a:off x="4031047" y="1403855"/>
            <a:ext cx="909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2016.8.30.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D6C885FF-ADFE-8309-D4C7-D5A4D72B2C0F}"/>
              </a:ext>
            </a:extLst>
          </p:cNvPr>
          <p:cNvCxnSpPr>
            <a:cxnSpLocks/>
            <a:stCxn id="78" idx="0"/>
            <a:endCxn id="75" idx="2"/>
          </p:cNvCxnSpPr>
          <p:nvPr/>
        </p:nvCxnSpPr>
        <p:spPr>
          <a:xfrm flipV="1">
            <a:off x="4485659" y="2329717"/>
            <a:ext cx="0" cy="8413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75DACDE6-D138-9F2C-CF82-DFA8B812C04E}"/>
              </a:ext>
            </a:extLst>
          </p:cNvPr>
          <p:cNvSpPr txBox="1"/>
          <p:nvPr/>
        </p:nvSpPr>
        <p:spPr>
          <a:xfrm>
            <a:off x="5284275" y="2021940"/>
            <a:ext cx="1151340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모던고딕 B"/>
                <a:ea typeface="Rix모던고딕 B"/>
                <a:cs typeface="+mn-cs"/>
              </a:rPr>
              <a:t>취하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모던고딕 B"/>
                <a:ea typeface="Rix모던고딕 B"/>
                <a:cs typeface="+mn-cs"/>
              </a:rPr>
              <a:t>(X)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모던고딕 B"/>
              <a:ea typeface="Rix모던고딕 B"/>
              <a:cs typeface="+mn-cs"/>
            </a:endParaRP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964FE512-FF8B-C204-5FAD-137B3D50F05A}"/>
              </a:ext>
            </a:extLst>
          </p:cNvPr>
          <p:cNvSpPr/>
          <p:nvPr/>
        </p:nvSpPr>
        <p:spPr>
          <a:xfrm>
            <a:off x="5782575" y="1671831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모던고딕 B"/>
              <a:ea typeface="Rix모던고딕 B"/>
              <a:cs typeface="+mn-cs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B3220CD0-785B-32E2-52A2-8ED5F9A482D5}"/>
              </a:ext>
            </a:extLst>
          </p:cNvPr>
          <p:cNvCxnSpPr>
            <a:cxnSpLocks/>
            <a:stCxn id="81" idx="0"/>
            <a:endCxn id="82" idx="4"/>
          </p:cNvCxnSpPr>
          <p:nvPr/>
        </p:nvCxnSpPr>
        <p:spPr>
          <a:xfrm flipH="1" flipV="1">
            <a:off x="5859944" y="183316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879B4CA1-06DA-8DE5-F391-CE6E7B758272}"/>
              </a:ext>
            </a:extLst>
          </p:cNvPr>
          <p:cNvSpPr txBox="1"/>
          <p:nvPr/>
        </p:nvSpPr>
        <p:spPr>
          <a:xfrm>
            <a:off x="5405332" y="1403855"/>
            <a:ext cx="909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2016.8.31.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B83961C-86E4-EAB5-5783-2FAE443718FF}"/>
              </a:ext>
            </a:extLst>
          </p:cNvPr>
          <p:cNvSpPr txBox="1"/>
          <p:nvPr/>
        </p:nvSpPr>
        <p:spPr>
          <a:xfrm>
            <a:off x="6541394" y="2021940"/>
            <a:ext cx="1151340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모던고딕 B"/>
                <a:ea typeface="Rix모던고딕 B"/>
                <a:cs typeface="+mn-cs"/>
              </a:rPr>
              <a:t>거절결정</a:t>
            </a: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A3DF949F-F6CC-8257-7DAD-A35AF411AEE5}"/>
              </a:ext>
            </a:extLst>
          </p:cNvPr>
          <p:cNvSpPr/>
          <p:nvPr/>
        </p:nvSpPr>
        <p:spPr>
          <a:xfrm>
            <a:off x="7039694" y="1671831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모던고딕 B"/>
              <a:ea typeface="Rix모던고딕 B"/>
              <a:cs typeface="+mn-cs"/>
            </a:endParaRPr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FB36F0A3-7DF0-7D42-2992-2ACE7958D029}"/>
              </a:ext>
            </a:extLst>
          </p:cNvPr>
          <p:cNvCxnSpPr>
            <a:cxnSpLocks/>
            <a:stCxn id="87" idx="0"/>
            <a:endCxn id="88" idx="4"/>
          </p:cNvCxnSpPr>
          <p:nvPr/>
        </p:nvCxnSpPr>
        <p:spPr>
          <a:xfrm flipH="1" flipV="1">
            <a:off x="7117063" y="183316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EDDD10A5-0B98-E8ED-A96C-D9ED85120DDF}"/>
              </a:ext>
            </a:extLst>
          </p:cNvPr>
          <p:cNvSpPr txBox="1"/>
          <p:nvPr/>
        </p:nvSpPr>
        <p:spPr>
          <a:xfrm>
            <a:off x="5338826" y="2491949"/>
            <a:ext cx="6306827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원출원이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공지예외적용주장을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하지 않았기 때문에 분할출원이 그 효과를 인정받을 수 없다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 </a:t>
            </a:r>
          </a:p>
          <a:p>
            <a:pPr marL="171450" marR="0" lvl="0" indent="-17145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본인 논문에 의해 신규성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진보성 위반이다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5FF1772-554E-A35B-D1D5-E4CEF8A44290}"/>
              </a:ext>
            </a:extLst>
          </p:cNvPr>
          <p:cNvSpPr txBox="1"/>
          <p:nvPr/>
        </p:nvSpPr>
        <p:spPr>
          <a:xfrm>
            <a:off x="6662451" y="1403855"/>
            <a:ext cx="909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2017.3.15.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cxnSp>
        <p:nvCxnSpPr>
          <p:cNvPr id="97" name="연결선: 꺾임 96">
            <a:extLst>
              <a:ext uri="{FF2B5EF4-FFF2-40B4-BE49-F238E27FC236}">
                <a16:creationId xmlns:a16="http://schemas.microsoft.com/office/drawing/2014/main" id="{337801C5-DC52-0B17-A82B-D9CD991D3028}"/>
              </a:ext>
            </a:extLst>
          </p:cNvPr>
          <p:cNvCxnSpPr>
            <a:cxnSpLocks/>
            <a:stCxn id="87" idx="2"/>
            <a:endCxn id="90" idx="0"/>
          </p:cNvCxnSpPr>
          <p:nvPr/>
        </p:nvCxnSpPr>
        <p:spPr>
          <a:xfrm rot="16200000" flipH="1">
            <a:off x="7723536" y="1723245"/>
            <a:ext cx="162232" cy="137517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3150C8DA-97D8-DB95-85E2-0F068F797F08}"/>
              </a:ext>
            </a:extLst>
          </p:cNvPr>
          <p:cNvSpPr txBox="1"/>
          <p:nvPr/>
        </p:nvSpPr>
        <p:spPr>
          <a:xfrm>
            <a:off x="7801751" y="2021940"/>
            <a:ext cx="1151340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모던고딕 B"/>
                <a:ea typeface="Rix모던고딕 B"/>
                <a:cs typeface="+mn-cs"/>
              </a:rPr>
              <a:t>기각심결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모던고딕 B"/>
              <a:ea typeface="Rix모던고딕 B"/>
              <a:cs typeface="+mn-cs"/>
            </a:endParaRPr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0778E441-535B-F494-9BD5-06651FE3AB58}"/>
              </a:ext>
            </a:extLst>
          </p:cNvPr>
          <p:cNvSpPr/>
          <p:nvPr/>
        </p:nvSpPr>
        <p:spPr>
          <a:xfrm>
            <a:off x="8300051" y="1671831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모던고딕 B"/>
              <a:ea typeface="Rix모던고딕 B"/>
              <a:cs typeface="+mn-cs"/>
            </a:endParaRPr>
          </a:p>
        </p:txBody>
      </p: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CE3DEF42-E306-FE07-2F76-4CE77B837A68}"/>
              </a:ext>
            </a:extLst>
          </p:cNvPr>
          <p:cNvCxnSpPr>
            <a:cxnSpLocks/>
            <a:stCxn id="99" idx="0"/>
            <a:endCxn id="100" idx="4"/>
          </p:cNvCxnSpPr>
          <p:nvPr/>
        </p:nvCxnSpPr>
        <p:spPr>
          <a:xfrm flipH="1" flipV="1">
            <a:off x="8377420" y="183316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289B72DC-0A3D-0B72-BE84-95D4E0D6E9C9}"/>
              </a:ext>
            </a:extLst>
          </p:cNvPr>
          <p:cNvSpPr txBox="1"/>
          <p:nvPr/>
        </p:nvSpPr>
        <p:spPr>
          <a:xfrm>
            <a:off x="7965286" y="1403855"/>
            <a:ext cx="8242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2020.3.3.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C864496-89B2-79E5-8D34-E96A4B9E50E1}"/>
              </a:ext>
            </a:extLst>
          </p:cNvPr>
          <p:cNvSpPr txBox="1"/>
          <p:nvPr/>
        </p:nvSpPr>
        <p:spPr>
          <a:xfrm>
            <a:off x="9030658" y="2021940"/>
            <a:ext cx="1151340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모던고딕 B"/>
                <a:ea typeface="Rix모던고딕 B"/>
                <a:cs typeface="+mn-cs"/>
              </a:rPr>
              <a:t>기각판결</a:t>
            </a:r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E0ED007F-656A-A6D0-6D1A-5137076086DE}"/>
              </a:ext>
            </a:extLst>
          </p:cNvPr>
          <p:cNvSpPr/>
          <p:nvPr/>
        </p:nvSpPr>
        <p:spPr>
          <a:xfrm>
            <a:off x="9528958" y="1671831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모던고딕 B"/>
              <a:ea typeface="Rix모던고딕 B"/>
              <a:cs typeface="+mn-cs"/>
            </a:endParaRP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DF2F01C0-41E7-8FB5-34B8-7F8D8B119707}"/>
              </a:ext>
            </a:extLst>
          </p:cNvPr>
          <p:cNvCxnSpPr>
            <a:cxnSpLocks/>
            <a:stCxn id="103" idx="0"/>
            <a:endCxn id="104" idx="4"/>
          </p:cNvCxnSpPr>
          <p:nvPr/>
        </p:nvCxnSpPr>
        <p:spPr>
          <a:xfrm flipH="1" flipV="1">
            <a:off x="9606327" y="183316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0CB1D11F-4DA2-CE7B-4A54-C0B33A0FF95C}"/>
              </a:ext>
            </a:extLst>
          </p:cNvPr>
          <p:cNvSpPr txBox="1"/>
          <p:nvPr/>
        </p:nvSpPr>
        <p:spPr>
          <a:xfrm>
            <a:off x="9151714" y="1403855"/>
            <a:ext cx="909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2020.9.17.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8D85B1D-1860-EC8F-B93A-C8331CDD227C}"/>
              </a:ext>
            </a:extLst>
          </p:cNvPr>
          <p:cNvSpPr txBox="1"/>
          <p:nvPr/>
        </p:nvSpPr>
        <p:spPr>
          <a:xfrm>
            <a:off x="10291807" y="2021940"/>
            <a:ext cx="1151340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모던고딕 B"/>
                <a:ea typeface="Rix모던고딕 B"/>
                <a:cs typeface="+mn-cs"/>
              </a:rPr>
              <a:t>파기환송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모던고딕 B"/>
              <a:ea typeface="Rix모던고딕 B"/>
              <a:cs typeface="+mn-cs"/>
            </a:endParaRPr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3621BEC5-4FD7-3DF3-1C30-FFD02B838C59}"/>
              </a:ext>
            </a:extLst>
          </p:cNvPr>
          <p:cNvSpPr/>
          <p:nvPr/>
        </p:nvSpPr>
        <p:spPr>
          <a:xfrm>
            <a:off x="10790107" y="1671831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모던고딕 B"/>
              <a:ea typeface="Rix모던고딕 B"/>
              <a:cs typeface="+mn-cs"/>
            </a:endParaRP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40EE305D-6F8A-5980-2378-C90C0235F21E}"/>
              </a:ext>
            </a:extLst>
          </p:cNvPr>
          <p:cNvCxnSpPr>
            <a:cxnSpLocks/>
            <a:stCxn id="107" idx="0"/>
            <a:endCxn id="108" idx="4"/>
          </p:cNvCxnSpPr>
          <p:nvPr/>
        </p:nvCxnSpPr>
        <p:spPr>
          <a:xfrm flipH="1" flipV="1">
            <a:off x="10867476" y="183316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B20F081C-651E-BE06-F726-8867B459CF82}"/>
              </a:ext>
            </a:extLst>
          </p:cNvPr>
          <p:cNvSpPr txBox="1"/>
          <p:nvPr/>
        </p:nvSpPr>
        <p:spPr>
          <a:xfrm>
            <a:off x="10412862" y="1403855"/>
            <a:ext cx="909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2022.8.31.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09B0F94D-67D1-95F6-FAE5-1F4DF4074FD6}"/>
              </a:ext>
            </a:extLst>
          </p:cNvPr>
          <p:cNvSpPr/>
          <p:nvPr/>
        </p:nvSpPr>
        <p:spPr>
          <a:xfrm>
            <a:off x="135218" y="3140035"/>
            <a:ext cx="11959015" cy="36679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52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조제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항의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문언적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해석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)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특허법 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52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조 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항은 적법한 분할출원이 있을 경우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원출원일에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출원한 것으로 본다는 원칙과 그 예외로서 특허법 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조 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항의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제출 시기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증명서류의 제출 기간에 관하여는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분할출원일을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기준으로 한다고 정하고 있을 뿐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원출원에서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하지 않고 분할출원에서만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한 경우에는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분할출원일을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기준으로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요건 충족 여부를 판단하여야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한다거나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원출원에서의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분할출원에서의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통한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원출원일을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기준으로 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효과 인정 요건으로 정하고 있지 않다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결국 위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규정들의 문언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상으로는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원출원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하지 않았더라도 분할출원이 적법하게 이루어지면 특허법 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52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조 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항 본문에 따라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원출원일에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출원한 것으로 보게 되므로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자기공지일로부터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12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개월 이내에 원출원이 이루어지고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분할출원일을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기준으로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절차 요건을 충족하였다면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분할출원이 자기공지일로부터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12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개월을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도과하여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이루어졌다 하더라도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효과가 발생하는 것으로 해석함이 타당하다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</a:t>
            </a: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분할출원의 취지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)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분할출원은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원출원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당시 청구범위에는 기재되어 있지 않으나 원출원의 최초 첨부 명세서 및 도면에 기재되어 있는 발명에 대하여 후일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권리화할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필요성이 생긴 경우 이들 발명에 대해서도 이 새로운 특허출원이 적법한 것이면 원출원과 동시에 출원한 것과 같은 효과를 인정하는 것도 허용하여 특허제도에 의해 보호될 수 있도록 하고 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따라서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원출원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당시에는 청구범위가 자기공지한 내용과 무관하여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하지 않았으나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분할출원시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 청구범위가 자기공지한 내용에 포함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되어 있는 경우가 있을 수 있고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이와 같은 경우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원출원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하지 않았더라도 분할출원에서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하여 출원일 소급의 효력을 인정할 실질적 필요성이 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</a:t>
            </a: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원출원과의 관계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조제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항의 해석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)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분할출원은 보정과는 별개의 제도로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보정 가능 여부와 무관하게 특허법 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52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조의 요건을 충족하면 허용되는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독립된 출원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이다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따라서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특허출원서에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취지를 기재하도록 한 특허법 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조 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항을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형해화할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우려가 있다는 점에서 출원 시 누락한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보정의 형식으로 보완하는 것은 허용되지 않지만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대법원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2011. 6. 9.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선고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2010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2353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판결 등 참조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),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이 점이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원출원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하지 않은 경우 분할출원에서의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허용하지 않을 근거가 된다고 보기 어렵다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</a:t>
            </a: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원출원과의 관계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조제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항의 신설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)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위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2010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2353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판결 이후 출원인의 권리 보호를 강화하기 위하여 특허법 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조 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항을 신설하였으나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(2015. 1. 28.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법률 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13096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호로 개정된 것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),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특허 절차에서의 보정과 분할출원은 그 요건과 취지를 달리하는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별개의 제도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라는 점에서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원출원에서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하지 않은 경우 분할출원에서의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공지예외주장으로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원출원일을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기준으로 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효과를 인정받을 수 있는지의 문제는 특허법 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조 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항의 신설 전후를 불문하고 일관되게 해석함이 타당하다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</a:t>
            </a: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공지예외적용주장의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취지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)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규정은 특허법 제정 이후 현재에 이르기까지 그 예외 인정 사유가 확대되고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신규성뿐만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아니라 진보성과 관련해서도 이를 적용하며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그 기간이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6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개월에서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1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년으로 확대되는 등의 개정을 통해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특허제도에 미숙한 발명자를 보호하기 위한 제도를 넘어 출원인의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발명자로서의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 권리를 실효적으로 보호하기 위한 제도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로 자리 잡고 있다는 점까지 더하여 보면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분할출원에서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통해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원출원일을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기준으로 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효과를 인정받는 것을 제한할 합리적 이유를 찾기 어렵다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cxnSp>
        <p:nvCxnSpPr>
          <p:cNvPr id="120" name="연결선: 꺾임 119">
            <a:extLst>
              <a:ext uri="{FF2B5EF4-FFF2-40B4-BE49-F238E27FC236}">
                <a16:creationId xmlns:a16="http://schemas.microsoft.com/office/drawing/2014/main" id="{357D7D3C-AC58-AA60-FFC4-2E3D382ABDD1}"/>
              </a:ext>
            </a:extLst>
          </p:cNvPr>
          <p:cNvCxnSpPr>
            <a:stCxn id="107" idx="3"/>
            <a:endCxn id="115" idx="0"/>
          </p:cNvCxnSpPr>
          <p:nvPr/>
        </p:nvCxnSpPr>
        <p:spPr>
          <a:xfrm flipH="1">
            <a:off x="6114726" y="2175829"/>
            <a:ext cx="5328421" cy="964206"/>
          </a:xfrm>
          <a:prstGeom prst="bentConnector4">
            <a:avLst>
              <a:gd name="adj1" fmla="val -8661"/>
              <a:gd name="adj2" fmla="val 89293"/>
            </a:avLst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7615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A9162447-0148-E951-A363-ECC863FEF8A9}"/>
              </a:ext>
            </a:extLst>
          </p:cNvPr>
          <p:cNvCxnSpPr>
            <a:cxnSpLocks/>
          </p:cNvCxnSpPr>
          <p:nvPr/>
        </p:nvCxnSpPr>
        <p:spPr>
          <a:xfrm>
            <a:off x="851646" y="1192307"/>
            <a:ext cx="0" cy="3747246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75FC6C-1516-4DC4-8C58-3090F7D4F003}" type="slidenum">
              <a:rPr kumimoji="0" lang="ko-KR" altLang="en-US" sz="3600" b="1" i="0" u="none" strike="noStrike" kern="1200" cap="none" spc="0" normalizeH="0" baseline="0" noProof="0" smtClean="0">
                <a:ln w="12700">
                  <a:solidFill>
                    <a:srgbClr val="44546A">
                      <a:satMod val="155000"/>
                    </a:srgbClr>
                  </a:solidFill>
                  <a:prstDash val="solid"/>
                </a:ln>
                <a:solidFill>
                  <a:srgbClr val="E7E6E6">
                    <a:tint val="85000"/>
                    <a:satMod val="155000"/>
                  </a:srgbClr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199</a:t>
            </a:fld>
            <a:endParaRPr kumimoji="0" lang="ko-KR" altLang="en-US" sz="3600" b="1" i="0" u="none" strike="noStrike" kern="1200" cap="none" spc="0" normalizeH="0" baseline="0" noProof="0">
              <a:ln w="12700">
                <a:solidFill>
                  <a:srgbClr val="44546A">
                    <a:satMod val="155000"/>
                  </a:srgbClr>
                </a:solidFill>
                <a:prstDash val="solid"/>
              </a:ln>
              <a:solidFill>
                <a:srgbClr val="E7E6E6">
                  <a:tint val="85000"/>
                  <a:satMod val="155000"/>
                </a:srgbClr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원출원과의 관계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73D66E98-47E4-E5AD-54FB-88DC1A9F1EB4}"/>
              </a:ext>
            </a:extLst>
          </p:cNvPr>
          <p:cNvSpPr/>
          <p:nvPr/>
        </p:nvSpPr>
        <p:spPr>
          <a:xfrm>
            <a:off x="769921" y="234893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774E8381-312A-4DDE-987B-E5ABCED1D8B6}"/>
              </a:ext>
            </a:extLst>
          </p:cNvPr>
          <p:cNvSpPr/>
          <p:nvPr/>
        </p:nvSpPr>
        <p:spPr>
          <a:xfrm>
            <a:off x="769921" y="1497312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D2130-8BE1-2925-A4BE-F68A70FA1AF8}"/>
              </a:ext>
            </a:extLst>
          </p:cNvPr>
          <p:cNvSpPr txBox="1"/>
          <p:nvPr/>
        </p:nvSpPr>
        <p:spPr>
          <a:xfrm>
            <a:off x="1571535" y="1542094"/>
            <a:ext cx="3556271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심사기준</a:t>
            </a:r>
            <a:r>
              <a:rPr lang="en-US" altLang="ko-KR" sz="1200" dirty="0"/>
              <a:t>) </a:t>
            </a:r>
            <a:r>
              <a:rPr lang="ko-KR" altLang="en-US" sz="1200" dirty="0"/>
              <a:t>원출원이 우선권주장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공지예외적용주장을</a:t>
            </a:r>
            <a:r>
              <a:rPr lang="ko-KR" altLang="en-US" sz="1200" dirty="0"/>
              <a:t> 하지 않은 경우 분할출원도 주장 불가능</a:t>
            </a:r>
            <a:endParaRPr lang="en-US" altLang="ko-KR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D6236D-F14D-F957-3734-2B3ACA8950E9}"/>
              </a:ext>
            </a:extLst>
          </p:cNvPr>
          <p:cNvSpPr txBox="1"/>
          <p:nvPr/>
        </p:nvSpPr>
        <p:spPr>
          <a:xfrm>
            <a:off x="1571534" y="2293562"/>
            <a:ext cx="3556271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법 개정</a:t>
            </a:r>
            <a:r>
              <a:rPr lang="en-US" altLang="ko-KR" sz="1200" dirty="0"/>
              <a:t>)</a:t>
            </a:r>
            <a:r>
              <a:rPr lang="ko-KR" altLang="en-US" sz="1200" dirty="0"/>
              <a:t> 제</a:t>
            </a:r>
            <a:r>
              <a:rPr lang="en-US" altLang="ko-KR" sz="1200" dirty="0"/>
              <a:t>30</a:t>
            </a:r>
            <a:r>
              <a:rPr lang="ko-KR" altLang="en-US" sz="1200" dirty="0"/>
              <a:t>조제</a:t>
            </a:r>
            <a:r>
              <a:rPr lang="en-US" altLang="ko-KR" sz="1200" dirty="0"/>
              <a:t>3</a:t>
            </a:r>
            <a:r>
              <a:rPr lang="ko-KR" altLang="en-US" sz="1200" dirty="0"/>
              <a:t>항을 신설</a:t>
            </a:r>
          </a:p>
        </p:txBody>
      </p: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5BB9EDBA-817C-6565-FF82-4108E84953D1}"/>
              </a:ext>
            </a:extLst>
          </p:cNvPr>
          <p:cNvCxnSpPr>
            <a:cxnSpLocks/>
            <a:endCxn id="32" idx="6"/>
          </p:cNvCxnSpPr>
          <p:nvPr/>
        </p:nvCxnSpPr>
        <p:spPr>
          <a:xfrm rot="10800000">
            <a:off x="924659" y="1577982"/>
            <a:ext cx="646874" cy="179557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B084B200-31CC-626C-FA69-709CDA0D3488}"/>
              </a:ext>
            </a:extLst>
          </p:cNvPr>
          <p:cNvCxnSpPr>
            <a:cxnSpLocks/>
            <a:stCxn id="35" idx="1"/>
            <a:endCxn id="5" idx="6"/>
          </p:cNvCxnSpPr>
          <p:nvPr/>
        </p:nvCxnSpPr>
        <p:spPr>
          <a:xfrm rot="10800000">
            <a:off x="924660" y="2429606"/>
            <a:ext cx="646875" cy="245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AFBBF5E-6792-A2AB-D792-20765D799A2F}"/>
              </a:ext>
            </a:extLst>
          </p:cNvPr>
          <p:cNvSpPr txBox="1"/>
          <p:nvPr/>
        </p:nvSpPr>
        <p:spPr>
          <a:xfrm>
            <a:off x="5432612" y="1544200"/>
            <a:ext cx="5523299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tx2"/>
                </a:solidFill>
              </a:rPr>
              <a:t>원출원과 동시에 주장을 하지 아니하여 그 효과가 발생하지 아니한 경우 이를 회피하기 위한 수단으로서 분할출원을 이용하는 것을 방지</a:t>
            </a:r>
            <a:endParaRPr lang="ko-KR" altLang="en-US" sz="1200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2EBE8BA2-C718-B791-DE59-ABA7D01751A6}"/>
              </a:ext>
            </a:extLst>
          </p:cNvPr>
          <p:cNvCxnSpPr>
            <a:cxnSpLocks/>
            <a:stCxn id="33" idx="3"/>
            <a:endCxn id="59" idx="1"/>
          </p:cNvCxnSpPr>
          <p:nvPr/>
        </p:nvCxnSpPr>
        <p:spPr>
          <a:xfrm>
            <a:off x="5127806" y="1772927"/>
            <a:ext cx="304806" cy="210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36B3301B-78C0-9C1C-6364-BAC598044C51}"/>
              </a:ext>
            </a:extLst>
          </p:cNvPr>
          <p:cNvSpPr txBox="1"/>
          <p:nvPr/>
        </p:nvSpPr>
        <p:spPr>
          <a:xfrm>
            <a:off x="5432612" y="2193533"/>
            <a:ext cx="5523300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tx2"/>
                </a:solidFill>
              </a:rPr>
              <a:t>원출원과 동시에 </a:t>
            </a:r>
            <a:r>
              <a:rPr lang="ko-KR" altLang="en-US" sz="1200" dirty="0" err="1">
                <a:solidFill>
                  <a:schemeClr val="tx2"/>
                </a:solidFill>
              </a:rPr>
              <a:t>공지예외적용주장을</a:t>
            </a:r>
            <a:r>
              <a:rPr lang="ko-KR" altLang="en-US" sz="1200" dirty="0">
                <a:solidFill>
                  <a:schemeClr val="tx2"/>
                </a:solidFill>
              </a:rPr>
              <a:t> 하지 않더라도 추후에 보완수수료를 내고 할 수 있기 때문에 굳이 이를 회피하기 위한 수단으로 분할출원을 이용할 필요가 없어짐</a:t>
            </a:r>
            <a:endParaRPr lang="ko-KR" altLang="en-US" sz="1200" dirty="0"/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91482DD2-93A0-D034-4E77-EDD97739B4F3}"/>
              </a:ext>
            </a:extLst>
          </p:cNvPr>
          <p:cNvCxnSpPr>
            <a:cxnSpLocks/>
            <a:stCxn id="35" idx="3"/>
            <a:endCxn id="66" idx="1"/>
          </p:cNvCxnSpPr>
          <p:nvPr/>
        </p:nvCxnSpPr>
        <p:spPr>
          <a:xfrm flipV="1">
            <a:off x="5127805" y="2424366"/>
            <a:ext cx="304807" cy="769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타원 70">
            <a:extLst>
              <a:ext uri="{FF2B5EF4-FFF2-40B4-BE49-F238E27FC236}">
                <a16:creationId xmlns:a16="http://schemas.microsoft.com/office/drawing/2014/main" id="{FBC471D4-7BB2-D0FE-45D2-3E375BEC2A52}"/>
              </a:ext>
            </a:extLst>
          </p:cNvPr>
          <p:cNvSpPr/>
          <p:nvPr/>
        </p:nvSpPr>
        <p:spPr>
          <a:xfrm>
            <a:off x="769921" y="3109676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32DD414-5C85-F130-D95B-B3CF4891A3F5}"/>
              </a:ext>
            </a:extLst>
          </p:cNvPr>
          <p:cNvSpPr txBox="1"/>
          <p:nvPr/>
        </p:nvSpPr>
        <p:spPr>
          <a:xfrm>
            <a:off x="1571535" y="2957236"/>
            <a:ext cx="3556271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심사기준 개정</a:t>
            </a:r>
            <a:r>
              <a:rPr lang="en-US" altLang="ko-KR" sz="1200" dirty="0"/>
              <a:t>) </a:t>
            </a:r>
            <a:r>
              <a:rPr lang="ko-KR" altLang="en-US" sz="1200" dirty="0"/>
              <a:t>원출원이 우선권주장을 하지 않은 경우 분할출원도 주장 불가능</a:t>
            </a:r>
            <a:endParaRPr lang="en-US" altLang="ko-KR" sz="1200" dirty="0"/>
          </a:p>
        </p:txBody>
      </p: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E4A0923E-FEFF-217C-256B-6A352FB73705}"/>
              </a:ext>
            </a:extLst>
          </p:cNvPr>
          <p:cNvCxnSpPr>
            <a:cxnSpLocks/>
            <a:stCxn id="72" idx="1"/>
            <a:endCxn id="71" idx="6"/>
          </p:cNvCxnSpPr>
          <p:nvPr/>
        </p:nvCxnSpPr>
        <p:spPr>
          <a:xfrm rot="10800000" flipV="1">
            <a:off x="924659" y="3188069"/>
            <a:ext cx="646876" cy="227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735C02FC-1643-FCE8-27FD-793F46799545}"/>
              </a:ext>
            </a:extLst>
          </p:cNvPr>
          <p:cNvSpPr txBox="1"/>
          <p:nvPr/>
        </p:nvSpPr>
        <p:spPr>
          <a:xfrm>
            <a:off x="5432612" y="2959342"/>
            <a:ext cx="5523299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 err="1">
                <a:solidFill>
                  <a:schemeClr val="tx2"/>
                </a:solidFill>
              </a:rPr>
              <a:t>공지예외적용주장을</a:t>
            </a:r>
            <a:r>
              <a:rPr lang="ko-KR" altLang="en-US" sz="1200" dirty="0">
                <a:solidFill>
                  <a:schemeClr val="tx2"/>
                </a:solidFill>
              </a:rPr>
              <a:t> 삭제함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즉 원출원이 </a:t>
            </a:r>
            <a:r>
              <a:rPr lang="ko-KR" altLang="en-US" sz="1200" dirty="0" err="1">
                <a:solidFill>
                  <a:schemeClr val="tx2"/>
                </a:solidFill>
              </a:rPr>
              <a:t>공지예외적용주장을</a:t>
            </a:r>
            <a:r>
              <a:rPr lang="ko-KR" altLang="en-US" sz="1200" dirty="0">
                <a:solidFill>
                  <a:schemeClr val="tx2"/>
                </a:solidFill>
              </a:rPr>
              <a:t> 하지 않더라도 분할출원에서 </a:t>
            </a:r>
            <a:r>
              <a:rPr lang="ko-KR" altLang="en-US" sz="1200" dirty="0" err="1">
                <a:solidFill>
                  <a:schemeClr val="tx2"/>
                </a:solidFill>
              </a:rPr>
              <a:t>공지예외적용주장</a:t>
            </a:r>
            <a:r>
              <a:rPr lang="ko-KR" altLang="en-US" sz="1200" dirty="0">
                <a:solidFill>
                  <a:schemeClr val="tx2"/>
                </a:solidFill>
              </a:rPr>
              <a:t> 가능</a:t>
            </a:r>
            <a:endParaRPr lang="ko-KR" altLang="en-US" sz="1200" dirty="0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8E246C47-DD78-6496-6365-53ECB8307929}"/>
              </a:ext>
            </a:extLst>
          </p:cNvPr>
          <p:cNvCxnSpPr>
            <a:cxnSpLocks/>
            <a:stCxn id="72" idx="3"/>
            <a:endCxn id="74" idx="1"/>
          </p:cNvCxnSpPr>
          <p:nvPr/>
        </p:nvCxnSpPr>
        <p:spPr>
          <a:xfrm>
            <a:off x="5127806" y="3188069"/>
            <a:ext cx="304806" cy="210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타원 92">
            <a:extLst>
              <a:ext uri="{FF2B5EF4-FFF2-40B4-BE49-F238E27FC236}">
                <a16:creationId xmlns:a16="http://schemas.microsoft.com/office/drawing/2014/main" id="{C02BEE75-846F-B8E5-7265-0E1ED7422DCB}"/>
              </a:ext>
            </a:extLst>
          </p:cNvPr>
          <p:cNvSpPr/>
          <p:nvPr/>
        </p:nvSpPr>
        <p:spPr>
          <a:xfrm>
            <a:off x="769921" y="4069850"/>
            <a:ext cx="154738" cy="161338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F268A0A-F986-D701-C23C-00E1C440C556}"/>
              </a:ext>
            </a:extLst>
          </p:cNvPr>
          <p:cNvSpPr txBox="1"/>
          <p:nvPr/>
        </p:nvSpPr>
        <p:spPr>
          <a:xfrm>
            <a:off x="1571535" y="3917410"/>
            <a:ext cx="3556271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대법원 판결</a:t>
            </a:r>
            <a:r>
              <a:rPr lang="en-US" altLang="ko-KR" sz="1200" dirty="0"/>
              <a:t>) </a:t>
            </a:r>
            <a:r>
              <a:rPr lang="ko-KR" altLang="en-US" sz="1200" dirty="0"/>
              <a:t>법 개정 전일지라도 원출원이 </a:t>
            </a:r>
            <a:r>
              <a:rPr lang="ko-KR" altLang="en-US" sz="1200" dirty="0" err="1"/>
              <a:t>공지예외적용주장을</a:t>
            </a:r>
            <a:r>
              <a:rPr lang="ko-KR" altLang="en-US" sz="1200" dirty="0"/>
              <a:t> 하지 않더라도 분할출원에서 그 주장 가능</a:t>
            </a:r>
            <a:endParaRPr lang="en-US" altLang="ko-KR" sz="1200" dirty="0"/>
          </a:p>
        </p:txBody>
      </p:sp>
      <p:cxnSp>
        <p:nvCxnSpPr>
          <p:cNvPr id="95" name="연결선: 꺾임 94">
            <a:extLst>
              <a:ext uri="{FF2B5EF4-FFF2-40B4-BE49-F238E27FC236}">
                <a16:creationId xmlns:a16="http://schemas.microsoft.com/office/drawing/2014/main" id="{ACA96A23-8A96-00C6-6289-B83232490E3F}"/>
              </a:ext>
            </a:extLst>
          </p:cNvPr>
          <p:cNvCxnSpPr>
            <a:cxnSpLocks/>
            <a:stCxn id="94" idx="1"/>
            <a:endCxn id="93" idx="6"/>
          </p:cNvCxnSpPr>
          <p:nvPr/>
        </p:nvCxnSpPr>
        <p:spPr>
          <a:xfrm rot="10800000" flipV="1">
            <a:off x="924659" y="4148243"/>
            <a:ext cx="646876" cy="227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49F6EE5C-24FD-CBC8-055B-F727DA0CC4C1}"/>
              </a:ext>
            </a:extLst>
          </p:cNvPr>
          <p:cNvSpPr txBox="1"/>
          <p:nvPr/>
        </p:nvSpPr>
        <p:spPr>
          <a:xfrm>
            <a:off x="5432612" y="3731259"/>
            <a:ext cx="5523299" cy="83099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tx2"/>
                </a:solidFill>
              </a:rPr>
              <a:t>(1) </a:t>
            </a:r>
            <a:r>
              <a:rPr lang="ko-KR" altLang="en-US" sz="1200" dirty="0">
                <a:solidFill>
                  <a:schemeClr val="tx2"/>
                </a:solidFill>
              </a:rPr>
              <a:t>제</a:t>
            </a:r>
            <a:r>
              <a:rPr lang="en-US" altLang="ko-KR" sz="1200" dirty="0">
                <a:solidFill>
                  <a:schemeClr val="tx2"/>
                </a:solidFill>
              </a:rPr>
              <a:t>52</a:t>
            </a:r>
            <a:r>
              <a:rPr lang="ko-KR" altLang="en-US" sz="1200" dirty="0">
                <a:solidFill>
                  <a:schemeClr val="tx2"/>
                </a:solidFill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</a:rPr>
              <a:t>2</a:t>
            </a:r>
            <a:r>
              <a:rPr lang="ko-KR" altLang="en-US" sz="1200" dirty="0" err="1">
                <a:solidFill>
                  <a:schemeClr val="tx2"/>
                </a:solidFill>
              </a:rPr>
              <a:t>항제</a:t>
            </a:r>
            <a:r>
              <a:rPr lang="en-US" altLang="ko-KR" sz="1200" dirty="0">
                <a:solidFill>
                  <a:schemeClr val="tx2"/>
                </a:solidFill>
              </a:rPr>
              <a:t>2</a:t>
            </a:r>
            <a:r>
              <a:rPr lang="ko-KR" altLang="en-US" sz="1200" dirty="0">
                <a:solidFill>
                  <a:schemeClr val="tx2"/>
                </a:solidFill>
              </a:rPr>
              <a:t>호의 </a:t>
            </a:r>
            <a:r>
              <a:rPr lang="ko-KR" altLang="en-US" sz="1200" dirty="0" err="1">
                <a:solidFill>
                  <a:schemeClr val="tx2"/>
                </a:solidFill>
              </a:rPr>
              <a:t>문언적</a:t>
            </a:r>
            <a:r>
              <a:rPr lang="ko-KR" altLang="en-US" sz="1200" dirty="0">
                <a:solidFill>
                  <a:schemeClr val="tx2"/>
                </a:solidFill>
              </a:rPr>
              <a:t> 해석 </a:t>
            </a:r>
            <a:endParaRPr lang="en-US" altLang="ko-KR" sz="1200" dirty="0">
              <a:solidFill>
                <a:schemeClr val="tx2"/>
              </a:solidFill>
            </a:endParaRPr>
          </a:p>
          <a:p>
            <a:r>
              <a:rPr lang="en-US" altLang="ko-KR" sz="1200" dirty="0">
                <a:solidFill>
                  <a:schemeClr val="tx2"/>
                </a:solidFill>
              </a:rPr>
              <a:t>(2) </a:t>
            </a:r>
            <a:r>
              <a:rPr lang="ko-KR" altLang="en-US" sz="1200" dirty="0">
                <a:solidFill>
                  <a:schemeClr val="tx2"/>
                </a:solidFill>
              </a:rPr>
              <a:t>분할출원의 취지</a:t>
            </a:r>
            <a:endParaRPr lang="en-US" altLang="ko-KR" sz="1200" dirty="0">
              <a:solidFill>
                <a:schemeClr val="tx2"/>
              </a:solidFill>
            </a:endParaRPr>
          </a:p>
          <a:p>
            <a:r>
              <a:rPr lang="en-US" altLang="ko-KR" sz="1200" dirty="0">
                <a:solidFill>
                  <a:schemeClr val="tx2"/>
                </a:solidFill>
              </a:rPr>
              <a:t>(3)(4) </a:t>
            </a:r>
            <a:r>
              <a:rPr lang="ko-KR" altLang="en-US" sz="1200" dirty="0">
                <a:solidFill>
                  <a:schemeClr val="tx2"/>
                </a:solidFill>
              </a:rPr>
              <a:t>분할출원과 원출원과의 관계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독립적</a:t>
            </a:r>
            <a:r>
              <a:rPr lang="en-US" altLang="ko-KR" sz="1200" dirty="0">
                <a:solidFill>
                  <a:schemeClr val="tx2"/>
                </a:solidFill>
              </a:rPr>
              <a:t>) </a:t>
            </a:r>
          </a:p>
          <a:p>
            <a:r>
              <a:rPr lang="en-US" altLang="ko-KR" sz="1200" dirty="0">
                <a:solidFill>
                  <a:schemeClr val="tx2"/>
                </a:solidFill>
              </a:rPr>
              <a:t>(5)</a:t>
            </a:r>
            <a:r>
              <a:rPr lang="ko-KR" altLang="en-US" sz="1200" dirty="0">
                <a:solidFill>
                  <a:schemeClr val="tx2"/>
                </a:solidFill>
              </a:rPr>
              <a:t> </a:t>
            </a:r>
            <a:r>
              <a:rPr lang="ko-KR" altLang="en-US" sz="1200" dirty="0" err="1">
                <a:solidFill>
                  <a:schemeClr val="tx2"/>
                </a:solidFill>
              </a:rPr>
              <a:t>공지예외적용주장출원의</a:t>
            </a:r>
            <a:r>
              <a:rPr lang="ko-KR" altLang="en-US" sz="1200" dirty="0">
                <a:solidFill>
                  <a:schemeClr val="tx2"/>
                </a:solidFill>
              </a:rPr>
              <a:t> 취지</a:t>
            </a:r>
            <a:endParaRPr lang="en-US" altLang="ko-KR" sz="1200" dirty="0">
              <a:solidFill>
                <a:schemeClr val="tx2"/>
              </a:solidFill>
            </a:endParaRPr>
          </a:p>
        </p:txBody>
      </p: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6866C029-08ED-E994-987D-D06B18D4AFF3}"/>
              </a:ext>
            </a:extLst>
          </p:cNvPr>
          <p:cNvCxnSpPr>
            <a:cxnSpLocks/>
            <a:stCxn id="94" idx="3"/>
            <a:endCxn id="96" idx="1"/>
          </p:cNvCxnSpPr>
          <p:nvPr/>
        </p:nvCxnSpPr>
        <p:spPr>
          <a:xfrm flipV="1">
            <a:off x="5127806" y="4146758"/>
            <a:ext cx="304806" cy="148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0093D75A-131F-E472-DF98-81926172E976}"/>
              </a:ext>
            </a:extLst>
          </p:cNvPr>
          <p:cNvSpPr txBox="1"/>
          <p:nvPr/>
        </p:nvSpPr>
        <p:spPr>
          <a:xfrm>
            <a:off x="2492188" y="4379075"/>
            <a:ext cx="15508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2020</a:t>
            </a:r>
            <a:r>
              <a:rPr lang="ko-KR" altLang="en-US" sz="1400" dirty="0">
                <a:solidFill>
                  <a:srgbClr val="FF0000"/>
                </a:solidFill>
              </a:rPr>
              <a:t>후</a:t>
            </a:r>
            <a:r>
              <a:rPr lang="en-US" altLang="ko-KR" sz="1400" dirty="0">
                <a:solidFill>
                  <a:srgbClr val="FF0000"/>
                </a:solidFill>
              </a:rPr>
              <a:t>11479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2A2A739-A1D2-9C28-8AEB-3EE4C6EB7AFC}"/>
              </a:ext>
            </a:extLst>
          </p:cNvPr>
          <p:cNvSpPr txBox="1"/>
          <p:nvPr/>
        </p:nvSpPr>
        <p:spPr>
          <a:xfrm>
            <a:off x="624784" y="5342352"/>
            <a:ext cx="10697637" cy="9233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- </a:t>
            </a:r>
            <a:r>
              <a:rPr lang="ko-KR" altLang="en-US" dirty="0">
                <a:solidFill>
                  <a:srgbClr val="FF0000"/>
                </a:solidFill>
              </a:rPr>
              <a:t>판례의 근거에 의하면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원출원이 우선권주장을 하지 않더라도 분할출원에서 우선권주장 가능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- </a:t>
            </a:r>
            <a:r>
              <a:rPr lang="ko-KR" altLang="en-US" dirty="0">
                <a:solidFill>
                  <a:srgbClr val="FF0000"/>
                </a:solidFill>
              </a:rPr>
              <a:t>이는 출원과 동시에 주장을 해야 한다는 제</a:t>
            </a:r>
            <a:r>
              <a:rPr lang="en-US" altLang="ko-KR" dirty="0">
                <a:solidFill>
                  <a:srgbClr val="FF0000"/>
                </a:solidFill>
              </a:rPr>
              <a:t>54</a:t>
            </a:r>
            <a:r>
              <a:rPr lang="ko-KR" altLang="en-US" dirty="0">
                <a:solidFill>
                  <a:srgbClr val="FF0000"/>
                </a:solidFill>
              </a:rPr>
              <a:t>조제</a:t>
            </a:r>
            <a:r>
              <a:rPr lang="en-US" altLang="ko-KR" dirty="0">
                <a:solidFill>
                  <a:srgbClr val="FF0000"/>
                </a:solidFill>
              </a:rPr>
              <a:t>3</a:t>
            </a:r>
            <a:r>
              <a:rPr lang="ko-KR" altLang="en-US" dirty="0">
                <a:solidFill>
                  <a:srgbClr val="FF0000"/>
                </a:solidFill>
              </a:rPr>
              <a:t>항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제</a:t>
            </a:r>
            <a:r>
              <a:rPr lang="en-US" altLang="ko-KR" dirty="0">
                <a:solidFill>
                  <a:srgbClr val="FF0000"/>
                </a:solidFill>
              </a:rPr>
              <a:t>55</a:t>
            </a:r>
            <a:r>
              <a:rPr lang="ko-KR" altLang="en-US" dirty="0">
                <a:solidFill>
                  <a:srgbClr val="FF0000"/>
                </a:solidFill>
              </a:rPr>
              <a:t>조제</a:t>
            </a:r>
            <a:r>
              <a:rPr lang="en-US" altLang="ko-KR" dirty="0">
                <a:solidFill>
                  <a:srgbClr val="FF0000"/>
                </a:solidFill>
              </a:rPr>
              <a:t>2</a:t>
            </a:r>
            <a:r>
              <a:rPr lang="ko-KR" altLang="en-US" dirty="0">
                <a:solidFill>
                  <a:srgbClr val="FF0000"/>
                </a:solidFill>
              </a:rPr>
              <a:t>항의 취지를 분할출원을 통해 </a:t>
            </a:r>
            <a:r>
              <a:rPr lang="ko-KR" altLang="en-US" dirty="0" err="1">
                <a:solidFill>
                  <a:srgbClr val="FF0000"/>
                </a:solidFill>
              </a:rPr>
              <a:t>몰각시킬</a:t>
            </a:r>
            <a:r>
              <a:rPr lang="ko-KR" altLang="en-US" dirty="0">
                <a:solidFill>
                  <a:srgbClr val="FF0000"/>
                </a:solidFill>
              </a:rPr>
              <a:t> 수 있음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- </a:t>
            </a:r>
            <a:r>
              <a:rPr lang="ko-KR" altLang="en-US" dirty="0">
                <a:solidFill>
                  <a:srgbClr val="FF0000"/>
                </a:solidFill>
              </a:rPr>
              <a:t>따라서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제</a:t>
            </a:r>
            <a:r>
              <a:rPr lang="en-US" altLang="ko-KR" dirty="0">
                <a:solidFill>
                  <a:srgbClr val="FF0000"/>
                </a:solidFill>
              </a:rPr>
              <a:t>52</a:t>
            </a:r>
            <a:r>
              <a:rPr lang="ko-KR" altLang="en-US" dirty="0">
                <a:solidFill>
                  <a:srgbClr val="FF0000"/>
                </a:solidFill>
              </a:rPr>
              <a:t>조제</a:t>
            </a:r>
            <a:r>
              <a:rPr lang="en-US" altLang="ko-KR" dirty="0">
                <a:solidFill>
                  <a:srgbClr val="FF0000"/>
                </a:solidFill>
              </a:rPr>
              <a:t>2</a:t>
            </a:r>
            <a:r>
              <a:rPr lang="ko-KR" altLang="en-US" dirty="0" err="1">
                <a:solidFill>
                  <a:srgbClr val="FF0000"/>
                </a:solidFill>
              </a:rPr>
              <a:t>항제</a:t>
            </a:r>
            <a:r>
              <a:rPr lang="en-US" altLang="ko-KR" dirty="0">
                <a:solidFill>
                  <a:srgbClr val="FF0000"/>
                </a:solidFill>
              </a:rPr>
              <a:t>3</a:t>
            </a:r>
            <a:r>
              <a:rPr lang="ko-KR" altLang="en-US" dirty="0">
                <a:solidFill>
                  <a:srgbClr val="FF0000"/>
                </a:solidFill>
              </a:rPr>
              <a:t>호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제</a:t>
            </a:r>
            <a:r>
              <a:rPr lang="en-US" altLang="ko-KR" dirty="0">
                <a:solidFill>
                  <a:srgbClr val="FF0000"/>
                </a:solidFill>
              </a:rPr>
              <a:t>4</a:t>
            </a:r>
            <a:r>
              <a:rPr lang="ko-KR" altLang="en-US" dirty="0">
                <a:solidFill>
                  <a:srgbClr val="FF0000"/>
                </a:solidFill>
              </a:rPr>
              <a:t>호의 개정이 필요함  </a:t>
            </a:r>
          </a:p>
        </p:txBody>
      </p:sp>
    </p:spTree>
    <p:extLst>
      <p:ext uri="{BB962C8B-B14F-4D97-AF65-F5344CB8AC3E}">
        <p14:creationId xmlns:p14="http://schemas.microsoft.com/office/powerpoint/2010/main" val="8088771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양쪽 모서리가 둥근 사각형 93"/>
          <p:cNvSpPr/>
          <p:nvPr/>
        </p:nvSpPr>
        <p:spPr>
          <a:xfrm>
            <a:off x="6741763" y="3520830"/>
            <a:ext cx="2739071" cy="363303"/>
          </a:xfrm>
          <a:prstGeom prst="round2SameRect">
            <a:avLst>
              <a:gd name="adj1" fmla="val 50000"/>
              <a:gd name="adj2" fmla="val 0"/>
            </a:avLst>
          </a:prstGeom>
          <a:pattFill prst="dotGrid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외국어특허출원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원출원이</a:t>
            </a:r>
            <a:r>
              <a:rPr lang="ko-KR" altLang="en-US" sz="1400" dirty="0">
                <a:solidFill>
                  <a:schemeClr val="tx2"/>
                </a:solidFill>
              </a:rPr>
              <a:t> 외국어특허출원인 경우에는 그 특허출원에 대한 </a:t>
            </a:r>
            <a:r>
              <a:rPr lang="ko-KR" altLang="en-US" sz="1400" dirty="0" err="1">
                <a:solidFill>
                  <a:schemeClr val="tx2"/>
                </a:solidFill>
              </a:rPr>
              <a:t>국어번역문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42</a:t>
            </a:r>
            <a:r>
              <a:rPr lang="ko-KR" altLang="en-US" sz="1400" dirty="0">
                <a:solidFill>
                  <a:schemeClr val="tx2"/>
                </a:solidFill>
              </a:rPr>
              <a:t>의</a:t>
            </a:r>
            <a:r>
              <a:rPr lang="en-US" altLang="ko-KR" sz="1400" dirty="0">
                <a:solidFill>
                  <a:schemeClr val="tx2"/>
                </a:solidFill>
              </a:rPr>
              <a:t>3②)</a:t>
            </a:r>
            <a:r>
              <a:rPr lang="ko-KR" altLang="en-US" sz="1400" dirty="0">
                <a:solidFill>
                  <a:schemeClr val="tx2"/>
                </a:solidFill>
              </a:rPr>
              <a:t>이 제출된 경우에만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분할출원할</a:t>
            </a:r>
            <a:r>
              <a:rPr lang="ko-KR" altLang="en-US" sz="1400" dirty="0">
                <a:solidFill>
                  <a:schemeClr val="tx2"/>
                </a:solidFill>
              </a:rPr>
              <a:t> 수 있다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52①</a:t>
            </a:r>
            <a:r>
              <a:rPr lang="ko-KR" altLang="en-US" sz="1400" dirty="0">
                <a:solidFill>
                  <a:schemeClr val="tx2"/>
                </a:solidFill>
              </a:rPr>
              <a:t>단서</a:t>
            </a:r>
            <a:r>
              <a:rPr lang="en-US" altLang="ko-KR" sz="1400" dirty="0">
                <a:solidFill>
                  <a:schemeClr val="tx2"/>
                </a:solidFill>
              </a:rPr>
              <a:t>). </a:t>
            </a: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129382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6091856" y="2791326"/>
            <a:ext cx="0" cy="392390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7875" y="1295685"/>
            <a:ext cx="119363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분할출원이</a:t>
            </a:r>
            <a:r>
              <a:rPr lang="ko-KR" altLang="en-US" sz="1400" dirty="0">
                <a:solidFill>
                  <a:schemeClr val="tx2"/>
                </a:solidFill>
              </a:rPr>
              <a:t> 외국어특허출원인 경우에 특허출원인은 </a:t>
            </a:r>
            <a:r>
              <a:rPr lang="ko-KR" altLang="en-US" sz="1400" dirty="0" err="1">
                <a:solidFill>
                  <a:schemeClr val="tx2"/>
                </a:solidFill>
              </a:rPr>
              <a:t>국어번역문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42</a:t>
            </a:r>
            <a:r>
              <a:rPr lang="ko-KR" altLang="en-US" sz="1400" dirty="0">
                <a:solidFill>
                  <a:schemeClr val="tx2"/>
                </a:solidFill>
              </a:rPr>
              <a:t>의</a:t>
            </a:r>
            <a:r>
              <a:rPr lang="en-US" altLang="ko-KR" sz="1400" dirty="0">
                <a:solidFill>
                  <a:schemeClr val="tx2"/>
                </a:solidFill>
              </a:rPr>
              <a:t>3②) </a:t>
            </a:r>
            <a:r>
              <a:rPr lang="ko-KR" altLang="en-US" sz="1400" dirty="0">
                <a:solidFill>
                  <a:schemeClr val="tx2"/>
                </a:solidFill>
              </a:rPr>
              <a:t>또는 새로운 </a:t>
            </a:r>
            <a:r>
              <a:rPr lang="ko-KR" altLang="en-US" sz="1400" dirty="0" err="1">
                <a:solidFill>
                  <a:schemeClr val="tx2"/>
                </a:solidFill>
              </a:rPr>
              <a:t>국어번역문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42</a:t>
            </a:r>
            <a:r>
              <a:rPr lang="ko-KR" altLang="en-US" sz="1400" dirty="0">
                <a:solidFill>
                  <a:schemeClr val="tx2"/>
                </a:solidFill>
              </a:rPr>
              <a:t>의</a:t>
            </a:r>
            <a:r>
              <a:rPr lang="en-US" altLang="ko-KR" sz="1400" dirty="0">
                <a:solidFill>
                  <a:schemeClr val="tx2"/>
                </a:solidFill>
              </a:rPr>
              <a:t>3③</a:t>
            </a:r>
            <a:r>
              <a:rPr lang="ko-KR" altLang="en-US" sz="1400" dirty="0">
                <a:solidFill>
                  <a:schemeClr val="tx2"/>
                </a:solidFill>
              </a:rPr>
              <a:t>본문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을 출원일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우선권주장의 경우 최우선일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로부터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개월이 되는 날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기한 이전에 </a:t>
            </a:r>
            <a:r>
              <a:rPr lang="ko-KR" altLang="en-US" sz="1400" dirty="0" err="1">
                <a:solidFill>
                  <a:schemeClr val="tx2"/>
                </a:solidFill>
              </a:rPr>
              <a:t>출원심사</a:t>
            </a:r>
            <a:r>
              <a:rPr lang="ko-KR" altLang="en-US" sz="1400" dirty="0">
                <a:solidFill>
                  <a:schemeClr val="tx2"/>
                </a:solidFill>
              </a:rPr>
              <a:t> 청구의 취지를 통지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60③)</a:t>
            </a:r>
            <a:r>
              <a:rPr lang="ko-KR" altLang="en-US" sz="1400" dirty="0">
                <a:solidFill>
                  <a:schemeClr val="tx2"/>
                </a:solidFill>
              </a:rPr>
              <a:t>받은 경우에는 그 통지를 받은 날부터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개월이 되는 날 또는 출원일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우선권주장의 경우 최우선일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부터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개월이 되는 날 중 빠른 날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의 기한이 지난 후에도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분할출원을</a:t>
            </a:r>
            <a:r>
              <a:rPr lang="ko-KR" altLang="en-US" sz="1400" dirty="0">
                <a:solidFill>
                  <a:schemeClr val="tx2"/>
                </a:solidFill>
              </a:rPr>
              <a:t> 한 날부터 </a:t>
            </a:r>
            <a:r>
              <a:rPr lang="en-US" altLang="ko-KR" sz="1400" dirty="0">
                <a:solidFill>
                  <a:schemeClr val="tx2"/>
                </a:solidFill>
              </a:rPr>
              <a:t>30</a:t>
            </a:r>
            <a:r>
              <a:rPr lang="ko-KR" altLang="en-US" sz="1400" dirty="0">
                <a:solidFill>
                  <a:schemeClr val="tx2"/>
                </a:solidFill>
              </a:rPr>
              <a:t>일이 되는 날까지는 제출할 수 있다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52⑤</a:t>
            </a:r>
            <a:r>
              <a:rPr lang="ko-KR" altLang="en-US" sz="1400" dirty="0">
                <a:solidFill>
                  <a:schemeClr val="tx2"/>
                </a:solidFill>
              </a:rPr>
              <a:t>본문</a:t>
            </a:r>
            <a:r>
              <a:rPr lang="en-US" altLang="ko-KR" sz="1400" dirty="0">
                <a:solidFill>
                  <a:schemeClr val="tx2"/>
                </a:solidFill>
              </a:rPr>
              <a:t>).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다음의 어느 하나에 해당하는 경우에는 새로운 국어번역문을 제출할 수 없다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52⑤</a:t>
            </a:r>
            <a:r>
              <a:rPr lang="ko-KR" altLang="en-US" sz="1400" dirty="0">
                <a:solidFill>
                  <a:schemeClr val="tx2"/>
                </a:solidFill>
              </a:rPr>
              <a:t>단서</a:t>
            </a:r>
            <a:r>
              <a:rPr lang="en-US" altLang="ko-KR" sz="1400" dirty="0">
                <a:solidFill>
                  <a:schemeClr val="tx2"/>
                </a:solidFill>
              </a:rPr>
              <a:t>).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  ⅰ) </a:t>
            </a:r>
            <a:r>
              <a:rPr lang="ko-KR" altLang="en-US" sz="1400" dirty="0">
                <a:solidFill>
                  <a:schemeClr val="tx2"/>
                </a:solidFill>
              </a:rPr>
              <a:t>명세서 또는 도면을 보정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42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5</a:t>
            </a:r>
            <a:r>
              <a:rPr lang="ko-KR" altLang="en-US" sz="1400" dirty="0">
                <a:solidFill>
                  <a:schemeClr val="tx2"/>
                </a:solidFill>
              </a:rPr>
              <a:t>항에 따라 보정한 것으로 보는 경우는 제외한다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한 경우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  </a:t>
            </a:r>
            <a:r>
              <a:rPr lang="en-US" altLang="ko-KR" sz="1400" dirty="0">
                <a:solidFill>
                  <a:schemeClr val="tx2"/>
                </a:solidFill>
              </a:rPr>
              <a:t>ⅱ) </a:t>
            </a:r>
            <a:r>
              <a:rPr lang="ko-KR" altLang="en-US" sz="1400" dirty="0">
                <a:solidFill>
                  <a:schemeClr val="tx2"/>
                </a:solidFill>
              </a:rPr>
              <a:t>특허출원인이 </a:t>
            </a:r>
            <a:r>
              <a:rPr lang="ko-KR" altLang="en-US" sz="1400" dirty="0" err="1">
                <a:solidFill>
                  <a:schemeClr val="tx2"/>
                </a:solidFill>
              </a:rPr>
              <a:t>출원심사의</a:t>
            </a:r>
            <a:r>
              <a:rPr lang="ko-KR" altLang="en-US" sz="1400" dirty="0">
                <a:solidFill>
                  <a:schemeClr val="tx2"/>
                </a:solidFill>
              </a:rPr>
              <a:t> 청구를 한 경우</a:t>
            </a:r>
            <a:endParaRPr lang="en-US" altLang="ko-KR" sz="1400" dirty="0">
              <a:solidFill>
                <a:schemeClr val="tx2"/>
              </a:solidFill>
            </a:endParaRPr>
          </a:p>
        </p:txBody>
      </p:sp>
      <p:cxnSp>
        <p:nvCxnSpPr>
          <p:cNvPr id="56" name="직선 연결선 55"/>
          <p:cNvCxnSpPr/>
          <p:nvPr/>
        </p:nvCxnSpPr>
        <p:spPr>
          <a:xfrm>
            <a:off x="0" y="267672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자유형 56"/>
          <p:cNvSpPr/>
          <p:nvPr/>
        </p:nvSpPr>
        <p:spPr>
          <a:xfrm>
            <a:off x="7570858" y="3905991"/>
            <a:ext cx="840132" cy="465666"/>
          </a:xfrm>
          <a:custGeom>
            <a:avLst/>
            <a:gdLst>
              <a:gd name="connsiteX0" fmla="*/ 0 w 939800"/>
              <a:gd name="connsiteY0" fmla="*/ 8466 h 465666"/>
              <a:gd name="connsiteX1" fmla="*/ 135466 w 939800"/>
              <a:gd name="connsiteY1" fmla="*/ 465666 h 465666"/>
              <a:gd name="connsiteX2" fmla="*/ 804333 w 939800"/>
              <a:gd name="connsiteY2" fmla="*/ 465666 h 465666"/>
              <a:gd name="connsiteX3" fmla="*/ 939800 w 939800"/>
              <a:gd name="connsiteY3" fmla="*/ 0 h 46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9800" h="465666">
                <a:moveTo>
                  <a:pt x="0" y="8466"/>
                </a:moveTo>
                <a:lnTo>
                  <a:pt x="135466" y="465666"/>
                </a:lnTo>
                <a:lnTo>
                  <a:pt x="804333" y="465666"/>
                </a:lnTo>
                <a:lnTo>
                  <a:pt x="939800" y="0"/>
                </a:lnTo>
              </a:path>
            </a:pathLst>
          </a:custGeom>
          <a:pattFill prst="ltHorz">
            <a:fgClr>
              <a:schemeClr val="accent4"/>
            </a:fgClr>
            <a:bgClr>
              <a:schemeClr val="bg1"/>
            </a:bgClr>
          </a:patt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>
                    <a:lumMod val="50000"/>
                  </a:schemeClr>
                </a:solidFill>
              </a:rPr>
              <a:t>30</a:t>
            </a:r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일</a:t>
            </a:r>
          </a:p>
        </p:txBody>
      </p:sp>
      <p:cxnSp>
        <p:nvCxnSpPr>
          <p:cNvPr id="58" name="직선 연결선 57"/>
          <p:cNvCxnSpPr/>
          <p:nvPr/>
        </p:nvCxnSpPr>
        <p:spPr>
          <a:xfrm>
            <a:off x="6438900" y="3885567"/>
            <a:ext cx="538480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/>
          <p:cNvSpPr/>
          <p:nvPr/>
        </p:nvSpPr>
        <p:spPr>
          <a:xfrm>
            <a:off x="6334976" y="4168415"/>
            <a:ext cx="813575" cy="3387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cxnSp>
        <p:nvCxnSpPr>
          <p:cNvPr id="60" name="직선 화살표 연결선 59"/>
          <p:cNvCxnSpPr>
            <a:stCxn id="59" idx="0"/>
          </p:cNvCxnSpPr>
          <p:nvPr/>
        </p:nvCxnSpPr>
        <p:spPr>
          <a:xfrm flipV="1">
            <a:off x="6741763" y="3885569"/>
            <a:ext cx="0" cy="28284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755317" y="3020721"/>
            <a:ext cx="2451312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일반적인 제출기간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제</a:t>
            </a:r>
            <a:r>
              <a:rPr lang="en-US" altLang="ko-KR" sz="1200" dirty="0"/>
              <a:t>42</a:t>
            </a:r>
            <a:r>
              <a:rPr lang="ko-KR" altLang="en-US" sz="1200" dirty="0"/>
              <a:t>조의</a:t>
            </a:r>
            <a:r>
              <a:rPr lang="en-US" altLang="ko-KR" sz="1200" dirty="0"/>
              <a:t>3</a:t>
            </a:r>
            <a:r>
              <a:rPr lang="ko-KR" altLang="en-US" sz="1200" dirty="0"/>
              <a:t>제</a:t>
            </a:r>
            <a:r>
              <a:rPr lang="en-US" altLang="ko-KR" sz="1200" dirty="0"/>
              <a:t>2</a:t>
            </a:r>
            <a:r>
              <a:rPr lang="ko-KR" altLang="en-US" sz="1200" dirty="0"/>
              <a:t>항 본문</a:t>
            </a:r>
            <a:r>
              <a:rPr lang="en-US" altLang="ko-KR" sz="1200" dirty="0"/>
              <a:t>+</a:t>
            </a:r>
            <a:r>
              <a:rPr lang="ko-KR" altLang="en-US" sz="1200" dirty="0"/>
              <a:t>단서</a:t>
            </a:r>
            <a:r>
              <a:rPr lang="en-US" altLang="ko-KR" sz="1200" dirty="0"/>
              <a:t>, </a:t>
            </a:r>
            <a:r>
              <a:rPr lang="ko-KR" altLang="en-US" sz="1200" dirty="0"/>
              <a:t>제</a:t>
            </a:r>
            <a:r>
              <a:rPr lang="en-US" altLang="ko-KR" sz="1200" dirty="0"/>
              <a:t>3</a:t>
            </a:r>
            <a:r>
              <a:rPr lang="ko-KR" altLang="en-US" sz="1200" dirty="0"/>
              <a:t>항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63" name="직사각형 62"/>
          <p:cNvSpPr/>
          <p:nvPr/>
        </p:nvSpPr>
        <p:spPr>
          <a:xfrm>
            <a:off x="7146399" y="4778021"/>
            <a:ext cx="813575" cy="6853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외국어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분할출원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64" name="직선 화살표 연결선 63"/>
          <p:cNvCxnSpPr>
            <a:stCxn id="63" idx="0"/>
          </p:cNvCxnSpPr>
          <p:nvPr/>
        </p:nvCxnSpPr>
        <p:spPr>
          <a:xfrm flipH="1" flipV="1">
            <a:off x="7544390" y="3914457"/>
            <a:ext cx="8797" cy="86356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직사각형 65"/>
          <p:cNvSpPr/>
          <p:nvPr/>
        </p:nvSpPr>
        <p:spPr>
          <a:xfrm>
            <a:off x="8809899" y="4794979"/>
            <a:ext cx="813575" cy="6683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외국어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분할출원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67" name="직선 화살표 연결선 66"/>
          <p:cNvCxnSpPr>
            <a:stCxn id="66" idx="0"/>
          </p:cNvCxnSpPr>
          <p:nvPr/>
        </p:nvCxnSpPr>
        <p:spPr>
          <a:xfrm flipV="1">
            <a:off x="9216686" y="3885570"/>
            <a:ext cx="0" cy="90940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자유형 67"/>
          <p:cNvSpPr/>
          <p:nvPr/>
        </p:nvSpPr>
        <p:spPr>
          <a:xfrm>
            <a:off x="9216686" y="3905991"/>
            <a:ext cx="840132" cy="465666"/>
          </a:xfrm>
          <a:custGeom>
            <a:avLst/>
            <a:gdLst>
              <a:gd name="connsiteX0" fmla="*/ 0 w 939800"/>
              <a:gd name="connsiteY0" fmla="*/ 8466 h 465666"/>
              <a:gd name="connsiteX1" fmla="*/ 135466 w 939800"/>
              <a:gd name="connsiteY1" fmla="*/ 465666 h 465666"/>
              <a:gd name="connsiteX2" fmla="*/ 804333 w 939800"/>
              <a:gd name="connsiteY2" fmla="*/ 465666 h 465666"/>
              <a:gd name="connsiteX3" fmla="*/ 939800 w 939800"/>
              <a:gd name="connsiteY3" fmla="*/ 0 h 46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9800" h="465666">
                <a:moveTo>
                  <a:pt x="0" y="8466"/>
                </a:moveTo>
                <a:lnTo>
                  <a:pt x="135466" y="465666"/>
                </a:lnTo>
                <a:lnTo>
                  <a:pt x="804333" y="465666"/>
                </a:lnTo>
                <a:lnTo>
                  <a:pt x="939800" y="0"/>
                </a:lnTo>
              </a:path>
            </a:pathLst>
          </a:custGeom>
          <a:pattFill prst="ltHorz">
            <a:fgClr>
              <a:schemeClr val="accent4"/>
            </a:fgClr>
            <a:bgClr>
              <a:schemeClr val="bg1"/>
            </a:bgClr>
          </a:patt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>
                    <a:lumMod val="50000"/>
                  </a:schemeClr>
                </a:solidFill>
              </a:rPr>
              <a:t>30</a:t>
            </a:r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일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31251" y="4425647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58955" y="4392822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16684" y="3695924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899360" y="3704634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81" name="직사각형 80"/>
          <p:cNvSpPr/>
          <p:nvPr/>
        </p:nvSpPr>
        <p:spPr>
          <a:xfrm>
            <a:off x="10132641" y="4794979"/>
            <a:ext cx="813575" cy="6683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외국어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분할출원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82" name="직선 화살표 연결선 81"/>
          <p:cNvCxnSpPr>
            <a:stCxn id="81" idx="0"/>
          </p:cNvCxnSpPr>
          <p:nvPr/>
        </p:nvCxnSpPr>
        <p:spPr>
          <a:xfrm flipV="1">
            <a:off x="10539428" y="3885570"/>
            <a:ext cx="0" cy="90940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자유형 82"/>
          <p:cNvSpPr/>
          <p:nvPr/>
        </p:nvSpPr>
        <p:spPr>
          <a:xfrm>
            <a:off x="10539428" y="3905991"/>
            <a:ext cx="840132" cy="465666"/>
          </a:xfrm>
          <a:custGeom>
            <a:avLst/>
            <a:gdLst>
              <a:gd name="connsiteX0" fmla="*/ 0 w 939800"/>
              <a:gd name="connsiteY0" fmla="*/ 8466 h 465666"/>
              <a:gd name="connsiteX1" fmla="*/ 135466 w 939800"/>
              <a:gd name="connsiteY1" fmla="*/ 465666 h 465666"/>
              <a:gd name="connsiteX2" fmla="*/ 804333 w 939800"/>
              <a:gd name="connsiteY2" fmla="*/ 465666 h 465666"/>
              <a:gd name="connsiteX3" fmla="*/ 939800 w 939800"/>
              <a:gd name="connsiteY3" fmla="*/ 0 h 46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9800" h="465666">
                <a:moveTo>
                  <a:pt x="0" y="8466"/>
                </a:moveTo>
                <a:lnTo>
                  <a:pt x="135466" y="465666"/>
                </a:lnTo>
                <a:lnTo>
                  <a:pt x="804333" y="465666"/>
                </a:lnTo>
                <a:lnTo>
                  <a:pt x="939800" y="0"/>
                </a:lnTo>
              </a:path>
            </a:pathLst>
          </a:custGeom>
          <a:pattFill prst="ltHorz">
            <a:fgClr>
              <a:schemeClr val="accent4"/>
            </a:fgClr>
            <a:bgClr>
              <a:schemeClr val="bg1"/>
            </a:bgClr>
          </a:patt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>
                    <a:lumMod val="50000"/>
                  </a:schemeClr>
                </a:solidFill>
              </a:rPr>
              <a:t>30</a:t>
            </a:r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일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353993" y="4425647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❸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199404" y="3695864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❸</a:t>
            </a:r>
          </a:p>
        </p:txBody>
      </p:sp>
      <p:sp>
        <p:nvSpPr>
          <p:cNvPr id="161" name="양쪽 모서리가 둥근 사각형 160"/>
          <p:cNvSpPr/>
          <p:nvPr/>
        </p:nvSpPr>
        <p:spPr>
          <a:xfrm>
            <a:off x="758841" y="3520830"/>
            <a:ext cx="2739071" cy="363303"/>
          </a:xfrm>
          <a:prstGeom prst="round2SameRect">
            <a:avLst>
              <a:gd name="adj1" fmla="val 50000"/>
              <a:gd name="adj2" fmla="val 0"/>
            </a:avLst>
          </a:prstGeom>
          <a:pattFill prst="dotGrid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3" name="직선 연결선 162"/>
          <p:cNvCxnSpPr/>
          <p:nvPr/>
        </p:nvCxnSpPr>
        <p:spPr>
          <a:xfrm>
            <a:off x="455978" y="3885567"/>
            <a:ext cx="538480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직사각형 163"/>
          <p:cNvSpPr/>
          <p:nvPr/>
        </p:nvSpPr>
        <p:spPr>
          <a:xfrm>
            <a:off x="352054" y="4168414"/>
            <a:ext cx="813575" cy="5937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외국어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cxnSp>
        <p:nvCxnSpPr>
          <p:cNvPr id="165" name="직선 화살표 연결선 164"/>
          <p:cNvCxnSpPr>
            <a:stCxn id="164" idx="0"/>
          </p:cNvCxnSpPr>
          <p:nvPr/>
        </p:nvCxnSpPr>
        <p:spPr>
          <a:xfrm flipV="1">
            <a:off x="758842" y="3885570"/>
            <a:ext cx="0" cy="28284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>
            <a:off x="772395" y="3020721"/>
            <a:ext cx="2451312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일반적인 제출기간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제</a:t>
            </a:r>
            <a:r>
              <a:rPr lang="en-US" altLang="ko-KR" sz="1200" dirty="0"/>
              <a:t>42</a:t>
            </a:r>
            <a:r>
              <a:rPr lang="ko-KR" altLang="en-US" sz="1200" dirty="0"/>
              <a:t>조의</a:t>
            </a:r>
            <a:r>
              <a:rPr lang="en-US" altLang="ko-KR" sz="1200" dirty="0"/>
              <a:t>3</a:t>
            </a:r>
            <a:r>
              <a:rPr lang="ko-KR" altLang="en-US" sz="1200" dirty="0"/>
              <a:t>제</a:t>
            </a:r>
            <a:r>
              <a:rPr lang="en-US" altLang="ko-KR" sz="1200" dirty="0"/>
              <a:t>2</a:t>
            </a:r>
            <a:r>
              <a:rPr lang="ko-KR" altLang="en-US" sz="1200" dirty="0"/>
              <a:t>항 본문</a:t>
            </a:r>
            <a:r>
              <a:rPr lang="en-US" altLang="ko-KR" sz="1200" dirty="0"/>
              <a:t>+</a:t>
            </a:r>
            <a:r>
              <a:rPr lang="ko-KR" altLang="en-US" sz="1200" dirty="0"/>
              <a:t>단서</a:t>
            </a:r>
            <a:r>
              <a:rPr lang="en-US" altLang="ko-KR" sz="1200" dirty="0"/>
              <a:t>, </a:t>
            </a:r>
            <a:r>
              <a:rPr lang="ko-KR" altLang="en-US" sz="1200" dirty="0"/>
              <a:t>제</a:t>
            </a:r>
            <a:r>
              <a:rPr lang="en-US" altLang="ko-KR" sz="1200" dirty="0"/>
              <a:t>3</a:t>
            </a:r>
            <a:r>
              <a:rPr lang="ko-KR" altLang="en-US" sz="1200" dirty="0"/>
              <a:t>항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76" name="직사각형 175"/>
          <p:cNvSpPr/>
          <p:nvPr/>
        </p:nvSpPr>
        <p:spPr>
          <a:xfrm>
            <a:off x="4149719" y="4794979"/>
            <a:ext cx="813575" cy="6683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분할출원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177" name="직선 화살표 연결선 176"/>
          <p:cNvCxnSpPr>
            <a:stCxn id="176" idx="0"/>
          </p:cNvCxnSpPr>
          <p:nvPr/>
        </p:nvCxnSpPr>
        <p:spPr>
          <a:xfrm flipV="1">
            <a:off x="4556506" y="3885570"/>
            <a:ext cx="0" cy="90940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직사각형 180"/>
          <p:cNvSpPr/>
          <p:nvPr/>
        </p:nvSpPr>
        <p:spPr>
          <a:xfrm>
            <a:off x="2128787" y="4168414"/>
            <a:ext cx="813575" cy="5937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번역문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제출</a:t>
            </a:r>
          </a:p>
        </p:txBody>
      </p:sp>
      <p:cxnSp>
        <p:nvCxnSpPr>
          <p:cNvPr id="182" name="직선 화살표 연결선 181"/>
          <p:cNvCxnSpPr>
            <a:stCxn id="181" idx="0"/>
          </p:cNvCxnSpPr>
          <p:nvPr/>
        </p:nvCxnSpPr>
        <p:spPr>
          <a:xfrm flipV="1">
            <a:off x="2535575" y="3885570"/>
            <a:ext cx="0" cy="28284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/>
          <p:cNvSpPr/>
          <p:nvPr/>
        </p:nvSpPr>
        <p:spPr>
          <a:xfrm>
            <a:off x="2992448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보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3619201" y="6181761"/>
            <a:ext cx="514350" cy="51435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45954" y="6181761"/>
            <a:ext cx="514350" cy="514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변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4861758" y="6181761"/>
            <a:ext cx="514350" cy="514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심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5452308" y="6181761"/>
            <a:ext cx="514350" cy="514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200</a:t>
            </a:fld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32F5585-A439-4024-BBCC-BD51CFDB60B3}"/>
              </a:ext>
            </a:extLst>
          </p:cNvPr>
          <p:cNvSpPr/>
          <p:nvPr/>
        </p:nvSpPr>
        <p:spPr>
          <a:xfrm>
            <a:off x="10949552" y="6181761"/>
            <a:ext cx="514350" cy="51435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dirty="0"/>
              <a:t>우</a:t>
            </a:r>
            <a:endParaRPr lang="en-US" altLang="ko-KR" dirty="0"/>
          </a:p>
          <a:p>
            <a:pPr algn="ctr"/>
            <a:r>
              <a:rPr lang="en-US" altLang="ko-KR" sz="1200" dirty="0"/>
              <a:t>(30</a:t>
            </a:r>
            <a:r>
              <a:rPr lang="ko-KR" altLang="en-US" sz="1200" dirty="0"/>
              <a:t>일</a:t>
            </a:r>
            <a:r>
              <a:rPr lang="en-US" altLang="ko-KR" sz="1200" dirty="0"/>
              <a:t>)</a:t>
            </a:r>
            <a:endParaRPr lang="ko-KR" altLang="en-US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1C5C1AE-34C9-4003-BAEF-AE133E80987D}"/>
              </a:ext>
            </a:extLst>
          </p:cNvPr>
          <p:cNvSpPr/>
          <p:nvPr/>
        </p:nvSpPr>
        <p:spPr>
          <a:xfrm>
            <a:off x="9779098" y="6181761"/>
            <a:ext cx="514350" cy="514350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dirty="0"/>
              <a:t>번</a:t>
            </a:r>
            <a:endParaRPr lang="en-US" altLang="ko-KR" dirty="0"/>
          </a:p>
          <a:p>
            <a:pPr algn="ctr"/>
            <a:r>
              <a:rPr lang="en-US" altLang="ko-KR" sz="1200" dirty="0"/>
              <a:t>(30</a:t>
            </a:r>
            <a:r>
              <a:rPr lang="ko-KR" altLang="en-US" sz="1200" dirty="0"/>
              <a:t>일</a:t>
            </a:r>
            <a:r>
              <a:rPr lang="en-US" altLang="ko-KR" sz="1200" dirty="0"/>
              <a:t>)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B51DC4D-D4C9-4A80-8A8B-9E8C316FF9B3}"/>
              </a:ext>
            </a:extLst>
          </p:cNvPr>
          <p:cNvSpPr/>
          <p:nvPr/>
        </p:nvSpPr>
        <p:spPr>
          <a:xfrm>
            <a:off x="10366424" y="6181761"/>
            <a:ext cx="514350" cy="51435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dirty="0"/>
              <a:t>조</a:t>
            </a:r>
            <a:endParaRPr lang="en-US" altLang="ko-KR" dirty="0"/>
          </a:p>
          <a:p>
            <a:pPr algn="ctr"/>
            <a:r>
              <a:rPr lang="en-US" altLang="ko-KR" sz="1200" dirty="0"/>
              <a:t>(3</a:t>
            </a:r>
            <a:r>
              <a:rPr lang="ko-KR" altLang="en-US" sz="1200" dirty="0"/>
              <a:t>개월</a:t>
            </a:r>
            <a:r>
              <a:rPr lang="en-US" altLang="ko-KR" sz="1200" dirty="0"/>
              <a:t>)</a:t>
            </a:r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C122D52-973A-4FB1-BAAF-ECBDA5D2702D}"/>
              </a:ext>
            </a:extLst>
          </p:cNvPr>
          <p:cNvSpPr/>
          <p:nvPr/>
        </p:nvSpPr>
        <p:spPr>
          <a:xfrm>
            <a:off x="9192401" y="6181761"/>
            <a:ext cx="514350" cy="51435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dirty="0"/>
              <a:t>청</a:t>
            </a:r>
            <a:endParaRPr lang="en-US" altLang="ko-KR" dirty="0"/>
          </a:p>
          <a:p>
            <a:pPr algn="ctr"/>
            <a:r>
              <a:rPr lang="en-US" altLang="ko-KR" sz="1200" dirty="0"/>
              <a:t>(30</a:t>
            </a:r>
            <a:r>
              <a:rPr lang="ko-KR" altLang="en-US" sz="1200" dirty="0"/>
              <a:t>일</a:t>
            </a:r>
            <a:r>
              <a:rPr lang="en-US" altLang="ko-KR" sz="1200" dirty="0"/>
              <a:t>)</a:t>
            </a:r>
            <a:endParaRPr lang="ko-KR" altLang="en-US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D7AF2C5-240B-4F10-AEFD-32955E2988B6}"/>
              </a:ext>
            </a:extLst>
          </p:cNvPr>
          <p:cNvSpPr/>
          <p:nvPr/>
        </p:nvSpPr>
        <p:spPr>
          <a:xfrm>
            <a:off x="11526108" y="6181761"/>
            <a:ext cx="514350" cy="51435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dirty="0"/>
              <a:t>심</a:t>
            </a:r>
            <a:endParaRPr lang="en-US" altLang="ko-KR" dirty="0"/>
          </a:p>
          <a:p>
            <a:pPr algn="ctr"/>
            <a:r>
              <a:rPr lang="en-US" altLang="ko-KR" sz="1200" dirty="0"/>
              <a:t>(30</a:t>
            </a:r>
            <a:r>
              <a:rPr lang="ko-KR" altLang="en-US" sz="1200" dirty="0"/>
              <a:t>일</a:t>
            </a:r>
            <a:r>
              <a:rPr lang="en-US" altLang="ko-KR" sz="1200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63116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직사각형 107"/>
          <p:cNvSpPr/>
          <p:nvPr/>
        </p:nvSpPr>
        <p:spPr>
          <a:xfrm>
            <a:off x="809464" y="3680791"/>
            <a:ext cx="4041935" cy="26311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분할출원을</a:t>
            </a:r>
            <a:r>
              <a:rPr lang="ko-KR" altLang="en-US" dirty="0"/>
              <a:t> 기초로 한 </a:t>
            </a:r>
            <a:r>
              <a:rPr lang="ko-KR" altLang="en-US" dirty="0" err="1"/>
              <a:t>분할출원</a:t>
            </a:r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원출원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이하 “父출원”이라 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으로부터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이하 “子출원”이라 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하고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다시 子출원을 </a:t>
            </a:r>
            <a:r>
              <a:rPr lang="ko-KR" altLang="en-US" sz="1400" dirty="0" err="1">
                <a:solidFill>
                  <a:schemeClr val="tx2"/>
                </a:solidFill>
              </a:rPr>
              <a:t>원출원으로</a:t>
            </a:r>
            <a:r>
              <a:rPr lang="ko-KR" altLang="en-US" sz="1400" dirty="0">
                <a:solidFill>
                  <a:schemeClr val="tx2"/>
                </a:solidFill>
              </a:rPr>
              <a:t> 하여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이하 “孫子출원”이라 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하였을 때 </a:t>
            </a:r>
            <a:r>
              <a:rPr lang="en-US" altLang="ko-KR" sz="1400" dirty="0">
                <a:solidFill>
                  <a:schemeClr val="tx2"/>
                </a:solidFill>
              </a:rPr>
              <a:t>ⅰ) </a:t>
            </a:r>
            <a:r>
              <a:rPr lang="ko-KR" altLang="en-US" sz="1400" dirty="0">
                <a:solidFill>
                  <a:schemeClr val="tx2"/>
                </a:solidFill>
              </a:rPr>
              <a:t>孫子출원이 子출원에 대하여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분할출원의</a:t>
            </a:r>
            <a:r>
              <a:rPr lang="ko-KR" altLang="en-US" sz="1400" dirty="0">
                <a:solidFill>
                  <a:schemeClr val="tx2"/>
                </a:solidFill>
              </a:rPr>
              <a:t> 요건을 충족할 것</a:t>
            </a:r>
            <a:r>
              <a:rPr lang="en-US" altLang="ko-KR" sz="1400" dirty="0">
                <a:solidFill>
                  <a:schemeClr val="tx2"/>
                </a:solidFill>
              </a:rPr>
              <a:t>, ⅱ) </a:t>
            </a:r>
            <a:r>
              <a:rPr lang="ko-KR" altLang="en-US" sz="1400" dirty="0">
                <a:solidFill>
                  <a:schemeClr val="tx2"/>
                </a:solidFill>
              </a:rPr>
              <a:t>子출원이 父출원에 대하여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분할출원의</a:t>
            </a:r>
            <a:r>
              <a:rPr lang="ko-KR" altLang="en-US" sz="1400" dirty="0">
                <a:solidFill>
                  <a:schemeClr val="tx2"/>
                </a:solidFill>
              </a:rPr>
              <a:t> 요건을 충족할 것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ⅲ)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孫子출원의 명세서 또는 도면에 기재된 발명이 父출원의 최초 명세서 또는 도면에 기재된 범위 이내일 것</a:t>
            </a:r>
            <a:r>
              <a:rPr lang="ko-KR" altLang="en-US" sz="1400" dirty="0">
                <a:solidFill>
                  <a:schemeClr val="tx2"/>
                </a:solidFill>
              </a:rPr>
              <a:t>을 만족하는 경우 孫子출원의 </a:t>
            </a:r>
            <a:r>
              <a:rPr lang="ko-KR" altLang="en-US" sz="1400" dirty="0" err="1">
                <a:solidFill>
                  <a:schemeClr val="tx2"/>
                </a:solidFill>
              </a:rPr>
              <a:t>출원일은</a:t>
            </a:r>
            <a:r>
              <a:rPr lang="ko-KR" altLang="en-US" sz="1400" dirty="0">
                <a:solidFill>
                  <a:schemeClr val="tx2"/>
                </a:solidFill>
              </a:rPr>
              <a:t> 父출원의 </a:t>
            </a:r>
            <a:r>
              <a:rPr lang="ko-KR" altLang="en-US" sz="1400" dirty="0" err="1">
                <a:solidFill>
                  <a:schemeClr val="tx2"/>
                </a:solidFill>
              </a:rPr>
              <a:t>출원일로</a:t>
            </a:r>
            <a:r>
              <a:rPr lang="ko-KR" altLang="en-US" sz="1400" dirty="0">
                <a:solidFill>
                  <a:schemeClr val="tx2"/>
                </a:solidFill>
              </a:rPr>
              <a:t> 소급한다</a:t>
            </a:r>
            <a:r>
              <a:rPr lang="en-US" altLang="ko-KR" sz="1400" dirty="0">
                <a:solidFill>
                  <a:schemeClr val="tx2"/>
                </a:solidFill>
              </a:rPr>
              <a:t>.  </a:t>
            </a:r>
            <a:r>
              <a:rPr lang="ko-KR" altLang="en-US" sz="1400" dirty="0">
                <a:solidFill>
                  <a:schemeClr val="tx2"/>
                </a:solidFill>
              </a:rPr>
              <a:t>이는 </a:t>
            </a:r>
            <a:r>
              <a:rPr lang="ko-KR" altLang="en-US" sz="1400" dirty="0" err="1">
                <a:solidFill>
                  <a:schemeClr val="tx2"/>
                </a:solidFill>
              </a:rPr>
              <a:t>출원인이</a:t>
            </a:r>
            <a:r>
              <a:rPr lang="ko-KR" altLang="en-US" sz="1400" dirty="0">
                <a:solidFill>
                  <a:schemeClr val="tx2"/>
                </a:solidFill>
              </a:rPr>
              <a:t> 父출원을 기초로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분할출원을</a:t>
            </a:r>
            <a:r>
              <a:rPr lang="ko-KR" altLang="en-US" sz="1400" dirty="0">
                <a:solidFill>
                  <a:schemeClr val="tx2"/>
                </a:solidFill>
              </a:rPr>
              <a:t> 할 수 없는 경우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예컨대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분할출원의</a:t>
            </a:r>
            <a:r>
              <a:rPr lang="ko-KR" altLang="en-US" sz="1400" dirty="0">
                <a:solidFill>
                  <a:schemeClr val="tx2"/>
                </a:solidFill>
              </a:rPr>
              <a:t> 시기적 제한 때문에 父출원으로부터 출원의 분할을 할 수는 없으나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子출원으로부터 출원의 분할이 가능한 경우 등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 실효성이 있다할 것이다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215742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연결선 162"/>
          <p:cNvCxnSpPr/>
          <p:nvPr/>
        </p:nvCxnSpPr>
        <p:spPr>
          <a:xfrm>
            <a:off x="952500" y="3447417"/>
            <a:ext cx="1051560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/>
          <p:cNvSpPr/>
          <p:nvPr/>
        </p:nvSpPr>
        <p:spPr>
          <a:xfrm>
            <a:off x="3074012" y="2908686"/>
            <a:ext cx="1561488" cy="2501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X </a:t>
            </a:r>
            <a:r>
              <a:rPr lang="ko-KR" altLang="en-US" sz="1200" dirty="0">
                <a:solidFill>
                  <a:schemeClr val="tx1"/>
                </a:solidFill>
              </a:rPr>
              <a:t>기초 </a:t>
            </a:r>
            <a:r>
              <a:rPr lang="ko-KR" altLang="en-US" sz="1200" dirty="0" err="1">
                <a:solidFill>
                  <a:schemeClr val="tx1"/>
                </a:solidFill>
              </a:rPr>
              <a:t>분할출원</a:t>
            </a:r>
            <a:r>
              <a:rPr lang="en-US" altLang="ko-KR" sz="1200" dirty="0">
                <a:solidFill>
                  <a:schemeClr val="tx1"/>
                </a:solidFill>
              </a:rPr>
              <a:t>(Y)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3074013" y="2471615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3074013" y="2666533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B, C, D, 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7125312" y="2908686"/>
            <a:ext cx="1561488" cy="25019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Y </a:t>
            </a:r>
            <a:r>
              <a:rPr lang="ko-KR" altLang="en-US" sz="1200" dirty="0">
                <a:solidFill>
                  <a:schemeClr val="tx1"/>
                </a:solidFill>
              </a:rPr>
              <a:t>기초 </a:t>
            </a:r>
            <a:r>
              <a:rPr lang="ko-KR" altLang="en-US" sz="1200" dirty="0" err="1">
                <a:solidFill>
                  <a:schemeClr val="tx1"/>
                </a:solidFill>
              </a:rPr>
              <a:t>분할출원</a:t>
            </a:r>
            <a:r>
              <a:rPr lang="en-US" altLang="ko-KR" sz="1200" dirty="0">
                <a:solidFill>
                  <a:schemeClr val="tx1"/>
                </a:solidFill>
              </a:rPr>
              <a:t>(Z)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7125313" y="2471615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7125313" y="2666533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C, D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9157312" y="2908686"/>
            <a:ext cx="1561488" cy="2501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Y </a:t>
            </a:r>
            <a:r>
              <a:rPr lang="ko-KR" altLang="en-US" sz="1200" dirty="0">
                <a:solidFill>
                  <a:schemeClr val="tx1"/>
                </a:solidFill>
              </a:rPr>
              <a:t>기초 </a:t>
            </a:r>
            <a:r>
              <a:rPr lang="ko-KR" altLang="en-US" sz="1200" dirty="0" err="1">
                <a:solidFill>
                  <a:schemeClr val="tx1"/>
                </a:solidFill>
              </a:rPr>
              <a:t>분할출원</a:t>
            </a:r>
            <a:r>
              <a:rPr lang="en-US" altLang="ko-KR" sz="1200" dirty="0">
                <a:solidFill>
                  <a:schemeClr val="tx1"/>
                </a:solidFill>
              </a:rPr>
              <a:t>(W)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9157313" y="2471615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9157313" y="2666533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5093310" y="2908686"/>
            <a:ext cx="1561488" cy="2501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(Y)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5093311" y="2471615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5093311" y="2666533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B, C, D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85" name="직선 화살표 연결선 84"/>
          <p:cNvCxnSpPr>
            <a:stCxn id="55" idx="2"/>
          </p:cNvCxnSpPr>
          <p:nvPr/>
        </p:nvCxnSpPr>
        <p:spPr>
          <a:xfrm flipH="1">
            <a:off x="3854755" y="3158881"/>
            <a:ext cx="1" cy="23923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/>
          <p:cNvCxnSpPr/>
          <p:nvPr/>
        </p:nvCxnSpPr>
        <p:spPr>
          <a:xfrm flipH="1">
            <a:off x="5855307" y="3158881"/>
            <a:ext cx="1" cy="23923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/>
          <p:cNvCxnSpPr/>
          <p:nvPr/>
        </p:nvCxnSpPr>
        <p:spPr>
          <a:xfrm flipH="1">
            <a:off x="7868558" y="3158881"/>
            <a:ext cx="1" cy="23923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/>
          <p:cNvCxnSpPr/>
          <p:nvPr/>
        </p:nvCxnSpPr>
        <p:spPr>
          <a:xfrm flipH="1">
            <a:off x="9932612" y="3158881"/>
            <a:ext cx="1" cy="23923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1822755" y="3447417"/>
            <a:ext cx="0" cy="300418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/>
          <p:cNvSpPr/>
          <p:nvPr/>
        </p:nvSpPr>
        <p:spPr>
          <a:xfrm>
            <a:off x="1042011" y="2908686"/>
            <a:ext cx="1561488" cy="250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원출원</a:t>
            </a:r>
            <a:r>
              <a:rPr lang="en-US" altLang="ko-KR" sz="1200" dirty="0">
                <a:solidFill>
                  <a:schemeClr val="tx1"/>
                </a:solidFill>
              </a:rPr>
              <a:t>(X)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1042012" y="2471615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1042012" y="2666533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B, C, D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5" name="직선 화살표 연결선 94"/>
          <p:cNvCxnSpPr>
            <a:stCxn id="90" idx="2"/>
          </p:cNvCxnSpPr>
          <p:nvPr/>
        </p:nvCxnSpPr>
        <p:spPr>
          <a:xfrm flipH="1">
            <a:off x="1822754" y="3158881"/>
            <a:ext cx="1" cy="23923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/>
          <p:cNvSpPr/>
          <p:nvPr/>
        </p:nvSpPr>
        <p:spPr>
          <a:xfrm>
            <a:off x="1042011" y="4446217"/>
            <a:ext cx="1561488" cy="2501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출원</a:t>
            </a:r>
            <a:r>
              <a:rPr lang="en-US" altLang="ko-KR" sz="1200" dirty="0">
                <a:solidFill>
                  <a:schemeClr val="tx1"/>
                </a:solidFill>
              </a:rPr>
              <a:t>(Y)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042012" y="4009146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1042012" y="4204064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B, C, D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1042010" y="5370014"/>
            <a:ext cx="1561488" cy="25019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  <a:r>
              <a:rPr lang="en-US" altLang="ko-KR" sz="1200" dirty="0">
                <a:solidFill>
                  <a:schemeClr val="tx1"/>
                </a:solidFill>
              </a:rPr>
              <a:t>(Z)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1042011" y="4932943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1042011" y="5127861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C, D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03" name="직선 연결선 102"/>
          <p:cNvCxnSpPr/>
          <p:nvPr/>
        </p:nvCxnSpPr>
        <p:spPr>
          <a:xfrm>
            <a:off x="3854755" y="3447417"/>
            <a:ext cx="0" cy="300418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직사각형 103"/>
          <p:cNvSpPr/>
          <p:nvPr/>
        </p:nvSpPr>
        <p:spPr>
          <a:xfrm>
            <a:off x="3086099" y="4439876"/>
            <a:ext cx="1561488" cy="2501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  <a:r>
              <a:rPr lang="en-US" altLang="ko-KR" sz="1200" dirty="0">
                <a:solidFill>
                  <a:schemeClr val="tx1"/>
                </a:solidFill>
              </a:rPr>
              <a:t>(W)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5" name="직사각형 104"/>
          <p:cNvSpPr/>
          <p:nvPr/>
        </p:nvSpPr>
        <p:spPr>
          <a:xfrm>
            <a:off x="3086100" y="4002805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3086100" y="4197723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24550" y="5905431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효과</a:t>
            </a:r>
          </a:p>
        </p:txBody>
      </p:sp>
      <p:cxnSp>
        <p:nvCxnSpPr>
          <p:cNvPr id="17" name="직선 화살표 연결선 16"/>
          <p:cNvCxnSpPr>
            <a:stCxn id="78" idx="1"/>
          </p:cNvCxnSpPr>
          <p:nvPr/>
        </p:nvCxnSpPr>
        <p:spPr>
          <a:xfrm flipH="1" flipV="1">
            <a:off x="4647585" y="3033783"/>
            <a:ext cx="445725" cy="1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화살표 연결선 108"/>
          <p:cNvCxnSpPr>
            <a:stCxn id="55" idx="1"/>
          </p:cNvCxnSpPr>
          <p:nvPr/>
        </p:nvCxnSpPr>
        <p:spPr>
          <a:xfrm flipH="1">
            <a:off x="2615584" y="3033784"/>
            <a:ext cx="458428" cy="1553775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/>
          <p:cNvCxnSpPr>
            <a:stCxn id="70" idx="1"/>
          </p:cNvCxnSpPr>
          <p:nvPr/>
        </p:nvCxnSpPr>
        <p:spPr>
          <a:xfrm flipH="1">
            <a:off x="2641289" y="3033784"/>
            <a:ext cx="4484023" cy="2461327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/>
          <p:cNvCxnSpPr>
            <a:stCxn id="75" idx="1"/>
          </p:cNvCxnSpPr>
          <p:nvPr/>
        </p:nvCxnSpPr>
        <p:spPr>
          <a:xfrm flipH="1">
            <a:off x="4686982" y="3033784"/>
            <a:ext cx="4470330" cy="1531189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모서리가 둥근 사각형 설명선 23"/>
          <p:cNvSpPr/>
          <p:nvPr/>
        </p:nvSpPr>
        <p:spPr>
          <a:xfrm>
            <a:off x="5855307" y="4539145"/>
            <a:ext cx="3695094" cy="349512"/>
          </a:xfrm>
          <a:prstGeom prst="wedgeRoundRectCallout">
            <a:avLst>
              <a:gd name="adj1" fmla="val 8725"/>
              <a:gd name="adj2" fmla="val -438943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X</a:t>
            </a:r>
            <a:r>
              <a:rPr lang="ko-KR" altLang="en-US" sz="1400" dirty="0">
                <a:solidFill>
                  <a:schemeClr val="tx1"/>
                </a:solidFill>
              </a:rPr>
              <a:t>를 기초로 </a:t>
            </a:r>
            <a:r>
              <a:rPr lang="ko-KR" altLang="en-US" sz="1400" dirty="0" err="1">
                <a:solidFill>
                  <a:schemeClr val="tx1"/>
                </a:solidFill>
              </a:rPr>
              <a:t>분할출원하더라도</a:t>
            </a:r>
            <a:r>
              <a:rPr lang="ko-KR" altLang="en-US" sz="1400" dirty="0">
                <a:solidFill>
                  <a:schemeClr val="tx1"/>
                </a:solidFill>
              </a:rPr>
              <a:t> 동일한 효과 발생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92306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양쪽 모서리가 둥근 사각형 93">
            <a:extLst>
              <a:ext uri="{FF2B5EF4-FFF2-40B4-BE49-F238E27FC236}">
                <a16:creationId xmlns:a16="http://schemas.microsoft.com/office/drawing/2014/main" id="{C16F8692-2ADE-6E85-F47D-E100403BAE13}"/>
              </a:ext>
            </a:extLst>
          </p:cNvPr>
          <p:cNvSpPr/>
          <p:nvPr/>
        </p:nvSpPr>
        <p:spPr>
          <a:xfrm>
            <a:off x="7543477" y="2031146"/>
            <a:ext cx="3600240" cy="544391"/>
          </a:xfrm>
          <a:prstGeom prst="round2SameRect">
            <a:avLst>
              <a:gd name="adj1" fmla="val 50000"/>
              <a:gd name="adj2" fmla="val 0"/>
            </a:avLst>
          </a:prstGeom>
          <a:pattFill prst="dotGrid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  <a:r>
              <a:rPr lang="en-US" altLang="ko-KR" dirty="0"/>
              <a:t>,</a:t>
            </a:r>
            <a:r>
              <a:rPr lang="ko-KR" altLang="en-US" dirty="0"/>
              <a:t> 제</a:t>
            </a:r>
            <a:r>
              <a:rPr lang="en-US" altLang="ko-KR" dirty="0"/>
              <a:t>36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분할출원과 원출원의 심판청구가 동시에 진행 중인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cxnSp>
        <p:nvCxnSpPr>
          <p:cNvPr id="28" name="직선 연결선 27"/>
          <p:cNvCxnSpPr/>
          <p:nvPr/>
        </p:nvCxnSpPr>
        <p:spPr>
          <a:xfrm>
            <a:off x="65" y="1499709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875" y="976902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  <a:latin typeface="+mn-ea"/>
              </a:rPr>
              <a:t>심판청구없이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  <a:latin typeface="+mn-ea"/>
              </a:rPr>
              <a:t> 분할출원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  <a:latin typeface="+mn-ea"/>
              </a:rPr>
              <a:t>(16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  <a:latin typeface="+mn-ea"/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  <a:latin typeface="+mn-ea"/>
              </a:rPr>
              <a:t>~20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  <a:latin typeface="+mn-ea"/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하는 경우에는 즉시 특허결정이 가능하다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  <a:latin typeface="+mn-ea"/>
              </a:rPr>
              <a:t>분할출원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  <a:latin typeface="+mn-ea"/>
              </a:rPr>
              <a:t>(16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  <a:latin typeface="+mn-ea"/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  <a:latin typeface="+mn-ea"/>
              </a:rPr>
              <a:t>~20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  <a:latin typeface="+mn-ea"/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  <a:latin typeface="+mn-ea"/>
              </a:rPr>
              <a:t>과 심판청구를 같이 하는 경우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에는 심판결과가 확정된 후에 분할출원에 대한 특허여부를 결정한다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심판결과 인용되어 원출원에 대한 거절결정이 취소되면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협의제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협의명령에 의함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).</a:t>
            </a:r>
          </a:p>
        </p:txBody>
      </p:sp>
      <p:cxnSp>
        <p:nvCxnSpPr>
          <p:cNvPr id="30" name="직선 화살표 연결선 29"/>
          <p:cNvCxnSpPr>
            <a:cxnSpLocks/>
          </p:cNvCxnSpPr>
          <p:nvPr/>
        </p:nvCxnSpPr>
        <p:spPr>
          <a:xfrm>
            <a:off x="457898" y="2593903"/>
            <a:ext cx="11276902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14"/>
          <p:cNvSpPr>
            <a:spLocks noChangeArrowheads="1"/>
          </p:cNvSpPr>
          <p:nvPr/>
        </p:nvSpPr>
        <p:spPr bwMode="auto">
          <a:xfrm>
            <a:off x="2480517" y="2404875"/>
            <a:ext cx="1089044" cy="359005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  <a:latin typeface="+mn-ea"/>
              </a:rPr>
              <a:t>거절결정</a:t>
            </a:r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(X)</a:t>
            </a:r>
            <a:endParaRPr lang="ko-KR" altLang="en-US" sz="1200" b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3" name="Rectangle 14"/>
          <p:cNvSpPr>
            <a:spLocks noChangeArrowheads="1"/>
          </p:cNvSpPr>
          <p:nvPr/>
        </p:nvSpPr>
        <p:spPr bwMode="auto">
          <a:xfrm>
            <a:off x="4324174" y="2404875"/>
            <a:ext cx="1089044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 dirty="0">
                <a:latin typeface="+mn-ea"/>
              </a:rPr>
              <a:t>재심사청구</a:t>
            </a:r>
            <a:r>
              <a:rPr lang="en-US" altLang="ko-KR" sz="1200" b="0" dirty="0">
                <a:latin typeface="+mn-ea"/>
              </a:rPr>
              <a:t>(X)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681090" y="2404875"/>
            <a:ext cx="1089044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n-ea"/>
              </a:rPr>
              <a:t>최초출원</a:t>
            </a:r>
            <a:r>
              <a:rPr lang="en-US" altLang="ko-KR" sz="1200" dirty="0">
                <a:latin typeface="+mn-ea"/>
              </a:rPr>
              <a:t>(X)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37" name="Rectangle 14"/>
          <p:cNvSpPr>
            <a:spLocks noChangeArrowheads="1"/>
          </p:cNvSpPr>
          <p:nvPr/>
        </p:nvSpPr>
        <p:spPr bwMode="auto">
          <a:xfrm>
            <a:off x="6118468" y="2404875"/>
            <a:ext cx="1089044" cy="359005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 dirty="0" err="1">
                <a:solidFill>
                  <a:schemeClr val="bg1"/>
                </a:solidFill>
                <a:latin typeface="+mn-ea"/>
              </a:rPr>
              <a:t>재</a:t>
            </a:r>
            <a:r>
              <a:rPr lang="ko-KR" altLang="en-US" sz="1200" dirty="0" err="1">
                <a:solidFill>
                  <a:schemeClr val="bg1"/>
                </a:solidFill>
                <a:latin typeface="+mn-ea"/>
              </a:rPr>
              <a:t>거절결정</a:t>
            </a:r>
            <a:r>
              <a:rPr lang="en-US" altLang="ko-KR" sz="1200" b="0" dirty="0">
                <a:solidFill>
                  <a:schemeClr val="bg1"/>
                </a:solidFill>
                <a:latin typeface="+mn-ea"/>
              </a:rPr>
              <a:t>(X)</a:t>
            </a:r>
            <a:endParaRPr lang="ko-KR" altLang="en-US" sz="1200" b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8" name="Rectangle 14"/>
          <p:cNvSpPr>
            <a:spLocks noChangeArrowheads="1"/>
          </p:cNvSpPr>
          <p:nvPr/>
        </p:nvSpPr>
        <p:spPr bwMode="auto">
          <a:xfrm>
            <a:off x="9592617" y="2404875"/>
            <a:ext cx="1089044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olid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 dirty="0">
                <a:latin typeface="+mn-ea"/>
              </a:rPr>
              <a:t>심판청구</a:t>
            </a:r>
            <a:r>
              <a:rPr lang="en-US" altLang="ko-KR" sz="1200" b="0" dirty="0">
                <a:latin typeface="+mn-ea"/>
              </a:rPr>
              <a:t>(X)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39" name="Rectangle 14"/>
          <p:cNvSpPr>
            <a:spLocks noChangeArrowheads="1"/>
          </p:cNvSpPr>
          <p:nvPr/>
        </p:nvSpPr>
        <p:spPr bwMode="auto">
          <a:xfrm>
            <a:off x="7884591" y="2404875"/>
            <a:ext cx="1089044" cy="359005"/>
          </a:xfrm>
          <a:prstGeom prst="rect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n-ea"/>
              </a:rPr>
              <a:t>분할출원</a:t>
            </a:r>
            <a:r>
              <a:rPr lang="en-US" altLang="ko-KR" sz="1200" b="0" dirty="0">
                <a:latin typeface="+mn-ea"/>
              </a:rPr>
              <a:t>(</a:t>
            </a:r>
            <a:r>
              <a:rPr lang="en-US" altLang="ko-KR" sz="1200" dirty="0">
                <a:latin typeface="+mn-ea"/>
              </a:rPr>
              <a:t>Y</a:t>
            </a:r>
            <a:r>
              <a:rPr lang="en-US" altLang="ko-KR" sz="1200" b="0" dirty="0">
                <a:latin typeface="+mn-ea"/>
              </a:rPr>
              <a:t>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40" name="Rectangle 14"/>
          <p:cNvSpPr>
            <a:spLocks noChangeArrowheads="1"/>
          </p:cNvSpPr>
          <p:nvPr/>
        </p:nvSpPr>
        <p:spPr bwMode="auto">
          <a:xfrm>
            <a:off x="380949" y="3155373"/>
            <a:ext cx="1689326" cy="519480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dirty="0">
                <a:latin typeface="+mn-ea"/>
              </a:rPr>
              <a:t>1</a:t>
            </a:r>
            <a:r>
              <a:rPr lang="ko-KR" altLang="en-US" sz="1100" dirty="0">
                <a:latin typeface="+mn-ea"/>
              </a:rPr>
              <a:t>항</a:t>
            </a:r>
            <a:r>
              <a:rPr lang="en-US" altLang="ko-KR" sz="1100" dirty="0">
                <a:latin typeface="+mn-ea"/>
              </a:rPr>
              <a:t>~20</a:t>
            </a:r>
            <a:r>
              <a:rPr lang="ko-KR" altLang="en-US" sz="1100" dirty="0">
                <a:latin typeface="+mn-ea"/>
              </a:rPr>
              <a:t>항</a:t>
            </a:r>
            <a:endParaRPr lang="ko-KR" altLang="en-US" sz="1100" b="0" dirty="0">
              <a:latin typeface="+mn-ea"/>
            </a:endParaRPr>
          </a:p>
        </p:txBody>
      </p:sp>
      <p:cxnSp>
        <p:nvCxnSpPr>
          <p:cNvPr id="5" name="직선 연결선 4"/>
          <p:cNvCxnSpPr>
            <a:stCxn id="40" idx="0"/>
            <a:endCxn id="34" idx="2"/>
          </p:cNvCxnSpPr>
          <p:nvPr/>
        </p:nvCxnSpPr>
        <p:spPr>
          <a:xfrm flipV="1">
            <a:off x="1225612" y="2763880"/>
            <a:ext cx="0" cy="39149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14"/>
          <p:cNvSpPr>
            <a:spLocks noChangeArrowheads="1"/>
          </p:cNvSpPr>
          <p:nvPr/>
        </p:nvSpPr>
        <p:spPr bwMode="auto">
          <a:xfrm>
            <a:off x="2180376" y="3155373"/>
            <a:ext cx="1689326" cy="519480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n-ea"/>
              </a:rPr>
              <a:t>거절</a:t>
            </a:r>
            <a:r>
              <a:rPr lang="en-US" altLang="ko-KR" sz="1100" dirty="0">
                <a:latin typeface="+mn-ea"/>
              </a:rPr>
              <a:t>: 1</a:t>
            </a:r>
            <a:r>
              <a:rPr lang="ko-KR" altLang="en-US" sz="1100" dirty="0">
                <a:latin typeface="+mn-ea"/>
              </a:rPr>
              <a:t>항</a:t>
            </a:r>
            <a:r>
              <a:rPr lang="en-US" altLang="ko-KR" sz="1100" dirty="0">
                <a:latin typeface="+mn-ea"/>
              </a:rPr>
              <a:t>~20</a:t>
            </a:r>
            <a:r>
              <a:rPr lang="ko-KR" altLang="en-US" sz="1100" dirty="0">
                <a:latin typeface="+mn-ea"/>
              </a:rPr>
              <a:t>항</a:t>
            </a:r>
            <a:endParaRPr lang="ko-KR" altLang="en-US" sz="1100" b="0" dirty="0">
              <a:latin typeface="+mn-ea"/>
            </a:endParaRPr>
          </a:p>
        </p:txBody>
      </p:sp>
      <p:cxnSp>
        <p:nvCxnSpPr>
          <p:cNvPr id="45" name="직선 연결선 44"/>
          <p:cNvCxnSpPr>
            <a:stCxn id="44" idx="0"/>
          </p:cNvCxnSpPr>
          <p:nvPr/>
        </p:nvCxnSpPr>
        <p:spPr>
          <a:xfrm flipV="1">
            <a:off x="3025039" y="2763881"/>
            <a:ext cx="0" cy="39149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14"/>
          <p:cNvSpPr>
            <a:spLocks noChangeArrowheads="1"/>
          </p:cNvSpPr>
          <p:nvPr/>
        </p:nvSpPr>
        <p:spPr bwMode="auto">
          <a:xfrm>
            <a:off x="4024033" y="3155373"/>
            <a:ext cx="1689326" cy="519480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n-ea"/>
              </a:rPr>
              <a:t>삭제</a:t>
            </a:r>
            <a:r>
              <a:rPr lang="en-US" altLang="ko-KR" sz="1100" dirty="0">
                <a:latin typeface="+mn-ea"/>
              </a:rPr>
              <a:t>: 1</a:t>
            </a:r>
            <a:r>
              <a:rPr lang="ko-KR" altLang="en-US" sz="1100" dirty="0">
                <a:latin typeface="+mn-ea"/>
              </a:rPr>
              <a:t>항</a:t>
            </a:r>
            <a:r>
              <a:rPr lang="en-US" altLang="ko-KR" sz="1100" dirty="0">
                <a:latin typeface="+mn-ea"/>
              </a:rPr>
              <a:t>~10</a:t>
            </a:r>
            <a:r>
              <a:rPr lang="ko-KR" altLang="en-US" sz="1100" dirty="0">
                <a:latin typeface="+mn-ea"/>
              </a:rPr>
              <a:t>항</a:t>
            </a:r>
            <a:endParaRPr lang="en-US" altLang="ko-KR" sz="1100" dirty="0">
              <a:latin typeface="+mn-ea"/>
            </a:endParaRPr>
          </a:p>
          <a:p>
            <a:pPr algn="ctr"/>
            <a:r>
              <a:rPr lang="ko-KR" altLang="en-US" sz="1100" b="0" dirty="0">
                <a:latin typeface="+mn-ea"/>
              </a:rPr>
              <a:t>감축</a:t>
            </a:r>
            <a:r>
              <a:rPr lang="en-US" altLang="ko-KR" sz="1100" b="0" dirty="0">
                <a:latin typeface="+mn-ea"/>
              </a:rPr>
              <a:t>: 11</a:t>
            </a:r>
            <a:r>
              <a:rPr lang="ko-KR" altLang="en-US" sz="1100" b="0" dirty="0">
                <a:latin typeface="+mn-ea"/>
              </a:rPr>
              <a:t>항</a:t>
            </a:r>
            <a:r>
              <a:rPr lang="en-US" altLang="ko-KR" sz="1100" dirty="0">
                <a:latin typeface="+mn-ea"/>
              </a:rPr>
              <a:t>~20</a:t>
            </a:r>
            <a:r>
              <a:rPr lang="ko-KR" altLang="en-US" sz="1100" dirty="0">
                <a:latin typeface="+mn-ea"/>
              </a:rPr>
              <a:t>항</a:t>
            </a:r>
            <a:endParaRPr lang="ko-KR" altLang="en-US" sz="1100" b="0" dirty="0">
              <a:latin typeface="+mn-ea"/>
            </a:endParaRPr>
          </a:p>
        </p:txBody>
      </p:sp>
      <p:cxnSp>
        <p:nvCxnSpPr>
          <p:cNvPr id="47" name="직선 연결선 46"/>
          <p:cNvCxnSpPr>
            <a:stCxn id="46" idx="0"/>
          </p:cNvCxnSpPr>
          <p:nvPr/>
        </p:nvCxnSpPr>
        <p:spPr>
          <a:xfrm flipV="1">
            <a:off x="4868696" y="2763881"/>
            <a:ext cx="0" cy="39149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14"/>
          <p:cNvSpPr>
            <a:spLocks noChangeArrowheads="1"/>
          </p:cNvSpPr>
          <p:nvPr/>
        </p:nvSpPr>
        <p:spPr bwMode="auto">
          <a:xfrm>
            <a:off x="5818327" y="3155373"/>
            <a:ext cx="1689326" cy="519480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거절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: 11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항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~15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항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ko-KR" altLang="en-US" sz="1100" b="0" dirty="0">
                <a:latin typeface="+mn-ea"/>
              </a:rPr>
              <a:t>등록가능</a:t>
            </a:r>
            <a:r>
              <a:rPr lang="en-US" altLang="ko-KR" sz="1100" b="0" dirty="0">
                <a:latin typeface="+mn-ea"/>
              </a:rPr>
              <a:t>: 16</a:t>
            </a:r>
            <a:r>
              <a:rPr lang="ko-KR" altLang="en-US" sz="1100" b="0" dirty="0">
                <a:latin typeface="+mn-ea"/>
              </a:rPr>
              <a:t>항</a:t>
            </a:r>
            <a:r>
              <a:rPr lang="en-US" altLang="ko-KR" sz="1100" dirty="0">
                <a:latin typeface="+mn-ea"/>
              </a:rPr>
              <a:t>~20</a:t>
            </a:r>
            <a:r>
              <a:rPr lang="ko-KR" altLang="en-US" sz="1100" dirty="0">
                <a:latin typeface="+mn-ea"/>
              </a:rPr>
              <a:t>항</a:t>
            </a:r>
            <a:endParaRPr lang="ko-KR" altLang="en-US" sz="1100" b="0" dirty="0">
              <a:latin typeface="+mn-ea"/>
            </a:endParaRPr>
          </a:p>
        </p:txBody>
      </p:sp>
      <p:cxnSp>
        <p:nvCxnSpPr>
          <p:cNvPr id="49" name="직선 연결선 48"/>
          <p:cNvCxnSpPr>
            <a:stCxn id="48" idx="0"/>
          </p:cNvCxnSpPr>
          <p:nvPr/>
        </p:nvCxnSpPr>
        <p:spPr>
          <a:xfrm flipV="1">
            <a:off x="6662990" y="2763881"/>
            <a:ext cx="0" cy="39149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14"/>
          <p:cNvSpPr>
            <a:spLocks noChangeArrowheads="1"/>
          </p:cNvSpPr>
          <p:nvPr/>
        </p:nvSpPr>
        <p:spPr bwMode="auto">
          <a:xfrm>
            <a:off x="7635829" y="3155373"/>
            <a:ext cx="1689326" cy="519480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b="0" dirty="0">
                <a:latin typeface="+mn-ea"/>
              </a:rPr>
              <a:t>16</a:t>
            </a:r>
            <a:r>
              <a:rPr lang="ko-KR" altLang="en-US" sz="1100" b="0" dirty="0">
                <a:latin typeface="+mn-ea"/>
              </a:rPr>
              <a:t>항</a:t>
            </a:r>
            <a:r>
              <a:rPr lang="en-US" altLang="ko-KR" sz="1100" dirty="0">
                <a:latin typeface="+mn-ea"/>
              </a:rPr>
              <a:t>~20</a:t>
            </a:r>
            <a:r>
              <a:rPr lang="ko-KR" altLang="en-US" sz="1100" dirty="0">
                <a:latin typeface="+mn-ea"/>
              </a:rPr>
              <a:t>항</a:t>
            </a:r>
            <a:endParaRPr lang="ko-KR" altLang="en-US" sz="1100" b="0" dirty="0">
              <a:latin typeface="+mn-ea"/>
            </a:endParaRPr>
          </a:p>
        </p:txBody>
      </p:sp>
      <p:cxnSp>
        <p:nvCxnSpPr>
          <p:cNvPr id="51" name="직선 연결선 50"/>
          <p:cNvCxnSpPr>
            <a:stCxn id="50" idx="0"/>
          </p:cNvCxnSpPr>
          <p:nvPr/>
        </p:nvCxnSpPr>
        <p:spPr>
          <a:xfrm flipV="1">
            <a:off x="8480492" y="2763881"/>
            <a:ext cx="0" cy="39149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모서리가 둥근 사각형 설명선 6"/>
          <p:cNvSpPr/>
          <p:nvPr/>
        </p:nvSpPr>
        <p:spPr>
          <a:xfrm>
            <a:off x="4920455" y="1966822"/>
            <a:ext cx="1364956" cy="276050"/>
          </a:xfrm>
          <a:prstGeom prst="wedgeRoundRectCallout">
            <a:avLst>
              <a:gd name="adj1" fmla="val -36601"/>
              <a:gd name="adj2" fmla="val 100595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거절결정취소간주</a:t>
            </a:r>
          </a:p>
        </p:txBody>
      </p:sp>
      <p:sp>
        <p:nvSpPr>
          <p:cNvPr id="53" name="순서도: 판단 52"/>
          <p:cNvSpPr/>
          <p:nvPr/>
        </p:nvSpPr>
        <p:spPr bwMode="auto">
          <a:xfrm>
            <a:off x="2260081" y="4582674"/>
            <a:ext cx="1920213" cy="760764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square" lIns="0" tIns="46800" rIns="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1" lang="ko-KR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+mn-ea"/>
              </a:rPr>
              <a:t>심판청구</a:t>
            </a:r>
            <a:r>
              <a:rPr kumimoji="1" lang="en-US" altLang="ko-KR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+mn-ea"/>
              </a:rPr>
              <a:t>(X)</a:t>
            </a:r>
            <a:endParaRPr kumimoji="1" lang="ko-KR" altLang="en-US" sz="1400" b="0" i="0" u="none" strike="noStrike" cap="none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54" name="직선 연결선 53"/>
          <p:cNvCxnSpPr/>
          <p:nvPr/>
        </p:nvCxnSpPr>
        <p:spPr>
          <a:xfrm flipH="1">
            <a:off x="336431" y="4019916"/>
            <a:ext cx="1149901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461236" y="5910780"/>
            <a:ext cx="1538926" cy="349800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특허결정</a:t>
            </a:r>
            <a:r>
              <a:rPr lang="en-US" altLang="ko-KR" sz="1400" b="0" dirty="0">
                <a:solidFill>
                  <a:schemeClr val="tx1"/>
                </a:solidFill>
                <a:latin typeface="+mn-ea"/>
              </a:rPr>
              <a:t>(Y)</a:t>
            </a:r>
          </a:p>
        </p:txBody>
      </p:sp>
      <p:cxnSp>
        <p:nvCxnSpPr>
          <p:cNvPr id="11" name="직선 연결선 10"/>
          <p:cNvCxnSpPr>
            <a:stCxn id="53" idx="2"/>
            <a:endCxn id="57" idx="0"/>
          </p:cNvCxnSpPr>
          <p:nvPr/>
        </p:nvCxnSpPr>
        <p:spPr>
          <a:xfrm>
            <a:off x="3220188" y="5343438"/>
            <a:ext cx="10511" cy="56734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순서도: 판단 60"/>
          <p:cNvSpPr/>
          <p:nvPr/>
        </p:nvSpPr>
        <p:spPr bwMode="auto">
          <a:xfrm>
            <a:off x="5134508" y="4582674"/>
            <a:ext cx="1920213" cy="760764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square" lIns="0" tIns="46800" rIns="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1" lang="ko-KR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+mn-ea"/>
              </a:rPr>
              <a:t>심판결과</a:t>
            </a:r>
            <a:r>
              <a:rPr kumimoji="1" lang="en-US" altLang="ko-KR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+mn-ea"/>
              </a:rPr>
              <a:t>(X)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1" lang="en-US" altLang="ko-KR" sz="14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(</a:t>
            </a:r>
            <a:r>
              <a:rPr kumimoji="1" lang="ko-KR" altLang="en-US" sz="1400" dirty="0" err="1">
                <a:solidFill>
                  <a:schemeClr val="tx2">
                    <a:lumMod val="50000"/>
                  </a:schemeClr>
                </a:solidFill>
                <a:latin typeface="+mn-ea"/>
              </a:rPr>
              <a:t>심결</a:t>
            </a:r>
            <a:r>
              <a:rPr kumimoji="1" lang="en-US" altLang="ko-KR" sz="14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)</a:t>
            </a:r>
            <a:endParaRPr kumimoji="1" lang="ko-KR" altLang="en-US" sz="1400" b="0" i="0" u="none" strike="noStrike" cap="none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4" name="직선 연결선 13"/>
          <p:cNvCxnSpPr>
            <a:stCxn id="53" idx="3"/>
            <a:endCxn id="61" idx="1"/>
          </p:cNvCxnSpPr>
          <p:nvPr/>
        </p:nvCxnSpPr>
        <p:spPr>
          <a:xfrm>
            <a:off x="4180294" y="4963056"/>
            <a:ext cx="9542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4180293" y="4659950"/>
            <a:ext cx="745369" cy="34980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noAutofit/>
          </a:bodyPr>
          <a:lstStyle/>
          <a:p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Yes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30699" y="5336491"/>
            <a:ext cx="745369" cy="34980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noAutofit/>
          </a:bodyPr>
          <a:lstStyle/>
          <a:p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No</a:t>
            </a:r>
          </a:p>
        </p:txBody>
      </p:sp>
      <p:cxnSp>
        <p:nvCxnSpPr>
          <p:cNvPr id="17" name="꺾인 연결선 16"/>
          <p:cNvCxnSpPr>
            <a:stCxn id="61" idx="2"/>
            <a:endCxn id="57" idx="3"/>
          </p:cNvCxnSpPr>
          <p:nvPr/>
        </p:nvCxnSpPr>
        <p:spPr>
          <a:xfrm rot="5400000">
            <a:off x="4676268" y="4667333"/>
            <a:ext cx="742242" cy="2094453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106870" y="5336491"/>
            <a:ext cx="745369" cy="34980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noAutofit/>
          </a:bodyPr>
          <a:lstStyle/>
          <a:p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기각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855215" y="4788156"/>
            <a:ext cx="1780531" cy="349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400" dirty="0" err="1">
                <a:latin typeface="+mn-ea"/>
              </a:rPr>
              <a:t>협의제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 err="1">
                <a:latin typeface="+mn-ea"/>
              </a:rPr>
              <a:t>협의명령</a:t>
            </a:r>
            <a:r>
              <a:rPr lang="en-US" altLang="ko-KR" sz="1400" dirty="0">
                <a:latin typeface="+mn-ea"/>
              </a:rPr>
              <a:t>(X)</a:t>
            </a:r>
            <a:endParaRPr lang="en-US" altLang="ko-KR" sz="1400" b="0" dirty="0">
              <a:latin typeface="+mn-ea"/>
            </a:endParaRPr>
          </a:p>
        </p:txBody>
      </p:sp>
      <p:cxnSp>
        <p:nvCxnSpPr>
          <p:cNvPr id="73" name="직선 연결선 72"/>
          <p:cNvCxnSpPr>
            <a:endCxn id="72" idx="1"/>
          </p:cNvCxnSpPr>
          <p:nvPr/>
        </p:nvCxnSpPr>
        <p:spPr>
          <a:xfrm>
            <a:off x="7039809" y="4963056"/>
            <a:ext cx="815406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7039808" y="4659950"/>
            <a:ext cx="745369" cy="34980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noAutofit/>
          </a:bodyPr>
          <a:lstStyle/>
          <a:p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인용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855215" y="5137956"/>
            <a:ext cx="1780531" cy="349800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400" dirty="0" err="1">
                <a:latin typeface="+mn-ea"/>
              </a:rPr>
              <a:t>협의제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협의명령</a:t>
            </a:r>
            <a:r>
              <a:rPr lang="en-US" altLang="ko-KR" sz="1400" dirty="0">
                <a:latin typeface="+mn-ea"/>
              </a:rPr>
              <a:t>(Y)</a:t>
            </a:r>
            <a:endParaRPr lang="en-US" altLang="ko-KR" sz="14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202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0032039" y="4856120"/>
            <a:ext cx="18069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X </a:t>
            </a:r>
            <a:r>
              <a:rPr lang="ko-KR" altLang="en-US" dirty="0">
                <a:solidFill>
                  <a:srgbClr val="FF0000"/>
                </a:solidFill>
              </a:rPr>
              <a:t>등록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Y </a:t>
            </a:r>
            <a:r>
              <a:rPr lang="ko-KR" altLang="en-US" dirty="0">
                <a:solidFill>
                  <a:srgbClr val="FF0000"/>
                </a:solidFill>
              </a:rPr>
              <a:t>취하</a:t>
            </a:r>
            <a:r>
              <a:rPr lang="en-US" altLang="ko-KR" dirty="0">
                <a:solidFill>
                  <a:srgbClr val="FF0000"/>
                </a:solidFill>
              </a:rPr>
              <a:t>/</a:t>
            </a:r>
            <a:r>
              <a:rPr lang="ko-KR" altLang="en-US" dirty="0">
                <a:solidFill>
                  <a:srgbClr val="FF0000"/>
                </a:solidFill>
              </a:rPr>
              <a:t>포기 유도</a:t>
            </a:r>
            <a:endParaRPr lang="en-US" altLang="ko-KR" dirty="0">
              <a:solidFill>
                <a:srgbClr val="FF0000"/>
              </a:solidFill>
            </a:endParaRPr>
          </a:p>
        </p:txBody>
      </p:sp>
      <p:cxnSp>
        <p:nvCxnSpPr>
          <p:cNvPr id="9" name="꺾인 연결선 8"/>
          <p:cNvCxnSpPr>
            <a:stCxn id="72" idx="3"/>
            <a:endCxn id="6" idx="1"/>
          </p:cNvCxnSpPr>
          <p:nvPr/>
        </p:nvCxnSpPr>
        <p:spPr>
          <a:xfrm>
            <a:off x="9635746" y="4963056"/>
            <a:ext cx="396293" cy="21623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 11"/>
          <p:cNvCxnSpPr>
            <a:stCxn id="81" idx="3"/>
            <a:endCxn id="6" idx="1"/>
          </p:cNvCxnSpPr>
          <p:nvPr/>
        </p:nvCxnSpPr>
        <p:spPr>
          <a:xfrm flipV="1">
            <a:off x="9635746" y="5179286"/>
            <a:ext cx="396293" cy="13357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0C43207-95A0-5624-0963-A4E5E9D997AD}"/>
              </a:ext>
            </a:extLst>
          </p:cNvPr>
          <p:cNvSpPr txBox="1"/>
          <p:nvPr/>
        </p:nvSpPr>
        <p:spPr>
          <a:xfrm>
            <a:off x="8600950" y="1710470"/>
            <a:ext cx="1690532" cy="34980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noAutofit/>
          </a:bodyPr>
          <a:lstStyle/>
          <a:p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등본송달일로부터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개월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9316363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4DF9A91-58C1-A08F-C77A-3BA312AED70E}"/>
              </a:ext>
            </a:extLst>
          </p:cNvPr>
          <p:cNvCxnSpPr>
            <a:cxnSpLocks/>
          </p:cNvCxnSpPr>
          <p:nvPr/>
        </p:nvCxnSpPr>
        <p:spPr>
          <a:xfrm>
            <a:off x="4826001" y="1912513"/>
            <a:ext cx="0" cy="269534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36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분할출원과 선출원주의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203</a:t>
            </a:fld>
            <a:endParaRPr lang="ko-KR" altLang="en-US"/>
          </a:p>
        </p:txBody>
      </p:sp>
      <p:cxnSp>
        <p:nvCxnSpPr>
          <p:cNvPr id="163" name="직선 연결선 162"/>
          <p:cNvCxnSpPr>
            <a:cxnSpLocks/>
          </p:cNvCxnSpPr>
          <p:nvPr/>
        </p:nvCxnSpPr>
        <p:spPr>
          <a:xfrm>
            <a:off x="3955747" y="3097794"/>
            <a:ext cx="7931453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/>
          <p:cNvSpPr/>
          <p:nvPr/>
        </p:nvSpPr>
        <p:spPr>
          <a:xfrm>
            <a:off x="6453777" y="2559063"/>
            <a:ext cx="1561488" cy="2501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X </a:t>
            </a:r>
            <a:r>
              <a:rPr lang="ko-KR" altLang="en-US" sz="1200" dirty="0">
                <a:solidFill>
                  <a:schemeClr val="tx1"/>
                </a:solidFill>
              </a:rPr>
              <a:t>기초 </a:t>
            </a:r>
            <a:r>
              <a:rPr lang="ko-KR" altLang="en-US" sz="1200" dirty="0" err="1">
                <a:solidFill>
                  <a:schemeClr val="tx1"/>
                </a:solidFill>
              </a:rPr>
              <a:t>분할출원</a:t>
            </a:r>
            <a:r>
              <a:rPr lang="en-US" altLang="ko-KR" sz="1200" dirty="0">
                <a:solidFill>
                  <a:schemeClr val="tx1"/>
                </a:solidFill>
              </a:rPr>
              <a:t>(Y)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6453778" y="2121992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6453778" y="2316910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4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85" name="직선 화살표 연결선 84"/>
          <p:cNvCxnSpPr>
            <a:stCxn id="55" idx="2"/>
          </p:cNvCxnSpPr>
          <p:nvPr/>
        </p:nvCxnSpPr>
        <p:spPr>
          <a:xfrm flipH="1">
            <a:off x="7234520" y="2809258"/>
            <a:ext cx="1" cy="23923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/>
          <p:cNvSpPr/>
          <p:nvPr/>
        </p:nvSpPr>
        <p:spPr>
          <a:xfrm>
            <a:off x="4045258" y="2559063"/>
            <a:ext cx="1561488" cy="250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원출원</a:t>
            </a:r>
            <a:r>
              <a:rPr lang="en-US" altLang="ko-KR" sz="1200" dirty="0">
                <a:solidFill>
                  <a:schemeClr val="tx1"/>
                </a:solidFill>
              </a:rPr>
              <a:t>(X)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4045259" y="2121992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4045259" y="2316910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5" name="직선 화살표 연결선 94"/>
          <p:cNvCxnSpPr>
            <a:stCxn id="90" idx="2"/>
          </p:cNvCxnSpPr>
          <p:nvPr/>
        </p:nvCxnSpPr>
        <p:spPr>
          <a:xfrm flipH="1">
            <a:off x="4826001" y="2809258"/>
            <a:ext cx="1" cy="23923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/>
          <p:cNvSpPr/>
          <p:nvPr/>
        </p:nvSpPr>
        <p:spPr>
          <a:xfrm>
            <a:off x="4045258" y="4096594"/>
            <a:ext cx="1561488" cy="2501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출원</a:t>
            </a:r>
            <a:r>
              <a:rPr lang="en-US" altLang="ko-KR" sz="1200" dirty="0">
                <a:solidFill>
                  <a:schemeClr val="tx1"/>
                </a:solidFill>
              </a:rPr>
              <a:t>(Y)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4045259" y="3659523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4045259" y="3854441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4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C7F35597-7531-3010-22E6-F0F1FBE2AE28}"/>
              </a:ext>
            </a:extLst>
          </p:cNvPr>
          <p:cNvCxnSpPr>
            <a:stCxn id="92" idx="3"/>
            <a:endCxn id="99" idx="3"/>
          </p:cNvCxnSpPr>
          <p:nvPr/>
        </p:nvCxnSpPr>
        <p:spPr>
          <a:xfrm>
            <a:off x="5606744" y="2414369"/>
            <a:ext cx="12700" cy="1537531"/>
          </a:xfrm>
          <a:prstGeom prst="bentConnector3">
            <a:avLst>
              <a:gd name="adj1" fmla="val 3917646"/>
            </a:avLst>
          </a:prstGeom>
          <a:ln w="38100">
            <a:solidFill>
              <a:schemeClr val="accent2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048DA509-F229-E721-D031-34C2A24580D1}"/>
              </a:ext>
            </a:extLst>
          </p:cNvPr>
          <p:cNvCxnSpPr>
            <a:stCxn id="91" idx="1"/>
            <a:endCxn id="97" idx="1"/>
          </p:cNvCxnSpPr>
          <p:nvPr/>
        </p:nvCxnSpPr>
        <p:spPr>
          <a:xfrm rot="10800000" flipV="1">
            <a:off x="4045259" y="2219450"/>
            <a:ext cx="12700" cy="1537531"/>
          </a:xfrm>
          <a:prstGeom prst="bentConnector3">
            <a:avLst>
              <a:gd name="adj1" fmla="val 3000000"/>
            </a:avLst>
          </a:prstGeom>
          <a:ln w="381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7523F5A-5CB2-A854-C1DB-5D8E619577D0}"/>
              </a:ext>
            </a:extLst>
          </p:cNvPr>
          <p:cNvSpPr txBox="1"/>
          <p:nvPr/>
        </p:nvSpPr>
        <p:spPr>
          <a:xfrm>
            <a:off x="80686" y="3763700"/>
            <a:ext cx="3397620" cy="2590133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R="0" lvl="0" algn="just" fontAlgn="base" latinLnBrk="1">
              <a:lnSpc>
                <a:spcPct val="145000"/>
              </a:lnSpc>
              <a:spcBef>
                <a:spcPts val="300"/>
              </a:spcBef>
              <a:spcAft>
                <a:spcPts val="200"/>
              </a:spcAft>
              <a:buClr>
                <a:srgbClr val="FFFFFF"/>
              </a:buClr>
              <a:buSzPts val="1000"/>
              <a:tabLst>
                <a:tab pos="408940" algn="l"/>
                <a:tab pos="624840" algn="l"/>
                <a:tab pos="4931410" algn="r"/>
                <a:tab pos="408940" algn="l"/>
                <a:tab pos="624840" algn="l"/>
                <a:tab pos="4931410" algn="r"/>
              </a:tabLst>
            </a:pP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특허법원 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2017. 10. 12. 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선고 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2017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허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1021 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판결 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【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등록무효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(</a:t>
            </a:r>
            <a:r>
              <a:rPr lang="ko-KR" altLang="en-US" sz="1000" b="1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특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)】</a:t>
            </a:r>
          </a:p>
          <a:p>
            <a:pPr marR="0" lvl="0" algn="just" fontAlgn="base" latinLnBrk="1">
              <a:lnSpc>
                <a:spcPct val="145000"/>
              </a:lnSpc>
              <a:spcBef>
                <a:spcPts val="300"/>
              </a:spcBef>
              <a:spcAft>
                <a:spcPts val="200"/>
              </a:spcAft>
              <a:buClr>
                <a:srgbClr val="FFFFFF"/>
              </a:buClr>
              <a:buSzPts val="1000"/>
              <a:tabLst>
                <a:tab pos="408940" algn="l"/>
                <a:tab pos="624840" algn="l"/>
                <a:tab pos="4931410" algn="r"/>
                <a:tab pos="408940" algn="l"/>
                <a:tab pos="624840" algn="l"/>
                <a:tab pos="4931410" algn="r"/>
              </a:tabLst>
            </a:pP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분할출원된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발명과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원출원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발명이 동일하면 구 특허법 제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36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조 제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2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항의 같은 날에 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2 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이상의 특허출원이 있는 경우에 해당한다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.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분할출원된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발명과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원출원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발명이 동일한지 여부는 청구범위에 기재된 양 발명의 기술적 구성이 실질적으로 동일한지 여부를 기준으로 하여야 하며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, 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청구범위의 기재가 문언적으로 일치하지 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않더라도 </a:t>
            </a:r>
            <a:r>
              <a:rPr lang="ko-KR" altLang="en-US" sz="1000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그 차이가 동일한 기술적 구성에 대해 기능</a:t>
            </a:r>
            <a:r>
              <a:rPr lang="en-US" altLang="ko-KR" sz="1000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·</a:t>
            </a:r>
            <a:r>
              <a:rPr lang="ko-KR" altLang="en-US" sz="1000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성질</a:t>
            </a:r>
            <a:r>
              <a:rPr lang="en-US" altLang="ko-KR" sz="1000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·</a:t>
            </a:r>
            <a:r>
              <a:rPr lang="ko-KR" altLang="en-US" sz="1000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효과 등으로 표현을 달리한 것에 불과하거나 기술적 과제를 해결하기 위한 구체적 수단에서 </a:t>
            </a:r>
            <a:r>
              <a:rPr lang="ko-KR" altLang="en-US" sz="1000" kern="100" spc="-1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주지관용기술을</a:t>
            </a:r>
            <a:r>
              <a:rPr lang="ko-KR" altLang="en-US" sz="1000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 부가</a:t>
            </a:r>
            <a:r>
              <a:rPr lang="en-US" altLang="ko-KR" sz="1000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·</a:t>
            </a:r>
            <a:r>
              <a:rPr lang="ko-KR" altLang="en-US" sz="1000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삭제</a:t>
            </a:r>
            <a:r>
              <a:rPr lang="en-US" altLang="ko-KR" sz="1000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·</a:t>
            </a:r>
            <a:r>
              <a:rPr lang="ko-KR" altLang="en-US" sz="1000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변경한 것 또는 단순히 수치 범위를 달리한 것에 지나지 아니하여 새로운 효과가 발생하지 않는 정도의 미세한 차이에 불과하다면 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양 발명은 실질적으로 동일한 발명에 해당한다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.</a:t>
            </a:r>
            <a:endParaRPr lang="ko-KR" altLang="en-US" sz="1000" u="none" kern="100" spc="-10" dirty="0">
              <a:solidFill>
                <a:srgbClr val="000000"/>
              </a:solidFill>
              <a:effectLst/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66889B-DF30-4E71-0CC2-932041F8D2C9}"/>
              </a:ext>
            </a:extLst>
          </p:cNvPr>
          <p:cNvSpPr txBox="1"/>
          <p:nvPr/>
        </p:nvSpPr>
        <p:spPr>
          <a:xfrm>
            <a:off x="80686" y="1048714"/>
            <a:ext cx="3397620" cy="2590133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R="0" lvl="0" algn="just" fontAlgn="base" latinLnBrk="1">
              <a:lnSpc>
                <a:spcPct val="145000"/>
              </a:lnSpc>
              <a:spcBef>
                <a:spcPts val="300"/>
              </a:spcBef>
              <a:spcAft>
                <a:spcPts val="200"/>
              </a:spcAft>
              <a:buClr>
                <a:srgbClr val="FFFFFF"/>
              </a:buClr>
              <a:buSzPts val="1000"/>
              <a:tabLst>
                <a:tab pos="408940" algn="l"/>
                <a:tab pos="624840" algn="l"/>
                <a:tab pos="4931410" algn="r"/>
                <a:tab pos="408940" algn="l"/>
                <a:tab pos="624840" algn="l"/>
                <a:tab pos="4931410" algn="r"/>
              </a:tabLst>
            </a:pP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대법원 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2009. 9. 24. 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선고 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2007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후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2827 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판결 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【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권리범위확인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(</a:t>
            </a:r>
            <a:r>
              <a:rPr lang="ko-KR" altLang="en-US" sz="1000" b="1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특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)】</a:t>
            </a:r>
          </a:p>
          <a:p>
            <a:pPr marR="0" lvl="0" algn="just" fontAlgn="base" latinLnBrk="1">
              <a:lnSpc>
                <a:spcPct val="145000"/>
              </a:lnSpc>
              <a:spcBef>
                <a:spcPts val="300"/>
              </a:spcBef>
              <a:spcAft>
                <a:spcPts val="200"/>
              </a:spcAft>
              <a:buClr>
                <a:srgbClr val="FFFFFF"/>
              </a:buClr>
              <a:buSzPts val="1000"/>
              <a:tabLst>
                <a:tab pos="408940" algn="l"/>
                <a:tab pos="624840" algn="l"/>
                <a:tab pos="4931410" algn="r"/>
                <a:tab pos="408940" algn="l"/>
                <a:tab pos="624840" algn="l"/>
                <a:tab pos="4931410" algn="r"/>
              </a:tabLst>
            </a:pP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구 특허법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(1990.1.13.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법률 제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42307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호로 전부 개정되기 전의 것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)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제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11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조 제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1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항 은 동일한 발명에 대하여는 최선출원에 한하여 특허를 받을 수 있다고 규정하여 동일한 발명에 대한 중복등록을 방지하기 위하여 선출원주의를 채택하고 있다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. 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전후로 출원된 양 발명이 동일하다고 함은 그 기술적 구성이 전면적으로 일치하는 경우는 물론 그 범위에 차이가 있을 뿐 부분적으로 일치하는 경우라도 특별한 사정이 없는 한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, 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양발명은 동일하고</a:t>
            </a:r>
            <a:r>
              <a:rPr lang="en-US" altLang="ko-KR" sz="1000" u="sng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,</a:t>
            </a:r>
            <a:r>
              <a:rPr lang="en-US" altLang="ko-KR" sz="1000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 </a:t>
            </a:r>
            <a:r>
              <a:rPr lang="ko-KR" altLang="en-US" sz="1000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비록 양 발명의 구성에 상이점이 있어도 그 기술분야에 통상의 지식을 가진 자가 보통으로 채용하는 정도의 변경에 지나지 아니하고 발명의 목적과 작용 효과에 특별한 차이를 일으키지 아니하는 경우에는</a:t>
            </a:r>
            <a:r>
              <a:rPr lang="ko-KR" altLang="en-US" sz="1000" u="sng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 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양 발명은 역시 동일한 발명이다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. </a:t>
            </a:r>
            <a:endParaRPr lang="ko-KR" altLang="en-US" sz="1000" u="none" kern="100" spc="-10" dirty="0">
              <a:solidFill>
                <a:srgbClr val="000000"/>
              </a:solidFill>
              <a:effectLst/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1F9148-4536-30D3-43A9-B01938FD7FD1}"/>
              </a:ext>
            </a:extLst>
          </p:cNvPr>
          <p:cNvSpPr txBox="1"/>
          <p:nvPr/>
        </p:nvSpPr>
        <p:spPr>
          <a:xfrm>
            <a:off x="2021589" y="6076834"/>
            <a:ext cx="1374094" cy="2769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실질적 동일성 인정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DB7A96-05FD-268E-2093-C357207E07E7}"/>
              </a:ext>
            </a:extLst>
          </p:cNvPr>
          <p:cNvSpPr txBox="1"/>
          <p:nvPr/>
        </p:nvSpPr>
        <p:spPr>
          <a:xfrm>
            <a:off x="6412886" y="3492683"/>
            <a:ext cx="5634925" cy="3259547"/>
          </a:xfrm>
          <a:prstGeom prst="rect">
            <a:avLst/>
          </a:prstGeom>
          <a:noFill/>
          <a:ln w="38100">
            <a:solidFill>
              <a:schemeClr val="accent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R="0" lvl="0" algn="just" fontAlgn="base" latinLnBrk="1">
              <a:lnSpc>
                <a:spcPct val="145000"/>
              </a:lnSpc>
              <a:spcBef>
                <a:spcPts val="300"/>
              </a:spcBef>
              <a:spcAft>
                <a:spcPts val="200"/>
              </a:spcAft>
              <a:buClr>
                <a:srgbClr val="FFFFFF"/>
              </a:buClr>
              <a:buSzPts val="1000"/>
              <a:tabLst>
                <a:tab pos="408940" algn="l"/>
                <a:tab pos="624840" algn="l"/>
                <a:tab pos="4931410" algn="r"/>
                <a:tab pos="408940" algn="l"/>
                <a:tab pos="624840" algn="l"/>
                <a:tab pos="4931410" algn="r"/>
              </a:tabLst>
            </a:pP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특허법원 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2012. 1. 13. 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선고 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2011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허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4110 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판결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【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등록무효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(</a:t>
            </a:r>
            <a:r>
              <a:rPr lang="ko-KR" altLang="en-US" sz="1000" b="1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특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)】</a:t>
            </a:r>
          </a:p>
          <a:p>
            <a:pPr marR="0" lvl="0" algn="just" fontAlgn="base" latinLnBrk="1">
              <a:lnSpc>
                <a:spcPct val="145000"/>
              </a:lnSpc>
              <a:spcBef>
                <a:spcPts val="300"/>
              </a:spcBef>
              <a:spcAft>
                <a:spcPts val="200"/>
              </a:spcAft>
              <a:buClr>
                <a:srgbClr val="FFFFFF"/>
              </a:buClr>
              <a:buSzPts val="1000"/>
              <a:tabLst>
                <a:tab pos="408940" algn="l"/>
                <a:tab pos="624840" algn="l"/>
                <a:tab pos="4931410" algn="r"/>
                <a:tab pos="408940" algn="l"/>
                <a:tab pos="624840" algn="l"/>
                <a:tab pos="4931410" algn="r"/>
              </a:tabLst>
            </a:pP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원출원의 명세서 또는 도면에 기재된 발명과 실질적으로 동일하여야 하고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, 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여기서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원출원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 명세서 또는 도면에 기재된 발명이라 함은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원출원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 명세서 또는 도면에 명시적으로 기재된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발명뿐만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 아니라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,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원출원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 명세서 또는 도면에는 명시적으로 기재되지 않은 사항이라도 이 기술분야에서 통상의 지식을 가진 자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(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이하 “통상의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기술자”라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 한다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)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가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원출원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 명세서의 다른 기재나 최초 출원 당시의 기술상식에 비추어 일의적이고 명확하게 인식할 수 있는 사항도 포함될 수 있지만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,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원출원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명세서에 화합물이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상위개념으로서의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일반 화학식으로 기재되어 있는 발명 중 일부를 하위개념으로 새롭게 정의하여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분할출원하는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경우에 있어서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, 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이는 선택발명의 영역에 있는 것을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분할출원하는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것으로서 이러한 분할출원을 인정한다면 원출원에 기초한 다른 제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3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자의 선택발명을 극히 제한하게 되고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,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원출원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발명 당시에 개시되지 않았던 사항에 대하여 사후에 분할출원에 의하여 그 기술적 의의를 인정해 주게 되어 특허출원은 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1 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발명을 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1 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특허출원으로 한다는 규정에 의하여 특허를 받을 수 없게 되는 발명들을 따로 분할하여 별도로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분할출원할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수 있도록 함과 동시에 이들 발명의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특허출원시점을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당초의 원출원의 출원시점으로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소급시켜준다는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분할출원 제도의 취지에 어긋나게 되므로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,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분할출원으로서의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하위개념 발명이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원출원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명세서에 기재된 상위개념 발명에 개념적으로 포함된다는 점만으로는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분할출원된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발명이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원출원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명세서에 기재된 사항이라고 할 수는 없고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,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원출원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명세서 전체의 기재와 최초 출원 당시의 기술상식을 종합적으로 고려하여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분할출원된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발명이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원출원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명세서에 기재된 것인지 또는 기재된 것과 동일하게 볼 수 있는 것인지 여부를 실질적으로 판단해야 한다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.</a:t>
            </a:r>
            <a:endParaRPr lang="ko-KR" altLang="en-US" sz="1000" u="none" kern="100" spc="-10" dirty="0">
              <a:solidFill>
                <a:srgbClr val="000000"/>
              </a:solidFill>
              <a:effectLst/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4173FB4-69DD-2BE3-B9EB-D0DB0CBA869C}"/>
              </a:ext>
            </a:extLst>
          </p:cNvPr>
          <p:cNvSpPr/>
          <p:nvPr/>
        </p:nvSpPr>
        <p:spPr>
          <a:xfrm>
            <a:off x="8545540" y="2559063"/>
            <a:ext cx="1561488" cy="250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등록</a:t>
            </a:r>
            <a:r>
              <a:rPr lang="en-US" altLang="ko-KR" sz="1200" dirty="0">
                <a:solidFill>
                  <a:schemeClr val="tx1"/>
                </a:solidFill>
              </a:rPr>
              <a:t>(X)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E85506C0-9001-B36F-EF88-E9362F0A517F}"/>
              </a:ext>
            </a:extLst>
          </p:cNvPr>
          <p:cNvCxnSpPr>
            <a:stCxn id="30" idx="2"/>
          </p:cNvCxnSpPr>
          <p:nvPr/>
        </p:nvCxnSpPr>
        <p:spPr>
          <a:xfrm flipH="1">
            <a:off x="9326283" y="2809258"/>
            <a:ext cx="1" cy="23923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3798FBA-391D-4090-78CE-1AF91F76214A}"/>
              </a:ext>
            </a:extLst>
          </p:cNvPr>
          <p:cNvSpPr/>
          <p:nvPr/>
        </p:nvSpPr>
        <p:spPr>
          <a:xfrm>
            <a:off x="10227919" y="2559063"/>
            <a:ext cx="1561488" cy="2501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등록</a:t>
            </a:r>
            <a:r>
              <a:rPr lang="en-US" altLang="ko-KR" sz="1200" dirty="0">
                <a:solidFill>
                  <a:schemeClr val="tx1"/>
                </a:solidFill>
              </a:rPr>
              <a:t>(Y)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EFCDC72C-4701-16DC-1897-136EC21122C9}"/>
              </a:ext>
            </a:extLst>
          </p:cNvPr>
          <p:cNvCxnSpPr>
            <a:stCxn id="32" idx="2"/>
          </p:cNvCxnSpPr>
          <p:nvPr/>
        </p:nvCxnSpPr>
        <p:spPr>
          <a:xfrm flipH="1">
            <a:off x="11008662" y="2809258"/>
            <a:ext cx="1" cy="23923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타원 33">
            <a:extLst>
              <a:ext uri="{FF2B5EF4-FFF2-40B4-BE49-F238E27FC236}">
                <a16:creationId xmlns:a16="http://schemas.microsoft.com/office/drawing/2014/main" id="{0E36F2FE-850F-2914-B038-8AC7AB53EE7A}"/>
              </a:ext>
            </a:extLst>
          </p:cNvPr>
          <p:cNvSpPr/>
          <p:nvPr/>
        </p:nvSpPr>
        <p:spPr>
          <a:xfrm>
            <a:off x="5989754" y="3156665"/>
            <a:ext cx="201872" cy="20277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19A188-4FD7-F9C0-1C23-E03E2FA38CB7}"/>
              </a:ext>
            </a:extLst>
          </p:cNvPr>
          <p:cNvSpPr txBox="1"/>
          <p:nvPr/>
        </p:nvSpPr>
        <p:spPr>
          <a:xfrm>
            <a:off x="6163610" y="3123435"/>
            <a:ext cx="1348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accent2">
                    <a:lumMod val="50000"/>
                  </a:schemeClr>
                </a:solidFill>
              </a:rPr>
              <a:t>분할출원 요건</a:t>
            </a: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B3CA7B7C-58DB-EE5F-1554-E4E59C7F5E8B}"/>
              </a:ext>
            </a:extLst>
          </p:cNvPr>
          <p:cNvSpPr/>
          <p:nvPr/>
        </p:nvSpPr>
        <p:spPr>
          <a:xfrm>
            <a:off x="3569266" y="3218994"/>
            <a:ext cx="201872" cy="202771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A4F8F34-5BF0-A102-91A3-7C5FFA2F637B}"/>
              </a:ext>
            </a:extLst>
          </p:cNvPr>
          <p:cNvSpPr txBox="1"/>
          <p:nvPr/>
        </p:nvSpPr>
        <p:spPr>
          <a:xfrm>
            <a:off x="3795365" y="3156665"/>
            <a:ext cx="15327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err="1">
                <a:solidFill>
                  <a:schemeClr val="bg1">
                    <a:lumMod val="50000"/>
                  </a:schemeClr>
                </a:solidFill>
              </a:rPr>
              <a:t>협의제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 회피요건</a:t>
            </a:r>
          </a:p>
        </p:txBody>
      </p: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8F241CBA-CEB6-63B3-E50A-CF357321C3BF}"/>
              </a:ext>
            </a:extLst>
          </p:cNvPr>
          <p:cNvCxnSpPr>
            <a:cxnSpLocks/>
          </p:cNvCxnSpPr>
          <p:nvPr/>
        </p:nvCxnSpPr>
        <p:spPr>
          <a:xfrm rot="16200000" flipV="1">
            <a:off x="10167474" y="1717873"/>
            <a:ext cx="12700" cy="1682379"/>
          </a:xfrm>
          <a:prstGeom prst="bentConnector3">
            <a:avLst>
              <a:gd name="adj1" fmla="val 2011764"/>
            </a:avLst>
          </a:prstGeom>
          <a:ln w="38100">
            <a:solidFill>
              <a:schemeClr val="accent5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42431E44-F4D9-4398-1178-FEE02A370927}"/>
              </a:ext>
            </a:extLst>
          </p:cNvPr>
          <p:cNvSpPr/>
          <p:nvPr/>
        </p:nvSpPr>
        <p:spPr>
          <a:xfrm>
            <a:off x="10072888" y="2209417"/>
            <a:ext cx="201872" cy="202771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0BC1F8-0554-D657-40AC-28F3F5223F6C}"/>
              </a:ext>
            </a:extLst>
          </p:cNvPr>
          <p:cNvSpPr txBox="1"/>
          <p:nvPr/>
        </p:nvSpPr>
        <p:spPr>
          <a:xfrm>
            <a:off x="9219469" y="1912513"/>
            <a:ext cx="20168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accent1">
                    <a:lumMod val="50000"/>
                  </a:schemeClr>
                </a:solidFill>
              </a:rPr>
              <a:t>동일 발명의 착오 등록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6E98C13-66E0-5CDE-3E83-DDA9D0C11BD3}"/>
              </a:ext>
            </a:extLst>
          </p:cNvPr>
          <p:cNvSpPr txBox="1"/>
          <p:nvPr/>
        </p:nvSpPr>
        <p:spPr>
          <a:xfrm>
            <a:off x="4329953" y="852000"/>
            <a:ext cx="7762683" cy="964046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R="0" lvl="0" algn="just" fontAlgn="base" latinLnBrk="1">
              <a:lnSpc>
                <a:spcPct val="145000"/>
              </a:lnSpc>
              <a:spcBef>
                <a:spcPts val="300"/>
              </a:spcBef>
              <a:spcAft>
                <a:spcPts val="200"/>
              </a:spcAft>
              <a:buClr>
                <a:srgbClr val="FFFFFF"/>
              </a:buClr>
              <a:buSzPts val="1000"/>
              <a:tabLst>
                <a:tab pos="408940" algn="l"/>
                <a:tab pos="624840" algn="l"/>
                <a:tab pos="4931410" algn="r"/>
                <a:tab pos="408940" algn="l"/>
                <a:tab pos="624840" algn="l"/>
                <a:tab pos="4931410" algn="r"/>
              </a:tabLst>
            </a:pP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대법원 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1990. 8. 14. 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선고 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89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후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1103 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판결 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【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실용신안등록무효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】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동일인이 동일고안에 대하여 같은 날에 경합출원을 하여 모두 등록이 된 경우에 그 후 어느 한쪽의 등록이 무효로 확정되었다면 나머지 등록을 유지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, 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존속시켜 주는 것이 타당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하고 당초에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경합출원이었다는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사실만으로 나머지 등록까지 모두 무효로 볼 것이 아니다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. 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위법 제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7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조 제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3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항에서 동일한 내용의 실용신안등록출원이 경합하거나 실용신안등록출원과 특허출원이 경합한 경우에 그 어느 하나가 무효 또는 취하되었거나 포기된 때에는 그 실용신안등록출원 또는 특허출원은 처음부터 없었던 것으로 본다고 규정한 취지에 미루어 보더라도 위와 같이 해석하는 것이 타당하다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.</a:t>
            </a:r>
            <a:endParaRPr lang="ko-KR" altLang="en-US" sz="1000" u="none" kern="100" spc="-10" dirty="0">
              <a:solidFill>
                <a:srgbClr val="000000"/>
              </a:solidFill>
              <a:effectLst/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FF10B1B-7D75-F5D0-77B1-52E61164437E}"/>
              </a:ext>
            </a:extLst>
          </p:cNvPr>
          <p:cNvSpPr txBox="1"/>
          <p:nvPr/>
        </p:nvSpPr>
        <p:spPr>
          <a:xfrm>
            <a:off x="3578536" y="4495124"/>
            <a:ext cx="2613089" cy="147444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R="0" lvl="0" algn="just" fontAlgn="base" latinLnBrk="1">
              <a:lnSpc>
                <a:spcPct val="145000"/>
              </a:lnSpc>
              <a:spcBef>
                <a:spcPts val="300"/>
              </a:spcBef>
              <a:spcAft>
                <a:spcPts val="200"/>
              </a:spcAft>
              <a:buClr>
                <a:srgbClr val="FFFFFF"/>
              </a:buClr>
              <a:buSzPts val="1000"/>
              <a:tabLst>
                <a:tab pos="408940" algn="l"/>
                <a:tab pos="624840" algn="l"/>
                <a:tab pos="4931410" algn="r"/>
                <a:tab pos="408940" algn="l"/>
                <a:tab pos="624840" algn="l"/>
                <a:tab pos="4931410" algn="r"/>
              </a:tabLst>
            </a:pP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대법원 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1995. 9. 26. 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선고 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94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후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1558 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판결 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【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거절사정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】</a:t>
            </a:r>
          </a:p>
          <a:p>
            <a:pPr marR="0" lvl="0" algn="just" fontAlgn="base" latinLnBrk="1">
              <a:lnSpc>
                <a:spcPct val="145000"/>
              </a:lnSpc>
              <a:spcBef>
                <a:spcPts val="300"/>
              </a:spcBef>
              <a:spcAft>
                <a:spcPts val="200"/>
              </a:spcAft>
              <a:buClr>
                <a:srgbClr val="FFFFFF"/>
              </a:buClr>
              <a:buSzPts val="1000"/>
              <a:tabLst>
                <a:tab pos="408940" algn="l"/>
                <a:tab pos="624840" algn="l"/>
                <a:tab pos="4931410" algn="r"/>
                <a:tab pos="408940" algn="l"/>
                <a:tab pos="624840" algn="l"/>
                <a:tab pos="4931410" algn="r"/>
              </a:tabLst>
            </a:pPr>
            <a:r>
              <a:rPr lang="ko-KR" altLang="en-US" sz="1000" u="none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동일한 발명사상의 내용이 청구항을 달리하여 중복하여 기재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되어 있다고 하더라도 특허청구의 범위가 명확하고 간결하게 기재되어 있어 당해 기술분야에서 통상의 지식을 가진 자가 그 내용을 명확하게 이해하고 인식하여 재현할 수 있다면 그 명세서의 기재는 적법하다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.</a:t>
            </a:r>
            <a:endParaRPr lang="ko-KR" altLang="en-US" sz="1000" u="none" kern="100" spc="-10" dirty="0">
              <a:solidFill>
                <a:srgbClr val="000000"/>
              </a:solidFill>
              <a:effectLst/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C0ABB1-B332-648E-CB4D-DAE30763C8C7}"/>
              </a:ext>
            </a:extLst>
          </p:cNvPr>
          <p:cNvSpPr txBox="1"/>
          <p:nvPr/>
        </p:nvSpPr>
        <p:spPr>
          <a:xfrm>
            <a:off x="3857394" y="6057107"/>
            <a:ext cx="2055371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 err="1"/>
              <a:t>동일자</a:t>
            </a:r>
            <a:r>
              <a:rPr lang="ko-KR" altLang="en-US" sz="1200" dirty="0"/>
              <a:t> 출원 모두 등록된 것의 </a:t>
            </a:r>
            <a:endParaRPr lang="en-US" altLang="ko-KR" sz="1200" dirty="0"/>
          </a:p>
          <a:p>
            <a:pPr algn="ctr"/>
            <a:r>
              <a:rPr lang="ko-KR" altLang="en-US" sz="1200" dirty="0"/>
              <a:t>처리에 대한 비판</a:t>
            </a:r>
          </a:p>
        </p:txBody>
      </p:sp>
    </p:spTree>
    <p:extLst>
      <p:ext uri="{BB962C8B-B14F-4D97-AF65-F5344CB8AC3E}">
        <p14:creationId xmlns:p14="http://schemas.microsoft.com/office/powerpoint/2010/main" val="356160804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양쪽 모서리가 둥근 사각형 99">
            <a:extLst>
              <a:ext uri="{FF2B5EF4-FFF2-40B4-BE49-F238E27FC236}">
                <a16:creationId xmlns:a16="http://schemas.microsoft.com/office/drawing/2014/main" id="{5E90BBA9-1B09-65FE-771A-4266C248F3C5}"/>
              </a:ext>
            </a:extLst>
          </p:cNvPr>
          <p:cNvSpPr/>
          <p:nvPr/>
        </p:nvSpPr>
        <p:spPr>
          <a:xfrm rot="10800000">
            <a:off x="8309582" y="4626074"/>
            <a:ext cx="2717005" cy="363303"/>
          </a:xfrm>
          <a:prstGeom prst="round2SameRect">
            <a:avLst>
              <a:gd name="adj1" fmla="val 50000"/>
              <a:gd name="adj2" fmla="val 0"/>
            </a:avLst>
          </a:prstGeom>
          <a:pattFill prst="pct25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양쪽 모서리가 둥근 사각형 152">
            <a:extLst>
              <a:ext uri="{FF2B5EF4-FFF2-40B4-BE49-F238E27FC236}">
                <a16:creationId xmlns:a16="http://schemas.microsoft.com/office/drawing/2014/main" id="{B83893BC-C66D-4716-8447-9FA0B115E02B}"/>
              </a:ext>
            </a:extLst>
          </p:cNvPr>
          <p:cNvSpPr/>
          <p:nvPr/>
        </p:nvSpPr>
        <p:spPr>
          <a:xfrm>
            <a:off x="4685075" y="4271031"/>
            <a:ext cx="1985470" cy="363303"/>
          </a:xfrm>
          <a:prstGeom prst="round2SameRect">
            <a:avLst>
              <a:gd name="adj1" fmla="val 50000"/>
              <a:gd name="adj2" fmla="val 0"/>
            </a:avLst>
          </a:prstGeom>
          <a:pattFill prst="dkHorz">
            <a:fgClr>
              <a:schemeClr val="accent4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7" name="직선 연결선 96"/>
          <p:cNvCxnSpPr>
            <a:cxnSpLocks/>
          </p:cNvCxnSpPr>
          <p:nvPr/>
        </p:nvCxnSpPr>
        <p:spPr>
          <a:xfrm>
            <a:off x="1298064" y="4616397"/>
            <a:ext cx="0" cy="16245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분리출원의 취지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1519" y="1346593"/>
            <a:ext cx="11592794" cy="88883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endParaRPr lang="en-US" altLang="ko-KR" sz="1200" dirty="0">
              <a:solidFill>
                <a:schemeClr val="tx2"/>
              </a:solidFill>
              <a:latin typeface="+mn-ea"/>
            </a:endParaRPr>
          </a:p>
          <a:p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특허거절결정불복심판에서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기각심결이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있는 후에는 분할출원을 할 수 없기 때문에 거절결정 대상이 되지 않은 청구항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즉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청구범위 중 특허가능한 청구항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을 포함하는 특허출원이 구제받지 못하는 경우가 발생하는 문제점이 있었다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이에 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2022. 4. 20.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시행되는 개정법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法律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18505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호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, 2021. 10. 19.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일부개정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에서는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심결취소의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소 제기 전까지 그 청구항을 새로운 특허출원으로 분리하여 신속하게 추가적인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권리획득할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수 있는 기회를 제공하고 있다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</a:t>
            </a:r>
          </a:p>
        </p:txBody>
      </p:sp>
      <p:sp>
        <p:nvSpPr>
          <p:cNvPr id="101" name="Rectangle 5"/>
          <p:cNvSpPr>
            <a:spLocks noChangeArrowheads="1"/>
          </p:cNvSpPr>
          <p:nvPr/>
        </p:nvSpPr>
        <p:spPr bwMode="auto">
          <a:xfrm>
            <a:off x="347687" y="1184570"/>
            <a:ext cx="5627838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+mj-ea"/>
                <a:ea typeface="+mj-ea"/>
              </a:rPr>
              <a:t>거절결정불복심판의 </a:t>
            </a:r>
            <a:r>
              <a:rPr lang="ko-KR" altLang="en-US" sz="1400" dirty="0" err="1">
                <a:solidFill>
                  <a:schemeClr val="bg1"/>
                </a:solidFill>
                <a:latin typeface="+mj-ea"/>
                <a:ea typeface="+mj-ea"/>
              </a:rPr>
              <a:t>심결후</a:t>
            </a:r>
            <a:r>
              <a:rPr lang="ko-KR" altLang="en-US" sz="1400" dirty="0">
                <a:solidFill>
                  <a:schemeClr val="bg1"/>
                </a:solidFill>
                <a:latin typeface="+mj-ea"/>
                <a:ea typeface="+mj-ea"/>
              </a:rPr>
              <a:t> 특허가능한 청구항에 대한 권리획득 기회 제공</a:t>
            </a:r>
            <a:endParaRPr lang="ko-KR" altLang="en-US" sz="14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204</a:t>
            </a:fld>
            <a:endParaRPr lang="ko-KR" altLang="en-US"/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F3F78CA4-FE3C-4F12-88B2-DB52968DA380}"/>
              </a:ext>
            </a:extLst>
          </p:cNvPr>
          <p:cNvCxnSpPr>
            <a:cxnSpLocks/>
          </p:cNvCxnSpPr>
          <p:nvPr/>
        </p:nvCxnSpPr>
        <p:spPr>
          <a:xfrm>
            <a:off x="352535" y="4625019"/>
            <a:ext cx="11491778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14">
            <a:extLst>
              <a:ext uri="{FF2B5EF4-FFF2-40B4-BE49-F238E27FC236}">
                <a16:creationId xmlns:a16="http://schemas.microsoft.com/office/drawing/2014/main" id="{8C3C00C7-7503-4E0F-9C2B-64294E632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508" y="4478681"/>
            <a:ext cx="875110" cy="275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+mn-ea"/>
              </a:rPr>
              <a:t>원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출원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(X)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4" name="Rectangle 14">
            <a:extLst>
              <a:ext uri="{FF2B5EF4-FFF2-40B4-BE49-F238E27FC236}">
                <a16:creationId xmlns:a16="http://schemas.microsoft.com/office/drawing/2014/main" id="{20D0E8A4-C446-4909-BA0A-D415C5D0C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9742" y="4478681"/>
            <a:ext cx="875110" cy="275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+mn-ea"/>
              </a:rPr>
              <a:t>거절결정</a:t>
            </a:r>
            <a:r>
              <a:rPr lang="en-US" altLang="ko-KR" sz="1200" kern="0" dirty="0">
                <a:solidFill>
                  <a:prstClr val="black"/>
                </a:solidFill>
                <a:latin typeface="+mn-ea"/>
              </a:rPr>
              <a:t>(X)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5" name="Rectangle 14">
            <a:extLst>
              <a:ext uri="{FF2B5EF4-FFF2-40B4-BE49-F238E27FC236}">
                <a16:creationId xmlns:a16="http://schemas.microsoft.com/office/drawing/2014/main" id="{D6CD7BC0-04BA-45D7-BE68-DE753FA87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1418" y="4478681"/>
            <a:ext cx="875110" cy="275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+mn-ea"/>
              </a:rPr>
              <a:t>심판청구</a:t>
            </a:r>
            <a:r>
              <a:rPr lang="en-US" altLang="ko-KR" sz="1200" kern="0" dirty="0">
                <a:solidFill>
                  <a:prstClr val="black"/>
                </a:solidFill>
                <a:latin typeface="+mn-ea"/>
              </a:rPr>
              <a:t>(X)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8" name="Rectangle 14">
            <a:extLst>
              <a:ext uri="{FF2B5EF4-FFF2-40B4-BE49-F238E27FC236}">
                <a16:creationId xmlns:a16="http://schemas.microsoft.com/office/drawing/2014/main" id="{BA14BDF4-A067-4746-88F6-18F674E31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5239" y="4478681"/>
            <a:ext cx="875110" cy="275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 err="1">
                <a:solidFill>
                  <a:prstClr val="black"/>
                </a:solidFill>
                <a:latin typeface="+mn-ea"/>
              </a:rPr>
              <a:t>기각심결</a:t>
            </a:r>
            <a:r>
              <a:rPr lang="en-US" altLang="ko-KR" sz="1200" kern="0" dirty="0">
                <a:solidFill>
                  <a:prstClr val="black"/>
                </a:solidFill>
                <a:latin typeface="+mn-ea"/>
              </a:rPr>
              <a:t>(X)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0" name="Rectangle 14">
            <a:extLst>
              <a:ext uri="{FF2B5EF4-FFF2-40B4-BE49-F238E27FC236}">
                <a16:creationId xmlns:a16="http://schemas.microsoft.com/office/drawing/2014/main" id="{D1E33207-1BF0-48D7-845B-051BB9141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1513" y="4478681"/>
            <a:ext cx="875110" cy="275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+mn-ea"/>
              </a:rPr>
              <a:t>소송제기</a:t>
            </a:r>
            <a:r>
              <a:rPr lang="en-US" altLang="ko-KR" sz="1200" kern="0" dirty="0">
                <a:solidFill>
                  <a:prstClr val="black"/>
                </a:solidFill>
                <a:latin typeface="+mn-ea"/>
              </a:rPr>
              <a:t>(X)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18FA0C-9B8F-4605-8C69-DB404C27ED12}"/>
              </a:ext>
            </a:extLst>
          </p:cNvPr>
          <p:cNvSpPr txBox="1"/>
          <p:nvPr/>
        </p:nvSpPr>
        <p:spPr>
          <a:xfrm>
            <a:off x="328681" y="2597182"/>
            <a:ext cx="2161169" cy="133414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100" dirty="0"/>
              <a:t>AB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100" dirty="0"/>
              <a:t>AC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100" dirty="0"/>
              <a:t>1</a:t>
            </a:r>
            <a:r>
              <a:rPr lang="ko-KR" altLang="en-US" sz="1100" dirty="0"/>
              <a:t>항에 있어서</a:t>
            </a:r>
            <a:r>
              <a:rPr lang="en-US" altLang="ko-KR" sz="1100" dirty="0"/>
              <a:t>, D </a:t>
            </a:r>
            <a:r>
              <a:rPr lang="ko-KR" altLang="en-US" sz="1100" dirty="0"/>
              <a:t>또는</a:t>
            </a:r>
            <a:r>
              <a:rPr lang="en-US" altLang="ko-KR" sz="1100" dirty="0"/>
              <a:t> E </a:t>
            </a:r>
            <a:r>
              <a:rPr lang="ko-KR" altLang="en-US" sz="1100" dirty="0"/>
              <a:t>추가</a:t>
            </a:r>
            <a:endParaRPr lang="en-US" altLang="ko-KR" sz="11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100" dirty="0"/>
              <a:t>AF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100" dirty="0"/>
              <a:t>AH</a:t>
            </a:r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7DC4372C-BF48-4D78-803E-17F32C17FFD1}"/>
              </a:ext>
            </a:extLst>
          </p:cNvPr>
          <p:cNvCxnSpPr>
            <a:cxnSpLocks/>
            <a:stCxn id="8" idx="2"/>
            <a:endCxn id="63" idx="0"/>
          </p:cNvCxnSpPr>
          <p:nvPr/>
        </p:nvCxnSpPr>
        <p:spPr>
          <a:xfrm rot="5400000">
            <a:off x="1079990" y="4149404"/>
            <a:ext cx="547351" cy="111203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C365C513-3910-490B-A91A-2E28A26FDEC3}"/>
              </a:ext>
            </a:extLst>
          </p:cNvPr>
          <p:cNvSpPr txBox="1"/>
          <p:nvPr/>
        </p:nvSpPr>
        <p:spPr>
          <a:xfrm>
            <a:off x="3075050" y="2596857"/>
            <a:ext cx="2161169" cy="133414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100" dirty="0"/>
              <a:t>AB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100" dirty="0"/>
              <a:t>AC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100" dirty="0"/>
              <a:t>1</a:t>
            </a:r>
            <a:r>
              <a:rPr lang="ko-KR" altLang="en-US" sz="1100" dirty="0"/>
              <a:t>항에 있어서</a:t>
            </a:r>
            <a:r>
              <a:rPr lang="en-US" altLang="ko-KR" sz="1100" dirty="0"/>
              <a:t>, D </a:t>
            </a:r>
            <a:r>
              <a:rPr lang="ko-KR" altLang="en-US" sz="1100" dirty="0"/>
              <a:t>또는 </a:t>
            </a:r>
            <a:r>
              <a:rPr lang="en-US" altLang="ko-KR" sz="1100" dirty="0"/>
              <a:t>E </a:t>
            </a:r>
            <a:r>
              <a:rPr lang="ko-KR" altLang="en-US" sz="1100" dirty="0"/>
              <a:t>추가</a:t>
            </a:r>
            <a:endParaRPr lang="en-US" altLang="ko-KR" sz="11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100" dirty="0"/>
              <a:t>AF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100" dirty="0"/>
              <a:t>AHIJ</a:t>
            </a:r>
          </a:p>
        </p:txBody>
      </p: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2DC1DD91-05F6-42E2-BC82-5180B95A86CD}"/>
              </a:ext>
            </a:extLst>
          </p:cNvPr>
          <p:cNvCxnSpPr>
            <a:cxnSpLocks/>
            <a:stCxn id="72" idx="2"/>
            <a:endCxn id="64" idx="0"/>
          </p:cNvCxnSpPr>
          <p:nvPr/>
        </p:nvCxnSpPr>
        <p:spPr>
          <a:xfrm rot="5400000">
            <a:off x="3772628" y="4095674"/>
            <a:ext cx="547676" cy="218338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E99E1A73-AD30-4626-9B29-489E45BDD044}"/>
              </a:ext>
            </a:extLst>
          </p:cNvPr>
          <p:cNvSpPr txBox="1"/>
          <p:nvPr/>
        </p:nvSpPr>
        <p:spPr>
          <a:xfrm>
            <a:off x="2764682" y="4980501"/>
            <a:ext cx="1659429" cy="110799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100" dirty="0"/>
              <a:t>진보성 위반</a:t>
            </a:r>
            <a:endParaRPr lang="en-US" altLang="ko-KR" sz="1100" dirty="0"/>
          </a:p>
          <a:p>
            <a:pPr marL="342900" indent="-342900">
              <a:buAutoNum type="arabicPeriod"/>
            </a:pPr>
            <a:r>
              <a:rPr lang="ko-KR" altLang="en-US" sz="1100" dirty="0"/>
              <a:t>특허 가능</a:t>
            </a:r>
            <a:endParaRPr lang="en-US" altLang="ko-KR" sz="1100" dirty="0"/>
          </a:p>
          <a:p>
            <a:pPr marL="342900" indent="-342900">
              <a:buAutoNum type="arabicPeriod"/>
            </a:pPr>
            <a:r>
              <a:rPr lang="en-US" altLang="ko-KR" sz="1100" dirty="0"/>
              <a:t>ABD</a:t>
            </a:r>
            <a:r>
              <a:rPr lang="ko-KR" altLang="en-US" sz="1100" dirty="0"/>
              <a:t>가 진보성 위반</a:t>
            </a:r>
            <a:endParaRPr lang="en-US" altLang="ko-KR" sz="1100" dirty="0"/>
          </a:p>
          <a:p>
            <a:pPr marL="342900" indent="-342900">
              <a:buAutoNum type="arabicPeriod"/>
            </a:pPr>
            <a:r>
              <a:rPr lang="ko-KR" altLang="en-US" sz="1100" dirty="0"/>
              <a:t>특허 가능</a:t>
            </a:r>
            <a:endParaRPr lang="en-US" altLang="ko-KR" sz="1100" dirty="0"/>
          </a:p>
          <a:p>
            <a:pPr marL="342900" indent="-342900">
              <a:buAutoNum type="arabicPeriod"/>
            </a:pPr>
            <a:r>
              <a:rPr lang="ko-KR" altLang="en-US" sz="1100" dirty="0"/>
              <a:t>특허 가능</a:t>
            </a:r>
            <a:r>
              <a:rPr lang="en-US" altLang="ko-KR" sz="1100" dirty="0"/>
              <a:t>(AHI)</a:t>
            </a:r>
          </a:p>
          <a:p>
            <a:r>
              <a:rPr lang="en-US" altLang="ko-KR" sz="1100" dirty="0"/>
              <a:t>*</a:t>
            </a:r>
            <a:r>
              <a:rPr lang="ko-KR" altLang="en-US" sz="1100" dirty="0"/>
              <a:t> </a:t>
            </a:r>
            <a:r>
              <a:rPr lang="en-US" altLang="ko-KR" sz="1100" dirty="0"/>
              <a:t>J</a:t>
            </a:r>
            <a:r>
              <a:rPr lang="ko-KR" altLang="en-US" sz="1100" dirty="0"/>
              <a:t>가 신규사항추가</a:t>
            </a:r>
            <a:endParaRPr lang="en-US" altLang="ko-KR" sz="1100" dirty="0"/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5C2D7D48-C20D-420D-89E7-98E8AA1D1B05}"/>
              </a:ext>
            </a:extLst>
          </p:cNvPr>
          <p:cNvCxnSpPr>
            <a:stCxn id="64" idx="2"/>
            <a:endCxn id="83" idx="0"/>
          </p:cNvCxnSpPr>
          <p:nvPr/>
        </p:nvCxnSpPr>
        <p:spPr>
          <a:xfrm rot="5400000">
            <a:off x="3652653" y="4695857"/>
            <a:ext cx="226388" cy="34290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14">
            <a:extLst>
              <a:ext uri="{FF2B5EF4-FFF2-40B4-BE49-F238E27FC236}">
                <a16:creationId xmlns:a16="http://schemas.microsoft.com/office/drawing/2014/main" id="{BCEDA28A-AAFB-4A5E-8BC9-15F427F82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1818" y="4478681"/>
            <a:ext cx="875110" cy="275432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>
                <a:solidFill>
                  <a:schemeClr val="bg1"/>
                </a:solidFill>
                <a:latin typeface="+mn-ea"/>
              </a:rPr>
              <a:t>분리출원</a:t>
            </a:r>
            <a:r>
              <a:rPr lang="en-US" altLang="ko-KR" sz="1200" kern="0" dirty="0">
                <a:solidFill>
                  <a:schemeClr val="bg1"/>
                </a:solidFill>
                <a:latin typeface="+mn-ea"/>
              </a:rPr>
              <a:t>(Y)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450FF6B-3D35-4DF2-8DD4-2F6C03A5BEB1}"/>
              </a:ext>
            </a:extLst>
          </p:cNvPr>
          <p:cNvSpPr txBox="1"/>
          <p:nvPr/>
        </p:nvSpPr>
        <p:spPr>
          <a:xfrm>
            <a:off x="5975524" y="4980501"/>
            <a:ext cx="2073003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100" dirty="0" err="1"/>
              <a:t>원거절이유에</a:t>
            </a:r>
            <a:r>
              <a:rPr lang="ko-KR" altLang="en-US" sz="1100" dirty="0"/>
              <a:t> 의한 거절결정 유지</a:t>
            </a:r>
            <a:endParaRPr lang="en-US" altLang="ko-KR" sz="1100" dirty="0"/>
          </a:p>
        </p:txBody>
      </p:sp>
      <p:cxnSp>
        <p:nvCxnSpPr>
          <p:cNvPr id="95" name="연결선: 꺾임 94">
            <a:extLst>
              <a:ext uri="{FF2B5EF4-FFF2-40B4-BE49-F238E27FC236}">
                <a16:creationId xmlns:a16="http://schemas.microsoft.com/office/drawing/2014/main" id="{F216186D-B48D-4243-9372-8E5BD68DD1C2}"/>
              </a:ext>
            </a:extLst>
          </p:cNvPr>
          <p:cNvCxnSpPr>
            <a:cxnSpLocks/>
            <a:stCxn id="68" idx="2"/>
            <a:endCxn id="88" idx="0"/>
          </p:cNvCxnSpPr>
          <p:nvPr/>
        </p:nvCxnSpPr>
        <p:spPr>
          <a:xfrm rot="5400000">
            <a:off x="7014216" y="4751923"/>
            <a:ext cx="226388" cy="230768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D1CA92FE-DAD2-45BA-8141-FDC0DEF77D35}"/>
              </a:ext>
            </a:extLst>
          </p:cNvPr>
          <p:cNvSpPr txBox="1"/>
          <p:nvPr/>
        </p:nvSpPr>
        <p:spPr>
          <a:xfrm>
            <a:off x="7551800" y="2663532"/>
            <a:ext cx="1315975" cy="133414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100" dirty="0"/>
              <a:t>AC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100" dirty="0"/>
              <a:t>ABE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1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100" dirty="0"/>
              <a:t>AFG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100" dirty="0"/>
              <a:t>AHI</a:t>
            </a:r>
          </a:p>
        </p:txBody>
      </p: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09A8D668-62F7-4814-A725-469041427480}"/>
              </a:ext>
            </a:extLst>
          </p:cNvPr>
          <p:cNvCxnSpPr>
            <a:cxnSpLocks/>
            <a:stCxn id="96" idx="2"/>
            <a:endCxn id="86" idx="0"/>
          </p:cNvCxnSpPr>
          <p:nvPr/>
        </p:nvCxnSpPr>
        <p:spPr>
          <a:xfrm rot="16200000" flipH="1">
            <a:off x="8319080" y="3888387"/>
            <a:ext cx="481001" cy="699585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4">
            <a:extLst>
              <a:ext uri="{FF2B5EF4-FFF2-40B4-BE49-F238E27FC236}">
                <a16:creationId xmlns:a16="http://schemas.microsoft.com/office/drawing/2014/main" id="{BA1544E3-B586-4BE9-966D-4EDBB500A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508" y="6182825"/>
            <a:ext cx="875110" cy="275432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>
                <a:solidFill>
                  <a:schemeClr val="bg1"/>
                </a:solidFill>
                <a:latin typeface="+mn-ea"/>
              </a:rPr>
              <a:t>특허출원</a:t>
            </a:r>
            <a:r>
              <a:rPr lang="en-US" altLang="ko-KR" sz="1200" kern="0" dirty="0">
                <a:solidFill>
                  <a:schemeClr val="bg1"/>
                </a:solidFill>
                <a:latin typeface="+mn-ea"/>
              </a:rPr>
              <a:t>(Y)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E360EA22-CF00-4F23-A1DA-77396C21C9FE}"/>
              </a:ext>
            </a:extLst>
          </p:cNvPr>
          <p:cNvCxnSpPr>
            <a:stCxn id="86" idx="2"/>
            <a:endCxn id="104" idx="3"/>
          </p:cNvCxnSpPr>
          <p:nvPr/>
        </p:nvCxnSpPr>
        <p:spPr>
          <a:xfrm rot="5400000">
            <a:off x="4539282" y="1950450"/>
            <a:ext cx="1566428" cy="7173755"/>
          </a:xfrm>
          <a:prstGeom prst="bentConnector2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558BE27-7EBD-4E84-B890-787D338C61EB}"/>
              </a:ext>
            </a:extLst>
          </p:cNvPr>
          <p:cNvSpPr/>
          <p:nvPr/>
        </p:nvSpPr>
        <p:spPr>
          <a:xfrm>
            <a:off x="2959100" y="2927201"/>
            <a:ext cx="2489200" cy="1861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601F4AB6-1ABF-4EF0-86BC-122BD0C84FCE}"/>
              </a:ext>
            </a:extLst>
          </p:cNvPr>
          <p:cNvSpPr/>
          <p:nvPr/>
        </p:nvSpPr>
        <p:spPr>
          <a:xfrm>
            <a:off x="2959100" y="3184647"/>
            <a:ext cx="2489200" cy="1890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7AE67D68-DCD5-477E-B2A1-18CDCC954D9F}"/>
              </a:ext>
            </a:extLst>
          </p:cNvPr>
          <p:cNvSpPr/>
          <p:nvPr/>
        </p:nvSpPr>
        <p:spPr>
          <a:xfrm>
            <a:off x="2959100" y="3444996"/>
            <a:ext cx="2489200" cy="1939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E11E4380-C07C-43FE-9B76-16E84121A9FC}"/>
              </a:ext>
            </a:extLst>
          </p:cNvPr>
          <p:cNvSpPr/>
          <p:nvPr/>
        </p:nvSpPr>
        <p:spPr>
          <a:xfrm>
            <a:off x="2959100" y="3687515"/>
            <a:ext cx="2489200" cy="1890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1FF193FD-7763-43D7-B91A-12017676BC0F}"/>
              </a:ext>
            </a:extLst>
          </p:cNvPr>
          <p:cNvSpPr/>
          <p:nvPr/>
        </p:nvSpPr>
        <p:spPr>
          <a:xfrm>
            <a:off x="7402313" y="2751940"/>
            <a:ext cx="1527982" cy="1861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04AD4EB8-15F3-42D4-8885-9D30F01A379A}"/>
              </a:ext>
            </a:extLst>
          </p:cNvPr>
          <p:cNvSpPr/>
          <p:nvPr/>
        </p:nvSpPr>
        <p:spPr>
          <a:xfrm>
            <a:off x="7402313" y="2988376"/>
            <a:ext cx="1527982" cy="1861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992B179C-72F7-4901-A256-B15C3BC5CEF8}"/>
              </a:ext>
            </a:extLst>
          </p:cNvPr>
          <p:cNvSpPr/>
          <p:nvPr/>
        </p:nvSpPr>
        <p:spPr>
          <a:xfrm>
            <a:off x="7402313" y="3499073"/>
            <a:ext cx="1527982" cy="1861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84428566-D480-4282-A70B-A316820DDF57}"/>
              </a:ext>
            </a:extLst>
          </p:cNvPr>
          <p:cNvSpPr/>
          <p:nvPr/>
        </p:nvSpPr>
        <p:spPr>
          <a:xfrm>
            <a:off x="7402313" y="3758038"/>
            <a:ext cx="1527982" cy="1861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E2290F65-A433-4244-B14C-081ECEB27B36}"/>
              </a:ext>
            </a:extLst>
          </p:cNvPr>
          <p:cNvSpPr txBox="1"/>
          <p:nvPr/>
        </p:nvSpPr>
        <p:spPr>
          <a:xfrm>
            <a:off x="5011414" y="6367601"/>
            <a:ext cx="1205779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출원일 소급효</a:t>
            </a:r>
            <a:endParaRPr lang="en-US" altLang="ko-KR" sz="1400" dirty="0"/>
          </a:p>
        </p:txBody>
      </p: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26192662-D04D-42D2-BD59-9684E92CCC8F}"/>
              </a:ext>
            </a:extLst>
          </p:cNvPr>
          <p:cNvCxnSpPr>
            <a:cxnSpLocks/>
            <a:stCxn id="33" idx="3"/>
            <a:endCxn id="132" idx="1"/>
          </p:cNvCxnSpPr>
          <p:nvPr/>
        </p:nvCxnSpPr>
        <p:spPr>
          <a:xfrm flipV="1">
            <a:off x="5448300" y="2845022"/>
            <a:ext cx="1954013" cy="175261"/>
          </a:xfrm>
          <a:prstGeom prst="bentConnector3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09102DE-9240-4F50-926E-866705694846}"/>
              </a:ext>
            </a:extLst>
          </p:cNvPr>
          <p:cNvSpPr txBox="1"/>
          <p:nvPr/>
        </p:nvSpPr>
        <p:spPr>
          <a:xfrm>
            <a:off x="8953903" y="2714216"/>
            <a:ext cx="16786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(1) </a:t>
            </a:r>
            <a:r>
              <a:rPr lang="ko-KR" altLang="en-US" sz="1050" dirty="0"/>
              <a:t>거절되지 아니한 청구항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5C73027-4378-4057-BF23-4B73AC0A9EFC}"/>
              </a:ext>
            </a:extLst>
          </p:cNvPr>
          <p:cNvSpPr txBox="1"/>
          <p:nvPr/>
        </p:nvSpPr>
        <p:spPr>
          <a:xfrm>
            <a:off x="8953903" y="2991359"/>
            <a:ext cx="290941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(2) </a:t>
            </a:r>
            <a:r>
              <a:rPr lang="ko-KR" altLang="en-US" sz="1050" dirty="0"/>
              <a:t>거절된 청구항에서 그 </a:t>
            </a:r>
            <a:r>
              <a:rPr lang="ko-KR" altLang="en-US" sz="1050" dirty="0" err="1"/>
              <a:t>특허거절결정의</a:t>
            </a:r>
            <a:r>
              <a:rPr lang="ko-KR" altLang="en-US" sz="1050" dirty="0"/>
              <a:t> 기초가 된 선택적 기재사항을 삭제한 청구항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6115D800-3113-4759-8E56-A7053F9EFB90}"/>
              </a:ext>
            </a:extLst>
          </p:cNvPr>
          <p:cNvSpPr txBox="1"/>
          <p:nvPr/>
        </p:nvSpPr>
        <p:spPr>
          <a:xfrm>
            <a:off x="8953903" y="3451100"/>
            <a:ext cx="29094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(3) (1)(2)</a:t>
            </a:r>
            <a:r>
              <a:rPr lang="ko-KR" altLang="en-US" sz="1050" dirty="0"/>
              <a:t>의</a:t>
            </a:r>
            <a:r>
              <a:rPr lang="en-US" altLang="ko-KR" sz="1050" dirty="0"/>
              <a:t> </a:t>
            </a:r>
            <a:r>
              <a:rPr lang="ko-KR" altLang="en-US" sz="1050" dirty="0"/>
              <a:t>청구항을 감축한 청구항</a:t>
            </a:r>
            <a:endParaRPr lang="en-US" altLang="ko-KR" sz="1050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62352ADF-079E-4AF7-A4F5-8142D4B99EF1}"/>
              </a:ext>
            </a:extLst>
          </p:cNvPr>
          <p:cNvSpPr txBox="1"/>
          <p:nvPr/>
        </p:nvSpPr>
        <p:spPr>
          <a:xfrm>
            <a:off x="8953903" y="3726071"/>
            <a:ext cx="290941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(4) (1)(2)(3)</a:t>
            </a:r>
            <a:r>
              <a:rPr lang="ko-KR" altLang="en-US" sz="1050" dirty="0"/>
              <a:t>의</a:t>
            </a:r>
            <a:r>
              <a:rPr lang="en-US" altLang="ko-KR" sz="1050" dirty="0"/>
              <a:t> </a:t>
            </a:r>
            <a:r>
              <a:rPr lang="ko-KR" altLang="en-US" sz="1050" dirty="0"/>
              <a:t>청구항 중 신규사항추가부분을 삭제한 청구항</a:t>
            </a:r>
            <a:endParaRPr lang="en-US" altLang="ko-KR" sz="1050" dirty="0"/>
          </a:p>
        </p:txBody>
      </p:sp>
      <p:cxnSp>
        <p:nvCxnSpPr>
          <p:cNvPr id="146" name="연결선: 꺾임 145">
            <a:extLst>
              <a:ext uri="{FF2B5EF4-FFF2-40B4-BE49-F238E27FC236}">
                <a16:creationId xmlns:a16="http://schemas.microsoft.com/office/drawing/2014/main" id="{2214D7AF-2311-43A6-BAA4-DDEA62DE1F28}"/>
              </a:ext>
            </a:extLst>
          </p:cNvPr>
          <p:cNvCxnSpPr>
            <a:cxnSpLocks/>
            <a:stCxn id="106" idx="3"/>
            <a:endCxn id="134" idx="1"/>
          </p:cNvCxnSpPr>
          <p:nvPr/>
        </p:nvCxnSpPr>
        <p:spPr>
          <a:xfrm flipV="1">
            <a:off x="5448300" y="3081458"/>
            <a:ext cx="1954013" cy="197723"/>
          </a:xfrm>
          <a:prstGeom prst="bentConnector3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연결선: 꺾임 147">
            <a:extLst>
              <a:ext uri="{FF2B5EF4-FFF2-40B4-BE49-F238E27FC236}">
                <a16:creationId xmlns:a16="http://schemas.microsoft.com/office/drawing/2014/main" id="{B2CDB7F6-8A85-488D-B5D4-D01BE114530F}"/>
              </a:ext>
            </a:extLst>
          </p:cNvPr>
          <p:cNvCxnSpPr>
            <a:cxnSpLocks/>
            <a:stCxn id="107" idx="3"/>
            <a:endCxn id="135" idx="1"/>
          </p:cNvCxnSpPr>
          <p:nvPr/>
        </p:nvCxnSpPr>
        <p:spPr>
          <a:xfrm>
            <a:off x="5448300" y="3541950"/>
            <a:ext cx="1954013" cy="50205"/>
          </a:xfrm>
          <a:prstGeom prst="bentConnector3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연결선: 꺾임 148">
            <a:extLst>
              <a:ext uri="{FF2B5EF4-FFF2-40B4-BE49-F238E27FC236}">
                <a16:creationId xmlns:a16="http://schemas.microsoft.com/office/drawing/2014/main" id="{B5CB9209-103E-426C-9DC1-B7309F0F35D0}"/>
              </a:ext>
            </a:extLst>
          </p:cNvPr>
          <p:cNvCxnSpPr>
            <a:cxnSpLocks/>
            <a:stCxn id="123" idx="3"/>
            <a:endCxn id="137" idx="1"/>
          </p:cNvCxnSpPr>
          <p:nvPr/>
        </p:nvCxnSpPr>
        <p:spPr>
          <a:xfrm>
            <a:off x="5448300" y="3782049"/>
            <a:ext cx="1954013" cy="69071"/>
          </a:xfrm>
          <a:prstGeom prst="bentConnector3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59989BF-1267-C48D-158F-1801BFD8B325}"/>
              </a:ext>
            </a:extLst>
          </p:cNvPr>
          <p:cNvSpPr txBox="1"/>
          <p:nvPr/>
        </p:nvSpPr>
        <p:spPr>
          <a:xfrm>
            <a:off x="4940251" y="4010155"/>
            <a:ext cx="1568058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등본송달일로부터 </a:t>
            </a:r>
            <a:r>
              <a:rPr lang="en-US" altLang="ko-KR" sz="1100" dirty="0"/>
              <a:t>3</a:t>
            </a:r>
            <a:r>
              <a:rPr lang="ko-KR" altLang="en-US" sz="1100" dirty="0"/>
              <a:t>개월</a:t>
            </a:r>
            <a:endParaRPr lang="en-US" altLang="ko-KR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23BB72-6BD0-B41B-8B4C-6D47A2349EA5}"/>
              </a:ext>
            </a:extLst>
          </p:cNvPr>
          <p:cNvSpPr txBox="1"/>
          <p:nvPr/>
        </p:nvSpPr>
        <p:spPr>
          <a:xfrm>
            <a:off x="9000455" y="5080581"/>
            <a:ext cx="1519968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등본송달일로부터 </a:t>
            </a:r>
            <a:r>
              <a:rPr lang="en-US" altLang="ko-KR" sz="1100" dirty="0"/>
              <a:t>30</a:t>
            </a:r>
            <a:r>
              <a:rPr lang="ko-KR" altLang="en-US" sz="1100" dirty="0"/>
              <a:t>일</a:t>
            </a:r>
            <a:endParaRPr lang="en-US" altLang="ko-KR" sz="11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0F2A4F1-7A0E-5471-9FA9-C884DF9BF32A}"/>
              </a:ext>
            </a:extLst>
          </p:cNvPr>
          <p:cNvSpPr/>
          <p:nvPr/>
        </p:nvSpPr>
        <p:spPr>
          <a:xfrm>
            <a:off x="4578546" y="5668773"/>
            <a:ext cx="2917579" cy="403655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accent4"/>
                </a:solidFill>
              </a:rPr>
              <a:t>필요한 경우 분할출원 대응가능</a:t>
            </a:r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2225B78B-63D9-8A5D-5441-B99BAB7EA311}"/>
              </a:ext>
            </a:extLst>
          </p:cNvPr>
          <p:cNvCxnSpPr>
            <a:stCxn id="13" idx="0"/>
            <a:endCxn id="65" idx="2"/>
          </p:cNvCxnSpPr>
          <p:nvPr/>
        </p:nvCxnSpPr>
        <p:spPr>
          <a:xfrm rot="16200000" flipV="1">
            <a:off x="5415825" y="5047261"/>
            <a:ext cx="914660" cy="328363"/>
          </a:xfrm>
          <a:prstGeom prst="bentConnector3">
            <a:avLst>
              <a:gd name="adj1" fmla="val 28437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0451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양쪽 모서리가 둥근 사각형 152">
            <a:extLst>
              <a:ext uri="{FF2B5EF4-FFF2-40B4-BE49-F238E27FC236}">
                <a16:creationId xmlns:a16="http://schemas.microsoft.com/office/drawing/2014/main" id="{6D5A6BBF-A9B6-D024-6CAA-8181612C3ABB}"/>
              </a:ext>
            </a:extLst>
          </p:cNvPr>
          <p:cNvSpPr/>
          <p:nvPr/>
        </p:nvSpPr>
        <p:spPr>
          <a:xfrm>
            <a:off x="8344995" y="1545760"/>
            <a:ext cx="1519968" cy="363303"/>
          </a:xfrm>
          <a:prstGeom prst="round2SameRect">
            <a:avLst>
              <a:gd name="adj1" fmla="val 50000"/>
              <a:gd name="adj2" fmla="val 0"/>
            </a:avLst>
          </a:prstGeom>
          <a:pattFill prst="dkHorz">
            <a:fgClr>
              <a:schemeClr val="accent4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양쪽 모서리가 둥근 사각형 152">
            <a:extLst>
              <a:ext uri="{FF2B5EF4-FFF2-40B4-BE49-F238E27FC236}">
                <a16:creationId xmlns:a16="http://schemas.microsoft.com/office/drawing/2014/main" id="{B83893BC-C66D-4716-8447-9FA0B115E02B}"/>
              </a:ext>
            </a:extLst>
          </p:cNvPr>
          <p:cNvSpPr/>
          <p:nvPr/>
        </p:nvSpPr>
        <p:spPr>
          <a:xfrm>
            <a:off x="3972517" y="1545760"/>
            <a:ext cx="1980046" cy="363303"/>
          </a:xfrm>
          <a:prstGeom prst="round2SameRect">
            <a:avLst>
              <a:gd name="adj1" fmla="val 50000"/>
              <a:gd name="adj2" fmla="val 0"/>
            </a:avLst>
          </a:prstGeom>
          <a:pattFill prst="dkHorz">
            <a:fgClr>
              <a:schemeClr val="accent4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분할출원</a:t>
            </a:r>
            <a:r>
              <a:rPr lang="en-US" altLang="ko-KR" dirty="0"/>
              <a:t>, </a:t>
            </a:r>
            <a:r>
              <a:rPr lang="ko-KR" altLang="en-US" dirty="0"/>
              <a:t>분리출원과 원출원의 </a:t>
            </a:r>
            <a:r>
              <a:rPr lang="ko-KR" altLang="en-US" dirty="0" err="1"/>
              <a:t>협의제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205</a:t>
            </a:fld>
            <a:endParaRPr lang="ko-KR" altLang="en-US"/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F3F78CA4-FE3C-4F12-88B2-DB52968DA380}"/>
              </a:ext>
            </a:extLst>
          </p:cNvPr>
          <p:cNvCxnSpPr>
            <a:cxnSpLocks/>
          </p:cNvCxnSpPr>
          <p:nvPr/>
        </p:nvCxnSpPr>
        <p:spPr>
          <a:xfrm>
            <a:off x="352535" y="1899748"/>
            <a:ext cx="11491778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14">
            <a:extLst>
              <a:ext uri="{FF2B5EF4-FFF2-40B4-BE49-F238E27FC236}">
                <a16:creationId xmlns:a16="http://schemas.microsoft.com/office/drawing/2014/main" id="{8C3C00C7-7503-4E0F-9C2B-64294E632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508" y="1753410"/>
            <a:ext cx="875110" cy="275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+mn-ea"/>
              </a:rPr>
              <a:t>원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출원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(X)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4" name="Rectangle 14">
            <a:extLst>
              <a:ext uri="{FF2B5EF4-FFF2-40B4-BE49-F238E27FC236}">
                <a16:creationId xmlns:a16="http://schemas.microsoft.com/office/drawing/2014/main" id="{20D0E8A4-C446-4909-BA0A-D415C5D0C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5010" y="1753410"/>
            <a:ext cx="875110" cy="275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+mn-ea"/>
              </a:rPr>
              <a:t>거절결정</a:t>
            </a:r>
            <a:r>
              <a:rPr lang="en-US" altLang="ko-KR" sz="1200" kern="0" dirty="0">
                <a:solidFill>
                  <a:prstClr val="black"/>
                </a:solidFill>
                <a:latin typeface="+mn-ea"/>
              </a:rPr>
              <a:t>(X)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5" name="Rectangle 14">
            <a:extLst>
              <a:ext uri="{FF2B5EF4-FFF2-40B4-BE49-F238E27FC236}">
                <a16:creationId xmlns:a16="http://schemas.microsoft.com/office/drawing/2014/main" id="{D6CD7BC0-04BA-45D7-BE68-DE753FA87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451" y="1753410"/>
            <a:ext cx="875110" cy="275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+mn-ea"/>
              </a:rPr>
              <a:t>심판청구</a:t>
            </a:r>
            <a:r>
              <a:rPr lang="en-US" altLang="ko-KR" sz="1200" kern="0" dirty="0">
                <a:solidFill>
                  <a:prstClr val="black"/>
                </a:solidFill>
                <a:latin typeface="+mn-ea"/>
              </a:rPr>
              <a:t>(X)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8" name="Rectangle 14">
            <a:extLst>
              <a:ext uri="{FF2B5EF4-FFF2-40B4-BE49-F238E27FC236}">
                <a16:creationId xmlns:a16="http://schemas.microsoft.com/office/drawing/2014/main" id="{BA14BDF4-A067-4746-88F6-18F674E31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5239" y="1753410"/>
            <a:ext cx="875110" cy="275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 err="1">
                <a:solidFill>
                  <a:prstClr val="black"/>
                </a:solidFill>
                <a:latin typeface="+mn-ea"/>
              </a:rPr>
              <a:t>기각심결</a:t>
            </a:r>
            <a:r>
              <a:rPr lang="en-US" altLang="ko-KR" sz="1200" kern="0" dirty="0">
                <a:solidFill>
                  <a:prstClr val="black"/>
                </a:solidFill>
                <a:latin typeface="+mn-ea"/>
              </a:rPr>
              <a:t>(X)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9989BF-1267-C48D-158F-1801BFD8B325}"/>
              </a:ext>
            </a:extLst>
          </p:cNvPr>
          <p:cNvSpPr txBox="1"/>
          <p:nvPr/>
        </p:nvSpPr>
        <p:spPr>
          <a:xfrm>
            <a:off x="4276861" y="1284884"/>
            <a:ext cx="1568058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등본송달일로부터 </a:t>
            </a:r>
            <a:r>
              <a:rPr lang="en-US" altLang="ko-KR" sz="1100" dirty="0"/>
              <a:t>3</a:t>
            </a:r>
            <a:r>
              <a:rPr lang="ko-KR" altLang="en-US" sz="1100" dirty="0"/>
              <a:t>개월</a:t>
            </a:r>
            <a:endParaRPr lang="en-US" altLang="ko-KR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23BB72-6BD0-B41B-8B4C-6D47A2349EA5}"/>
              </a:ext>
            </a:extLst>
          </p:cNvPr>
          <p:cNvSpPr txBox="1"/>
          <p:nvPr/>
        </p:nvSpPr>
        <p:spPr>
          <a:xfrm>
            <a:off x="8279918" y="1257170"/>
            <a:ext cx="1519968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등본송달일로부터 </a:t>
            </a:r>
            <a:r>
              <a:rPr lang="en-US" altLang="ko-KR" sz="1100" dirty="0"/>
              <a:t>30</a:t>
            </a:r>
            <a:r>
              <a:rPr lang="ko-KR" altLang="en-US" sz="1100" dirty="0"/>
              <a:t>일</a:t>
            </a:r>
            <a:endParaRPr lang="en-US" altLang="ko-KR" sz="11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0F2A4F1-7A0E-5471-9FA9-C884DF9BF32A}"/>
              </a:ext>
            </a:extLst>
          </p:cNvPr>
          <p:cNvSpPr/>
          <p:nvPr/>
        </p:nvSpPr>
        <p:spPr>
          <a:xfrm>
            <a:off x="487844" y="2943502"/>
            <a:ext cx="4389357" cy="40365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accent2"/>
                </a:solidFill>
              </a:rPr>
              <a:t>분할출원</a:t>
            </a:r>
            <a:r>
              <a:rPr lang="en-US" altLang="ko-KR" sz="1600" dirty="0">
                <a:solidFill>
                  <a:schemeClr val="accent2"/>
                </a:solidFill>
              </a:rPr>
              <a:t>(Y)</a:t>
            </a:r>
            <a:r>
              <a:rPr lang="ko-KR" altLang="en-US" sz="1600" dirty="0">
                <a:solidFill>
                  <a:schemeClr val="accent2"/>
                </a:solidFill>
              </a:rPr>
              <a:t>한 경우 </a:t>
            </a:r>
            <a:r>
              <a:rPr lang="ko-KR" altLang="en-US" sz="1600" dirty="0" err="1">
                <a:solidFill>
                  <a:schemeClr val="accent2"/>
                </a:solidFill>
              </a:rPr>
              <a:t>원출원</a:t>
            </a:r>
            <a:r>
              <a:rPr lang="en-US" altLang="ko-KR" sz="1600" dirty="0">
                <a:solidFill>
                  <a:schemeClr val="accent2"/>
                </a:solidFill>
              </a:rPr>
              <a:t>(X)</a:t>
            </a:r>
            <a:r>
              <a:rPr lang="ko-KR" altLang="en-US" sz="1600" dirty="0">
                <a:solidFill>
                  <a:schemeClr val="accent2"/>
                </a:solidFill>
              </a:rPr>
              <a:t>과 </a:t>
            </a:r>
            <a:r>
              <a:rPr lang="ko-KR" altLang="en-US" sz="1600" dirty="0" err="1">
                <a:solidFill>
                  <a:schemeClr val="accent2"/>
                </a:solidFill>
              </a:rPr>
              <a:t>협의제</a:t>
            </a:r>
            <a:r>
              <a:rPr lang="ko-KR" altLang="en-US" sz="1600" dirty="0">
                <a:solidFill>
                  <a:schemeClr val="accent2"/>
                </a:solidFill>
              </a:rPr>
              <a:t> 회피방안</a:t>
            </a:r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2225B78B-63D9-8A5D-5441-B99BAB7EA311}"/>
              </a:ext>
            </a:extLst>
          </p:cNvPr>
          <p:cNvCxnSpPr>
            <a:cxnSpLocks/>
            <a:stCxn id="13" idx="0"/>
            <a:endCxn id="65" idx="2"/>
          </p:cNvCxnSpPr>
          <p:nvPr/>
        </p:nvCxnSpPr>
        <p:spPr>
          <a:xfrm rot="5400000" flipH="1" flipV="1">
            <a:off x="3352934" y="1358431"/>
            <a:ext cx="914660" cy="2255483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14">
            <a:extLst>
              <a:ext uri="{FF2B5EF4-FFF2-40B4-BE49-F238E27FC236}">
                <a16:creationId xmlns:a16="http://schemas.microsoft.com/office/drawing/2014/main" id="{D1E33207-1BF0-48D7-845B-051BB9141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2347" y="1753410"/>
            <a:ext cx="875110" cy="275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+mn-ea"/>
              </a:rPr>
              <a:t>소송제기</a:t>
            </a:r>
            <a:r>
              <a:rPr lang="en-US" altLang="ko-KR" sz="1200" kern="0" dirty="0">
                <a:solidFill>
                  <a:prstClr val="black"/>
                </a:solidFill>
                <a:latin typeface="+mn-ea"/>
              </a:rPr>
              <a:t>(X)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F5DC0BDB-4540-6DCE-753F-C8B42E720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9470" y="1753410"/>
            <a:ext cx="875110" cy="275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+mn-ea"/>
              </a:rPr>
              <a:t>판결</a:t>
            </a:r>
            <a:r>
              <a:rPr lang="en-US" altLang="ko-KR" sz="1200" kern="0" dirty="0">
                <a:solidFill>
                  <a:prstClr val="black"/>
                </a:solidFill>
                <a:latin typeface="+mn-ea"/>
              </a:rPr>
              <a:t>(X)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E14188-7AF2-814C-9863-D33899B33798}"/>
              </a:ext>
            </a:extLst>
          </p:cNvPr>
          <p:cNvSpPr txBox="1"/>
          <p:nvPr/>
        </p:nvSpPr>
        <p:spPr>
          <a:xfrm>
            <a:off x="10487672" y="2036459"/>
            <a:ext cx="7152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제</a:t>
            </a:r>
            <a:r>
              <a:rPr lang="en-US" altLang="ko-KR" sz="1200" dirty="0">
                <a:solidFill>
                  <a:srgbClr val="FF0000"/>
                </a:solidFill>
              </a:rPr>
              <a:t>189</a:t>
            </a:r>
            <a:r>
              <a:rPr lang="ko-KR" altLang="en-US" sz="1200" dirty="0">
                <a:solidFill>
                  <a:srgbClr val="FF0000"/>
                </a:solidFill>
              </a:rPr>
              <a:t>조</a:t>
            </a:r>
            <a:endParaRPr lang="en-US" altLang="ko-KR" sz="1200" dirty="0">
              <a:solidFill>
                <a:srgbClr val="FF0000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E00F647-EB3D-7D26-F6C4-0C0011DF422E}"/>
              </a:ext>
            </a:extLst>
          </p:cNvPr>
          <p:cNvSpPr/>
          <p:nvPr/>
        </p:nvSpPr>
        <p:spPr>
          <a:xfrm>
            <a:off x="6552798" y="2943502"/>
            <a:ext cx="4389357" cy="4036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accent6"/>
                </a:solidFill>
              </a:rPr>
              <a:t>분리출원</a:t>
            </a:r>
            <a:r>
              <a:rPr lang="en-US" altLang="ko-KR" sz="1600" dirty="0">
                <a:solidFill>
                  <a:schemeClr val="accent6"/>
                </a:solidFill>
              </a:rPr>
              <a:t>(Z)</a:t>
            </a:r>
            <a:r>
              <a:rPr lang="ko-KR" altLang="en-US" sz="1600" dirty="0">
                <a:solidFill>
                  <a:schemeClr val="accent6"/>
                </a:solidFill>
              </a:rPr>
              <a:t>한 경우 </a:t>
            </a:r>
            <a:r>
              <a:rPr lang="ko-KR" altLang="en-US" sz="1600" dirty="0" err="1">
                <a:solidFill>
                  <a:schemeClr val="accent6"/>
                </a:solidFill>
              </a:rPr>
              <a:t>원출원</a:t>
            </a:r>
            <a:r>
              <a:rPr lang="en-US" altLang="ko-KR" sz="1600" dirty="0">
                <a:solidFill>
                  <a:schemeClr val="accent6"/>
                </a:solidFill>
              </a:rPr>
              <a:t>(X)</a:t>
            </a:r>
            <a:r>
              <a:rPr lang="ko-KR" altLang="en-US" sz="1600" dirty="0">
                <a:solidFill>
                  <a:schemeClr val="accent6"/>
                </a:solidFill>
              </a:rPr>
              <a:t>과 </a:t>
            </a:r>
            <a:r>
              <a:rPr lang="ko-KR" altLang="en-US" sz="1600" err="1">
                <a:solidFill>
                  <a:schemeClr val="accent6"/>
                </a:solidFill>
              </a:rPr>
              <a:t>협의제</a:t>
            </a:r>
            <a:r>
              <a:rPr lang="ko-KR" altLang="en-US" sz="1600">
                <a:solidFill>
                  <a:schemeClr val="accent6"/>
                </a:solidFill>
              </a:rPr>
              <a:t> 회피방안</a:t>
            </a:r>
            <a:endParaRPr lang="ko-KR" altLang="en-US" sz="1600" dirty="0">
              <a:solidFill>
                <a:schemeClr val="accent6"/>
              </a:solidFill>
            </a:endParaRPr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25B06F8F-050A-D077-F3B7-FD70D20D147A}"/>
              </a:ext>
            </a:extLst>
          </p:cNvPr>
          <p:cNvCxnSpPr>
            <a:cxnSpLocks/>
            <a:stCxn id="18" idx="0"/>
            <a:endCxn id="70" idx="2"/>
          </p:cNvCxnSpPr>
          <p:nvPr/>
        </p:nvCxnSpPr>
        <p:spPr>
          <a:xfrm rot="5400000" flipH="1" flipV="1">
            <a:off x="8436359" y="2339960"/>
            <a:ext cx="914660" cy="292425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D5157A1-147F-BD84-2E5E-9B600AD1F8E8}"/>
              </a:ext>
            </a:extLst>
          </p:cNvPr>
          <p:cNvSpPr txBox="1"/>
          <p:nvPr/>
        </p:nvSpPr>
        <p:spPr>
          <a:xfrm>
            <a:off x="6552798" y="3366245"/>
            <a:ext cx="5291515" cy="2281074"/>
          </a:xfrm>
          <a:prstGeom prst="rect">
            <a:avLst/>
          </a:prstGeom>
          <a:noFill/>
          <a:ln w="3175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marL="285750" marR="0" indent="-28575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분리출원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(Z)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의 심사절차 중지 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X</a:t>
            </a:r>
          </a:p>
          <a:p>
            <a:pPr marL="285750" marR="0" indent="-28575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200" kern="0" spc="-60" dirty="0" err="1">
                <a:solidFill>
                  <a:srgbClr val="000000"/>
                </a:solidFill>
                <a:effectLst/>
                <a:latin typeface="+mn-ea"/>
              </a:rPr>
              <a:t>원출원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(X)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의 특허결정 전이고 원출원을 인용발명으로 하는 선출원주의 위반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法 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36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②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)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의 거절이유를 제외한 거절이유를 발견할 수 없는 때에는 분리출원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(Z)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에 대해 특허결정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먼저 등록가능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)</a:t>
            </a:r>
          </a:p>
          <a:p>
            <a:pPr marL="285750" marR="0" indent="-28575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분리출원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(Z)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의 특허결정 후에 </a:t>
            </a:r>
            <a:r>
              <a:rPr lang="ko-KR" altLang="en-US" sz="1200" kern="0" spc="-60" dirty="0" err="1">
                <a:solidFill>
                  <a:srgbClr val="000000"/>
                </a:solidFill>
                <a:effectLst/>
                <a:latin typeface="+mn-ea"/>
              </a:rPr>
              <a:t>원출원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(X)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의 </a:t>
            </a:r>
            <a:r>
              <a:rPr lang="ko-KR" altLang="en-US" sz="1200" kern="0" spc="-60" dirty="0" err="1">
                <a:solidFill>
                  <a:srgbClr val="000000"/>
                </a:solidFill>
                <a:effectLst/>
                <a:latin typeface="+mn-ea"/>
              </a:rPr>
              <a:t>기각심결이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 취소되어 특허심판원으로 환송된다면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특허심판원에서는 </a:t>
            </a:r>
            <a:r>
              <a:rPr lang="ko-KR" altLang="en-US" sz="1200" kern="0" spc="-60" dirty="0" err="1">
                <a:solidFill>
                  <a:srgbClr val="000000"/>
                </a:solidFill>
                <a:effectLst/>
                <a:latin typeface="+mn-ea"/>
              </a:rPr>
              <a:t>원거절결정의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 이유와 다른 </a:t>
            </a:r>
            <a:r>
              <a:rPr lang="ko-KR" altLang="en-US" sz="1200" kern="0" spc="-60" dirty="0" err="1">
                <a:solidFill>
                  <a:srgbClr val="000000"/>
                </a:solidFill>
                <a:effectLst/>
                <a:latin typeface="+mn-ea"/>
              </a:rPr>
              <a:t>거절이유인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1200" kern="0" spc="-60" dirty="0" err="1">
                <a:solidFill>
                  <a:srgbClr val="000000"/>
                </a:solidFill>
                <a:effectLst/>
                <a:latin typeface="+mn-ea"/>
              </a:rPr>
              <a:t>협의제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法 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36②) 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위반으로 </a:t>
            </a:r>
            <a:r>
              <a:rPr lang="ko-KR" altLang="en-US" sz="1200" kern="0" spc="-60" dirty="0" err="1">
                <a:solidFill>
                  <a:srgbClr val="000000"/>
                </a:solidFill>
                <a:effectLst/>
                <a:latin typeface="+mn-ea"/>
              </a:rPr>
              <a:t>원출원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(X)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에 대하여 </a:t>
            </a:r>
            <a:r>
              <a:rPr lang="ko-KR" altLang="en-US" sz="1200" kern="0" spc="-60" dirty="0" err="1">
                <a:solidFill>
                  <a:srgbClr val="000000"/>
                </a:solidFill>
                <a:effectLst/>
                <a:latin typeface="+mn-ea"/>
              </a:rPr>
              <a:t>거절이유통지</a:t>
            </a:r>
            <a:endParaRPr lang="en-US" altLang="ko-KR" sz="1200" kern="0" spc="-60" dirty="0">
              <a:solidFill>
                <a:srgbClr val="000000"/>
              </a:solidFill>
              <a:effectLst/>
              <a:latin typeface="+mn-ea"/>
            </a:endParaRPr>
          </a:p>
          <a:p>
            <a:pPr marL="268288" marR="0" indent="-268288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kern="0" spc="-60" dirty="0">
                <a:solidFill>
                  <a:srgbClr val="000000"/>
                </a:solidFill>
                <a:latin typeface="+mn-ea"/>
              </a:rPr>
              <a:t>      (</a:t>
            </a:r>
            <a:r>
              <a:rPr lang="ko-KR" altLang="en-US" sz="1200" kern="0" spc="-60" dirty="0">
                <a:solidFill>
                  <a:srgbClr val="000000"/>
                </a:solidFill>
                <a:latin typeface="+mn-ea"/>
              </a:rPr>
              <a:t>분리출원</a:t>
            </a:r>
            <a:r>
              <a:rPr lang="en-US" altLang="ko-KR" sz="1200" kern="0" spc="-60" dirty="0">
                <a:solidFill>
                  <a:srgbClr val="000000"/>
                </a:solidFill>
                <a:latin typeface="+mn-ea"/>
              </a:rPr>
              <a:t>(Z)</a:t>
            </a:r>
            <a:r>
              <a:rPr lang="ko-KR" altLang="en-US" sz="1200" kern="0" spc="-60" dirty="0">
                <a:solidFill>
                  <a:srgbClr val="000000"/>
                </a:solidFill>
                <a:latin typeface="+mn-ea"/>
              </a:rPr>
              <a:t>이 먼저 등록된 경우 </a:t>
            </a:r>
            <a:r>
              <a:rPr lang="ko-KR" altLang="en-US" sz="1200" kern="0" spc="-60" dirty="0" err="1">
                <a:solidFill>
                  <a:srgbClr val="000000"/>
                </a:solidFill>
                <a:latin typeface="+mn-ea"/>
              </a:rPr>
              <a:t>협의제</a:t>
            </a:r>
            <a:r>
              <a:rPr lang="ko-KR" altLang="en-US" sz="1200" kern="0" spc="-60" dirty="0">
                <a:solidFill>
                  <a:srgbClr val="000000"/>
                </a:solidFill>
                <a:latin typeface="+mn-ea"/>
              </a:rPr>
              <a:t> 위반의 특허취소사유</a:t>
            </a:r>
            <a:r>
              <a:rPr lang="en-US" altLang="ko-KR" sz="1200" kern="0" spc="-6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200" kern="0" spc="-60" dirty="0">
                <a:solidFill>
                  <a:srgbClr val="000000"/>
                </a:solidFill>
                <a:latin typeface="+mn-ea"/>
              </a:rPr>
              <a:t>특허무효사유 존재</a:t>
            </a:r>
            <a:r>
              <a:rPr lang="en-US" altLang="ko-KR" sz="1200" kern="0" spc="-60" dirty="0">
                <a:solidFill>
                  <a:srgbClr val="000000"/>
                </a:solidFill>
                <a:latin typeface="+mn-ea"/>
              </a:rPr>
              <a:t>)</a:t>
            </a:r>
            <a:endParaRPr lang="ko-KR" altLang="en-US" sz="1200" kern="0" spc="-6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8D22D3-0082-1BB4-7B77-BC9978AE8EF0}"/>
              </a:ext>
            </a:extLst>
          </p:cNvPr>
          <p:cNvSpPr txBox="1"/>
          <p:nvPr/>
        </p:nvSpPr>
        <p:spPr>
          <a:xfrm>
            <a:off x="487442" y="3366245"/>
            <a:ext cx="5465121" cy="1450077"/>
          </a:xfrm>
          <a:prstGeom prst="rect">
            <a:avLst/>
          </a:prstGeom>
          <a:noFill/>
          <a:ln w="3175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marL="285750" marR="0" indent="-28575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200" kern="0" spc="-60" dirty="0" err="1">
                <a:solidFill>
                  <a:srgbClr val="000000"/>
                </a:solidFill>
                <a:effectLst/>
                <a:latin typeface="+mn-ea"/>
              </a:rPr>
              <a:t>원출원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(X)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의 심판결과가 확정될 때까지 분할출원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(Y)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의 심사절차 중지 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O</a:t>
            </a:r>
          </a:p>
          <a:p>
            <a:pPr marL="285750" marR="0" indent="-28575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심판결과 </a:t>
            </a:r>
            <a:r>
              <a:rPr lang="ko-KR" altLang="en-US" sz="1200" kern="0" spc="-60" dirty="0" err="1">
                <a:solidFill>
                  <a:srgbClr val="000000"/>
                </a:solidFill>
                <a:effectLst/>
                <a:latin typeface="+mn-ea"/>
              </a:rPr>
              <a:t>원출원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(X)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에 대한 거절한다는 취지의 </a:t>
            </a:r>
            <a:r>
              <a:rPr lang="ko-KR" altLang="en-US" sz="1200" kern="0" spc="-60" dirty="0" err="1">
                <a:solidFill>
                  <a:srgbClr val="000000"/>
                </a:solidFill>
                <a:effectLst/>
                <a:latin typeface="+mn-ea"/>
              </a:rPr>
              <a:t>심결이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 확정되면 선출원의 지위가 없어지기 때문에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法 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36④) 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분할출원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(Y)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은 </a:t>
            </a:r>
            <a:r>
              <a:rPr lang="ko-KR" altLang="en-US" sz="1200" kern="0" spc="-60" dirty="0" err="1">
                <a:solidFill>
                  <a:srgbClr val="000000"/>
                </a:solidFill>
                <a:effectLst/>
                <a:latin typeface="+mn-ea"/>
              </a:rPr>
              <a:t>협의제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法 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36②)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 회피 가능</a:t>
            </a:r>
            <a:endParaRPr lang="en-US" altLang="ko-KR" sz="1200" kern="0" spc="-60" dirty="0">
              <a:solidFill>
                <a:srgbClr val="000000"/>
              </a:solidFill>
              <a:effectLst/>
              <a:latin typeface="+mn-ea"/>
            </a:endParaRPr>
          </a:p>
          <a:p>
            <a:pPr marL="285750" marR="0" indent="-28575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200" kern="0" spc="-60" dirty="0" err="1">
                <a:solidFill>
                  <a:srgbClr val="000000"/>
                </a:solidFill>
                <a:effectLst/>
                <a:latin typeface="+mn-ea"/>
              </a:rPr>
              <a:t>원출원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(X)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에 대한 </a:t>
            </a:r>
            <a:r>
              <a:rPr lang="ko-KR" altLang="en-US" sz="1200" kern="0" spc="-60" dirty="0" err="1">
                <a:solidFill>
                  <a:srgbClr val="000000"/>
                </a:solidFill>
                <a:effectLst/>
                <a:latin typeface="+mn-ea"/>
              </a:rPr>
              <a:t>인용심결이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 확정되어 거절결정이 취소되면 </a:t>
            </a:r>
            <a:r>
              <a:rPr lang="ko-KR" altLang="en-US" sz="1200" kern="0" spc="-60" dirty="0" err="1">
                <a:solidFill>
                  <a:srgbClr val="000000"/>
                </a:solidFill>
                <a:effectLst/>
                <a:latin typeface="+mn-ea"/>
              </a:rPr>
              <a:t>원출원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(X)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과 분할출원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(Y)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은 </a:t>
            </a:r>
            <a:r>
              <a:rPr lang="ko-KR" altLang="en-US" sz="1200" kern="0" spc="-60" dirty="0" err="1">
                <a:solidFill>
                  <a:srgbClr val="000000"/>
                </a:solidFill>
                <a:effectLst/>
                <a:latin typeface="+mn-ea"/>
              </a:rPr>
              <a:t>협의제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 (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法 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36②)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 적용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 </a:t>
            </a:r>
            <a:endParaRPr lang="ko-KR" altLang="en-US" sz="1200" kern="0" spc="-60" dirty="0">
              <a:solidFill>
                <a:srgbClr val="000000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9033430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분할출원과 분리출원의 법조문 비교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601812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000" b="1" dirty="0">
                <a:solidFill>
                  <a:schemeClr val="accent1"/>
                </a:solidFill>
              </a:rPr>
              <a:t>제</a:t>
            </a:r>
            <a:r>
              <a:rPr lang="en-US" altLang="ko-KR" sz="1000" b="1" dirty="0">
                <a:solidFill>
                  <a:schemeClr val="accent1"/>
                </a:solidFill>
              </a:rPr>
              <a:t>52</a:t>
            </a:r>
            <a:r>
              <a:rPr lang="ko-KR" altLang="en-US" sz="1000" b="1" dirty="0">
                <a:solidFill>
                  <a:schemeClr val="accent1"/>
                </a:solidFill>
              </a:rPr>
              <a:t>조</a:t>
            </a:r>
            <a:r>
              <a:rPr lang="en-US" altLang="ko-KR" sz="1000" b="1" dirty="0">
                <a:solidFill>
                  <a:schemeClr val="accent1"/>
                </a:solidFill>
              </a:rPr>
              <a:t>(</a:t>
            </a:r>
            <a:r>
              <a:rPr lang="ko-KR" altLang="en-US" sz="1000" b="1" dirty="0">
                <a:solidFill>
                  <a:schemeClr val="accent1"/>
                </a:solidFill>
              </a:rPr>
              <a:t>분할출원</a:t>
            </a:r>
            <a:r>
              <a:rPr lang="en-US" altLang="ko-KR" sz="1000" b="1" dirty="0">
                <a:solidFill>
                  <a:schemeClr val="accent1"/>
                </a:solidFill>
              </a:rPr>
              <a:t>) </a:t>
            </a:r>
            <a:r>
              <a:rPr lang="ko-KR" altLang="en-US" sz="1000" dirty="0">
                <a:solidFill>
                  <a:schemeClr val="tx2"/>
                </a:solidFill>
              </a:rPr>
              <a:t>① </a:t>
            </a:r>
            <a:r>
              <a:rPr lang="ko-KR" altLang="en-US" sz="1000" dirty="0" err="1">
                <a:solidFill>
                  <a:schemeClr val="tx2"/>
                </a:solidFill>
              </a:rPr>
              <a:t>특허출원인은</a:t>
            </a:r>
            <a:r>
              <a:rPr lang="ko-KR" altLang="en-US" sz="1000" dirty="0">
                <a:solidFill>
                  <a:schemeClr val="tx2"/>
                </a:solidFill>
              </a:rPr>
              <a:t> 둘 이상의 발명을 하나의 특허출원으로 한 경우에는 그 특허출원의 출원서에 최초로 첨부된 명세서 또는 도면에 기재된 사항의 범위에서 다음 각 호의 어느 하나에 해당하는 기간에 그 일부를 하나 이상의 특허출원으로 분할할 수 있다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  <a:r>
              <a:rPr lang="ko-KR" altLang="en-US" sz="1000" dirty="0">
                <a:solidFill>
                  <a:schemeClr val="tx2"/>
                </a:solidFill>
              </a:rPr>
              <a:t>다만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>
                <a:solidFill>
                  <a:schemeClr val="tx2"/>
                </a:solidFill>
              </a:rPr>
              <a:t>그 특허출원이 </a:t>
            </a:r>
            <a:r>
              <a:rPr lang="ko-KR" altLang="en-US" sz="1000" dirty="0" err="1">
                <a:solidFill>
                  <a:schemeClr val="tx2"/>
                </a:solidFill>
              </a:rPr>
              <a:t>외국어특허출원인</a:t>
            </a:r>
            <a:r>
              <a:rPr lang="ko-KR" altLang="en-US" sz="1000" dirty="0">
                <a:solidFill>
                  <a:schemeClr val="tx2"/>
                </a:solidFill>
              </a:rPr>
              <a:t> 경우에는 그 특허출원에 대한 제</a:t>
            </a:r>
            <a:r>
              <a:rPr lang="en-US" altLang="ko-KR" sz="1000" dirty="0">
                <a:solidFill>
                  <a:schemeClr val="tx2"/>
                </a:solidFill>
              </a:rPr>
              <a:t>42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항에 따른 국어번역문이 제출된 경우에만 분할할 수 있다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  1.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47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항에 따라 보정을 할 수 있는 기간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  </a:t>
            </a:r>
            <a:r>
              <a:rPr lang="en-US" altLang="ko-KR" sz="1000" dirty="0">
                <a:solidFill>
                  <a:schemeClr val="tx2"/>
                </a:solidFill>
              </a:rPr>
              <a:t>2. </a:t>
            </a:r>
            <a:r>
              <a:rPr lang="ko-KR" altLang="en-US" sz="1000" dirty="0" err="1">
                <a:solidFill>
                  <a:schemeClr val="tx2"/>
                </a:solidFill>
              </a:rPr>
              <a:t>특허거절결정등본을</a:t>
            </a:r>
            <a:r>
              <a:rPr lang="ko-KR" altLang="en-US" sz="1000" dirty="0">
                <a:solidFill>
                  <a:schemeClr val="tx2"/>
                </a:solidFill>
              </a:rPr>
              <a:t> </a:t>
            </a:r>
            <a:r>
              <a:rPr lang="ko-KR" altLang="en-US" sz="1000" dirty="0" err="1">
                <a:solidFill>
                  <a:schemeClr val="tx2"/>
                </a:solidFill>
              </a:rPr>
              <a:t>송달받은</a:t>
            </a:r>
            <a:r>
              <a:rPr lang="ko-KR" altLang="en-US" sz="1000" dirty="0">
                <a:solidFill>
                  <a:schemeClr val="tx2"/>
                </a:solidFill>
              </a:rPr>
              <a:t> 날부터 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개월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15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항에 따라 제</a:t>
            </a:r>
            <a:r>
              <a:rPr lang="en-US" altLang="ko-KR" sz="1000" dirty="0">
                <a:solidFill>
                  <a:schemeClr val="tx2"/>
                </a:solidFill>
              </a:rPr>
              <a:t>132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17</a:t>
            </a:r>
            <a:r>
              <a:rPr lang="ko-KR" altLang="en-US" sz="1000" dirty="0">
                <a:solidFill>
                  <a:schemeClr val="tx2"/>
                </a:solidFill>
              </a:rPr>
              <a:t>에 따른 기간이 연장된 경우 그 연장된 기간을 말한다</a:t>
            </a:r>
            <a:r>
              <a:rPr lang="en-US" altLang="ko-KR" sz="1000" dirty="0">
                <a:solidFill>
                  <a:schemeClr val="tx2"/>
                </a:solidFill>
              </a:rPr>
              <a:t>) </a:t>
            </a:r>
            <a:r>
              <a:rPr lang="ko-KR" altLang="en-US" sz="1000" dirty="0">
                <a:solidFill>
                  <a:schemeClr val="tx2"/>
                </a:solidFill>
              </a:rPr>
              <a:t>이내의 기간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  </a:t>
            </a:r>
            <a:r>
              <a:rPr lang="en-US" altLang="ko-KR" sz="1000" dirty="0">
                <a:solidFill>
                  <a:schemeClr val="tx2"/>
                </a:solidFill>
              </a:rPr>
              <a:t>3.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66</a:t>
            </a:r>
            <a:r>
              <a:rPr lang="ko-KR" altLang="en-US" sz="1000" dirty="0">
                <a:solidFill>
                  <a:schemeClr val="tx2"/>
                </a:solidFill>
              </a:rPr>
              <a:t>조에 따른 특허결정 또는 제</a:t>
            </a:r>
            <a:r>
              <a:rPr lang="en-US" altLang="ko-KR" sz="1000" dirty="0">
                <a:solidFill>
                  <a:schemeClr val="tx2"/>
                </a:solidFill>
              </a:rPr>
              <a:t>176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항에 따른 </a:t>
            </a:r>
            <a:r>
              <a:rPr lang="ko-KR" altLang="en-US" sz="1000" dirty="0" err="1">
                <a:solidFill>
                  <a:schemeClr val="tx2"/>
                </a:solidFill>
              </a:rPr>
              <a:t>특허거절결정</a:t>
            </a:r>
            <a:r>
              <a:rPr lang="ko-KR" altLang="en-US" sz="1000" dirty="0">
                <a:solidFill>
                  <a:schemeClr val="tx2"/>
                </a:solidFill>
              </a:rPr>
              <a:t> </a:t>
            </a:r>
            <a:r>
              <a:rPr lang="ko-KR" altLang="en-US" sz="1000" dirty="0" err="1">
                <a:solidFill>
                  <a:schemeClr val="tx2"/>
                </a:solidFill>
              </a:rPr>
              <a:t>취소심결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특허등록을 결정한 </a:t>
            </a:r>
            <a:r>
              <a:rPr lang="ko-KR" altLang="en-US" sz="1000" dirty="0" err="1">
                <a:solidFill>
                  <a:schemeClr val="tx2"/>
                </a:solidFill>
              </a:rPr>
              <a:t>심결에</a:t>
            </a:r>
            <a:r>
              <a:rPr lang="ko-KR" altLang="en-US" sz="1000" dirty="0">
                <a:solidFill>
                  <a:schemeClr val="tx2"/>
                </a:solidFill>
              </a:rPr>
              <a:t> 한정하되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 err="1">
                <a:solidFill>
                  <a:schemeClr val="tx2"/>
                </a:solidFill>
              </a:rPr>
              <a:t>재심심결을</a:t>
            </a:r>
            <a:r>
              <a:rPr lang="ko-KR" altLang="en-US" sz="1000" dirty="0">
                <a:solidFill>
                  <a:schemeClr val="tx2"/>
                </a:solidFill>
              </a:rPr>
              <a:t> 포함한다</a:t>
            </a:r>
            <a:r>
              <a:rPr lang="en-US" altLang="ko-KR" sz="1000" dirty="0">
                <a:solidFill>
                  <a:schemeClr val="tx2"/>
                </a:solidFill>
              </a:rPr>
              <a:t>)</a:t>
            </a:r>
            <a:r>
              <a:rPr lang="ko-KR" altLang="en-US" sz="1000" dirty="0">
                <a:solidFill>
                  <a:schemeClr val="tx2"/>
                </a:solidFill>
              </a:rPr>
              <a:t>의 등본을 </a:t>
            </a:r>
            <a:r>
              <a:rPr lang="ko-KR" altLang="en-US" sz="1000" dirty="0" err="1">
                <a:solidFill>
                  <a:schemeClr val="tx2"/>
                </a:solidFill>
              </a:rPr>
              <a:t>송달받은</a:t>
            </a:r>
            <a:r>
              <a:rPr lang="ko-KR" altLang="en-US" sz="1000" dirty="0">
                <a:solidFill>
                  <a:schemeClr val="tx2"/>
                </a:solidFill>
              </a:rPr>
              <a:t> 날부터 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개월 이내의 기간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  <a:r>
              <a:rPr lang="ko-KR" altLang="en-US" sz="1000" dirty="0">
                <a:solidFill>
                  <a:schemeClr val="tx2"/>
                </a:solidFill>
              </a:rPr>
              <a:t>다만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79</a:t>
            </a:r>
            <a:r>
              <a:rPr lang="ko-KR" altLang="en-US" sz="1000" dirty="0">
                <a:solidFill>
                  <a:schemeClr val="tx2"/>
                </a:solidFill>
              </a:rPr>
              <a:t>조에 따른 설정등록을 받으려는 날이 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개월보다 짧은 경우에는 그 날까지의 기간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② 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항에 따라 분할된 특허출원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이하 “</a:t>
            </a:r>
            <a:r>
              <a:rPr lang="ko-KR" altLang="en-US" sz="1000" dirty="0" err="1">
                <a:solidFill>
                  <a:schemeClr val="tx2"/>
                </a:solidFill>
              </a:rPr>
              <a:t>분할출원”이라</a:t>
            </a:r>
            <a:r>
              <a:rPr lang="ko-KR" altLang="en-US" sz="1000" dirty="0">
                <a:solidFill>
                  <a:schemeClr val="tx2"/>
                </a:solidFill>
              </a:rPr>
              <a:t> 한다</a:t>
            </a:r>
            <a:r>
              <a:rPr lang="en-US" altLang="ko-KR" sz="1000" dirty="0">
                <a:solidFill>
                  <a:schemeClr val="tx2"/>
                </a:solidFill>
              </a:rPr>
              <a:t>)</a:t>
            </a:r>
            <a:r>
              <a:rPr lang="ko-KR" altLang="en-US" sz="1000" dirty="0">
                <a:solidFill>
                  <a:schemeClr val="tx2"/>
                </a:solidFill>
              </a:rPr>
              <a:t>이 있는 경우 그 분할출원은 </a:t>
            </a:r>
            <a:r>
              <a:rPr lang="ko-KR" altLang="en-US" sz="1000" dirty="0" err="1">
                <a:solidFill>
                  <a:schemeClr val="tx2"/>
                </a:solidFill>
              </a:rPr>
              <a:t>특허출원한</a:t>
            </a:r>
            <a:r>
              <a:rPr lang="ko-KR" altLang="en-US" sz="1000" dirty="0">
                <a:solidFill>
                  <a:schemeClr val="tx2"/>
                </a:solidFill>
              </a:rPr>
              <a:t> 때에 출원한 것으로 본다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  <a:r>
              <a:rPr lang="ko-KR" altLang="en-US" sz="1000" dirty="0">
                <a:solidFill>
                  <a:schemeClr val="tx2"/>
                </a:solidFill>
              </a:rPr>
              <a:t>다만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>
                <a:solidFill>
                  <a:schemeClr val="tx2"/>
                </a:solidFill>
              </a:rPr>
              <a:t>그 분할출원에 대하여 다음 각 호의 규정을 적용할 경우에는 해당 분할출원을 한 때에 출원한 것으로 본다</a:t>
            </a:r>
            <a:r>
              <a:rPr lang="en-US" altLang="ko-KR" sz="10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  1. </a:t>
            </a:r>
            <a:r>
              <a:rPr lang="ko-KR" altLang="en-US" sz="1000" dirty="0">
                <a:solidFill>
                  <a:schemeClr val="tx2"/>
                </a:solidFill>
              </a:rPr>
              <a:t>분할출원이 제</a:t>
            </a:r>
            <a:r>
              <a:rPr lang="en-US" altLang="ko-KR" sz="1000" dirty="0">
                <a:solidFill>
                  <a:schemeClr val="tx2"/>
                </a:solidFill>
              </a:rPr>
              <a:t>29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항에 따른 다른 특허출원 또는 「실용신안법」 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항에 따른 특허출원에 해당하여 이 법 제</a:t>
            </a:r>
            <a:r>
              <a:rPr lang="en-US" altLang="ko-KR" sz="1000" dirty="0">
                <a:solidFill>
                  <a:schemeClr val="tx2"/>
                </a:solidFill>
              </a:rPr>
              <a:t>29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항 또는 「실용신안법」 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항을 적용하는 경우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  </a:t>
            </a:r>
            <a:r>
              <a:rPr lang="en-US" altLang="ko-KR" sz="1000" dirty="0">
                <a:solidFill>
                  <a:schemeClr val="tx2"/>
                </a:solidFill>
              </a:rPr>
              <a:t>2.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30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항을 적용하는 경우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  </a:t>
            </a:r>
            <a:r>
              <a:rPr lang="en-US" altLang="ko-KR" sz="1000" dirty="0">
                <a:solidFill>
                  <a:schemeClr val="tx2"/>
                </a:solidFill>
              </a:rPr>
              <a:t>3.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54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항을 적용하는 경우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  </a:t>
            </a:r>
            <a:r>
              <a:rPr lang="en-US" altLang="ko-KR" sz="1000" dirty="0">
                <a:solidFill>
                  <a:schemeClr val="tx2"/>
                </a:solidFill>
              </a:rPr>
              <a:t>4.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55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항을 적용하는 경우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③ 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항에 따라 분할출원을 하려는 자는 분할출원을 할 때에 </a:t>
            </a:r>
            <a:r>
              <a:rPr lang="ko-KR" altLang="en-US" sz="10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000" dirty="0">
                <a:solidFill>
                  <a:schemeClr val="tx2"/>
                </a:solidFill>
              </a:rPr>
              <a:t> 그 취지 및 분할의 기초가 된 특허출원의 표시를 하여야 한다</a:t>
            </a:r>
            <a:r>
              <a:rPr lang="en-US" altLang="ko-KR" sz="10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④ </a:t>
            </a:r>
            <a:r>
              <a:rPr lang="ko-KR" altLang="en-US" sz="1000" dirty="0">
                <a:solidFill>
                  <a:schemeClr val="tx2"/>
                </a:solidFill>
              </a:rPr>
              <a:t>분할의 기초가 된 특허출원이 제</a:t>
            </a:r>
            <a:r>
              <a:rPr lang="en-US" altLang="ko-KR" sz="1000" dirty="0">
                <a:solidFill>
                  <a:schemeClr val="tx2"/>
                </a:solidFill>
              </a:rPr>
              <a:t>54</a:t>
            </a:r>
            <a:r>
              <a:rPr lang="ko-KR" altLang="en-US" sz="1000" dirty="0">
                <a:solidFill>
                  <a:schemeClr val="tx2"/>
                </a:solidFill>
              </a:rPr>
              <a:t>조 또는 제</a:t>
            </a:r>
            <a:r>
              <a:rPr lang="en-US" altLang="ko-KR" sz="1000" dirty="0">
                <a:solidFill>
                  <a:schemeClr val="tx2"/>
                </a:solidFill>
              </a:rPr>
              <a:t>55</a:t>
            </a:r>
            <a:r>
              <a:rPr lang="ko-KR" altLang="en-US" sz="1000" dirty="0">
                <a:solidFill>
                  <a:schemeClr val="tx2"/>
                </a:solidFill>
              </a:rPr>
              <a:t>조에 따라 우선권을 주장한 특허출원인 경우에는 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항에 따라 분할출원을 한 때에 그 분할출원에 대해서도 우선권 주장을 한 것으로 보며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>
                <a:solidFill>
                  <a:schemeClr val="tx2"/>
                </a:solidFill>
              </a:rPr>
              <a:t>분할의 기초가 된 특허출원에 대하여 제</a:t>
            </a:r>
            <a:r>
              <a:rPr lang="en-US" altLang="ko-KR" sz="1000" dirty="0">
                <a:solidFill>
                  <a:schemeClr val="tx2"/>
                </a:solidFill>
              </a:rPr>
              <a:t>54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항에 따라 제출된 서류 또는 서면이 있는 경우에는 분할출원에 대해서도 해당 서류 또는 서면이 제출된 것으로 본다</a:t>
            </a:r>
            <a:r>
              <a:rPr lang="en-US" altLang="ko-KR" sz="10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⑤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항에 따라 우선권을 주장한 것으로 보는 분할출원에 관하여는 제</a:t>
            </a:r>
            <a:r>
              <a:rPr lang="en-US" altLang="ko-KR" sz="1000" dirty="0">
                <a:solidFill>
                  <a:schemeClr val="tx2"/>
                </a:solidFill>
              </a:rPr>
              <a:t>54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7</a:t>
            </a:r>
            <a:r>
              <a:rPr lang="ko-KR" altLang="en-US" sz="1000" dirty="0">
                <a:solidFill>
                  <a:schemeClr val="tx2"/>
                </a:solidFill>
              </a:rPr>
              <a:t>항 또는 제</a:t>
            </a:r>
            <a:r>
              <a:rPr lang="en-US" altLang="ko-KR" sz="1000" dirty="0">
                <a:solidFill>
                  <a:schemeClr val="tx2"/>
                </a:solidFill>
              </a:rPr>
              <a:t>55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7</a:t>
            </a:r>
            <a:r>
              <a:rPr lang="ko-KR" altLang="en-US" sz="1000" dirty="0">
                <a:solidFill>
                  <a:schemeClr val="tx2"/>
                </a:solidFill>
              </a:rPr>
              <a:t>항에 따른 기한이 지난 후에도 분할출원을 한 날부터 </a:t>
            </a:r>
            <a:r>
              <a:rPr lang="en-US" altLang="ko-KR" sz="1000" dirty="0">
                <a:solidFill>
                  <a:schemeClr val="tx2"/>
                </a:solidFill>
              </a:rPr>
              <a:t>30</a:t>
            </a:r>
            <a:r>
              <a:rPr lang="ko-KR" altLang="en-US" sz="1000" dirty="0">
                <a:solidFill>
                  <a:schemeClr val="tx2"/>
                </a:solidFill>
              </a:rPr>
              <a:t>일 이내에 그 우선권 주장의 전부 또는 일부를 취하할 수 있다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⑥ </a:t>
            </a:r>
            <a:r>
              <a:rPr lang="ko-KR" altLang="en-US" sz="1000" dirty="0">
                <a:solidFill>
                  <a:schemeClr val="tx2"/>
                </a:solidFill>
              </a:rPr>
              <a:t>분할출원의 경우에 제</a:t>
            </a:r>
            <a:r>
              <a:rPr lang="en-US" altLang="ko-KR" sz="1000" dirty="0">
                <a:solidFill>
                  <a:schemeClr val="tx2"/>
                </a:solidFill>
              </a:rPr>
              <a:t>54</a:t>
            </a:r>
            <a:r>
              <a:rPr lang="ko-KR" altLang="en-US" sz="1000" dirty="0">
                <a:solidFill>
                  <a:schemeClr val="tx2"/>
                </a:solidFill>
              </a:rPr>
              <a:t>조에 따른 우선권을 주장하는 자는 같은 조 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항에 따른 서류를 같은 조 제</a:t>
            </a:r>
            <a:r>
              <a:rPr lang="en-US" altLang="ko-KR" sz="1000" dirty="0">
                <a:solidFill>
                  <a:schemeClr val="tx2"/>
                </a:solidFill>
              </a:rPr>
              <a:t>5</a:t>
            </a:r>
            <a:r>
              <a:rPr lang="ko-KR" altLang="en-US" sz="1000" dirty="0">
                <a:solidFill>
                  <a:schemeClr val="tx2"/>
                </a:solidFill>
              </a:rPr>
              <a:t>항에 따른 기간이 지난 후에도 분할출원을 한 날부터 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개월 이내에 지식재산처장에게 제출할 수 있다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⑦ </a:t>
            </a:r>
            <a:r>
              <a:rPr lang="ko-KR" altLang="en-US" sz="1000" dirty="0">
                <a:solidFill>
                  <a:schemeClr val="tx2"/>
                </a:solidFill>
              </a:rPr>
              <a:t>분할출원이 </a:t>
            </a:r>
            <a:r>
              <a:rPr lang="ko-KR" altLang="en-US" sz="1000" dirty="0" err="1">
                <a:solidFill>
                  <a:schemeClr val="tx2"/>
                </a:solidFill>
              </a:rPr>
              <a:t>외국어특허출원인</a:t>
            </a:r>
            <a:r>
              <a:rPr lang="ko-KR" altLang="en-US" sz="1000" dirty="0">
                <a:solidFill>
                  <a:schemeClr val="tx2"/>
                </a:solidFill>
              </a:rPr>
              <a:t> 경우에는 </a:t>
            </a:r>
            <a:r>
              <a:rPr lang="ko-KR" altLang="en-US" sz="1000" dirty="0" err="1">
                <a:solidFill>
                  <a:schemeClr val="tx2"/>
                </a:solidFill>
              </a:rPr>
              <a:t>특허출원인은</a:t>
            </a:r>
            <a:r>
              <a:rPr lang="ko-KR" altLang="en-US" sz="1000" dirty="0">
                <a:solidFill>
                  <a:schemeClr val="tx2"/>
                </a:solidFill>
              </a:rPr>
              <a:t> 제</a:t>
            </a:r>
            <a:r>
              <a:rPr lang="en-US" altLang="ko-KR" sz="1000" dirty="0">
                <a:solidFill>
                  <a:schemeClr val="tx2"/>
                </a:solidFill>
              </a:rPr>
              <a:t>42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항에 따른 국어번역문 또는 같은 조 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항 본문에 따른 새로운 국어번역문을 같은 조 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항에 따른 기한이 지난 후에도 분할출원을 한 날부터 </a:t>
            </a:r>
            <a:r>
              <a:rPr lang="en-US" altLang="ko-KR" sz="1000" dirty="0">
                <a:solidFill>
                  <a:schemeClr val="tx2"/>
                </a:solidFill>
              </a:rPr>
              <a:t>30</a:t>
            </a:r>
            <a:r>
              <a:rPr lang="ko-KR" altLang="en-US" sz="1000" dirty="0">
                <a:solidFill>
                  <a:schemeClr val="tx2"/>
                </a:solidFill>
              </a:rPr>
              <a:t>일이 되는 날까지는 제출할 수 있다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  <a:r>
              <a:rPr lang="ko-KR" altLang="en-US" sz="1000" dirty="0">
                <a:solidFill>
                  <a:schemeClr val="tx2"/>
                </a:solidFill>
              </a:rPr>
              <a:t>다만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42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항 각 호의 어느 하나에 해당하는 경우에는 새로운 국어번역문을 제출할 수 없다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⑧ </a:t>
            </a:r>
            <a:r>
              <a:rPr lang="ko-KR" altLang="en-US" sz="10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000" dirty="0">
                <a:solidFill>
                  <a:schemeClr val="tx2"/>
                </a:solidFill>
              </a:rPr>
              <a:t> 최초로 첨부한 명세서에 청구범위를 적지 아니한 분할출원에 관하여는 제</a:t>
            </a:r>
            <a:r>
              <a:rPr lang="en-US" altLang="ko-KR" sz="1000" dirty="0">
                <a:solidFill>
                  <a:schemeClr val="tx2"/>
                </a:solidFill>
              </a:rPr>
              <a:t>42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항에 따른 기한이 지난 후에도 분할출원을 한 날부터 </a:t>
            </a:r>
            <a:r>
              <a:rPr lang="en-US" altLang="ko-KR" sz="1000" dirty="0">
                <a:solidFill>
                  <a:schemeClr val="tx2"/>
                </a:solidFill>
              </a:rPr>
              <a:t>30</a:t>
            </a:r>
            <a:r>
              <a:rPr lang="ko-KR" altLang="en-US" sz="1000" dirty="0">
                <a:solidFill>
                  <a:schemeClr val="tx2"/>
                </a:solidFill>
              </a:rPr>
              <a:t>일이 되는 날까지는 명세서에 청구범위를 적는 보정을 할 수 있다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206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722573-33C7-4072-BACA-88E5404BDDB8}"/>
              </a:ext>
            </a:extLst>
          </p:cNvPr>
          <p:cNvSpPr txBox="1"/>
          <p:nvPr/>
        </p:nvSpPr>
        <p:spPr>
          <a:xfrm>
            <a:off x="6117020" y="986046"/>
            <a:ext cx="6018125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000" b="1" dirty="0">
                <a:solidFill>
                  <a:schemeClr val="accent1"/>
                </a:solidFill>
              </a:rPr>
              <a:t>제</a:t>
            </a:r>
            <a:r>
              <a:rPr lang="en-US" altLang="ko-KR" sz="1000" b="1" dirty="0">
                <a:solidFill>
                  <a:schemeClr val="accent1"/>
                </a:solidFill>
              </a:rPr>
              <a:t>52</a:t>
            </a:r>
            <a:r>
              <a:rPr lang="ko-KR" altLang="en-US" sz="1000" b="1" dirty="0">
                <a:solidFill>
                  <a:schemeClr val="accent1"/>
                </a:solidFill>
              </a:rPr>
              <a:t>조의</a:t>
            </a:r>
            <a:r>
              <a:rPr lang="en-US" altLang="ko-KR" sz="1000" b="1" dirty="0">
                <a:solidFill>
                  <a:schemeClr val="accent1"/>
                </a:solidFill>
              </a:rPr>
              <a:t>2(</a:t>
            </a:r>
            <a:r>
              <a:rPr lang="ko-KR" altLang="en-US" sz="1000" b="1" dirty="0">
                <a:solidFill>
                  <a:schemeClr val="accent1"/>
                </a:solidFill>
              </a:rPr>
              <a:t>분리출원</a:t>
            </a:r>
            <a:r>
              <a:rPr lang="en-US" altLang="ko-KR" sz="1000" b="1" dirty="0">
                <a:solidFill>
                  <a:schemeClr val="accent1"/>
                </a:solidFill>
              </a:rPr>
              <a:t>) </a:t>
            </a:r>
            <a:r>
              <a:rPr lang="ko-KR" altLang="en-US" sz="1000" dirty="0">
                <a:solidFill>
                  <a:schemeClr val="tx2"/>
                </a:solidFill>
              </a:rPr>
              <a:t>① </a:t>
            </a:r>
            <a:r>
              <a:rPr lang="ko-KR" altLang="en-US" sz="1000" dirty="0" err="1">
                <a:solidFill>
                  <a:schemeClr val="tx2"/>
                </a:solidFill>
              </a:rPr>
              <a:t>특허거절결정을</a:t>
            </a:r>
            <a:r>
              <a:rPr lang="ko-KR" altLang="en-US" sz="1000" dirty="0">
                <a:solidFill>
                  <a:schemeClr val="tx2"/>
                </a:solidFill>
              </a:rPr>
              <a:t> 받은 자는 제</a:t>
            </a:r>
            <a:r>
              <a:rPr lang="en-US" altLang="ko-KR" sz="1000" dirty="0">
                <a:solidFill>
                  <a:schemeClr val="tx2"/>
                </a:solidFill>
              </a:rPr>
              <a:t>132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17</a:t>
            </a:r>
            <a:r>
              <a:rPr lang="ko-KR" altLang="en-US" sz="1000" dirty="0">
                <a:solidFill>
                  <a:schemeClr val="tx2"/>
                </a:solidFill>
              </a:rPr>
              <a:t>에 따른 심판청구가 기각된 경우 그 </a:t>
            </a:r>
            <a:r>
              <a:rPr lang="ko-KR" altLang="en-US" sz="1000" dirty="0" err="1">
                <a:solidFill>
                  <a:schemeClr val="tx2"/>
                </a:solidFill>
              </a:rPr>
              <a:t>심결의</a:t>
            </a:r>
            <a:r>
              <a:rPr lang="ko-KR" altLang="en-US" sz="1000" dirty="0">
                <a:solidFill>
                  <a:schemeClr val="tx2"/>
                </a:solidFill>
              </a:rPr>
              <a:t> 등본을 </a:t>
            </a:r>
            <a:r>
              <a:rPr lang="ko-KR" altLang="en-US" sz="1000" dirty="0" err="1">
                <a:solidFill>
                  <a:schemeClr val="tx2"/>
                </a:solidFill>
              </a:rPr>
              <a:t>송달받은</a:t>
            </a:r>
            <a:r>
              <a:rPr lang="ko-KR" altLang="en-US" sz="1000" dirty="0">
                <a:solidFill>
                  <a:schemeClr val="tx2"/>
                </a:solidFill>
              </a:rPr>
              <a:t> 날부터 </a:t>
            </a:r>
            <a:r>
              <a:rPr lang="en-US" altLang="ko-KR" sz="1000" dirty="0">
                <a:solidFill>
                  <a:schemeClr val="tx2"/>
                </a:solidFill>
              </a:rPr>
              <a:t>30</a:t>
            </a:r>
            <a:r>
              <a:rPr lang="ko-KR" altLang="en-US" sz="1000" dirty="0">
                <a:solidFill>
                  <a:schemeClr val="tx2"/>
                </a:solidFill>
              </a:rPr>
              <a:t>일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186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5</a:t>
            </a:r>
            <a:r>
              <a:rPr lang="ko-KR" altLang="en-US" sz="1000" dirty="0">
                <a:solidFill>
                  <a:schemeClr val="tx2"/>
                </a:solidFill>
              </a:rPr>
              <a:t>항에 따라 심판장이 부가기간을 정한 경우에는 그 기간을 말한다</a:t>
            </a:r>
            <a:r>
              <a:rPr lang="en-US" altLang="ko-KR" sz="1000" dirty="0">
                <a:solidFill>
                  <a:schemeClr val="tx2"/>
                </a:solidFill>
              </a:rPr>
              <a:t>) </a:t>
            </a:r>
            <a:r>
              <a:rPr lang="ko-KR" altLang="en-US" sz="1000" dirty="0">
                <a:solidFill>
                  <a:schemeClr val="tx2"/>
                </a:solidFill>
              </a:rPr>
              <a:t>이내에 그 특허출원의 출원서에 최초로 첨부된 명세서 또는 도면에 기재된 사항의 범위에서 그 특허출원의 일부를 새로운 특허출원으로 분리할 수 있다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  <a:r>
              <a:rPr lang="ko-KR" altLang="en-US" sz="1000" dirty="0">
                <a:solidFill>
                  <a:schemeClr val="tx2"/>
                </a:solidFill>
              </a:rPr>
              <a:t>이 경우 새로운 특허출원의 청구범위에는 다음 각 호의 어느 하나에 해당하는 청구항만을 적을 수 있다</a:t>
            </a:r>
            <a:r>
              <a:rPr lang="en-US" altLang="ko-KR" sz="10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  1. </a:t>
            </a:r>
            <a:r>
              <a:rPr lang="ko-KR" altLang="en-US" sz="1000" dirty="0">
                <a:solidFill>
                  <a:schemeClr val="tx2"/>
                </a:solidFill>
              </a:rPr>
              <a:t>그 심판청구의 대상이 되는 </a:t>
            </a:r>
            <a:r>
              <a:rPr lang="ko-KR" altLang="en-US" sz="1000" dirty="0" err="1">
                <a:solidFill>
                  <a:schemeClr val="tx2"/>
                </a:solidFill>
              </a:rPr>
              <a:t>특허거절결정에서</a:t>
            </a:r>
            <a:r>
              <a:rPr lang="ko-KR" altLang="en-US" sz="1000" dirty="0">
                <a:solidFill>
                  <a:schemeClr val="tx2"/>
                </a:solidFill>
              </a:rPr>
              <a:t> 거절되지 아니한 청구항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  </a:t>
            </a:r>
            <a:r>
              <a:rPr lang="en-US" altLang="ko-KR" sz="1000" dirty="0">
                <a:solidFill>
                  <a:schemeClr val="tx2"/>
                </a:solidFill>
              </a:rPr>
              <a:t>2. </a:t>
            </a:r>
            <a:r>
              <a:rPr lang="ko-KR" altLang="en-US" sz="1000" dirty="0">
                <a:solidFill>
                  <a:schemeClr val="tx2"/>
                </a:solidFill>
              </a:rPr>
              <a:t>거절된 청구항에서 그 </a:t>
            </a:r>
            <a:r>
              <a:rPr lang="ko-KR" altLang="en-US" sz="1000" dirty="0" err="1">
                <a:solidFill>
                  <a:schemeClr val="tx2"/>
                </a:solidFill>
              </a:rPr>
              <a:t>특허거절결정의</a:t>
            </a:r>
            <a:r>
              <a:rPr lang="ko-KR" altLang="en-US" sz="1000" dirty="0">
                <a:solidFill>
                  <a:schemeClr val="tx2"/>
                </a:solidFill>
              </a:rPr>
              <a:t> 기초가 된 선택적 기재사항을 삭제한 청구항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  </a:t>
            </a:r>
            <a:r>
              <a:rPr lang="en-US" altLang="ko-KR" sz="1000" dirty="0">
                <a:solidFill>
                  <a:schemeClr val="tx2"/>
                </a:solidFill>
              </a:rPr>
              <a:t>3.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호 또는 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호에 따른 청구항을 제</a:t>
            </a:r>
            <a:r>
              <a:rPr lang="en-US" altLang="ko-KR" sz="1000" dirty="0">
                <a:solidFill>
                  <a:schemeClr val="tx2"/>
                </a:solidFill>
              </a:rPr>
              <a:t>47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항 각 호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같은 항 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호는 제외한다</a:t>
            </a:r>
            <a:r>
              <a:rPr lang="en-US" altLang="ko-KR" sz="1000" dirty="0">
                <a:solidFill>
                  <a:schemeClr val="tx2"/>
                </a:solidFill>
              </a:rPr>
              <a:t>)</a:t>
            </a:r>
            <a:r>
              <a:rPr lang="ko-KR" altLang="en-US" sz="1000" dirty="0">
                <a:solidFill>
                  <a:schemeClr val="tx2"/>
                </a:solidFill>
              </a:rPr>
              <a:t>의 어느 하나에 해당하도록 적은 청구항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  </a:t>
            </a:r>
            <a:r>
              <a:rPr lang="en-US" altLang="ko-KR" sz="1000" dirty="0">
                <a:solidFill>
                  <a:schemeClr val="tx2"/>
                </a:solidFill>
              </a:rPr>
              <a:t>4.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호부터 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호까지 중 어느 하나의 청구항에서 그 특허출원의 출원서에 최초로 첨부된 명세서 또는 도면에 기재된 사항의 범위를 벗어난 부분을 삭제한 청구항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② 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항에 따라 분리된 특허출원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이하 “</a:t>
            </a:r>
            <a:r>
              <a:rPr lang="ko-KR" altLang="en-US" sz="1000" dirty="0" err="1">
                <a:solidFill>
                  <a:schemeClr val="tx2"/>
                </a:solidFill>
              </a:rPr>
              <a:t>분리출원”이라</a:t>
            </a:r>
            <a:r>
              <a:rPr lang="ko-KR" altLang="en-US" sz="1000" dirty="0">
                <a:solidFill>
                  <a:schemeClr val="tx2"/>
                </a:solidFill>
              </a:rPr>
              <a:t> 한다</a:t>
            </a:r>
            <a:r>
              <a:rPr lang="en-US" altLang="ko-KR" sz="1000" dirty="0">
                <a:solidFill>
                  <a:schemeClr val="tx2"/>
                </a:solidFill>
              </a:rPr>
              <a:t>)</a:t>
            </a:r>
            <a:r>
              <a:rPr lang="ko-KR" altLang="en-US" sz="1000" dirty="0">
                <a:solidFill>
                  <a:schemeClr val="tx2"/>
                </a:solidFill>
              </a:rPr>
              <a:t>에 관하여는 제</a:t>
            </a:r>
            <a:r>
              <a:rPr lang="en-US" altLang="ko-KR" sz="1000" dirty="0">
                <a:solidFill>
                  <a:schemeClr val="tx2"/>
                </a:solidFill>
              </a:rPr>
              <a:t>52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항부터 제</a:t>
            </a:r>
            <a:r>
              <a:rPr lang="en-US" altLang="ko-KR" sz="1000" dirty="0">
                <a:solidFill>
                  <a:schemeClr val="tx2"/>
                </a:solidFill>
              </a:rPr>
              <a:t>5</a:t>
            </a:r>
            <a:r>
              <a:rPr lang="ko-KR" altLang="en-US" sz="1000" dirty="0">
                <a:solidFill>
                  <a:schemeClr val="tx2"/>
                </a:solidFill>
              </a:rPr>
              <a:t>항까지의 규정을 준용한다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  <a:r>
              <a:rPr lang="ko-KR" altLang="en-US" sz="1000" dirty="0">
                <a:solidFill>
                  <a:schemeClr val="tx2"/>
                </a:solidFill>
              </a:rPr>
              <a:t>이 경우 “</a:t>
            </a:r>
            <a:r>
              <a:rPr lang="ko-KR" altLang="en-US" sz="1000" dirty="0" err="1">
                <a:solidFill>
                  <a:schemeClr val="tx2"/>
                </a:solidFill>
              </a:rPr>
              <a:t>분할”은</a:t>
            </a:r>
            <a:r>
              <a:rPr lang="ko-KR" altLang="en-US" sz="1000" dirty="0">
                <a:solidFill>
                  <a:schemeClr val="tx2"/>
                </a:solidFill>
              </a:rPr>
              <a:t> “</a:t>
            </a:r>
            <a:r>
              <a:rPr lang="ko-KR" altLang="en-US" sz="1000" dirty="0" err="1">
                <a:solidFill>
                  <a:schemeClr val="tx2"/>
                </a:solidFill>
              </a:rPr>
              <a:t>분리”로</a:t>
            </a:r>
            <a:r>
              <a:rPr lang="en-US" altLang="ko-KR" sz="1000" dirty="0">
                <a:solidFill>
                  <a:schemeClr val="tx2"/>
                </a:solidFill>
              </a:rPr>
              <a:t>, “</a:t>
            </a:r>
            <a:r>
              <a:rPr lang="ko-KR" altLang="en-US" sz="1000" dirty="0" err="1">
                <a:solidFill>
                  <a:schemeClr val="tx2"/>
                </a:solidFill>
              </a:rPr>
              <a:t>분할출원”은</a:t>
            </a:r>
            <a:r>
              <a:rPr lang="ko-KR" altLang="en-US" sz="1000" dirty="0">
                <a:solidFill>
                  <a:schemeClr val="tx2"/>
                </a:solidFill>
              </a:rPr>
              <a:t> “</a:t>
            </a:r>
            <a:r>
              <a:rPr lang="ko-KR" altLang="en-US" sz="1000" dirty="0" err="1">
                <a:solidFill>
                  <a:schemeClr val="tx2"/>
                </a:solidFill>
              </a:rPr>
              <a:t>분리출원”으로</a:t>
            </a:r>
            <a:r>
              <a:rPr lang="ko-KR" altLang="en-US" sz="1000" dirty="0">
                <a:solidFill>
                  <a:schemeClr val="tx2"/>
                </a:solidFill>
              </a:rPr>
              <a:t> 본다</a:t>
            </a:r>
            <a:r>
              <a:rPr lang="en-US" altLang="ko-KR" sz="1000" dirty="0">
                <a:solidFill>
                  <a:schemeClr val="tx2"/>
                </a:solidFill>
              </a:rPr>
              <a:t>.</a:t>
            </a: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③ </a:t>
            </a:r>
            <a:r>
              <a:rPr lang="ko-KR" altLang="en-US" sz="1000" dirty="0">
                <a:solidFill>
                  <a:schemeClr val="tx2"/>
                </a:solidFill>
              </a:rPr>
              <a:t>분리출원을 하는 경우에는 제</a:t>
            </a:r>
            <a:r>
              <a:rPr lang="en-US" altLang="ko-KR" sz="1000" dirty="0">
                <a:solidFill>
                  <a:schemeClr val="tx2"/>
                </a:solidFill>
              </a:rPr>
              <a:t>42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 후단 또는 제</a:t>
            </a:r>
            <a:r>
              <a:rPr lang="en-US" altLang="ko-KR" sz="1000" dirty="0">
                <a:solidFill>
                  <a:schemeClr val="tx2"/>
                </a:solidFill>
              </a:rPr>
              <a:t>42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항에도 불구하고 </a:t>
            </a:r>
            <a:r>
              <a:rPr lang="ko-KR" altLang="en-US" sz="10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000" dirty="0">
                <a:solidFill>
                  <a:schemeClr val="tx2"/>
                </a:solidFill>
              </a:rPr>
              <a:t> 최초로 첨부한 명세서에 청구범위를 적지 아니하거나 명세서 및 도면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도면 중 설명부분에 한정한다</a:t>
            </a:r>
            <a:r>
              <a:rPr lang="en-US" altLang="ko-KR" sz="1000" dirty="0">
                <a:solidFill>
                  <a:schemeClr val="tx2"/>
                </a:solidFill>
              </a:rPr>
              <a:t>)</a:t>
            </a:r>
            <a:r>
              <a:rPr lang="ko-KR" altLang="en-US" sz="1000" dirty="0">
                <a:solidFill>
                  <a:schemeClr val="tx2"/>
                </a:solidFill>
              </a:rPr>
              <a:t>을 국어가 아닌 언어로 적을 수 없다</a:t>
            </a:r>
            <a:r>
              <a:rPr lang="en-US" altLang="ko-KR" sz="1000" dirty="0">
                <a:solidFill>
                  <a:schemeClr val="tx2"/>
                </a:solidFill>
              </a:rPr>
              <a:t>.</a:t>
            </a: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④ </a:t>
            </a:r>
            <a:r>
              <a:rPr lang="ko-KR" altLang="en-US" sz="1000" dirty="0">
                <a:solidFill>
                  <a:schemeClr val="tx2"/>
                </a:solidFill>
              </a:rPr>
              <a:t>분리출원은 새로운 분리출원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>
                <a:solidFill>
                  <a:schemeClr val="tx2"/>
                </a:solidFill>
              </a:rPr>
              <a:t>분할출원 또는 「실용신안법」 제</a:t>
            </a:r>
            <a:r>
              <a:rPr lang="en-US" altLang="ko-KR" sz="1000" dirty="0">
                <a:solidFill>
                  <a:schemeClr val="tx2"/>
                </a:solidFill>
              </a:rPr>
              <a:t>10</a:t>
            </a:r>
            <a:r>
              <a:rPr lang="ko-KR" altLang="en-US" sz="1000" dirty="0">
                <a:solidFill>
                  <a:schemeClr val="tx2"/>
                </a:solidFill>
              </a:rPr>
              <a:t>조에 따른 변경출원의 기초가 될 수 없다</a:t>
            </a:r>
            <a:r>
              <a:rPr lang="en-US" altLang="ko-KR" sz="10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FBD77F7-A6B6-4BA8-A6D5-8F72B8BF4C96}"/>
              </a:ext>
            </a:extLst>
          </p:cNvPr>
          <p:cNvCxnSpPr/>
          <p:nvPr/>
        </p:nvCxnSpPr>
        <p:spPr>
          <a:xfrm>
            <a:off x="6096000" y="870585"/>
            <a:ext cx="0" cy="572991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CF0C8C-6F8B-4C42-8955-BE0064E6CE53}"/>
              </a:ext>
            </a:extLst>
          </p:cNvPr>
          <p:cNvSpPr/>
          <p:nvPr/>
        </p:nvSpPr>
        <p:spPr>
          <a:xfrm>
            <a:off x="77874" y="2536166"/>
            <a:ext cx="5934737" cy="24585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2D02987-B8F0-4E00-92D4-D676F56A247E}"/>
              </a:ext>
            </a:extLst>
          </p:cNvPr>
          <p:cNvSpPr/>
          <p:nvPr/>
        </p:nvSpPr>
        <p:spPr>
          <a:xfrm>
            <a:off x="6158713" y="2700068"/>
            <a:ext cx="5934737" cy="3795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BDF4273-5211-46B7-AF5F-69E067CB1BA0}"/>
              </a:ext>
            </a:extLst>
          </p:cNvPr>
          <p:cNvSpPr/>
          <p:nvPr/>
        </p:nvSpPr>
        <p:spPr>
          <a:xfrm>
            <a:off x="77874" y="5106837"/>
            <a:ext cx="5934737" cy="352669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곱하기 기호 11">
            <a:extLst>
              <a:ext uri="{FF2B5EF4-FFF2-40B4-BE49-F238E27FC236}">
                <a16:creationId xmlns:a16="http://schemas.microsoft.com/office/drawing/2014/main" id="{7EF01681-57EB-4EF0-B1A2-A9F9D6D5313B}"/>
              </a:ext>
            </a:extLst>
          </p:cNvPr>
          <p:cNvSpPr/>
          <p:nvPr/>
        </p:nvSpPr>
        <p:spPr>
          <a:xfrm>
            <a:off x="8439149" y="4994694"/>
            <a:ext cx="561975" cy="561975"/>
          </a:xfrm>
          <a:prstGeom prst="mathMultiply">
            <a:avLst>
              <a:gd name="adj1" fmla="val 8266"/>
            </a:avLst>
          </a:prstGeom>
          <a:solidFill>
            <a:schemeClr val="tx2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69B4868-C7E9-4BB4-BE13-7F7DD3021501}"/>
              </a:ext>
            </a:extLst>
          </p:cNvPr>
          <p:cNvSpPr/>
          <p:nvPr/>
        </p:nvSpPr>
        <p:spPr>
          <a:xfrm>
            <a:off x="77874" y="5540184"/>
            <a:ext cx="5934737" cy="10603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58661D8-1721-44D9-BF3D-BE97D1F7ABC3}"/>
              </a:ext>
            </a:extLst>
          </p:cNvPr>
          <p:cNvSpPr/>
          <p:nvPr/>
        </p:nvSpPr>
        <p:spPr>
          <a:xfrm>
            <a:off x="6179388" y="5540185"/>
            <a:ext cx="5934737" cy="5619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C9000D2-9FEE-4C43-BEFE-A51D032E747A}"/>
              </a:ext>
            </a:extLst>
          </p:cNvPr>
          <p:cNvCxnSpPr>
            <a:stCxn id="6" idx="3"/>
            <a:endCxn id="10" idx="1"/>
          </p:cNvCxnSpPr>
          <p:nvPr/>
        </p:nvCxnSpPr>
        <p:spPr>
          <a:xfrm flipV="1">
            <a:off x="6012611" y="2889849"/>
            <a:ext cx="146102" cy="8755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357A347-CF0A-4C47-81A5-CFFD0A1113C9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6012611" y="5268044"/>
            <a:ext cx="2540839" cy="1512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AFFC31B9-FBEB-4F12-B578-792EC0CC7028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6012611" y="5821173"/>
            <a:ext cx="166777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287452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2" name="직선 연결선 151"/>
          <p:cNvCxnSpPr/>
          <p:nvPr/>
        </p:nvCxnSpPr>
        <p:spPr>
          <a:xfrm>
            <a:off x="10596831" y="3352800"/>
            <a:ext cx="0" cy="303108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/>
          <p:cNvCxnSpPr/>
          <p:nvPr/>
        </p:nvCxnSpPr>
        <p:spPr>
          <a:xfrm>
            <a:off x="9063306" y="3352800"/>
            <a:ext cx="0" cy="303108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4247147" y="4318341"/>
            <a:ext cx="0" cy="233934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/>
          <p:cNvCxnSpPr/>
          <p:nvPr/>
        </p:nvCxnSpPr>
        <p:spPr>
          <a:xfrm>
            <a:off x="2052906" y="4318341"/>
            <a:ext cx="0" cy="233934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53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변경출원의</a:t>
            </a:r>
            <a:r>
              <a:rPr lang="ko-KR" altLang="en-US" dirty="0"/>
              <a:t> 취지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1519" y="1427277"/>
            <a:ext cx="5554921" cy="1425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특허로서 보호받기 위해서는 단순히 발명일 것을 요하나 실용신안으로서 보호받기 위해서는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물품의 </a:t>
            </a:r>
            <a:r>
              <a:rPr lang="ko-KR" altLang="en-US" sz="1200" dirty="0" err="1">
                <a:solidFill>
                  <a:srgbClr val="FF0000"/>
                </a:solidFill>
                <a:latin typeface="+mn-ea"/>
              </a:rPr>
              <a:t>형상ㆍ구조ㆍ조합에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 관한 </a:t>
            </a:r>
            <a:r>
              <a:rPr lang="ko-KR" altLang="en-US" sz="1200" dirty="0" err="1">
                <a:solidFill>
                  <a:srgbClr val="FF0000"/>
                </a:solidFill>
                <a:latin typeface="+mn-ea"/>
              </a:rPr>
              <a:t>고안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이어야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그런데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출원인이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착오로 물질이나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방법발명을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실용신안등록출원으로 하는 경우가 있다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이와 같은 단순한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출원형식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 선택의 과오를 이유로 거절하고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재출원하게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한다면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우리 법제가 선출원주의를 채용하고 있음을 감안할 때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출원인에게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가혹하다할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것이다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7427" y="1427277"/>
            <a:ext cx="5351932" cy="1425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변경출원제도는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물품성이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있는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물건발명에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대한 특허출원이 진보성이 없다는 이유로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거절결정이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확정될 가능성이 있는 경우 이를 극복하기 위한 방안으로서 의미가 있다고  할 것이다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이는 진보성을 판단할 때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실용신안법은 특허법보다 낮은 수준인 「극히 </a:t>
            </a:r>
            <a:r>
              <a:rPr lang="ko-KR" altLang="en-US" sz="1200" dirty="0" err="1">
                <a:solidFill>
                  <a:srgbClr val="FF0000"/>
                </a:solidFill>
                <a:latin typeface="+mn-ea"/>
              </a:rPr>
              <a:t>용이성」을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 요구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하고 있기 때문이다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</a:t>
            </a:r>
          </a:p>
        </p:txBody>
      </p:sp>
      <p:cxnSp>
        <p:nvCxnSpPr>
          <p:cNvPr id="100" name="직선 연결선 99"/>
          <p:cNvCxnSpPr/>
          <p:nvPr/>
        </p:nvCxnSpPr>
        <p:spPr>
          <a:xfrm>
            <a:off x="6109281" y="1095555"/>
            <a:ext cx="0" cy="553598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5"/>
          <p:cNvSpPr>
            <a:spLocks noChangeArrowheads="1"/>
          </p:cNvSpPr>
          <p:nvPr/>
        </p:nvSpPr>
        <p:spPr bwMode="auto">
          <a:xfrm>
            <a:off x="347687" y="1265255"/>
            <a:ext cx="2437695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>
                <a:solidFill>
                  <a:schemeClr val="bg1"/>
                </a:solidFill>
                <a:latin typeface="+mj-ea"/>
                <a:ea typeface="+mj-ea"/>
              </a:rPr>
              <a:t>출원형식선택의 과오 치유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2" name="Rectangle 5"/>
          <p:cNvSpPr>
            <a:spLocks noChangeArrowheads="1"/>
          </p:cNvSpPr>
          <p:nvPr/>
        </p:nvSpPr>
        <p:spPr bwMode="auto">
          <a:xfrm>
            <a:off x="6637457" y="1265255"/>
            <a:ext cx="2492882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>
                <a:solidFill>
                  <a:schemeClr val="bg1"/>
                </a:solidFill>
                <a:latin typeface="+mj-ea"/>
                <a:ea typeface="+mj-ea"/>
              </a:rPr>
              <a:t>진보성 위반 극복 위한 방안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283354" y="2977664"/>
          <a:ext cx="5477046" cy="125730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671349">
                  <a:extLst>
                    <a:ext uri="{9D8B030D-6E8A-4147-A177-3AD203B41FA5}">
                      <a16:colId xmlns:a16="http://schemas.microsoft.com/office/drawing/2014/main" val="2378668474"/>
                    </a:ext>
                  </a:extLst>
                </a:gridCol>
                <a:gridCol w="1254925">
                  <a:extLst>
                    <a:ext uri="{9D8B030D-6E8A-4147-A177-3AD203B41FA5}">
                      <a16:colId xmlns:a16="http://schemas.microsoft.com/office/drawing/2014/main" val="1115155552"/>
                    </a:ext>
                  </a:extLst>
                </a:gridCol>
                <a:gridCol w="1775386">
                  <a:extLst>
                    <a:ext uri="{9D8B030D-6E8A-4147-A177-3AD203B41FA5}">
                      <a16:colId xmlns:a16="http://schemas.microsoft.com/office/drawing/2014/main" val="3639551727"/>
                    </a:ext>
                  </a:extLst>
                </a:gridCol>
                <a:gridCol w="1775386">
                  <a:extLst>
                    <a:ext uri="{9D8B030D-6E8A-4147-A177-3AD203B41FA5}">
                      <a16:colId xmlns:a16="http://schemas.microsoft.com/office/drawing/2014/main" val="338950932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구분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특허법 보호대상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err="1"/>
                        <a:t>실용신안법</a:t>
                      </a:r>
                      <a:r>
                        <a:rPr lang="ko-KR" altLang="en-US" sz="1050" dirty="0"/>
                        <a:t> 보호대상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121434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물건</a:t>
                      </a:r>
                      <a:endParaRPr lang="en-US" altLang="ko-KR" sz="1050" dirty="0"/>
                    </a:p>
                    <a:p>
                      <a:pPr algn="ctr" latinLnBrk="1"/>
                      <a:r>
                        <a:rPr lang="ko-KR" altLang="en-US" sz="1050" dirty="0"/>
                        <a:t>발명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협의의 </a:t>
                      </a:r>
                      <a:r>
                        <a:rPr lang="ko-KR" altLang="en-US" sz="1050" dirty="0" err="1"/>
                        <a:t>물건발명</a:t>
                      </a:r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dirty="0">
                          <a:effectLst/>
                        </a:rPr>
                        <a:t>○</a:t>
                      </a:r>
                      <a:endParaRPr lang="ko-KR" altLang="en-US" sz="10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kern="1200" dirty="0">
                          <a:effectLst/>
                        </a:rPr>
                        <a:t>○</a:t>
                      </a:r>
                      <a:endParaRPr lang="ko-KR" alt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172022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err="1"/>
                        <a:t>물질발명</a:t>
                      </a:r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dirty="0">
                          <a:effectLst/>
                        </a:rPr>
                        <a:t>○</a:t>
                      </a:r>
                      <a:endParaRPr lang="ko-KR" altLang="en-US" sz="10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kern="1200" dirty="0">
                          <a:effectLst/>
                        </a:rPr>
                        <a:t>×</a:t>
                      </a:r>
                      <a:endParaRPr lang="en-US" altLang="ko-KR" sz="105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70126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방법</a:t>
                      </a:r>
                      <a:endParaRPr lang="en-US" altLang="ko-KR" sz="1050" dirty="0"/>
                    </a:p>
                    <a:p>
                      <a:pPr algn="ctr" latinLnBrk="1"/>
                      <a:r>
                        <a:rPr lang="ko-KR" altLang="en-US" sz="1050" dirty="0"/>
                        <a:t>발명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통상방법발명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kern="1200" dirty="0">
                          <a:effectLst/>
                        </a:rPr>
                        <a:t>○</a:t>
                      </a:r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kern="1200" dirty="0">
                          <a:effectLst/>
                        </a:rPr>
                        <a:t>×</a:t>
                      </a:r>
                      <a:endParaRPr lang="en-US" altLang="ko-KR" sz="105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7355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err="1"/>
                        <a:t>제법발명</a:t>
                      </a:r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kern="1200" dirty="0">
                          <a:effectLst/>
                        </a:rPr>
                        <a:t>○</a:t>
                      </a:r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kern="1200" dirty="0">
                          <a:effectLst/>
                        </a:rPr>
                        <a:t>×</a:t>
                      </a:r>
                      <a:endParaRPr lang="en-US" altLang="ko-KR" sz="105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526741"/>
                  </a:ext>
                </a:extLst>
              </a:tr>
            </a:tbl>
          </a:graphicData>
        </a:graphic>
      </p:graphicFrame>
      <p:cxnSp>
        <p:nvCxnSpPr>
          <p:cNvPr id="62" name="직선 화살표 연결선 61"/>
          <p:cNvCxnSpPr/>
          <p:nvPr/>
        </p:nvCxnSpPr>
        <p:spPr>
          <a:xfrm>
            <a:off x="461473" y="5144953"/>
            <a:ext cx="5084748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14"/>
          <p:cNvSpPr>
            <a:spLocks noChangeArrowheads="1"/>
          </p:cNvSpPr>
          <p:nvPr/>
        </p:nvSpPr>
        <p:spPr bwMode="auto">
          <a:xfrm>
            <a:off x="1741663" y="4833483"/>
            <a:ext cx="623824" cy="1647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n-ea"/>
              </a:rPr>
              <a:t>실용출원</a:t>
            </a:r>
            <a:r>
              <a:rPr lang="en-US" altLang="ko-KR" sz="1100" dirty="0">
                <a:latin typeface="+mn-ea"/>
              </a:rPr>
              <a:t>(X)</a:t>
            </a:r>
            <a:endParaRPr lang="ko-KR" altLang="en-US" sz="1100" dirty="0">
              <a:latin typeface="+mn-ea"/>
            </a:endParaRPr>
          </a:p>
        </p:txBody>
      </p:sp>
      <p:sp>
        <p:nvSpPr>
          <p:cNvPr id="67" name="Rectangle 14"/>
          <p:cNvSpPr>
            <a:spLocks noChangeArrowheads="1"/>
          </p:cNvSpPr>
          <p:nvPr/>
        </p:nvSpPr>
        <p:spPr bwMode="auto">
          <a:xfrm flipV="1">
            <a:off x="1993337" y="5089326"/>
            <a:ext cx="119139" cy="111253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000" dirty="0">
              <a:latin typeface="+mn-ea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1810115" y="4434968"/>
            <a:ext cx="506857" cy="339081"/>
            <a:chOff x="1810115" y="5238092"/>
            <a:chExt cx="506857" cy="291150"/>
          </a:xfrm>
          <a:solidFill>
            <a:schemeClr val="bg1"/>
          </a:solidFill>
        </p:grpSpPr>
        <p:sp>
          <p:nvSpPr>
            <p:cNvPr id="69" name="순서도: 처리 68"/>
            <p:cNvSpPr/>
            <p:nvPr/>
          </p:nvSpPr>
          <p:spPr>
            <a:xfrm>
              <a:off x="1810115" y="5383454"/>
              <a:ext cx="506857" cy="145788"/>
            </a:xfrm>
            <a:prstGeom prst="flowChartProcess">
              <a:avLst/>
            </a:prstGeom>
            <a:grp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+mn-ea"/>
                </a:rPr>
                <a:t>A, B</a:t>
              </a:r>
              <a:endParaRPr lang="ko-KR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1" name="순서도: 처리 70"/>
            <p:cNvSpPr/>
            <p:nvPr/>
          </p:nvSpPr>
          <p:spPr>
            <a:xfrm>
              <a:off x="1810115" y="5238092"/>
              <a:ext cx="506857" cy="145788"/>
            </a:xfrm>
            <a:prstGeom prst="flowChartProcess">
              <a:avLst/>
            </a:prstGeom>
            <a:grp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+mn-ea"/>
                </a:rPr>
                <a:t>A</a:t>
              </a:r>
              <a:endParaRPr lang="ko-KR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77" name="Rectangle 14"/>
          <p:cNvSpPr>
            <a:spLocks noChangeArrowheads="1"/>
          </p:cNvSpPr>
          <p:nvPr/>
        </p:nvSpPr>
        <p:spPr bwMode="auto">
          <a:xfrm>
            <a:off x="2809184" y="5253598"/>
            <a:ext cx="623824" cy="1647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n-ea"/>
              </a:rPr>
              <a:t>제</a:t>
            </a:r>
            <a:r>
              <a:rPr lang="en-US" altLang="ko-KR" sz="1100" dirty="0">
                <a:latin typeface="+mn-ea"/>
              </a:rPr>
              <a:t>3</a:t>
            </a:r>
            <a:r>
              <a:rPr lang="ko-KR" altLang="en-US" sz="1100" dirty="0">
                <a:latin typeface="+mn-ea"/>
              </a:rPr>
              <a:t>자의 </a:t>
            </a:r>
            <a:r>
              <a:rPr lang="en-US" altLang="ko-KR" sz="1100" dirty="0">
                <a:latin typeface="+mn-ea"/>
              </a:rPr>
              <a:t>A</a:t>
            </a:r>
            <a:r>
              <a:rPr lang="ko-KR" altLang="en-US" sz="1100" dirty="0">
                <a:latin typeface="+mn-ea"/>
              </a:rPr>
              <a:t>공지</a:t>
            </a:r>
          </a:p>
        </p:txBody>
      </p:sp>
      <p:sp>
        <p:nvSpPr>
          <p:cNvPr id="78" name="Rectangle 14"/>
          <p:cNvSpPr>
            <a:spLocks noChangeArrowheads="1"/>
          </p:cNvSpPr>
          <p:nvPr/>
        </p:nvSpPr>
        <p:spPr bwMode="auto">
          <a:xfrm flipV="1">
            <a:off x="3067310" y="5089326"/>
            <a:ext cx="119139" cy="111253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000" dirty="0">
              <a:latin typeface="+mn-ea"/>
            </a:endParaRPr>
          </a:p>
        </p:txBody>
      </p:sp>
      <p:sp>
        <p:nvSpPr>
          <p:cNvPr id="79" name="Rectangle 14"/>
          <p:cNvSpPr>
            <a:spLocks noChangeArrowheads="1"/>
          </p:cNvSpPr>
          <p:nvPr/>
        </p:nvSpPr>
        <p:spPr bwMode="auto">
          <a:xfrm>
            <a:off x="3940221" y="4833674"/>
            <a:ext cx="623824" cy="1647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n-ea"/>
              </a:rPr>
              <a:t>변경출원</a:t>
            </a:r>
            <a:r>
              <a:rPr lang="en-US" altLang="ko-KR" sz="1100" dirty="0">
                <a:latin typeface="+mn-ea"/>
              </a:rPr>
              <a:t>(Y)</a:t>
            </a:r>
            <a:endParaRPr lang="ko-KR" altLang="en-US" sz="1100" dirty="0">
              <a:latin typeface="+mn-ea"/>
            </a:endParaRPr>
          </a:p>
        </p:txBody>
      </p:sp>
      <p:sp>
        <p:nvSpPr>
          <p:cNvPr id="82" name="Rectangle 14"/>
          <p:cNvSpPr>
            <a:spLocks noChangeArrowheads="1"/>
          </p:cNvSpPr>
          <p:nvPr/>
        </p:nvSpPr>
        <p:spPr bwMode="auto">
          <a:xfrm flipV="1">
            <a:off x="4187579" y="5089326"/>
            <a:ext cx="119139" cy="111253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000" dirty="0">
              <a:latin typeface="+mn-ea"/>
            </a:endParaRPr>
          </a:p>
        </p:txBody>
      </p:sp>
      <p:sp>
        <p:nvSpPr>
          <p:cNvPr id="89" name="Rectangle 14"/>
          <p:cNvSpPr>
            <a:spLocks noChangeArrowheads="1"/>
          </p:cNvSpPr>
          <p:nvPr/>
        </p:nvSpPr>
        <p:spPr bwMode="auto">
          <a:xfrm>
            <a:off x="798069" y="4653929"/>
            <a:ext cx="623824" cy="3823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dirty="0">
                <a:latin typeface="+mn-ea"/>
              </a:rPr>
              <a:t>A(</a:t>
            </a:r>
            <a:r>
              <a:rPr lang="ko-KR" altLang="en-US" sz="1100" dirty="0">
                <a:latin typeface="+mn-ea"/>
              </a:rPr>
              <a:t>방법</a:t>
            </a:r>
            <a:r>
              <a:rPr lang="en-US" altLang="ko-KR" sz="1100" dirty="0">
                <a:latin typeface="+mn-ea"/>
              </a:rPr>
              <a:t>) </a:t>
            </a:r>
          </a:p>
          <a:p>
            <a:pPr algn="ctr"/>
            <a:r>
              <a:rPr lang="ko-KR" altLang="en-US" sz="1100" dirty="0" err="1">
                <a:latin typeface="+mn-ea"/>
              </a:rPr>
              <a:t>발명완성</a:t>
            </a:r>
            <a:endParaRPr lang="ko-KR" altLang="en-US" sz="1100" dirty="0">
              <a:latin typeface="+mn-ea"/>
            </a:endParaRPr>
          </a:p>
        </p:txBody>
      </p:sp>
      <p:sp>
        <p:nvSpPr>
          <p:cNvPr id="90" name="Rectangle 14"/>
          <p:cNvSpPr>
            <a:spLocks noChangeArrowheads="1"/>
          </p:cNvSpPr>
          <p:nvPr/>
        </p:nvSpPr>
        <p:spPr bwMode="auto">
          <a:xfrm flipV="1">
            <a:off x="1057519" y="5089326"/>
            <a:ext cx="119139" cy="111253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000" dirty="0">
              <a:latin typeface="+mn-ea"/>
            </a:endParaRPr>
          </a:p>
        </p:txBody>
      </p:sp>
      <p:grpSp>
        <p:nvGrpSpPr>
          <p:cNvPr id="91" name="그룹 90"/>
          <p:cNvGrpSpPr/>
          <p:nvPr/>
        </p:nvGrpSpPr>
        <p:grpSpPr>
          <a:xfrm>
            <a:off x="3993719" y="4434968"/>
            <a:ext cx="506857" cy="339081"/>
            <a:chOff x="1810115" y="5238092"/>
            <a:chExt cx="506857" cy="291150"/>
          </a:xfrm>
          <a:solidFill>
            <a:schemeClr val="bg1"/>
          </a:solidFill>
        </p:grpSpPr>
        <p:sp>
          <p:nvSpPr>
            <p:cNvPr id="92" name="순서도: 처리 91"/>
            <p:cNvSpPr/>
            <p:nvPr/>
          </p:nvSpPr>
          <p:spPr>
            <a:xfrm>
              <a:off x="1810115" y="5383454"/>
              <a:ext cx="506857" cy="145788"/>
            </a:xfrm>
            <a:prstGeom prst="flowChartProcess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+mn-ea"/>
                </a:rPr>
                <a:t>A, B</a:t>
              </a:r>
              <a:endParaRPr lang="ko-KR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93" name="순서도: 처리 92"/>
            <p:cNvSpPr/>
            <p:nvPr/>
          </p:nvSpPr>
          <p:spPr>
            <a:xfrm>
              <a:off x="1810115" y="5238092"/>
              <a:ext cx="506857" cy="145788"/>
            </a:xfrm>
            <a:prstGeom prst="flowChartProcess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+mn-ea"/>
                </a:rPr>
                <a:t>A</a:t>
              </a:r>
              <a:endParaRPr lang="ko-KR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98" name="그룹 97"/>
          <p:cNvGrpSpPr/>
          <p:nvPr/>
        </p:nvGrpSpPr>
        <p:grpSpPr>
          <a:xfrm>
            <a:off x="1824912" y="5771487"/>
            <a:ext cx="506857" cy="339081"/>
            <a:chOff x="1810115" y="5238092"/>
            <a:chExt cx="506857" cy="291150"/>
          </a:xfrm>
          <a:solidFill>
            <a:schemeClr val="bg1"/>
          </a:solidFill>
        </p:grpSpPr>
        <p:sp>
          <p:nvSpPr>
            <p:cNvPr id="99" name="순서도: 처리 98"/>
            <p:cNvSpPr/>
            <p:nvPr/>
          </p:nvSpPr>
          <p:spPr>
            <a:xfrm>
              <a:off x="1810115" y="5383454"/>
              <a:ext cx="506857" cy="145788"/>
            </a:xfrm>
            <a:prstGeom prst="flowChartProcess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+mn-ea"/>
                </a:rPr>
                <a:t>A, B</a:t>
              </a:r>
              <a:endParaRPr lang="ko-KR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9" name="순서도: 처리 108"/>
            <p:cNvSpPr/>
            <p:nvPr/>
          </p:nvSpPr>
          <p:spPr>
            <a:xfrm>
              <a:off x="1810115" y="5238092"/>
              <a:ext cx="506857" cy="145788"/>
            </a:xfrm>
            <a:prstGeom prst="flowChartProcess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+mn-ea"/>
                </a:rPr>
                <a:t>A</a:t>
              </a:r>
              <a:endParaRPr lang="ko-KR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110" name="Rectangle 14"/>
          <p:cNvSpPr>
            <a:spLocks noChangeArrowheads="1"/>
          </p:cNvSpPr>
          <p:nvPr/>
        </p:nvSpPr>
        <p:spPr bwMode="auto">
          <a:xfrm>
            <a:off x="1761190" y="6219403"/>
            <a:ext cx="623824" cy="1647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n-ea"/>
              </a:rPr>
              <a:t>특허출원</a:t>
            </a:r>
            <a:r>
              <a:rPr lang="en-US" altLang="ko-KR" sz="1100" dirty="0">
                <a:latin typeface="+mn-ea"/>
              </a:rPr>
              <a:t>(Y)</a:t>
            </a:r>
            <a:endParaRPr lang="ko-KR" altLang="en-US" sz="1100" dirty="0">
              <a:latin typeface="+mn-ea"/>
            </a:endParaRPr>
          </a:p>
        </p:txBody>
      </p:sp>
      <p:cxnSp>
        <p:nvCxnSpPr>
          <p:cNvPr id="111" name="직선 화살표 연결선 110"/>
          <p:cNvCxnSpPr/>
          <p:nvPr/>
        </p:nvCxnSpPr>
        <p:spPr>
          <a:xfrm flipH="1">
            <a:off x="2474522" y="4657776"/>
            <a:ext cx="1455547" cy="1283003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2679220" y="5449149"/>
            <a:ext cx="873957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출원일 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소급효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736389" y="5632131"/>
            <a:ext cx="1018227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>
                <a:solidFill>
                  <a:srgbClr val="FF0000"/>
                </a:solidFill>
              </a:rPr>
              <a:t>취하간주</a:t>
            </a:r>
            <a:endParaRPr lang="en-US" altLang="ko-KR" dirty="0">
              <a:solidFill>
                <a:srgbClr val="FF0000"/>
              </a:solidFill>
            </a:endParaRPr>
          </a:p>
          <a:p>
            <a:pPr algn="ctr"/>
            <a:r>
              <a:rPr lang="en-US" altLang="ko-KR" dirty="0">
                <a:solidFill>
                  <a:srgbClr val="FF0000"/>
                </a:solidFill>
              </a:rPr>
              <a:t>(X)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114" name="직선 화살표 연결선 113"/>
          <p:cNvCxnSpPr>
            <a:stCxn id="113" idx="0"/>
            <a:endCxn id="82" idx="0"/>
          </p:cNvCxnSpPr>
          <p:nvPr/>
        </p:nvCxnSpPr>
        <p:spPr>
          <a:xfrm flipV="1">
            <a:off x="4245503" y="5200579"/>
            <a:ext cx="1646" cy="431552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4556448" y="5419437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407130" y="5423988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117" name="Text Box 38"/>
          <p:cNvSpPr txBox="1">
            <a:spLocks noChangeArrowheads="1"/>
          </p:cNvSpPr>
          <p:nvPr/>
        </p:nvSpPr>
        <p:spPr bwMode="auto">
          <a:xfrm>
            <a:off x="8587978" y="5678289"/>
            <a:ext cx="955442" cy="30777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4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ea"/>
              </a:rPr>
              <a:t>특허법</a:t>
            </a:r>
          </a:p>
        </p:txBody>
      </p:sp>
      <p:sp>
        <p:nvSpPr>
          <p:cNvPr id="118" name="Text Box 39"/>
          <p:cNvSpPr txBox="1">
            <a:spLocks noChangeArrowheads="1"/>
          </p:cNvSpPr>
          <p:nvPr/>
        </p:nvSpPr>
        <p:spPr bwMode="auto">
          <a:xfrm>
            <a:off x="10043033" y="5678289"/>
            <a:ext cx="1099538" cy="30777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4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+mn-ea"/>
              </a:rPr>
              <a:t>실용신안법</a:t>
            </a:r>
            <a:endParaRPr lang="ko-KR" altLang="en-US" sz="1400" dirty="0">
              <a:solidFill>
                <a:schemeClr val="accent4">
                  <a:lumMod val="20000"/>
                  <a:lumOff val="80000"/>
                </a:schemeClr>
              </a:solidFill>
              <a:latin typeface="+mn-ea"/>
            </a:endParaRPr>
          </a:p>
        </p:txBody>
      </p:sp>
      <p:sp>
        <p:nvSpPr>
          <p:cNvPr id="119" name="Line 21"/>
          <p:cNvSpPr>
            <a:spLocks noChangeShapeType="1"/>
          </p:cNvSpPr>
          <p:nvPr/>
        </p:nvSpPr>
        <p:spPr bwMode="auto">
          <a:xfrm>
            <a:off x="6843993" y="5580130"/>
            <a:ext cx="4819169" cy="0"/>
          </a:xfrm>
          <a:prstGeom prst="line">
            <a:avLst/>
          </a:prstGeom>
          <a:noFill/>
          <a:ln w="38100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ko-KR" altLang="en-US" sz="1400">
              <a:latin typeface="+mn-ea"/>
            </a:endParaRPr>
          </a:p>
        </p:txBody>
      </p:sp>
      <p:sp>
        <p:nvSpPr>
          <p:cNvPr id="120" name="Line 23"/>
          <p:cNvSpPr>
            <a:spLocks noChangeShapeType="1"/>
          </p:cNvSpPr>
          <p:nvPr/>
        </p:nvSpPr>
        <p:spPr bwMode="auto">
          <a:xfrm flipV="1">
            <a:off x="6845069" y="3514621"/>
            <a:ext cx="0" cy="2065509"/>
          </a:xfrm>
          <a:prstGeom prst="line">
            <a:avLst/>
          </a:prstGeom>
          <a:noFill/>
          <a:ln w="38100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ko-KR" altLang="en-US" sz="1400">
              <a:latin typeface="+mn-ea"/>
            </a:endParaRPr>
          </a:p>
        </p:txBody>
      </p:sp>
      <p:grpSp>
        <p:nvGrpSpPr>
          <p:cNvPr id="121" name="그룹 120"/>
          <p:cNvGrpSpPr/>
          <p:nvPr/>
        </p:nvGrpSpPr>
        <p:grpSpPr>
          <a:xfrm>
            <a:off x="6830007" y="4034434"/>
            <a:ext cx="4833155" cy="1036392"/>
            <a:chOff x="3753431" y="3596284"/>
            <a:chExt cx="4884801" cy="1036392"/>
          </a:xfrm>
        </p:grpSpPr>
        <p:sp>
          <p:nvSpPr>
            <p:cNvPr id="122" name="Line 24"/>
            <p:cNvSpPr>
              <a:spLocks noChangeShapeType="1"/>
            </p:cNvSpPr>
            <p:nvPr/>
          </p:nvSpPr>
          <p:spPr bwMode="auto">
            <a:xfrm>
              <a:off x="3759886" y="4632676"/>
              <a:ext cx="4849294" cy="0"/>
            </a:xfrm>
            <a:prstGeom prst="lin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ko-KR" altLang="en-US" sz="1400">
                <a:latin typeface="+mn-ea"/>
              </a:endParaRPr>
            </a:p>
          </p:txBody>
        </p:sp>
        <p:sp>
          <p:nvSpPr>
            <p:cNvPr id="124" name="Line 25"/>
            <p:cNvSpPr>
              <a:spLocks noChangeShapeType="1"/>
            </p:cNvSpPr>
            <p:nvPr/>
          </p:nvSpPr>
          <p:spPr bwMode="auto">
            <a:xfrm>
              <a:off x="3753431" y="3596284"/>
              <a:ext cx="4871890" cy="0"/>
            </a:xfrm>
            <a:prstGeom prst="lin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ko-KR" altLang="en-US" sz="1400">
                <a:latin typeface="+mn-ea"/>
              </a:endParaRPr>
            </a:p>
          </p:txBody>
        </p:sp>
        <p:sp>
          <p:nvSpPr>
            <p:cNvPr id="125" name="Line 26"/>
            <p:cNvSpPr>
              <a:spLocks noChangeShapeType="1"/>
            </p:cNvSpPr>
            <p:nvPr/>
          </p:nvSpPr>
          <p:spPr bwMode="auto">
            <a:xfrm>
              <a:off x="3767418" y="4083762"/>
              <a:ext cx="4870814" cy="20210"/>
            </a:xfrm>
            <a:prstGeom prst="lin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ko-KR" altLang="en-US" sz="1400">
                <a:latin typeface="+mn-ea"/>
              </a:endParaRPr>
            </a:p>
          </p:txBody>
        </p:sp>
      </p:grpSp>
      <p:sp>
        <p:nvSpPr>
          <p:cNvPr id="126" name="Text Box 29"/>
          <p:cNvSpPr txBox="1">
            <a:spLocks noChangeArrowheads="1"/>
          </p:cNvSpPr>
          <p:nvPr/>
        </p:nvSpPr>
        <p:spPr bwMode="auto">
          <a:xfrm>
            <a:off x="6437428" y="3476624"/>
            <a:ext cx="400110" cy="123373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vert="eaVert" wrap="square">
            <a:spAutoFit/>
          </a:bodyPr>
          <a:lstStyle/>
          <a:p>
            <a:r>
              <a:rPr lang="ko-KR" altLang="en-US" sz="1400" dirty="0">
                <a:latin typeface="+mn-ea"/>
              </a:rPr>
              <a:t>창작의 수준</a:t>
            </a:r>
          </a:p>
        </p:txBody>
      </p:sp>
      <p:sp>
        <p:nvSpPr>
          <p:cNvPr id="127" name="Text Box 31"/>
          <p:cNvSpPr txBox="1">
            <a:spLocks noChangeArrowheads="1"/>
          </p:cNvSpPr>
          <p:nvPr/>
        </p:nvSpPr>
        <p:spPr bwMode="auto">
          <a:xfrm>
            <a:off x="7046815" y="5181600"/>
            <a:ext cx="1158083" cy="25274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100" dirty="0">
                <a:latin typeface="+mn-ea"/>
              </a:rPr>
              <a:t>동일성 영역</a:t>
            </a:r>
          </a:p>
        </p:txBody>
      </p:sp>
      <p:sp>
        <p:nvSpPr>
          <p:cNvPr id="128" name="Text Box 35"/>
          <p:cNvSpPr txBox="1">
            <a:spLocks noChangeArrowheads="1"/>
          </p:cNvSpPr>
          <p:nvPr/>
        </p:nvSpPr>
        <p:spPr bwMode="auto">
          <a:xfrm>
            <a:off x="7046815" y="4662732"/>
            <a:ext cx="1158083" cy="24614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100" dirty="0">
                <a:latin typeface="+mn-ea"/>
              </a:rPr>
              <a:t>극히 용이성 영역</a:t>
            </a:r>
          </a:p>
        </p:txBody>
      </p:sp>
      <p:sp>
        <p:nvSpPr>
          <p:cNvPr id="129" name="Text Box 36"/>
          <p:cNvSpPr txBox="1">
            <a:spLocks noChangeArrowheads="1"/>
          </p:cNvSpPr>
          <p:nvPr/>
        </p:nvSpPr>
        <p:spPr bwMode="auto">
          <a:xfrm>
            <a:off x="7046815" y="4165027"/>
            <a:ext cx="1158083" cy="24614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1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용이성 영역</a:t>
            </a:r>
          </a:p>
        </p:txBody>
      </p:sp>
      <p:sp>
        <p:nvSpPr>
          <p:cNvPr id="130" name="Text Box 37"/>
          <p:cNvSpPr txBox="1">
            <a:spLocks noChangeArrowheads="1"/>
          </p:cNvSpPr>
          <p:nvPr/>
        </p:nvSpPr>
        <p:spPr bwMode="auto">
          <a:xfrm>
            <a:off x="7046815" y="3619312"/>
            <a:ext cx="1158083" cy="24614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100">
                <a:latin typeface="+mn-ea"/>
              </a:rPr>
              <a:t>비용이성 영역</a:t>
            </a:r>
          </a:p>
        </p:txBody>
      </p:sp>
      <p:sp>
        <p:nvSpPr>
          <p:cNvPr id="131" name="Text Box 31"/>
          <p:cNvSpPr txBox="1">
            <a:spLocks noChangeArrowheads="1"/>
          </p:cNvSpPr>
          <p:nvPr/>
        </p:nvSpPr>
        <p:spPr bwMode="auto">
          <a:xfrm>
            <a:off x="8587979" y="5181600"/>
            <a:ext cx="955442" cy="25274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100" dirty="0">
                <a:latin typeface="+mn-ea"/>
              </a:rPr>
              <a:t>신규성 위반</a:t>
            </a:r>
          </a:p>
        </p:txBody>
      </p:sp>
      <p:sp>
        <p:nvSpPr>
          <p:cNvPr id="133" name="Text Box 31"/>
          <p:cNvSpPr txBox="1">
            <a:spLocks noChangeArrowheads="1"/>
          </p:cNvSpPr>
          <p:nvPr/>
        </p:nvSpPr>
        <p:spPr bwMode="auto">
          <a:xfrm>
            <a:off x="8587979" y="4659429"/>
            <a:ext cx="955442" cy="25274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100" dirty="0">
                <a:latin typeface="+mn-ea"/>
              </a:rPr>
              <a:t>진보성 위반</a:t>
            </a:r>
          </a:p>
        </p:txBody>
      </p:sp>
      <p:sp>
        <p:nvSpPr>
          <p:cNvPr id="136" name="Text Box 31"/>
          <p:cNvSpPr txBox="1">
            <a:spLocks noChangeArrowheads="1"/>
          </p:cNvSpPr>
          <p:nvPr/>
        </p:nvSpPr>
        <p:spPr bwMode="auto">
          <a:xfrm>
            <a:off x="8587979" y="4172496"/>
            <a:ext cx="955442" cy="25274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100" dirty="0">
                <a:latin typeface="+mn-ea"/>
              </a:rPr>
              <a:t>진보성 위반</a:t>
            </a:r>
          </a:p>
        </p:txBody>
      </p:sp>
      <p:sp>
        <p:nvSpPr>
          <p:cNvPr id="138" name="Text Box 31"/>
          <p:cNvSpPr txBox="1">
            <a:spLocks noChangeArrowheads="1"/>
          </p:cNvSpPr>
          <p:nvPr/>
        </p:nvSpPr>
        <p:spPr bwMode="auto">
          <a:xfrm>
            <a:off x="8587979" y="3619312"/>
            <a:ext cx="955442" cy="252747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100" dirty="0" err="1">
                <a:solidFill>
                  <a:schemeClr val="bg1"/>
                </a:solidFill>
                <a:latin typeface="+mn-ea"/>
              </a:rPr>
              <a:t>등록가능</a:t>
            </a:r>
            <a:endParaRPr lang="ko-KR" altLang="en-US" sz="1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39" name="Text Box 31"/>
          <p:cNvSpPr txBox="1">
            <a:spLocks noChangeArrowheads="1"/>
          </p:cNvSpPr>
          <p:nvPr/>
        </p:nvSpPr>
        <p:spPr bwMode="auto">
          <a:xfrm>
            <a:off x="10043033" y="5181600"/>
            <a:ext cx="1099538" cy="25274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100" dirty="0">
                <a:latin typeface="+mn-ea"/>
              </a:rPr>
              <a:t>신규성 위반</a:t>
            </a:r>
          </a:p>
        </p:txBody>
      </p:sp>
      <p:sp>
        <p:nvSpPr>
          <p:cNvPr id="140" name="Text Box 31"/>
          <p:cNvSpPr txBox="1">
            <a:spLocks noChangeArrowheads="1"/>
          </p:cNvSpPr>
          <p:nvPr/>
        </p:nvSpPr>
        <p:spPr bwMode="auto">
          <a:xfrm>
            <a:off x="10043033" y="4659429"/>
            <a:ext cx="1099538" cy="25274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100" dirty="0">
                <a:latin typeface="+mn-ea"/>
              </a:rPr>
              <a:t>진보성 위반</a:t>
            </a:r>
          </a:p>
        </p:txBody>
      </p:sp>
      <p:sp>
        <p:nvSpPr>
          <p:cNvPr id="141" name="Text Box 31"/>
          <p:cNvSpPr txBox="1">
            <a:spLocks noChangeArrowheads="1"/>
          </p:cNvSpPr>
          <p:nvPr/>
        </p:nvSpPr>
        <p:spPr bwMode="auto">
          <a:xfrm>
            <a:off x="10043033" y="4172496"/>
            <a:ext cx="1099538" cy="252747"/>
          </a:xfrm>
          <a:prstGeom prst="roundRect">
            <a:avLst/>
          </a:prstGeom>
          <a:solidFill>
            <a:schemeClr val="tx2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100" dirty="0" err="1">
                <a:solidFill>
                  <a:schemeClr val="bg1"/>
                </a:solidFill>
                <a:latin typeface="+mn-ea"/>
              </a:rPr>
              <a:t>등록가능</a:t>
            </a:r>
            <a:endParaRPr lang="ko-KR" altLang="en-US" sz="1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7" name="Text Box 31"/>
          <p:cNvSpPr txBox="1">
            <a:spLocks noChangeArrowheads="1"/>
          </p:cNvSpPr>
          <p:nvPr/>
        </p:nvSpPr>
        <p:spPr bwMode="auto">
          <a:xfrm>
            <a:off x="10043033" y="3619312"/>
            <a:ext cx="1099538" cy="252747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100" dirty="0" err="1">
                <a:solidFill>
                  <a:schemeClr val="bg1"/>
                </a:solidFill>
                <a:latin typeface="+mn-ea"/>
              </a:rPr>
              <a:t>등록가능</a:t>
            </a:r>
            <a:endParaRPr lang="ko-KR" altLang="en-US" sz="1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207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489328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53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시기적 요건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875" y="986046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highlight>
                  <a:srgbClr val="FFFF00"/>
                </a:highlight>
              </a:rPr>
              <a:t>원출원이 있는 후 변경출원을 할 수 있으나 최초의 거절결정등본을 </a:t>
            </a:r>
            <a:r>
              <a:rPr lang="ko-KR" altLang="en-US" sz="1400" dirty="0" err="1">
                <a:highlight>
                  <a:srgbClr val="FFFF00"/>
                </a:highlight>
              </a:rPr>
              <a:t>송달받은</a:t>
            </a:r>
            <a:r>
              <a:rPr lang="ko-KR" altLang="en-US" sz="1400" dirty="0">
                <a:highlight>
                  <a:srgbClr val="FFFF00"/>
                </a:highlight>
              </a:rPr>
              <a:t> 날부터 </a:t>
            </a:r>
            <a:r>
              <a:rPr lang="en-US" altLang="ko-KR" sz="1400" dirty="0">
                <a:highlight>
                  <a:srgbClr val="FFFF00"/>
                </a:highlight>
              </a:rPr>
              <a:t>3</a:t>
            </a:r>
            <a:r>
              <a:rPr lang="ko-KR" altLang="en-US" sz="1400" dirty="0">
                <a:highlight>
                  <a:srgbClr val="FFFF00"/>
                </a:highlight>
              </a:rPr>
              <a:t>개월</a:t>
            </a:r>
            <a:r>
              <a:rPr lang="en-US" altLang="ko-KR" sz="1400" dirty="0">
                <a:highlight>
                  <a:srgbClr val="FFFF00"/>
                </a:highlight>
              </a:rPr>
              <a:t>(</a:t>
            </a:r>
            <a:r>
              <a:rPr lang="ko-KR" altLang="en-US" sz="1400" dirty="0" err="1">
                <a:highlight>
                  <a:srgbClr val="FFFF00"/>
                </a:highlight>
              </a:rPr>
              <a:t>거절결정불복심판청구를</a:t>
            </a:r>
            <a:r>
              <a:rPr lang="ko-KR" altLang="en-US" sz="1400" dirty="0">
                <a:highlight>
                  <a:srgbClr val="FFFF00"/>
                </a:highlight>
              </a:rPr>
              <a:t> 할 수 있는 기간이 연장된 경우에는 그 기간을 말한다</a:t>
            </a:r>
            <a:r>
              <a:rPr lang="en-US" altLang="ko-KR" sz="1400" dirty="0">
                <a:highlight>
                  <a:srgbClr val="FFFF00"/>
                </a:highlight>
              </a:rPr>
              <a:t>)</a:t>
            </a:r>
            <a:r>
              <a:rPr lang="ko-KR" altLang="en-US" sz="1400" dirty="0">
                <a:highlight>
                  <a:srgbClr val="FFFF00"/>
                </a:highlight>
              </a:rPr>
              <a:t>이 지난 후에는 </a:t>
            </a:r>
            <a:r>
              <a:rPr lang="ko-KR" altLang="en-US" sz="1400" dirty="0" err="1">
                <a:highlight>
                  <a:srgbClr val="FFFF00"/>
                </a:highlight>
              </a:rPr>
              <a:t>변경출원을</a:t>
            </a:r>
            <a:r>
              <a:rPr lang="ko-KR" altLang="en-US" sz="1400" dirty="0">
                <a:highlight>
                  <a:srgbClr val="FFFF00"/>
                </a:highlight>
              </a:rPr>
              <a:t> 할 수 없다</a:t>
            </a:r>
            <a:r>
              <a:rPr lang="en-US" altLang="ko-KR" sz="1400" dirty="0"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highlight>
                  <a:srgbClr val="FFFF00"/>
                </a:highlight>
              </a:rPr>
              <a:t>法 </a:t>
            </a:r>
            <a:r>
              <a:rPr lang="en-US" altLang="ko-KR" sz="1400" dirty="0">
                <a:highlight>
                  <a:srgbClr val="FFFF00"/>
                </a:highlight>
              </a:rPr>
              <a:t>53①Ⅰ). </a:t>
            </a:r>
            <a:r>
              <a:rPr lang="ko-KR" altLang="en-US" sz="1400" dirty="0">
                <a:solidFill>
                  <a:schemeClr val="tx2"/>
                </a:solidFill>
              </a:rPr>
              <a:t>이는 </a:t>
            </a:r>
            <a:r>
              <a:rPr lang="ko-KR" altLang="en-US" sz="1400" dirty="0" err="1">
                <a:solidFill>
                  <a:schemeClr val="tx2"/>
                </a:solidFill>
              </a:rPr>
              <a:t>변경출원이</a:t>
            </a:r>
            <a:r>
              <a:rPr lang="ko-KR" altLang="en-US" sz="1400" dirty="0">
                <a:solidFill>
                  <a:schemeClr val="tx2"/>
                </a:solidFill>
              </a:rPr>
              <a:t> 특허거절결정에 대한 </a:t>
            </a:r>
            <a:r>
              <a:rPr lang="ko-KR" altLang="en-US" sz="1400" dirty="0" err="1">
                <a:solidFill>
                  <a:schemeClr val="tx2"/>
                </a:solidFill>
              </a:rPr>
              <a:t>일방책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一方策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임을 감안하여 </a:t>
            </a:r>
            <a:r>
              <a:rPr lang="ko-KR" altLang="en-US" sz="1400" dirty="0" err="1">
                <a:solidFill>
                  <a:schemeClr val="tx2"/>
                </a:solidFill>
              </a:rPr>
              <a:t>출원인에게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변경출원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거절결정불복심판의 청구와 재심사 청구 중 </a:t>
            </a:r>
            <a:r>
              <a:rPr lang="ko-KR" altLang="en-US" sz="1400" dirty="0" err="1">
                <a:solidFill>
                  <a:schemeClr val="tx2"/>
                </a:solidFill>
              </a:rPr>
              <a:t>택일적으로</a:t>
            </a:r>
            <a:r>
              <a:rPr lang="ko-KR" altLang="en-US" sz="1400" dirty="0">
                <a:solidFill>
                  <a:schemeClr val="tx2"/>
                </a:solidFill>
              </a:rPr>
              <a:t> 조치를 취할 수 있는 기회를 주기 위함이다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「</a:t>
            </a:r>
            <a:r>
              <a:rPr lang="ko-KR" altLang="en-US" sz="1400" dirty="0" err="1">
                <a:solidFill>
                  <a:schemeClr val="tx2"/>
                </a:solidFill>
              </a:rPr>
              <a:t>최초」특허거절결정등본을</a:t>
            </a:r>
            <a:r>
              <a:rPr lang="ko-KR" altLang="en-US" sz="1400" dirty="0">
                <a:solidFill>
                  <a:schemeClr val="tx2"/>
                </a:solidFill>
              </a:rPr>
              <a:t> 받은 경우에 한정되므로 거절결정불복심판 또는 재심사를 청구하여 원특허거절결정이 </a:t>
            </a:r>
            <a:r>
              <a:rPr lang="ko-KR" altLang="en-US" sz="1400" dirty="0" err="1">
                <a:solidFill>
                  <a:schemeClr val="tx2"/>
                </a:solidFill>
              </a:rPr>
              <a:t>취소되었다거나</a:t>
            </a:r>
            <a:r>
              <a:rPr lang="ko-KR" altLang="en-US" sz="1400" dirty="0">
                <a:solidFill>
                  <a:schemeClr val="tx2"/>
                </a:solidFill>
              </a:rPr>
              <a:t> 그에 따라 특허거절결정등본을 다시 </a:t>
            </a:r>
            <a:r>
              <a:rPr lang="ko-KR" altLang="en-US" sz="1400" dirty="0" err="1">
                <a:solidFill>
                  <a:schemeClr val="tx2"/>
                </a:solidFill>
              </a:rPr>
              <a:t>송달받아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개월 이내라고 하더라도 </a:t>
            </a:r>
            <a:r>
              <a:rPr lang="ko-KR" altLang="en-US" sz="1400" dirty="0" err="1">
                <a:solidFill>
                  <a:schemeClr val="tx2"/>
                </a:solidFill>
              </a:rPr>
              <a:t>변경출원할</a:t>
            </a:r>
            <a:r>
              <a:rPr lang="ko-KR" altLang="en-US" sz="1400" dirty="0">
                <a:solidFill>
                  <a:schemeClr val="tx2"/>
                </a:solidFill>
              </a:rPr>
              <a:t> 수 없다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</p:txBody>
      </p:sp>
      <p:cxnSp>
        <p:nvCxnSpPr>
          <p:cNvPr id="61" name="직선 연결선 60"/>
          <p:cNvCxnSpPr/>
          <p:nvPr/>
        </p:nvCxnSpPr>
        <p:spPr>
          <a:xfrm>
            <a:off x="0" y="193834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순서도: 처리 62"/>
          <p:cNvSpPr/>
          <p:nvPr/>
        </p:nvSpPr>
        <p:spPr>
          <a:xfrm>
            <a:off x="1991544" y="2912656"/>
            <a:ext cx="4752528" cy="1177309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cxnSp>
        <p:nvCxnSpPr>
          <p:cNvPr id="64" name="직선 화살표 연결선 63"/>
          <p:cNvCxnSpPr/>
          <p:nvPr/>
        </p:nvCxnSpPr>
        <p:spPr>
          <a:xfrm>
            <a:off x="4115780" y="2637245"/>
            <a:ext cx="0" cy="3839755"/>
          </a:xfrm>
          <a:prstGeom prst="straightConnector1">
            <a:avLst/>
          </a:prstGeom>
          <a:ln w="28575">
            <a:solidFill>
              <a:schemeClr val="accent1">
                <a:lumMod val="50000"/>
              </a:schemeClr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14"/>
          <p:cNvSpPr>
            <a:spLocks noChangeArrowheads="1"/>
          </p:cNvSpPr>
          <p:nvPr/>
        </p:nvSpPr>
        <p:spPr bwMode="auto">
          <a:xfrm rot="10800000" flipV="1">
            <a:off x="3645722" y="2260503"/>
            <a:ext cx="922612" cy="349297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심사단계</a:t>
            </a:r>
          </a:p>
        </p:txBody>
      </p:sp>
      <p:cxnSp>
        <p:nvCxnSpPr>
          <p:cNvPr id="68" name="직선 화살표 연결선 67"/>
          <p:cNvCxnSpPr/>
          <p:nvPr/>
        </p:nvCxnSpPr>
        <p:spPr>
          <a:xfrm>
            <a:off x="7724932" y="2637245"/>
            <a:ext cx="0" cy="3728771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14"/>
          <p:cNvSpPr>
            <a:spLocks noChangeArrowheads="1"/>
          </p:cNvSpPr>
          <p:nvPr/>
        </p:nvSpPr>
        <p:spPr bwMode="auto">
          <a:xfrm rot="10800000" flipV="1">
            <a:off x="7254874" y="2260503"/>
            <a:ext cx="922612" cy="349297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심판단계</a:t>
            </a:r>
          </a:p>
        </p:txBody>
      </p:sp>
      <p:cxnSp>
        <p:nvCxnSpPr>
          <p:cNvPr id="72" name="꺾인 연결선 71"/>
          <p:cNvCxnSpPr>
            <a:stCxn id="80" idx="1"/>
          </p:cNvCxnSpPr>
          <p:nvPr/>
        </p:nvCxnSpPr>
        <p:spPr>
          <a:xfrm rot="10800000" flipH="1" flipV="1">
            <a:off x="3647728" y="3465772"/>
            <a:ext cx="459299" cy="626421"/>
          </a:xfrm>
          <a:prstGeom prst="bentConnector4">
            <a:avLst>
              <a:gd name="adj1" fmla="val -49771"/>
              <a:gd name="adj2" fmla="val 96321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72"/>
          <p:cNvCxnSpPr/>
          <p:nvPr/>
        </p:nvCxnSpPr>
        <p:spPr>
          <a:xfrm rot="10800000" flipH="1" flipV="1">
            <a:off x="3647728" y="5729364"/>
            <a:ext cx="459299" cy="626421"/>
          </a:xfrm>
          <a:prstGeom prst="bentConnector4">
            <a:avLst>
              <a:gd name="adj1" fmla="val -49771"/>
              <a:gd name="adj2" fmla="val 96321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/>
          <p:cNvCxnSpPr>
            <a:stCxn id="65" idx="4"/>
          </p:cNvCxnSpPr>
          <p:nvPr/>
        </p:nvCxnSpPr>
        <p:spPr>
          <a:xfrm>
            <a:off x="4107028" y="2609800"/>
            <a:ext cx="8752" cy="2240334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순서도: 처리 74"/>
          <p:cNvSpPr/>
          <p:nvPr/>
        </p:nvSpPr>
        <p:spPr>
          <a:xfrm>
            <a:off x="3647728" y="2808398"/>
            <a:ext cx="936104" cy="210046"/>
          </a:xfrm>
          <a:prstGeom prst="flowChartProcess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특허출원</a:t>
            </a:r>
          </a:p>
        </p:txBody>
      </p:sp>
      <p:sp>
        <p:nvSpPr>
          <p:cNvPr id="76" name="순서도: 처리 75"/>
          <p:cNvSpPr/>
          <p:nvPr/>
        </p:nvSpPr>
        <p:spPr>
          <a:xfrm>
            <a:off x="3647728" y="3084573"/>
            <a:ext cx="936104" cy="210046"/>
          </a:xfrm>
          <a:prstGeom prst="flowChartProcess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거절결정</a:t>
            </a:r>
          </a:p>
        </p:txBody>
      </p:sp>
      <p:sp>
        <p:nvSpPr>
          <p:cNvPr id="80" name="순서도: 처리 79"/>
          <p:cNvSpPr/>
          <p:nvPr/>
        </p:nvSpPr>
        <p:spPr>
          <a:xfrm>
            <a:off x="3647728" y="3360749"/>
            <a:ext cx="936104" cy="210046"/>
          </a:xfrm>
          <a:prstGeom prst="flowChartProcess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등본송달</a:t>
            </a:r>
          </a:p>
        </p:txBody>
      </p:sp>
      <p:sp>
        <p:nvSpPr>
          <p:cNvPr id="81" name="순서도: 처리 80"/>
          <p:cNvSpPr/>
          <p:nvPr/>
        </p:nvSpPr>
        <p:spPr>
          <a:xfrm>
            <a:off x="3647728" y="3768753"/>
            <a:ext cx="936104" cy="210046"/>
          </a:xfrm>
          <a:prstGeom prst="flowChartProcess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재심사청구</a:t>
            </a:r>
          </a:p>
        </p:txBody>
      </p:sp>
      <p:sp>
        <p:nvSpPr>
          <p:cNvPr id="83" name="순서도: 처리 82"/>
          <p:cNvSpPr/>
          <p:nvPr/>
        </p:nvSpPr>
        <p:spPr>
          <a:xfrm>
            <a:off x="3647728" y="4195728"/>
            <a:ext cx="936104" cy="210046"/>
          </a:xfrm>
          <a:prstGeom prst="flowChartProcess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chemeClr val="tx1"/>
                </a:solidFill>
                <a:latin typeface="+mn-ea"/>
              </a:rPr>
              <a:t>거절결정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4" name="순서도: 처리 83"/>
          <p:cNvSpPr/>
          <p:nvPr/>
        </p:nvSpPr>
        <p:spPr>
          <a:xfrm>
            <a:off x="3647728" y="4468170"/>
            <a:ext cx="936104" cy="210046"/>
          </a:xfrm>
          <a:prstGeom prst="flowChartProcess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등본송달</a:t>
            </a:r>
          </a:p>
        </p:txBody>
      </p:sp>
      <p:cxnSp>
        <p:nvCxnSpPr>
          <p:cNvPr id="85" name="직선 연결선 84"/>
          <p:cNvCxnSpPr/>
          <p:nvPr/>
        </p:nvCxnSpPr>
        <p:spPr>
          <a:xfrm flipH="1">
            <a:off x="4107026" y="4850133"/>
            <a:ext cx="3617906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/>
          <p:cNvCxnSpPr/>
          <p:nvPr/>
        </p:nvCxnSpPr>
        <p:spPr>
          <a:xfrm flipH="1">
            <a:off x="4107026" y="5244868"/>
            <a:ext cx="3617906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/>
          <p:nvPr/>
        </p:nvCxnSpPr>
        <p:spPr>
          <a:xfrm>
            <a:off x="4107028" y="5231332"/>
            <a:ext cx="0" cy="1245668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순서도: 처리 87"/>
          <p:cNvSpPr/>
          <p:nvPr/>
        </p:nvSpPr>
        <p:spPr>
          <a:xfrm>
            <a:off x="3647728" y="5358395"/>
            <a:ext cx="936104" cy="210046"/>
          </a:xfrm>
          <a:prstGeom prst="flowChartProcess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거절결정</a:t>
            </a:r>
          </a:p>
        </p:txBody>
      </p:sp>
      <p:sp>
        <p:nvSpPr>
          <p:cNvPr id="95" name="순서도: 처리 94"/>
          <p:cNvSpPr/>
          <p:nvPr/>
        </p:nvSpPr>
        <p:spPr>
          <a:xfrm>
            <a:off x="3647728" y="5634571"/>
            <a:ext cx="936104" cy="210046"/>
          </a:xfrm>
          <a:prstGeom prst="flowChartProcess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등본송달</a:t>
            </a:r>
          </a:p>
        </p:txBody>
      </p:sp>
      <p:sp>
        <p:nvSpPr>
          <p:cNvPr id="96" name="순서도: 처리 95"/>
          <p:cNvSpPr/>
          <p:nvPr/>
        </p:nvSpPr>
        <p:spPr>
          <a:xfrm>
            <a:off x="3647728" y="6042575"/>
            <a:ext cx="936104" cy="210046"/>
          </a:xfrm>
          <a:prstGeom prst="flowChartProcess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재심사청구</a:t>
            </a:r>
          </a:p>
        </p:txBody>
      </p:sp>
      <p:sp>
        <p:nvSpPr>
          <p:cNvPr id="103" name="Rectangle 14"/>
          <p:cNvSpPr>
            <a:spLocks noChangeArrowheads="1"/>
          </p:cNvSpPr>
          <p:nvPr/>
        </p:nvSpPr>
        <p:spPr bwMode="auto">
          <a:xfrm>
            <a:off x="2514721" y="3597692"/>
            <a:ext cx="1152128" cy="28545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dirty="0">
                <a:latin typeface="+mn-ea"/>
              </a:rPr>
              <a:t>3</a:t>
            </a:r>
            <a:r>
              <a:rPr lang="ko-KR" altLang="en-US" sz="1100" dirty="0">
                <a:latin typeface="+mn-ea"/>
              </a:rPr>
              <a:t>개월</a:t>
            </a:r>
          </a:p>
        </p:txBody>
      </p:sp>
      <p:sp>
        <p:nvSpPr>
          <p:cNvPr id="104" name="Rectangle 14"/>
          <p:cNvSpPr>
            <a:spLocks noChangeArrowheads="1"/>
          </p:cNvSpPr>
          <p:nvPr/>
        </p:nvSpPr>
        <p:spPr bwMode="auto">
          <a:xfrm>
            <a:off x="2514721" y="5844617"/>
            <a:ext cx="1152128" cy="28545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dirty="0">
                <a:latin typeface="+mn-ea"/>
              </a:rPr>
              <a:t>3</a:t>
            </a:r>
            <a:r>
              <a:rPr lang="ko-KR" altLang="en-US" sz="1100" dirty="0">
                <a:latin typeface="+mn-ea"/>
              </a:rPr>
              <a:t>개월</a:t>
            </a:r>
          </a:p>
        </p:txBody>
      </p:sp>
      <p:cxnSp>
        <p:nvCxnSpPr>
          <p:cNvPr id="105" name="직선 연결선 104"/>
          <p:cNvCxnSpPr/>
          <p:nvPr/>
        </p:nvCxnSpPr>
        <p:spPr>
          <a:xfrm>
            <a:off x="7724932" y="4850133"/>
            <a:ext cx="0" cy="394735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순서도: 처리 105"/>
          <p:cNvSpPr/>
          <p:nvPr/>
        </p:nvSpPr>
        <p:spPr>
          <a:xfrm>
            <a:off x="7248128" y="4955896"/>
            <a:ext cx="936104" cy="210046"/>
          </a:xfrm>
          <a:prstGeom prst="flowChartProcess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>
                <a:solidFill>
                  <a:schemeClr val="tx1"/>
                </a:solidFill>
                <a:latin typeface="+mn-ea"/>
              </a:rPr>
              <a:t>인용심결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7" name="Rectangle 14"/>
          <p:cNvSpPr>
            <a:spLocks noChangeArrowheads="1"/>
          </p:cNvSpPr>
          <p:nvPr/>
        </p:nvSpPr>
        <p:spPr bwMode="auto">
          <a:xfrm>
            <a:off x="5382485" y="2933328"/>
            <a:ext cx="1152128" cy="28545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  <a:latin typeface="+mn-ea"/>
              </a:rPr>
              <a:t>변경출원가능구간</a:t>
            </a:r>
          </a:p>
        </p:txBody>
      </p:sp>
      <p:sp>
        <p:nvSpPr>
          <p:cNvPr id="108" name="Rectangle 14"/>
          <p:cNvSpPr>
            <a:spLocks noChangeArrowheads="1"/>
          </p:cNvSpPr>
          <p:nvPr/>
        </p:nvSpPr>
        <p:spPr bwMode="auto">
          <a:xfrm>
            <a:off x="8256240" y="4904772"/>
            <a:ext cx="1152128" cy="28545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228600" indent="-228600">
              <a:buAutoNum type="arabicPeriod"/>
            </a:pPr>
            <a:r>
              <a:rPr lang="ko-KR" altLang="en-US" sz="1100" dirty="0">
                <a:latin typeface="+mn-ea"/>
              </a:rPr>
              <a:t>거절결정의 취소</a:t>
            </a:r>
            <a:endParaRPr lang="en-US" altLang="ko-KR" sz="1100" dirty="0">
              <a:latin typeface="+mn-ea"/>
            </a:endParaRPr>
          </a:p>
          <a:p>
            <a:pPr marL="228600" indent="-228600">
              <a:buAutoNum type="arabicPeriod"/>
            </a:pPr>
            <a:r>
              <a:rPr lang="ko-KR" altLang="en-US" sz="1100" dirty="0">
                <a:latin typeface="+mn-ea"/>
              </a:rPr>
              <a:t>자판 또는 환송</a:t>
            </a:r>
          </a:p>
        </p:txBody>
      </p:sp>
      <p:sp>
        <p:nvSpPr>
          <p:cNvPr id="123" name="Rectangle 14"/>
          <p:cNvSpPr>
            <a:spLocks noChangeArrowheads="1"/>
          </p:cNvSpPr>
          <p:nvPr/>
        </p:nvSpPr>
        <p:spPr bwMode="auto">
          <a:xfrm>
            <a:off x="5321913" y="4597486"/>
            <a:ext cx="1152128" cy="28545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r>
              <a:rPr lang="ko-KR" altLang="en-US" sz="1100" dirty="0">
                <a:latin typeface="+mn-ea"/>
              </a:rPr>
              <a:t>불복심판청구</a:t>
            </a:r>
          </a:p>
        </p:txBody>
      </p:sp>
      <p:sp>
        <p:nvSpPr>
          <p:cNvPr id="132" name="Rectangle 14"/>
          <p:cNvSpPr>
            <a:spLocks noChangeArrowheads="1"/>
          </p:cNvSpPr>
          <p:nvPr/>
        </p:nvSpPr>
        <p:spPr bwMode="auto">
          <a:xfrm>
            <a:off x="5321913" y="5231332"/>
            <a:ext cx="1152128" cy="28545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n-ea"/>
              </a:rPr>
              <a:t>환송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208</a:t>
            </a:fld>
            <a:endParaRPr lang="ko-KR" altLang="en-US"/>
          </a:p>
        </p:txBody>
      </p:sp>
      <p:sp>
        <p:nvSpPr>
          <p:cNvPr id="36" name="Rectangle 14"/>
          <p:cNvSpPr>
            <a:spLocks noChangeArrowheads="1"/>
          </p:cNvSpPr>
          <p:nvPr/>
        </p:nvSpPr>
        <p:spPr bwMode="auto">
          <a:xfrm>
            <a:off x="2535273" y="4794491"/>
            <a:ext cx="1152128" cy="28545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dirty="0">
                <a:latin typeface="+mn-ea"/>
              </a:rPr>
              <a:t>3</a:t>
            </a:r>
            <a:r>
              <a:rPr lang="ko-KR" altLang="en-US" sz="1100" dirty="0">
                <a:latin typeface="+mn-ea"/>
              </a:rPr>
              <a:t>개월</a:t>
            </a:r>
          </a:p>
        </p:txBody>
      </p:sp>
      <p:cxnSp>
        <p:nvCxnSpPr>
          <p:cNvPr id="37" name="꺾인 연결선 36"/>
          <p:cNvCxnSpPr/>
          <p:nvPr/>
        </p:nvCxnSpPr>
        <p:spPr>
          <a:xfrm rot="10800000" flipH="1" flipV="1">
            <a:off x="3625630" y="4582669"/>
            <a:ext cx="459299" cy="626421"/>
          </a:xfrm>
          <a:prstGeom prst="bentConnector4">
            <a:avLst>
              <a:gd name="adj1" fmla="val -49771"/>
              <a:gd name="adj2" fmla="val 96321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624528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53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변경출원의 확대된 </a:t>
            </a:r>
            <a:r>
              <a:rPr lang="ko-KR" altLang="en-US" dirty="0" err="1"/>
              <a:t>선출원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53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 err="1"/>
              <a:t>항제</a:t>
            </a:r>
            <a:r>
              <a:rPr lang="en-US" altLang="ko-KR" dirty="0"/>
              <a:t>1</a:t>
            </a:r>
            <a:r>
              <a:rPr lang="ko-KR" altLang="en-US" dirty="0"/>
              <a:t>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100" name="직선 연결선 99"/>
          <p:cNvCxnSpPr/>
          <p:nvPr/>
        </p:nvCxnSpPr>
        <p:spPr>
          <a:xfrm>
            <a:off x="6109281" y="1095555"/>
            <a:ext cx="0" cy="553598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109535" y="2718279"/>
            <a:ext cx="567393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/>
          <p:cNvSpPr/>
          <p:nvPr/>
        </p:nvSpPr>
        <p:spPr>
          <a:xfrm>
            <a:off x="274623" y="1039641"/>
            <a:ext cx="850393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274623" y="1269142"/>
            <a:ext cx="850393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274624" y="2603529"/>
            <a:ext cx="850392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실용출원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1583053" y="1039641"/>
            <a:ext cx="850393" cy="229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1583053" y="1269142"/>
            <a:ext cx="850393" cy="2295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 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1583054" y="2603529"/>
            <a:ext cx="85039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변경출원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2891562" y="1039641"/>
            <a:ext cx="850393" cy="2295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2891562" y="1269142"/>
            <a:ext cx="850393" cy="229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891563" y="2603529"/>
            <a:ext cx="85039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보정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4093580" y="2603529"/>
            <a:ext cx="85039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공개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43" name="직선 연결선 42"/>
          <p:cNvCxnSpPr>
            <a:stCxn id="34" idx="2"/>
            <a:endCxn id="35" idx="0"/>
          </p:cNvCxnSpPr>
          <p:nvPr/>
        </p:nvCxnSpPr>
        <p:spPr>
          <a:xfrm>
            <a:off x="699820" y="1498642"/>
            <a:ext cx="0" cy="110488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>
            <a:stCxn id="37" idx="2"/>
            <a:endCxn id="38" idx="0"/>
          </p:cNvCxnSpPr>
          <p:nvPr/>
        </p:nvCxnSpPr>
        <p:spPr>
          <a:xfrm>
            <a:off x="2008250" y="1498642"/>
            <a:ext cx="0" cy="110488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자유형 47"/>
          <p:cNvSpPr/>
          <p:nvPr/>
        </p:nvSpPr>
        <p:spPr>
          <a:xfrm>
            <a:off x="2428875" y="2003187"/>
            <a:ext cx="2066925" cy="567849"/>
          </a:xfrm>
          <a:custGeom>
            <a:avLst/>
            <a:gdLst>
              <a:gd name="connsiteX0" fmla="*/ 0 w 2066925"/>
              <a:gd name="connsiteY0" fmla="*/ 723900 h 723900"/>
              <a:gd name="connsiteX1" fmla="*/ 304800 w 2066925"/>
              <a:gd name="connsiteY1" fmla="*/ 0 h 723900"/>
              <a:gd name="connsiteX2" fmla="*/ 1857375 w 2066925"/>
              <a:gd name="connsiteY2" fmla="*/ 0 h 723900"/>
              <a:gd name="connsiteX3" fmla="*/ 2066925 w 2066925"/>
              <a:gd name="connsiteY3" fmla="*/ 7239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925" h="723900">
                <a:moveTo>
                  <a:pt x="0" y="723900"/>
                </a:moveTo>
                <a:lnTo>
                  <a:pt x="304800" y="0"/>
                </a:lnTo>
                <a:lnTo>
                  <a:pt x="1857375" y="0"/>
                </a:lnTo>
                <a:lnTo>
                  <a:pt x="2066925" y="723900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자유형 48"/>
          <p:cNvSpPr/>
          <p:nvPr/>
        </p:nvSpPr>
        <p:spPr>
          <a:xfrm>
            <a:off x="4495800" y="1999081"/>
            <a:ext cx="1295400" cy="552906"/>
          </a:xfrm>
          <a:custGeom>
            <a:avLst/>
            <a:gdLst>
              <a:gd name="connsiteX0" fmla="*/ 0 w 1295400"/>
              <a:gd name="connsiteY0" fmla="*/ 742950 h 742950"/>
              <a:gd name="connsiteX1" fmla="*/ 257175 w 1295400"/>
              <a:gd name="connsiteY1" fmla="*/ 0 h 742950"/>
              <a:gd name="connsiteX2" fmla="*/ 1295400 w 1295400"/>
              <a:gd name="connsiteY2" fmla="*/ 0 h 74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5400" h="742950">
                <a:moveTo>
                  <a:pt x="0" y="742950"/>
                </a:moveTo>
                <a:lnTo>
                  <a:pt x="257175" y="0"/>
                </a:lnTo>
                <a:lnTo>
                  <a:pt x="1295400" y="0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자유형 49"/>
          <p:cNvSpPr/>
          <p:nvPr/>
        </p:nvSpPr>
        <p:spPr>
          <a:xfrm>
            <a:off x="285750" y="2856787"/>
            <a:ext cx="5429250" cy="479469"/>
          </a:xfrm>
          <a:custGeom>
            <a:avLst/>
            <a:gdLst>
              <a:gd name="connsiteX0" fmla="*/ 0 w 5429250"/>
              <a:gd name="connsiteY0" fmla="*/ 0 h 752475"/>
              <a:gd name="connsiteX1" fmla="*/ 361950 w 5429250"/>
              <a:gd name="connsiteY1" fmla="*/ 752475 h 752475"/>
              <a:gd name="connsiteX2" fmla="*/ 5429250 w 5429250"/>
              <a:gd name="connsiteY2" fmla="*/ 752475 h 75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29250" h="752475">
                <a:moveTo>
                  <a:pt x="0" y="0"/>
                </a:moveTo>
                <a:lnTo>
                  <a:pt x="361950" y="752475"/>
                </a:lnTo>
                <a:lnTo>
                  <a:pt x="5429250" y="752475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/>
          <p:cNvSpPr txBox="1"/>
          <p:nvPr/>
        </p:nvSpPr>
        <p:spPr>
          <a:xfrm>
            <a:off x="2257821" y="3341073"/>
            <a:ext cx="1406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선출원의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(Y-B)</a:t>
            </a:r>
            <a:endParaRPr lang="ko-KR" altLang="en-US" sz="1200" dirty="0"/>
          </a:p>
        </p:txBody>
      </p:sp>
      <p:sp>
        <p:nvSpPr>
          <p:cNvPr id="52" name="TextBox 51"/>
          <p:cNvSpPr txBox="1"/>
          <p:nvPr/>
        </p:nvSpPr>
        <p:spPr>
          <a:xfrm>
            <a:off x="4743846" y="1531323"/>
            <a:ext cx="1192955" cy="461665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공지기술의 지위</a:t>
            </a:r>
            <a:endParaRPr lang="en-US" altLang="ko-KR" sz="1200" dirty="0"/>
          </a:p>
          <a:p>
            <a:pPr algn="ctr"/>
            <a:r>
              <a:rPr lang="en-US" altLang="ko-KR" sz="1200" dirty="0"/>
              <a:t>(Y-B, C)</a:t>
            </a:r>
            <a:endParaRPr lang="ko-KR" altLang="en-US" sz="1200" dirty="0"/>
          </a:p>
        </p:txBody>
      </p:sp>
      <p:sp>
        <p:nvSpPr>
          <p:cNvPr id="53" name="TextBox 52"/>
          <p:cNvSpPr txBox="1"/>
          <p:nvPr/>
        </p:nvSpPr>
        <p:spPr>
          <a:xfrm>
            <a:off x="2794769" y="1721822"/>
            <a:ext cx="14494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확선의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(Y-B, C)</a:t>
            </a:r>
            <a:endParaRPr lang="ko-KR" altLang="en-US" sz="1200" dirty="0"/>
          </a:p>
        </p:txBody>
      </p:sp>
      <p:cxnSp>
        <p:nvCxnSpPr>
          <p:cNvPr id="54" name="직선 연결선 53"/>
          <p:cNvCxnSpPr>
            <a:stCxn id="40" idx="2"/>
            <a:endCxn id="41" idx="0"/>
          </p:cNvCxnSpPr>
          <p:nvPr/>
        </p:nvCxnSpPr>
        <p:spPr>
          <a:xfrm>
            <a:off x="3316759" y="1498642"/>
            <a:ext cx="0" cy="110488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/>
          <p:cNvSpPr/>
          <p:nvPr/>
        </p:nvSpPr>
        <p:spPr>
          <a:xfrm>
            <a:off x="1582714" y="2834285"/>
            <a:ext cx="850392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취하간주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64" name="직선 연결선 63"/>
          <p:cNvCxnSpPr/>
          <p:nvPr/>
        </p:nvCxnSpPr>
        <p:spPr>
          <a:xfrm>
            <a:off x="6159542" y="2713121"/>
            <a:ext cx="567393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/>
          <p:cNvSpPr/>
          <p:nvPr/>
        </p:nvSpPr>
        <p:spPr>
          <a:xfrm>
            <a:off x="6324630" y="1047480"/>
            <a:ext cx="850393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6324630" y="1276981"/>
            <a:ext cx="850393" cy="2295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6324631" y="2598371"/>
            <a:ext cx="850392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원출원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8318860" y="1047480"/>
            <a:ext cx="850393" cy="229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8318860" y="1276981"/>
            <a:ext cx="850393" cy="2295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 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8318861" y="2598371"/>
            <a:ext cx="85039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변경출원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9236844" y="1047480"/>
            <a:ext cx="850393" cy="2295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9236844" y="1276981"/>
            <a:ext cx="850393" cy="229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9236845" y="2598371"/>
            <a:ext cx="85039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보정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10143587" y="2598371"/>
            <a:ext cx="85039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공개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83" name="직선 연결선 82"/>
          <p:cNvCxnSpPr>
            <a:stCxn id="68" idx="2"/>
            <a:endCxn id="70" idx="0"/>
          </p:cNvCxnSpPr>
          <p:nvPr/>
        </p:nvCxnSpPr>
        <p:spPr>
          <a:xfrm>
            <a:off x="6749827" y="1506481"/>
            <a:ext cx="0" cy="109189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/>
          <p:cNvCxnSpPr>
            <a:stCxn id="73" idx="2"/>
            <a:endCxn id="74" idx="0"/>
          </p:cNvCxnSpPr>
          <p:nvPr/>
        </p:nvCxnSpPr>
        <p:spPr>
          <a:xfrm>
            <a:off x="8744057" y="1506481"/>
            <a:ext cx="0" cy="109189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자유형 85"/>
          <p:cNvSpPr/>
          <p:nvPr/>
        </p:nvSpPr>
        <p:spPr>
          <a:xfrm>
            <a:off x="7173957" y="2203929"/>
            <a:ext cx="662543" cy="390525"/>
          </a:xfrm>
          <a:custGeom>
            <a:avLst/>
            <a:gdLst>
              <a:gd name="connsiteX0" fmla="*/ 0 w 3467100"/>
              <a:gd name="connsiteY0" fmla="*/ 381000 h 390525"/>
              <a:gd name="connsiteX1" fmla="*/ 381000 w 3467100"/>
              <a:gd name="connsiteY1" fmla="*/ 0 h 390525"/>
              <a:gd name="connsiteX2" fmla="*/ 3076575 w 3467100"/>
              <a:gd name="connsiteY2" fmla="*/ 0 h 390525"/>
              <a:gd name="connsiteX3" fmla="*/ 3467100 w 3467100"/>
              <a:gd name="connsiteY3" fmla="*/ 390525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00" h="390525">
                <a:moveTo>
                  <a:pt x="0" y="381000"/>
                </a:moveTo>
                <a:lnTo>
                  <a:pt x="381000" y="0"/>
                </a:lnTo>
                <a:lnTo>
                  <a:pt x="3076575" y="0"/>
                </a:lnTo>
                <a:lnTo>
                  <a:pt x="3467100" y="390525"/>
                </a:lnTo>
              </a:path>
            </a:pathLst>
          </a:cu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자유형 87"/>
          <p:cNvSpPr/>
          <p:nvPr/>
        </p:nvSpPr>
        <p:spPr>
          <a:xfrm>
            <a:off x="9168141" y="1841979"/>
            <a:ext cx="1377666" cy="723900"/>
          </a:xfrm>
          <a:custGeom>
            <a:avLst/>
            <a:gdLst>
              <a:gd name="connsiteX0" fmla="*/ 0 w 2066925"/>
              <a:gd name="connsiteY0" fmla="*/ 723900 h 723900"/>
              <a:gd name="connsiteX1" fmla="*/ 304800 w 2066925"/>
              <a:gd name="connsiteY1" fmla="*/ 0 h 723900"/>
              <a:gd name="connsiteX2" fmla="*/ 1857375 w 2066925"/>
              <a:gd name="connsiteY2" fmla="*/ 0 h 723900"/>
              <a:gd name="connsiteX3" fmla="*/ 2066925 w 2066925"/>
              <a:gd name="connsiteY3" fmla="*/ 7239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925" h="723900">
                <a:moveTo>
                  <a:pt x="0" y="723900"/>
                </a:moveTo>
                <a:lnTo>
                  <a:pt x="304800" y="0"/>
                </a:lnTo>
                <a:lnTo>
                  <a:pt x="1857375" y="0"/>
                </a:lnTo>
                <a:lnTo>
                  <a:pt x="2066925" y="723900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자유형 94"/>
          <p:cNvSpPr/>
          <p:nvPr/>
        </p:nvSpPr>
        <p:spPr>
          <a:xfrm>
            <a:off x="10545807" y="1841979"/>
            <a:ext cx="1295400" cy="704850"/>
          </a:xfrm>
          <a:custGeom>
            <a:avLst/>
            <a:gdLst>
              <a:gd name="connsiteX0" fmla="*/ 0 w 1295400"/>
              <a:gd name="connsiteY0" fmla="*/ 742950 h 742950"/>
              <a:gd name="connsiteX1" fmla="*/ 257175 w 1295400"/>
              <a:gd name="connsiteY1" fmla="*/ 0 h 742950"/>
              <a:gd name="connsiteX2" fmla="*/ 1295400 w 1295400"/>
              <a:gd name="connsiteY2" fmla="*/ 0 h 74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5400" h="742950">
                <a:moveTo>
                  <a:pt x="0" y="742950"/>
                </a:moveTo>
                <a:lnTo>
                  <a:pt x="257175" y="0"/>
                </a:lnTo>
                <a:lnTo>
                  <a:pt x="1295400" y="0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자유형 95"/>
          <p:cNvSpPr/>
          <p:nvPr/>
        </p:nvSpPr>
        <p:spPr>
          <a:xfrm>
            <a:off x="6335757" y="2851630"/>
            <a:ext cx="5429250" cy="489443"/>
          </a:xfrm>
          <a:custGeom>
            <a:avLst/>
            <a:gdLst>
              <a:gd name="connsiteX0" fmla="*/ 0 w 5429250"/>
              <a:gd name="connsiteY0" fmla="*/ 0 h 752475"/>
              <a:gd name="connsiteX1" fmla="*/ 361950 w 5429250"/>
              <a:gd name="connsiteY1" fmla="*/ 752475 h 752475"/>
              <a:gd name="connsiteX2" fmla="*/ 5429250 w 5429250"/>
              <a:gd name="connsiteY2" fmla="*/ 752475 h 75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29250" h="752475">
                <a:moveTo>
                  <a:pt x="0" y="0"/>
                </a:moveTo>
                <a:lnTo>
                  <a:pt x="361950" y="752475"/>
                </a:lnTo>
                <a:lnTo>
                  <a:pt x="5429250" y="752475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/>
          <p:cNvSpPr txBox="1"/>
          <p:nvPr/>
        </p:nvSpPr>
        <p:spPr>
          <a:xfrm>
            <a:off x="8269728" y="3354965"/>
            <a:ext cx="1406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선출원의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(Y-B)</a:t>
            </a:r>
            <a:endParaRPr lang="ko-KR" altLang="en-US" sz="1200" dirty="0"/>
          </a:p>
        </p:txBody>
      </p:sp>
      <p:sp>
        <p:nvSpPr>
          <p:cNvPr id="102" name="TextBox 101"/>
          <p:cNvSpPr txBox="1"/>
          <p:nvPr/>
        </p:nvSpPr>
        <p:spPr>
          <a:xfrm>
            <a:off x="10793853" y="1402340"/>
            <a:ext cx="1192955" cy="461665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공지기술의 지위</a:t>
            </a:r>
            <a:endParaRPr lang="en-US" altLang="ko-KR" sz="1200" dirty="0"/>
          </a:p>
          <a:p>
            <a:pPr algn="ctr"/>
            <a:r>
              <a:rPr lang="en-US" altLang="ko-KR" sz="1200" dirty="0"/>
              <a:t>(Y-B, C)</a:t>
            </a:r>
            <a:endParaRPr lang="ko-KR" altLang="en-US" sz="1200" dirty="0"/>
          </a:p>
        </p:txBody>
      </p:sp>
      <p:sp>
        <p:nvSpPr>
          <p:cNvPr id="103" name="TextBox 102"/>
          <p:cNvSpPr txBox="1"/>
          <p:nvPr/>
        </p:nvSpPr>
        <p:spPr>
          <a:xfrm>
            <a:off x="9159101" y="1583314"/>
            <a:ext cx="14494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확선의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(Y-B, C)</a:t>
            </a:r>
            <a:endParaRPr lang="ko-KR" altLang="en-US" sz="1200" dirty="0"/>
          </a:p>
        </p:txBody>
      </p:sp>
      <p:cxnSp>
        <p:nvCxnSpPr>
          <p:cNvPr id="104" name="직선 연결선 103"/>
          <p:cNvCxnSpPr>
            <a:stCxn id="76" idx="2"/>
            <a:endCxn id="80" idx="0"/>
          </p:cNvCxnSpPr>
          <p:nvPr/>
        </p:nvCxnSpPr>
        <p:spPr>
          <a:xfrm>
            <a:off x="9662041" y="1506481"/>
            <a:ext cx="0" cy="109189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6974535" y="1814079"/>
            <a:ext cx="9172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 err="1"/>
              <a:t>확선의</a:t>
            </a:r>
            <a:r>
              <a:rPr lang="ko-KR" altLang="en-US" sz="1200" dirty="0"/>
              <a:t> 지위</a:t>
            </a:r>
            <a:endParaRPr lang="en-US" altLang="ko-KR" sz="1200" dirty="0"/>
          </a:p>
          <a:p>
            <a:pPr algn="ctr"/>
            <a:r>
              <a:rPr lang="en-US" altLang="ko-KR" sz="1200" dirty="0"/>
              <a:t>(X-A, B)</a:t>
            </a:r>
            <a:endParaRPr lang="ko-KR" altLang="en-US" sz="1200" dirty="0"/>
          </a:p>
        </p:txBody>
      </p:sp>
      <p:sp>
        <p:nvSpPr>
          <p:cNvPr id="106" name="TextBox 105"/>
          <p:cNvSpPr txBox="1"/>
          <p:nvPr/>
        </p:nvSpPr>
        <p:spPr>
          <a:xfrm>
            <a:off x="7768535" y="1804224"/>
            <a:ext cx="1192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공지기술의 지위</a:t>
            </a:r>
            <a:endParaRPr lang="en-US" altLang="ko-KR" sz="1200" dirty="0"/>
          </a:p>
          <a:p>
            <a:pPr algn="ctr"/>
            <a:r>
              <a:rPr lang="en-US" altLang="ko-KR" sz="1200" dirty="0"/>
              <a:t>(X-A, B)</a:t>
            </a:r>
            <a:endParaRPr lang="ko-KR" altLang="en-US" sz="1200" dirty="0"/>
          </a:p>
        </p:txBody>
      </p:sp>
      <p:sp>
        <p:nvSpPr>
          <p:cNvPr id="3" name="아래쪽 화살표 2"/>
          <p:cNvSpPr/>
          <p:nvPr/>
        </p:nvSpPr>
        <p:spPr>
          <a:xfrm>
            <a:off x="2350895" y="3817314"/>
            <a:ext cx="1313080" cy="723900"/>
          </a:xfrm>
          <a:prstGeom prst="downArrow">
            <a:avLst>
              <a:gd name="adj1" fmla="val 68860"/>
              <a:gd name="adj2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일반화</a:t>
            </a:r>
          </a:p>
        </p:txBody>
      </p:sp>
      <p:cxnSp>
        <p:nvCxnSpPr>
          <p:cNvPr id="119" name="직선 연결선 118"/>
          <p:cNvCxnSpPr/>
          <p:nvPr/>
        </p:nvCxnSpPr>
        <p:spPr>
          <a:xfrm>
            <a:off x="109535" y="5787797"/>
            <a:ext cx="567393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직사각형 121"/>
          <p:cNvSpPr/>
          <p:nvPr/>
        </p:nvSpPr>
        <p:spPr>
          <a:xfrm>
            <a:off x="274624" y="5673047"/>
            <a:ext cx="850392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실용출원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1583054" y="5673047"/>
            <a:ext cx="85039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변경출원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4093580" y="5673047"/>
            <a:ext cx="85039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공개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32" name="자유형 131"/>
          <p:cNvSpPr/>
          <p:nvPr/>
        </p:nvSpPr>
        <p:spPr>
          <a:xfrm>
            <a:off x="2428875" y="5072705"/>
            <a:ext cx="2066925" cy="567849"/>
          </a:xfrm>
          <a:custGeom>
            <a:avLst/>
            <a:gdLst>
              <a:gd name="connsiteX0" fmla="*/ 0 w 2066925"/>
              <a:gd name="connsiteY0" fmla="*/ 723900 h 723900"/>
              <a:gd name="connsiteX1" fmla="*/ 304800 w 2066925"/>
              <a:gd name="connsiteY1" fmla="*/ 0 h 723900"/>
              <a:gd name="connsiteX2" fmla="*/ 1857375 w 2066925"/>
              <a:gd name="connsiteY2" fmla="*/ 0 h 723900"/>
              <a:gd name="connsiteX3" fmla="*/ 2066925 w 2066925"/>
              <a:gd name="connsiteY3" fmla="*/ 7239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925" h="723900">
                <a:moveTo>
                  <a:pt x="0" y="723900"/>
                </a:moveTo>
                <a:lnTo>
                  <a:pt x="304800" y="0"/>
                </a:lnTo>
                <a:lnTo>
                  <a:pt x="1857375" y="0"/>
                </a:lnTo>
                <a:lnTo>
                  <a:pt x="2066925" y="723900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자유형 132"/>
          <p:cNvSpPr/>
          <p:nvPr/>
        </p:nvSpPr>
        <p:spPr>
          <a:xfrm>
            <a:off x="4495800" y="5068599"/>
            <a:ext cx="1295400" cy="552906"/>
          </a:xfrm>
          <a:custGeom>
            <a:avLst/>
            <a:gdLst>
              <a:gd name="connsiteX0" fmla="*/ 0 w 1295400"/>
              <a:gd name="connsiteY0" fmla="*/ 742950 h 742950"/>
              <a:gd name="connsiteX1" fmla="*/ 257175 w 1295400"/>
              <a:gd name="connsiteY1" fmla="*/ 0 h 742950"/>
              <a:gd name="connsiteX2" fmla="*/ 1295400 w 1295400"/>
              <a:gd name="connsiteY2" fmla="*/ 0 h 74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5400" h="742950">
                <a:moveTo>
                  <a:pt x="0" y="742950"/>
                </a:moveTo>
                <a:lnTo>
                  <a:pt x="257175" y="0"/>
                </a:lnTo>
                <a:lnTo>
                  <a:pt x="1295400" y="0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4" name="자유형 133"/>
          <p:cNvSpPr/>
          <p:nvPr/>
        </p:nvSpPr>
        <p:spPr>
          <a:xfrm>
            <a:off x="285750" y="5926305"/>
            <a:ext cx="5429250" cy="479469"/>
          </a:xfrm>
          <a:custGeom>
            <a:avLst/>
            <a:gdLst>
              <a:gd name="connsiteX0" fmla="*/ 0 w 5429250"/>
              <a:gd name="connsiteY0" fmla="*/ 0 h 752475"/>
              <a:gd name="connsiteX1" fmla="*/ 361950 w 5429250"/>
              <a:gd name="connsiteY1" fmla="*/ 752475 h 752475"/>
              <a:gd name="connsiteX2" fmla="*/ 5429250 w 5429250"/>
              <a:gd name="connsiteY2" fmla="*/ 752475 h 75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29250" h="752475">
                <a:moveTo>
                  <a:pt x="0" y="0"/>
                </a:moveTo>
                <a:lnTo>
                  <a:pt x="361950" y="752475"/>
                </a:lnTo>
                <a:lnTo>
                  <a:pt x="5429250" y="752475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TextBox 134"/>
          <p:cNvSpPr txBox="1"/>
          <p:nvPr/>
        </p:nvSpPr>
        <p:spPr>
          <a:xfrm>
            <a:off x="2257821" y="6410591"/>
            <a:ext cx="18630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선출원의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(Y-</a:t>
            </a:r>
            <a:r>
              <a:rPr lang="ko-KR" altLang="en-US" sz="1200" dirty="0" err="1"/>
              <a:t>청구범위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36" name="TextBox 135"/>
          <p:cNvSpPr txBox="1"/>
          <p:nvPr/>
        </p:nvSpPr>
        <p:spPr>
          <a:xfrm>
            <a:off x="4743846" y="4600841"/>
            <a:ext cx="1192955" cy="461665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공지기술의 지위</a:t>
            </a:r>
            <a:endParaRPr lang="en-US" altLang="ko-KR" sz="1200" dirty="0"/>
          </a:p>
          <a:p>
            <a:pPr algn="ctr"/>
            <a:r>
              <a:rPr lang="en-US" altLang="ko-KR" sz="1200" dirty="0"/>
              <a:t>(Y-</a:t>
            </a:r>
            <a:r>
              <a:rPr lang="ko-KR" altLang="en-US" sz="1200" dirty="0" err="1"/>
              <a:t>최명도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37" name="TextBox 136"/>
          <p:cNvSpPr txBox="1"/>
          <p:nvPr/>
        </p:nvSpPr>
        <p:spPr>
          <a:xfrm>
            <a:off x="2794769" y="4791340"/>
            <a:ext cx="15872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확선의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(Y-</a:t>
            </a:r>
            <a:r>
              <a:rPr lang="ko-KR" altLang="en-US" sz="1200" dirty="0" err="1"/>
              <a:t>최명도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39" name="직사각형 138"/>
          <p:cNvSpPr/>
          <p:nvPr/>
        </p:nvSpPr>
        <p:spPr>
          <a:xfrm>
            <a:off x="1582714" y="5903803"/>
            <a:ext cx="850392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취하간주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40" name="직사각형 139"/>
          <p:cNvSpPr/>
          <p:nvPr/>
        </p:nvSpPr>
        <p:spPr>
          <a:xfrm>
            <a:off x="7348685" y="2598371"/>
            <a:ext cx="850392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공개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41" name="직사각형 140"/>
          <p:cNvSpPr/>
          <p:nvPr/>
        </p:nvSpPr>
        <p:spPr>
          <a:xfrm>
            <a:off x="8317749" y="2834285"/>
            <a:ext cx="850392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취하간주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" name="자유형 8"/>
          <p:cNvSpPr/>
          <p:nvPr/>
        </p:nvSpPr>
        <p:spPr>
          <a:xfrm>
            <a:off x="7839075" y="2209800"/>
            <a:ext cx="3962400" cy="361950"/>
          </a:xfrm>
          <a:custGeom>
            <a:avLst/>
            <a:gdLst>
              <a:gd name="connsiteX0" fmla="*/ 0 w 3962400"/>
              <a:gd name="connsiteY0" fmla="*/ 361950 h 361950"/>
              <a:gd name="connsiteX1" fmla="*/ 104775 w 3962400"/>
              <a:gd name="connsiteY1" fmla="*/ 0 h 361950"/>
              <a:gd name="connsiteX2" fmla="*/ 3962400 w 3962400"/>
              <a:gd name="connsiteY2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62400" h="361950">
                <a:moveTo>
                  <a:pt x="0" y="361950"/>
                </a:moveTo>
                <a:lnTo>
                  <a:pt x="104775" y="0"/>
                </a:lnTo>
                <a:lnTo>
                  <a:pt x="3962400" y="0"/>
                </a:lnTo>
              </a:path>
            </a:pathLst>
          </a:cu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8" name="아래쪽 화살표 167"/>
          <p:cNvSpPr/>
          <p:nvPr/>
        </p:nvSpPr>
        <p:spPr>
          <a:xfrm>
            <a:off x="8580304" y="3817314"/>
            <a:ext cx="1313080" cy="723900"/>
          </a:xfrm>
          <a:prstGeom prst="downArrow">
            <a:avLst>
              <a:gd name="adj1" fmla="val 68860"/>
              <a:gd name="adj2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일반화</a:t>
            </a:r>
          </a:p>
        </p:txBody>
      </p:sp>
      <p:cxnSp>
        <p:nvCxnSpPr>
          <p:cNvPr id="169" name="직선 연결선 168"/>
          <p:cNvCxnSpPr/>
          <p:nvPr/>
        </p:nvCxnSpPr>
        <p:spPr>
          <a:xfrm>
            <a:off x="6159542" y="5787796"/>
            <a:ext cx="567393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직사각형 169"/>
          <p:cNvSpPr/>
          <p:nvPr/>
        </p:nvSpPr>
        <p:spPr>
          <a:xfrm>
            <a:off x="6324631" y="5673046"/>
            <a:ext cx="850392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원출원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71" name="직사각형 170"/>
          <p:cNvSpPr/>
          <p:nvPr/>
        </p:nvSpPr>
        <p:spPr>
          <a:xfrm>
            <a:off x="8318861" y="5673046"/>
            <a:ext cx="85039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변경출원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73" name="직사각형 172"/>
          <p:cNvSpPr/>
          <p:nvPr/>
        </p:nvSpPr>
        <p:spPr>
          <a:xfrm>
            <a:off x="10143587" y="5673046"/>
            <a:ext cx="85039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공개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74" name="자유형 173"/>
          <p:cNvSpPr/>
          <p:nvPr/>
        </p:nvSpPr>
        <p:spPr>
          <a:xfrm>
            <a:off x="7173957" y="5278604"/>
            <a:ext cx="662543" cy="390525"/>
          </a:xfrm>
          <a:custGeom>
            <a:avLst/>
            <a:gdLst>
              <a:gd name="connsiteX0" fmla="*/ 0 w 3467100"/>
              <a:gd name="connsiteY0" fmla="*/ 381000 h 390525"/>
              <a:gd name="connsiteX1" fmla="*/ 381000 w 3467100"/>
              <a:gd name="connsiteY1" fmla="*/ 0 h 390525"/>
              <a:gd name="connsiteX2" fmla="*/ 3076575 w 3467100"/>
              <a:gd name="connsiteY2" fmla="*/ 0 h 390525"/>
              <a:gd name="connsiteX3" fmla="*/ 3467100 w 3467100"/>
              <a:gd name="connsiteY3" fmla="*/ 390525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00" h="390525">
                <a:moveTo>
                  <a:pt x="0" y="381000"/>
                </a:moveTo>
                <a:lnTo>
                  <a:pt x="381000" y="0"/>
                </a:lnTo>
                <a:lnTo>
                  <a:pt x="3076575" y="0"/>
                </a:lnTo>
                <a:lnTo>
                  <a:pt x="3467100" y="390525"/>
                </a:lnTo>
              </a:path>
            </a:pathLst>
          </a:cu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5" name="자유형 174"/>
          <p:cNvSpPr/>
          <p:nvPr/>
        </p:nvSpPr>
        <p:spPr>
          <a:xfrm>
            <a:off x="9168141" y="4916654"/>
            <a:ext cx="1377666" cy="723900"/>
          </a:xfrm>
          <a:custGeom>
            <a:avLst/>
            <a:gdLst>
              <a:gd name="connsiteX0" fmla="*/ 0 w 2066925"/>
              <a:gd name="connsiteY0" fmla="*/ 723900 h 723900"/>
              <a:gd name="connsiteX1" fmla="*/ 304800 w 2066925"/>
              <a:gd name="connsiteY1" fmla="*/ 0 h 723900"/>
              <a:gd name="connsiteX2" fmla="*/ 1857375 w 2066925"/>
              <a:gd name="connsiteY2" fmla="*/ 0 h 723900"/>
              <a:gd name="connsiteX3" fmla="*/ 2066925 w 2066925"/>
              <a:gd name="connsiteY3" fmla="*/ 7239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925" h="723900">
                <a:moveTo>
                  <a:pt x="0" y="723900"/>
                </a:moveTo>
                <a:lnTo>
                  <a:pt x="304800" y="0"/>
                </a:lnTo>
                <a:lnTo>
                  <a:pt x="1857375" y="0"/>
                </a:lnTo>
                <a:lnTo>
                  <a:pt x="2066925" y="723900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6" name="자유형 175"/>
          <p:cNvSpPr/>
          <p:nvPr/>
        </p:nvSpPr>
        <p:spPr>
          <a:xfrm>
            <a:off x="10545807" y="4916654"/>
            <a:ext cx="1295400" cy="704850"/>
          </a:xfrm>
          <a:custGeom>
            <a:avLst/>
            <a:gdLst>
              <a:gd name="connsiteX0" fmla="*/ 0 w 1295400"/>
              <a:gd name="connsiteY0" fmla="*/ 742950 h 742950"/>
              <a:gd name="connsiteX1" fmla="*/ 257175 w 1295400"/>
              <a:gd name="connsiteY1" fmla="*/ 0 h 742950"/>
              <a:gd name="connsiteX2" fmla="*/ 1295400 w 1295400"/>
              <a:gd name="connsiteY2" fmla="*/ 0 h 74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5400" h="742950">
                <a:moveTo>
                  <a:pt x="0" y="742950"/>
                </a:moveTo>
                <a:lnTo>
                  <a:pt x="257175" y="0"/>
                </a:lnTo>
                <a:lnTo>
                  <a:pt x="1295400" y="0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7" name="자유형 176"/>
          <p:cNvSpPr/>
          <p:nvPr/>
        </p:nvSpPr>
        <p:spPr>
          <a:xfrm>
            <a:off x="6335757" y="5926305"/>
            <a:ext cx="5429250" cy="489443"/>
          </a:xfrm>
          <a:custGeom>
            <a:avLst/>
            <a:gdLst>
              <a:gd name="connsiteX0" fmla="*/ 0 w 5429250"/>
              <a:gd name="connsiteY0" fmla="*/ 0 h 752475"/>
              <a:gd name="connsiteX1" fmla="*/ 361950 w 5429250"/>
              <a:gd name="connsiteY1" fmla="*/ 752475 h 752475"/>
              <a:gd name="connsiteX2" fmla="*/ 5429250 w 5429250"/>
              <a:gd name="connsiteY2" fmla="*/ 752475 h 75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29250" h="752475">
                <a:moveTo>
                  <a:pt x="0" y="0"/>
                </a:moveTo>
                <a:lnTo>
                  <a:pt x="361950" y="752475"/>
                </a:lnTo>
                <a:lnTo>
                  <a:pt x="5429250" y="752475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8" name="TextBox 177"/>
          <p:cNvSpPr txBox="1"/>
          <p:nvPr/>
        </p:nvSpPr>
        <p:spPr>
          <a:xfrm>
            <a:off x="8269728" y="6429640"/>
            <a:ext cx="18630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선출원의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(Y-</a:t>
            </a:r>
            <a:r>
              <a:rPr lang="ko-KR" altLang="en-US" sz="1200" dirty="0" err="1"/>
              <a:t>청구범위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79" name="TextBox 178"/>
          <p:cNvSpPr txBox="1"/>
          <p:nvPr/>
        </p:nvSpPr>
        <p:spPr>
          <a:xfrm>
            <a:off x="10793853" y="4477015"/>
            <a:ext cx="1192955" cy="461665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공지기술의 지위</a:t>
            </a:r>
            <a:endParaRPr lang="en-US" altLang="ko-KR" sz="1200" dirty="0"/>
          </a:p>
          <a:p>
            <a:pPr algn="ctr"/>
            <a:r>
              <a:rPr lang="en-US" altLang="ko-KR" sz="1200" dirty="0"/>
              <a:t>(Y-</a:t>
            </a:r>
            <a:r>
              <a:rPr lang="ko-KR" altLang="en-US" sz="1200" dirty="0" err="1"/>
              <a:t>최명도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80" name="TextBox 179"/>
          <p:cNvSpPr txBox="1"/>
          <p:nvPr/>
        </p:nvSpPr>
        <p:spPr>
          <a:xfrm>
            <a:off x="9159101" y="4657989"/>
            <a:ext cx="15872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확선의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(Y-</a:t>
            </a:r>
            <a:r>
              <a:rPr lang="ko-KR" altLang="en-US" sz="1200" dirty="0" err="1"/>
              <a:t>최명도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81" name="TextBox 180"/>
          <p:cNvSpPr txBox="1"/>
          <p:nvPr/>
        </p:nvSpPr>
        <p:spPr>
          <a:xfrm>
            <a:off x="6974535" y="4888754"/>
            <a:ext cx="9172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 err="1"/>
              <a:t>확선의</a:t>
            </a:r>
            <a:r>
              <a:rPr lang="ko-KR" altLang="en-US" sz="1200" dirty="0"/>
              <a:t> 지위</a:t>
            </a:r>
            <a:endParaRPr lang="en-US" altLang="ko-KR" sz="1200" dirty="0"/>
          </a:p>
          <a:p>
            <a:pPr algn="ctr"/>
            <a:r>
              <a:rPr lang="en-US" altLang="ko-KR" sz="1200" dirty="0"/>
              <a:t>(X-</a:t>
            </a:r>
            <a:r>
              <a:rPr lang="ko-KR" altLang="en-US" sz="1200" dirty="0" err="1"/>
              <a:t>최명도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82" name="TextBox 181"/>
          <p:cNvSpPr txBox="1"/>
          <p:nvPr/>
        </p:nvSpPr>
        <p:spPr>
          <a:xfrm>
            <a:off x="7768535" y="4878899"/>
            <a:ext cx="1192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공지기술의 지위</a:t>
            </a:r>
            <a:endParaRPr lang="en-US" altLang="ko-KR" sz="1200" dirty="0"/>
          </a:p>
          <a:p>
            <a:pPr algn="ctr"/>
            <a:r>
              <a:rPr lang="en-US" altLang="ko-KR" sz="1200" dirty="0"/>
              <a:t>(X-</a:t>
            </a:r>
            <a:r>
              <a:rPr lang="ko-KR" altLang="en-US" sz="1200" dirty="0" err="1"/>
              <a:t>최명도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83" name="직사각형 182"/>
          <p:cNvSpPr/>
          <p:nvPr/>
        </p:nvSpPr>
        <p:spPr>
          <a:xfrm>
            <a:off x="7348685" y="5673046"/>
            <a:ext cx="850392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공개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84" name="직사각형 183"/>
          <p:cNvSpPr/>
          <p:nvPr/>
        </p:nvSpPr>
        <p:spPr>
          <a:xfrm>
            <a:off x="8317749" y="5908960"/>
            <a:ext cx="850392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취하간주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85" name="자유형 184"/>
          <p:cNvSpPr/>
          <p:nvPr/>
        </p:nvSpPr>
        <p:spPr>
          <a:xfrm>
            <a:off x="7839075" y="5284475"/>
            <a:ext cx="3962400" cy="361950"/>
          </a:xfrm>
          <a:custGeom>
            <a:avLst/>
            <a:gdLst>
              <a:gd name="connsiteX0" fmla="*/ 0 w 3962400"/>
              <a:gd name="connsiteY0" fmla="*/ 361950 h 361950"/>
              <a:gd name="connsiteX1" fmla="*/ 104775 w 3962400"/>
              <a:gd name="connsiteY1" fmla="*/ 0 h 361950"/>
              <a:gd name="connsiteX2" fmla="*/ 3962400 w 3962400"/>
              <a:gd name="connsiteY2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62400" h="361950">
                <a:moveTo>
                  <a:pt x="0" y="361950"/>
                </a:moveTo>
                <a:lnTo>
                  <a:pt x="104775" y="0"/>
                </a:lnTo>
                <a:lnTo>
                  <a:pt x="3962400" y="0"/>
                </a:lnTo>
              </a:path>
            </a:pathLst>
          </a:cu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209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109595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직선 연결선 42"/>
          <p:cNvCxnSpPr/>
          <p:nvPr/>
        </p:nvCxnSpPr>
        <p:spPr>
          <a:xfrm>
            <a:off x="1090881" y="2428875"/>
            <a:ext cx="0" cy="303108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53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분할출원과의 관계</a:t>
            </a:r>
          </a:p>
        </p:txBody>
      </p:sp>
      <p:cxnSp>
        <p:nvCxnSpPr>
          <p:cNvPr id="100" name="직선 연결선 99"/>
          <p:cNvCxnSpPr/>
          <p:nvPr/>
        </p:nvCxnSpPr>
        <p:spPr>
          <a:xfrm>
            <a:off x="6109281" y="2428875"/>
            <a:ext cx="0" cy="420266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875" y="986046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>
                <a:solidFill>
                  <a:schemeClr val="tx2"/>
                </a:solidFill>
              </a:rPr>
              <a:t>분할출원을</a:t>
            </a:r>
            <a:r>
              <a:rPr lang="en-US" altLang="ko-KR" sz="1400">
                <a:solidFill>
                  <a:schemeClr val="tx2"/>
                </a:solidFill>
              </a:rPr>
              <a:t> </a:t>
            </a:r>
            <a:r>
              <a:rPr lang="ko-KR" altLang="en-US" sz="1400">
                <a:solidFill>
                  <a:schemeClr val="tx2"/>
                </a:solidFill>
              </a:rPr>
              <a:t>한 </a:t>
            </a:r>
            <a:r>
              <a:rPr lang="ko-KR" altLang="en-US" sz="1400" dirty="0">
                <a:solidFill>
                  <a:schemeClr val="tx2"/>
                </a:solidFill>
              </a:rPr>
              <a:t>후 그 분할출원을 원출원으로 하여 변경출원을 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다만 분할출원과 변경출원이 하나의 절차에 의하여 이루어질 수는 없으므로 특허출원 발명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(A, B)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중 일부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(A)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를 특허로 보호받고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일부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(B)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를 실용신안으로 보호받고자 할 때에는 일단 그 발명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(B)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을 동일한 출원형식으로 분할출원을 하고 그 분할출원을 다시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변경출원하여야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한다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.</a:t>
            </a:r>
            <a:r>
              <a:rPr lang="en-US" altLang="ko-KR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그 발명</a:t>
            </a:r>
            <a:r>
              <a:rPr lang="en-US" altLang="ko-KR" sz="1400" dirty="0">
                <a:solidFill>
                  <a:schemeClr val="tx2"/>
                </a:solidFill>
              </a:rPr>
              <a:t>(B)</a:t>
            </a:r>
            <a:r>
              <a:rPr lang="ko-KR" altLang="en-US" sz="1400" dirty="0">
                <a:solidFill>
                  <a:schemeClr val="tx2"/>
                </a:solidFill>
              </a:rPr>
              <a:t>을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분할출원하지</a:t>
            </a:r>
            <a:r>
              <a:rPr lang="ko-KR" altLang="en-US" sz="1400" dirty="0">
                <a:solidFill>
                  <a:schemeClr val="tx2"/>
                </a:solidFill>
              </a:rPr>
              <a:t> 않고 특허출원</a:t>
            </a:r>
            <a:r>
              <a:rPr lang="en-US" altLang="ko-KR" sz="1400" dirty="0">
                <a:solidFill>
                  <a:schemeClr val="tx2"/>
                </a:solidFill>
              </a:rPr>
              <a:t>(A, B)</a:t>
            </a:r>
            <a:r>
              <a:rPr lang="ko-KR" altLang="en-US" sz="1400" dirty="0">
                <a:solidFill>
                  <a:schemeClr val="tx2"/>
                </a:solidFill>
              </a:rPr>
              <a:t>을 바로 </a:t>
            </a:r>
            <a:r>
              <a:rPr lang="ko-KR" altLang="en-US" sz="1400" dirty="0" err="1">
                <a:solidFill>
                  <a:schemeClr val="tx2"/>
                </a:solidFill>
              </a:rPr>
              <a:t>변경출원하는</a:t>
            </a:r>
            <a:r>
              <a:rPr lang="ko-KR" altLang="en-US" sz="1400" dirty="0">
                <a:solidFill>
                  <a:schemeClr val="tx2"/>
                </a:solidFill>
              </a:rPr>
              <a:t> 경우에는 특허출원이 </a:t>
            </a:r>
            <a:r>
              <a:rPr lang="ko-KR" altLang="en-US" sz="1400" dirty="0" err="1">
                <a:solidFill>
                  <a:schemeClr val="tx2"/>
                </a:solidFill>
              </a:rPr>
              <a:t>취하간주되어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53④) </a:t>
            </a:r>
            <a:r>
              <a:rPr lang="ko-KR" altLang="en-US" sz="1400" dirty="0" err="1">
                <a:solidFill>
                  <a:schemeClr val="tx2"/>
                </a:solidFill>
              </a:rPr>
              <a:t>변경출원한</a:t>
            </a:r>
            <a:r>
              <a:rPr lang="ko-KR" altLang="en-US" sz="1400" dirty="0">
                <a:solidFill>
                  <a:schemeClr val="tx2"/>
                </a:solidFill>
              </a:rPr>
              <a:t> 일부 발명</a:t>
            </a:r>
            <a:r>
              <a:rPr lang="en-US" altLang="ko-KR" sz="1400" dirty="0">
                <a:solidFill>
                  <a:schemeClr val="tx2"/>
                </a:solidFill>
              </a:rPr>
              <a:t>(B)</a:t>
            </a:r>
            <a:r>
              <a:rPr lang="ko-KR" altLang="en-US" sz="1400" dirty="0">
                <a:solidFill>
                  <a:schemeClr val="tx2"/>
                </a:solidFill>
              </a:rPr>
              <a:t>에 대해서만 실용신안으로 보호를 받을 수 있게 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34" name="직선 연결선 33"/>
          <p:cNvCxnSpPr/>
          <p:nvPr/>
        </p:nvCxnSpPr>
        <p:spPr>
          <a:xfrm>
            <a:off x="0" y="197028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>
            <a:off x="109535" y="3349397"/>
            <a:ext cx="567393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/>
          <p:cNvSpPr/>
          <p:nvPr/>
        </p:nvSpPr>
        <p:spPr>
          <a:xfrm>
            <a:off x="450305" y="3234647"/>
            <a:ext cx="1280080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실용출원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235110" y="3234647"/>
            <a:ext cx="1280080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변경출원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3234770" y="3465403"/>
            <a:ext cx="1280080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취하간주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450305" y="2659641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450305" y="2889142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234770" y="2659641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3234770" y="2889142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451181" y="4565776"/>
            <a:ext cx="1280080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특허출원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450841" y="3990770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450841" y="4220271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49" name="직선 화살표 연결선 48"/>
          <p:cNvCxnSpPr>
            <a:stCxn id="37" idx="1"/>
            <a:endCxn id="46" idx="3"/>
          </p:cNvCxnSpPr>
          <p:nvPr/>
        </p:nvCxnSpPr>
        <p:spPr>
          <a:xfrm flipH="1">
            <a:off x="1731261" y="3349397"/>
            <a:ext cx="1503849" cy="1331129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111447" y="3811790"/>
            <a:ext cx="102182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출원일 </a:t>
            </a:r>
            <a:endParaRPr lang="en-US" altLang="ko-KR" dirty="0">
              <a:solidFill>
                <a:srgbClr val="FF0000"/>
              </a:solidFill>
            </a:endParaRPr>
          </a:p>
          <a:p>
            <a:pPr algn="ctr"/>
            <a:r>
              <a:rPr lang="ko-KR" altLang="en-US" dirty="0">
                <a:solidFill>
                  <a:srgbClr val="FF0000"/>
                </a:solidFill>
              </a:rPr>
              <a:t>소급</a:t>
            </a:r>
          </a:p>
        </p:txBody>
      </p:sp>
      <p:cxnSp>
        <p:nvCxnSpPr>
          <p:cNvPr id="80" name="직선 연결선 79"/>
          <p:cNvCxnSpPr/>
          <p:nvPr/>
        </p:nvCxnSpPr>
        <p:spPr>
          <a:xfrm>
            <a:off x="7299314" y="2428875"/>
            <a:ext cx="0" cy="40576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/>
          <p:nvPr/>
        </p:nvCxnSpPr>
        <p:spPr>
          <a:xfrm>
            <a:off x="6317968" y="3349397"/>
            <a:ext cx="567393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직사각형 82"/>
          <p:cNvSpPr/>
          <p:nvPr/>
        </p:nvSpPr>
        <p:spPr>
          <a:xfrm>
            <a:off x="6658738" y="3234647"/>
            <a:ext cx="1280080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실용출원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8586293" y="3234647"/>
            <a:ext cx="1280080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X </a:t>
            </a:r>
            <a:r>
              <a:rPr lang="ko-KR" altLang="en-US" sz="1100" dirty="0">
                <a:solidFill>
                  <a:schemeClr val="tx1"/>
                </a:solidFill>
              </a:rPr>
              <a:t>기초 </a:t>
            </a:r>
            <a:r>
              <a:rPr lang="ko-KR" altLang="en-US" sz="1100" dirty="0" err="1">
                <a:solidFill>
                  <a:schemeClr val="tx1"/>
                </a:solidFill>
              </a:rPr>
              <a:t>분할출원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6658738" y="2659641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6658738" y="2889142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8585953" y="2659641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8585953" y="2889142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6659614" y="4565776"/>
            <a:ext cx="1280080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실용출원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6659274" y="3990770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6659274" y="4220271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03" name="직선 화살표 연결선 102"/>
          <p:cNvCxnSpPr>
            <a:stCxn id="84" idx="1"/>
            <a:endCxn id="96" idx="3"/>
          </p:cNvCxnSpPr>
          <p:nvPr/>
        </p:nvCxnSpPr>
        <p:spPr>
          <a:xfrm flipH="1">
            <a:off x="7939694" y="3349397"/>
            <a:ext cx="646599" cy="1331129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8075040" y="3732364"/>
            <a:ext cx="102182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출원일 </a:t>
            </a:r>
            <a:endParaRPr lang="en-US" altLang="ko-KR" dirty="0">
              <a:solidFill>
                <a:srgbClr val="FF0000"/>
              </a:solidFill>
            </a:endParaRPr>
          </a:p>
          <a:p>
            <a:pPr algn="ctr"/>
            <a:r>
              <a:rPr lang="ko-KR" altLang="en-US" dirty="0">
                <a:solidFill>
                  <a:srgbClr val="FF0000"/>
                </a:solidFill>
              </a:rPr>
              <a:t>소급</a:t>
            </a:r>
          </a:p>
        </p:txBody>
      </p:sp>
      <p:sp>
        <p:nvSpPr>
          <p:cNvPr id="105" name="직사각형 104"/>
          <p:cNvSpPr/>
          <p:nvPr/>
        </p:nvSpPr>
        <p:spPr>
          <a:xfrm>
            <a:off x="10288927" y="3234647"/>
            <a:ext cx="1280080" cy="229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Y </a:t>
            </a:r>
            <a:r>
              <a:rPr lang="ko-KR" altLang="en-US" sz="1100" dirty="0">
                <a:solidFill>
                  <a:schemeClr val="tx1"/>
                </a:solidFill>
              </a:rPr>
              <a:t>기초 </a:t>
            </a:r>
            <a:r>
              <a:rPr lang="ko-KR" altLang="en-US" sz="1100" dirty="0" err="1">
                <a:solidFill>
                  <a:schemeClr val="tx1"/>
                </a:solidFill>
              </a:rPr>
              <a:t>변경출원</a:t>
            </a:r>
            <a:r>
              <a:rPr lang="en-US" altLang="ko-KR" sz="1100" dirty="0">
                <a:solidFill>
                  <a:schemeClr val="tx1"/>
                </a:solidFill>
              </a:rPr>
              <a:t>(Z)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10288587" y="3465403"/>
            <a:ext cx="1280080" cy="229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취하간주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10288587" y="2659641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10288587" y="2889142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6659614" y="5798179"/>
            <a:ext cx="1280080" cy="229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특허출원</a:t>
            </a:r>
            <a:r>
              <a:rPr lang="en-US" altLang="ko-KR" sz="1100" dirty="0">
                <a:solidFill>
                  <a:schemeClr val="tx1"/>
                </a:solidFill>
              </a:rPr>
              <a:t>(Z)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6659274" y="5223173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6659274" y="5452674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20" name="직선 화살표 연결선 119"/>
          <p:cNvCxnSpPr>
            <a:stCxn id="105" idx="1"/>
            <a:endCxn id="117" idx="3"/>
          </p:cNvCxnSpPr>
          <p:nvPr/>
        </p:nvCxnSpPr>
        <p:spPr>
          <a:xfrm flipH="1">
            <a:off x="7939694" y="3349397"/>
            <a:ext cx="2349233" cy="2563532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도넛 120"/>
          <p:cNvSpPr/>
          <p:nvPr/>
        </p:nvSpPr>
        <p:spPr>
          <a:xfrm>
            <a:off x="1357231" y="3585912"/>
            <a:ext cx="566213" cy="545322"/>
          </a:xfrm>
          <a:prstGeom prst="donut">
            <a:avLst>
              <a:gd name="adj" fmla="val 1540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22" name="곱셈 기호 121"/>
          <p:cNvSpPr/>
          <p:nvPr/>
        </p:nvSpPr>
        <p:spPr>
          <a:xfrm>
            <a:off x="1261091" y="2119991"/>
            <a:ext cx="744022" cy="763282"/>
          </a:xfrm>
          <a:prstGeom prst="mathMultiply">
            <a:avLst>
              <a:gd name="adj1" fmla="val 1530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도넛 122"/>
          <p:cNvSpPr/>
          <p:nvPr/>
        </p:nvSpPr>
        <p:spPr>
          <a:xfrm>
            <a:off x="7635356" y="4816173"/>
            <a:ext cx="566213" cy="545322"/>
          </a:xfrm>
          <a:prstGeom prst="donut">
            <a:avLst>
              <a:gd name="adj" fmla="val 1540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24" name="곱셈 기호 123"/>
          <p:cNvSpPr/>
          <p:nvPr/>
        </p:nvSpPr>
        <p:spPr>
          <a:xfrm>
            <a:off x="7539216" y="3532835"/>
            <a:ext cx="744022" cy="763282"/>
          </a:xfrm>
          <a:prstGeom prst="mathMultiply">
            <a:avLst>
              <a:gd name="adj1" fmla="val 1530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도넛 124"/>
          <p:cNvSpPr/>
          <p:nvPr/>
        </p:nvSpPr>
        <p:spPr>
          <a:xfrm>
            <a:off x="7635356" y="2272136"/>
            <a:ext cx="566213" cy="545322"/>
          </a:xfrm>
          <a:prstGeom prst="donut">
            <a:avLst>
              <a:gd name="adj" fmla="val 1540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210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4A2785-3D95-2B4E-61D6-8678E1CE1575}"/>
              </a:ext>
            </a:extLst>
          </p:cNvPr>
          <p:cNvSpPr txBox="1"/>
          <p:nvPr/>
        </p:nvSpPr>
        <p:spPr>
          <a:xfrm>
            <a:off x="3112896" y="5038507"/>
            <a:ext cx="1704313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B</a:t>
            </a:r>
            <a:r>
              <a:rPr lang="ko-KR" altLang="en-US" dirty="0">
                <a:solidFill>
                  <a:srgbClr val="FF0000"/>
                </a:solidFill>
              </a:rPr>
              <a:t>만 특허로 보호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89BE98-42FC-274E-B56A-32D23AA8BD94}"/>
              </a:ext>
            </a:extLst>
          </p:cNvPr>
          <p:cNvSpPr txBox="1"/>
          <p:nvPr/>
        </p:nvSpPr>
        <p:spPr>
          <a:xfrm>
            <a:off x="9415699" y="5000808"/>
            <a:ext cx="2355132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B</a:t>
            </a:r>
            <a:r>
              <a:rPr lang="ko-KR" altLang="en-US" dirty="0">
                <a:solidFill>
                  <a:srgbClr val="FF0000"/>
                </a:solidFill>
              </a:rPr>
              <a:t>는 특허로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A</a:t>
            </a:r>
            <a:r>
              <a:rPr lang="ko-KR" altLang="en-US" dirty="0">
                <a:solidFill>
                  <a:srgbClr val="FF0000"/>
                </a:solidFill>
              </a:rPr>
              <a:t>는 실용신안으로 보호</a:t>
            </a:r>
          </a:p>
        </p:txBody>
      </p:sp>
    </p:spTree>
    <p:extLst>
      <p:ext uri="{BB962C8B-B14F-4D97-AF65-F5344CB8AC3E}">
        <p14:creationId xmlns:p14="http://schemas.microsoft.com/office/powerpoint/2010/main" val="199629731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분할출원과 변경출원의 법조문 비교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211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722573-33C7-4072-BACA-88E5404BDDB8}"/>
              </a:ext>
            </a:extLst>
          </p:cNvPr>
          <p:cNvSpPr txBox="1"/>
          <p:nvPr/>
        </p:nvSpPr>
        <p:spPr>
          <a:xfrm>
            <a:off x="6117020" y="986046"/>
            <a:ext cx="607498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000" b="1" dirty="0">
                <a:solidFill>
                  <a:schemeClr val="accent1"/>
                </a:solidFill>
              </a:rPr>
              <a:t>제</a:t>
            </a:r>
            <a:r>
              <a:rPr lang="en-US" altLang="ko-KR" sz="1000" b="1" dirty="0">
                <a:solidFill>
                  <a:schemeClr val="accent1"/>
                </a:solidFill>
              </a:rPr>
              <a:t>53</a:t>
            </a:r>
            <a:r>
              <a:rPr lang="ko-KR" altLang="en-US" sz="1000" b="1" dirty="0">
                <a:solidFill>
                  <a:schemeClr val="accent1"/>
                </a:solidFill>
              </a:rPr>
              <a:t>조</a:t>
            </a:r>
            <a:r>
              <a:rPr lang="en-US" altLang="ko-KR" sz="1000" b="1" dirty="0">
                <a:solidFill>
                  <a:schemeClr val="accent1"/>
                </a:solidFill>
              </a:rPr>
              <a:t>(</a:t>
            </a:r>
            <a:r>
              <a:rPr lang="ko-KR" altLang="en-US" sz="1000" b="1" dirty="0">
                <a:solidFill>
                  <a:schemeClr val="accent1"/>
                </a:solidFill>
              </a:rPr>
              <a:t>변경출원</a:t>
            </a:r>
            <a:r>
              <a:rPr lang="en-US" altLang="ko-KR" sz="1000" b="1" dirty="0">
                <a:solidFill>
                  <a:schemeClr val="accent1"/>
                </a:solidFill>
              </a:rPr>
              <a:t>) </a:t>
            </a:r>
            <a:r>
              <a:rPr lang="ko-KR" altLang="en-US" sz="1000" dirty="0">
                <a:solidFill>
                  <a:schemeClr val="tx2"/>
                </a:solidFill>
              </a:rPr>
              <a:t>① </a:t>
            </a:r>
            <a:r>
              <a:rPr lang="ko-KR" altLang="en-US" sz="1000" dirty="0" err="1">
                <a:solidFill>
                  <a:schemeClr val="tx2"/>
                </a:solidFill>
              </a:rPr>
              <a:t>실용신안등록출원인은</a:t>
            </a:r>
            <a:r>
              <a:rPr lang="ko-KR" altLang="en-US" sz="1000" dirty="0">
                <a:solidFill>
                  <a:schemeClr val="tx2"/>
                </a:solidFill>
              </a:rPr>
              <a:t> 그 실용신안등록출원의 출원서에 최초로 첨부된 명세서 또는 도면에 기재된 사항의 범위에서 그 실용신안등록출원을 특허출원으로 변경할 수 있다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  <a:r>
              <a:rPr lang="ko-KR" altLang="en-US" sz="1000" dirty="0">
                <a:solidFill>
                  <a:schemeClr val="tx2"/>
                </a:solidFill>
              </a:rPr>
              <a:t>다만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>
                <a:solidFill>
                  <a:schemeClr val="tx2"/>
                </a:solidFill>
              </a:rPr>
              <a:t>다음 각 호의 어느 하나에 해당하는 경우에는 그러하지 아니하다</a:t>
            </a:r>
            <a:r>
              <a:rPr lang="en-US" altLang="ko-KR" sz="1000" dirty="0">
                <a:solidFill>
                  <a:schemeClr val="tx2"/>
                </a:solidFill>
              </a:rPr>
              <a:t>.  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1. </a:t>
            </a:r>
            <a:r>
              <a:rPr lang="ko-KR" altLang="en-US" sz="1000" dirty="0">
                <a:solidFill>
                  <a:schemeClr val="tx2"/>
                </a:solidFill>
              </a:rPr>
              <a:t>그 실용신안등록출원에 관하여 최초의 거절결정등본을 </a:t>
            </a:r>
            <a:r>
              <a:rPr lang="ko-KR" altLang="en-US" sz="1000" dirty="0" err="1">
                <a:solidFill>
                  <a:schemeClr val="tx2"/>
                </a:solidFill>
              </a:rPr>
              <a:t>송달받은</a:t>
            </a:r>
            <a:r>
              <a:rPr lang="ko-KR" altLang="en-US" sz="1000" dirty="0">
                <a:solidFill>
                  <a:schemeClr val="tx2"/>
                </a:solidFill>
              </a:rPr>
              <a:t> 날부터 </a:t>
            </a:r>
            <a:r>
              <a:rPr lang="en-US" altLang="ko-KR" sz="1000" dirty="0">
                <a:solidFill>
                  <a:srgbClr val="FF0000"/>
                </a:solidFill>
              </a:rPr>
              <a:t>3</a:t>
            </a:r>
            <a:r>
              <a:rPr lang="ko-KR" altLang="en-US" sz="1000" dirty="0">
                <a:solidFill>
                  <a:srgbClr val="FF0000"/>
                </a:solidFill>
              </a:rPr>
              <a:t>개월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「실용신안법」 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조에 따라 준용되는 이 법 제</a:t>
            </a:r>
            <a:r>
              <a:rPr lang="en-US" altLang="ko-KR" sz="1000" dirty="0">
                <a:solidFill>
                  <a:schemeClr val="tx2"/>
                </a:solidFill>
              </a:rPr>
              <a:t>15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항에 따라 제</a:t>
            </a:r>
            <a:r>
              <a:rPr lang="en-US" altLang="ko-KR" sz="1000" dirty="0">
                <a:solidFill>
                  <a:schemeClr val="tx2"/>
                </a:solidFill>
              </a:rPr>
              <a:t>132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17</a:t>
            </a:r>
            <a:r>
              <a:rPr lang="ko-KR" altLang="en-US" sz="1000" dirty="0">
                <a:solidFill>
                  <a:schemeClr val="tx2"/>
                </a:solidFill>
              </a:rPr>
              <a:t>에 따른 기간이 연장된 경우에는 그 연장된 기간을 말한다</a:t>
            </a:r>
            <a:r>
              <a:rPr lang="en-US" altLang="ko-KR" sz="1000" dirty="0">
                <a:solidFill>
                  <a:schemeClr val="tx2"/>
                </a:solidFill>
              </a:rPr>
              <a:t>)</a:t>
            </a:r>
            <a:r>
              <a:rPr lang="ko-KR" altLang="en-US" sz="1000" dirty="0">
                <a:solidFill>
                  <a:schemeClr val="tx2"/>
                </a:solidFill>
              </a:rPr>
              <a:t>이 지난 경우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2. </a:t>
            </a:r>
            <a:r>
              <a:rPr lang="ko-KR" altLang="en-US" sz="1000" dirty="0">
                <a:solidFill>
                  <a:schemeClr val="tx2"/>
                </a:solidFill>
              </a:rPr>
              <a:t>그 실용신안등록출원이 「실용신안법」 제</a:t>
            </a:r>
            <a:r>
              <a:rPr lang="en-US" altLang="ko-KR" sz="1000" dirty="0">
                <a:solidFill>
                  <a:schemeClr val="tx2"/>
                </a:solidFill>
              </a:rPr>
              <a:t>8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항에 따른 </a:t>
            </a:r>
            <a:r>
              <a:rPr lang="ko-KR" altLang="en-US" sz="1000" dirty="0" err="1">
                <a:solidFill>
                  <a:schemeClr val="tx2"/>
                </a:solidFill>
              </a:rPr>
              <a:t>외국어실용신안등록출원인</a:t>
            </a:r>
            <a:r>
              <a:rPr lang="ko-KR" altLang="en-US" sz="1000" dirty="0">
                <a:solidFill>
                  <a:schemeClr val="tx2"/>
                </a:solidFill>
              </a:rPr>
              <a:t> 경우로서 변경하여 출원할 때 같은 항에 따른 국어번역문이 제출되지 아니한 경우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ko-KR" altLang="en-US" sz="1000" dirty="0">
              <a:solidFill>
                <a:schemeClr val="tx2"/>
              </a:solidFill>
            </a:endParaRP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② 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항에 따라 변경된 특허출원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이하 </a:t>
            </a:r>
            <a:r>
              <a:rPr lang="en-US" altLang="ko-KR" sz="1000" dirty="0">
                <a:solidFill>
                  <a:schemeClr val="tx2"/>
                </a:solidFill>
              </a:rPr>
              <a:t>"</a:t>
            </a:r>
            <a:r>
              <a:rPr lang="ko-KR" altLang="en-US" sz="1000" dirty="0">
                <a:solidFill>
                  <a:schemeClr val="tx2"/>
                </a:solidFill>
              </a:rPr>
              <a:t>변경출원</a:t>
            </a:r>
            <a:r>
              <a:rPr lang="en-US" altLang="ko-KR" sz="1000" dirty="0">
                <a:solidFill>
                  <a:schemeClr val="tx2"/>
                </a:solidFill>
              </a:rPr>
              <a:t>"</a:t>
            </a:r>
            <a:r>
              <a:rPr lang="ko-KR" altLang="en-US" sz="1000" dirty="0">
                <a:solidFill>
                  <a:schemeClr val="tx2"/>
                </a:solidFill>
              </a:rPr>
              <a:t>이라 한다</a:t>
            </a:r>
            <a:r>
              <a:rPr lang="en-US" altLang="ko-KR" sz="1000" dirty="0">
                <a:solidFill>
                  <a:schemeClr val="tx2"/>
                </a:solidFill>
              </a:rPr>
              <a:t>)</a:t>
            </a:r>
            <a:r>
              <a:rPr lang="ko-KR" altLang="en-US" sz="1000" dirty="0">
                <a:solidFill>
                  <a:schemeClr val="tx2"/>
                </a:solidFill>
              </a:rPr>
              <a:t>이 있는 경우에 그 변경출원은 실용신안등록출원을 한 때에 </a:t>
            </a:r>
            <a:r>
              <a:rPr lang="ko-KR" altLang="en-US" sz="1000" dirty="0" err="1">
                <a:solidFill>
                  <a:schemeClr val="tx2"/>
                </a:solidFill>
              </a:rPr>
              <a:t>특허출원한</a:t>
            </a:r>
            <a:r>
              <a:rPr lang="ko-KR" altLang="en-US" sz="1000" dirty="0">
                <a:solidFill>
                  <a:schemeClr val="tx2"/>
                </a:solidFill>
              </a:rPr>
              <a:t> 것으로 본다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  <a:r>
              <a:rPr lang="ko-KR" altLang="en-US" sz="1000" dirty="0">
                <a:solidFill>
                  <a:schemeClr val="tx2"/>
                </a:solidFill>
              </a:rPr>
              <a:t>다만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>
                <a:solidFill>
                  <a:schemeClr val="tx2"/>
                </a:solidFill>
              </a:rPr>
              <a:t>그 변경출원이 다음 각 호의 어느 하나에 해당하는 경우에는 그러하지 아니하다</a:t>
            </a:r>
            <a:r>
              <a:rPr lang="en-US" altLang="ko-KR" sz="1000" dirty="0">
                <a:solidFill>
                  <a:schemeClr val="tx2"/>
                </a:solidFill>
              </a:rPr>
              <a:t>.  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1.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29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항에 따른 다른 특허출원 또는 「실용신안법」 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항에 따른 특허출원에 해당하여 이 법 제</a:t>
            </a:r>
            <a:r>
              <a:rPr lang="en-US" altLang="ko-KR" sz="1000" dirty="0">
                <a:solidFill>
                  <a:schemeClr val="tx2"/>
                </a:solidFill>
              </a:rPr>
              <a:t>29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항 또는 「실용신안법」 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항을 적용하는 경우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2.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30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항을 적용하는 경우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3.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54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항을 적용하는 경우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4.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55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항을 적용하는 경우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③ 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항에 따라 변경출원을 하려는 자는 변경출원을 할 때 </a:t>
            </a:r>
            <a:r>
              <a:rPr lang="ko-KR" altLang="en-US" sz="10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000" dirty="0">
                <a:solidFill>
                  <a:schemeClr val="tx2"/>
                </a:solidFill>
              </a:rPr>
              <a:t> 그 취지 및 변경출원의 기초가 된 실용신안등록출원의 표시를 하여야 한다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④ </a:t>
            </a:r>
            <a:r>
              <a:rPr lang="ko-KR" altLang="en-US" sz="1000" dirty="0">
                <a:solidFill>
                  <a:schemeClr val="tx2"/>
                </a:solidFill>
              </a:rPr>
              <a:t>변경출원이 있는 경우에는 그 실용신안등록출원은 취하된 것으로 본다</a:t>
            </a:r>
            <a:r>
              <a:rPr lang="en-US" altLang="ko-KR" sz="1000" dirty="0">
                <a:solidFill>
                  <a:schemeClr val="tx2"/>
                </a:solidFill>
              </a:rPr>
              <a:t>.  </a:t>
            </a: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⑤ </a:t>
            </a:r>
            <a:r>
              <a:rPr lang="ko-KR" altLang="en-US" sz="1000" dirty="0">
                <a:solidFill>
                  <a:schemeClr val="tx2"/>
                </a:solidFill>
              </a:rPr>
              <a:t>삭제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⑥ </a:t>
            </a:r>
            <a:r>
              <a:rPr lang="ko-KR" altLang="en-US" sz="1000" dirty="0">
                <a:solidFill>
                  <a:schemeClr val="tx2"/>
                </a:solidFill>
              </a:rPr>
              <a:t>변경출원의 경우에 제</a:t>
            </a:r>
            <a:r>
              <a:rPr lang="en-US" altLang="ko-KR" sz="1000" dirty="0">
                <a:solidFill>
                  <a:schemeClr val="tx2"/>
                </a:solidFill>
              </a:rPr>
              <a:t>54</a:t>
            </a:r>
            <a:r>
              <a:rPr lang="ko-KR" altLang="en-US" sz="1000" dirty="0">
                <a:solidFill>
                  <a:schemeClr val="tx2"/>
                </a:solidFill>
              </a:rPr>
              <a:t>조에 따른 우선권을 주장하는 자는 같은 조 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항에 따른 서류를 같은 조 제</a:t>
            </a:r>
            <a:r>
              <a:rPr lang="en-US" altLang="ko-KR" sz="1000" dirty="0">
                <a:solidFill>
                  <a:schemeClr val="tx2"/>
                </a:solidFill>
              </a:rPr>
              <a:t>5</a:t>
            </a:r>
            <a:r>
              <a:rPr lang="ko-KR" altLang="en-US" sz="1000" dirty="0">
                <a:solidFill>
                  <a:schemeClr val="tx2"/>
                </a:solidFill>
              </a:rPr>
              <a:t>항에 따른 기간이 지난 후에도 변경출원을 한 날부터 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개월 이내에 지식재산처장에게 제출할 수 있다</a:t>
            </a:r>
            <a:r>
              <a:rPr lang="en-US" altLang="ko-KR" sz="1000" dirty="0">
                <a:solidFill>
                  <a:schemeClr val="tx2"/>
                </a:solidFill>
              </a:rPr>
              <a:t>.  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⑦ </a:t>
            </a:r>
            <a:r>
              <a:rPr lang="ko-KR" altLang="en-US" sz="1000" dirty="0" err="1">
                <a:solidFill>
                  <a:schemeClr val="tx2"/>
                </a:solidFill>
              </a:rPr>
              <a:t>특허출원인은</a:t>
            </a:r>
            <a:r>
              <a:rPr lang="ko-KR" altLang="en-US" sz="1000" dirty="0">
                <a:solidFill>
                  <a:schemeClr val="tx2"/>
                </a:solidFill>
              </a:rPr>
              <a:t> 변경출원이 </a:t>
            </a:r>
            <a:r>
              <a:rPr lang="ko-KR" altLang="en-US" sz="1000" dirty="0" err="1">
                <a:solidFill>
                  <a:schemeClr val="tx2"/>
                </a:solidFill>
              </a:rPr>
              <a:t>외국어특허출원인</a:t>
            </a:r>
            <a:r>
              <a:rPr lang="ko-KR" altLang="en-US" sz="1000" dirty="0">
                <a:solidFill>
                  <a:schemeClr val="tx2"/>
                </a:solidFill>
              </a:rPr>
              <a:t> 경우에는 제</a:t>
            </a:r>
            <a:r>
              <a:rPr lang="en-US" altLang="ko-KR" sz="1000" dirty="0">
                <a:solidFill>
                  <a:schemeClr val="tx2"/>
                </a:solidFill>
              </a:rPr>
              <a:t>42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항에 따른 국어번역문 또는 같은 조 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항 본문에 따른 새로운 국어번역문을 같은 조 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항에 따른 기한이 지난 후에도 변경출원을 한 날부터 </a:t>
            </a:r>
            <a:r>
              <a:rPr lang="en-US" altLang="ko-KR" sz="1000" dirty="0">
                <a:solidFill>
                  <a:schemeClr val="tx2"/>
                </a:solidFill>
              </a:rPr>
              <a:t>30</a:t>
            </a:r>
            <a:r>
              <a:rPr lang="ko-KR" altLang="en-US" sz="1000" dirty="0">
                <a:solidFill>
                  <a:schemeClr val="tx2"/>
                </a:solidFill>
              </a:rPr>
              <a:t>일이 되는 날까지는 제출할 수 있다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  <a:r>
              <a:rPr lang="ko-KR" altLang="en-US" sz="1000" dirty="0">
                <a:solidFill>
                  <a:schemeClr val="tx2"/>
                </a:solidFill>
              </a:rPr>
              <a:t>다만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42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항 각 호의 어느 하나에 해당하는 경우에는 새로운 국어번역문을 제출할 수 없다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⑧ </a:t>
            </a:r>
            <a:r>
              <a:rPr lang="ko-KR" altLang="en-US" sz="1000" dirty="0" err="1">
                <a:solidFill>
                  <a:schemeClr val="tx2"/>
                </a:solidFill>
              </a:rPr>
              <a:t>특허출원인은</a:t>
            </a:r>
            <a:r>
              <a:rPr lang="ko-KR" altLang="en-US" sz="1000" dirty="0">
                <a:solidFill>
                  <a:schemeClr val="tx2"/>
                </a:solidFill>
              </a:rPr>
              <a:t> </a:t>
            </a:r>
            <a:r>
              <a:rPr lang="ko-KR" altLang="en-US" sz="10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000" dirty="0">
                <a:solidFill>
                  <a:schemeClr val="tx2"/>
                </a:solidFill>
              </a:rPr>
              <a:t> 최초로 첨부한 명세서에 청구범위를 적지 아니한 변경출원의 경우 제</a:t>
            </a:r>
            <a:r>
              <a:rPr lang="en-US" altLang="ko-KR" sz="1000" dirty="0">
                <a:solidFill>
                  <a:schemeClr val="tx2"/>
                </a:solidFill>
              </a:rPr>
              <a:t>42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항에 따른 기한이 지난 후에도 변경출원을 한 날부터 </a:t>
            </a:r>
            <a:r>
              <a:rPr lang="en-US" altLang="ko-KR" sz="1000" dirty="0">
                <a:solidFill>
                  <a:schemeClr val="tx2"/>
                </a:solidFill>
              </a:rPr>
              <a:t>30</a:t>
            </a:r>
            <a:r>
              <a:rPr lang="ko-KR" altLang="en-US" sz="1000" dirty="0">
                <a:solidFill>
                  <a:schemeClr val="tx2"/>
                </a:solidFill>
              </a:rPr>
              <a:t>일이 되는 날까지 명세서에 청구범위를 적는 보정을 할 수 있다</a:t>
            </a:r>
            <a:r>
              <a:rPr lang="en-US" altLang="ko-KR" sz="1000" dirty="0">
                <a:solidFill>
                  <a:schemeClr val="tx2"/>
                </a:solidFill>
              </a:rPr>
              <a:t>.  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FBD77F7-A6B6-4BA8-A6D5-8F72B8BF4C96}"/>
              </a:ext>
            </a:extLst>
          </p:cNvPr>
          <p:cNvCxnSpPr/>
          <p:nvPr/>
        </p:nvCxnSpPr>
        <p:spPr>
          <a:xfrm>
            <a:off x="6096000" y="870585"/>
            <a:ext cx="0" cy="572991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482BC15-9CAF-49F5-819A-C1F69B2EFE7D}"/>
              </a:ext>
            </a:extLst>
          </p:cNvPr>
          <p:cNvSpPr txBox="1"/>
          <p:nvPr/>
        </p:nvSpPr>
        <p:spPr>
          <a:xfrm>
            <a:off x="77875" y="986046"/>
            <a:ext cx="6018125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000" b="1" dirty="0">
                <a:solidFill>
                  <a:schemeClr val="accent1"/>
                </a:solidFill>
              </a:rPr>
              <a:t>제</a:t>
            </a:r>
            <a:r>
              <a:rPr lang="en-US" altLang="ko-KR" sz="1000" b="1" dirty="0">
                <a:solidFill>
                  <a:schemeClr val="accent1"/>
                </a:solidFill>
              </a:rPr>
              <a:t>52</a:t>
            </a:r>
            <a:r>
              <a:rPr lang="ko-KR" altLang="en-US" sz="1000" b="1" dirty="0">
                <a:solidFill>
                  <a:schemeClr val="accent1"/>
                </a:solidFill>
              </a:rPr>
              <a:t>조</a:t>
            </a:r>
            <a:r>
              <a:rPr lang="en-US" altLang="ko-KR" sz="1000" b="1" dirty="0">
                <a:solidFill>
                  <a:schemeClr val="accent1"/>
                </a:solidFill>
              </a:rPr>
              <a:t>(</a:t>
            </a:r>
            <a:r>
              <a:rPr lang="ko-KR" altLang="en-US" sz="1000" b="1" dirty="0">
                <a:solidFill>
                  <a:schemeClr val="accent1"/>
                </a:solidFill>
              </a:rPr>
              <a:t>분할출원</a:t>
            </a:r>
            <a:r>
              <a:rPr lang="en-US" altLang="ko-KR" sz="1000" b="1" dirty="0">
                <a:solidFill>
                  <a:schemeClr val="accent1"/>
                </a:solidFill>
              </a:rPr>
              <a:t>) </a:t>
            </a:r>
            <a:r>
              <a:rPr lang="ko-KR" altLang="en-US" sz="1000" dirty="0">
                <a:solidFill>
                  <a:schemeClr val="tx2"/>
                </a:solidFill>
              </a:rPr>
              <a:t>① </a:t>
            </a:r>
            <a:r>
              <a:rPr lang="ko-KR" altLang="en-US" sz="1000" dirty="0" err="1">
                <a:solidFill>
                  <a:schemeClr val="tx2"/>
                </a:solidFill>
              </a:rPr>
              <a:t>특허출원인은</a:t>
            </a:r>
            <a:r>
              <a:rPr lang="ko-KR" altLang="en-US" sz="1000" dirty="0">
                <a:solidFill>
                  <a:schemeClr val="tx2"/>
                </a:solidFill>
              </a:rPr>
              <a:t> 둘 이상의 발명을 하나의 특허출원으로 한 경우에는 그 특허출원의 출원서에 최초로 첨부된 명세서 또는 도면에 기재된 사항의 범위에서 다음 각 호의 어느 하나에 해당하는 기간에 그 일부를 하나 이상의 특허출원으로 분할할 수 있다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  <a:r>
              <a:rPr lang="ko-KR" altLang="en-US" sz="1000" dirty="0">
                <a:solidFill>
                  <a:schemeClr val="tx2"/>
                </a:solidFill>
              </a:rPr>
              <a:t>다만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>
                <a:solidFill>
                  <a:schemeClr val="tx2"/>
                </a:solidFill>
              </a:rPr>
              <a:t>그 특허출원이 </a:t>
            </a:r>
            <a:r>
              <a:rPr lang="ko-KR" altLang="en-US" sz="1000" dirty="0" err="1">
                <a:solidFill>
                  <a:schemeClr val="tx2"/>
                </a:solidFill>
              </a:rPr>
              <a:t>외국어특허출원인</a:t>
            </a:r>
            <a:r>
              <a:rPr lang="ko-KR" altLang="en-US" sz="1000" dirty="0">
                <a:solidFill>
                  <a:schemeClr val="tx2"/>
                </a:solidFill>
              </a:rPr>
              <a:t> 경우에는 그 특허출원에 대한 제</a:t>
            </a:r>
            <a:r>
              <a:rPr lang="en-US" altLang="ko-KR" sz="1000" dirty="0">
                <a:solidFill>
                  <a:schemeClr val="tx2"/>
                </a:solidFill>
              </a:rPr>
              <a:t>42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항에 따른 국어번역문이 제출된 경우에만 분할할 수 있다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  1.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47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항에 따라 보정을 할 수 있는 기간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  </a:t>
            </a:r>
            <a:r>
              <a:rPr lang="en-US" altLang="ko-KR" sz="1000" dirty="0">
                <a:solidFill>
                  <a:schemeClr val="tx2"/>
                </a:solidFill>
              </a:rPr>
              <a:t>2. </a:t>
            </a:r>
            <a:r>
              <a:rPr lang="ko-KR" altLang="en-US" sz="1000" dirty="0" err="1">
                <a:solidFill>
                  <a:schemeClr val="tx2"/>
                </a:solidFill>
              </a:rPr>
              <a:t>특허거절결정등본을</a:t>
            </a:r>
            <a:r>
              <a:rPr lang="ko-KR" altLang="en-US" sz="1000" dirty="0">
                <a:solidFill>
                  <a:schemeClr val="tx2"/>
                </a:solidFill>
              </a:rPr>
              <a:t> </a:t>
            </a:r>
            <a:r>
              <a:rPr lang="ko-KR" altLang="en-US" sz="1000" dirty="0" err="1">
                <a:solidFill>
                  <a:schemeClr val="tx2"/>
                </a:solidFill>
              </a:rPr>
              <a:t>송달받은</a:t>
            </a:r>
            <a:r>
              <a:rPr lang="ko-KR" altLang="en-US" sz="1000" dirty="0">
                <a:solidFill>
                  <a:schemeClr val="tx2"/>
                </a:solidFill>
              </a:rPr>
              <a:t> 날부터 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개월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15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항에 따라 제</a:t>
            </a:r>
            <a:r>
              <a:rPr lang="en-US" altLang="ko-KR" sz="1000" dirty="0">
                <a:solidFill>
                  <a:schemeClr val="tx2"/>
                </a:solidFill>
              </a:rPr>
              <a:t>132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17</a:t>
            </a:r>
            <a:r>
              <a:rPr lang="ko-KR" altLang="en-US" sz="1000" dirty="0">
                <a:solidFill>
                  <a:schemeClr val="tx2"/>
                </a:solidFill>
              </a:rPr>
              <a:t>에 따른 기간이 연장된 경우 그 연장된 기간을 말한다</a:t>
            </a:r>
            <a:r>
              <a:rPr lang="en-US" altLang="ko-KR" sz="1000" dirty="0">
                <a:solidFill>
                  <a:schemeClr val="tx2"/>
                </a:solidFill>
              </a:rPr>
              <a:t>) </a:t>
            </a:r>
            <a:r>
              <a:rPr lang="ko-KR" altLang="en-US" sz="1000" dirty="0">
                <a:solidFill>
                  <a:schemeClr val="tx2"/>
                </a:solidFill>
              </a:rPr>
              <a:t>이내의 기간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  </a:t>
            </a:r>
            <a:r>
              <a:rPr lang="en-US" altLang="ko-KR" sz="1000" dirty="0">
                <a:solidFill>
                  <a:schemeClr val="tx2"/>
                </a:solidFill>
              </a:rPr>
              <a:t>3.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66</a:t>
            </a:r>
            <a:r>
              <a:rPr lang="ko-KR" altLang="en-US" sz="1000" dirty="0">
                <a:solidFill>
                  <a:schemeClr val="tx2"/>
                </a:solidFill>
              </a:rPr>
              <a:t>조에 따른 특허결정 또는 제</a:t>
            </a:r>
            <a:r>
              <a:rPr lang="en-US" altLang="ko-KR" sz="1000" dirty="0">
                <a:solidFill>
                  <a:schemeClr val="tx2"/>
                </a:solidFill>
              </a:rPr>
              <a:t>176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항에 따른 </a:t>
            </a:r>
            <a:r>
              <a:rPr lang="ko-KR" altLang="en-US" sz="1000" dirty="0" err="1">
                <a:solidFill>
                  <a:schemeClr val="tx2"/>
                </a:solidFill>
              </a:rPr>
              <a:t>특허거절결정</a:t>
            </a:r>
            <a:r>
              <a:rPr lang="ko-KR" altLang="en-US" sz="1000" dirty="0">
                <a:solidFill>
                  <a:schemeClr val="tx2"/>
                </a:solidFill>
              </a:rPr>
              <a:t> </a:t>
            </a:r>
            <a:r>
              <a:rPr lang="ko-KR" altLang="en-US" sz="1000" dirty="0" err="1">
                <a:solidFill>
                  <a:schemeClr val="tx2"/>
                </a:solidFill>
              </a:rPr>
              <a:t>취소심결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특허등록을 결정한 </a:t>
            </a:r>
            <a:r>
              <a:rPr lang="ko-KR" altLang="en-US" sz="1000" dirty="0" err="1">
                <a:solidFill>
                  <a:schemeClr val="tx2"/>
                </a:solidFill>
              </a:rPr>
              <a:t>심결에</a:t>
            </a:r>
            <a:r>
              <a:rPr lang="ko-KR" altLang="en-US" sz="1000" dirty="0">
                <a:solidFill>
                  <a:schemeClr val="tx2"/>
                </a:solidFill>
              </a:rPr>
              <a:t> 한정하되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 err="1">
                <a:solidFill>
                  <a:schemeClr val="tx2"/>
                </a:solidFill>
              </a:rPr>
              <a:t>재심심결을</a:t>
            </a:r>
            <a:r>
              <a:rPr lang="ko-KR" altLang="en-US" sz="1000" dirty="0">
                <a:solidFill>
                  <a:schemeClr val="tx2"/>
                </a:solidFill>
              </a:rPr>
              <a:t> 포함한다</a:t>
            </a:r>
            <a:r>
              <a:rPr lang="en-US" altLang="ko-KR" sz="1000" dirty="0">
                <a:solidFill>
                  <a:schemeClr val="tx2"/>
                </a:solidFill>
              </a:rPr>
              <a:t>)</a:t>
            </a:r>
            <a:r>
              <a:rPr lang="ko-KR" altLang="en-US" sz="1000" dirty="0">
                <a:solidFill>
                  <a:schemeClr val="tx2"/>
                </a:solidFill>
              </a:rPr>
              <a:t>의 등본을 </a:t>
            </a:r>
            <a:r>
              <a:rPr lang="ko-KR" altLang="en-US" sz="1000" dirty="0" err="1">
                <a:solidFill>
                  <a:schemeClr val="tx2"/>
                </a:solidFill>
              </a:rPr>
              <a:t>송달받은</a:t>
            </a:r>
            <a:r>
              <a:rPr lang="ko-KR" altLang="en-US" sz="1000" dirty="0">
                <a:solidFill>
                  <a:schemeClr val="tx2"/>
                </a:solidFill>
              </a:rPr>
              <a:t> 날부터 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개월 이내의 기간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  <a:r>
              <a:rPr lang="ko-KR" altLang="en-US" sz="1000" dirty="0">
                <a:solidFill>
                  <a:schemeClr val="tx2"/>
                </a:solidFill>
              </a:rPr>
              <a:t>다만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79</a:t>
            </a:r>
            <a:r>
              <a:rPr lang="ko-KR" altLang="en-US" sz="1000" dirty="0">
                <a:solidFill>
                  <a:schemeClr val="tx2"/>
                </a:solidFill>
              </a:rPr>
              <a:t>조에 따른 설정등록을 받으려는 날이 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개월보다 짧은 경우에는 그 날까지의 기간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② 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항에 따라 분할된 특허출원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이하 “</a:t>
            </a:r>
            <a:r>
              <a:rPr lang="ko-KR" altLang="en-US" sz="1000" dirty="0" err="1">
                <a:solidFill>
                  <a:schemeClr val="tx2"/>
                </a:solidFill>
              </a:rPr>
              <a:t>분할출원”이라</a:t>
            </a:r>
            <a:r>
              <a:rPr lang="ko-KR" altLang="en-US" sz="1000" dirty="0">
                <a:solidFill>
                  <a:schemeClr val="tx2"/>
                </a:solidFill>
              </a:rPr>
              <a:t> 한다</a:t>
            </a:r>
            <a:r>
              <a:rPr lang="en-US" altLang="ko-KR" sz="1000" dirty="0">
                <a:solidFill>
                  <a:schemeClr val="tx2"/>
                </a:solidFill>
              </a:rPr>
              <a:t>)</a:t>
            </a:r>
            <a:r>
              <a:rPr lang="ko-KR" altLang="en-US" sz="1000" dirty="0">
                <a:solidFill>
                  <a:schemeClr val="tx2"/>
                </a:solidFill>
              </a:rPr>
              <a:t>이 있는 경우 그 분할출원은 </a:t>
            </a:r>
            <a:r>
              <a:rPr lang="ko-KR" altLang="en-US" sz="1000" dirty="0" err="1">
                <a:solidFill>
                  <a:schemeClr val="tx2"/>
                </a:solidFill>
              </a:rPr>
              <a:t>특허출원한</a:t>
            </a:r>
            <a:r>
              <a:rPr lang="ko-KR" altLang="en-US" sz="1000" dirty="0">
                <a:solidFill>
                  <a:schemeClr val="tx2"/>
                </a:solidFill>
              </a:rPr>
              <a:t> 때에 출원한 것으로 본다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  <a:r>
              <a:rPr lang="ko-KR" altLang="en-US" sz="1000" dirty="0">
                <a:solidFill>
                  <a:schemeClr val="tx2"/>
                </a:solidFill>
              </a:rPr>
              <a:t>다만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>
                <a:solidFill>
                  <a:schemeClr val="tx2"/>
                </a:solidFill>
              </a:rPr>
              <a:t>그 분할출원에 대하여 다음 각 호의 규정을 적용할 경우에는 해당 분할출원을 한 때에 출원한 것으로 본다</a:t>
            </a:r>
            <a:r>
              <a:rPr lang="en-US" altLang="ko-KR" sz="10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  1. </a:t>
            </a:r>
            <a:r>
              <a:rPr lang="ko-KR" altLang="en-US" sz="1000" dirty="0">
                <a:solidFill>
                  <a:schemeClr val="tx2"/>
                </a:solidFill>
              </a:rPr>
              <a:t>분할출원이 제</a:t>
            </a:r>
            <a:r>
              <a:rPr lang="en-US" altLang="ko-KR" sz="1000" dirty="0">
                <a:solidFill>
                  <a:schemeClr val="tx2"/>
                </a:solidFill>
              </a:rPr>
              <a:t>29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항에 따른 다른 특허출원 또는 「실용신안법」 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항에 따른 특허출원에 해당하여 이 법 제</a:t>
            </a:r>
            <a:r>
              <a:rPr lang="en-US" altLang="ko-KR" sz="1000" dirty="0">
                <a:solidFill>
                  <a:schemeClr val="tx2"/>
                </a:solidFill>
              </a:rPr>
              <a:t>29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항 또는 「실용신안법」 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항을 적용하는 경우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  </a:t>
            </a:r>
            <a:r>
              <a:rPr lang="en-US" altLang="ko-KR" sz="1000" dirty="0">
                <a:solidFill>
                  <a:schemeClr val="tx2"/>
                </a:solidFill>
              </a:rPr>
              <a:t>2.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30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항을 적용하는 경우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  </a:t>
            </a:r>
            <a:r>
              <a:rPr lang="en-US" altLang="ko-KR" sz="1000" dirty="0">
                <a:solidFill>
                  <a:schemeClr val="tx2"/>
                </a:solidFill>
              </a:rPr>
              <a:t>3.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54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항을 적용하는 경우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  </a:t>
            </a:r>
            <a:r>
              <a:rPr lang="en-US" altLang="ko-KR" sz="1000" dirty="0">
                <a:solidFill>
                  <a:schemeClr val="tx2"/>
                </a:solidFill>
              </a:rPr>
              <a:t>4.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55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항을 적용하는 경우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③ 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항에 따라 분할출원을 하려는 자는 분할출원을 할 때에 </a:t>
            </a:r>
            <a:r>
              <a:rPr lang="ko-KR" altLang="en-US" sz="10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000" dirty="0">
                <a:solidFill>
                  <a:schemeClr val="tx2"/>
                </a:solidFill>
              </a:rPr>
              <a:t> 그 취지 및 분할의 기초가 된 특허출원의 표시를 하여야 한다</a:t>
            </a:r>
            <a:r>
              <a:rPr lang="en-US" altLang="ko-KR" sz="1000" dirty="0">
                <a:solidFill>
                  <a:schemeClr val="tx2"/>
                </a:solidFill>
              </a:rPr>
              <a:t>.</a:t>
            </a: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④ </a:t>
            </a:r>
            <a:r>
              <a:rPr lang="ko-KR" altLang="en-US" sz="1000" dirty="0">
                <a:solidFill>
                  <a:schemeClr val="tx2"/>
                </a:solidFill>
              </a:rPr>
              <a:t>분할의 기초가 된 특허출원이 제</a:t>
            </a:r>
            <a:r>
              <a:rPr lang="en-US" altLang="ko-KR" sz="1000" dirty="0">
                <a:solidFill>
                  <a:schemeClr val="tx2"/>
                </a:solidFill>
              </a:rPr>
              <a:t>54</a:t>
            </a:r>
            <a:r>
              <a:rPr lang="ko-KR" altLang="en-US" sz="1000" dirty="0">
                <a:solidFill>
                  <a:schemeClr val="tx2"/>
                </a:solidFill>
              </a:rPr>
              <a:t>조 또는 제</a:t>
            </a:r>
            <a:r>
              <a:rPr lang="en-US" altLang="ko-KR" sz="1000" dirty="0">
                <a:solidFill>
                  <a:schemeClr val="tx2"/>
                </a:solidFill>
              </a:rPr>
              <a:t>55</a:t>
            </a:r>
            <a:r>
              <a:rPr lang="ko-KR" altLang="en-US" sz="1000" dirty="0">
                <a:solidFill>
                  <a:schemeClr val="tx2"/>
                </a:solidFill>
              </a:rPr>
              <a:t>조에 따라 우선권을 주장한 특허출원인 경우에는 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항에 따라 분할출원을 한 때에 그 분할출원에 대해서도 우선권 주장을 한 것으로 보며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>
                <a:solidFill>
                  <a:schemeClr val="tx2"/>
                </a:solidFill>
              </a:rPr>
              <a:t>분할의 기초가 된 특허출원에 대하여 제</a:t>
            </a:r>
            <a:r>
              <a:rPr lang="en-US" altLang="ko-KR" sz="1000" dirty="0">
                <a:solidFill>
                  <a:schemeClr val="tx2"/>
                </a:solidFill>
              </a:rPr>
              <a:t>54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항에 따라 제출된 서류 또는 서면이 있는 경우에는 분할출원에 대해서도 해당 서류 또는 서면이 제출된 것으로 본다</a:t>
            </a:r>
            <a:r>
              <a:rPr lang="en-US" altLang="ko-KR" sz="10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⑤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항에 따라 우선권을 주장한 것으로 보는 분할출원에 관하여는 제</a:t>
            </a:r>
            <a:r>
              <a:rPr lang="en-US" altLang="ko-KR" sz="1000" dirty="0">
                <a:solidFill>
                  <a:schemeClr val="tx2"/>
                </a:solidFill>
              </a:rPr>
              <a:t>54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7</a:t>
            </a:r>
            <a:r>
              <a:rPr lang="ko-KR" altLang="en-US" sz="1000" dirty="0">
                <a:solidFill>
                  <a:schemeClr val="tx2"/>
                </a:solidFill>
              </a:rPr>
              <a:t>항 또는 제</a:t>
            </a:r>
            <a:r>
              <a:rPr lang="en-US" altLang="ko-KR" sz="1000" dirty="0">
                <a:solidFill>
                  <a:schemeClr val="tx2"/>
                </a:solidFill>
              </a:rPr>
              <a:t>55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7</a:t>
            </a:r>
            <a:r>
              <a:rPr lang="ko-KR" altLang="en-US" sz="1000" dirty="0">
                <a:solidFill>
                  <a:schemeClr val="tx2"/>
                </a:solidFill>
              </a:rPr>
              <a:t>항에 따른 기한이 지난 후에도 분할출원을 한 날부터 </a:t>
            </a:r>
            <a:r>
              <a:rPr lang="en-US" altLang="ko-KR" sz="1000" dirty="0">
                <a:solidFill>
                  <a:schemeClr val="tx2"/>
                </a:solidFill>
              </a:rPr>
              <a:t>30</a:t>
            </a:r>
            <a:r>
              <a:rPr lang="ko-KR" altLang="en-US" sz="1000" dirty="0">
                <a:solidFill>
                  <a:schemeClr val="tx2"/>
                </a:solidFill>
              </a:rPr>
              <a:t>일 이내에 그 우선권 주장의 전부 또는 일부를 취하할 수 있다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⑥ </a:t>
            </a:r>
            <a:r>
              <a:rPr lang="ko-KR" altLang="en-US" sz="1000" dirty="0">
                <a:solidFill>
                  <a:schemeClr val="tx2"/>
                </a:solidFill>
              </a:rPr>
              <a:t>분할출원의 경우에 제</a:t>
            </a:r>
            <a:r>
              <a:rPr lang="en-US" altLang="ko-KR" sz="1000" dirty="0">
                <a:solidFill>
                  <a:schemeClr val="tx2"/>
                </a:solidFill>
              </a:rPr>
              <a:t>54</a:t>
            </a:r>
            <a:r>
              <a:rPr lang="ko-KR" altLang="en-US" sz="1000" dirty="0">
                <a:solidFill>
                  <a:schemeClr val="tx2"/>
                </a:solidFill>
              </a:rPr>
              <a:t>조에 따른 우선권을 주장하는 자는 같은 조 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항에 따른 서류를 같은 조 제</a:t>
            </a:r>
            <a:r>
              <a:rPr lang="en-US" altLang="ko-KR" sz="1000" dirty="0">
                <a:solidFill>
                  <a:schemeClr val="tx2"/>
                </a:solidFill>
              </a:rPr>
              <a:t>5</a:t>
            </a:r>
            <a:r>
              <a:rPr lang="ko-KR" altLang="en-US" sz="1000" dirty="0">
                <a:solidFill>
                  <a:schemeClr val="tx2"/>
                </a:solidFill>
              </a:rPr>
              <a:t>항에 따른 기간이 지난 후에도 분할출원을 한 날부터 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개월 이내에 지식재산처장에게 제출할 수 있다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⑦ </a:t>
            </a:r>
            <a:r>
              <a:rPr lang="ko-KR" altLang="en-US" sz="1000" dirty="0">
                <a:solidFill>
                  <a:schemeClr val="tx2"/>
                </a:solidFill>
              </a:rPr>
              <a:t>분할출원이 </a:t>
            </a:r>
            <a:r>
              <a:rPr lang="ko-KR" altLang="en-US" sz="1000" dirty="0" err="1">
                <a:solidFill>
                  <a:schemeClr val="tx2"/>
                </a:solidFill>
              </a:rPr>
              <a:t>외국어특허출원인</a:t>
            </a:r>
            <a:r>
              <a:rPr lang="ko-KR" altLang="en-US" sz="1000" dirty="0">
                <a:solidFill>
                  <a:schemeClr val="tx2"/>
                </a:solidFill>
              </a:rPr>
              <a:t> 경우에는 </a:t>
            </a:r>
            <a:r>
              <a:rPr lang="ko-KR" altLang="en-US" sz="1000" dirty="0" err="1">
                <a:solidFill>
                  <a:schemeClr val="tx2"/>
                </a:solidFill>
              </a:rPr>
              <a:t>특허출원인은</a:t>
            </a:r>
            <a:r>
              <a:rPr lang="ko-KR" altLang="en-US" sz="1000" dirty="0">
                <a:solidFill>
                  <a:schemeClr val="tx2"/>
                </a:solidFill>
              </a:rPr>
              <a:t> 제</a:t>
            </a:r>
            <a:r>
              <a:rPr lang="en-US" altLang="ko-KR" sz="1000" dirty="0">
                <a:solidFill>
                  <a:schemeClr val="tx2"/>
                </a:solidFill>
              </a:rPr>
              <a:t>42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항에 따른 국어번역문 또는 같은 조 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항 본문에 따른 새로운 국어번역문을 같은 조 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항에 따른 기한이 지난 후에도 분할출원을 한 날부터 </a:t>
            </a:r>
            <a:r>
              <a:rPr lang="en-US" altLang="ko-KR" sz="1000" dirty="0">
                <a:solidFill>
                  <a:schemeClr val="tx2"/>
                </a:solidFill>
              </a:rPr>
              <a:t>30</a:t>
            </a:r>
            <a:r>
              <a:rPr lang="ko-KR" altLang="en-US" sz="1000" dirty="0">
                <a:solidFill>
                  <a:schemeClr val="tx2"/>
                </a:solidFill>
              </a:rPr>
              <a:t>일이 되는 날까지는 제출할 수 있다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  <a:r>
              <a:rPr lang="ko-KR" altLang="en-US" sz="1000" dirty="0">
                <a:solidFill>
                  <a:schemeClr val="tx2"/>
                </a:solidFill>
              </a:rPr>
              <a:t>다만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42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항 각 호의 어느 하나에 해당하는 경우에는 새로운 국어번역문을 제출할 수 없다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⑧ </a:t>
            </a:r>
            <a:r>
              <a:rPr lang="ko-KR" altLang="en-US" sz="10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000" dirty="0">
                <a:solidFill>
                  <a:schemeClr val="tx2"/>
                </a:solidFill>
              </a:rPr>
              <a:t> 최초로 첨부한 명세서에 청구범위를 적지 아니한 분할출원에 관하여는 제</a:t>
            </a:r>
            <a:r>
              <a:rPr lang="en-US" altLang="ko-KR" sz="1000" dirty="0">
                <a:solidFill>
                  <a:schemeClr val="tx2"/>
                </a:solidFill>
              </a:rPr>
              <a:t>42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항에 따른 기한이 지난 후에도 분할출원을 한 날부터 </a:t>
            </a:r>
            <a:r>
              <a:rPr lang="en-US" altLang="ko-KR" sz="1000" dirty="0">
                <a:solidFill>
                  <a:schemeClr val="tx2"/>
                </a:solidFill>
              </a:rPr>
              <a:t>30</a:t>
            </a:r>
            <a:r>
              <a:rPr lang="ko-KR" altLang="en-US" sz="1000" dirty="0">
                <a:solidFill>
                  <a:schemeClr val="tx2"/>
                </a:solidFill>
              </a:rPr>
              <a:t>일이 되는 날까지는 명세서에 청구범위를 적는 보정을 할 수 있다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2B8130-4D06-469C-8221-82AA6B1433F0}"/>
              </a:ext>
            </a:extLst>
          </p:cNvPr>
          <p:cNvSpPr/>
          <p:nvPr/>
        </p:nvSpPr>
        <p:spPr>
          <a:xfrm>
            <a:off x="77875" y="2562225"/>
            <a:ext cx="5951450" cy="15049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3B42EB9-C4CD-4FD6-BC77-A8595F790AFE}"/>
              </a:ext>
            </a:extLst>
          </p:cNvPr>
          <p:cNvSpPr/>
          <p:nvPr/>
        </p:nvSpPr>
        <p:spPr>
          <a:xfrm>
            <a:off x="6169407" y="2554441"/>
            <a:ext cx="5951450" cy="14746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6CE9141-6ECE-435F-940C-381CB0011D8A}"/>
              </a:ext>
            </a:extLst>
          </p:cNvPr>
          <p:cNvSpPr/>
          <p:nvPr/>
        </p:nvSpPr>
        <p:spPr>
          <a:xfrm>
            <a:off x="77875" y="5572955"/>
            <a:ext cx="5951450" cy="12561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CB5AD30-90A3-41EB-84ED-6CD89EBAF8D8}"/>
              </a:ext>
            </a:extLst>
          </p:cNvPr>
          <p:cNvSpPr/>
          <p:nvPr/>
        </p:nvSpPr>
        <p:spPr>
          <a:xfrm>
            <a:off x="6183695" y="5572955"/>
            <a:ext cx="5951450" cy="12644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E3F7CA3-7AD9-408F-AE5F-4C6006A177BF}"/>
              </a:ext>
            </a:extLst>
          </p:cNvPr>
          <p:cNvSpPr/>
          <p:nvPr/>
        </p:nvSpPr>
        <p:spPr>
          <a:xfrm>
            <a:off x="77875" y="4460902"/>
            <a:ext cx="5951450" cy="996593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곱하기 기호 16">
            <a:extLst>
              <a:ext uri="{FF2B5EF4-FFF2-40B4-BE49-F238E27FC236}">
                <a16:creationId xmlns:a16="http://schemas.microsoft.com/office/drawing/2014/main" id="{A761BA72-42D5-49B8-BADF-D3A847F5B404}"/>
              </a:ext>
            </a:extLst>
          </p:cNvPr>
          <p:cNvSpPr/>
          <p:nvPr/>
        </p:nvSpPr>
        <p:spPr>
          <a:xfrm>
            <a:off x="8439149" y="4562147"/>
            <a:ext cx="561975" cy="561975"/>
          </a:xfrm>
          <a:prstGeom prst="mathMultiply">
            <a:avLst>
              <a:gd name="adj1" fmla="val 8266"/>
            </a:avLst>
          </a:prstGeom>
          <a:solidFill>
            <a:schemeClr val="tx2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B56B3A97-75A3-43D1-9C22-52C9740A0B73}"/>
              </a:ext>
            </a:extLst>
          </p:cNvPr>
          <p:cNvCxnSpPr>
            <a:cxnSpLocks/>
          </p:cNvCxnSpPr>
          <p:nvPr/>
        </p:nvCxnSpPr>
        <p:spPr>
          <a:xfrm>
            <a:off x="6012611" y="4835497"/>
            <a:ext cx="2540839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34F54CA-0591-46F3-A733-EA60DCCE7F3B}"/>
              </a:ext>
            </a:extLst>
          </p:cNvPr>
          <p:cNvSpPr/>
          <p:nvPr/>
        </p:nvSpPr>
        <p:spPr>
          <a:xfrm>
            <a:off x="6162675" y="4124365"/>
            <a:ext cx="5951450" cy="279305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B9D6BBD4-A012-4D48-AE08-1D7F69778128}"/>
              </a:ext>
            </a:extLst>
          </p:cNvPr>
          <p:cNvCxnSpPr>
            <a:cxnSpLocks/>
          </p:cNvCxnSpPr>
          <p:nvPr/>
        </p:nvCxnSpPr>
        <p:spPr>
          <a:xfrm>
            <a:off x="3621836" y="4283047"/>
            <a:ext cx="2540839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곱하기 기호 20">
            <a:extLst>
              <a:ext uri="{FF2B5EF4-FFF2-40B4-BE49-F238E27FC236}">
                <a16:creationId xmlns:a16="http://schemas.microsoft.com/office/drawing/2014/main" id="{74DA1743-59D5-4A35-BD89-272B8244C7ED}"/>
              </a:ext>
            </a:extLst>
          </p:cNvPr>
          <p:cNvSpPr/>
          <p:nvPr/>
        </p:nvSpPr>
        <p:spPr>
          <a:xfrm>
            <a:off x="3162299" y="3964041"/>
            <a:ext cx="561975" cy="561975"/>
          </a:xfrm>
          <a:prstGeom prst="mathMultiply">
            <a:avLst>
              <a:gd name="adj1" fmla="val 8266"/>
            </a:avLst>
          </a:prstGeom>
          <a:solidFill>
            <a:schemeClr val="tx2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249116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  <a:r>
              <a:rPr lang="en-US" altLang="ko-KR" dirty="0"/>
              <a:t>-</a:t>
            </a:r>
            <a:r>
              <a:rPr lang="ko-KR" altLang="en-US" dirty="0"/>
              <a:t>제</a:t>
            </a:r>
            <a:r>
              <a:rPr lang="en-US" altLang="ko-KR" dirty="0"/>
              <a:t>53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분할출원</a:t>
            </a:r>
            <a:r>
              <a:rPr lang="en-US" altLang="ko-KR" dirty="0"/>
              <a:t>, </a:t>
            </a:r>
            <a:r>
              <a:rPr lang="ko-KR" altLang="en-US" dirty="0"/>
              <a:t>분리출원 및 변경출원의 법조문 비교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212</a:t>
            </a:fld>
            <a:endParaRPr lang="ko-KR" altLang="en-US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315BC974-45B6-48C8-B7D6-11136B0C1C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65161"/>
              </p:ext>
            </p:extLst>
          </p:nvPr>
        </p:nvGraphicFramePr>
        <p:xfrm>
          <a:off x="586597" y="1242205"/>
          <a:ext cx="10653622" cy="48653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638354">
                  <a:extLst>
                    <a:ext uri="{9D8B030D-6E8A-4147-A177-3AD203B41FA5}">
                      <a16:colId xmlns:a16="http://schemas.microsoft.com/office/drawing/2014/main" val="3279678075"/>
                    </a:ext>
                  </a:extLst>
                </a:gridCol>
                <a:gridCol w="1759789">
                  <a:extLst>
                    <a:ext uri="{9D8B030D-6E8A-4147-A177-3AD203B41FA5}">
                      <a16:colId xmlns:a16="http://schemas.microsoft.com/office/drawing/2014/main" val="4192417538"/>
                    </a:ext>
                  </a:extLst>
                </a:gridCol>
                <a:gridCol w="3520583">
                  <a:extLst>
                    <a:ext uri="{9D8B030D-6E8A-4147-A177-3AD203B41FA5}">
                      <a16:colId xmlns:a16="http://schemas.microsoft.com/office/drawing/2014/main" val="39268170"/>
                    </a:ext>
                  </a:extLst>
                </a:gridCol>
                <a:gridCol w="2367448">
                  <a:extLst>
                    <a:ext uri="{9D8B030D-6E8A-4147-A177-3AD203B41FA5}">
                      <a16:colId xmlns:a16="http://schemas.microsoft.com/office/drawing/2014/main" val="3602784616"/>
                    </a:ext>
                  </a:extLst>
                </a:gridCol>
                <a:gridCol w="2367448">
                  <a:extLst>
                    <a:ext uri="{9D8B030D-6E8A-4147-A177-3AD203B41FA5}">
                      <a16:colId xmlns:a16="http://schemas.microsoft.com/office/drawing/2014/main" val="334514574"/>
                    </a:ext>
                  </a:extLst>
                </a:gridCol>
              </a:tblGrid>
              <a:tr h="42168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구분</a:t>
                      </a:r>
                      <a:endParaRPr lang="ko-KR" altLang="en-US" sz="1200" kern="10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분할출원</a:t>
                      </a:r>
                      <a:r>
                        <a:rPr lang="en-US" altLang="ko-KR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조</a:t>
                      </a:r>
                      <a:r>
                        <a:rPr lang="en-US" altLang="ko-KR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ko-KR" altLang="en-US" sz="1200" kern="10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분리출원</a:t>
                      </a:r>
                      <a:r>
                        <a:rPr lang="en-US" altLang="ko-KR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조의</a:t>
                      </a:r>
                      <a:r>
                        <a:rPr lang="en-US" altLang="ko-KR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2)</a:t>
                      </a:r>
                      <a:endParaRPr lang="ko-KR" altLang="en-US" sz="1200" kern="10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변경출원</a:t>
                      </a:r>
                      <a:r>
                        <a:rPr lang="en-US" altLang="ko-KR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53</a:t>
                      </a: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조</a:t>
                      </a:r>
                      <a:r>
                        <a:rPr lang="en-US" altLang="ko-KR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ko-KR" altLang="en-US" sz="1200" kern="10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055778"/>
                  </a:ext>
                </a:extLst>
              </a:tr>
              <a:tr h="44436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요건</a:t>
                      </a:r>
                      <a:endParaRPr lang="ko-KR" altLang="en-US" sz="1200" kern="10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rgbClr val="000000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rgbClr val="000000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0" spc="-70" dirty="0">
                          <a:solidFill>
                            <a:srgbClr val="000000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1200" kern="0" spc="-70" dirty="0">
                          <a:solidFill>
                            <a:srgbClr val="000000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>
                          <a:solidFill>
                            <a:srgbClr val="000000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조의</a:t>
                      </a:r>
                      <a:r>
                        <a:rPr lang="en-US" altLang="ko-KR" sz="1200" kern="0" spc="-7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>
                          <a:solidFill>
                            <a:srgbClr val="000000"/>
                          </a:solidFill>
                          <a:effectLst/>
                        </a:rPr>
                        <a:t>53</a:t>
                      </a: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612177"/>
                  </a:ext>
                </a:extLst>
              </a:tr>
              <a:tr h="44436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효과</a:t>
                      </a:r>
                      <a:endParaRPr lang="ko-KR" altLang="en-US" sz="1200" kern="10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조의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53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438827"/>
                  </a:ext>
                </a:extLst>
              </a:tr>
              <a:tr h="44436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>
                          <a:solidFill>
                            <a:srgbClr val="000000"/>
                          </a:solidFill>
                          <a:effectLst/>
                        </a:rPr>
                        <a:t>절차</a:t>
                      </a:r>
                      <a:endParaRPr lang="ko-KR" altLang="en-US" sz="1200" kern="10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조의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53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512004"/>
                  </a:ext>
                </a:extLst>
              </a:tr>
              <a:tr h="44436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>
                          <a:solidFill>
                            <a:srgbClr val="000000"/>
                          </a:solidFill>
                          <a:effectLst/>
                        </a:rPr>
                        <a:t>협의제 회피</a:t>
                      </a:r>
                      <a:endParaRPr lang="ko-KR" altLang="en-US" sz="1200" kern="10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70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US" sz="1200" kern="0" spc="-7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70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US" sz="1200" kern="0" spc="-7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>
                          <a:solidFill>
                            <a:srgbClr val="000000"/>
                          </a:solidFill>
                          <a:effectLst/>
                        </a:rPr>
                        <a:t>53</a:t>
                      </a: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2802274"/>
                  </a:ext>
                </a:extLst>
              </a:tr>
              <a:tr h="44436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자동주장</a:t>
                      </a:r>
                      <a:r>
                        <a:rPr lang="en-US" altLang="ko-KR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증명서류</a:t>
                      </a:r>
                      <a:endParaRPr lang="ko-KR" altLang="en-US" sz="1200" kern="10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조의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US" sz="1200" kern="0" spc="-7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6978920"/>
                  </a:ext>
                </a:extLst>
              </a:tr>
              <a:tr h="444362"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기간</a:t>
                      </a:r>
                      <a:endParaRPr lang="en-US" altLang="ko-KR" sz="1200" kern="100" spc="-5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특례</a:t>
                      </a:r>
                      <a:endParaRPr lang="ko-KR" altLang="en-US" sz="1200" kern="10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 err="1">
                          <a:solidFill>
                            <a:srgbClr val="000000"/>
                          </a:solidFill>
                          <a:effectLst/>
                        </a:rPr>
                        <a:t>우선권주장취하</a:t>
                      </a:r>
                      <a:endParaRPr lang="ko-KR" altLang="en-US" sz="1200" kern="10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>
                          <a:solidFill>
                            <a:schemeClr val="bg1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0" spc="-70">
                          <a:solidFill>
                            <a:schemeClr val="bg1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r>
                        <a:rPr lang="ko-KR" altLang="en-US" sz="1200" kern="0" spc="-7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조의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US" sz="1200" kern="0" spc="-7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1021703"/>
                  </a:ext>
                </a:extLst>
              </a:tr>
              <a:tr h="4443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 err="1">
                          <a:solidFill>
                            <a:srgbClr val="000000"/>
                          </a:solidFill>
                          <a:effectLst/>
                        </a:rPr>
                        <a:t>조약우선권증명서류</a:t>
                      </a:r>
                      <a:endParaRPr lang="ko-KR" altLang="en-US" sz="1200" kern="10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US" sz="1200" kern="0" spc="-7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53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9336190"/>
                  </a:ext>
                </a:extLst>
              </a:tr>
              <a:tr h="4443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번역문제출</a:t>
                      </a:r>
                      <a:endParaRPr lang="ko-KR" altLang="en-US" sz="1200" kern="10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>
                          <a:solidFill>
                            <a:srgbClr val="000000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조의</a:t>
                      </a:r>
                      <a:r>
                        <a:rPr lang="en-US" altLang="ko-KR" sz="1200" kern="0" spc="-7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53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214522"/>
                  </a:ext>
                </a:extLst>
              </a:tr>
              <a:tr h="4443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청구범위제출유예</a:t>
                      </a:r>
                      <a:endParaRPr lang="ko-KR" altLang="en-US" sz="1200" kern="10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>
                          <a:solidFill>
                            <a:srgbClr val="000000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조의</a:t>
                      </a:r>
                      <a:r>
                        <a:rPr lang="en-US" altLang="ko-KR" sz="1200" kern="0" spc="-7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53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05261"/>
                  </a:ext>
                </a:extLst>
              </a:tr>
              <a:tr h="4443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심사청구</a:t>
                      </a:r>
                      <a:endParaRPr lang="ko-KR" altLang="en-US" sz="1200" kern="10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59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59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59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701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839118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직선 연결선 67"/>
          <p:cNvCxnSpPr>
            <a:stCxn id="51" idx="0"/>
          </p:cNvCxnSpPr>
          <p:nvPr/>
        </p:nvCxnSpPr>
        <p:spPr>
          <a:xfrm flipH="1">
            <a:off x="1115170" y="3382948"/>
            <a:ext cx="11582" cy="329033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54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조약우선권주장출원의 취지</a:t>
            </a:r>
          </a:p>
        </p:txBody>
      </p:sp>
      <p:cxnSp>
        <p:nvCxnSpPr>
          <p:cNvPr id="100" name="직선 연결선 99"/>
          <p:cNvCxnSpPr/>
          <p:nvPr/>
        </p:nvCxnSpPr>
        <p:spPr>
          <a:xfrm>
            <a:off x="6109281" y="2428875"/>
            <a:ext cx="0" cy="420266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875" y="986046"/>
            <a:ext cx="119363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A </a:t>
            </a:r>
            <a:r>
              <a:rPr lang="ko-KR" altLang="en-US" sz="1400" dirty="0">
                <a:solidFill>
                  <a:schemeClr val="tx2"/>
                </a:solidFill>
              </a:rPr>
              <a:t>발명을 중국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일본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유럽특허청</a:t>
            </a:r>
            <a:r>
              <a:rPr lang="en-US" altLang="ko-KR" sz="1400" dirty="0">
                <a:solidFill>
                  <a:schemeClr val="tx2"/>
                </a:solidFill>
              </a:rPr>
              <a:t>(EPO) </a:t>
            </a:r>
            <a:r>
              <a:rPr lang="ko-KR" altLang="en-US" sz="1400" dirty="0">
                <a:solidFill>
                  <a:schemeClr val="tx2"/>
                </a:solidFill>
              </a:rPr>
              <a:t>또는 한국에 특허출원하려는 경우 시간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거리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언어 또는 </a:t>
            </a:r>
            <a:r>
              <a:rPr lang="ko-KR" altLang="en-US" sz="1400" dirty="0" err="1">
                <a:solidFill>
                  <a:schemeClr val="tx2"/>
                </a:solidFill>
              </a:rPr>
              <a:t>법제상의</a:t>
            </a:r>
            <a:r>
              <a:rPr lang="ko-KR" altLang="en-US" sz="1400" dirty="0">
                <a:solidFill>
                  <a:schemeClr val="tx2"/>
                </a:solidFill>
              </a:rPr>
              <a:t> 차이 등으로 인해 </a:t>
            </a:r>
            <a:r>
              <a:rPr lang="ko-KR" altLang="en-US" sz="1400" dirty="0" err="1">
                <a:solidFill>
                  <a:schemeClr val="tx2"/>
                </a:solidFill>
              </a:rPr>
              <a:t>동일자에</a:t>
            </a:r>
            <a:r>
              <a:rPr lang="ko-KR" altLang="en-US" sz="1400" dirty="0">
                <a:solidFill>
                  <a:schemeClr val="tx2"/>
                </a:solidFill>
              </a:rPr>
              <a:t> 출원하지 못하고 시간적 간격이 존재할 수밖에 없다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 경우 우선권주장을 수반하지 아니한다면 </a:t>
            </a:r>
            <a:r>
              <a:rPr lang="ko-KR" altLang="en-US" sz="1400" dirty="0" err="1">
                <a:solidFill>
                  <a:schemeClr val="tx2"/>
                </a:solidFill>
              </a:rPr>
              <a:t>유럽특허청</a:t>
            </a:r>
            <a:r>
              <a:rPr lang="en-US" altLang="ko-KR" sz="1400" dirty="0">
                <a:solidFill>
                  <a:schemeClr val="tx2"/>
                </a:solidFill>
              </a:rPr>
              <a:t>(EPO) </a:t>
            </a:r>
            <a:r>
              <a:rPr lang="ko-KR" altLang="en-US" sz="1400" dirty="0">
                <a:solidFill>
                  <a:schemeClr val="tx2"/>
                </a:solidFill>
              </a:rPr>
              <a:t>출원과 한국 출원은 </a:t>
            </a:r>
            <a:r>
              <a:rPr lang="en-US" altLang="ko-KR" sz="1400" dirty="0">
                <a:solidFill>
                  <a:schemeClr val="tx2"/>
                </a:solidFill>
              </a:rPr>
              <a:t>A </a:t>
            </a:r>
            <a:r>
              <a:rPr lang="ko-KR" altLang="en-US" sz="1400" dirty="0">
                <a:solidFill>
                  <a:schemeClr val="tx2"/>
                </a:solidFill>
              </a:rPr>
              <a:t>공지로 인해 신규성 상실로 특허를 받을 수 없게 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그러나 중국출원일로부터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이내 우선권주장을 수반한다면 </a:t>
            </a:r>
            <a:r>
              <a:rPr lang="ko-KR" altLang="en-US" sz="1400" dirty="0" err="1">
                <a:solidFill>
                  <a:schemeClr val="tx2"/>
                </a:solidFill>
              </a:rPr>
              <a:t>유럽특허청</a:t>
            </a:r>
            <a:r>
              <a:rPr lang="en-US" altLang="ko-KR" sz="1400" dirty="0">
                <a:solidFill>
                  <a:schemeClr val="tx2"/>
                </a:solidFill>
              </a:rPr>
              <a:t>(EPO) </a:t>
            </a:r>
            <a:r>
              <a:rPr lang="ko-KR" altLang="en-US" sz="1400" dirty="0">
                <a:solidFill>
                  <a:schemeClr val="tx2"/>
                </a:solidFill>
              </a:rPr>
              <a:t>출원과 한국 출원 모두 중국 </a:t>
            </a:r>
            <a:r>
              <a:rPr lang="ko-KR" altLang="en-US" sz="1400" dirty="0" err="1">
                <a:solidFill>
                  <a:schemeClr val="tx2"/>
                </a:solidFill>
              </a:rPr>
              <a:t>출원일로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특허요건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판단시점이</a:t>
            </a:r>
            <a:r>
              <a:rPr lang="ko-KR" altLang="en-US" sz="1400" dirty="0">
                <a:solidFill>
                  <a:schemeClr val="tx2"/>
                </a:solidFill>
              </a:rPr>
              <a:t> 소급하기 때문에 </a:t>
            </a:r>
            <a:r>
              <a:rPr lang="en-US" altLang="ko-KR" sz="1400" dirty="0">
                <a:solidFill>
                  <a:schemeClr val="tx2"/>
                </a:solidFill>
              </a:rPr>
              <a:t>A </a:t>
            </a:r>
            <a:r>
              <a:rPr lang="ko-KR" altLang="en-US" sz="1400" dirty="0">
                <a:solidFill>
                  <a:schemeClr val="tx2"/>
                </a:solidFill>
              </a:rPr>
              <a:t>공지로 인해 신규성이 상실되지 아니하여 특허를 받을 수 있게 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이와 같이 특허법은 </a:t>
            </a:r>
            <a:r>
              <a:rPr lang="ko-KR" altLang="en-US" sz="1400" dirty="0">
                <a:highlight>
                  <a:srgbClr val="FFFF00"/>
                </a:highlight>
              </a:rPr>
              <a:t>진정한 </a:t>
            </a:r>
            <a:r>
              <a:rPr lang="ko-KR" altLang="en-US" sz="1400" dirty="0" err="1">
                <a:highlight>
                  <a:srgbClr val="FFFF00"/>
                </a:highlight>
              </a:rPr>
              <a:t>선출원자의</a:t>
            </a:r>
            <a:r>
              <a:rPr lang="ko-KR" altLang="en-US" sz="1400" dirty="0">
                <a:highlight>
                  <a:srgbClr val="FFFF00"/>
                </a:highlight>
              </a:rPr>
              <a:t> 지위를 보장하고 발명의 국제적 보호</a:t>
            </a:r>
            <a:r>
              <a:rPr lang="ko-KR" altLang="en-US" sz="1400" dirty="0">
                <a:solidFill>
                  <a:schemeClr val="tx2"/>
                </a:solidFill>
              </a:rPr>
              <a:t>를 위해 조약우선권제도를 두고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이러한 조약에 의한 </a:t>
            </a:r>
            <a:r>
              <a:rPr lang="ko-KR" altLang="en-US" sz="1400" dirty="0">
                <a:highlight>
                  <a:srgbClr val="FFFF00"/>
                </a:highlight>
              </a:rPr>
              <a:t>우선권제도는 파리조약상의 우선권제도가 기본적으로 적용이 되고 그 밖에 </a:t>
            </a:r>
            <a:r>
              <a:rPr lang="ko-KR" altLang="en-US" sz="1400" dirty="0" err="1">
                <a:highlight>
                  <a:srgbClr val="FFFF00"/>
                </a:highlight>
              </a:rPr>
              <a:t>파리조약의</a:t>
            </a:r>
            <a:r>
              <a:rPr lang="ko-KR" altLang="en-US" sz="1400" dirty="0">
                <a:highlight>
                  <a:srgbClr val="FFFF00"/>
                </a:highlight>
              </a:rPr>
              <a:t> 비동맹국이라고 하더라도 우리나라와 조약에 따라 상호 우선권을 인정하기로 한 국가의 경우에도 적용</a:t>
            </a:r>
            <a:r>
              <a:rPr lang="ko-KR" altLang="en-US" sz="1400" dirty="0">
                <a:solidFill>
                  <a:schemeClr val="tx2"/>
                </a:solidFill>
              </a:rPr>
              <a:t>이 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34" name="직선 연결선 33"/>
          <p:cNvCxnSpPr/>
          <p:nvPr/>
        </p:nvCxnSpPr>
        <p:spPr>
          <a:xfrm>
            <a:off x="0" y="2371041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/>
          <p:nvPr/>
        </p:nvCxnSpPr>
        <p:spPr>
          <a:xfrm>
            <a:off x="6317968" y="4168547"/>
            <a:ext cx="567393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직사각형 82"/>
          <p:cNvSpPr/>
          <p:nvPr/>
        </p:nvSpPr>
        <p:spPr>
          <a:xfrm>
            <a:off x="6268213" y="4539572"/>
            <a:ext cx="1280080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일본출원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03" name="직선 화살표 연결선 102"/>
          <p:cNvCxnSpPr>
            <a:stCxn id="107" idx="1"/>
          </p:cNvCxnSpPr>
          <p:nvPr/>
        </p:nvCxnSpPr>
        <p:spPr>
          <a:xfrm flipH="1">
            <a:off x="7269073" y="5221452"/>
            <a:ext cx="657314" cy="993753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/>
          <p:cNvSpPr/>
          <p:nvPr/>
        </p:nvSpPr>
        <p:spPr>
          <a:xfrm>
            <a:off x="7926727" y="4539572"/>
            <a:ext cx="1280080" cy="229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한국출원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7926387" y="4770328"/>
            <a:ext cx="1280080" cy="229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X </a:t>
            </a:r>
            <a:r>
              <a:rPr lang="ko-KR" altLang="en-US" sz="1100" dirty="0">
                <a:solidFill>
                  <a:schemeClr val="tx1"/>
                </a:solidFill>
              </a:rPr>
              <a:t>기초 </a:t>
            </a:r>
            <a:r>
              <a:rPr lang="ko-KR" altLang="en-US" sz="1100" dirty="0" err="1">
                <a:solidFill>
                  <a:schemeClr val="tx1"/>
                </a:solidFill>
              </a:rPr>
              <a:t>우선권주장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7926387" y="5106702"/>
            <a:ext cx="1280080" cy="2295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7926387" y="5336203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50" name="직선 화살표 연결선 49"/>
          <p:cNvCxnSpPr/>
          <p:nvPr/>
        </p:nvCxnSpPr>
        <p:spPr>
          <a:xfrm>
            <a:off x="300286" y="3576492"/>
            <a:ext cx="5624264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14"/>
          <p:cNvSpPr>
            <a:spLocks noChangeArrowheads="1"/>
          </p:cNvSpPr>
          <p:nvPr/>
        </p:nvSpPr>
        <p:spPr bwMode="auto">
          <a:xfrm>
            <a:off x="689457" y="3382948"/>
            <a:ext cx="874590" cy="352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dirty="0">
                <a:latin typeface="+mj-ea"/>
                <a:ea typeface="+mj-ea"/>
              </a:rPr>
              <a:t>A </a:t>
            </a:r>
            <a:r>
              <a:rPr lang="ko-KR" altLang="en-US" sz="1100" dirty="0">
                <a:latin typeface="+mj-ea"/>
                <a:ea typeface="+mj-ea"/>
              </a:rPr>
              <a:t>중국출원</a:t>
            </a:r>
          </a:p>
        </p:txBody>
      </p:sp>
      <p:sp>
        <p:nvSpPr>
          <p:cNvPr id="53" name="Rectangle 14"/>
          <p:cNvSpPr>
            <a:spLocks noChangeArrowheads="1"/>
          </p:cNvSpPr>
          <p:nvPr/>
        </p:nvSpPr>
        <p:spPr bwMode="auto">
          <a:xfrm>
            <a:off x="1655103" y="3382948"/>
            <a:ext cx="874590" cy="352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dirty="0">
                <a:latin typeface="+mj-ea"/>
                <a:ea typeface="+mj-ea"/>
              </a:rPr>
              <a:t>A </a:t>
            </a:r>
            <a:r>
              <a:rPr lang="ko-KR" altLang="en-US" sz="1100" dirty="0">
                <a:latin typeface="+mj-ea"/>
                <a:ea typeface="+mj-ea"/>
              </a:rPr>
              <a:t>일본출원</a:t>
            </a:r>
          </a:p>
        </p:txBody>
      </p:sp>
      <p:sp>
        <p:nvSpPr>
          <p:cNvPr id="54" name="Rectangle 14"/>
          <p:cNvSpPr>
            <a:spLocks noChangeArrowheads="1"/>
          </p:cNvSpPr>
          <p:nvPr/>
        </p:nvSpPr>
        <p:spPr bwMode="auto">
          <a:xfrm>
            <a:off x="3016597" y="3382948"/>
            <a:ext cx="874590" cy="352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dirty="0">
                <a:latin typeface="+mj-ea"/>
                <a:ea typeface="+mj-ea"/>
              </a:rPr>
              <a:t>A EPO </a:t>
            </a:r>
            <a:r>
              <a:rPr lang="ko-KR" altLang="en-US" sz="1100" dirty="0">
                <a:latin typeface="+mj-ea"/>
                <a:ea typeface="+mj-ea"/>
              </a:rPr>
              <a:t>출원</a:t>
            </a:r>
          </a:p>
        </p:txBody>
      </p:sp>
      <p:sp>
        <p:nvSpPr>
          <p:cNvPr id="55" name="Rectangle 14"/>
          <p:cNvSpPr>
            <a:spLocks noChangeArrowheads="1"/>
          </p:cNvSpPr>
          <p:nvPr/>
        </p:nvSpPr>
        <p:spPr bwMode="auto">
          <a:xfrm>
            <a:off x="3996354" y="3382948"/>
            <a:ext cx="874590" cy="352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dirty="0">
                <a:latin typeface="+mj-ea"/>
                <a:ea typeface="+mj-ea"/>
              </a:rPr>
              <a:t>A </a:t>
            </a:r>
            <a:r>
              <a:rPr lang="ko-KR" altLang="en-US" sz="1100" dirty="0">
                <a:latin typeface="+mj-ea"/>
                <a:ea typeface="+mj-ea"/>
              </a:rPr>
              <a:t>한국출원</a:t>
            </a:r>
          </a:p>
        </p:txBody>
      </p:sp>
      <p:sp>
        <p:nvSpPr>
          <p:cNvPr id="56" name="자유형 55"/>
          <p:cNvSpPr/>
          <p:nvPr/>
        </p:nvSpPr>
        <p:spPr>
          <a:xfrm>
            <a:off x="830989" y="3600752"/>
            <a:ext cx="4699977" cy="1684376"/>
          </a:xfrm>
          <a:custGeom>
            <a:avLst/>
            <a:gdLst>
              <a:gd name="connsiteX0" fmla="*/ 0 w 6957060"/>
              <a:gd name="connsiteY0" fmla="*/ 129540 h 1554480"/>
              <a:gd name="connsiteX1" fmla="*/ 0 w 6957060"/>
              <a:gd name="connsiteY1" fmla="*/ 1554480 h 1554480"/>
              <a:gd name="connsiteX2" fmla="*/ 6957060 w 6957060"/>
              <a:gd name="connsiteY2" fmla="*/ 1554480 h 1554480"/>
              <a:gd name="connsiteX3" fmla="*/ 6957060 w 6957060"/>
              <a:gd name="connsiteY3" fmla="*/ 0 h 155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7060" h="1554480">
                <a:moveTo>
                  <a:pt x="0" y="129540"/>
                </a:moveTo>
                <a:lnTo>
                  <a:pt x="0" y="1554480"/>
                </a:lnTo>
                <a:lnTo>
                  <a:pt x="6957060" y="1554480"/>
                </a:lnTo>
                <a:lnTo>
                  <a:pt x="6957060" y="0"/>
                </a:lnTo>
              </a:path>
            </a:pathLst>
          </a:custGeom>
          <a:noFill/>
          <a:ln w="38100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57" name="Rectangle 29"/>
          <p:cNvSpPr>
            <a:spLocks noChangeArrowheads="1"/>
          </p:cNvSpPr>
          <p:nvPr/>
        </p:nvSpPr>
        <p:spPr bwMode="auto">
          <a:xfrm>
            <a:off x="2623034" y="5174614"/>
            <a:ext cx="948842" cy="2339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우선기간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년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2402148" y="3919800"/>
            <a:ext cx="795423" cy="234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A </a:t>
            </a:r>
            <a:r>
              <a:rPr lang="ko-KR" altLang="en-US" sz="1100" dirty="0"/>
              <a:t>공지</a:t>
            </a:r>
          </a:p>
        </p:txBody>
      </p:sp>
      <p:cxnSp>
        <p:nvCxnSpPr>
          <p:cNvPr id="59" name="직선 화살표 연결선 58"/>
          <p:cNvCxnSpPr/>
          <p:nvPr/>
        </p:nvCxnSpPr>
        <p:spPr>
          <a:xfrm flipV="1">
            <a:off x="2803971" y="3580950"/>
            <a:ext cx="0" cy="321715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자유형 59"/>
          <p:cNvSpPr/>
          <p:nvPr/>
        </p:nvSpPr>
        <p:spPr>
          <a:xfrm>
            <a:off x="923649" y="3732860"/>
            <a:ext cx="3482997" cy="1065120"/>
          </a:xfrm>
          <a:custGeom>
            <a:avLst/>
            <a:gdLst>
              <a:gd name="connsiteX0" fmla="*/ 0 w 4259580"/>
              <a:gd name="connsiteY0" fmla="*/ 0 h 982980"/>
              <a:gd name="connsiteX1" fmla="*/ 0 w 4259580"/>
              <a:gd name="connsiteY1" fmla="*/ 982980 h 982980"/>
              <a:gd name="connsiteX2" fmla="*/ 4259580 w 4259580"/>
              <a:gd name="connsiteY2" fmla="*/ 982980 h 982980"/>
              <a:gd name="connsiteX3" fmla="*/ 4259580 w 4259580"/>
              <a:gd name="connsiteY3" fmla="*/ 45720 h 98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9580" h="982980">
                <a:moveTo>
                  <a:pt x="0" y="0"/>
                </a:moveTo>
                <a:lnTo>
                  <a:pt x="0" y="982980"/>
                </a:lnTo>
                <a:lnTo>
                  <a:pt x="4259580" y="982980"/>
                </a:lnTo>
                <a:lnTo>
                  <a:pt x="4259580" y="45720"/>
                </a:ln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61" name="자유형 60"/>
          <p:cNvSpPr/>
          <p:nvPr/>
        </p:nvSpPr>
        <p:spPr>
          <a:xfrm>
            <a:off x="1029981" y="3732860"/>
            <a:ext cx="2388057" cy="710080"/>
          </a:xfrm>
          <a:custGeom>
            <a:avLst/>
            <a:gdLst>
              <a:gd name="connsiteX0" fmla="*/ 0 w 4259580"/>
              <a:gd name="connsiteY0" fmla="*/ 0 h 982980"/>
              <a:gd name="connsiteX1" fmla="*/ 0 w 4259580"/>
              <a:gd name="connsiteY1" fmla="*/ 982980 h 982980"/>
              <a:gd name="connsiteX2" fmla="*/ 4259580 w 4259580"/>
              <a:gd name="connsiteY2" fmla="*/ 982980 h 982980"/>
              <a:gd name="connsiteX3" fmla="*/ 4259580 w 4259580"/>
              <a:gd name="connsiteY3" fmla="*/ 45720 h 98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9580" h="982980">
                <a:moveTo>
                  <a:pt x="0" y="0"/>
                </a:moveTo>
                <a:lnTo>
                  <a:pt x="0" y="982980"/>
                </a:lnTo>
                <a:lnTo>
                  <a:pt x="4259580" y="982980"/>
                </a:lnTo>
                <a:lnTo>
                  <a:pt x="4259580" y="45720"/>
                </a:ln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62" name="자유형 61"/>
          <p:cNvSpPr/>
          <p:nvPr/>
        </p:nvSpPr>
        <p:spPr>
          <a:xfrm>
            <a:off x="1127275" y="3732860"/>
            <a:ext cx="823389" cy="355040"/>
          </a:xfrm>
          <a:custGeom>
            <a:avLst/>
            <a:gdLst>
              <a:gd name="connsiteX0" fmla="*/ 0 w 4259580"/>
              <a:gd name="connsiteY0" fmla="*/ 0 h 982980"/>
              <a:gd name="connsiteX1" fmla="*/ 0 w 4259580"/>
              <a:gd name="connsiteY1" fmla="*/ 982980 h 982980"/>
              <a:gd name="connsiteX2" fmla="*/ 4259580 w 4259580"/>
              <a:gd name="connsiteY2" fmla="*/ 982980 h 982980"/>
              <a:gd name="connsiteX3" fmla="*/ 4259580 w 4259580"/>
              <a:gd name="connsiteY3" fmla="*/ 45720 h 98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9580" h="982980">
                <a:moveTo>
                  <a:pt x="0" y="0"/>
                </a:moveTo>
                <a:lnTo>
                  <a:pt x="0" y="982980"/>
                </a:lnTo>
                <a:lnTo>
                  <a:pt x="4259580" y="982980"/>
                </a:lnTo>
                <a:lnTo>
                  <a:pt x="4259580" y="45720"/>
                </a:ln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63" name="Rectangle 29"/>
          <p:cNvSpPr>
            <a:spLocks noChangeArrowheads="1"/>
          </p:cNvSpPr>
          <p:nvPr/>
        </p:nvSpPr>
        <p:spPr bwMode="auto">
          <a:xfrm>
            <a:off x="1240264" y="4082127"/>
            <a:ext cx="584495" cy="233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ko-KR" altLang="en-US" sz="1100">
                <a:solidFill>
                  <a:srgbClr val="000000"/>
                </a:solidFill>
                <a:latin typeface="+mn-ea"/>
              </a:rPr>
              <a:t>우선권주장</a:t>
            </a:r>
            <a:endParaRPr lang="ko-KR" altLang="en-US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4" name="Rectangle 29"/>
          <p:cNvSpPr>
            <a:spLocks noChangeArrowheads="1"/>
          </p:cNvSpPr>
          <p:nvPr/>
        </p:nvSpPr>
        <p:spPr bwMode="auto">
          <a:xfrm>
            <a:off x="1636680" y="4442941"/>
            <a:ext cx="584495" cy="233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ko-KR" altLang="en-US" sz="1100">
                <a:solidFill>
                  <a:srgbClr val="000000"/>
                </a:solidFill>
                <a:latin typeface="+mn-ea"/>
              </a:rPr>
              <a:t>우선권주장</a:t>
            </a:r>
            <a:endParaRPr lang="ko-KR" altLang="en-US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5" name="Rectangle 29"/>
          <p:cNvSpPr>
            <a:spLocks noChangeArrowheads="1"/>
          </p:cNvSpPr>
          <p:nvPr/>
        </p:nvSpPr>
        <p:spPr bwMode="auto">
          <a:xfrm>
            <a:off x="2294420" y="4797981"/>
            <a:ext cx="584495" cy="233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ko-KR" altLang="en-US" sz="1100" dirty="0" err="1">
                <a:solidFill>
                  <a:srgbClr val="000000"/>
                </a:solidFill>
                <a:latin typeface="+mn-ea"/>
              </a:rPr>
              <a:t>우선권주장</a:t>
            </a:r>
            <a:endParaRPr lang="ko-KR" altLang="en-US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6" name="왼쪽 중괄호 65"/>
          <p:cNvSpPr/>
          <p:nvPr/>
        </p:nvSpPr>
        <p:spPr>
          <a:xfrm rot="5400000">
            <a:off x="2456892" y="1397123"/>
            <a:ext cx="468151" cy="3431356"/>
          </a:xfrm>
          <a:prstGeom prst="leftBrace">
            <a:avLst>
              <a:gd name="adj1" fmla="val 123885"/>
              <a:gd name="adj2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67" name="Rectangle 29"/>
          <p:cNvSpPr>
            <a:spLocks noChangeArrowheads="1"/>
          </p:cNvSpPr>
          <p:nvPr/>
        </p:nvSpPr>
        <p:spPr bwMode="auto">
          <a:xfrm>
            <a:off x="2467519" y="2583847"/>
            <a:ext cx="584495" cy="233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시간적 간격</a:t>
            </a:r>
          </a:p>
        </p:txBody>
      </p:sp>
      <p:sp>
        <p:nvSpPr>
          <p:cNvPr id="70" name="Rectangle 29"/>
          <p:cNvSpPr>
            <a:spLocks noChangeArrowheads="1"/>
          </p:cNvSpPr>
          <p:nvPr/>
        </p:nvSpPr>
        <p:spPr bwMode="auto">
          <a:xfrm>
            <a:off x="685095" y="5565000"/>
            <a:ext cx="948842" cy="2339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일본의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A</a:t>
            </a:r>
            <a:endParaRPr lang="ko-KR" altLang="en-US" sz="12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1" name="Rectangle 29"/>
          <p:cNvSpPr>
            <a:spLocks noChangeArrowheads="1"/>
          </p:cNvSpPr>
          <p:nvPr/>
        </p:nvSpPr>
        <p:spPr bwMode="auto">
          <a:xfrm>
            <a:off x="685095" y="5877989"/>
            <a:ext cx="948842" cy="2339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EPO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의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A</a:t>
            </a:r>
            <a:endParaRPr lang="ko-KR" altLang="en-US" sz="12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2" name="Rectangle 29"/>
          <p:cNvSpPr>
            <a:spLocks noChangeArrowheads="1"/>
          </p:cNvSpPr>
          <p:nvPr/>
        </p:nvSpPr>
        <p:spPr bwMode="auto">
          <a:xfrm>
            <a:off x="685095" y="6184535"/>
            <a:ext cx="948842" cy="2339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한국의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A</a:t>
            </a:r>
            <a:endParaRPr lang="ko-KR" altLang="en-US" sz="12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8" name="양쪽 모서리가 둥근 사각형 77"/>
          <p:cNvSpPr/>
          <p:nvPr/>
        </p:nvSpPr>
        <p:spPr>
          <a:xfrm>
            <a:off x="6908253" y="3780382"/>
            <a:ext cx="1658175" cy="363303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2" name="직선 연결선 81"/>
          <p:cNvCxnSpPr>
            <a:stCxn id="83" idx="0"/>
            <a:endCxn id="79" idx="0"/>
          </p:cNvCxnSpPr>
          <p:nvPr/>
        </p:nvCxnSpPr>
        <p:spPr>
          <a:xfrm flipV="1">
            <a:off x="6908253" y="4231001"/>
            <a:ext cx="0" cy="3085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/>
          <p:cNvCxnSpPr/>
          <p:nvPr/>
        </p:nvCxnSpPr>
        <p:spPr>
          <a:xfrm flipV="1">
            <a:off x="8566427" y="4231001"/>
            <a:ext cx="0" cy="3085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/>
          <p:cNvSpPr/>
          <p:nvPr/>
        </p:nvSpPr>
        <p:spPr>
          <a:xfrm>
            <a:off x="9498370" y="4770328"/>
            <a:ext cx="965646" cy="229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증명서류</a:t>
            </a:r>
          </a:p>
        </p:txBody>
      </p:sp>
      <p:sp>
        <p:nvSpPr>
          <p:cNvPr id="91" name="직사각형 90"/>
          <p:cNvSpPr/>
          <p:nvPr/>
        </p:nvSpPr>
        <p:spPr>
          <a:xfrm>
            <a:off x="10592651" y="4539572"/>
            <a:ext cx="1280080" cy="229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출원공개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4" name="양쪽 모서리가 둥근 사각형 93"/>
          <p:cNvSpPr/>
          <p:nvPr/>
        </p:nvSpPr>
        <p:spPr>
          <a:xfrm>
            <a:off x="6908253" y="3461396"/>
            <a:ext cx="3069961" cy="682290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양쪽 모서리가 둥근 사각형 96"/>
          <p:cNvSpPr/>
          <p:nvPr/>
        </p:nvSpPr>
        <p:spPr>
          <a:xfrm>
            <a:off x="6908254" y="3086100"/>
            <a:ext cx="4341808" cy="1057586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Rectangle 29"/>
          <p:cNvSpPr>
            <a:spLocks noChangeArrowheads="1"/>
          </p:cNvSpPr>
          <p:nvPr/>
        </p:nvSpPr>
        <p:spPr bwMode="auto">
          <a:xfrm>
            <a:off x="7408349" y="3556537"/>
            <a:ext cx="584495" cy="233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10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rgbClr val="000000"/>
                </a:solidFill>
                <a:latin typeface="+mn-ea"/>
              </a:rPr>
              <a:t>년</a:t>
            </a:r>
          </a:p>
        </p:txBody>
      </p:sp>
      <p:sp>
        <p:nvSpPr>
          <p:cNvPr id="99" name="Rectangle 29"/>
          <p:cNvSpPr>
            <a:spLocks noChangeArrowheads="1"/>
          </p:cNvSpPr>
          <p:nvPr/>
        </p:nvSpPr>
        <p:spPr bwMode="auto">
          <a:xfrm>
            <a:off x="8074283" y="3230393"/>
            <a:ext cx="584495" cy="233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100" dirty="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rgbClr val="000000"/>
                </a:solidFill>
                <a:latin typeface="+mn-ea"/>
              </a:rPr>
              <a:t>년 </a:t>
            </a:r>
            <a:r>
              <a:rPr lang="en-US" altLang="ko-KR" sz="1100" dirty="0">
                <a:solidFill>
                  <a:srgbClr val="000000"/>
                </a:solidFill>
                <a:latin typeface="+mn-ea"/>
              </a:rPr>
              <a:t>4</a:t>
            </a:r>
            <a:r>
              <a:rPr lang="ko-KR" altLang="en-US" sz="1100" dirty="0">
                <a:solidFill>
                  <a:srgbClr val="000000"/>
                </a:solidFill>
                <a:latin typeface="+mn-ea"/>
              </a:rPr>
              <a:t>개월</a:t>
            </a:r>
          </a:p>
        </p:txBody>
      </p:sp>
      <p:sp>
        <p:nvSpPr>
          <p:cNvPr id="109" name="Rectangle 29"/>
          <p:cNvSpPr>
            <a:spLocks noChangeArrowheads="1"/>
          </p:cNvSpPr>
          <p:nvPr/>
        </p:nvSpPr>
        <p:spPr bwMode="auto">
          <a:xfrm>
            <a:off x="8804680" y="2850903"/>
            <a:ext cx="584495" cy="233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100" dirty="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rgbClr val="000000"/>
                </a:solidFill>
                <a:latin typeface="+mn-ea"/>
              </a:rPr>
              <a:t>년 </a:t>
            </a:r>
            <a:r>
              <a:rPr lang="en-US" altLang="ko-KR" sz="1100" dirty="0">
                <a:solidFill>
                  <a:srgbClr val="000000"/>
                </a:solidFill>
                <a:latin typeface="+mn-ea"/>
              </a:rPr>
              <a:t>6</a:t>
            </a:r>
            <a:r>
              <a:rPr lang="ko-KR" altLang="en-US" sz="1100" dirty="0">
                <a:solidFill>
                  <a:srgbClr val="000000"/>
                </a:solidFill>
                <a:latin typeface="+mn-ea"/>
              </a:rPr>
              <a:t>개월</a:t>
            </a:r>
          </a:p>
        </p:txBody>
      </p:sp>
      <p:sp>
        <p:nvSpPr>
          <p:cNvPr id="79" name="Rectangle 14"/>
          <p:cNvSpPr>
            <a:spLocks noChangeArrowheads="1"/>
          </p:cNvSpPr>
          <p:nvPr/>
        </p:nvSpPr>
        <p:spPr bwMode="auto">
          <a:xfrm flipV="1">
            <a:off x="6849955" y="4106093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5" name="Rectangle 14"/>
          <p:cNvSpPr>
            <a:spLocks noChangeArrowheads="1"/>
          </p:cNvSpPr>
          <p:nvPr/>
        </p:nvSpPr>
        <p:spPr bwMode="auto">
          <a:xfrm flipV="1">
            <a:off x="8508129" y="4106093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2" name="Rectangle 14"/>
          <p:cNvSpPr>
            <a:spLocks noChangeArrowheads="1"/>
          </p:cNvSpPr>
          <p:nvPr/>
        </p:nvSpPr>
        <p:spPr bwMode="auto">
          <a:xfrm flipV="1">
            <a:off x="9922895" y="4106093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3" name="Rectangle 14"/>
          <p:cNvSpPr>
            <a:spLocks noChangeArrowheads="1"/>
          </p:cNvSpPr>
          <p:nvPr/>
        </p:nvSpPr>
        <p:spPr bwMode="auto">
          <a:xfrm flipV="1">
            <a:off x="11174393" y="4106093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10" name="직선 연결선 109"/>
          <p:cNvCxnSpPr>
            <a:stCxn id="90" idx="0"/>
          </p:cNvCxnSpPr>
          <p:nvPr/>
        </p:nvCxnSpPr>
        <p:spPr>
          <a:xfrm flipH="1" flipV="1">
            <a:off x="9978214" y="4231002"/>
            <a:ext cx="2979" cy="53932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/>
          <p:cNvCxnSpPr/>
          <p:nvPr/>
        </p:nvCxnSpPr>
        <p:spPr>
          <a:xfrm flipV="1">
            <a:off x="11232691" y="4231001"/>
            <a:ext cx="0" cy="3085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/>
          <p:cNvCxnSpPr/>
          <p:nvPr/>
        </p:nvCxnSpPr>
        <p:spPr>
          <a:xfrm flipH="1">
            <a:off x="6902462" y="4754363"/>
            <a:ext cx="5791" cy="164516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직사각형 85"/>
          <p:cNvSpPr/>
          <p:nvPr/>
        </p:nvSpPr>
        <p:spPr>
          <a:xfrm>
            <a:off x="6268213" y="5106702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6268213" y="5336203"/>
            <a:ext cx="1280080" cy="2295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8" name="직선 연결선 17"/>
          <p:cNvCxnSpPr>
            <a:stCxn id="87" idx="3"/>
            <a:endCxn id="107" idx="1"/>
          </p:cNvCxnSpPr>
          <p:nvPr/>
        </p:nvCxnSpPr>
        <p:spPr>
          <a:xfrm flipV="1">
            <a:off x="7548293" y="5221452"/>
            <a:ext cx="378094" cy="229501"/>
          </a:xfrm>
          <a:prstGeom prst="line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/>
          <p:cNvCxnSpPr/>
          <p:nvPr/>
        </p:nvCxnSpPr>
        <p:spPr>
          <a:xfrm flipH="1">
            <a:off x="8560635" y="4754363"/>
            <a:ext cx="5791" cy="164516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 29"/>
          <p:cNvSpPr>
            <a:spLocks noChangeArrowheads="1"/>
          </p:cNvSpPr>
          <p:nvPr/>
        </p:nvSpPr>
        <p:spPr bwMode="auto">
          <a:xfrm>
            <a:off x="6406405" y="6279478"/>
            <a:ext cx="948842" cy="2339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Y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의 </a:t>
            </a:r>
            <a:r>
              <a:rPr lang="ko-KR" altLang="en-US" sz="1200" dirty="0" err="1">
                <a:solidFill>
                  <a:srgbClr val="FF0000"/>
                </a:solidFill>
                <a:latin typeface="+mn-ea"/>
              </a:rPr>
              <a:t>청구범위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 中</a:t>
            </a:r>
            <a:endParaRPr lang="en-US" altLang="ko-KR" sz="1200" dirty="0">
              <a:solidFill>
                <a:srgbClr val="FF0000"/>
              </a:solidFill>
              <a:latin typeface="+mn-ea"/>
            </a:endParaRPr>
          </a:p>
          <a:p>
            <a:pPr algn="ctr">
              <a:defRPr/>
            </a:pP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A</a:t>
            </a:r>
            <a:endParaRPr lang="ko-KR" altLang="en-US" sz="12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15" name="Rectangle 29"/>
          <p:cNvSpPr>
            <a:spLocks noChangeArrowheads="1"/>
          </p:cNvSpPr>
          <p:nvPr/>
        </p:nvSpPr>
        <p:spPr bwMode="auto">
          <a:xfrm>
            <a:off x="8095739" y="6279478"/>
            <a:ext cx="948842" cy="2339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Y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의 </a:t>
            </a:r>
            <a:r>
              <a:rPr lang="ko-KR" altLang="en-US" sz="1200" dirty="0" err="1">
                <a:solidFill>
                  <a:srgbClr val="FF0000"/>
                </a:solidFill>
                <a:latin typeface="+mn-ea"/>
              </a:rPr>
              <a:t>청구범위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 中</a:t>
            </a:r>
            <a:endParaRPr lang="en-US" altLang="ko-KR" sz="1200" dirty="0">
              <a:solidFill>
                <a:srgbClr val="FF0000"/>
              </a:solidFill>
              <a:latin typeface="+mn-ea"/>
            </a:endParaRPr>
          </a:p>
          <a:p>
            <a:pPr algn="ctr">
              <a:defRPr/>
            </a:pP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C</a:t>
            </a:r>
            <a:endParaRPr lang="ko-KR" altLang="en-US" sz="12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7064387" y="5689845"/>
            <a:ext cx="144374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err="1">
                <a:solidFill>
                  <a:srgbClr val="FF0000"/>
                </a:solidFill>
              </a:rPr>
              <a:t>판단시점</a:t>
            </a:r>
            <a:r>
              <a:rPr lang="ko-KR" altLang="en-US" sz="1600" dirty="0">
                <a:solidFill>
                  <a:srgbClr val="FF0000"/>
                </a:solidFill>
              </a:rPr>
              <a:t> 소급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82648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직사각형 66"/>
          <p:cNvSpPr/>
          <p:nvPr/>
        </p:nvSpPr>
        <p:spPr>
          <a:xfrm>
            <a:off x="6317968" y="2466976"/>
            <a:ext cx="4216682" cy="969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7" name="직선 연결선 36"/>
          <p:cNvCxnSpPr>
            <a:stCxn id="28" idx="0"/>
          </p:cNvCxnSpPr>
          <p:nvPr/>
        </p:nvCxnSpPr>
        <p:spPr>
          <a:xfrm>
            <a:off x="9947552" y="2183126"/>
            <a:ext cx="0" cy="111252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개념정리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6109281" y="1247775"/>
            <a:ext cx="0" cy="538376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47688" y="1265255"/>
            <a:ext cx="1566838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>
                <a:solidFill>
                  <a:schemeClr val="bg1"/>
                </a:solidFill>
                <a:latin typeface="+mj-ea"/>
                <a:ea typeface="+mj-ea"/>
              </a:rPr>
              <a:t>용어 정리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6434163" y="808055"/>
            <a:ext cx="1824012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>
                <a:solidFill>
                  <a:schemeClr val="bg1"/>
                </a:solidFill>
                <a:latin typeface="+mj-ea"/>
                <a:ea typeface="+mj-ea"/>
              </a:rPr>
              <a:t>출원일 </a:t>
            </a:r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소급제도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828370"/>
              </p:ext>
            </p:extLst>
          </p:nvPr>
        </p:nvGraphicFramePr>
        <p:xfrm>
          <a:off x="347689" y="1824566"/>
          <a:ext cx="5436711" cy="3246745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812237">
                  <a:extLst>
                    <a:ext uri="{9D8B030D-6E8A-4147-A177-3AD203B41FA5}">
                      <a16:colId xmlns:a16="http://schemas.microsoft.com/office/drawing/2014/main" val="4205938182"/>
                    </a:ext>
                  </a:extLst>
                </a:gridCol>
                <a:gridCol w="1812237">
                  <a:extLst>
                    <a:ext uri="{9D8B030D-6E8A-4147-A177-3AD203B41FA5}">
                      <a16:colId xmlns:a16="http://schemas.microsoft.com/office/drawing/2014/main" val="2410079625"/>
                    </a:ext>
                  </a:extLst>
                </a:gridCol>
                <a:gridCol w="1812237">
                  <a:extLst>
                    <a:ext uri="{9D8B030D-6E8A-4147-A177-3AD203B41FA5}">
                      <a16:colId xmlns:a16="http://schemas.microsoft.com/office/drawing/2014/main" val="2183475004"/>
                    </a:ext>
                  </a:extLst>
                </a:gridCol>
              </a:tblGrid>
              <a:tr h="4364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구 분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FRONT APPLICATION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BACK APPLICATION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59677"/>
                  </a:ext>
                </a:extLst>
              </a:tr>
              <a:tr h="4364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52</a:t>
                      </a:r>
                      <a:r>
                        <a:rPr lang="ko-KR" altLang="en-US" sz="1200" dirty="0"/>
                        <a:t>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원출원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분할출원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1732895"/>
                  </a:ext>
                </a:extLst>
              </a:tr>
              <a:tr h="4364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52</a:t>
                      </a:r>
                      <a:r>
                        <a:rPr lang="ko-KR" altLang="en-US" sz="1200" dirty="0"/>
                        <a:t>조의</a:t>
                      </a:r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원출원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분리출원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89228"/>
                  </a:ext>
                </a:extLst>
              </a:tr>
              <a:tr h="4364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53</a:t>
                      </a:r>
                      <a:r>
                        <a:rPr lang="ko-KR" altLang="en-US" sz="1200" dirty="0"/>
                        <a:t>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원출원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변경출원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9872413"/>
                  </a:ext>
                </a:extLst>
              </a:tr>
              <a:tr h="8609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54</a:t>
                      </a:r>
                      <a:r>
                        <a:rPr lang="ko-KR" altLang="en-US" sz="1200" dirty="0"/>
                        <a:t>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 err="1"/>
                        <a:t>국출원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 err="1"/>
                        <a:t>선출원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우선권기초출원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우선권주장일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2</a:t>
                      </a:r>
                      <a:r>
                        <a:rPr lang="ko-KR" altLang="en-US" sz="1200" dirty="0" err="1"/>
                        <a:t>국출원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 err="1"/>
                        <a:t>후출원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우선권주장출원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200" dirty="0" err="1">
                          <a:solidFill>
                            <a:srgbClr val="FF0000"/>
                          </a:solidFill>
                        </a:rPr>
                        <a:t>우선권주장출원일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6978249"/>
                  </a:ext>
                </a:extLst>
              </a:tr>
              <a:tr h="6098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55</a:t>
                      </a:r>
                      <a:r>
                        <a:rPr lang="ko-KR" altLang="en-US" sz="1200" dirty="0"/>
                        <a:t>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선출원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우선권기초출원</a:t>
                      </a:r>
                      <a:endParaRPr lang="en-US" altLang="ko-KR" sz="12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우선권주장일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후출원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우선권주장출원</a:t>
                      </a:r>
                      <a:endParaRPr lang="en-US" altLang="ko-KR" sz="12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200" dirty="0" err="1">
                          <a:solidFill>
                            <a:srgbClr val="FF0000"/>
                          </a:solidFill>
                        </a:rPr>
                        <a:t>우선권주장출원일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2098880"/>
                  </a:ext>
                </a:extLst>
              </a:tr>
            </a:tbl>
          </a:graphicData>
        </a:graphic>
      </p:graphicFrame>
      <p:cxnSp>
        <p:nvCxnSpPr>
          <p:cNvPr id="10" name="직선 연결선 9"/>
          <p:cNvCxnSpPr/>
          <p:nvPr/>
        </p:nvCxnSpPr>
        <p:spPr>
          <a:xfrm>
            <a:off x="6317968" y="2120672"/>
            <a:ext cx="567393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>
            <a:stCxn id="11" idx="2"/>
            <a:endCxn id="27" idx="4"/>
          </p:cNvCxnSpPr>
          <p:nvPr/>
        </p:nvCxnSpPr>
        <p:spPr>
          <a:xfrm>
            <a:off x="6908253" y="1870747"/>
            <a:ext cx="0" cy="1874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>
            <a:stCxn id="13" idx="2"/>
            <a:endCxn id="28" idx="4"/>
          </p:cNvCxnSpPr>
          <p:nvPr/>
        </p:nvCxnSpPr>
        <p:spPr>
          <a:xfrm flipH="1">
            <a:off x="9947552" y="1870747"/>
            <a:ext cx="340" cy="1874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14"/>
          <p:cNvSpPr>
            <a:spLocks noChangeArrowheads="1"/>
          </p:cNvSpPr>
          <p:nvPr/>
        </p:nvSpPr>
        <p:spPr bwMode="auto">
          <a:xfrm flipV="1">
            <a:off x="6849955" y="2058218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8" name="Rectangle 14"/>
          <p:cNvSpPr>
            <a:spLocks noChangeArrowheads="1"/>
          </p:cNvSpPr>
          <p:nvPr/>
        </p:nvSpPr>
        <p:spPr bwMode="auto">
          <a:xfrm flipV="1">
            <a:off x="9889254" y="2058218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33" name="직선 연결선 32"/>
          <p:cNvCxnSpPr>
            <a:stCxn id="27" idx="0"/>
          </p:cNvCxnSpPr>
          <p:nvPr/>
        </p:nvCxnSpPr>
        <p:spPr>
          <a:xfrm>
            <a:off x="6908253" y="2183126"/>
            <a:ext cx="0" cy="114109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6483420" y="1688149"/>
            <a:ext cx="849666" cy="18259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출원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9523059" y="1688149"/>
            <a:ext cx="849666" cy="1825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출원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9522719" y="1269028"/>
            <a:ext cx="849666" cy="18259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9522719" y="1451626"/>
            <a:ext cx="849666" cy="1825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6483420" y="1269028"/>
            <a:ext cx="849666" cy="18259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6483420" y="1451626"/>
            <a:ext cx="849666" cy="1825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36" name="직선 연결선 35"/>
          <p:cNvCxnSpPr>
            <a:stCxn id="35" idx="3"/>
            <a:endCxn id="16" idx="1"/>
          </p:cNvCxnSpPr>
          <p:nvPr/>
        </p:nvCxnSpPr>
        <p:spPr>
          <a:xfrm>
            <a:off x="7333086" y="1542925"/>
            <a:ext cx="2189633" cy="0"/>
          </a:xfrm>
          <a:prstGeom prst="line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/>
          <p:cNvSpPr/>
          <p:nvPr/>
        </p:nvSpPr>
        <p:spPr>
          <a:xfrm>
            <a:off x="6483760" y="2581850"/>
            <a:ext cx="849666" cy="1825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출원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6483420" y="2828461"/>
            <a:ext cx="849666" cy="18259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6483420" y="3011059"/>
            <a:ext cx="849666" cy="1825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61" name="직선 화살표 연결선 60"/>
          <p:cNvCxnSpPr>
            <a:stCxn id="13" idx="1"/>
            <a:endCxn id="50" idx="3"/>
          </p:cNvCxnSpPr>
          <p:nvPr/>
        </p:nvCxnSpPr>
        <p:spPr>
          <a:xfrm flipH="1">
            <a:off x="7333426" y="1779448"/>
            <a:ext cx="2189633" cy="89370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540544" y="2158445"/>
            <a:ext cx="14437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출원일 소급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90908" y="3107680"/>
            <a:ext cx="14437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dirty="0">
                <a:solidFill>
                  <a:srgbClr val="FF0000"/>
                </a:solidFill>
              </a:rPr>
              <a:t>효과</a:t>
            </a:r>
          </a:p>
        </p:txBody>
      </p:sp>
      <p:sp>
        <p:nvSpPr>
          <p:cNvPr id="90" name="직사각형 89"/>
          <p:cNvSpPr/>
          <p:nvPr/>
        </p:nvSpPr>
        <p:spPr>
          <a:xfrm>
            <a:off x="6317968" y="5383761"/>
            <a:ext cx="4216682" cy="13313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1" name="직선 연결선 90"/>
          <p:cNvCxnSpPr>
            <a:stCxn id="97" idx="0"/>
          </p:cNvCxnSpPr>
          <p:nvPr/>
        </p:nvCxnSpPr>
        <p:spPr>
          <a:xfrm>
            <a:off x="9947552" y="5099912"/>
            <a:ext cx="0" cy="111252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5"/>
          <p:cNvSpPr>
            <a:spLocks noChangeArrowheads="1"/>
          </p:cNvSpPr>
          <p:nvPr/>
        </p:nvSpPr>
        <p:spPr bwMode="auto">
          <a:xfrm>
            <a:off x="6434163" y="3724841"/>
            <a:ext cx="1824012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판단시점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소급제도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93" name="직선 연결선 92"/>
          <p:cNvCxnSpPr/>
          <p:nvPr/>
        </p:nvCxnSpPr>
        <p:spPr>
          <a:xfrm>
            <a:off x="6317968" y="5037458"/>
            <a:ext cx="567393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/>
          <p:cNvCxnSpPr>
            <a:stCxn id="99" idx="2"/>
            <a:endCxn id="96" idx="4"/>
          </p:cNvCxnSpPr>
          <p:nvPr/>
        </p:nvCxnSpPr>
        <p:spPr>
          <a:xfrm>
            <a:off x="6908253" y="4787533"/>
            <a:ext cx="0" cy="1874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/>
          <p:cNvCxnSpPr>
            <a:stCxn id="100" idx="2"/>
            <a:endCxn id="97" idx="4"/>
          </p:cNvCxnSpPr>
          <p:nvPr/>
        </p:nvCxnSpPr>
        <p:spPr>
          <a:xfrm flipH="1">
            <a:off x="9947552" y="4787533"/>
            <a:ext cx="340" cy="1874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14"/>
          <p:cNvSpPr>
            <a:spLocks noChangeArrowheads="1"/>
          </p:cNvSpPr>
          <p:nvPr/>
        </p:nvSpPr>
        <p:spPr bwMode="auto">
          <a:xfrm flipV="1">
            <a:off x="6849955" y="4975004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7" name="Rectangle 14"/>
          <p:cNvSpPr>
            <a:spLocks noChangeArrowheads="1"/>
          </p:cNvSpPr>
          <p:nvPr/>
        </p:nvSpPr>
        <p:spPr bwMode="auto">
          <a:xfrm flipV="1">
            <a:off x="9889254" y="4975004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98" name="직선 연결선 97"/>
          <p:cNvCxnSpPr>
            <a:stCxn id="96" idx="0"/>
          </p:cNvCxnSpPr>
          <p:nvPr/>
        </p:nvCxnSpPr>
        <p:spPr>
          <a:xfrm>
            <a:off x="6908253" y="5099912"/>
            <a:ext cx="0" cy="114109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/>
          <p:cNvSpPr/>
          <p:nvPr/>
        </p:nvSpPr>
        <p:spPr>
          <a:xfrm>
            <a:off x="6483420" y="4604935"/>
            <a:ext cx="849666" cy="18259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출원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9523059" y="4604935"/>
            <a:ext cx="849666" cy="1825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출원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9522719" y="4185814"/>
            <a:ext cx="849666" cy="1825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9522719" y="4368412"/>
            <a:ext cx="849666" cy="1825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6483420" y="4185814"/>
            <a:ext cx="849666" cy="18259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6483420" y="4368412"/>
            <a:ext cx="849666" cy="1825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05" name="직선 연결선 104"/>
          <p:cNvCxnSpPr>
            <a:stCxn id="104" idx="3"/>
            <a:endCxn id="101" idx="1"/>
          </p:cNvCxnSpPr>
          <p:nvPr/>
        </p:nvCxnSpPr>
        <p:spPr>
          <a:xfrm flipV="1">
            <a:off x="7333086" y="4277113"/>
            <a:ext cx="2189633" cy="182598"/>
          </a:xfrm>
          <a:prstGeom prst="line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화살표 연결선 108"/>
          <p:cNvCxnSpPr>
            <a:stCxn id="100" idx="1"/>
          </p:cNvCxnSpPr>
          <p:nvPr/>
        </p:nvCxnSpPr>
        <p:spPr>
          <a:xfrm flipH="1">
            <a:off x="7333426" y="4696234"/>
            <a:ext cx="2189633" cy="89370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7540544" y="5075231"/>
            <a:ext cx="14437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err="1">
                <a:solidFill>
                  <a:srgbClr val="FF0000"/>
                </a:solidFill>
              </a:rPr>
              <a:t>판단시점</a:t>
            </a:r>
            <a:r>
              <a:rPr lang="ko-KR" altLang="en-US" sz="1600" dirty="0">
                <a:solidFill>
                  <a:srgbClr val="FF0000"/>
                </a:solidFill>
              </a:rPr>
              <a:t> 소급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090908" y="6388657"/>
            <a:ext cx="14437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dirty="0">
                <a:solidFill>
                  <a:srgbClr val="FF0000"/>
                </a:solidFill>
              </a:rPr>
              <a:t>효과</a:t>
            </a:r>
          </a:p>
        </p:txBody>
      </p:sp>
      <p:sp>
        <p:nvSpPr>
          <p:cNvPr id="113" name="직사각형 112"/>
          <p:cNvSpPr/>
          <p:nvPr/>
        </p:nvSpPr>
        <p:spPr>
          <a:xfrm>
            <a:off x="9523059" y="5784386"/>
            <a:ext cx="849666" cy="1825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출원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9522719" y="6030997"/>
            <a:ext cx="849666" cy="1825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</a:rPr>
              <a:t>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5" name="직사각형 114"/>
          <p:cNvSpPr/>
          <p:nvPr/>
        </p:nvSpPr>
        <p:spPr>
          <a:xfrm>
            <a:off x="9522719" y="6213595"/>
            <a:ext cx="849666" cy="18259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6" name="Rectangle 29"/>
          <p:cNvSpPr>
            <a:spLocks noChangeArrowheads="1"/>
          </p:cNvSpPr>
          <p:nvPr/>
        </p:nvSpPr>
        <p:spPr bwMode="auto">
          <a:xfrm>
            <a:off x="6434163" y="5459554"/>
            <a:ext cx="948842" cy="233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Y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의 </a:t>
            </a:r>
            <a:r>
              <a:rPr lang="ko-KR" altLang="en-US" sz="1200" dirty="0" err="1">
                <a:solidFill>
                  <a:srgbClr val="FF0000"/>
                </a:solidFill>
                <a:latin typeface="+mn-ea"/>
              </a:rPr>
              <a:t>청구범위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 中</a:t>
            </a:r>
            <a:endParaRPr lang="en-US" altLang="ko-KR" sz="1200" dirty="0">
              <a:solidFill>
                <a:srgbClr val="FF0000"/>
              </a:solidFill>
              <a:latin typeface="+mn-ea"/>
            </a:endParaRPr>
          </a:p>
          <a:p>
            <a:pPr algn="ctr">
              <a:defRPr/>
            </a:pP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B</a:t>
            </a:r>
            <a:endParaRPr lang="ko-KR" altLang="en-US" sz="12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17" name="Rectangle 29"/>
          <p:cNvSpPr>
            <a:spLocks noChangeArrowheads="1"/>
          </p:cNvSpPr>
          <p:nvPr/>
        </p:nvSpPr>
        <p:spPr bwMode="auto">
          <a:xfrm>
            <a:off x="9473131" y="5459554"/>
            <a:ext cx="948842" cy="233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Y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의 </a:t>
            </a:r>
            <a:r>
              <a:rPr lang="ko-KR" altLang="en-US" sz="1200" dirty="0" err="1">
                <a:solidFill>
                  <a:srgbClr val="FF0000"/>
                </a:solidFill>
                <a:latin typeface="+mn-ea"/>
              </a:rPr>
              <a:t>청구범위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 中</a:t>
            </a:r>
            <a:endParaRPr lang="en-US" altLang="ko-KR" sz="1200" dirty="0">
              <a:solidFill>
                <a:srgbClr val="FF0000"/>
              </a:solidFill>
              <a:latin typeface="+mn-ea"/>
            </a:endParaRPr>
          </a:p>
          <a:p>
            <a:pPr algn="ctr">
              <a:defRPr/>
            </a:pP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C</a:t>
            </a:r>
            <a:endParaRPr lang="ko-KR" altLang="en-US" sz="12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19" name="모서리가 둥근 사각형 설명선 118"/>
          <p:cNvSpPr/>
          <p:nvPr/>
        </p:nvSpPr>
        <p:spPr>
          <a:xfrm>
            <a:off x="7834674" y="2680578"/>
            <a:ext cx="1776051" cy="245338"/>
          </a:xfrm>
          <a:prstGeom prst="wedgeRoundRectCallout">
            <a:avLst>
              <a:gd name="adj1" fmla="val -10668"/>
              <a:gd name="adj2" fmla="val -159598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B, C </a:t>
            </a:r>
            <a:r>
              <a:rPr lang="ko-KR" altLang="en-US" sz="1200" dirty="0">
                <a:solidFill>
                  <a:schemeClr val="tx1"/>
                </a:solidFill>
              </a:rPr>
              <a:t>전체 만족</a:t>
            </a:r>
          </a:p>
        </p:txBody>
      </p:sp>
      <p:sp>
        <p:nvSpPr>
          <p:cNvPr id="120" name="모서리가 둥근 사각형 설명선 119"/>
          <p:cNvSpPr/>
          <p:nvPr/>
        </p:nvSpPr>
        <p:spPr>
          <a:xfrm>
            <a:off x="7540544" y="5903213"/>
            <a:ext cx="1895303" cy="261811"/>
          </a:xfrm>
          <a:prstGeom prst="wedgeRoundRectCallout">
            <a:avLst>
              <a:gd name="adj1" fmla="val 5603"/>
              <a:gd name="adj2" fmla="val -259880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B, C </a:t>
            </a:r>
            <a:r>
              <a:rPr lang="ko-KR" altLang="en-US" sz="1200" dirty="0">
                <a:solidFill>
                  <a:schemeClr val="tx1"/>
                </a:solidFill>
              </a:rPr>
              <a:t>中 만족하는 발명 </a:t>
            </a:r>
            <a:r>
              <a:rPr lang="en-US" altLang="ko-KR" sz="1200" dirty="0">
                <a:solidFill>
                  <a:schemeClr val="tx1"/>
                </a:solidFill>
              </a:rPr>
              <a:t>B</a:t>
            </a:r>
            <a:r>
              <a:rPr lang="ko-KR" altLang="en-US" sz="1200" dirty="0">
                <a:solidFill>
                  <a:schemeClr val="tx1"/>
                </a:solidFill>
              </a:rPr>
              <a:t>만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214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95AC1C-5A0F-DECD-AD4D-3B20F614F006}"/>
              </a:ext>
            </a:extLst>
          </p:cNvPr>
          <p:cNvSpPr txBox="1"/>
          <p:nvPr/>
        </p:nvSpPr>
        <p:spPr>
          <a:xfrm flipH="1">
            <a:off x="8258175" y="835525"/>
            <a:ext cx="35043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highlight>
                  <a:srgbClr val="FFFF00"/>
                </a:highlight>
              </a:rPr>
              <a:t>출원</a:t>
            </a:r>
            <a:r>
              <a:rPr lang="en-US" altLang="ko-KR" sz="1400" dirty="0">
                <a:highlight>
                  <a:srgbClr val="FFFF00"/>
                </a:highlight>
              </a:rPr>
              <a:t>(Y)</a:t>
            </a:r>
            <a:r>
              <a:rPr lang="ko-KR" altLang="en-US" sz="1400" dirty="0">
                <a:highlight>
                  <a:srgbClr val="FFFF00"/>
                </a:highlight>
              </a:rPr>
              <a:t>는 출원</a:t>
            </a:r>
            <a:r>
              <a:rPr lang="en-US" altLang="ko-KR" sz="1400" dirty="0">
                <a:highlight>
                  <a:srgbClr val="FFFF00"/>
                </a:highlight>
              </a:rPr>
              <a:t>(X)</a:t>
            </a:r>
            <a:r>
              <a:rPr lang="ko-KR" altLang="en-US" sz="1400" dirty="0">
                <a:highlight>
                  <a:srgbClr val="FFFF00"/>
                </a:highlight>
              </a:rPr>
              <a:t>한 때에 출원한 것으로 본다</a:t>
            </a:r>
            <a:r>
              <a:rPr lang="en-US" altLang="ko-KR" sz="1400" dirty="0">
                <a:highlight>
                  <a:srgbClr val="FFFF00"/>
                </a:highlight>
              </a:rPr>
              <a:t>.</a:t>
            </a:r>
            <a:endParaRPr lang="ko-KR" altLang="en-US" sz="1400" dirty="0"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39A5DC-DB86-B459-F820-32DB9ED035C0}"/>
              </a:ext>
            </a:extLst>
          </p:cNvPr>
          <p:cNvSpPr txBox="1"/>
          <p:nvPr/>
        </p:nvSpPr>
        <p:spPr>
          <a:xfrm flipH="1">
            <a:off x="8258175" y="3588010"/>
            <a:ext cx="35043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highlight>
                  <a:srgbClr val="FFFF00"/>
                </a:highlight>
              </a:rPr>
              <a:t>OO</a:t>
            </a:r>
            <a:r>
              <a:rPr lang="ko-KR" altLang="en-US" sz="1400" dirty="0">
                <a:highlight>
                  <a:srgbClr val="FFFF00"/>
                </a:highlight>
              </a:rPr>
              <a:t> 규정을 적용할 때 출원</a:t>
            </a:r>
            <a:r>
              <a:rPr lang="en-US" altLang="ko-KR" sz="1400" dirty="0">
                <a:highlight>
                  <a:srgbClr val="FFFF00"/>
                </a:highlight>
              </a:rPr>
              <a:t>(Y)</a:t>
            </a:r>
            <a:r>
              <a:rPr lang="ko-KR" altLang="en-US" sz="1400" dirty="0">
                <a:highlight>
                  <a:srgbClr val="FFFF00"/>
                </a:highlight>
              </a:rPr>
              <a:t>는 출원</a:t>
            </a:r>
            <a:r>
              <a:rPr lang="en-US" altLang="ko-KR" sz="1400" dirty="0">
                <a:highlight>
                  <a:srgbClr val="FFFF00"/>
                </a:highlight>
              </a:rPr>
              <a:t>(X)</a:t>
            </a:r>
            <a:r>
              <a:rPr lang="ko-KR" altLang="en-US" sz="1400" dirty="0">
                <a:highlight>
                  <a:srgbClr val="FFFF00"/>
                </a:highlight>
              </a:rPr>
              <a:t>한 때에 출원한 것으로 본다</a:t>
            </a:r>
            <a:r>
              <a:rPr lang="en-US" altLang="ko-KR" sz="1400" dirty="0">
                <a:highlight>
                  <a:srgbClr val="FFFF00"/>
                </a:highlight>
              </a:rPr>
              <a:t>.</a:t>
            </a:r>
            <a:endParaRPr lang="ko-KR" altLang="en-US" sz="1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4471118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54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독립성과 </a:t>
            </a:r>
            <a:r>
              <a:rPr lang="ko-KR" altLang="en-US" dirty="0" err="1"/>
              <a:t>부속성</a:t>
            </a:r>
            <a:endParaRPr lang="ko-KR" alt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77875" y="986046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우선권은 최초 출원행위로부터 발생되지만 </a:t>
            </a:r>
            <a:r>
              <a:rPr lang="ko-KR" altLang="en-US" sz="1400" dirty="0">
                <a:highlight>
                  <a:srgbClr val="FFFF00"/>
                </a:highlight>
              </a:rPr>
              <a:t>그 발생과 함께 그 </a:t>
            </a:r>
            <a:r>
              <a:rPr lang="ko-KR" altLang="en-US" sz="1400" dirty="0" err="1">
                <a:highlight>
                  <a:srgbClr val="FFFF00"/>
                </a:highlight>
              </a:rPr>
              <a:t>최초출원으로부터</a:t>
            </a:r>
            <a:r>
              <a:rPr lang="ko-KR" altLang="en-US" sz="1400" dirty="0">
                <a:highlight>
                  <a:srgbClr val="FFFF00"/>
                </a:highlight>
              </a:rPr>
              <a:t> 분리되어 독립적</a:t>
            </a:r>
            <a:r>
              <a:rPr lang="ko-KR" altLang="en-US" sz="1400" dirty="0">
                <a:solidFill>
                  <a:schemeClr val="tx2"/>
                </a:solidFill>
              </a:rPr>
              <a:t>이 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이를 우선권의 「</a:t>
            </a:r>
            <a:r>
              <a:rPr lang="ko-KR" altLang="en-US" sz="1400" dirty="0" err="1">
                <a:solidFill>
                  <a:schemeClr val="tx2"/>
                </a:solidFill>
              </a:rPr>
              <a:t>독립성」이라</a:t>
            </a:r>
            <a:r>
              <a:rPr lang="ko-KR" altLang="en-US" sz="1400" dirty="0">
                <a:solidFill>
                  <a:schemeClr val="tx2"/>
                </a:solidFill>
              </a:rPr>
              <a:t> 하는데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이러한 독립성 때문에 </a:t>
            </a:r>
            <a:r>
              <a:rPr lang="ko-KR" altLang="en-US" sz="1400" dirty="0">
                <a:highlight>
                  <a:srgbClr val="FFFF00"/>
                </a:highlight>
              </a:rPr>
              <a:t>우선권만의 양도가 가능</a:t>
            </a:r>
            <a:r>
              <a:rPr lang="ko-KR" altLang="en-US" sz="1400" dirty="0">
                <a:solidFill>
                  <a:schemeClr val="tx2"/>
                </a:solidFill>
              </a:rPr>
              <a:t>하므로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국 출원의 승계인은 우선권을 별도로 승계하여야 우선권주장출원을 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또한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우선권의 독립성으로 말미암아 </a:t>
            </a:r>
            <a:r>
              <a:rPr lang="ko-KR" altLang="en-US" sz="1400" dirty="0">
                <a:highlight>
                  <a:srgbClr val="FFFF00"/>
                </a:highlight>
              </a:rPr>
              <a:t>제</a:t>
            </a:r>
            <a:r>
              <a:rPr lang="en-US" altLang="ko-KR" sz="1400" dirty="0">
                <a:highlight>
                  <a:srgbClr val="FFFF00"/>
                </a:highlight>
              </a:rPr>
              <a:t>1</a:t>
            </a:r>
            <a:r>
              <a:rPr lang="ko-KR" altLang="en-US" sz="1400" dirty="0">
                <a:highlight>
                  <a:srgbClr val="FFFF00"/>
                </a:highlight>
              </a:rPr>
              <a:t>국 출원은 정규성만 인정</a:t>
            </a:r>
            <a:r>
              <a:rPr lang="ko-KR" altLang="en-US" sz="1400" dirty="0">
                <a:solidFill>
                  <a:schemeClr val="tx2"/>
                </a:solidFill>
              </a:rPr>
              <a:t>되면 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우선권은 동맹국의 최초 </a:t>
            </a:r>
            <a:r>
              <a:rPr lang="ko-KR" altLang="en-US" sz="1400" dirty="0" err="1">
                <a:solidFill>
                  <a:schemeClr val="tx2"/>
                </a:solidFill>
              </a:rPr>
              <a:t>정규출원으로부터</a:t>
            </a:r>
            <a:r>
              <a:rPr lang="ko-KR" altLang="en-US" sz="1400" dirty="0">
                <a:solidFill>
                  <a:schemeClr val="tx2"/>
                </a:solidFill>
              </a:rPr>
              <a:t> 독립된 것이라고 하더라도 그 독립성은 어디까지나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국 출원의 기초로서 사용될 때까지 성립되는 것이다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따라서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국 출원의 기초로서 일단 행사된 때에는 독립성을 잃는 것이며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그 후에는 제</a:t>
            </a:r>
            <a:r>
              <a:rPr lang="en-US" altLang="ko-KR" sz="1400" dirty="0">
                <a:highlight>
                  <a:srgbClr val="FFFF00"/>
                </a:highlight>
              </a:rPr>
              <a:t>2</a:t>
            </a:r>
            <a:r>
              <a:rPr lang="ko-KR" altLang="en-US" sz="1400" dirty="0">
                <a:highlight>
                  <a:srgbClr val="FFFF00"/>
                </a:highlight>
              </a:rPr>
              <a:t>국 출원의 부속물로서 제</a:t>
            </a:r>
            <a:r>
              <a:rPr lang="en-US" altLang="ko-KR" sz="1400" dirty="0">
                <a:highlight>
                  <a:srgbClr val="FFFF00"/>
                </a:highlight>
              </a:rPr>
              <a:t>2</a:t>
            </a:r>
            <a:r>
              <a:rPr lang="ko-KR" altLang="en-US" sz="1400" dirty="0">
                <a:highlight>
                  <a:srgbClr val="FFFF00"/>
                </a:highlight>
              </a:rPr>
              <a:t>국 </a:t>
            </a:r>
            <a:r>
              <a:rPr lang="ko-KR" altLang="en-US" sz="1400" dirty="0" err="1">
                <a:highlight>
                  <a:srgbClr val="FFFF00"/>
                </a:highlight>
              </a:rPr>
              <a:t>출원국의</a:t>
            </a:r>
            <a:r>
              <a:rPr lang="ko-KR" altLang="en-US" sz="1400" dirty="0">
                <a:highlight>
                  <a:srgbClr val="FFFF00"/>
                </a:highlight>
              </a:rPr>
              <a:t> 특허법에서의 출원과 그 운명을 함께</a:t>
            </a:r>
            <a:r>
              <a:rPr lang="ko-KR" altLang="en-US" sz="1400" dirty="0">
                <a:solidFill>
                  <a:schemeClr val="tx2"/>
                </a:solidFill>
              </a:rPr>
              <a:t>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이를 우선권의 「</a:t>
            </a:r>
            <a:r>
              <a:rPr lang="ko-KR" altLang="en-US" sz="1400" dirty="0" err="1">
                <a:solidFill>
                  <a:schemeClr val="tx2"/>
                </a:solidFill>
              </a:rPr>
              <a:t>부속성」이라고</a:t>
            </a:r>
            <a:r>
              <a:rPr lang="ko-KR" altLang="en-US" sz="1400" dirty="0">
                <a:solidFill>
                  <a:schemeClr val="tx2"/>
                </a:solidFill>
              </a:rPr>
              <a:t>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34" name="직선 연결선 33"/>
          <p:cNvCxnSpPr/>
          <p:nvPr/>
        </p:nvCxnSpPr>
        <p:spPr>
          <a:xfrm>
            <a:off x="0" y="2151966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/>
          <p:cNvCxnSpPr/>
          <p:nvPr/>
        </p:nvCxnSpPr>
        <p:spPr>
          <a:xfrm>
            <a:off x="2162175" y="5397272"/>
            <a:ext cx="855345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/>
          <p:cNvSpPr/>
          <p:nvPr/>
        </p:nvSpPr>
        <p:spPr>
          <a:xfrm>
            <a:off x="2149544" y="4507549"/>
            <a:ext cx="1514475" cy="2835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 甲 </a:t>
            </a:r>
            <a:r>
              <a:rPr lang="ko-KR" altLang="en-US" sz="1400" dirty="0" err="1">
                <a:solidFill>
                  <a:schemeClr val="tx1"/>
                </a:solidFill>
              </a:rPr>
              <a:t>일본출원</a:t>
            </a:r>
            <a:r>
              <a:rPr lang="en-US" altLang="ko-KR" sz="1400" dirty="0">
                <a:solidFill>
                  <a:schemeClr val="tx1"/>
                </a:solidFill>
              </a:rPr>
              <a:t>(X)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9045644" y="4507549"/>
            <a:ext cx="1514475" cy="2835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乙 </a:t>
            </a:r>
            <a:r>
              <a:rPr lang="ko-KR" altLang="en-US" sz="1400" dirty="0" err="1">
                <a:solidFill>
                  <a:schemeClr val="tx1"/>
                </a:solidFill>
              </a:rPr>
              <a:t>한국출원</a:t>
            </a:r>
            <a:r>
              <a:rPr lang="en-US" altLang="ko-KR" sz="1400" dirty="0">
                <a:solidFill>
                  <a:schemeClr val="tx1"/>
                </a:solidFill>
              </a:rPr>
              <a:t>(Y)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2149544" y="3346972"/>
            <a:ext cx="1514475" cy="2835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 甲 우선권</a:t>
            </a:r>
          </a:p>
        </p:txBody>
      </p:sp>
      <p:sp>
        <p:nvSpPr>
          <p:cNvPr id="128" name="직사각형 127"/>
          <p:cNvSpPr/>
          <p:nvPr/>
        </p:nvSpPr>
        <p:spPr>
          <a:xfrm>
            <a:off x="4264094" y="4507549"/>
            <a:ext cx="1514475" cy="2835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 甲 출원 취하</a:t>
            </a:r>
            <a:r>
              <a:rPr lang="en-US" altLang="ko-KR" sz="1400" dirty="0">
                <a:solidFill>
                  <a:schemeClr val="tx1"/>
                </a:solidFill>
              </a:rPr>
              <a:t>(X)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6340544" y="3346972"/>
            <a:ext cx="1514475" cy="2835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 乙 우선권</a:t>
            </a:r>
          </a:p>
        </p:txBody>
      </p:sp>
      <p:sp>
        <p:nvSpPr>
          <p:cNvPr id="130" name="직사각형 129"/>
          <p:cNvSpPr/>
          <p:nvPr/>
        </p:nvSpPr>
        <p:spPr>
          <a:xfrm>
            <a:off x="9045643" y="4223419"/>
            <a:ext cx="1514475" cy="2835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우선권</a:t>
            </a:r>
          </a:p>
        </p:txBody>
      </p:sp>
      <p:cxnSp>
        <p:nvCxnSpPr>
          <p:cNvPr id="131" name="직선 연결선 130"/>
          <p:cNvCxnSpPr>
            <a:stCxn id="88" idx="2"/>
            <a:endCxn id="132" idx="4"/>
          </p:cNvCxnSpPr>
          <p:nvPr/>
        </p:nvCxnSpPr>
        <p:spPr>
          <a:xfrm>
            <a:off x="2906782" y="4791075"/>
            <a:ext cx="2114" cy="5319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ctangle 14"/>
          <p:cNvSpPr>
            <a:spLocks noChangeArrowheads="1"/>
          </p:cNvSpPr>
          <p:nvPr/>
        </p:nvSpPr>
        <p:spPr bwMode="auto">
          <a:xfrm flipV="1">
            <a:off x="2836467" y="5323046"/>
            <a:ext cx="144858" cy="152080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33" name="직선 연결선 132"/>
          <p:cNvCxnSpPr>
            <a:stCxn id="128" idx="2"/>
            <a:endCxn id="134" idx="4"/>
          </p:cNvCxnSpPr>
          <p:nvPr/>
        </p:nvCxnSpPr>
        <p:spPr>
          <a:xfrm>
            <a:off x="5021332" y="4791075"/>
            <a:ext cx="2114" cy="5319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ectangle 14"/>
          <p:cNvSpPr>
            <a:spLocks noChangeArrowheads="1"/>
          </p:cNvSpPr>
          <p:nvPr/>
        </p:nvSpPr>
        <p:spPr bwMode="auto">
          <a:xfrm flipV="1">
            <a:off x="4951017" y="5323046"/>
            <a:ext cx="144858" cy="152080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35" name="직선 연결선 134"/>
          <p:cNvCxnSpPr>
            <a:cxnSpLocks/>
            <a:stCxn id="126" idx="2"/>
            <a:endCxn id="136" idx="4"/>
          </p:cNvCxnSpPr>
          <p:nvPr/>
        </p:nvCxnSpPr>
        <p:spPr>
          <a:xfrm>
            <a:off x="9802882" y="4791075"/>
            <a:ext cx="2114" cy="5319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ectangle 14"/>
          <p:cNvSpPr>
            <a:spLocks noChangeArrowheads="1"/>
          </p:cNvSpPr>
          <p:nvPr/>
        </p:nvSpPr>
        <p:spPr bwMode="auto">
          <a:xfrm flipV="1">
            <a:off x="9732567" y="5323046"/>
            <a:ext cx="144858" cy="152080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37" name="직선 연결선 136"/>
          <p:cNvCxnSpPr>
            <a:stCxn id="129" idx="2"/>
            <a:endCxn id="138" idx="4"/>
          </p:cNvCxnSpPr>
          <p:nvPr/>
        </p:nvCxnSpPr>
        <p:spPr>
          <a:xfrm>
            <a:off x="7097782" y="3630498"/>
            <a:ext cx="1657" cy="169254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Rectangle 14"/>
          <p:cNvSpPr>
            <a:spLocks noChangeArrowheads="1"/>
          </p:cNvSpPr>
          <p:nvPr/>
        </p:nvSpPr>
        <p:spPr bwMode="auto">
          <a:xfrm flipV="1">
            <a:off x="7027010" y="5323046"/>
            <a:ext cx="144858" cy="152080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4" name="직선 연결선 13"/>
          <p:cNvCxnSpPr>
            <a:endCxn id="127" idx="2"/>
          </p:cNvCxnSpPr>
          <p:nvPr/>
        </p:nvCxnSpPr>
        <p:spPr>
          <a:xfrm flipV="1">
            <a:off x="2906782" y="3630498"/>
            <a:ext cx="0" cy="876447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/>
          <p:cNvCxnSpPr>
            <a:stCxn id="127" idx="3"/>
            <a:endCxn id="129" idx="1"/>
          </p:cNvCxnSpPr>
          <p:nvPr/>
        </p:nvCxnSpPr>
        <p:spPr>
          <a:xfrm>
            <a:off x="3664019" y="3488735"/>
            <a:ext cx="2676525" cy="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stCxn id="129" idx="3"/>
            <a:endCxn id="130" idx="1"/>
          </p:cNvCxnSpPr>
          <p:nvPr/>
        </p:nvCxnSpPr>
        <p:spPr>
          <a:xfrm>
            <a:off x="7855019" y="3488735"/>
            <a:ext cx="1190624" cy="876447"/>
          </a:xfrm>
          <a:prstGeom prst="bentConnector3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1690344" y="3999416"/>
            <a:ext cx="14437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>
                <a:solidFill>
                  <a:srgbClr val="FF0000"/>
                </a:solidFill>
              </a:rPr>
              <a:t>발생 및 분리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4334827" y="3150181"/>
            <a:ext cx="14437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FF0000"/>
                </a:solidFill>
              </a:rPr>
              <a:t>양도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473916" y="3709191"/>
            <a:ext cx="14437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결합</a:t>
            </a:r>
          </a:p>
        </p:txBody>
      </p:sp>
      <p:sp>
        <p:nvSpPr>
          <p:cNvPr id="21" name="모서리가 둥근 사각형 설명선 20"/>
          <p:cNvSpPr/>
          <p:nvPr/>
        </p:nvSpPr>
        <p:spPr>
          <a:xfrm>
            <a:off x="962028" y="3488735"/>
            <a:ext cx="878068" cy="388954"/>
          </a:xfrm>
          <a:prstGeom prst="wedgeRoundRectCallout">
            <a:avLst>
              <a:gd name="adj1" fmla="val 40999"/>
              <a:gd name="adj2" fmla="val 91886"/>
              <a:gd name="adj3" fmla="val 16667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독립성</a:t>
            </a:r>
          </a:p>
        </p:txBody>
      </p:sp>
      <p:sp>
        <p:nvSpPr>
          <p:cNvPr id="143" name="모서리가 둥근 사각형 설명선 142"/>
          <p:cNvSpPr/>
          <p:nvPr/>
        </p:nvSpPr>
        <p:spPr>
          <a:xfrm>
            <a:off x="9091500" y="3302289"/>
            <a:ext cx="878068" cy="388954"/>
          </a:xfrm>
          <a:prstGeom prst="wedgeRoundRectCallout">
            <a:avLst>
              <a:gd name="adj1" fmla="val -54461"/>
              <a:gd name="adj2" fmla="val 104130"/>
              <a:gd name="adj3" fmla="val 16667"/>
            </a:avLst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부속성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633976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62E0B4F3-8367-44B0-96D6-6EB81066D126}"/>
              </a:ext>
            </a:extLst>
          </p:cNvPr>
          <p:cNvCxnSpPr/>
          <p:nvPr/>
        </p:nvCxnSpPr>
        <p:spPr>
          <a:xfrm>
            <a:off x="9647014" y="3331778"/>
            <a:ext cx="0" cy="311106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3A58AA3-DAD9-43B9-96AB-175A24A72887}"/>
              </a:ext>
            </a:extLst>
          </p:cNvPr>
          <p:cNvCxnSpPr/>
          <p:nvPr/>
        </p:nvCxnSpPr>
        <p:spPr>
          <a:xfrm>
            <a:off x="5567309" y="3331778"/>
            <a:ext cx="0" cy="311106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54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최선성의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44250" y="3175"/>
            <a:ext cx="1047750" cy="7143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216</a:t>
            </a:fld>
            <a:endParaRPr lang="ko-KR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77875" y="1353597"/>
            <a:ext cx="1193632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조약에 의한 우선권 주장을 인정받기 위해서는 ①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국 출원이 정규의 최초의 출원이어야 할 것</a:t>
            </a:r>
            <a:r>
              <a:rPr lang="en-US" altLang="ko-KR" sz="1400" dirty="0">
                <a:solidFill>
                  <a:schemeClr val="tx2"/>
                </a:solidFill>
              </a:rPr>
              <a:t>, ②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국 출원과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국 출원이 동일한 발명이어야 할 것</a:t>
            </a:r>
            <a:r>
              <a:rPr lang="en-US" altLang="ko-KR" sz="1400" dirty="0">
                <a:solidFill>
                  <a:schemeClr val="tx2"/>
                </a:solidFill>
              </a:rPr>
              <a:t>, ③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국 출원이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국 출원일로부터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이내에 이루어져야 할 것 등의 요건을 모두 충족시켜야 하므로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조약에 의한 우선권 주장을 수반하는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국 출원일 경우에도 그 우선권 주장의 기초가 되는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국 출원이 최초의 출원이 아니거나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즉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국 출원이 이미 또 다른 당사국에 한 전출원을 기초로 하여 우선권을 주장하여 출원된 것이고</a:t>
            </a:r>
            <a:r>
              <a:rPr lang="en-US" altLang="ko-KR" sz="1400" dirty="0">
                <a:solidFill>
                  <a:schemeClr val="tx2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그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국 출원이 전출원일로부터 우선권 기간</a:t>
            </a:r>
            <a:r>
              <a:rPr lang="en-US" altLang="ko-KR" sz="1400" dirty="0">
                <a:solidFill>
                  <a:schemeClr val="tx2"/>
                </a:solidFill>
              </a:rPr>
              <a:t>(1</a:t>
            </a:r>
            <a:r>
              <a:rPr lang="ko-KR" altLang="en-US" sz="1400" dirty="0">
                <a:solidFill>
                  <a:schemeClr val="tx2"/>
                </a:solidFill>
              </a:rPr>
              <a:t>년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을 지나서 이루어진 경우에는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국 출원에 기재된 발명 중에 전출원과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국 출원의 명세서에 공통으로 포함된 발명에 대해서는 그 우선권 주장이 인정되지 아니한데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이는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국 출원이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국 출원의 우선권 주장의 기초가 되었던 전출원에 기재되었던 발명에 대해서 중복하여 우선권이 허용되는 경우에는 실질적으로 우선권 기간이 연장되는 결과를 초래하는 것이므로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이와 같은 경우에는 우선일의 소급 효과를 인정하지 않고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국 출원에서 새로이 추가된 발명에 대해서만 우선권 주장의 효과를 인정할 수 있는 것이다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따라서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국 출원의 우선권 주장이 인정받지 못하고 그 우선권 주장의 기초가 된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국 출원이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국 출원일 이전에 공개되었을 경우에는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국 출원은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국 출원에 기재된 내용에 의하여 신규성을 상실하게 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34" name="직선 연결선 33"/>
          <p:cNvCxnSpPr/>
          <p:nvPr/>
        </p:nvCxnSpPr>
        <p:spPr>
          <a:xfrm>
            <a:off x="0" y="3193101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8C4ECADA-C533-4995-AAB9-9B38C46E4393}"/>
              </a:ext>
            </a:extLst>
          </p:cNvPr>
          <p:cNvCxnSpPr/>
          <p:nvPr/>
        </p:nvCxnSpPr>
        <p:spPr>
          <a:xfrm>
            <a:off x="389467" y="4340107"/>
            <a:ext cx="11438466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14">
            <a:extLst>
              <a:ext uri="{FF2B5EF4-FFF2-40B4-BE49-F238E27FC236}">
                <a16:creationId xmlns:a16="http://schemas.microsoft.com/office/drawing/2014/main" id="{EAB26AF4-EA50-4806-A044-DF568ACC285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574939" y="4270254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2" name="Rectangle 14">
            <a:extLst>
              <a:ext uri="{FF2B5EF4-FFF2-40B4-BE49-F238E27FC236}">
                <a16:creationId xmlns:a16="http://schemas.microsoft.com/office/drawing/2014/main" id="{A7D4ED4E-FC77-4EEA-874C-CBFEF64D9F3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495234" y="4270254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5" name="Rectangle 14">
            <a:extLst>
              <a:ext uri="{FF2B5EF4-FFF2-40B4-BE49-F238E27FC236}">
                <a16:creationId xmlns:a16="http://schemas.microsoft.com/office/drawing/2014/main" id="{28A4799C-8251-42B8-8FE2-2EE574A69D3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581194" y="4270254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9C4E038-F036-456C-92AE-81FEA1373D01}"/>
              </a:ext>
            </a:extLst>
          </p:cNvPr>
          <p:cNvSpPr/>
          <p:nvPr/>
        </p:nvSpPr>
        <p:spPr>
          <a:xfrm>
            <a:off x="2097719" y="4709250"/>
            <a:ext cx="1111100" cy="202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일본출원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3A61CA7-940B-444A-A7B6-3E85079E1F0C}"/>
              </a:ext>
            </a:extLst>
          </p:cNvPr>
          <p:cNvSpPr/>
          <p:nvPr/>
        </p:nvSpPr>
        <p:spPr>
          <a:xfrm>
            <a:off x="5011759" y="4709250"/>
            <a:ext cx="1111100" cy="202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미국출원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96EC2C4-A866-409B-9B40-5357E499C1A0}"/>
              </a:ext>
            </a:extLst>
          </p:cNvPr>
          <p:cNvSpPr/>
          <p:nvPr/>
        </p:nvSpPr>
        <p:spPr>
          <a:xfrm>
            <a:off x="9091464" y="4709250"/>
            <a:ext cx="1111100" cy="202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0DD278F-4EBC-4871-9837-C3B1EAB9429E}"/>
              </a:ext>
            </a:extLst>
          </p:cNvPr>
          <p:cNvSpPr/>
          <p:nvPr/>
        </p:nvSpPr>
        <p:spPr>
          <a:xfrm>
            <a:off x="9091464" y="4911472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6B00475-6A45-48C1-B071-71AD5A7C8707}"/>
              </a:ext>
            </a:extLst>
          </p:cNvPr>
          <p:cNvSpPr/>
          <p:nvPr/>
        </p:nvSpPr>
        <p:spPr>
          <a:xfrm>
            <a:off x="5011759" y="4901750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47E4133C-7188-41C4-A6A8-5EE224F9B00F}"/>
              </a:ext>
            </a:extLst>
          </p:cNvPr>
          <p:cNvCxnSpPr>
            <a:stCxn id="36" idx="0"/>
          </p:cNvCxnSpPr>
          <p:nvPr/>
        </p:nvCxnSpPr>
        <p:spPr>
          <a:xfrm flipV="1">
            <a:off x="2653269" y="4487739"/>
            <a:ext cx="0" cy="22151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4C05809E-F8E4-4DF5-8E5C-34695C06D479}"/>
              </a:ext>
            </a:extLst>
          </p:cNvPr>
          <p:cNvCxnSpPr>
            <a:stCxn id="37" idx="0"/>
            <a:endCxn id="32" idx="0"/>
          </p:cNvCxnSpPr>
          <p:nvPr/>
        </p:nvCxnSpPr>
        <p:spPr>
          <a:xfrm flipV="1">
            <a:off x="5567309" y="4409959"/>
            <a:ext cx="0" cy="2992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661FB884-A8B7-489E-ADE3-6073A24AA5E7}"/>
              </a:ext>
            </a:extLst>
          </p:cNvPr>
          <p:cNvCxnSpPr>
            <a:stCxn id="38" idx="0"/>
            <a:endCxn id="31" idx="0"/>
          </p:cNvCxnSpPr>
          <p:nvPr/>
        </p:nvCxnSpPr>
        <p:spPr>
          <a:xfrm flipV="1">
            <a:off x="9647014" y="4409959"/>
            <a:ext cx="0" cy="2992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60E9862-A3BE-46A9-890A-88A2C6ABE57E}"/>
              </a:ext>
            </a:extLst>
          </p:cNvPr>
          <p:cNvSpPr/>
          <p:nvPr/>
        </p:nvSpPr>
        <p:spPr>
          <a:xfrm>
            <a:off x="2097720" y="3752794"/>
            <a:ext cx="1111099" cy="21224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24AA4E7-38C8-4C32-9BFA-AB0AACD1C76A}"/>
              </a:ext>
            </a:extLst>
          </p:cNvPr>
          <p:cNvSpPr/>
          <p:nvPr/>
        </p:nvSpPr>
        <p:spPr>
          <a:xfrm>
            <a:off x="2097720" y="3965034"/>
            <a:ext cx="1111099" cy="2122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0359EB0-1DC9-4362-A40D-14F330F04340}"/>
              </a:ext>
            </a:extLst>
          </p:cNvPr>
          <p:cNvSpPr/>
          <p:nvPr/>
        </p:nvSpPr>
        <p:spPr>
          <a:xfrm>
            <a:off x="5011759" y="3752794"/>
            <a:ext cx="1111923" cy="21224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3F2A000-B709-4EB8-A7CE-DC8A8CB55B78}"/>
              </a:ext>
            </a:extLst>
          </p:cNvPr>
          <p:cNvSpPr/>
          <p:nvPr/>
        </p:nvSpPr>
        <p:spPr>
          <a:xfrm>
            <a:off x="5011759" y="3965034"/>
            <a:ext cx="1111923" cy="2122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EB0A1E4-8F13-4306-9865-D0E3D4C6A1F5}"/>
              </a:ext>
            </a:extLst>
          </p:cNvPr>
          <p:cNvSpPr/>
          <p:nvPr/>
        </p:nvSpPr>
        <p:spPr>
          <a:xfrm>
            <a:off x="9091464" y="3752794"/>
            <a:ext cx="1111100" cy="21224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E802863-405F-4BCD-9B7C-CB7E07A8BEAB}"/>
              </a:ext>
            </a:extLst>
          </p:cNvPr>
          <p:cNvSpPr/>
          <p:nvPr/>
        </p:nvSpPr>
        <p:spPr>
          <a:xfrm>
            <a:off x="9091464" y="3965034"/>
            <a:ext cx="1111100" cy="2122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4AC0AD20-0367-4A1D-B3EB-A9182FE36658}"/>
              </a:ext>
            </a:extLst>
          </p:cNvPr>
          <p:cNvCxnSpPr>
            <a:stCxn id="45" idx="3"/>
            <a:endCxn id="47" idx="1"/>
          </p:cNvCxnSpPr>
          <p:nvPr/>
        </p:nvCxnSpPr>
        <p:spPr>
          <a:xfrm>
            <a:off x="3208819" y="4071154"/>
            <a:ext cx="1802940" cy="0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04BCA16E-7E88-4F4F-8BF7-979ADEEBCB69}"/>
              </a:ext>
            </a:extLst>
          </p:cNvPr>
          <p:cNvCxnSpPr>
            <a:stCxn id="47" idx="3"/>
            <a:endCxn id="48" idx="1"/>
          </p:cNvCxnSpPr>
          <p:nvPr/>
        </p:nvCxnSpPr>
        <p:spPr>
          <a:xfrm flipV="1">
            <a:off x="6123682" y="3858914"/>
            <a:ext cx="2967782" cy="212240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14">
            <a:extLst>
              <a:ext uri="{FF2B5EF4-FFF2-40B4-BE49-F238E27FC236}">
                <a16:creationId xmlns:a16="http://schemas.microsoft.com/office/drawing/2014/main" id="{0D533E02-967A-42F6-88D2-199ECBBEBD6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450254" y="4270254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25F0B35-12E7-4E21-8A54-3AAF0152594D}"/>
              </a:ext>
            </a:extLst>
          </p:cNvPr>
          <p:cNvSpPr/>
          <p:nvPr/>
        </p:nvSpPr>
        <p:spPr>
          <a:xfrm>
            <a:off x="6966779" y="4709250"/>
            <a:ext cx="1111100" cy="202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공개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88539653-44FD-4673-ABB0-7C1F7095F3A9}"/>
              </a:ext>
            </a:extLst>
          </p:cNvPr>
          <p:cNvCxnSpPr>
            <a:stCxn id="54" idx="0"/>
            <a:endCxn id="53" idx="0"/>
          </p:cNvCxnSpPr>
          <p:nvPr/>
        </p:nvCxnSpPr>
        <p:spPr>
          <a:xfrm flipV="1">
            <a:off x="7522329" y="4409959"/>
            <a:ext cx="0" cy="2992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DC8772E-AE3B-4424-9D63-C0436C54781B}"/>
              </a:ext>
            </a:extLst>
          </p:cNvPr>
          <p:cNvSpPr/>
          <p:nvPr/>
        </p:nvSpPr>
        <p:spPr>
          <a:xfrm>
            <a:off x="6966779" y="4916189"/>
            <a:ext cx="1111100" cy="202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공개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3229AD-7850-4BB7-9B91-E3E91124703F}"/>
              </a:ext>
            </a:extLst>
          </p:cNvPr>
          <p:cNvSpPr txBox="1"/>
          <p:nvPr/>
        </p:nvSpPr>
        <p:spPr>
          <a:xfrm>
            <a:off x="5191244" y="5662844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Z</a:t>
            </a:r>
            <a:r>
              <a:rPr lang="ko-KR" altLang="en-US" dirty="0">
                <a:solidFill>
                  <a:srgbClr val="FF0000"/>
                </a:solidFill>
              </a:rPr>
              <a:t>의 </a:t>
            </a:r>
            <a:r>
              <a:rPr lang="en-US" altLang="ko-KR" dirty="0">
                <a:solidFill>
                  <a:srgbClr val="FF0000"/>
                </a:solidFill>
              </a:rPr>
              <a:t>B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C55E919-B392-4177-BBF6-75C769EAB1CF}"/>
              </a:ext>
            </a:extLst>
          </p:cNvPr>
          <p:cNvSpPr txBox="1"/>
          <p:nvPr/>
        </p:nvSpPr>
        <p:spPr>
          <a:xfrm>
            <a:off x="9211698" y="5662844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Z</a:t>
            </a:r>
            <a:r>
              <a:rPr lang="ko-KR" altLang="en-US" dirty="0">
                <a:solidFill>
                  <a:srgbClr val="FF0000"/>
                </a:solidFill>
              </a:rPr>
              <a:t>의 </a:t>
            </a:r>
            <a:r>
              <a:rPr lang="en-US" altLang="ko-KR" dirty="0">
                <a:solidFill>
                  <a:srgbClr val="FF0000"/>
                </a:solidFill>
              </a:rPr>
              <a:t>A, C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" name="말풍선: 모서리가 둥근 사각형 2">
            <a:extLst>
              <a:ext uri="{FF2B5EF4-FFF2-40B4-BE49-F238E27FC236}">
                <a16:creationId xmlns:a16="http://schemas.microsoft.com/office/drawing/2014/main" id="{616607FB-DB59-52E9-4DCE-AEB2131770E5}"/>
              </a:ext>
            </a:extLst>
          </p:cNvPr>
          <p:cNvSpPr/>
          <p:nvPr/>
        </p:nvSpPr>
        <p:spPr>
          <a:xfrm>
            <a:off x="10305207" y="6032176"/>
            <a:ext cx="1394418" cy="410662"/>
          </a:xfrm>
          <a:prstGeom prst="wedgeRoundRectCallout">
            <a:avLst>
              <a:gd name="adj1" fmla="val -77313"/>
              <a:gd name="adj2" fmla="val -56089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2">
                    <a:lumMod val="50000"/>
                  </a:schemeClr>
                </a:solidFill>
              </a:rPr>
              <a:t>현재 </a:t>
            </a:r>
            <a:r>
              <a:rPr lang="en-US" altLang="ko-KR" sz="1200" dirty="0">
                <a:solidFill>
                  <a:schemeClr val="accent2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accent2">
                    <a:lumMod val="50000"/>
                  </a:schemeClr>
                </a:solidFill>
              </a:rPr>
              <a:t>는 </a:t>
            </a:r>
            <a:endParaRPr lang="en-US" altLang="ko-KR" sz="1200" dirty="0">
              <a:solidFill>
                <a:schemeClr val="accent2">
                  <a:lumMod val="50000"/>
                </a:schemeClr>
              </a:solidFill>
            </a:endParaRPr>
          </a:p>
          <a:p>
            <a:pPr algn="ctr"/>
            <a:r>
              <a:rPr lang="ko-KR" altLang="en-US" sz="1200" dirty="0">
                <a:solidFill>
                  <a:schemeClr val="accent2">
                    <a:lumMod val="50000"/>
                  </a:schemeClr>
                </a:solidFill>
              </a:rPr>
              <a:t>신규성 위반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B196028-4B89-685A-0246-33417B1554D5}"/>
              </a:ext>
            </a:extLst>
          </p:cNvPr>
          <p:cNvSpPr/>
          <p:nvPr/>
        </p:nvSpPr>
        <p:spPr>
          <a:xfrm>
            <a:off x="113937" y="964867"/>
            <a:ext cx="5343012" cy="346234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bIns="0">
            <a:spAutoFit/>
          </a:bodyPr>
          <a:lstStyle/>
          <a:p>
            <a:r>
              <a:rPr lang="ko-KR" altLang="en-US" sz="1600" dirty="0">
                <a:solidFill>
                  <a:schemeClr val="tx2"/>
                </a:solidFill>
              </a:rPr>
              <a:t>특허법원 </a:t>
            </a:r>
            <a:r>
              <a:rPr lang="en-US" altLang="ko-KR" sz="1600" dirty="0">
                <a:solidFill>
                  <a:schemeClr val="tx2"/>
                </a:solidFill>
              </a:rPr>
              <a:t>2006. 2. 9. </a:t>
            </a:r>
            <a:r>
              <a:rPr lang="ko-KR" altLang="en-US" sz="1600" dirty="0">
                <a:solidFill>
                  <a:schemeClr val="tx2"/>
                </a:solidFill>
              </a:rPr>
              <a:t>선고 </a:t>
            </a:r>
            <a:r>
              <a:rPr lang="en-US" altLang="ko-KR" sz="1600" dirty="0">
                <a:solidFill>
                  <a:schemeClr val="tx2"/>
                </a:solidFill>
              </a:rPr>
              <a:t>2004</a:t>
            </a:r>
            <a:r>
              <a:rPr lang="ko-KR" altLang="en-US" sz="1600" dirty="0">
                <a:solidFill>
                  <a:schemeClr val="tx2"/>
                </a:solidFill>
              </a:rPr>
              <a:t>허</a:t>
            </a:r>
            <a:r>
              <a:rPr lang="en-US" altLang="ko-KR" sz="1600" dirty="0">
                <a:solidFill>
                  <a:schemeClr val="tx2"/>
                </a:solidFill>
              </a:rPr>
              <a:t>8749 </a:t>
            </a:r>
            <a:r>
              <a:rPr lang="ko-KR" altLang="en-US" sz="1600" dirty="0">
                <a:solidFill>
                  <a:schemeClr val="tx2"/>
                </a:solidFill>
              </a:rPr>
              <a:t>판결 </a:t>
            </a:r>
            <a:r>
              <a:rPr lang="en-US" altLang="ko-KR" sz="1600" dirty="0">
                <a:solidFill>
                  <a:schemeClr val="tx2"/>
                </a:solidFill>
              </a:rPr>
              <a:t>【</a:t>
            </a:r>
            <a:r>
              <a:rPr lang="ko-KR" altLang="en-US" sz="1600" dirty="0">
                <a:solidFill>
                  <a:schemeClr val="tx2"/>
                </a:solidFill>
              </a:rPr>
              <a:t>등록무효</a:t>
            </a:r>
            <a:r>
              <a:rPr lang="en-US" altLang="ko-KR" sz="1600" dirty="0">
                <a:solidFill>
                  <a:schemeClr val="tx2"/>
                </a:solidFill>
              </a:rPr>
              <a:t>】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26752945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54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시기적 요건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552450" y="4053372"/>
            <a:ext cx="790575" cy="645639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지식</a:t>
            </a:r>
            <a:endParaRPr lang="en-US" altLang="ko-KR" sz="1200" dirty="0"/>
          </a:p>
          <a:p>
            <a:pPr algn="ctr"/>
            <a:r>
              <a:rPr lang="ko-KR" altLang="en-US" sz="1200" dirty="0"/>
              <a:t>재산권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1771651" y="3539021"/>
            <a:ext cx="971550" cy="3228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산업재산권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1771651" y="5337186"/>
            <a:ext cx="971550" cy="3228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저작권</a:t>
            </a:r>
          </a:p>
        </p:txBody>
      </p:sp>
      <p:cxnSp>
        <p:nvCxnSpPr>
          <p:cNvPr id="8" name="꺾인 연결선 7"/>
          <p:cNvCxnSpPr>
            <a:stCxn id="2" idx="3"/>
            <a:endCxn id="30" idx="1"/>
          </p:cNvCxnSpPr>
          <p:nvPr/>
        </p:nvCxnSpPr>
        <p:spPr>
          <a:xfrm flipV="1">
            <a:off x="1343025" y="3700431"/>
            <a:ext cx="428626" cy="67576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꺾인 연결선 9"/>
          <p:cNvCxnSpPr>
            <a:stCxn id="2" idx="3"/>
            <a:endCxn id="31" idx="1"/>
          </p:cNvCxnSpPr>
          <p:nvPr/>
        </p:nvCxnSpPr>
        <p:spPr>
          <a:xfrm>
            <a:off x="1343025" y="4376192"/>
            <a:ext cx="428626" cy="112240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/>
          <p:cNvSpPr/>
          <p:nvPr/>
        </p:nvSpPr>
        <p:spPr>
          <a:xfrm>
            <a:off x="3168650" y="3539021"/>
            <a:ext cx="971550" cy="3228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파리조약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3168650" y="5337186"/>
            <a:ext cx="971550" cy="3228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베른조약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5" name="직선 화살표 연결선 14"/>
          <p:cNvCxnSpPr>
            <a:stCxn id="40" idx="1"/>
            <a:endCxn id="30" idx="3"/>
          </p:cNvCxnSpPr>
          <p:nvPr/>
        </p:nvCxnSpPr>
        <p:spPr>
          <a:xfrm flipH="1">
            <a:off x="2743201" y="3700431"/>
            <a:ext cx="42544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>
            <a:stCxn id="41" idx="1"/>
            <a:endCxn id="31" idx="3"/>
          </p:cNvCxnSpPr>
          <p:nvPr/>
        </p:nvCxnSpPr>
        <p:spPr>
          <a:xfrm flipH="1">
            <a:off x="2743201" y="5498596"/>
            <a:ext cx="42544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4565648" y="3110396"/>
            <a:ext cx="1533525" cy="3228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특허독립의</a:t>
            </a:r>
            <a:r>
              <a:rPr lang="ko-KR" altLang="en-US" sz="1200" dirty="0">
                <a:solidFill>
                  <a:schemeClr val="tx1"/>
                </a:solidFill>
              </a:rPr>
              <a:t> 원칙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4565648" y="3746127"/>
            <a:ext cx="1533525" cy="3228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내외국인 평등의 원칙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4565648" y="4381858"/>
            <a:ext cx="1533525" cy="3228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우선권의 원칙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6413499" y="2989015"/>
            <a:ext cx="1301752" cy="3228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조약당사국 국민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6413499" y="3367571"/>
            <a:ext cx="1301752" cy="3228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준당사국</a:t>
            </a:r>
            <a:r>
              <a:rPr lang="ko-KR" altLang="en-US" sz="1200" dirty="0">
                <a:solidFill>
                  <a:schemeClr val="tx1"/>
                </a:solidFill>
              </a:rPr>
              <a:t> 국민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6413499" y="3746127"/>
            <a:ext cx="1301752" cy="3228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무국적자</a:t>
            </a:r>
          </a:p>
        </p:txBody>
      </p:sp>
      <p:cxnSp>
        <p:nvCxnSpPr>
          <p:cNvPr id="22" name="꺾인 연결선 21"/>
          <p:cNvCxnSpPr>
            <a:stCxn id="40" idx="3"/>
            <a:endCxn id="49" idx="1"/>
          </p:cNvCxnSpPr>
          <p:nvPr/>
        </p:nvCxnSpPr>
        <p:spPr>
          <a:xfrm>
            <a:off x="4140200" y="3700431"/>
            <a:ext cx="425448" cy="84283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stCxn id="40" idx="3"/>
            <a:endCxn id="47" idx="1"/>
          </p:cNvCxnSpPr>
          <p:nvPr/>
        </p:nvCxnSpPr>
        <p:spPr>
          <a:xfrm flipV="1">
            <a:off x="4140200" y="3271806"/>
            <a:ext cx="425448" cy="42862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stCxn id="40" idx="3"/>
            <a:endCxn id="48" idx="1"/>
          </p:cNvCxnSpPr>
          <p:nvPr/>
        </p:nvCxnSpPr>
        <p:spPr>
          <a:xfrm>
            <a:off x="4140200" y="3700431"/>
            <a:ext cx="425448" cy="20710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 27"/>
          <p:cNvCxnSpPr>
            <a:stCxn id="48" idx="3"/>
            <a:endCxn id="50" idx="1"/>
          </p:cNvCxnSpPr>
          <p:nvPr/>
        </p:nvCxnSpPr>
        <p:spPr>
          <a:xfrm flipV="1">
            <a:off x="6099173" y="3150425"/>
            <a:ext cx="314326" cy="75711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꺾인 연결선 31"/>
          <p:cNvCxnSpPr>
            <a:stCxn id="48" idx="3"/>
            <a:endCxn id="51" idx="1"/>
          </p:cNvCxnSpPr>
          <p:nvPr/>
        </p:nvCxnSpPr>
        <p:spPr>
          <a:xfrm flipV="1">
            <a:off x="6099173" y="3528981"/>
            <a:ext cx="314326" cy="37855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꺾인 연결선 35"/>
          <p:cNvCxnSpPr>
            <a:endCxn id="52" idx="1"/>
          </p:cNvCxnSpPr>
          <p:nvPr/>
        </p:nvCxnSpPr>
        <p:spPr>
          <a:xfrm flipV="1">
            <a:off x="6099173" y="3907537"/>
            <a:ext cx="314326" cy="991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/>
          <p:cNvSpPr/>
          <p:nvPr/>
        </p:nvSpPr>
        <p:spPr>
          <a:xfrm>
            <a:off x="6413499" y="4383150"/>
            <a:ext cx="1301752" cy="3228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동종우선권주장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6413499" y="5464112"/>
            <a:ext cx="1301752" cy="3228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이종우선권주장</a:t>
            </a:r>
          </a:p>
        </p:txBody>
      </p:sp>
      <p:cxnSp>
        <p:nvCxnSpPr>
          <p:cNvPr id="73" name="꺾인 연결선 72"/>
          <p:cNvCxnSpPr>
            <a:stCxn id="49" idx="3"/>
            <a:endCxn id="70" idx="1"/>
          </p:cNvCxnSpPr>
          <p:nvPr/>
        </p:nvCxnSpPr>
        <p:spPr>
          <a:xfrm>
            <a:off x="6099173" y="4543268"/>
            <a:ext cx="314326" cy="129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꺾인 연결선 53"/>
          <p:cNvCxnSpPr>
            <a:stCxn id="49" idx="3"/>
            <a:endCxn id="72" idx="1"/>
          </p:cNvCxnSpPr>
          <p:nvPr/>
        </p:nvCxnSpPr>
        <p:spPr>
          <a:xfrm>
            <a:off x="6099173" y="4543268"/>
            <a:ext cx="314326" cy="108225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직사각형 80"/>
          <p:cNvSpPr/>
          <p:nvPr/>
        </p:nvSpPr>
        <p:spPr>
          <a:xfrm>
            <a:off x="8289927" y="3989140"/>
            <a:ext cx="882648" cy="3228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실용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8289927" y="4367696"/>
            <a:ext cx="882648" cy="3228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디자인</a:t>
            </a:r>
          </a:p>
        </p:txBody>
      </p:sp>
      <p:sp>
        <p:nvSpPr>
          <p:cNvPr id="83" name="직사각형 82"/>
          <p:cNvSpPr/>
          <p:nvPr/>
        </p:nvSpPr>
        <p:spPr>
          <a:xfrm>
            <a:off x="8289927" y="4746252"/>
            <a:ext cx="882648" cy="3228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상표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10642602" y="3989140"/>
            <a:ext cx="882648" cy="3228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실용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10642602" y="4367696"/>
            <a:ext cx="882648" cy="3228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디자인</a:t>
            </a:r>
          </a:p>
        </p:txBody>
      </p:sp>
      <p:sp>
        <p:nvSpPr>
          <p:cNvPr id="90" name="직사각형 89"/>
          <p:cNvSpPr/>
          <p:nvPr/>
        </p:nvSpPr>
        <p:spPr>
          <a:xfrm>
            <a:off x="10642602" y="4746252"/>
            <a:ext cx="882648" cy="3228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상표</a:t>
            </a:r>
          </a:p>
        </p:txBody>
      </p:sp>
      <p:sp>
        <p:nvSpPr>
          <p:cNvPr id="91" name="직사각형 90"/>
          <p:cNvSpPr/>
          <p:nvPr/>
        </p:nvSpPr>
        <p:spPr>
          <a:xfrm>
            <a:off x="8289927" y="5454587"/>
            <a:ext cx="882648" cy="3228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실용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8289927" y="5833143"/>
            <a:ext cx="882648" cy="3228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디자인</a:t>
            </a:r>
          </a:p>
        </p:txBody>
      </p:sp>
      <p:sp>
        <p:nvSpPr>
          <p:cNvPr id="93" name="직사각형 92"/>
          <p:cNvSpPr/>
          <p:nvPr/>
        </p:nvSpPr>
        <p:spPr>
          <a:xfrm>
            <a:off x="10642602" y="5464112"/>
            <a:ext cx="882648" cy="3228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디자인</a:t>
            </a:r>
          </a:p>
        </p:txBody>
      </p:sp>
      <p:sp>
        <p:nvSpPr>
          <p:cNvPr id="94" name="직사각형 93"/>
          <p:cNvSpPr/>
          <p:nvPr/>
        </p:nvSpPr>
        <p:spPr>
          <a:xfrm>
            <a:off x="10642602" y="5842668"/>
            <a:ext cx="882648" cy="3228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실용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58" name="꺾인 연결선 57"/>
          <p:cNvCxnSpPr>
            <a:stCxn id="70" idx="3"/>
            <a:endCxn id="81" idx="1"/>
          </p:cNvCxnSpPr>
          <p:nvPr/>
        </p:nvCxnSpPr>
        <p:spPr>
          <a:xfrm flipV="1">
            <a:off x="7715251" y="4150550"/>
            <a:ext cx="574676" cy="39401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꺾인 연결선 61"/>
          <p:cNvCxnSpPr>
            <a:stCxn id="70" idx="3"/>
            <a:endCxn id="82" idx="1"/>
          </p:cNvCxnSpPr>
          <p:nvPr/>
        </p:nvCxnSpPr>
        <p:spPr>
          <a:xfrm flipV="1">
            <a:off x="7715251" y="4529106"/>
            <a:ext cx="574676" cy="1545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70" idx="3"/>
            <a:endCxn id="83" idx="1"/>
          </p:cNvCxnSpPr>
          <p:nvPr/>
        </p:nvCxnSpPr>
        <p:spPr>
          <a:xfrm>
            <a:off x="7715251" y="4544560"/>
            <a:ext cx="574676" cy="36310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65"/>
          <p:cNvCxnSpPr>
            <a:stCxn id="72" idx="3"/>
            <a:endCxn id="91" idx="1"/>
          </p:cNvCxnSpPr>
          <p:nvPr/>
        </p:nvCxnSpPr>
        <p:spPr>
          <a:xfrm flipV="1">
            <a:off x="7715251" y="5615997"/>
            <a:ext cx="574676" cy="952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연결선 67"/>
          <p:cNvCxnSpPr>
            <a:stCxn id="72" idx="3"/>
            <a:endCxn id="92" idx="1"/>
          </p:cNvCxnSpPr>
          <p:nvPr/>
        </p:nvCxnSpPr>
        <p:spPr>
          <a:xfrm>
            <a:off x="7715251" y="5625522"/>
            <a:ext cx="574676" cy="36903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>
            <a:stCxn id="81" idx="3"/>
            <a:endCxn id="87" idx="1"/>
          </p:cNvCxnSpPr>
          <p:nvPr/>
        </p:nvCxnSpPr>
        <p:spPr>
          <a:xfrm>
            <a:off x="9172575" y="4150550"/>
            <a:ext cx="1470027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/>
          <p:cNvCxnSpPr>
            <a:stCxn id="82" idx="3"/>
            <a:endCxn id="89" idx="1"/>
          </p:cNvCxnSpPr>
          <p:nvPr/>
        </p:nvCxnSpPr>
        <p:spPr>
          <a:xfrm>
            <a:off x="9172575" y="4529106"/>
            <a:ext cx="1470027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/>
          <p:cNvCxnSpPr>
            <a:stCxn id="83" idx="3"/>
            <a:endCxn id="90" idx="1"/>
          </p:cNvCxnSpPr>
          <p:nvPr/>
        </p:nvCxnSpPr>
        <p:spPr>
          <a:xfrm>
            <a:off x="9172575" y="4907662"/>
            <a:ext cx="1470027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>
            <a:stCxn id="91" idx="3"/>
            <a:endCxn id="93" idx="1"/>
          </p:cNvCxnSpPr>
          <p:nvPr/>
        </p:nvCxnSpPr>
        <p:spPr>
          <a:xfrm>
            <a:off x="9172575" y="5615997"/>
            <a:ext cx="1470027" cy="952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/>
          <p:cNvCxnSpPr>
            <a:stCxn id="92" idx="3"/>
            <a:endCxn id="94" idx="1"/>
          </p:cNvCxnSpPr>
          <p:nvPr/>
        </p:nvCxnSpPr>
        <p:spPr>
          <a:xfrm>
            <a:off x="9172575" y="5994553"/>
            <a:ext cx="1470027" cy="952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9172575" y="3875355"/>
            <a:ext cx="1443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년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172575" y="4248083"/>
            <a:ext cx="1443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6</a:t>
            </a:r>
            <a:r>
              <a:rPr lang="ko-KR" altLang="en-US" sz="1200" dirty="0">
                <a:solidFill>
                  <a:srgbClr val="FF0000"/>
                </a:solidFill>
              </a:rPr>
              <a:t>개월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172575" y="4627959"/>
            <a:ext cx="1443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6</a:t>
            </a:r>
            <a:r>
              <a:rPr lang="ko-KR" altLang="en-US" sz="1200" dirty="0">
                <a:solidFill>
                  <a:srgbClr val="FF0000"/>
                </a:solidFill>
              </a:rPr>
              <a:t>개월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172575" y="5343952"/>
            <a:ext cx="1443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6</a:t>
            </a:r>
            <a:r>
              <a:rPr lang="ko-KR" altLang="en-US" sz="1200" dirty="0">
                <a:solidFill>
                  <a:srgbClr val="FF0000"/>
                </a:solidFill>
              </a:rPr>
              <a:t>개월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172575" y="5652217"/>
            <a:ext cx="1443742" cy="618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rgbClr val="FF0000"/>
                </a:solidFill>
              </a:rPr>
              <a:t>학설 대립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rgbClr val="FF0000"/>
                </a:solidFill>
              </a:rPr>
              <a:t>(6</a:t>
            </a:r>
            <a:r>
              <a:rPr lang="ko-KR" altLang="en-US" sz="1200" dirty="0">
                <a:solidFill>
                  <a:srgbClr val="FF0000"/>
                </a:solidFill>
              </a:rPr>
              <a:t>개월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7875" y="986046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우선권을 주장하기 위해서는 </a:t>
            </a:r>
            <a:r>
              <a:rPr lang="ko-KR" altLang="en-US" sz="1400" dirty="0" err="1">
                <a:solidFill>
                  <a:schemeClr val="tx2"/>
                </a:solidFill>
              </a:rPr>
              <a:t>우선기간</a:t>
            </a:r>
            <a:r>
              <a:rPr lang="en-US" altLang="ko-KR" sz="1400" dirty="0">
                <a:solidFill>
                  <a:schemeClr val="tx2"/>
                </a:solidFill>
              </a:rPr>
              <a:t>(period of priority)</a:t>
            </a:r>
            <a:r>
              <a:rPr lang="ko-KR" altLang="en-US" sz="1400" dirty="0">
                <a:solidFill>
                  <a:schemeClr val="tx2"/>
                </a:solidFill>
              </a:rPr>
              <a:t>내에 출원하여야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이러한 </a:t>
            </a:r>
            <a:r>
              <a:rPr lang="ko-KR" altLang="en-US" sz="1400" dirty="0" err="1">
                <a:solidFill>
                  <a:schemeClr val="tx2"/>
                </a:solidFill>
              </a:rPr>
              <a:t>우선기간에</a:t>
            </a:r>
            <a:r>
              <a:rPr lang="ko-KR" altLang="en-US" sz="1400" dirty="0">
                <a:solidFill>
                  <a:schemeClr val="tx2"/>
                </a:solidFill>
              </a:rPr>
              <a:t> 대해서는 출원인의 이익과 일반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자의 이익과의 조화라는 점에서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특허 및 실용신안에 대해서는 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12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개월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디자인 및 상표에 대해서는 각각 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6</a:t>
            </a:r>
            <a:r>
              <a:rPr lang="ko-KR" altLang="en-US" sz="1400" dirty="0">
                <a:highlight>
                  <a:srgbClr val="FFFF00"/>
                </a:highlight>
              </a:rPr>
              <a:t>개월</a:t>
            </a:r>
            <a:r>
              <a:rPr lang="ko-KR" altLang="en-US" sz="1400" dirty="0"/>
              <a:t>로</a:t>
            </a:r>
            <a:r>
              <a:rPr lang="ko-KR" altLang="en-US" sz="1400" dirty="0">
                <a:solidFill>
                  <a:schemeClr val="tx2"/>
                </a:solidFill>
              </a:rPr>
              <a:t> 규정하고 있다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파리조약 </a:t>
            </a:r>
            <a:r>
              <a:rPr lang="en-US" altLang="ko-KR" sz="1400" dirty="0">
                <a:solidFill>
                  <a:schemeClr val="tx2"/>
                </a:solidFill>
              </a:rPr>
              <a:t>4C(1)). </a:t>
            </a:r>
            <a:r>
              <a:rPr lang="ko-KR" altLang="en-US" sz="1400" dirty="0">
                <a:solidFill>
                  <a:schemeClr val="tx2"/>
                </a:solidFill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실용신안등록출원을 기초로 디자인등록출원으로 우선권주장을 하는 경우 </a:t>
            </a:r>
            <a:r>
              <a:rPr lang="ko-KR" altLang="en-US" sz="1400" dirty="0" err="1">
                <a:solidFill>
                  <a:schemeClr val="tx2"/>
                </a:solidFill>
              </a:rPr>
              <a:t>우선기간은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6</a:t>
            </a:r>
            <a:r>
              <a:rPr lang="ko-KR" altLang="en-US" sz="1400" dirty="0">
                <a:solidFill>
                  <a:schemeClr val="tx2"/>
                </a:solidFill>
              </a:rPr>
              <a:t>개월이며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특허출원를</a:t>
            </a:r>
            <a:r>
              <a:rPr lang="ko-KR" altLang="en-US" sz="1400" dirty="0">
                <a:solidFill>
                  <a:schemeClr val="tx2"/>
                </a:solidFill>
              </a:rPr>
              <a:t> 기초로 실용신안등록출원으로 우선권주장을 하는 경우 </a:t>
            </a:r>
            <a:r>
              <a:rPr lang="ko-KR" altLang="en-US" sz="1400" dirty="0" err="1">
                <a:solidFill>
                  <a:schemeClr val="tx2"/>
                </a:solidFill>
              </a:rPr>
              <a:t>우선기간은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12</a:t>
            </a:r>
            <a:r>
              <a:rPr lang="ko-KR" altLang="en-US" sz="1400" dirty="0">
                <a:solidFill>
                  <a:schemeClr val="tx2"/>
                </a:solidFill>
              </a:rPr>
              <a:t>개월이다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파리조약 </a:t>
            </a:r>
            <a:r>
              <a:rPr lang="en-US" altLang="ko-KR" sz="1400" dirty="0">
                <a:solidFill>
                  <a:schemeClr val="tx2"/>
                </a:solidFill>
              </a:rPr>
              <a:t>4E(1)(2)). </a:t>
            </a:r>
            <a:r>
              <a:rPr lang="ko-KR" altLang="en-US" sz="1400" dirty="0">
                <a:solidFill>
                  <a:schemeClr val="tx2"/>
                </a:solidFill>
              </a:rPr>
              <a:t>문제가 디자인등록출원을 기초로 실용신안등록출원으로 우선권주장을 하는 경우인데 이 경우 </a:t>
            </a:r>
            <a:r>
              <a:rPr lang="ko-KR" altLang="en-US" sz="1400" dirty="0" err="1">
                <a:solidFill>
                  <a:schemeClr val="tx2"/>
                </a:solidFill>
              </a:rPr>
              <a:t>파리조약에</a:t>
            </a:r>
            <a:r>
              <a:rPr lang="ko-KR" altLang="en-US" sz="1400" dirty="0">
                <a:solidFill>
                  <a:schemeClr val="tx2"/>
                </a:solidFill>
              </a:rPr>
              <a:t> 직접적인 규정이 없기 때문에 디자인등록출원을 기준으로 </a:t>
            </a:r>
            <a:r>
              <a:rPr lang="en-US" altLang="ko-KR" sz="1400" dirty="0">
                <a:solidFill>
                  <a:schemeClr val="tx2"/>
                </a:solidFill>
              </a:rPr>
              <a:t>6</a:t>
            </a:r>
            <a:r>
              <a:rPr lang="ko-KR" altLang="en-US" sz="1400" dirty="0">
                <a:solidFill>
                  <a:schemeClr val="tx2"/>
                </a:solidFill>
              </a:rPr>
              <a:t>개월로 하여야 한다는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국설과</a:t>
            </a:r>
            <a:r>
              <a:rPr lang="ko-KR" altLang="en-US" sz="1400" dirty="0">
                <a:solidFill>
                  <a:schemeClr val="tx2"/>
                </a:solidFill>
              </a:rPr>
              <a:t> 실용신안등록출원을 기준으로 </a:t>
            </a:r>
            <a:r>
              <a:rPr lang="en-US" altLang="ko-KR" sz="1400" dirty="0">
                <a:solidFill>
                  <a:schemeClr val="tx2"/>
                </a:solidFill>
              </a:rPr>
              <a:t>12</a:t>
            </a:r>
            <a:r>
              <a:rPr lang="ko-KR" altLang="en-US" sz="1400" dirty="0">
                <a:solidFill>
                  <a:schemeClr val="tx2"/>
                </a:solidFill>
              </a:rPr>
              <a:t>개월로 하여야 한다는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 err="1">
                <a:solidFill>
                  <a:schemeClr val="tx2"/>
                </a:solidFill>
              </a:rPr>
              <a:t>국설이</a:t>
            </a:r>
            <a:r>
              <a:rPr lang="ko-KR" altLang="en-US" sz="1400" dirty="0">
                <a:solidFill>
                  <a:schemeClr val="tx2"/>
                </a:solidFill>
              </a:rPr>
              <a:t> 있으나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심사실무는</a:t>
            </a:r>
            <a:r>
              <a:rPr lang="ko-KR" altLang="en-US" sz="1400" dirty="0">
                <a:solidFill>
                  <a:schemeClr val="tx2"/>
                </a:solidFill>
              </a:rPr>
              <a:t>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국설을</a:t>
            </a:r>
            <a:r>
              <a:rPr lang="ko-KR" altLang="en-US" sz="1400" dirty="0">
                <a:solidFill>
                  <a:schemeClr val="tx2"/>
                </a:solidFill>
              </a:rPr>
              <a:t> 지지한다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63" name="직선 연결선 62"/>
          <p:cNvCxnSpPr/>
          <p:nvPr/>
        </p:nvCxnSpPr>
        <p:spPr>
          <a:xfrm>
            <a:off x="0" y="2151966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132570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모서리가 둥근 직사각형 195"/>
          <p:cNvSpPr/>
          <p:nvPr/>
        </p:nvSpPr>
        <p:spPr>
          <a:xfrm>
            <a:off x="1563868" y="6067111"/>
            <a:ext cx="6684782" cy="4381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195" name="모서리가 둥근 직사각형 194"/>
          <p:cNvSpPr/>
          <p:nvPr/>
        </p:nvSpPr>
        <p:spPr>
          <a:xfrm>
            <a:off x="1563868" y="5255419"/>
            <a:ext cx="6684782" cy="4381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194" name="모서리가 둥근 직사각형 193"/>
          <p:cNvSpPr/>
          <p:nvPr/>
        </p:nvSpPr>
        <p:spPr>
          <a:xfrm>
            <a:off x="1563868" y="4600575"/>
            <a:ext cx="6684782" cy="4381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accent4"/>
              </a:solidFill>
            </a:endParaRPr>
          </a:p>
        </p:txBody>
      </p:sp>
      <p:cxnSp>
        <p:nvCxnSpPr>
          <p:cNvPr id="183" name="직선 연결선 182"/>
          <p:cNvCxnSpPr/>
          <p:nvPr/>
        </p:nvCxnSpPr>
        <p:spPr>
          <a:xfrm flipH="1">
            <a:off x="6784177" y="3167310"/>
            <a:ext cx="1" cy="359544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/>
          <p:cNvCxnSpPr/>
          <p:nvPr/>
        </p:nvCxnSpPr>
        <p:spPr>
          <a:xfrm flipH="1">
            <a:off x="4800599" y="3167310"/>
            <a:ext cx="1" cy="359544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/>
          <p:cNvCxnSpPr>
            <a:stCxn id="124" idx="2"/>
          </p:cNvCxnSpPr>
          <p:nvPr/>
        </p:nvCxnSpPr>
        <p:spPr>
          <a:xfrm flipH="1">
            <a:off x="2781299" y="3167310"/>
            <a:ext cx="1" cy="359544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양쪽 모서리가 둥근 사각형 104"/>
          <p:cNvSpPr/>
          <p:nvPr/>
        </p:nvSpPr>
        <p:spPr>
          <a:xfrm>
            <a:off x="2781299" y="2650202"/>
            <a:ext cx="4002881" cy="375344"/>
          </a:xfrm>
          <a:prstGeom prst="round2Same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양쪽 모서리가 둥근 사각형 170"/>
          <p:cNvSpPr/>
          <p:nvPr/>
        </p:nvSpPr>
        <p:spPr>
          <a:xfrm>
            <a:off x="2781299" y="2341291"/>
            <a:ext cx="6391275" cy="684255"/>
          </a:xfrm>
          <a:prstGeom prst="round2Same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양쪽 모서리가 둥근 사각형 171"/>
          <p:cNvSpPr/>
          <p:nvPr/>
        </p:nvSpPr>
        <p:spPr>
          <a:xfrm>
            <a:off x="2781299" y="2034515"/>
            <a:ext cx="7434263" cy="991032"/>
          </a:xfrm>
          <a:prstGeom prst="round2Same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54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복합우선권주장과 부분우선권주장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400" dirty="0">
                <a:highlight>
                  <a:srgbClr val="FFFF00"/>
                </a:highlight>
              </a:rPr>
              <a:t>ⅰ) </a:t>
            </a:r>
            <a:r>
              <a:rPr lang="ko-KR" altLang="en-US" sz="1400" dirty="0">
                <a:highlight>
                  <a:srgbClr val="FFFF00"/>
                </a:highlight>
              </a:rPr>
              <a:t>「</a:t>
            </a:r>
            <a:r>
              <a:rPr lang="ko-KR" altLang="en-US" sz="1400" dirty="0" err="1">
                <a:highlight>
                  <a:srgbClr val="FFFF00"/>
                </a:highlight>
              </a:rPr>
              <a:t>복합우선」이란</a:t>
            </a:r>
            <a:r>
              <a:rPr lang="ko-KR" altLang="en-US" sz="1400" dirty="0">
                <a:highlight>
                  <a:srgbClr val="FFFF00"/>
                </a:highlight>
              </a:rPr>
              <a:t> 하나의 출원에 관하여 복수의 우선권</a:t>
            </a:r>
            <a:r>
              <a:rPr lang="en-US" altLang="ko-KR" sz="1400" dirty="0"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highlight>
                  <a:srgbClr val="FFFF00"/>
                </a:highlight>
              </a:rPr>
              <a:t>둘 이상의 국가에서 한 출원에 기한 것을 포함한다</a:t>
            </a:r>
            <a:r>
              <a:rPr lang="en-US" altLang="ko-KR" sz="1400" dirty="0">
                <a:highlight>
                  <a:srgbClr val="FFFF00"/>
                </a:highlight>
              </a:rPr>
              <a:t>)</a:t>
            </a:r>
            <a:r>
              <a:rPr lang="ko-KR" altLang="en-US" sz="1400" dirty="0">
                <a:highlight>
                  <a:srgbClr val="FFFF00"/>
                </a:highlight>
              </a:rPr>
              <a:t>을 주장하는 것을 말하며</a:t>
            </a:r>
            <a:r>
              <a:rPr lang="en-US" altLang="ko-KR" sz="1400" dirty="0">
                <a:highlight>
                  <a:srgbClr val="FFFF00"/>
                </a:highlight>
              </a:rPr>
              <a:t>, ⅱ) </a:t>
            </a:r>
            <a:r>
              <a:rPr lang="ko-KR" altLang="en-US" sz="1400" dirty="0">
                <a:highlight>
                  <a:srgbClr val="FFFF00"/>
                </a:highlight>
              </a:rPr>
              <a:t>「</a:t>
            </a:r>
            <a:r>
              <a:rPr lang="ko-KR" altLang="en-US" sz="1400" dirty="0" err="1">
                <a:highlight>
                  <a:srgbClr val="FFFF00"/>
                </a:highlight>
              </a:rPr>
              <a:t>부분우선」이란</a:t>
            </a:r>
            <a:r>
              <a:rPr lang="ko-KR" altLang="en-US" sz="1400" dirty="0">
                <a:highlight>
                  <a:srgbClr val="FFFF00"/>
                </a:highlight>
              </a:rPr>
              <a:t> </a:t>
            </a:r>
            <a:r>
              <a:rPr lang="en-US" altLang="ko-KR" sz="1400" dirty="0">
                <a:highlight>
                  <a:srgbClr val="FFFF00"/>
                </a:highlight>
              </a:rPr>
              <a:t>1 </a:t>
            </a:r>
            <a:r>
              <a:rPr lang="ko-KR" altLang="en-US" sz="1400" dirty="0">
                <a:highlight>
                  <a:srgbClr val="FFFF00"/>
                </a:highlight>
              </a:rPr>
              <a:t>또는 그 이상의 우선권을 주장하는 출원이 그 우선권이 주장되는 출원에 포함되지 아니한 일 또는 그 이상의 발명을 포함하는 것을 말한다</a:t>
            </a:r>
            <a:r>
              <a:rPr lang="en-US" altLang="ko-KR" sz="1400" dirty="0">
                <a:highlight>
                  <a:srgbClr val="FFFF00"/>
                </a:highlight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우선권이 주장되는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선출원에</a:t>
            </a:r>
            <a:r>
              <a:rPr lang="ko-KR" altLang="en-US" sz="1400" dirty="0">
                <a:solidFill>
                  <a:schemeClr val="tx2"/>
                </a:solidFill>
              </a:rPr>
              <a:t> 포함되지 않았던 구성요소에 대해서는 </a:t>
            </a:r>
            <a:r>
              <a:rPr lang="ko-KR" altLang="en-US" sz="1400" dirty="0" err="1">
                <a:solidFill>
                  <a:schemeClr val="tx2"/>
                </a:solidFill>
              </a:rPr>
              <a:t>후출원일을</a:t>
            </a:r>
            <a:r>
              <a:rPr lang="ko-KR" altLang="en-US" sz="1400" dirty="0">
                <a:solidFill>
                  <a:schemeClr val="tx2"/>
                </a:solidFill>
              </a:rPr>
              <a:t> 기준으로 </a:t>
            </a:r>
            <a:r>
              <a:rPr lang="ko-KR" altLang="en-US" sz="1400" dirty="0" err="1">
                <a:solidFill>
                  <a:schemeClr val="tx2"/>
                </a:solidFill>
              </a:rPr>
              <a:t>특허요건</a:t>
            </a:r>
            <a:r>
              <a:rPr lang="ko-KR" altLang="en-US" sz="1400" dirty="0">
                <a:solidFill>
                  <a:schemeClr val="tx2"/>
                </a:solidFill>
              </a:rPr>
              <a:t> 등을 판단하게 한다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파리조약 </a:t>
            </a:r>
            <a:r>
              <a:rPr lang="en-US" altLang="ko-KR" sz="1400" dirty="0">
                <a:solidFill>
                  <a:schemeClr val="tx2"/>
                </a:solidFill>
              </a:rPr>
              <a:t>4F).</a:t>
            </a:r>
          </a:p>
        </p:txBody>
      </p:sp>
      <p:cxnSp>
        <p:nvCxnSpPr>
          <p:cNvPr id="34" name="직선 연결선 33"/>
          <p:cNvCxnSpPr/>
          <p:nvPr/>
        </p:nvCxnSpPr>
        <p:spPr>
          <a:xfrm>
            <a:off x="0" y="1723341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/>
          <p:cNvCxnSpPr>
            <a:stCxn id="124" idx="1"/>
          </p:cNvCxnSpPr>
          <p:nvPr/>
        </p:nvCxnSpPr>
        <p:spPr>
          <a:xfrm>
            <a:off x="2024062" y="3025547"/>
            <a:ext cx="978693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직사각형 123"/>
          <p:cNvSpPr/>
          <p:nvPr/>
        </p:nvSpPr>
        <p:spPr>
          <a:xfrm>
            <a:off x="2024062" y="2883784"/>
            <a:ext cx="1514475" cy="2835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</a:rPr>
              <a:t>일본출원</a:t>
            </a:r>
            <a:r>
              <a:rPr lang="en-US" altLang="ko-KR" sz="1200" dirty="0">
                <a:solidFill>
                  <a:schemeClr val="tx1"/>
                </a:solidFill>
              </a:rPr>
              <a:t>(X)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6026943" y="2883784"/>
            <a:ext cx="1514475" cy="2835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한국출원</a:t>
            </a:r>
            <a:r>
              <a:rPr lang="en-US" altLang="ko-KR" sz="1200" dirty="0">
                <a:solidFill>
                  <a:schemeClr val="tx1"/>
                </a:solidFill>
              </a:rPr>
              <a:t>(Z)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4043362" y="2883784"/>
            <a:ext cx="1514475" cy="2835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</a:rPr>
              <a:t>미국출원</a:t>
            </a:r>
            <a:r>
              <a:rPr lang="en-US" altLang="ko-KR" sz="1200" dirty="0">
                <a:solidFill>
                  <a:schemeClr val="tx1"/>
                </a:solidFill>
              </a:rPr>
              <a:t>(Y)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직사각형 164"/>
          <p:cNvSpPr/>
          <p:nvPr/>
        </p:nvSpPr>
        <p:spPr>
          <a:xfrm>
            <a:off x="9458325" y="2883784"/>
            <a:ext cx="1514475" cy="2835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출원공개</a:t>
            </a:r>
            <a:r>
              <a:rPr lang="en-US" altLang="ko-KR" sz="1200" dirty="0">
                <a:solidFill>
                  <a:schemeClr val="tx1"/>
                </a:solidFill>
              </a:rPr>
              <a:t>(Z)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66" name="직사각형 165"/>
          <p:cNvSpPr/>
          <p:nvPr/>
        </p:nvSpPr>
        <p:spPr>
          <a:xfrm>
            <a:off x="6026943" y="3167310"/>
            <a:ext cx="1514475" cy="283526"/>
          </a:xfrm>
          <a:prstGeom prst="rect">
            <a:avLst/>
          </a:prstGeom>
          <a:solidFill>
            <a:srgbClr val="0070C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4"/>
                </a:solidFill>
              </a:rPr>
              <a:t>X </a:t>
            </a:r>
            <a:r>
              <a:rPr lang="ko-KR" altLang="en-US" sz="1200" dirty="0">
                <a:solidFill>
                  <a:schemeClr val="accent4"/>
                </a:solidFill>
              </a:rPr>
              <a:t>기초 </a:t>
            </a:r>
            <a:r>
              <a:rPr lang="ko-KR" altLang="en-US" sz="1200" dirty="0" err="1">
                <a:solidFill>
                  <a:schemeClr val="accent4"/>
                </a:solidFill>
              </a:rPr>
              <a:t>우선권주장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167" name="직사각형 166"/>
          <p:cNvSpPr/>
          <p:nvPr/>
        </p:nvSpPr>
        <p:spPr>
          <a:xfrm>
            <a:off x="6026943" y="3450836"/>
            <a:ext cx="1514475" cy="28352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Y </a:t>
            </a:r>
            <a:r>
              <a:rPr lang="ko-KR" altLang="en-US" sz="1200" dirty="0">
                <a:solidFill>
                  <a:schemeClr val="bg1"/>
                </a:solidFill>
              </a:rPr>
              <a:t>기초 </a:t>
            </a:r>
            <a:r>
              <a:rPr lang="ko-KR" altLang="en-US" sz="1200" dirty="0" err="1">
                <a:solidFill>
                  <a:schemeClr val="bg1"/>
                </a:solidFill>
              </a:rPr>
              <a:t>우선권주장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68" name="직사각형 167"/>
          <p:cNvSpPr/>
          <p:nvPr/>
        </p:nvSpPr>
        <p:spPr>
          <a:xfrm>
            <a:off x="8415337" y="3462585"/>
            <a:ext cx="1514475" cy="2835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증명서류</a:t>
            </a:r>
            <a:r>
              <a:rPr lang="en-US" altLang="ko-KR" sz="1200" dirty="0">
                <a:solidFill>
                  <a:schemeClr val="tx1"/>
                </a:solidFill>
              </a:rPr>
              <a:t>(X)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69" name="직사각형 168"/>
          <p:cNvSpPr/>
          <p:nvPr/>
        </p:nvSpPr>
        <p:spPr>
          <a:xfrm>
            <a:off x="8415337" y="3746111"/>
            <a:ext cx="1514475" cy="2835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증명서류</a:t>
            </a:r>
            <a:r>
              <a:rPr lang="en-US" altLang="ko-KR" sz="1200" dirty="0">
                <a:solidFill>
                  <a:schemeClr val="tx1"/>
                </a:solidFill>
              </a:rPr>
              <a:t>(Y)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70" name="Rectangle 14"/>
          <p:cNvSpPr>
            <a:spLocks noChangeArrowheads="1"/>
          </p:cNvSpPr>
          <p:nvPr/>
        </p:nvSpPr>
        <p:spPr bwMode="auto">
          <a:xfrm flipV="1">
            <a:off x="9100145" y="2949507"/>
            <a:ext cx="144858" cy="152080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02" name="직선 연결선 101"/>
          <p:cNvCxnSpPr>
            <a:stCxn id="168" idx="0"/>
            <a:endCxn id="170" idx="0"/>
          </p:cNvCxnSpPr>
          <p:nvPr/>
        </p:nvCxnSpPr>
        <p:spPr>
          <a:xfrm flipH="1" flipV="1">
            <a:off x="9172574" y="3101587"/>
            <a:ext cx="1" cy="36099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/>
          <p:cNvSpPr/>
          <p:nvPr/>
        </p:nvSpPr>
        <p:spPr>
          <a:xfrm>
            <a:off x="3814762" y="2391755"/>
            <a:ext cx="1514475" cy="2835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</a:t>
            </a:r>
            <a:r>
              <a:rPr lang="ko-KR" altLang="en-US" sz="1200" dirty="0">
                <a:solidFill>
                  <a:schemeClr val="tx1"/>
                </a:solidFill>
              </a:rPr>
              <a:t>년</a:t>
            </a:r>
          </a:p>
        </p:txBody>
      </p:sp>
      <p:sp>
        <p:nvSpPr>
          <p:cNvPr id="174" name="직사각형 173"/>
          <p:cNvSpPr/>
          <p:nvPr/>
        </p:nvSpPr>
        <p:spPr>
          <a:xfrm>
            <a:off x="4782739" y="2086501"/>
            <a:ext cx="1514475" cy="2835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</a:t>
            </a:r>
            <a:r>
              <a:rPr lang="ko-KR" altLang="en-US" sz="1200" dirty="0">
                <a:solidFill>
                  <a:schemeClr val="tx1"/>
                </a:solidFill>
              </a:rPr>
              <a:t>년 </a:t>
            </a:r>
            <a:r>
              <a:rPr lang="en-US" altLang="ko-KR" sz="1200" dirty="0">
                <a:solidFill>
                  <a:schemeClr val="tx1"/>
                </a:solidFill>
              </a:rPr>
              <a:t>4</a:t>
            </a:r>
            <a:r>
              <a:rPr lang="ko-KR" altLang="en-US" sz="1200" dirty="0">
                <a:solidFill>
                  <a:schemeClr val="tx1"/>
                </a:solidFill>
              </a:rPr>
              <a:t>개월</a:t>
            </a:r>
          </a:p>
        </p:txBody>
      </p:sp>
      <p:sp>
        <p:nvSpPr>
          <p:cNvPr id="175" name="직사각형 174"/>
          <p:cNvSpPr/>
          <p:nvPr/>
        </p:nvSpPr>
        <p:spPr>
          <a:xfrm>
            <a:off x="6061074" y="1780712"/>
            <a:ext cx="1514475" cy="2835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</a:t>
            </a:r>
            <a:r>
              <a:rPr lang="ko-KR" altLang="en-US" sz="1200" dirty="0">
                <a:solidFill>
                  <a:schemeClr val="tx1"/>
                </a:solidFill>
              </a:rPr>
              <a:t>년 </a:t>
            </a:r>
            <a:r>
              <a:rPr lang="en-US" altLang="ko-KR" sz="1200" dirty="0">
                <a:solidFill>
                  <a:schemeClr val="tx1"/>
                </a:solidFill>
              </a:rPr>
              <a:t>6</a:t>
            </a:r>
            <a:r>
              <a:rPr lang="ko-KR" altLang="en-US" sz="1200" dirty="0">
                <a:solidFill>
                  <a:schemeClr val="tx1"/>
                </a:solidFill>
              </a:rPr>
              <a:t>개월</a:t>
            </a:r>
          </a:p>
        </p:txBody>
      </p:sp>
      <p:sp>
        <p:nvSpPr>
          <p:cNvPr id="176" name="직사각형 175"/>
          <p:cNvSpPr/>
          <p:nvPr/>
        </p:nvSpPr>
        <p:spPr>
          <a:xfrm>
            <a:off x="2024062" y="3809252"/>
            <a:ext cx="1514475" cy="2835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77" name="직사각형 176"/>
          <p:cNvSpPr/>
          <p:nvPr/>
        </p:nvSpPr>
        <p:spPr>
          <a:xfrm>
            <a:off x="2024062" y="4092779"/>
            <a:ext cx="1514475" cy="283526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78" name="직사각형 177"/>
          <p:cNvSpPr/>
          <p:nvPr/>
        </p:nvSpPr>
        <p:spPr>
          <a:xfrm>
            <a:off x="4043362" y="3809252"/>
            <a:ext cx="1514475" cy="2835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79" name="직사각형 178"/>
          <p:cNvSpPr/>
          <p:nvPr/>
        </p:nvSpPr>
        <p:spPr>
          <a:xfrm>
            <a:off x="4043362" y="4092779"/>
            <a:ext cx="1514475" cy="283526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80" name="직사각형 179"/>
          <p:cNvSpPr/>
          <p:nvPr/>
        </p:nvSpPr>
        <p:spPr>
          <a:xfrm>
            <a:off x="6026942" y="3809252"/>
            <a:ext cx="1514475" cy="283526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81" name="직사각형 180"/>
          <p:cNvSpPr/>
          <p:nvPr/>
        </p:nvSpPr>
        <p:spPr>
          <a:xfrm>
            <a:off x="6026942" y="4092779"/>
            <a:ext cx="1514475" cy="2835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8" name="모서리가 둥근 직사각형 107"/>
          <p:cNvSpPr/>
          <p:nvPr/>
        </p:nvSpPr>
        <p:spPr>
          <a:xfrm>
            <a:off x="476250" y="4600575"/>
            <a:ext cx="1087618" cy="43815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4"/>
                </a:solidFill>
              </a:rPr>
              <a:t>X</a:t>
            </a:r>
            <a:r>
              <a:rPr lang="ko-KR" altLang="en-US" sz="1200" dirty="0">
                <a:solidFill>
                  <a:schemeClr val="accent4"/>
                </a:solidFill>
              </a:rPr>
              <a:t>기초</a:t>
            </a:r>
            <a:endParaRPr lang="en-US" altLang="ko-KR" sz="1200" dirty="0">
              <a:solidFill>
                <a:schemeClr val="accent4"/>
              </a:solidFill>
            </a:endParaRPr>
          </a:p>
          <a:p>
            <a:pPr algn="ctr"/>
            <a:r>
              <a:rPr lang="ko-KR" altLang="en-US" sz="1200" dirty="0" err="1">
                <a:solidFill>
                  <a:schemeClr val="accent4"/>
                </a:solidFill>
              </a:rPr>
              <a:t>우선권주장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184" name="모서리가 둥근 직사각형 183"/>
          <p:cNvSpPr/>
          <p:nvPr/>
        </p:nvSpPr>
        <p:spPr>
          <a:xfrm>
            <a:off x="2237490" y="4600575"/>
            <a:ext cx="1087618" cy="438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Z</a:t>
            </a:r>
            <a:r>
              <a:rPr lang="ko-KR" altLang="en-US" sz="1200" dirty="0">
                <a:solidFill>
                  <a:schemeClr val="tx1"/>
                </a:solidFill>
              </a:rPr>
              <a:t>의 </a:t>
            </a:r>
            <a:r>
              <a:rPr lang="ko-KR" altLang="en-US" sz="1200" dirty="0" err="1">
                <a:solidFill>
                  <a:schemeClr val="tx1"/>
                </a:solidFill>
              </a:rPr>
              <a:t>청구범위</a:t>
            </a:r>
            <a:r>
              <a:rPr lang="ko-KR" altLang="en-US" sz="1200" dirty="0">
                <a:solidFill>
                  <a:schemeClr val="tx1"/>
                </a:solidFill>
              </a:rPr>
              <a:t> 중 </a:t>
            </a:r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87" name="모서리가 둥근 직사각형 186"/>
          <p:cNvSpPr/>
          <p:nvPr/>
        </p:nvSpPr>
        <p:spPr>
          <a:xfrm>
            <a:off x="6240368" y="4600575"/>
            <a:ext cx="1087618" cy="438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Z</a:t>
            </a:r>
            <a:r>
              <a:rPr lang="ko-KR" altLang="en-US" sz="1200" dirty="0">
                <a:solidFill>
                  <a:schemeClr val="tx1"/>
                </a:solidFill>
              </a:rPr>
              <a:t>의 </a:t>
            </a:r>
            <a:r>
              <a:rPr lang="ko-KR" altLang="en-US" sz="1200" dirty="0" err="1">
                <a:solidFill>
                  <a:schemeClr val="tx1"/>
                </a:solidFill>
              </a:rPr>
              <a:t>청구범위</a:t>
            </a:r>
            <a:r>
              <a:rPr lang="ko-KR" altLang="en-US" sz="1200" dirty="0">
                <a:solidFill>
                  <a:schemeClr val="tx1"/>
                </a:solidFill>
              </a:rPr>
              <a:t> 중 </a:t>
            </a:r>
            <a:r>
              <a:rPr lang="en-US" altLang="ko-KR" sz="1200" dirty="0">
                <a:solidFill>
                  <a:schemeClr val="tx1"/>
                </a:solidFill>
              </a:rPr>
              <a:t>B,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88" name="모서리가 둥근 직사각형 187"/>
          <p:cNvSpPr/>
          <p:nvPr/>
        </p:nvSpPr>
        <p:spPr>
          <a:xfrm>
            <a:off x="476250" y="5245677"/>
            <a:ext cx="1087618" cy="43815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Y</a:t>
            </a:r>
            <a:r>
              <a:rPr lang="ko-KR" altLang="en-US" sz="1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기초</a:t>
            </a:r>
            <a:endParaRPr lang="en-US" altLang="ko-KR" sz="12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ko-KR" altLang="en-US" sz="12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우선권주장</a:t>
            </a:r>
            <a:endParaRPr lang="ko-KR" altLang="en-US" sz="12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89" name="모서리가 둥근 직사각형 188"/>
          <p:cNvSpPr/>
          <p:nvPr/>
        </p:nvSpPr>
        <p:spPr>
          <a:xfrm>
            <a:off x="4256790" y="5245677"/>
            <a:ext cx="1087618" cy="438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Z</a:t>
            </a:r>
            <a:r>
              <a:rPr lang="ko-KR" altLang="en-US" sz="1200" dirty="0">
                <a:solidFill>
                  <a:schemeClr val="tx1"/>
                </a:solidFill>
              </a:rPr>
              <a:t>의 </a:t>
            </a:r>
            <a:r>
              <a:rPr lang="ko-KR" altLang="en-US" sz="1200" dirty="0" err="1">
                <a:solidFill>
                  <a:schemeClr val="tx1"/>
                </a:solidFill>
              </a:rPr>
              <a:t>청구범위</a:t>
            </a:r>
            <a:r>
              <a:rPr lang="ko-KR" altLang="en-US" sz="1200" dirty="0">
                <a:solidFill>
                  <a:schemeClr val="tx1"/>
                </a:solidFill>
              </a:rPr>
              <a:t> 중 </a:t>
            </a:r>
            <a:r>
              <a:rPr lang="en-US" altLang="ko-K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90" name="모서리가 둥근 직사각형 189"/>
          <p:cNvSpPr/>
          <p:nvPr/>
        </p:nvSpPr>
        <p:spPr>
          <a:xfrm>
            <a:off x="6240368" y="5245677"/>
            <a:ext cx="1087618" cy="438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Z</a:t>
            </a:r>
            <a:r>
              <a:rPr lang="ko-KR" altLang="en-US" sz="1200" dirty="0">
                <a:solidFill>
                  <a:schemeClr val="tx1"/>
                </a:solidFill>
              </a:rPr>
              <a:t>의 </a:t>
            </a:r>
            <a:r>
              <a:rPr lang="ko-KR" altLang="en-US" sz="1200" dirty="0" err="1">
                <a:solidFill>
                  <a:schemeClr val="tx1"/>
                </a:solidFill>
              </a:rPr>
              <a:t>청구범위</a:t>
            </a:r>
            <a:r>
              <a:rPr lang="ko-KR" altLang="en-US" sz="1200" dirty="0">
                <a:solidFill>
                  <a:schemeClr val="tx1"/>
                </a:solidFill>
              </a:rPr>
              <a:t> 중 </a:t>
            </a:r>
            <a:r>
              <a:rPr lang="en-US" altLang="ko-KR" sz="1200" dirty="0">
                <a:solidFill>
                  <a:schemeClr val="tx1"/>
                </a:solidFill>
              </a:rPr>
              <a:t>A,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10" name="직선 연결선 109"/>
          <p:cNvCxnSpPr/>
          <p:nvPr/>
        </p:nvCxnSpPr>
        <p:spPr>
          <a:xfrm>
            <a:off x="161925" y="5819775"/>
            <a:ext cx="8086725" cy="0"/>
          </a:xfrm>
          <a:prstGeom prst="line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모서리가 둥근 직사각형 190"/>
          <p:cNvSpPr/>
          <p:nvPr/>
        </p:nvSpPr>
        <p:spPr>
          <a:xfrm>
            <a:off x="2237490" y="6072188"/>
            <a:ext cx="1087618" cy="438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Z</a:t>
            </a:r>
            <a:r>
              <a:rPr lang="ko-KR" altLang="en-US" sz="1200" dirty="0">
                <a:solidFill>
                  <a:schemeClr val="tx1"/>
                </a:solidFill>
              </a:rPr>
              <a:t>의 </a:t>
            </a:r>
            <a:r>
              <a:rPr lang="ko-KR" altLang="en-US" sz="1200" dirty="0" err="1">
                <a:solidFill>
                  <a:schemeClr val="tx1"/>
                </a:solidFill>
              </a:rPr>
              <a:t>청구범위</a:t>
            </a:r>
            <a:r>
              <a:rPr lang="ko-KR" altLang="en-US" sz="1200" dirty="0">
                <a:solidFill>
                  <a:schemeClr val="tx1"/>
                </a:solidFill>
              </a:rPr>
              <a:t> 중 </a:t>
            </a:r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256790" y="6067111"/>
            <a:ext cx="1087618" cy="438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Z</a:t>
            </a:r>
            <a:r>
              <a:rPr lang="ko-KR" altLang="en-US" sz="1200" dirty="0">
                <a:solidFill>
                  <a:schemeClr val="tx1"/>
                </a:solidFill>
              </a:rPr>
              <a:t>의 </a:t>
            </a:r>
            <a:r>
              <a:rPr lang="ko-KR" altLang="en-US" sz="1200" dirty="0" err="1">
                <a:solidFill>
                  <a:schemeClr val="tx1"/>
                </a:solidFill>
              </a:rPr>
              <a:t>청구범위</a:t>
            </a:r>
            <a:r>
              <a:rPr lang="ko-KR" altLang="en-US" sz="1200" dirty="0">
                <a:solidFill>
                  <a:schemeClr val="tx1"/>
                </a:solidFill>
              </a:rPr>
              <a:t> 중 </a:t>
            </a:r>
            <a:r>
              <a:rPr lang="en-US" altLang="ko-K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93" name="모서리가 둥근 직사각형 192"/>
          <p:cNvSpPr/>
          <p:nvPr/>
        </p:nvSpPr>
        <p:spPr>
          <a:xfrm>
            <a:off x="6240368" y="6067111"/>
            <a:ext cx="1087618" cy="438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Z</a:t>
            </a:r>
            <a:r>
              <a:rPr lang="ko-KR" altLang="en-US" sz="1200" dirty="0">
                <a:solidFill>
                  <a:schemeClr val="tx1"/>
                </a:solidFill>
              </a:rPr>
              <a:t>의 </a:t>
            </a:r>
            <a:r>
              <a:rPr lang="ko-KR" altLang="en-US" sz="1200" dirty="0" err="1">
                <a:solidFill>
                  <a:schemeClr val="tx1"/>
                </a:solidFill>
              </a:rPr>
              <a:t>청구범위</a:t>
            </a:r>
            <a:r>
              <a:rPr lang="ko-KR" altLang="en-US" sz="1200" dirty="0">
                <a:solidFill>
                  <a:schemeClr val="tx1"/>
                </a:solidFill>
              </a:rPr>
              <a:t> 중 </a:t>
            </a:r>
            <a:r>
              <a:rPr lang="en-US" altLang="ko-KR" sz="1200" dirty="0">
                <a:solidFill>
                  <a:schemeClr val="tx1"/>
                </a:solidFill>
              </a:rPr>
              <a:t>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97" name="모서리가 둥근 사각형 설명선 196"/>
          <p:cNvSpPr/>
          <p:nvPr/>
        </p:nvSpPr>
        <p:spPr>
          <a:xfrm>
            <a:off x="7575549" y="2437714"/>
            <a:ext cx="1206686" cy="388954"/>
          </a:xfrm>
          <a:prstGeom prst="wedgeRoundRectCallout">
            <a:avLst>
              <a:gd name="adj1" fmla="val -38726"/>
              <a:gd name="adj2" fmla="val 177597"/>
              <a:gd name="adj3" fmla="val 16667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복합우주</a:t>
            </a:r>
            <a:endParaRPr lang="ko-KR" altLang="en-US" dirty="0"/>
          </a:p>
        </p:txBody>
      </p:sp>
      <p:sp>
        <p:nvSpPr>
          <p:cNvPr id="112" name="타원 111"/>
          <p:cNvSpPr/>
          <p:nvPr/>
        </p:nvSpPr>
        <p:spPr>
          <a:xfrm>
            <a:off x="5886450" y="3101587"/>
            <a:ext cx="1866900" cy="707665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8" name="모서리가 둥근 사각형 설명선 197"/>
          <p:cNvSpPr/>
          <p:nvPr/>
        </p:nvSpPr>
        <p:spPr>
          <a:xfrm>
            <a:off x="7835801" y="4082495"/>
            <a:ext cx="1206686" cy="388954"/>
          </a:xfrm>
          <a:prstGeom prst="wedgeRoundRectCallout">
            <a:avLst>
              <a:gd name="adj1" fmla="val -98717"/>
              <a:gd name="adj2" fmla="val -81984"/>
              <a:gd name="adj3" fmla="val 16667"/>
            </a:avLst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부분우주</a:t>
            </a:r>
            <a:endParaRPr lang="ko-KR" altLang="en-US" dirty="0"/>
          </a:p>
        </p:txBody>
      </p:sp>
      <p:sp>
        <p:nvSpPr>
          <p:cNvPr id="199" name="타원 198"/>
          <p:cNvSpPr/>
          <p:nvPr/>
        </p:nvSpPr>
        <p:spPr>
          <a:xfrm>
            <a:off x="6860380" y="3778992"/>
            <a:ext cx="345895" cy="332416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61842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54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우선기간 </a:t>
            </a:r>
            <a:r>
              <a:rPr lang="en-US" altLang="ko-KR" dirty="0"/>
              <a:t>vs </a:t>
            </a:r>
            <a:r>
              <a:rPr lang="ko-KR" altLang="en-US" dirty="0"/>
              <a:t>우선권주장기간</a:t>
            </a:r>
            <a:r>
              <a:rPr lang="en-US" altLang="ko-KR" dirty="0"/>
              <a:t>(</a:t>
            </a:r>
            <a:r>
              <a:rPr lang="ko-KR" altLang="en-US" sz="2400" dirty="0"/>
              <a:t>제</a:t>
            </a:r>
            <a:r>
              <a:rPr lang="en-US" altLang="ko-KR" sz="2400" dirty="0"/>
              <a:t>54</a:t>
            </a:r>
            <a:r>
              <a:rPr lang="ko-KR" altLang="en-US" sz="2400" dirty="0"/>
              <a:t>조제</a:t>
            </a:r>
            <a:r>
              <a:rPr lang="en-US" altLang="ko-KR" sz="2400" dirty="0"/>
              <a:t>2</a:t>
            </a:r>
            <a:r>
              <a:rPr lang="ko-KR" altLang="en-US" sz="2400" dirty="0"/>
              <a:t>항</a:t>
            </a:r>
            <a:r>
              <a:rPr lang="en-US" altLang="ko-KR" sz="2400" dirty="0"/>
              <a:t>, </a:t>
            </a:r>
            <a:r>
              <a:rPr lang="ko-KR" altLang="en-US" sz="2400" dirty="0"/>
              <a:t>제</a:t>
            </a:r>
            <a:r>
              <a:rPr lang="en-US" altLang="ko-KR" sz="2400" dirty="0"/>
              <a:t>3</a:t>
            </a:r>
            <a:r>
              <a:rPr lang="ko-KR" altLang="en-US" sz="2400" dirty="0"/>
              <a:t>항 및</a:t>
            </a:r>
            <a:r>
              <a:rPr lang="en-US" altLang="ko-KR" sz="2400" dirty="0"/>
              <a:t> </a:t>
            </a:r>
            <a:r>
              <a:rPr lang="ko-KR" altLang="en-US" sz="2400" dirty="0"/>
              <a:t>제</a:t>
            </a:r>
            <a:r>
              <a:rPr lang="en-US" altLang="ko-KR" sz="2400" dirty="0"/>
              <a:t>7</a:t>
            </a:r>
            <a:r>
              <a:rPr lang="ko-KR" altLang="en-US" sz="2400" dirty="0"/>
              <a:t>항</a:t>
            </a:r>
            <a:r>
              <a:rPr lang="en-US" altLang="ko-KR" sz="2400" dirty="0"/>
              <a:t>)</a:t>
            </a:r>
            <a:endParaRPr lang="ko-KR" alt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77875" y="986046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파리조약에서는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국에 출원할 수 있는 기간인 </a:t>
            </a:r>
            <a:r>
              <a:rPr lang="ko-KR" altLang="en-US" sz="1400" dirty="0" err="1">
                <a:solidFill>
                  <a:schemeClr val="tx2"/>
                </a:solidFill>
              </a:rPr>
              <a:t>우선기간은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년이라고 규정하고 있지만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파리조약 </a:t>
            </a:r>
            <a:r>
              <a:rPr lang="en-US" altLang="ko-KR" sz="1400" dirty="0">
                <a:solidFill>
                  <a:schemeClr val="tx2"/>
                </a:solidFill>
              </a:rPr>
              <a:t>4C(1)),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국에 출원한 후 우선권주장을 할 수 있는 기간인 우선권주장기간은 동맹국의 </a:t>
            </a:r>
            <a:r>
              <a:rPr lang="ko-KR" altLang="en-US" sz="1400" dirty="0" err="1">
                <a:solidFill>
                  <a:schemeClr val="tx2"/>
                </a:solidFill>
              </a:rPr>
              <a:t>자국법에</a:t>
            </a:r>
            <a:r>
              <a:rPr lang="ko-KR" altLang="en-US" sz="1400" dirty="0">
                <a:solidFill>
                  <a:schemeClr val="tx2"/>
                </a:solidFill>
              </a:rPr>
              <a:t> 일임하고 있다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파리조약 </a:t>
            </a:r>
            <a:r>
              <a:rPr lang="en-US" altLang="ko-KR" sz="1400" dirty="0">
                <a:solidFill>
                  <a:schemeClr val="tx2"/>
                </a:solidFill>
              </a:rPr>
              <a:t>4D(1)). </a:t>
            </a:r>
            <a:r>
              <a:rPr lang="ko-KR" altLang="en-US" sz="1400" dirty="0">
                <a:solidFill>
                  <a:schemeClr val="tx2"/>
                </a:solidFill>
              </a:rPr>
              <a:t>그 결과 우선권주장기간은 각국에 따라 다르나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우리나라 특허법은 예측가능성을 높이기 위해 제</a:t>
            </a:r>
            <a:r>
              <a:rPr lang="en-US" altLang="ko-KR" sz="1400" dirty="0">
                <a:solidFill>
                  <a:schemeClr val="tx2"/>
                </a:solidFill>
              </a:rPr>
              <a:t>54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항에서 “우선권주장을 하려는 자는 특허출원을 할 때 </a:t>
            </a:r>
            <a:r>
              <a:rPr lang="ko-KR" altLang="en-US" sz="1400" dirty="0" err="1">
                <a:solidFill>
                  <a:schemeClr val="tx2"/>
                </a:solidFill>
              </a:rPr>
              <a:t>출원서에</a:t>
            </a:r>
            <a:r>
              <a:rPr lang="ko-KR" altLang="en-US" sz="1400" dirty="0">
                <a:solidFill>
                  <a:schemeClr val="tx2"/>
                </a:solidFill>
              </a:rPr>
              <a:t> 그 취지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최초 </a:t>
            </a:r>
            <a:r>
              <a:rPr lang="ko-KR" altLang="en-US" sz="1400" dirty="0" err="1">
                <a:solidFill>
                  <a:schemeClr val="tx2"/>
                </a:solidFill>
              </a:rPr>
              <a:t>출원국가명</a:t>
            </a:r>
            <a:r>
              <a:rPr lang="ko-KR" altLang="en-US" sz="1400" dirty="0">
                <a:solidFill>
                  <a:schemeClr val="tx2"/>
                </a:solidFill>
              </a:rPr>
              <a:t> 및 출원연월일을 적어야 한다</a:t>
            </a:r>
            <a:r>
              <a:rPr lang="en-US" altLang="ko-KR" sz="1400" dirty="0">
                <a:solidFill>
                  <a:schemeClr val="tx2"/>
                </a:solidFill>
              </a:rPr>
              <a:t>."</a:t>
            </a:r>
            <a:r>
              <a:rPr lang="ko-KR" altLang="en-US" sz="1400" dirty="0">
                <a:solidFill>
                  <a:schemeClr val="tx2"/>
                </a:solidFill>
              </a:rPr>
              <a:t>고 하여 </a:t>
            </a:r>
            <a:r>
              <a:rPr lang="ko-KR" altLang="en-US" sz="1400" dirty="0">
                <a:highlight>
                  <a:srgbClr val="FFFF00"/>
                </a:highlight>
              </a:rPr>
              <a:t>출원을 할 때에 우선권주장을 하도록 하고 있다</a:t>
            </a:r>
            <a:r>
              <a:rPr lang="en-US" altLang="ko-KR" sz="1400" dirty="0">
                <a:highlight>
                  <a:srgbClr val="FFFF00"/>
                </a:highlight>
              </a:rPr>
              <a:t>. </a:t>
            </a:r>
            <a:r>
              <a:rPr lang="ko-KR" altLang="en-US" sz="1400" dirty="0">
                <a:highlight>
                  <a:srgbClr val="FFFF00"/>
                </a:highlight>
              </a:rPr>
              <a:t>한편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다른 동맹국에 비해 우선권주장출원을 하는 출원인에게 불이익한 점을 보완하여 우선기간은 만족하지만 우선권주장기간은 만족하지 못한 출원인을 보호하기 위하여 제</a:t>
            </a:r>
            <a:r>
              <a:rPr lang="en-US" altLang="ko-KR" sz="1400" dirty="0">
                <a:highlight>
                  <a:srgbClr val="FFFF00"/>
                </a:highlight>
              </a:rPr>
              <a:t>54</a:t>
            </a:r>
            <a:r>
              <a:rPr lang="ko-KR" altLang="en-US" sz="1400" dirty="0">
                <a:highlight>
                  <a:srgbClr val="FFFF00"/>
                </a:highlight>
              </a:rPr>
              <a:t>조제</a:t>
            </a:r>
            <a:r>
              <a:rPr lang="en-US" altLang="ko-KR" sz="1400" dirty="0">
                <a:highlight>
                  <a:srgbClr val="FFFF00"/>
                </a:highlight>
              </a:rPr>
              <a:t>7</a:t>
            </a:r>
            <a:r>
              <a:rPr lang="ko-KR" altLang="en-US" sz="1400" dirty="0">
                <a:highlight>
                  <a:srgbClr val="FFFF00"/>
                </a:highlight>
              </a:rPr>
              <a:t>항에서 우선권주장의 보정 또는 추가를 인정</a:t>
            </a:r>
            <a:r>
              <a:rPr lang="ko-KR" altLang="en-US" sz="1400" dirty="0">
                <a:solidFill>
                  <a:schemeClr val="tx2"/>
                </a:solidFill>
              </a:rPr>
              <a:t>하고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34" name="직선 연결선 33"/>
          <p:cNvCxnSpPr/>
          <p:nvPr/>
        </p:nvCxnSpPr>
        <p:spPr>
          <a:xfrm>
            <a:off x="0" y="2151966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양쪽 모서리가 둥근 사각형 55"/>
          <p:cNvSpPr/>
          <p:nvPr/>
        </p:nvSpPr>
        <p:spPr>
          <a:xfrm>
            <a:off x="5748773" y="3473842"/>
            <a:ext cx="3122811" cy="375344"/>
          </a:xfrm>
          <a:prstGeom prst="round2Same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57" name="양쪽 모서리가 둥근 사각형 56"/>
          <p:cNvSpPr/>
          <p:nvPr/>
        </p:nvSpPr>
        <p:spPr>
          <a:xfrm>
            <a:off x="5748774" y="3164931"/>
            <a:ext cx="5226100" cy="684255"/>
          </a:xfrm>
          <a:prstGeom prst="round2Same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cxnSp>
        <p:nvCxnSpPr>
          <p:cNvPr id="60" name="직선 연결선 59"/>
          <p:cNvCxnSpPr>
            <a:stCxn id="61" idx="1"/>
          </p:cNvCxnSpPr>
          <p:nvPr/>
        </p:nvCxnSpPr>
        <p:spPr>
          <a:xfrm>
            <a:off x="5231605" y="3849187"/>
            <a:ext cx="656034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/>
          <p:cNvSpPr/>
          <p:nvPr/>
        </p:nvSpPr>
        <p:spPr>
          <a:xfrm>
            <a:off x="5231605" y="3707424"/>
            <a:ext cx="1034339" cy="2835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</a:rPr>
              <a:t>일본출원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8302693" y="3707424"/>
            <a:ext cx="1164075" cy="2835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6778363" y="3707424"/>
            <a:ext cx="1034339" cy="2835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</a:rPr>
              <a:t>미국출원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8302693" y="3990950"/>
            <a:ext cx="1164075" cy="2835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 </a:t>
            </a:r>
            <a:r>
              <a:rPr lang="ko-KR" altLang="en-US" sz="1000" dirty="0">
                <a:solidFill>
                  <a:schemeClr val="tx1"/>
                </a:solidFill>
              </a:rPr>
              <a:t>기초 </a:t>
            </a:r>
            <a:r>
              <a:rPr lang="ko-KR" altLang="en-US" sz="1000" dirty="0" err="1">
                <a:solidFill>
                  <a:schemeClr val="tx1"/>
                </a:solidFill>
              </a:rPr>
              <a:t>우선권주장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10457704" y="4286225"/>
            <a:ext cx="1034339" cy="2835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증명서류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10457704" y="4569751"/>
            <a:ext cx="1034339" cy="2835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증명서류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6" name="Rectangle 14"/>
          <p:cNvSpPr>
            <a:spLocks noChangeArrowheads="1"/>
          </p:cNvSpPr>
          <p:nvPr/>
        </p:nvSpPr>
        <p:spPr bwMode="auto">
          <a:xfrm flipV="1">
            <a:off x="10894926" y="3773147"/>
            <a:ext cx="162329" cy="152080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78" name="직선 연결선 77"/>
          <p:cNvCxnSpPr>
            <a:stCxn id="74" idx="0"/>
            <a:endCxn id="76" idx="0"/>
          </p:cNvCxnSpPr>
          <p:nvPr/>
        </p:nvCxnSpPr>
        <p:spPr>
          <a:xfrm flipV="1">
            <a:off x="10974874" y="3925227"/>
            <a:ext cx="1217" cy="36099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직사각형 79"/>
          <p:cNvSpPr/>
          <p:nvPr/>
        </p:nvSpPr>
        <p:spPr>
          <a:xfrm>
            <a:off x="6507936" y="3207775"/>
            <a:ext cx="1034339" cy="2835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</a:p>
        </p:txBody>
      </p:sp>
      <p:sp>
        <p:nvSpPr>
          <p:cNvPr id="84" name="직사각형 83"/>
          <p:cNvSpPr/>
          <p:nvPr/>
        </p:nvSpPr>
        <p:spPr>
          <a:xfrm>
            <a:off x="7115694" y="2910141"/>
            <a:ext cx="1034339" cy="2835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</a:t>
            </a:r>
            <a:r>
              <a:rPr lang="ko-KR" altLang="en-US" sz="1000" dirty="0">
                <a:solidFill>
                  <a:schemeClr val="tx1"/>
                </a:solidFill>
              </a:rPr>
              <a:t>년 </a:t>
            </a:r>
            <a:r>
              <a:rPr lang="en-US" altLang="ko-KR" sz="1000" dirty="0">
                <a:solidFill>
                  <a:schemeClr val="tx1"/>
                </a:solidFill>
              </a:rPr>
              <a:t>4</a:t>
            </a:r>
            <a:r>
              <a:rPr lang="ko-KR" altLang="en-US" sz="1000" dirty="0">
                <a:solidFill>
                  <a:schemeClr val="tx1"/>
                </a:solidFill>
              </a:rPr>
              <a:t>개월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5231605" y="4396672"/>
            <a:ext cx="1034339" cy="2835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5231605" y="4680199"/>
            <a:ext cx="1034339" cy="283526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6778363" y="4396672"/>
            <a:ext cx="1034339" cy="2835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B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8" name="직사각형 97"/>
          <p:cNvSpPr/>
          <p:nvPr/>
        </p:nvSpPr>
        <p:spPr>
          <a:xfrm>
            <a:off x="6778363" y="4680199"/>
            <a:ext cx="1034339" cy="283526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B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8302692" y="4396672"/>
            <a:ext cx="1164075" cy="283526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A, B, C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8302692" y="4680199"/>
            <a:ext cx="1164075" cy="2835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A, B, C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309342" y="2614866"/>
          <a:ext cx="4384776" cy="3233483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994366880"/>
                    </a:ext>
                  </a:extLst>
                </a:gridCol>
                <a:gridCol w="1543814">
                  <a:extLst>
                    <a:ext uri="{9D8B030D-6E8A-4147-A177-3AD203B41FA5}">
                      <a16:colId xmlns:a16="http://schemas.microsoft.com/office/drawing/2014/main" val="4284453186"/>
                    </a:ext>
                  </a:extLst>
                </a:gridCol>
                <a:gridCol w="2231362">
                  <a:extLst>
                    <a:ext uri="{9D8B030D-6E8A-4147-A177-3AD203B41FA5}">
                      <a16:colId xmlns:a16="http://schemas.microsoft.com/office/drawing/2014/main" val="401007987"/>
                    </a:ext>
                  </a:extLst>
                </a:gridCol>
              </a:tblGrid>
              <a:tr h="27725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구 분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 err="1"/>
                        <a:t>우선기간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우선권주장기간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051949"/>
                  </a:ext>
                </a:extLst>
              </a:tr>
              <a:tr h="51537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의 의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제</a:t>
                      </a:r>
                      <a:r>
                        <a:rPr lang="en-US" altLang="ko-KR" sz="1100" kern="1200" dirty="0"/>
                        <a:t>2</a:t>
                      </a:r>
                      <a:r>
                        <a:rPr lang="ko-KR" altLang="en-US" sz="1100" kern="1200" dirty="0"/>
                        <a:t>국에 출원할 수 있는 기간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제</a:t>
                      </a:r>
                      <a:r>
                        <a:rPr lang="en-US" altLang="ko-KR" sz="1100" kern="1200"/>
                        <a:t>2</a:t>
                      </a:r>
                      <a:r>
                        <a:rPr lang="ko-KR" altLang="en-US" sz="1100" kern="1200"/>
                        <a:t>국에 출원한 후 우선권주장을 할 수 있는 기간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110307661"/>
                  </a:ext>
                </a:extLst>
              </a:tr>
              <a:tr h="27725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파리조약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/>
                        <a:t>1</a:t>
                      </a:r>
                      <a:r>
                        <a:rPr lang="ko-KR" altLang="en-US" sz="1100" kern="1200" dirty="0"/>
                        <a:t>년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동맹국의 자국법에 일임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3211356548"/>
                  </a:ext>
                </a:extLst>
              </a:tr>
              <a:tr h="216361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특허법 태도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 gridSpan="2"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/>
                        <a:t>1. </a:t>
                      </a:r>
                      <a:r>
                        <a:rPr lang="ko-KR" altLang="en-US" sz="1100" kern="1200" dirty="0"/>
                        <a:t>출원과 동시에 우선권주장을 하도록 함</a:t>
                      </a:r>
                      <a:r>
                        <a:rPr lang="en-US" altLang="ko-KR" sz="1100" kern="1200" dirty="0"/>
                        <a:t>(</a:t>
                      </a:r>
                      <a:r>
                        <a:rPr lang="ko-KR" altLang="en-US" sz="1100" kern="1200" dirty="0"/>
                        <a:t>法 </a:t>
                      </a:r>
                      <a:r>
                        <a:rPr lang="en-US" altLang="ko-KR" sz="1100" kern="1200" dirty="0"/>
                        <a:t>54</a:t>
                      </a:r>
                      <a:r>
                        <a:rPr lang="ko-KR" altLang="en-US" sz="1100" kern="1200" dirty="0"/>
                        <a:t>③</a:t>
                      </a:r>
                      <a:r>
                        <a:rPr lang="en-US" altLang="ko-KR" sz="1100" kern="1200" dirty="0"/>
                        <a:t>)</a:t>
                      </a:r>
                      <a:endParaRPr lang="ko-KR" altLang="en-US" sz="1100" kern="1200" dirty="0"/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/>
                        <a:t>2. </a:t>
                      </a:r>
                      <a:r>
                        <a:rPr lang="ko-KR" altLang="en-US" sz="1100" kern="1200" dirty="0"/>
                        <a:t>단점</a:t>
                      </a:r>
                      <a:r>
                        <a:rPr lang="en-US" altLang="ko-KR" sz="1100" kern="1200" dirty="0"/>
                        <a:t>(</a:t>
                      </a:r>
                      <a:r>
                        <a:rPr lang="ko-KR" altLang="en-US" sz="1100" kern="1200" dirty="0" err="1"/>
                        <a:t>출원인에게</a:t>
                      </a:r>
                      <a:r>
                        <a:rPr lang="ko-KR" altLang="en-US" sz="1100" kern="1200" dirty="0"/>
                        <a:t> 불이익</a:t>
                      </a:r>
                      <a:r>
                        <a:rPr lang="en-US" altLang="ko-KR" sz="1100" kern="1200" dirty="0"/>
                        <a:t>)</a:t>
                      </a:r>
                      <a:r>
                        <a:rPr lang="ko-KR" altLang="en-US" sz="1100" kern="1200" dirty="0"/>
                        <a:t>의 보완 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○ 우선권주장의 보정 또는 추가</a:t>
                      </a:r>
                      <a:r>
                        <a:rPr lang="en-US" altLang="ko-KR" sz="1100" kern="1200" dirty="0"/>
                        <a:t>(</a:t>
                      </a:r>
                      <a:r>
                        <a:rPr lang="ko-KR" altLang="en-US" sz="1100" kern="1200" dirty="0"/>
                        <a:t>法 </a:t>
                      </a:r>
                      <a:r>
                        <a:rPr lang="en-US" altLang="ko-KR" sz="1100" kern="1200" dirty="0"/>
                        <a:t>54</a:t>
                      </a:r>
                      <a:r>
                        <a:rPr lang="ko-KR" altLang="en-US" sz="1100" kern="1200" dirty="0"/>
                        <a:t>⑦</a:t>
                      </a:r>
                      <a:r>
                        <a:rPr lang="en-US" altLang="ko-KR" sz="1100" kern="1200" dirty="0"/>
                        <a:t>)</a:t>
                      </a:r>
                      <a:r>
                        <a:rPr lang="ko-KR" altLang="en-US" sz="1100" kern="1200" dirty="0"/>
                        <a:t>의 인정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○ 요건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/>
                        <a:t>- </a:t>
                      </a:r>
                      <a:r>
                        <a:rPr lang="ko-KR" altLang="en-US" sz="1100" kern="1200" dirty="0"/>
                        <a:t>조약우선권주장을 한 자 </a:t>
                      </a:r>
                      <a:r>
                        <a:rPr lang="en-US" altLang="ko-KR" sz="1100" kern="1200" dirty="0"/>
                        <a:t>&amp; </a:t>
                      </a:r>
                      <a:r>
                        <a:rPr lang="ko-KR" altLang="en-US" sz="1100" kern="1200" dirty="0" err="1"/>
                        <a:t>우선기간</a:t>
                      </a:r>
                      <a:r>
                        <a:rPr lang="ko-KR" altLang="en-US" sz="1100" kern="1200" dirty="0"/>
                        <a:t> 만족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○ 효과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/>
                        <a:t>- </a:t>
                      </a:r>
                      <a:r>
                        <a:rPr lang="ko-KR" altLang="en-US" sz="1100" kern="1200" dirty="0"/>
                        <a:t>최우선일로부터 </a:t>
                      </a:r>
                      <a:r>
                        <a:rPr lang="en-US" altLang="ko-KR" sz="1100" kern="1200" dirty="0"/>
                        <a:t>1</a:t>
                      </a:r>
                      <a:r>
                        <a:rPr lang="ko-KR" altLang="en-US" sz="1100" kern="1200" dirty="0"/>
                        <a:t>년 </a:t>
                      </a:r>
                      <a:r>
                        <a:rPr lang="en-US" altLang="ko-KR" sz="1100" kern="1200" dirty="0"/>
                        <a:t>4</a:t>
                      </a:r>
                      <a:r>
                        <a:rPr lang="ko-KR" altLang="en-US" sz="1100" kern="1200" dirty="0"/>
                        <a:t>개월 이내 </a:t>
                      </a:r>
                      <a:r>
                        <a:rPr lang="en-US" altLang="ko-KR" sz="1100" kern="1200" dirty="0"/>
                        <a:t>- </a:t>
                      </a:r>
                      <a:r>
                        <a:rPr lang="ko-KR" altLang="en-US" sz="1100" kern="1200" dirty="0"/>
                        <a:t>우선권주장의 보정 또는 추가</a:t>
                      </a:r>
                    </a:p>
                    <a:p>
                      <a:pPr marL="85725" marR="17780" indent="-68263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/>
                        <a:t>- </a:t>
                      </a:r>
                      <a:r>
                        <a:rPr lang="ko-KR" altLang="en-US" sz="1100" kern="1200" dirty="0"/>
                        <a:t>최우선일로부터 </a:t>
                      </a:r>
                      <a:r>
                        <a:rPr lang="en-US" altLang="ko-KR" sz="1100" kern="1200" dirty="0"/>
                        <a:t>1</a:t>
                      </a:r>
                      <a:r>
                        <a:rPr lang="ko-KR" altLang="en-US" sz="1100" kern="1200" dirty="0"/>
                        <a:t>년 </a:t>
                      </a:r>
                      <a:r>
                        <a:rPr lang="en-US" altLang="ko-KR" sz="1100" kern="1200" dirty="0"/>
                        <a:t>4</a:t>
                      </a:r>
                      <a:r>
                        <a:rPr lang="ko-KR" altLang="en-US" sz="1100" kern="1200" dirty="0"/>
                        <a:t>개월 이후 </a:t>
                      </a:r>
                      <a:r>
                        <a:rPr lang="en-US" altLang="ko-KR" sz="1100" kern="1200" dirty="0"/>
                        <a:t>- </a:t>
                      </a:r>
                      <a:r>
                        <a:rPr lang="ko-KR" altLang="en-US" sz="1100" kern="1200" dirty="0"/>
                        <a:t>명백한 오기의 정정 또는 우선권주장의 취하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812923"/>
                  </a:ext>
                </a:extLst>
              </a:tr>
            </a:tbl>
          </a:graphicData>
        </a:graphic>
      </p:graphicFrame>
      <p:sp>
        <p:nvSpPr>
          <p:cNvPr id="106" name="직사각형 105"/>
          <p:cNvSpPr/>
          <p:nvPr/>
        </p:nvSpPr>
        <p:spPr>
          <a:xfrm>
            <a:off x="6029485" y="5215865"/>
            <a:ext cx="1034339" cy="2835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3</a:t>
            </a:r>
            <a:r>
              <a:rPr lang="ko-KR" altLang="en-US" sz="1000" dirty="0">
                <a:solidFill>
                  <a:schemeClr val="tx1"/>
                </a:solidFill>
              </a:rPr>
              <a:t>자의 </a:t>
            </a:r>
            <a:r>
              <a:rPr lang="en-US" altLang="ko-KR" sz="1000" dirty="0">
                <a:solidFill>
                  <a:schemeClr val="tx1"/>
                </a:solidFill>
              </a:rPr>
              <a:t>A </a:t>
            </a:r>
            <a:r>
              <a:rPr lang="ko-KR" altLang="en-US" sz="1000" dirty="0">
                <a:solidFill>
                  <a:schemeClr val="tx1"/>
                </a:solidFill>
              </a:rPr>
              <a:t>공지</a:t>
            </a:r>
          </a:p>
        </p:txBody>
      </p:sp>
      <p:sp>
        <p:nvSpPr>
          <p:cNvPr id="108" name="Rectangle 14"/>
          <p:cNvSpPr>
            <a:spLocks noChangeArrowheads="1"/>
          </p:cNvSpPr>
          <p:nvPr/>
        </p:nvSpPr>
        <p:spPr bwMode="auto">
          <a:xfrm flipV="1">
            <a:off x="6466707" y="3773147"/>
            <a:ext cx="162329" cy="152080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09" name="직선 연결선 108"/>
          <p:cNvCxnSpPr>
            <a:stCxn id="106" idx="0"/>
            <a:endCxn id="108" idx="0"/>
          </p:cNvCxnSpPr>
          <p:nvPr/>
        </p:nvCxnSpPr>
        <p:spPr>
          <a:xfrm flipV="1">
            <a:off x="6546655" y="3925227"/>
            <a:ext cx="1217" cy="129063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직사각형 109"/>
          <p:cNvSpPr/>
          <p:nvPr/>
        </p:nvSpPr>
        <p:spPr>
          <a:xfrm>
            <a:off x="9230411" y="5215865"/>
            <a:ext cx="1664516" cy="283526"/>
          </a:xfrm>
          <a:prstGeom prst="rect">
            <a:avLst/>
          </a:prstGeom>
          <a:solidFill>
            <a:srgbClr val="00B0F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X </a:t>
            </a:r>
            <a:r>
              <a:rPr lang="ko-KR" altLang="en-US" sz="1000" dirty="0">
                <a:solidFill>
                  <a:schemeClr val="bg1"/>
                </a:solidFill>
              </a:rPr>
              <a:t>기초 우선권주장의 추가</a:t>
            </a:r>
          </a:p>
        </p:txBody>
      </p:sp>
      <p:sp>
        <p:nvSpPr>
          <p:cNvPr id="111" name="Rectangle 14"/>
          <p:cNvSpPr>
            <a:spLocks noChangeArrowheads="1"/>
          </p:cNvSpPr>
          <p:nvPr/>
        </p:nvSpPr>
        <p:spPr bwMode="auto">
          <a:xfrm flipV="1">
            <a:off x="9982721" y="3773147"/>
            <a:ext cx="162329" cy="152080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12" name="직선 연결선 111"/>
          <p:cNvCxnSpPr>
            <a:stCxn id="110" idx="0"/>
            <a:endCxn id="111" idx="0"/>
          </p:cNvCxnSpPr>
          <p:nvPr/>
        </p:nvCxnSpPr>
        <p:spPr>
          <a:xfrm flipV="1">
            <a:off x="10062669" y="3925227"/>
            <a:ext cx="1217" cy="129063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7063824" y="3183637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77284" y="4046906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cxnSp>
        <p:nvCxnSpPr>
          <p:cNvPr id="115" name="직선 연결선 114"/>
          <p:cNvCxnSpPr/>
          <p:nvPr/>
        </p:nvCxnSpPr>
        <p:spPr>
          <a:xfrm>
            <a:off x="4966281" y="3178567"/>
            <a:ext cx="0" cy="226020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772603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직사각형 98"/>
          <p:cNvSpPr/>
          <p:nvPr/>
        </p:nvSpPr>
        <p:spPr>
          <a:xfrm>
            <a:off x="742949" y="2980668"/>
            <a:ext cx="11163127" cy="112398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모서리가 둥근 직사각형 99"/>
          <p:cNvSpPr/>
          <p:nvPr/>
        </p:nvSpPr>
        <p:spPr>
          <a:xfrm>
            <a:off x="304800" y="3173765"/>
            <a:ext cx="885825" cy="71254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54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조제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호</a:t>
            </a:r>
          </a:p>
        </p:txBody>
      </p:sp>
      <p:sp>
        <p:nvSpPr>
          <p:cNvPr id="97" name="직사각형 96"/>
          <p:cNvSpPr/>
          <p:nvPr/>
        </p:nvSpPr>
        <p:spPr>
          <a:xfrm>
            <a:off x="742949" y="4133576"/>
            <a:ext cx="11163127" cy="130238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모서리가 둥근 직사각형 97"/>
          <p:cNvSpPr/>
          <p:nvPr/>
        </p:nvSpPr>
        <p:spPr>
          <a:xfrm>
            <a:off x="304800" y="4431252"/>
            <a:ext cx="885825" cy="71254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54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조제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호</a:t>
            </a:r>
          </a:p>
        </p:txBody>
      </p:sp>
      <p:sp>
        <p:nvSpPr>
          <p:cNvPr id="95" name="직사각형 94"/>
          <p:cNvSpPr/>
          <p:nvPr/>
        </p:nvSpPr>
        <p:spPr>
          <a:xfrm>
            <a:off x="742949" y="5466542"/>
            <a:ext cx="11163127" cy="131525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양쪽 모서리가 둥근 사각형 64"/>
          <p:cNvSpPr/>
          <p:nvPr/>
        </p:nvSpPr>
        <p:spPr>
          <a:xfrm>
            <a:off x="2654375" y="4434190"/>
            <a:ext cx="7737400" cy="297741"/>
          </a:xfrm>
          <a:prstGeom prst="round2SameRect">
            <a:avLst>
              <a:gd name="adj1" fmla="val 50000"/>
              <a:gd name="adj2" fmla="val 0"/>
            </a:avLst>
          </a:prstGeom>
          <a:pattFill prst="dkVert">
            <a:fgClr>
              <a:schemeClr val="accent4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양쪽 모서리가 둥근 사각형 5"/>
          <p:cNvSpPr/>
          <p:nvPr/>
        </p:nvSpPr>
        <p:spPr>
          <a:xfrm>
            <a:off x="2654375" y="3271096"/>
            <a:ext cx="7737400" cy="297741"/>
          </a:xfrm>
          <a:prstGeom prst="round2SameRect">
            <a:avLst>
              <a:gd name="adj1" fmla="val 50000"/>
              <a:gd name="adj2" fmla="val 0"/>
            </a:avLst>
          </a:prstGeom>
          <a:pattFill prst="dkVert">
            <a:fgClr>
              <a:schemeClr val="accent4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54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우선권증명서류의 제출기간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54</a:t>
            </a:r>
            <a:r>
              <a:rPr lang="ko-KR" altLang="en-US" dirty="0"/>
              <a:t>조제</a:t>
            </a:r>
            <a:r>
              <a:rPr lang="en-US" altLang="ko-KR" dirty="0"/>
              <a:t>4</a:t>
            </a:r>
            <a:r>
              <a:rPr lang="ko-KR" altLang="en-US" dirty="0"/>
              <a:t>항</a:t>
            </a:r>
            <a:r>
              <a:rPr lang="en-US" altLang="ko-KR" dirty="0"/>
              <a:t> </a:t>
            </a:r>
            <a:r>
              <a:rPr lang="ko-KR" altLang="en-US" dirty="0"/>
              <a:t>내지 제</a:t>
            </a:r>
            <a:r>
              <a:rPr lang="en-US" altLang="ko-KR" dirty="0"/>
              <a:t>6</a:t>
            </a:r>
            <a:r>
              <a:rPr lang="ko-KR" altLang="en-US" dirty="0"/>
              <a:t>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77875" y="986046"/>
            <a:ext cx="11936323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300" b="1" dirty="0">
                <a:solidFill>
                  <a:schemeClr val="accent1"/>
                </a:solidFill>
              </a:rPr>
              <a:t>제</a:t>
            </a:r>
            <a:r>
              <a:rPr lang="en-US" altLang="ko-KR" sz="1300" b="1" dirty="0">
                <a:solidFill>
                  <a:schemeClr val="accent1"/>
                </a:solidFill>
              </a:rPr>
              <a:t>54</a:t>
            </a:r>
            <a:r>
              <a:rPr lang="ko-KR" altLang="en-US" sz="1300" b="1" dirty="0">
                <a:solidFill>
                  <a:schemeClr val="accent1"/>
                </a:solidFill>
              </a:rPr>
              <a:t>조</a:t>
            </a:r>
            <a:r>
              <a:rPr lang="en-US" altLang="ko-KR" sz="1300" b="1" dirty="0">
                <a:solidFill>
                  <a:schemeClr val="accent1"/>
                </a:solidFill>
              </a:rPr>
              <a:t>(</a:t>
            </a:r>
            <a:r>
              <a:rPr lang="ko-KR" altLang="en-US" sz="1300" b="1" dirty="0">
                <a:solidFill>
                  <a:schemeClr val="accent1"/>
                </a:solidFill>
              </a:rPr>
              <a:t>조약에 의한 우선권 주장</a:t>
            </a:r>
            <a:r>
              <a:rPr lang="en-US" altLang="ko-KR" sz="1300" b="1" dirty="0">
                <a:solidFill>
                  <a:schemeClr val="accent1"/>
                </a:solidFill>
              </a:rPr>
              <a:t>)</a:t>
            </a:r>
            <a:r>
              <a:rPr lang="en-US" altLang="ko-KR" sz="1300" b="1" dirty="0">
                <a:solidFill>
                  <a:schemeClr val="tx2"/>
                </a:solidFill>
              </a:rPr>
              <a:t> </a:t>
            </a:r>
            <a:r>
              <a:rPr lang="ko-KR" altLang="en-US" sz="1300" dirty="0">
                <a:solidFill>
                  <a:schemeClr val="tx2"/>
                </a:solidFill>
              </a:rPr>
              <a:t>④ 제</a:t>
            </a:r>
            <a:r>
              <a:rPr lang="en-US" altLang="ko-KR" sz="1300" dirty="0">
                <a:solidFill>
                  <a:schemeClr val="tx2"/>
                </a:solidFill>
              </a:rPr>
              <a:t>3</a:t>
            </a:r>
            <a:r>
              <a:rPr lang="ko-KR" altLang="en-US" sz="1300" dirty="0">
                <a:solidFill>
                  <a:schemeClr val="tx2"/>
                </a:solidFill>
              </a:rPr>
              <a:t>항에 따라 우선권을 주장한 자는 제</a:t>
            </a:r>
            <a:r>
              <a:rPr lang="en-US" altLang="ko-KR" sz="1300" dirty="0">
                <a:solidFill>
                  <a:schemeClr val="tx2"/>
                </a:solidFill>
              </a:rPr>
              <a:t>1</a:t>
            </a:r>
            <a:r>
              <a:rPr lang="ko-KR" altLang="en-US" sz="1300" dirty="0">
                <a:solidFill>
                  <a:schemeClr val="tx2"/>
                </a:solidFill>
              </a:rPr>
              <a:t>호의 서류 또는 제</a:t>
            </a:r>
            <a:r>
              <a:rPr lang="en-US" altLang="ko-KR" sz="1300" dirty="0">
                <a:solidFill>
                  <a:schemeClr val="tx2"/>
                </a:solidFill>
              </a:rPr>
              <a:t>2</a:t>
            </a:r>
            <a:r>
              <a:rPr lang="ko-KR" altLang="en-US" sz="1300" dirty="0">
                <a:solidFill>
                  <a:schemeClr val="tx2"/>
                </a:solidFill>
              </a:rPr>
              <a:t>호의 서면을 지식재산처장에게 제출하여야 한다</a:t>
            </a:r>
            <a:r>
              <a:rPr lang="en-US" altLang="ko-KR" sz="1300" dirty="0">
                <a:solidFill>
                  <a:schemeClr val="tx2"/>
                </a:solidFill>
              </a:rPr>
              <a:t>. </a:t>
            </a:r>
            <a:r>
              <a:rPr lang="ko-KR" altLang="en-US" sz="1300" dirty="0">
                <a:solidFill>
                  <a:schemeClr val="tx2"/>
                </a:solidFill>
              </a:rPr>
              <a:t>다만</a:t>
            </a:r>
            <a:r>
              <a:rPr lang="en-US" altLang="ko-KR" sz="1300" dirty="0">
                <a:solidFill>
                  <a:schemeClr val="tx2"/>
                </a:solidFill>
              </a:rPr>
              <a:t>, </a:t>
            </a:r>
            <a:r>
              <a:rPr lang="ko-KR" altLang="en-US" sz="1300" dirty="0">
                <a:solidFill>
                  <a:schemeClr val="tx2"/>
                </a:solidFill>
              </a:rPr>
              <a:t>제</a:t>
            </a:r>
            <a:r>
              <a:rPr lang="en-US" altLang="ko-KR" sz="1300" dirty="0">
                <a:solidFill>
                  <a:schemeClr val="tx2"/>
                </a:solidFill>
              </a:rPr>
              <a:t>2</a:t>
            </a:r>
            <a:r>
              <a:rPr lang="ko-KR" altLang="en-US" sz="1300" dirty="0">
                <a:solidFill>
                  <a:schemeClr val="tx2"/>
                </a:solidFill>
              </a:rPr>
              <a:t>호의 서면은 총리령으로 정하는 국가의 경우만 해당한다</a:t>
            </a:r>
            <a:r>
              <a:rPr lang="en-US" altLang="ko-KR" sz="13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300" dirty="0">
                <a:solidFill>
                  <a:schemeClr val="tx2"/>
                </a:solidFill>
              </a:rPr>
              <a:t>1. </a:t>
            </a:r>
            <a:r>
              <a:rPr lang="ko-KR" altLang="en-US" sz="1300" dirty="0">
                <a:solidFill>
                  <a:schemeClr val="tx2"/>
                </a:solidFill>
              </a:rPr>
              <a:t>최초로 출원한 국가의 정부가 인증하는 서류로서 특허출원의 연월일을 적은 서면</a:t>
            </a:r>
            <a:r>
              <a:rPr lang="en-US" altLang="ko-KR" sz="1300" dirty="0">
                <a:solidFill>
                  <a:schemeClr val="tx2"/>
                </a:solidFill>
              </a:rPr>
              <a:t>, </a:t>
            </a:r>
            <a:r>
              <a:rPr lang="ko-KR" altLang="en-US" sz="1300" dirty="0">
                <a:solidFill>
                  <a:schemeClr val="tx2"/>
                </a:solidFill>
              </a:rPr>
              <a:t>발명의 명세서 및 도면의 등본</a:t>
            </a:r>
          </a:p>
          <a:p>
            <a:pPr fontAlgn="base"/>
            <a:r>
              <a:rPr lang="en-US" altLang="ko-KR" sz="1300" dirty="0">
                <a:solidFill>
                  <a:schemeClr val="tx2"/>
                </a:solidFill>
              </a:rPr>
              <a:t>2. </a:t>
            </a:r>
            <a:r>
              <a:rPr lang="ko-KR" altLang="en-US" sz="1300" dirty="0">
                <a:solidFill>
                  <a:schemeClr val="tx2"/>
                </a:solidFill>
              </a:rPr>
              <a:t>최초로 출원한 국가의 특허출원의 출원번호 및 그 밖에 출원을 확인할 수 있는 정보 등 총리령으로 정하는 사항을 적은 서면</a:t>
            </a:r>
            <a:endParaRPr lang="en-US" altLang="ko-KR" sz="1300" dirty="0">
              <a:solidFill>
                <a:schemeClr val="tx2"/>
              </a:solidFill>
            </a:endParaRPr>
          </a:p>
          <a:p>
            <a:pPr fontAlgn="base"/>
            <a:r>
              <a:rPr lang="ko-KR" altLang="en-US" sz="1300" dirty="0">
                <a:solidFill>
                  <a:schemeClr val="tx2"/>
                </a:solidFill>
              </a:rPr>
              <a:t>⑤ 제</a:t>
            </a:r>
            <a:r>
              <a:rPr lang="en-US" altLang="ko-KR" sz="1300" dirty="0">
                <a:solidFill>
                  <a:schemeClr val="tx2"/>
                </a:solidFill>
              </a:rPr>
              <a:t>4</a:t>
            </a:r>
            <a:r>
              <a:rPr lang="ko-KR" altLang="en-US" sz="1300" dirty="0">
                <a:solidFill>
                  <a:schemeClr val="tx2"/>
                </a:solidFill>
              </a:rPr>
              <a:t>항에 따른 서류 또는 서면은 다음 각 호에 해당하는 날 중 최우선일</a:t>
            </a:r>
            <a:r>
              <a:rPr lang="en-US" altLang="ko-KR" sz="1300" dirty="0">
                <a:solidFill>
                  <a:schemeClr val="tx2"/>
                </a:solidFill>
              </a:rPr>
              <a:t>(</a:t>
            </a:r>
            <a:r>
              <a:rPr lang="ko-KR" altLang="en-US" sz="1300" dirty="0">
                <a:solidFill>
                  <a:schemeClr val="tx2"/>
                </a:solidFill>
              </a:rPr>
              <a:t>最優先日</a:t>
            </a:r>
            <a:r>
              <a:rPr lang="en-US" altLang="ko-KR" sz="1300" dirty="0">
                <a:solidFill>
                  <a:schemeClr val="tx2"/>
                </a:solidFill>
              </a:rPr>
              <a:t>)</a:t>
            </a:r>
            <a:r>
              <a:rPr lang="ko-KR" altLang="en-US" sz="1300" dirty="0">
                <a:solidFill>
                  <a:schemeClr val="tx2"/>
                </a:solidFill>
              </a:rPr>
              <a:t>부터 </a:t>
            </a:r>
            <a:r>
              <a:rPr lang="en-US" altLang="ko-KR" sz="1300" dirty="0">
                <a:solidFill>
                  <a:schemeClr val="tx2"/>
                </a:solidFill>
              </a:rPr>
              <a:t>1</a:t>
            </a:r>
            <a:r>
              <a:rPr lang="ko-KR" altLang="en-US" sz="1300" dirty="0">
                <a:solidFill>
                  <a:schemeClr val="tx2"/>
                </a:solidFill>
              </a:rPr>
              <a:t>년 </a:t>
            </a:r>
            <a:r>
              <a:rPr lang="en-US" altLang="ko-KR" sz="1300" dirty="0">
                <a:solidFill>
                  <a:schemeClr val="tx2"/>
                </a:solidFill>
              </a:rPr>
              <a:t>4</a:t>
            </a:r>
            <a:r>
              <a:rPr lang="ko-KR" altLang="en-US" sz="1300" dirty="0">
                <a:solidFill>
                  <a:schemeClr val="tx2"/>
                </a:solidFill>
              </a:rPr>
              <a:t>개월 이내에 제출하여야 한다</a:t>
            </a:r>
            <a:r>
              <a:rPr lang="en-US" altLang="ko-KR" sz="13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300" dirty="0">
                <a:solidFill>
                  <a:schemeClr val="tx2"/>
                </a:solidFill>
              </a:rPr>
              <a:t>1. </a:t>
            </a:r>
            <a:r>
              <a:rPr lang="ko-KR" altLang="en-US" sz="1300" dirty="0">
                <a:solidFill>
                  <a:schemeClr val="tx2"/>
                </a:solidFill>
              </a:rPr>
              <a:t>조약 당사국에 최초로 출원한 출원일</a:t>
            </a:r>
          </a:p>
          <a:p>
            <a:pPr fontAlgn="base"/>
            <a:r>
              <a:rPr lang="en-US" altLang="ko-KR" sz="1300" dirty="0">
                <a:solidFill>
                  <a:schemeClr val="tx2"/>
                </a:solidFill>
              </a:rPr>
              <a:t>2. </a:t>
            </a:r>
            <a:r>
              <a:rPr lang="ko-KR" altLang="en-US" sz="1300" dirty="0">
                <a:solidFill>
                  <a:schemeClr val="tx2"/>
                </a:solidFill>
              </a:rPr>
              <a:t>그 특허출원이 제</a:t>
            </a:r>
            <a:r>
              <a:rPr lang="en-US" altLang="ko-KR" sz="1300" dirty="0">
                <a:solidFill>
                  <a:schemeClr val="tx2"/>
                </a:solidFill>
              </a:rPr>
              <a:t>55</a:t>
            </a:r>
            <a:r>
              <a:rPr lang="ko-KR" altLang="en-US" sz="1300" dirty="0">
                <a:solidFill>
                  <a:schemeClr val="tx2"/>
                </a:solidFill>
              </a:rPr>
              <a:t>조제</a:t>
            </a:r>
            <a:r>
              <a:rPr lang="en-US" altLang="ko-KR" sz="1300" dirty="0">
                <a:solidFill>
                  <a:schemeClr val="tx2"/>
                </a:solidFill>
              </a:rPr>
              <a:t>1</a:t>
            </a:r>
            <a:r>
              <a:rPr lang="ko-KR" altLang="en-US" sz="1300" dirty="0">
                <a:solidFill>
                  <a:schemeClr val="tx2"/>
                </a:solidFill>
              </a:rPr>
              <a:t>항에 따른 우선권 주장을 수반하는 경우에는 그 우선권 주장의 기초가 되는 출원의 출원일</a:t>
            </a:r>
          </a:p>
          <a:p>
            <a:pPr fontAlgn="base"/>
            <a:r>
              <a:rPr lang="en-US" altLang="ko-KR" sz="1300" dirty="0">
                <a:solidFill>
                  <a:schemeClr val="tx2"/>
                </a:solidFill>
              </a:rPr>
              <a:t>3. </a:t>
            </a:r>
            <a:r>
              <a:rPr lang="ko-KR" altLang="en-US" sz="1300" dirty="0">
                <a:solidFill>
                  <a:schemeClr val="tx2"/>
                </a:solidFill>
              </a:rPr>
              <a:t>그 특허출원이 제</a:t>
            </a:r>
            <a:r>
              <a:rPr lang="en-US" altLang="ko-KR" sz="1300" dirty="0">
                <a:solidFill>
                  <a:schemeClr val="tx2"/>
                </a:solidFill>
              </a:rPr>
              <a:t>3</a:t>
            </a:r>
            <a:r>
              <a:rPr lang="ko-KR" altLang="en-US" sz="1300" dirty="0">
                <a:solidFill>
                  <a:schemeClr val="tx2"/>
                </a:solidFill>
              </a:rPr>
              <a:t>항에 따른 다른 우선권 주장을 수반하는 경우에는 그 우선권 주장의 기초가 되는 출원의 출원일</a:t>
            </a:r>
          </a:p>
          <a:p>
            <a:pPr fontAlgn="base"/>
            <a:r>
              <a:rPr lang="ko-KR" altLang="en-US" sz="1300" dirty="0">
                <a:solidFill>
                  <a:schemeClr val="tx2"/>
                </a:solidFill>
              </a:rPr>
              <a:t>⑥ 제</a:t>
            </a:r>
            <a:r>
              <a:rPr lang="en-US" altLang="ko-KR" sz="1300" dirty="0">
                <a:solidFill>
                  <a:schemeClr val="tx2"/>
                </a:solidFill>
              </a:rPr>
              <a:t>3</a:t>
            </a:r>
            <a:r>
              <a:rPr lang="ko-KR" altLang="en-US" sz="1300" dirty="0">
                <a:solidFill>
                  <a:schemeClr val="tx2"/>
                </a:solidFill>
              </a:rPr>
              <a:t>항에 따라 우선권을 주장한 자가 제</a:t>
            </a:r>
            <a:r>
              <a:rPr lang="en-US" altLang="ko-KR" sz="1300" dirty="0">
                <a:solidFill>
                  <a:schemeClr val="tx2"/>
                </a:solidFill>
              </a:rPr>
              <a:t>5</a:t>
            </a:r>
            <a:r>
              <a:rPr lang="ko-KR" altLang="en-US" sz="1300" dirty="0">
                <a:solidFill>
                  <a:schemeClr val="tx2"/>
                </a:solidFill>
              </a:rPr>
              <a:t>항의 기간에 제</a:t>
            </a:r>
            <a:r>
              <a:rPr lang="en-US" altLang="ko-KR" sz="1300" dirty="0">
                <a:solidFill>
                  <a:schemeClr val="tx2"/>
                </a:solidFill>
              </a:rPr>
              <a:t>4</a:t>
            </a:r>
            <a:r>
              <a:rPr lang="ko-KR" altLang="en-US" sz="1300" dirty="0">
                <a:solidFill>
                  <a:schemeClr val="tx2"/>
                </a:solidFill>
              </a:rPr>
              <a:t>항에 따른 서류를 제출하지 아니한 경우에는 그 우선권 주장은 효력을 상실한다</a:t>
            </a:r>
            <a:r>
              <a:rPr lang="en-US" altLang="ko-KR" sz="13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34" name="직선 연결선 33"/>
          <p:cNvCxnSpPr/>
          <p:nvPr/>
        </p:nvCxnSpPr>
        <p:spPr>
          <a:xfrm>
            <a:off x="0" y="2866341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>
            <a:off x="1480656" y="3568837"/>
            <a:ext cx="1013031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4"/>
          <p:cNvSpPr>
            <a:spLocks noChangeArrowheads="1"/>
          </p:cNvSpPr>
          <p:nvPr/>
        </p:nvSpPr>
        <p:spPr bwMode="auto">
          <a:xfrm>
            <a:off x="6634873" y="3644480"/>
            <a:ext cx="1527294" cy="2713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100" dirty="0">
              <a:latin typeface="+mj-ea"/>
              <a:ea typeface="+mj-ea"/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644384" y="3644480"/>
            <a:ext cx="1527294" cy="2713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100" dirty="0">
              <a:latin typeface="+mj-ea"/>
              <a:ea typeface="+mj-ea"/>
            </a:endParaRP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652971" y="2980669"/>
            <a:ext cx="1527294" cy="2713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dirty="0">
                <a:latin typeface="+mj-ea"/>
                <a:ea typeface="+mj-ea"/>
              </a:rPr>
              <a:t>1</a:t>
            </a:r>
            <a:r>
              <a:rPr lang="ko-KR" altLang="en-US" sz="1100" dirty="0">
                <a:latin typeface="+mj-ea"/>
                <a:ea typeface="+mj-ea"/>
              </a:rPr>
              <a:t>년 </a:t>
            </a:r>
            <a:r>
              <a:rPr lang="en-US" altLang="ko-KR" sz="1100" dirty="0">
                <a:latin typeface="+mj-ea"/>
                <a:ea typeface="+mj-ea"/>
              </a:rPr>
              <a:t>4</a:t>
            </a:r>
            <a:r>
              <a:rPr lang="ko-KR" altLang="en-US" sz="1100" dirty="0">
                <a:latin typeface="+mj-ea"/>
                <a:ea typeface="+mj-ea"/>
              </a:rPr>
              <a:t>월 이내</a:t>
            </a:r>
          </a:p>
        </p:txBody>
      </p:sp>
      <p:cxnSp>
        <p:nvCxnSpPr>
          <p:cNvPr id="22" name="직선 화살표 연결선 21"/>
          <p:cNvCxnSpPr/>
          <p:nvPr/>
        </p:nvCxnSpPr>
        <p:spPr>
          <a:xfrm>
            <a:off x="1480656" y="4730828"/>
            <a:ext cx="10130319" cy="979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14"/>
          <p:cNvSpPr>
            <a:spLocks noChangeArrowheads="1"/>
          </p:cNvSpPr>
          <p:nvPr/>
        </p:nvSpPr>
        <p:spPr bwMode="auto">
          <a:xfrm>
            <a:off x="6634873" y="4806470"/>
            <a:ext cx="1527294" cy="2713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100" dirty="0">
              <a:latin typeface="+mj-ea"/>
              <a:ea typeface="+mj-ea"/>
            </a:endParaRPr>
          </a:p>
        </p:txBody>
      </p:sp>
      <p:sp>
        <p:nvSpPr>
          <p:cNvPr id="28" name="Rectangle 14"/>
          <p:cNvSpPr>
            <a:spLocks noChangeArrowheads="1"/>
          </p:cNvSpPr>
          <p:nvPr/>
        </p:nvSpPr>
        <p:spPr bwMode="auto">
          <a:xfrm>
            <a:off x="1644384" y="4806470"/>
            <a:ext cx="1527294" cy="2713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100" dirty="0">
              <a:latin typeface="+mj-ea"/>
              <a:ea typeface="+mj-ea"/>
            </a:endParaRPr>
          </a:p>
        </p:txBody>
      </p:sp>
      <p:sp>
        <p:nvSpPr>
          <p:cNvPr id="35" name="Rectangle 14"/>
          <p:cNvSpPr>
            <a:spLocks noChangeArrowheads="1"/>
          </p:cNvSpPr>
          <p:nvPr/>
        </p:nvSpPr>
        <p:spPr bwMode="auto">
          <a:xfrm>
            <a:off x="4408447" y="4806470"/>
            <a:ext cx="1527294" cy="2713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100" dirty="0">
              <a:latin typeface="+mj-ea"/>
              <a:ea typeface="+mj-ea"/>
            </a:endParaRPr>
          </a:p>
        </p:txBody>
      </p:sp>
      <p:sp>
        <p:nvSpPr>
          <p:cNvPr id="54" name="Rectangle 14"/>
          <p:cNvSpPr>
            <a:spLocks noChangeArrowheads="1"/>
          </p:cNvSpPr>
          <p:nvPr/>
        </p:nvSpPr>
        <p:spPr bwMode="auto">
          <a:xfrm>
            <a:off x="1967977" y="3441711"/>
            <a:ext cx="1527294" cy="2645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 err="1">
                <a:latin typeface="+mj-ea"/>
                <a:ea typeface="+mj-ea"/>
              </a:rPr>
              <a:t>외국출원</a:t>
            </a:r>
            <a:r>
              <a:rPr lang="en-US" altLang="ko-KR" sz="1100" dirty="0">
                <a:latin typeface="+mj-ea"/>
                <a:ea typeface="+mj-ea"/>
              </a:rPr>
              <a:t>(X)</a:t>
            </a:r>
          </a:p>
        </p:txBody>
      </p:sp>
      <p:sp>
        <p:nvSpPr>
          <p:cNvPr id="56" name="Rectangle 14"/>
          <p:cNvSpPr>
            <a:spLocks noChangeArrowheads="1"/>
          </p:cNvSpPr>
          <p:nvPr/>
        </p:nvSpPr>
        <p:spPr bwMode="auto">
          <a:xfrm>
            <a:off x="7037769" y="3441711"/>
            <a:ext cx="1810796" cy="2645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 err="1">
                <a:latin typeface="+mj-ea"/>
                <a:ea typeface="+mj-ea"/>
              </a:rPr>
              <a:t>한국출원</a:t>
            </a:r>
            <a:r>
              <a:rPr lang="en-US" altLang="ko-KR" sz="1100" dirty="0">
                <a:latin typeface="+mj-ea"/>
                <a:ea typeface="+mj-ea"/>
              </a:rPr>
              <a:t>(Z)</a:t>
            </a:r>
          </a:p>
        </p:txBody>
      </p:sp>
      <p:sp>
        <p:nvSpPr>
          <p:cNvPr id="57" name="Rectangle 14"/>
          <p:cNvSpPr>
            <a:spLocks noChangeArrowheads="1"/>
          </p:cNvSpPr>
          <p:nvPr/>
        </p:nvSpPr>
        <p:spPr bwMode="auto">
          <a:xfrm>
            <a:off x="7037769" y="3700505"/>
            <a:ext cx="1810796" cy="2645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dirty="0">
                <a:latin typeface="+mj-ea"/>
                <a:ea typeface="+mj-ea"/>
              </a:rPr>
              <a:t>X </a:t>
            </a:r>
            <a:r>
              <a:rPr lang="ko-KR" altLang="en-US" sz="1100" dirty="0">
                <a:latin typeface="+mj-ea"/>
                <a:ea typeface="+mj-ea"/>
              </a:rPr>
              <a:t>기초 조약우선권주장</a:t>
            </a:r>
            <a:endParaRPr lang="en-US" altLang="ko-KR" sz="1100" dirty="0">
              <a:latin typeface="+mj-ea"/>
              <a:ea typeface="+mj-ea"/>
            </a:endParaRPr>
          </a:p>
        </p:txBody>
      </p:sp>
      <p:sp>
        <p:nvSpPr>
          <p:cNvPr id="58" name="Rectangle 14"/>
          <p:cNvSpPr>
            <a:spLocks noChangeArrowheads="1"/>
          </p:cNvSpPr>
          <p:nvPr/>
        </p:nvSpPr>
        <p:spPr bwMode="auto">
          <a:xfrm>
            <a:off x="9628128" y="3442541"/>
            <a:ext cx="1527294" cy="2645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j-ea"/>
                <a:ea typeface="+mj-ea"/>
              </a:rPr>
              <a:t>증명서류</a:t>
            </a:r>
            <a:r>
              <a:rPr lang="en-US" altLang="ko-KR" sz="1100" dirty="0">
                <a:latin typeface="+mj-ea"/>
                <a:ea typeface="+mj-ea"/>
              </a:rPr>
              <a:t>(X)</a:t>
            </a:r>
          </a:p>
        </p:txBody>
      </p:sp>
      <p:sp>
        <p:nvSpPr>
          <p:cNvPr id="59" name="Rectangle 14"/>
          <p:cNvSpPr>
            <a:spLocks noChangeArrowheads="1"/>
          </p:cNvSpPr>
          <p:nvPr/>
        </p:nvSpPr>
        <p:spPr bwMode="auto">
          <a:xfrm>
            <a:off x="1967977" y="4608714"/>
            <a:ext cx="1527294" cy="2645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j-ea"/>
                <a:ea typeface="+mj-ea"/>
              </a:rPr>
              <a:t>외국</a:t>
            </a:r>
            <a:r>
              <a:rPr lang="en-US" altLang="ko-KR" sz="1100" dirty="0">
                <a:latin typeface="+mj-ea"/>
                <a:ea typeface="+mj-ea"/>
              </a:rPr>
              <a:t>(</a:t>
            </a:r>
            <a:r>
              <a:rPr lang="ko-KR" altLang="en-US" sz="1100" dirty="0">
                <a:latin typeface="+mj-ea"/>
                <a:ea typeface="+mj-ea"/>
              </a:rPr>
              <a:t>한국</a:t>
            </a:r>
            <a:r>
              <a:rPr lang="en-US" altLang="ko-KR" sz="1100" dirty="0">
                <a:latin typeface="+mj-ea"/>
                <a:ea typeface="+mj-ea"/>
              </a:rPr>
              <a:t>)</a:t>
            </a:r>
            <a:r>
              <a:rPr lang="ko-KR" altLang="en-US" sz="1100" dirty="0">
                <a:latin typeface="+mj-ea"/>
                <a:ea typeface="+mj-ea"/>
              </a:rPr>
              <a:t>출원</a:t>
            </a:r>
            <a:r>
              <a:rPr lang="en-US" altLang="ko-KR" sz="1100" dirty="0">
                <a:latin typeface="+mj-ea"/>
                <a:ea typeface="+mj-ea"/>
              </a:rPr>
              <a:t>(X)</a:t>
            </a:r>
          </a:p>
        </p:txBody>
      </p:sp>
      <p:sp>
        <p:nvSpPr>
          <p:cNvPr id="60" name="Rectangle 14"/>
          <p:cNvSpPr>
            <a:spLocks noChangeArrowheads="1"/>
          </p:cNvSpPr>
          <p:nvPr/>
        </p:nvSpPr>
        <p:spPr bwMode="auto">
          <a:xfrm>
            <a:off x="4536562" y="4608714"/>
            <a:ext cx="1527294" cy="2645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j-ea"/>
                <a:ea typeface="+mj-ea"/>
              </a:rPr>
              <a:t>한국</a:t>
            </a:r>
            <a:r>
              <a:rPr lang="en-US" altLang="ko-KR" sz="1100" dirty="0">
                <a:latin typeface="+mj-ea"/>
                <a:ea typeface="+mj-ea"/>
              </a:rPr>
              <a:t>(</a:t>
            </a:r>
            <a:r>
              <a:rPr lang="ko-KR" altLang="en-US" sz="1100" dirty="0">
                <a:latin typeface="+mj-ea"/>
                <a:ea typeface="+mj-ea"/>
              </a:rPr>
              <a:t>외국</a:t>
            </a:r>
            <a:r>
              <a:rPr lang="en-US" altLang="ko-KR" sz="1100" dirty="0">
                <a:latin typeface="+mj-ea"/>
                <a:ea typeface="+mj-ea"/>
              </a:rPr>
              <a:t>)</a:t>
            </a:r>
            <a:r>
              <a:rPr lang="ko-KR" altLang="en-US" sz="1100" dirty="0">
                <a:latin typeface="+mj-ea"/>
                <a:ea typeface="+mj-ea"/>
              </a:rPr>
              <a:t>출원</a:t>
            </a:r>
            <a:r>
              <a:rPr lang="en-US" altLang="ko-KR" sz="1100" dirty="0">
                <a:latin typeface="+mj-ea"/>
                <a:ea typeface="+mj-ea"/>
              </a:rPr>
              <a:t>(Y)</a:t>
            </a:r>
          </a:p>
        </p:txBody>
      </p:sp>
      <p:sp>
        <p:nvSpPr>
          <p:cNvPr id="61" name="Rectangle 14"/>
          <p:cNvSpPr>
            <a:spLocks noChangeArrowheads="1"/>
          </p:cNvSpPr>
          <p:nvPr/>
        </p:nvSpPr>
        <p:spPr bwMode="auto">
          <a:xfrm>
            <a:off x="7037769" y="4596948"/>
            <a:ext cx="1810796" cy="2645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 err="1">
                <a:latin typeface="+mj-ea"/>
                <a:ea typeface="+mj-ea"/>
              </a:rPr>
              <a:t>한국출원</a:t>
            </a:r>
            <a:r>
              <a:rPr lang="en-US" altLang="ko-KR" sz="1100" dirty="0">
                <a:latin typeface="+mj-ea"/>
                <a:ea typeface="+mj-ea"/>
              </a:rPr>
              <a:t>(Z)</a:t>
            </a:r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7037769" y="4855742"/>
            <a:ext cx="1810796" cy="2645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dirty="0">
                <a:latin typeface="+mj-ea"/>
                <a:ea typeface="+mj-ea"/>
              </a:rPr>
              <a:t>X </a:t>
            </a:r>
            <a:r>
              <a:rPr lang="ko-KR" altLang="en-US" sz="1100" dirty="0">
                <a:latin typeface="+mj-ea"/>
                <a:ea typeface="+mj-ea"/>
              </a:rPr>
              <a:t>기초 조약</a:t>
            </a:r>
            <a:r>
              <a:rPr lang="en-US" altLang="ko-KR" sz="1100" dirty="0">
                <a:latin typeface="+mj-ea"/>
                <a:ea typeface="+mj-ea"/>
              </a:rPr>
              <a:t>(</a:t>
            </a:r>
            <a:r>
              <a:rPr lang="ko-KR" altLang="en-US" sz="1100" dirty="0">
                <a:latin typeface="+mj-ea"/>
                <a:ea typeface="+mj-ea"/>
              </a:rPr>
              <a:t>국내</a:t>
            </a:r>
            <a:r>
              <a:rPr lang="en-US" altLang="ko-KR" sz="1100" dirty="0">
                <a:latin typeface="+mj-ea"/>
                <a:ea typeface="+mj-ea"/>
              </a:rPr>
              <a:t>)</a:t>
            </a:r>
            <a:r>
              <a:rPr lang="ko-KR" altLang="en-US" sz="1100" dirty="0" err="1">
                <a:latin typeface="+mj-ea"/>
                <a:ea typeface="+mj-ea"/>
              </a:rPr>
              <a:t>우선권주장</a:t>
            </a:r>
            <a:endParaRPr lang="en-US" altLang="ko-KR" sz="1100" dirty="0">
              <a:latin typeface="+mj-ea"/>
              <a:ea typeface="+mj-ea"/>
            </a:endParaRPr>
          </a:p>
        </p:txBody>
      </p:sp>
      <p:sp>
        <p:nvSpPr>
          <p:cNvPr id="63" name="Rectangle 14"/>
          <p:cNvSpPr>
            <a:spLocks noChangeArrowheads="1"/>
          </p:cNvSpPr>
          <p:nvPr/>
        </p:nvSpPr>
        <p:spPr bwMode="auto">
          <a:xfrm>
            <a:off x="7037769" y="5112941"/>
            <a:ext cx="1810796" cy="2645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dirty="0">
                <a:latin typeface="+mj-ea"/>
                <a:ea typeface="+mj-ea"/>
              </a:rPr>
              <a:t>Y </a:t>
            </a:r>
            <a:r>
              <a:rPr lang="ko-KR" altLang="en-US" sz="1100" dirty="0">
                <a:latin typeface="+mj-ea"/>
                <a:ea typeface="+mj-ea"/>
              </a:rPr>
              <a:t>기초 국내</a:t>
            </a:r>
            <a:r>
              <a:rPr lang="en-US" altLang="ko-KR" sz="1100" dirty="0">
                <a:latin typeface="+mj-ea"/>
                <a:ea typeface="+mj-ea"/>
              </a:rPr>
              <a:t>(</a:t>
            </a:r>
            <a:r>
              <a:rPr lang="ko-KR" altLang="en-US" sz="1100" dirty="0">
                <a:latin typeface="+mj-ea"/>
                <a:ea typeface="+mj-ea"/>
              </a:rPr>
              <a:t>조약</a:t>
            </a:r>
            <a:r>
              <a:rPr lang="en-US" altLang="ko-KR" sz="1100" dirty="0">
                <a:latin typeface="+mj-ea"/>
                <a:ea typeface="+mj-ea"/>
              </a:rPr>
              <a:t>)</a:t>
            </a:r>
            <a:r>
              <a:rPr lang="ko-KR" altLang="en-US" sz="1100" dirty="0" err="1">
                <a:latin typeface="+mj-ea"/>
                <a:ea typeface="+mj-ea"/>
              </a:rPr>
              <a:t>우선권주장</a:t>
            </a:r>
            <a:endParaRPr lang="en-US" altLang="ko-KR" sz="1100" dirty="0">
              <a:latin typeface="+mj-ea"/>
              <a:ea typeface="+mj-ea"/>
            </a:endParaRPr>
          </a:p>
        </p:txBody>
      </p:sp>
      <p:sp>
        <p:nvSpPr>
          <p:cNvPr id="64" name="Rectangle 14"/>
          <p:cNvSpPr>
            <a:spLocks noChangeArrowheads="1"/>
          </p:cNvSpPr>
          <p:nvPr/>
        </p:nvSpPr>
        <p:spPr bwMode="auto">
          <a:xfrm>
            <a:off x="9628128" y="4596948"/>
            <a:ext cx="1527294" cy="2645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j-ea"/>
                <a:ea typeface="+mj-ea"/>
              </a:rPr>
              <a:t>증명서류</a:t>
            </a:r>
            <a:r>
              <a:rPr lang="en-US" altLang="ko-KR" sz="1100" dirty="0">
                <a:latin typeface="+mj-ea"/>
                <a:ea typeface="+mj-ea"/>
              </a:rPr>
              <a:t>(X(Y))</a:t>
            </a:r>
          </a:p>
        </p:txBody>
      </p:sp>
      <p:sp>
        <p:nvSpPr>
          <p:cNvPr id="66" name="Rectangle 14"/>
          <p:cNvSpPr>
            <a:spLocks noChangeArrowheads="1"/>
          </p:cNvSpPr>
          <p:nvPr/>
        </p:nvSpPr>
        <p:spPr bwMode="auto">
          <a:xfrm>
            <a:off x="5652971" y="4143763"/>
            <a:ext cx="1527294" cy="2713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dirty="0">
                <a:latin typeface="+mj-ea"/>
                <a:ea typeface="+mj-ea"/>
              </a:rPr>
              <a:t>1</a:t>
            </a:r>
            <a:r>
              <a:rPr lang="ko-KR" altLang="en-US" sz="1100" dirty="0">
                <a:latin typeface="+mj-ea"/>
                <a:ea typeface="+mj-ea"/>
              </a:rPr>
              <a:t>년 </a:t>
            </a:r>
            <a:r>
              <a:rPr lang="en-US" altLang="ko-KR" sz="1100" dirty="0">
                <a:latin typeface="+mj-ea"/>
                <a:ea typeface="+mj-ea"/>
              </a:rPr>
              <a:t>4</a:t>
            </a:r>
            <a:r>
              <a:rPr lang="ko-KR" altLang="en-US" sz="1100" dirty="0">
                <a:latin typeface="+mj-ea"/>
                <a:ea typeface="+mj-ea"/>
              </a:rPr>
              <a:t>월 이내</a:t>
            </a:r>
          </a:p>
        </p:txBody>
      </p:sp>
      <p:sp>
        <p:nvSpPr>
          <p:cNvPr id="67" name="양쪽 모서리가 둥근 사각형 66"/>
          <p:cNvSpPr/>
          <p:nvPr/>
        </p:nvSpPr>
        <p:spPr>
          <a:xfrm>
            <a:off x="2654375" y="5784625"/>
            <a:ext cx="7737400" cy="297741"/>
          </a:xfrm>
          <a:prstGeom prst="round2SameRect">
            <a:avLst>
              <a:gd name="adj1" fmla="val 50000"/>
              <a:gd name="adj2" fmla="val 0"/>
            </a:avLst>
          </a:prstGeom>
          <a:pattFill prst="dkVert">
            <a:fgClr>
              <a:schemeClr val="accent4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8" name="직선 화살표 연결선 67"/>
          <p:cNvCxnSpPr/>
          <p:nvPr/>
        </p:nvCxnSpPr>
        <p:spPr>
          <a:xfrm>
            <a:off x="1480656" y="6081263"/>
            <a:ext cx="1013031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14"/>
          <p:cNvSpPr>
            <a:spLocks noChangeArrowheads="1"/>
          </p:cNvSpPr>
          <p:nvPr/>
        </p:nvSpPr>
        <p:spPr bwMode="auto">
          <a:xfrm>
            <a:off x="6634873" y="6156905"/>
            <a:ext cx="1527294" cy="2713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100" dirty="0">
              <a:latin typeface="+mj-ea"/>
              <a:ea typeface="+mj-ea"/>
            </a:endParaRPr>
          </a:p>
        </p:txBody>
      </p:sp>
      <p:sp>
        <p:nvSpPr>
          <p:cNvPr id="70" name="Rectangle 14"/>
          <p:cNvSpPr>
            <a:spLocks noChangeArrowheads="1"/>
          </p:cNvSpPr>
          <p:nvPr/>
        </p:nvSpPr>
        <p:spPr bwMode="auto">
          <a:xfrm>
            <a:off x="1644384" y="6156905"/>
            <a:ext cx="1527294" cy="2713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100" dirty="0">
              <a:latin typeface="+mj-ea"/>
              <a:ea typeface="+mj-ea"/>
            </a:endParaRPr>
          </a:p>
        </p:txBody>
      </p:sp>
      <p:sp>
        <p:nvSpPr>
          <p:cNvPr id="71" name="Rectangle 14"/>
          <p:cNvSpPr>
            <a:spLocks noChangeArrowheads="1"/>
          </p:cNvSpPr>
          <p:nvPr/>
        </p:nvSpPr>
        <p:spPr bwMode="auto">
          <a:xfrm>
            <a:off x="4408447" y="6156905"/>
            <a:ext cx="1527294" cy="2713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100" dirty="0">
              <a:latin typeface="+mj-ea"/>
              <a:ea typeface="+mj-ea"/>
            </a:endParaRPr>
          </a:p>
        </p:txBody>
      </p:sp>
      <p:sp>
        <p:nvSpPr>
          <p:cNvPr id="72" name="Rectangle 14"/>
          <p:cNvSpPr>
            <a:spLocks noChangeArrowheads="1"/>
          </p:cNvSpPr>
          <p:nvPr/>
        </p:nvSpPr>
        <p:spPr bwMode="auto">
          <a:xfrm>
            <a:off x="1967977" y="5959149"/>
            <a:ext cx="1527294" cy="2645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 err="1">
                <a:latin typeface="+mj-ea"/>
                <a:ea typeface="+mj-ea"/>
              </a:rPr>
              <a:t>외국출원</a:t>
            </a:r>
            <a:r>
              <a:rPr lang="en-US" altLang="ko-KR" sz="1100" dirty="0">
                <a:latin typeface="+mj-ea"/>
                <a:ea typeface="+mj-ea"/>
              </a:rPr>
              <a:t>(X)</a:t>
            </a:r>
          </a:p>
        </p:txBody>
      </p:sp>
      <p:sp>
        <p:nvSpPr>
          <p:cNvPr id="73" name="Rectangle 14"/>
          <p:cNvSpPr>
            <a:spLocks noChangeArrowheads="1"/>
          </p:cNvSpPr>
          <p:nvPr/>
        </p:nvSpPr>
        <p:spPr bwMode="auto">
          <a:xfrm>
            <a:off x="4536562" y="5959149"/>
            <a:ext cx="1527294" cy="2645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 err="1">
                <a:latin typeface="+mj-ea"/>
                <a:ea typeface="+mj-ea"/>
              </a:rPr>
              <a:t>외국출원</a:t>
            </a:r>
            <a:r>
              <a:rPr lang="en-US" altLang="ko-KR" sz="1100" dirty="0">
                <a:latin typeface="+mj-ea"/>
                <a:ea typeface="+mj-ea"/>
              </a:rPr>
              <a:t>(Y)</a:t>
            </a:r>
          </a:p>
        </p:txBody>
      </p:sp>
      <p:sp>
        <p:nvSpPr>
          <p:cNvPr id="74" name="Rectangle 14"/>
          <p:cNvSpPr>
            <a:spLocks noChangeArrowheads="1"/>
          </p:cNvSpPr>
          <p:nvPr/>
        </p:nvSpPr>
        <p:spPr bwMode="auto">
          <a:xfrm>
            <a:off x="7037769" y="5947383"/>
            <a:ext cx="1810796" cy="2645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 err="1">
                <a:latin typeface="+mj-ea"/>
                <a:ea typeface="+mj-ea"/>
              </a:rPr>
              <a:t>한국출원</a:t>
            </a:r>
            <a:r>
              <a:rPr lang="en-US" altLang="ko-KR" sz="1100" dirty="0">
                <a:latin typeface="+mj-ea"/>
                <a:ea typeface="+mj-ea"/>
              </a:rPr>
              <a:t>(Z)</a:t>
            </a:r>
          </a:p>
        </p:txBody>
      </p:sp>
      <p:sp>
        <p:nvSpPr>
          <p:cNvPr id="75" name="Rectangle 14"/>
          <p:cNvSpPr>
            <a:spLocks noChangeArrowheads="1"/>
          </p:cNvSpPr>
          <p:nvPr/>
        </p:nvSpPr>
        <p:spPr bwMode="auto">
          <a:xfrm>
            <a:off x="7037769" y="6206177"/>
            <a:ext cx="1810796" cy="2645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dirty="0">
                <a:latin typeface="+mj-ea"/>
                <a:ea typeface="+mj-ea"/>
              </a:rPr>
              <a:t>X </a:t>
            </a:r>
            <a:r>
              <a:rPr lang="ko-KR" altLang="en-US" sz="1100" dirty="0">
                <a:latin typeface="+mj-ea"/>
                <a:ea typeface="+mj-ea"/>
              </a:rPr>
              <a:t>기초 조약우선권주장</a:t>
            </a:r>
            <a:endParaRPr lang="en-US" altLang="ko-KR" sz="1100" dirty="0">
              <a:latin typeface="+mj-ea"/>
              <a:ea typeface="+mj-ea"/>
            </a:endParaRPr>
          </a:p>
        </p:txBody>
      </p:sp>
      <p:sp>
        <p:nvSpPr>
          <p:cNvPr id="76" name="Rectangle 14"/>
          <p:cNvSpPr>
            <a:spLocks noChangeArrowheads="1"/>
          </p:cNvSpPr>
          <p:nvPr/>
        </p:nvSpPr>
        <p:spPr bwMode="auto">
          <a:xfrm>
            <a:off x="7037769" y="6463376"/>
            <a:ext cx="1810796" cy="2645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dirty="0">
                <a:latin typeface="+mj-ea"/>
                <a:ea typeface="+mj-ea"/>
              </a:rPr>
              <a:t>Y </a:t>
            </a:r>
            <a:r>
              <a:rPr lang="ko-KR" altLang="en-US" sz="1100" dirty="0">
                <a:latin typeface="+mj-ea"/>
                <a:ea typeface="+mj-ea"/>
              </a:rPr>
              <a:t>기초 조약우선권주장</a:t>
            </a:r>
            <a:endParaRPr lang="en-US" altLang="ko-KR" sz="1100" dirty="0">
              <a:latin typeface="+mj-ea"/>
              <a:ea typeface="+mj-ea"/>
            </a:endParaRPr>
          </a:p>
        </p:txBody>
      </p:sp>
      <p:sp>
        <p:nvSpPr>
          <p:cNvPr id="77" name="Rectangle 14"/>
          <p:cNvSpPr>
            <a:spLocks noChangeArrowheads="1"/>
          </p:cNvSpPr>
          <p:nvPr/>
        </p:nvSpPr>
        <p:spPr bwMode="auto">
          <a:xfrm>
            <a:off x="9628128" y="5947383"/>
            <a:ext cx="1527294" cy="2645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j-ea"/>
                <a:ea typeface="+mj-ea"/>
              </a:rPr>
              <a:t>증명서류</a:t>
            </a:r>
            <a:r>
              <a:rPr lang="en-US" altLang="ko-KR" sz="1100" dirty="0">
                <a:latin typeface="+mj-ea"/>
                <a:ea typeface="+mj-ea"/>
              </a:rPr>
              <a:t>(X)</a:t>
            </a:r>
          </a:p>
        </p:txBody>
      </p:sp>
      <p:sp>
        <p:nvSpPr>
          <p:cNvPr id="78" name="Rectangle 14"/>
          <p:cNvSpPr>
            <a:spLocks noChangeArrowheads="1"/>
          </p:cNvSpPr>
          <p:nvPr/>
        </p:nvSpPr>
        <p:spPr bwMode="auto">
          <a:xfrm>
            <a:off x="5652971" y="5494198"/>
            <a:ext cx="1527294" cy="2713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dirty="0">
                <a:latin typeface="+mj-ea"/>
                <a:ea typeface="+mj-ea"/>
              </a:rPr>
              <a:t>1</a:t>
            </a:r>
            <a:r>
              <a:rPr lang="ko-KR" altLang="en-US" sz="1100" dirty="0">
                <a:latin typeface="+mj-ea"/>
                <a:ea typeface="+mj-ea"/>
              </a:rPr>
              <a:t>년 </a:t>
            </a:r>
            <a:r>
              <a:rPr lang="en-US" altLang="ko-KR" sz="1100" dirty="0">
                <a:latin typeface="+mj-ea"/>
                <a:ea typeface="+mj-ea"/>
              </a:rPr>
              <a:t>4</a:t>
            </a:r>
            <a:r>
              <a:rPr lang="ko-KR" altLang="en-US" sz="1100" dirty="0">
                <a:latin typeface="+mj-ea"/>
                <a:ea typeface="+mj-ea"/>
              </a:rPr>
              <a:t>월 이내</a:t>
            </a:r>
          </a:p>
        </p:txBody>
      </p:sp>
      <p:sp>
        <p:nvSpPr>
          <p:cNvPr id="79" name="Rectangle 14"/>
          <p:cNvSpPr>
            <a:spLocks noChangeArrowheads="1"/>
          </p:cNvSpPr>
          <p:nvPr/>
        </p:nvSpPr>
        <p:spPr bwMode="auto">
          <a:xfrm>
            <a:off x="9628128" y="6213549"/>
            <a:ext cx="1527294" cy="2645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j-ea"/>
                <a:ea typeface="+mj-ea"/>
              </a:rPr>
              <a:t>증명서류</a:t>
            </a:r>
            <a:r>
              <a:rPr lang="en-US" altLang="ko-KR" sz="1100" dirty="0">
                <a:latin typeface="+mj-ea"/>
                <a:ea typeface="+mj-ea"/>
              </a:rPr>
              <a:t>(Y)</a:t>
            </a:r>
          </a:p>
        </p:txBody>
      </p:sp>
      <p:sp>
        <p:nvSpPr>
          <p:cNvPr id="96" name="모서리가 둥근 직사각형 95"/>
          <p:cNvSpPr/>
          <p:nvPr/>
        </p:nvSpPr>
        <p:spPr>
          <a:xfrm>
            <a:off x="304800" y="5765575"/>
            <a:ext cx="885825" cy="71254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54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조제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호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95889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54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분할출원</a:t>
            </a:r>
            <a:r>
              <a:rPr lang="en-US" altLang="ko-KR" dirty="0"/>
              <a:t>/</a:t>
            </a:r>
            <a:r>
              <a:rPr lang="ko-KR" altLang="en-US" dirty="0"/>
              <a:t>변경출원이 조약우선권주장을 수반하는 경우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75" y="1383895"/>
            <a:ext cx="5951989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분할출원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(Z)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은 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원출원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(Y)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의 출원일로 소급효가 인정되는 것을 제외하고는 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원출원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(Y)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과는 별개의 특허출원이다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따라서 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원출원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(Y)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이 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조약우선권주장을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 수반하였다고 할지라도 분할출원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(Z)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이 그 효과를 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적용받기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 위해서는 분할출원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(Z) 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역시 우선기간인 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년 이내 출원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출원할 때 주장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취지 기재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) 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및 최우선일로부터 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년 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4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개월 이내 증명서류를 제출하여야 한다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100" kern="0" spc="0" dirty="0">
                <a:solidFill>
                  <a:srgbClr val="FF0000"/>
                </a:solidFill>
                <a:effectLst/>
                <a:latin typeface="+mn-ea"/>
              </a:rPr>
              <a:t>그런데</a:t>
            </a:r>
            <a:r>
              <a:rPr lang="en-US" altLang="ko-KR" sz="1100" kern="0" spc="-50" dirty="0">
                <a:solidFill>
                  <a:srgbClr val="FF0000"/>
                </a:solidFill>
                <a:effectLst/>
                <a:latin typeface="+mn-ea"/>
              </a:rPr>
              <a:t>, </a:t>
            </a:r>
            <a:r>
              <a:rPr lang="ko-KR" altLang="en-US" sz="1100" kern="0" dirty="0">
                <a:solidFill>
                  <a:srgbClr val="FF0000"/>
                </a:solidFill>
                <a:latin typeface="+mn-ea"/>
              </a:rPr>
              <a:t>분할</a:t>
            </a:r>
            <a:r>
              <a:rPr lang="ko-KR" altLang="en-US" sz="1100" kern="0" spc="0" dirty="0">
                <a:solidFill>
                  <a:srgbClr val="FF0000"/>
                </a:solidFill>
                <a:effectLst/>
                <a:latin typeface="+mn-ea"/>
              </a:rPr>
              <a:t>출원</a:t>
            </a:r>
            <a:r>
              <a:rPr lang="en-US" altLang="ko-KR" sz="1100" kern="0" spc="-50" dirty="0">
                <a:solidFill>
                  <a:srgbClr val="FF0000"/>
                </a:solidFill>
                <a:effectLst/>
                <a:latin typeface="+mn-ea"/>
              </a:rPr>
              <a:t>(Z)</a:t>
            </a:r>
            <a:r>
              <a:rPr lang="ko-KR" altLang="en-US" sz="1100" kern="0" spc="0" dirty="0">
                <a:solidFill>
                  <a:srgbClr val="FF0000"/>
                </a:solidFill>
                <a:effectLst/>
                <a:latin typeface="+mn-ea"/>
              </a:rPr>
              <a:t>이 이와 같은 </a:t>
            </a:r>
            <a:r>
              <a:rPr lang="ko-KR" altLang="en-US" sz="1100" kern="0" spc="0" dirty="0" err="1">
                <a:solidFill>
                  <a:srgbClr val="FF0000"/>
                </a:solidFill>
                <a:effectLst/>
                <a:latin typeface="+mn-ea"/>
              </a:rPr>
              <a:t>조약우선권주장을</a:t>
            </a:r>
            <a:r>
              <a:rPr lang="ko-KR" altLang="en-US" sz="1100" kern="0" spc="0" dirty="0">
                <a:solidFill>
                  <a:srgbClr val="FF0000"/>
                </a:solidFill>
                <a:effectLst/>
                <a:latin typeface="+mn-ea"/>
              </a:rPr>
              <a:t> 수반하는 경우에는 출원인의 이익을 위해서 </a:t>
            </a:r>
            <a:r>
              <a:rPr lang="en-US" altLang="ko-KR" sz="1100" kern="0" spc="-50" dirty="0">
                <a:solidFill>
                  <a:srgbClr val="FF0000"/>
                </a:solidFill>
                <a:effectLst/>
                <a:latin typeface="+mn-ea"/>
              </a:rPr>
              <a:t>1</a:t>
            </a:r>
            <a:r>
              <a:rPr lang="ko-KR" altLang="en-US" sz="1100" kern="0" spc="0" dirty="0">
                <a:solidFill>
                  <a:srgbClr val="FF0000"/>
                </a:solidFill>
                <a:effectLst/>
                <a:latin typeface="+mn-ea"/>
              </a:rPr>
              <a:t>년의 판단은 </a:t>
            </a:r>
            <a:r>
              <a:rPr lang="en-US" altLang="ko-KR" sz="1100" kern="0" spc="-50" dirty="0">
                <a:solidFill>
                  <a:srgbClr val="FF0000"/>
                </a:solidFill>
                <a:effectLst/>
                <a:latin typeface="+mn-ea"/>
              </a:rPr>
              <a:t>Y </a:t>
            </a:r>
            <a:r>
              <a:rPr lang="ko-KR" altLang="en-US" sz="1100" kern="0" spc="0" dirty="0">
                <a:solidFill>
                  <a:srgbClr val="FF0000"/>
                </a:solidFill>
                <a:effectLst/>
                <a:latin typeface="+mn-ea"/>
              </a:rPr>
              <a:t>출원일을 기준으로 판단하고</a:t>
            </a:r>
            <a:r>
              <a:rPr lang="en-US" altLang="ko-KR" sz="1100" kern="0" spc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+mn-ea"/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원출원이 조약우선권을 주장한 특허출원인 경우에는 분할출원을 한 때에 그 분할출원에 대해서도 우선권 주장을 한 것으로 보며</a:t>
            </a:r>
            <a:r>
              <a:rPr lang="en-US" altLang="ko-KR" sz="11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(</a:t>
            </a:r>
            <a:r>
              <a:rPr lang="ko-KR" altLang="en-US" sz="11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자동 주장 간주</a:t>
            </a:r>
            <a:r>
              <a:rPr lang="en-US" altLang="ko-KR" sz="11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), </a:t>
            </a:r>
            <a:r>
              <a:rPr lang="ko-KR" altLang="en-US" sz="11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원출원에 대하여 </a:t>
            </a:r>
            <a:r>
              <a:rPr lang="ko-KR" altLang="en-US" sz="1100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조약우선권주장의</a:t>
            </a:r>
            <a:r>
              <a:rPr lang="ko-KR" altLang="en-US" sz="11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증명서류 제출기간 내 제출된 서류 또는 서면이 있는 경우에는 분할출원에 대해서도 해당 서류 또는 서면이 제출된 것으로 본다</a:t>
            </a:r>
            <a:r>
              <a:rPr lang="en-US" altLang="ko-KR" sz="11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(</a:t>
            </a:r>
            <a:r>
              <a:rPr lang="ko-KR" altLang="en-US" sz="11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자동 증명서류 제출간주</a:t>
            </a:r>
            <a:r>
              <a:rPr lang="en-US" altLang="ko-KR" sz="11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).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다만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100" dirty="0" err="1">
                <a:solidFill>
                  <a:srgbClr val="FF0000"/>
                </a:solidFill>
                <a:latin typeface="+mn-ea"/>
              </a:rPr>
              <a:t>원출원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(X)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이 최우선일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(X)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로부터 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년 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4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개월까지 </a:t>
            </a:r>
            <a:r>
              <a:rPr lang="ko-KR" altLang="en-US" sz="1100" dirty="0" err="1">
                <a:solidFill>
                  <a:srgbClr val="FF0000"/>
                </a:solidFill>
                <a:latin typeface="+mn-ea"/>
              </a:rPr>
              <a:t>원출원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(Y)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에 대한 </a:t>
            </a:r>
            <a:r>
              <a:rPr lang="ko-KR" altLang="en-US" sz="1100" dirty="0" err="1">
                <a:solidFill>
                  <a:srgbClr val="FF0000"/>
                </a:solidFill>
                <a:latin typeface="+mn-ea"/>
              </a:rPr>
              <a:t>조약우선권주장의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 증명서류를 제출하지 아니한 경우 최우선일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(X)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로부터 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년 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4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개월과 분할출원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(Z)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을 한 날부터 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3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개월 중 늦은 날까지 분할출원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(Z)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에 대한 </a:t>
            </a:r>
            <a:r>
              <a:rPr lang="ko-KR" altLang="en-US" sz="1100" dirty="0" err="1">
                <a:solidFill>
                  <a:srgbClr val="FF0000"/>
                </a:solidFill>
                <a:latin typeface="+mn-ea"/>
              </a:rPr>
              <a:t>조약우선권주장의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 증명서류를 제출할 수 있다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.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  </a:t>
            </a:r>
            <a:endParaRPr lang="en-US" altLang="ko-KR" sz="11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34" name="직선 연결선 33"/>
          <p:cNvCxnSpPr>
            <a:cxnSpLocks/>
          </p:cNvCxnSpPr>
          <p:nvPr/>
        </p:nvCxnSpPr>
        <p:spPr>
          <a:xfrm>
            <a:off x="0" y="3330529"/>
            <a:ext cx="216523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221</a:t>
            </a:fld>
            <a:endParaRPr lang="ko-KR" altLang="en-US"/>
          </a:p>
        </p:txBody>
      </p:sp>
      <p:sp>
        <p:nvSpPr>
          <p:cNvPr id="157" name="Rectangle 5">
            <a:extLst>
              <a:ext uri="{FF2B5EF4-FFF2-40B4-BE49-F238E27FC236}">
                <a16:creationId xmlns:a16="http://schemas.microsoft.com/office/drawing/2014/main" id="{5A027EB8-ADDE-45DD-AC70-41C6AB46F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00" y="1042170"/>
            <a:ext cx="3149467" cy="303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j-ea"/>
                <a:ea typeface="+mj-ea"/>
              </a:rPr>
              <a:t>분할출원이 </a:t>
            </a:r>
            <a:r>
              <a:rPr lang="ko-KR" altLang="en-US" sz="1200" dirty="0" err="1">
                <a:solidFill>
                  <a:schemeClr val="bg1"/>
                </a:solidFill>
                <a:latin typeface="+mj-ea"/>
                <a:ea typeface="+mj-ea"/>
              </a:rPr>
              <a:t>조약우선권주장을</a:t>
            </a:r>
            <a:r>
              <a:rPr lang="ko-KR" altLang="en-US" sz="1200" dirty="0">
                <a:solidFill>
                  <a:schemeClr val="bg1"/>
                </a:solidFill>
                <a:latin typeface="+mj-ea"/>
                <a:ea typeface="+mj-ea"/>
              </a:rPr>
              <a:t> 수반하는 경우 </a:t>
            </a:r>
            <a:endParaRPr lang="ko-KR" altLang="en-US" sz="12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5DF5D0EE-1346-4FED-B270-1E23CC7C8FCB}"/>
              </a:ext>
            </a:extLst>
          </p:cNvPr>
          <p:cNvSpPr txBox="1"/>
          <p:nvPr/>
        </p:nvSpPr>
        <p:spPr>
          <a:xfrm>
            <a:off x="6242891" y="1383895"/>
            <a:ext cx="5951989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변경출원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(Z)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은 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원출원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(Y)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의 출원일로 소급효가 인정되는 것을 제외하고는 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원출원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(Y)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과는 별개의 출원이다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따라서 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원출원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(Y)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이 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조약우선권주장을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 수반하였다고 할지라도 변경출원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(Z)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이 그 효과를 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적용받기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 위해서는 변경출원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(Z) 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역시 우선기간인 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년 이내 출원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출원할 때 주장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취지 기재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) 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및 최우선일로부터 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년 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4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개월 이내 증명서류를 제출하여야 한다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그런데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변경출원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(Z)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이 이와 같은 </a:t>
            </a:r>
            <a:r>
              <a:rPr lang="ko-KR" altLang="en-US" sz="1100" dirty="0" err="1">
                <a:solidFill>
                  <a:srgbClr val="FF0000"/>
                </a:solidFill>
                <a:latin typeface="+mn-ea"/>
              </a:rPr>
              <a:t>조약우선권주장을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 수반하는 경우에는 출원인의 이익을 위해서 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년의 판단은 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Y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출원일을 기준으로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취지기재에 대한 것은 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Z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출원일을 기준으로 판단하게 된다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.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또한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증명서류는 최우선일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(X)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로부터 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년 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4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개월의 기간이 지난 후에도 변경출원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(Z)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을 한 날부터 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3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개월 이내에 지식재산처장에게 제출할 수 있다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.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이 경우 변경출원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(Z)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은 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Y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출원일로 출원일의 소급효가 인정되고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변경출원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(Z)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의 청구범위에 기재된 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B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발명은 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X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출원일로 판단시점이 소급하게 된다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.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한편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변경출원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(Z)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과 동시에 </a:t>
            </a:r>
            <a:r>
              <a:rPr lang="ko-KR" altLang="en-US" sz="1100" dirty="0" err="1">
                <a:solidFill>
                  <a:srgbClr val="FF0000"/>
                </a:solidFill>
                <a:latin typeface="+mn-ea"/>
              </a:rPr>
              <a:t>원출원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(Y)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은 </a:t>
            </a:r>
            <a:r>
              <a:rPr lang="ko-KR" altLang="en-US" sz="1100" dirty="0" err="1">
                <a:solidFill>
                  <a:srgbClr val="FF0000"/>
                </a:solidFill>
                <a:latin typeface="+mn-ea"/>
              </a:rPr>
              <a:t>취하간주된다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. </a:t>
            </a:r>
          </a:p>
        </p:txBody>
      </p: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19AB1FEE-2966-4AF0-AA9F-89F10658D75A}"/>
              </a:ext>
            </a:extLst>
          </p:cNvPr>
          <p:cNvCxnSpPr>
            <a:cxnSpLocks/>
          </p:cNvCxnSpPr>
          <p:nvPr/>
        </p:nvCxnSpPr>
        <p:spPr>
          <a:xfrm>
            <a:off x="6165016" y="2989873"/>
            <a:ext cx="216523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Rectangle 5">
            <a:extLst>
              <a:ext uri="{FF2B5EF4-FFF2-40B4-BE49-F238E27FC236}">
                <a16:creationId xmlns:a16="http://schemas.microsoft.com/office/drawing/2014/main" id="{DF6F7006-D207-4934-85E5-C4BDB2994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8916" y="1042170"/>
            <a:ext cx="3149467" cy="303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j-ea"/>
                <a:ea typeface="+mj-ea"/>
              </a:rPr>
              <a:t>변경출원이 </a:t>
            </a:r>
            <a:r>
              <a:rPr lang="ko-KR" altLang="en-US" sz="1200" dirty="0" err="1">
                <a:solidFill>
                  <a:schemeClr val="bg1"/>
                </a:solidFill>
                <a:latin typeface="+mj-ea"/>
                <a:ea typeface="+mj-ea"/>
              </a:rPr>
              <a:t>조약우선권주장을</a:t>
            </a:r>
            <a:r>
              <a:rPr lang="ko-KR" altLang="en-US" sz="1200" dirty="0">
                <a:solidFill>
                  <a:schemeClr val="bg1"/>
                </a:solidFill>
                <a:latin typeface="+mj-ea"/>
                <a:ea typeface="+mj-ea"/>
              </a:rPr>
              <a:t> 수반하는 경우 </a:t>
            </a:r>
            <a:endParaRPr lang="ko-KR" altLang="en-US" sz="12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8813E04A-CF5E-40A9-ABAE-37395561C72F}"/>
              </a:ext>
            </a:extLst>
          </p:cNvPr>
          <p:cNvCxnSpPr/>
          <p:nvPr/>
        </p:nvCxnSpPr>
        <p:spPr>
          <a:xfrm>
            <a:off x="6096000" y="821359"/>
            <a:ext cx="0" cy="582789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4236AD62-E801-D170-3399-733E9DF6CAFE}"/>
              </a:ext>
            </a:extLst>
          </p:cNvPr>
          <p:cNvGrpSpPr/>
          <p:nvPr/>
        </p:nvGrpSpPr>
        <p:grpSpPr>
          <a:xfrm>
            <a:off x="77875" y="3545667"/>
            <a:ext cx="12013475" cy="3145047"/>
            <a:chOff x="77875" y="3252157"/>
            <a:chExt cx="12013475" cy="3438558"/>
          </a:xfrm>
        </p:grpSpPr>
        <p:sp>
          <p:nvSpPr>
            <p:cNvPr id="161" name="양쪽 모서리가 둥근 사각형 109">
              <a:extLst>
                <a:ext uri="{FF2B5EF4-FFF2-40B4-BE49-F238E27FC236}">
                  <a16:creationId xmlns:a16="http://schemas.microsoft.com/office/drawing/2014/main" id="{48F9CD81-8CC3-4D0D-A33E-624C96CD9037}"/>
                </a:ext>
              </a:extLst>
            </p:cNvPr>
            <p:cNvSpPr/>
            <p:nvPr/>
          </p:nvSpPr>
          <p:spPr>
            <a:xfrm>
              <a:off x="4733690" y="3596740"/>
              <a:ext cx="453744" cy="238287"/>
            </a:xfrm>
            <a:prstGeom prst="round2SameRect">
              <a:avLst>
                <a:gd name="adj1" fmla="val 50000"/>
                <a:gd name="adj2" fmla="val 0"/>
              </a:avLst>
            </a:prstGeom>
            <a:pattFill prst="dkVert">
              <a:fgClr>
                <a:schemeClr val="accent4"/>
              </a:fgClr>
              <a:bgClr>
                <a:schemeClr val="bg1"/>
              </a:bgClr>
            </a:patt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6440124" y="4894926"/>
              <a:ext cx="3013047" cy="17490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cxnSp>
          <p:nvCxnSpPr>
            <p:cNvPr id="115" name="직선 연결선 114"/>
            <p:cNvCxnSpPr/>
            <p:nvPr/>
          </p:nvCxnSpPr>
          <p:spPr>
            <a:xfrm flipH="1">
              <a:off x="8780059" y="3696195"/>
              <a:ext cx="2" cy="2916806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>
              <a:stCxn id="50" idx="0"/>
            </p:cNvCxnSpPr>
            <p:nvPr/>
          </p:nvCxnSpPr>
          <p:spPr>
            <a:xfrm flipH="1">
              <a:off x="7077133" y="3765283"/>
              <a:ext cx="2" cy="2916806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양쪽 모서리가 둥근 사각형 109"/>
            <p:cNvSpPr/>
            <p:nvPr/>
          </p:nvSpPr>
          <p:spPr>
            <a:xfrm>
              <a:off x="10782333" y="3596740"/>
              <a:ext cx="664183" cy="238287"/>
            </a:xfrm>
            <a:prstGeom prst="round2SameRect">
              <a:avLst>
                <a:gd name="adj1" fmla="val 50000"/>
                <a:gd name="adj2" fmla="val 0"/>
              </a:avLst>
            </a:prstGeom>
            <a:pattFill prst="dkVert">
              <a:fgClr>
                <a:srgbClr val="00B0F0"/>
              </a:fgClr>
              <a:bgClr>
                <a:schemeClr val="bg1"/>
              </a:bgClr>
            </a:patt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46" name="양쪽 모서리가 둥근 사각형 45"/>
            <p:cNvSpPr/>
            <p:nvPr/>
          </p:nvSpPr>
          <p:spPr>
            <a:xfrm>
              <a:off x="7077134" y="3614950"/>
              <a:ext cx="2439990" cy="241569"/>
            </a:xfrm>
            <a:prstGeom prst="round2Same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47" name="양쪽 모서리가 둥근 사각형 46"/>
            <p:cNvSpPr/>
            <p:nvPr/>
          </p:nvSpPr>
          <p:spPr>
            <a:xfrm>
              <a:off x="7077133" y="3416138"/>
              <a:ext cx="3020398" cy="440382"/>
            </a:xfrm>
            <a:prstGeom prst="round2Same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cxnSp>
          <p:nvCxnSpPr>
            <p:cNvPr id="49" name="직선 연결선 48"/>
            <p:cNvCxnSpPr>
              <a:cxnSpLocks/>
              <a:stCxn id="50" idx="1"/>
            </p:cNvCxnSpPr>
            <p:nvPr/>
          </p:nvCxnSpPr>
          <p:spPr>
            <a:xfrm>
              <a:off x="6496727" y="3856520"/>
              <a:ext cx="5594623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직사각형 49"/>
            <p:cNvSpPr/>
            <p:nvPr/>
          </p:nvSpPr>
          <p:spPr>
            <a:xfrm>
              <a:off x="6496727" y="3765283"/>
              <a:ext cx="1160814" cy="18247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일본출원</a:t>
              </a:r>
              <a:r>
                <a:rPr lang="en-US" altLang="ko-KR" sz="1000" dirty="0">
                  <a:solidFill>
                    <a:schemeClr val="tx1"/>
                  </a:solidFill>
                </a:rPr>
                <a:t>(X)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8182957" y="3765283"/>
              <a:ext cx="1160814" cy="18247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한국특허출원</a:t>
              </a:r>
              <a:r>
                <a:rPr lang="en-US" altLang="ko-KR" sz="1000" dirty="0">
                  <a:solidFill>
                    <a:schemeClr val="tx1"/>
                  </a:solidFill>
                </a:rPr>
                <a:t>(Y)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8182957" y="3947758"/>
              <a:ext cx="1160814" cy="1824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X </a:t>
              </a:r>
              <a:r>
                <a:rPr lang="ko-KR" altLang="en-US" sz="1000" dirty="0">
                  <a:solidFill>
                    <a:schemeClr val="tx1"/>
                  </a:solidFill>
                </a:rPr>
                <a:t>기초 </a:t>
              </a:r>
              <a:r>
                <a:rPr lang="ko-KR" altLang="en-US" sz="900" dirty="0" err="1">
                  <a:solidFill>
                    <a:schemeClr val="tx1"/>
                  </a:solidFill>
                </a:rPr>
                <a:t>우선권주장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3" name="Rectangle 14"/>
            <p:cNvSpPr>
              <a:spLocks noChangeArrowheads="1"/>
            </p:cNvSpPr>
            <p:nvPr/>
          </p:nvSpPr>
          <p:spPr bwMode="auto">
            <a:xfrm flipV="1">
              <a:off x="10724742" y="3807582"/>
              <a:ext cx="111031" cy="97878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85" name="직사각형 84"/>
            <p:cNvSpPr/>
            <p:nvPr/>
          </p:nvSpPr>
          <p:spPr>
            <a:xfrm>
              <a:off x="7869262" y="3448616"/>
              <a:ext cx="1160814" cy="1824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r>
                <a:rPr lang="ko-KR" altLang="en-US" sz="1000" dirty="0">
                  <a:solidFill>
                    <a:schemeClr val="tx1"/>
                  </a:solidFill>
                </a:rPr>
                <a:t>년</a:t>
              </a:r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8611196" y="3252157"/>
              <a:ext cx="1160814" cy="1824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r>
                <a:rPr lang="ko-KR" altLang="en-US" sz="1000" dirty="0">
                  <a:solidFill>
                    <a:schemeClr val="tx1"/>
                  </a:solidFill>
                </a:rPr>
                <a:t>년 </a:t>
              </a:r>
              <a:r>
                <a:rPr lang="en-US" altLang="ko-KR" sz="1000" dirty="0">
                  <a:solidFill>
                    <a:schemeClr val="tx1"/>
                  </a:solidFill>
                </a:rPr>
                <a:t>4</a:t>
              </a:r>
              <a:r>
                <a:rPr lang="ko-KR" altLang="en-US" sz="1000" dirty="0">
                  <a:solidFill>
                    <a:schemeClr val="tx1"/>
                  </a:solidFill>
                </a:rPr>
                <a:t>개월</a:t>
              </a:r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6496727" y="4226042"/>
              <a:ext cx="1160814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A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6496727" y="4408518"/>
              <a:ext cx="1160814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A, B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92" name="직사각형 91"/>
            <p:cNvSpPr/>
            <p:nvPr/>
          </p:nvSpPr>
          <p:spPr>
            <a:xfrm>
              <a:off x="8182956" y="4226042"/>
              <a:ext cx="1160814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A, C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93" name="직사각형 92"/>
            <p:cNvSpPr/>
            <p:nvPr/>
          </p:nvSpPr>
          <p:spPr>
            <a:xfrm>
              <a:off x="8182956" y="4408518"/>
              <a:ext cx="1160814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A, B, C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10202535" y="5240955"/>
              <a:ext cx="1160814" cy="18247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Y </a:t>
              </a:r>
              <a:r>
                <a:rPr lang="ko-KR" altLang="en-US" sz="1000" dirty="0">
                  <a:solidFill>
                    <a:schemeClr val="tx1"/>
                  </a:solidFill>
                </a:rPr>
                <a:t>기초변경출원</a:t>
              </a:r>
              <a:r>
                <a:rPr lang="en-US" altLang="ko-KR" sz="1000" dirty="0">
                  <a:solidFill>
                    <a:schemeClr val="tx1"/>
                  </a:solidFill>
                </a:rPr>
                <a:t>(Z)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05" name="직사각형 104"/>
            <p:cNvSpPr/>
            <p:nvPr/>
          </p:nvSpPr>
          <p:spPr>
            <a:xfrm>
              <a:off x="10202535" y="5423431"/>
              <a:ext cx="1160814" cy="18247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</a:rPr>
                <a:t>X </a:t>
              </a:r>
              <a:r>
                <a:rPr lang="ko-KR" altLang="en-US" sz="900" dirty="0">
                  <a:solidFill>
                    <a:schemeClr val="bg1"/>
                  </a:solidFill>
                </a:rPr>
                <a:t>기초 </a:t>
              </a:r>
              <a:r>
                <a:rPr lang="ko-KR" altLang="en-US" sz="900" dirty="0" err="1">
                  <a:solidFill>
                    <a:schemeClr val="bg1"/>
                  </a:solidFill>
                </a:rPr>
                <a:t>우선권주장</a:t>
              </a:r>
              <a:endParaRPr lang="ko-KR" alt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106" name="직사각형 105"/>
            <p:cNvSpPr/>
            <p:nvPr/>
          </p:nvSpPr>
          <p:spPr>
            <a:xfrm>
              <a:off x="10202534" y="5960503"/>
              <a:ext cx="1160814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B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07" name="직사각형 106"/>
            <p:cNvSpPr/>
            <p:nvPr/>
          </p:nvSpPr>
          <p:spPr>
            <a:xfrm>
              <a:off x="10202534" y="6142979"/>
              <a:ext cx="1160814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B, C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08" name="Rectangle 14"/>
            <p:cNvSpPr>
              <a:spLocks noChangeArrowheads="1"/>
            </p:cNvSpPr>
            <p:nvPr/>
          </p:nvSpPr>
          <p:spPr bwMode="auto">
            <a:xfrm flipV="1">
              <a:off x="10045333" y="3807582"/>
              <a:ext cx="111031" cy="97878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cxnSp>
          <p:nvCxnSpPr>
            <p:cNvPr id="109" name="직선 연결선 108"/>
            <p:cNvCxnSpPr>
              <a:cxnSpLocks/>
              <a:stCxn id="104" idx="0"/>
            </p:cNvCxnSpPr>
            <p:nvPr/>
          </p:nvCxnSpPr>
          <p:spPr>
            <a:xfrm flipH="1" flipV="1">
              <a:off x="10782333" y="3905460"/>
              <a:ext cx="609" cy="1335495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직사각형 110"/>
            <p:cNvSpPr/>
            <p:nvPr/>
          </p:nvSpPr>
          <p:spPr>
            <a:xfrm>
              <a:off x="10542491" y="3417531"/>
              <a:ext cx="1160814" cy="1824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3</a:t>
              </a:r>
              <a:r>
                <a:rPr lang="ko-KR" altLang="en-US" sz="1000" dirty="0">
                  <a:solidFill>
                    <a:schemeClr val="tx1"/>
                  </a:solidFill>
                </a:rPr>
                <a:t>개월</a:t>
              </a:r>
            </a:p>
          </p:txBody>
        </p:sp>
        <p:sp>
          <p:nvSpPr>
            <p:cNvPr id="112" name="직사각형 111"/>
            <p:cNvSpPr/>
            <p:nvPr/>
          </p:nvSpPr>
          <p:spPr>
            <a:xfrm>
              <a:off x="11039168" y="4755556"/>
              <a:ext cx="814694" cy="18247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증명서류</a:t>
              </a:r>
              <a:r>
                <a:rPr lang="en-US" altLang="ko-KR" sz="1000" dirty="0">
                  <a:solidFill>
                    <a:schemeClr val="bg1"/>
                  </a:solidFill>
                </a:rPr>
                <a:t>(X)</a:t>
              </a:r>
              <a:endParaRPr lang="ko-KR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13" name="Rectangle 14"/>
            <p:cNvSpPr>
              <a:spLocks noChangeArrowheads="1"/>
            </p:cNvSpPr>
            <p:nvPr/>
          </p:nvSpPr>
          <p:spPr bwMode="auto">
            <a:xfrm flipV="1">
              <a:off x="11391000" y="3807582"/>
              <a:ext cx="111031" cy="97878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cxnSp>
          <p:nvCxnSpPr>
            <p:cNvPr id="114" name="직선 연결선 113"/>
            <p:cNvCxnSpPr>
              <a:cxnSpLocks/>
              <a:stCxn id="112" idx="0"/>
              <a:endCxn id="113" idx="0"/>
            </p:cNvCxnSpPr>
            <p:nvPr/>
          </p:nvCxnSpPr>
          <p:spPr>
            <a:xfrm flipV="1">
              <a:off x="11446515" y="3905460"/>
              <a:ext cx="1" cy="850096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직사각형 122"/>
            <p:cNvSpPr/>
            <p:nvPr/>
          </p:nvSpPr>
          <p:spPr>
            <a:xfrm>
              <a:off x="8168511" y="5970247"/>
              <a:ext cx="1160814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B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24" name="직사각형 123"/>
            <p:cNvSpPr/>
            <p:nvPr/>
          </p:nvSpPr>
          <p:spPr>
            <a:xfrm>
              <a:off x="8168511" y="6152723"/>
              <a:ext cx="1160814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B, C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25" name="직사각형 124"/>
            <p:cNvSpPr/>
            <p:nvPr/>
          </p:nvSpPr>
          <p:spPr>
            <a:xfrm>
              <a:off x="8169731" y="6363264"/>
              <a:ext cx="1160814" cy="18247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한국실용출원</a:t>
              </a:r>
              <a:r>
                <a:rPr lang="en-US" altLang="ko-KR" sz="1000" dirty="0">
                  <a:solidFill>
                    <a:schemeClr val="tx1"/>
                  </a:solidFill>
                </a:rPr>
                <a:t>(Z)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26" name="Rectangle 29"/>
            <p:cNvSpPr>
              <a:spLocks noChangeArrowheads="1"/>
            </p:cNvSpPr>
            <p:nvPr/>
          </p:nvSpPr>
          <p:spPr bwMode="auto">
            <a:xfrm>
              <a:off x="6713499" y="5874258"/>
              <a:ext cx="727268" cy="1872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Z</a:t>
              </a:r>
              <a:r>
                <a:rPr lang="ko-KR" altLang="en-US" sz="1000" dirty="0">
                  <a:solidFill>
                    <a:srgbClr val="FF0000"/>
                  </a:solidFill>
                  <a:latin typeface="+mn-ea"/>
                </a:rPr>
                <a:t>의</a:t>
              </a: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 B</a:t>
              </a:r>
              <a:endParaRPr lang="ko-KR" altLang="en-US" sz="1000" dirty="0">
                <a:solidFill>
                  <a:srgbClr val="FF0000"/>
                </a:solidFill>
                <a:latin typeface="+mn-ea"/>
              </a:endParaRPr>
            </a:p>
          </p:txBody>
        </p:sp>
        <p:cxnSp>
          <p:nvCxnSpPr>
            <p:cNvPr id="13" name="직선 화살표 연결선 12"/>
            <p:cNvCxnSpPr>
              <a:cxnSpLocks/>
              <a:stCxn id="92" idx="1"/>
              <a:endCxn id="89" idx="3"/>
            </p:cNvCxnSpPr>
            <p:nvPr/>
          </p:nvCxnSpPr>
          <p:spPr>
            <a:xfrm flipH="1">
              <a:off x="7657541" y="4317279"/>
              <a:ext cx="525415" cy="182476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직선 화살표 연결선 126"/>
            <p:cNvCxnSpPr>
              <a:stCxn id="107" idx="1"/>
              <a:endCxn id="93" idx="2"/>
            </p:cNvCxnSpPr>
            <p:nvPr/>
          </p:nvCxnSpPr>
          <p:spPr>
            <a:xfrm flipH="1" flipV="1">
              <a:off x="8763363" y="4590993"/>
              <a:ext cx="1439171" cy="1643224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직선 화살표 연결선 127"/>
            <p:cNvCxnSpPr>
              <a:stCxn id="123" idx="1"/>
              <a:endCxn id="89" idx="3"/>
            </p:cNvCxnSpPr>
            <p:nvPr/>
          </p:nvCxnSpPr>
          <p:spPr>
            <a:xfrm flipH="1" flipV="1">
              <a:off x="7657541" y="4499755"/>
              <a:ext cx="510970" cy="1561729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직사각형 128"/>
            <p:cNvSpPr/>
            <p:nvPr/>
          </p:nvSpPr>
          <p:spPr>
            <a:xfrm>
              <a:off x="7393869" y="4658349"/>
              <a:ext cx="1160814" cy="18247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제</a:t>
              </a:r>
              <a:r>
                <a:rPr lang="en-US" altLang="ko-KR" sz="1000" dirty="0">
                  <a:solidFill>
                    <a:schemeClr val="tx1"/>
                  </a:solidFill>
                </a:rPr>
                <a:t>3</a:t>
              </a:r>
              <a:r>
                <a:rPr lang="ko-KR" altLang="en-US" sz="1000" dirty="0">
                  <a:solidFill>
                    <a:schemeClr val="tx1"/>
                  </a:solidFill>
                </a:rPr>
                <a:t>자의 </a:t>
              </a:r>
              <a:r>
                <a:rPr lang="en-US" altLang="ko-KR" sz="1000" dirty="0">
                  <a:solidFill>
                    <a:schemeClr val="tx1"/>
                  </a:solidFill>
                </a:rPr>
                <a:t>B</a:t>
              </a:r>
              <a:r>
                <a:rPr lang="ko-KR" altLang="en-US" sz="1000" dirty="0">
                  <a:solidFill>
                    <a:schemeClr val="tx1"/>
                  </a:solidFill>
                </a:rPr>
                <a:t>공지</a:t>
              </a:r>
            </a:p>
          </p:txBody>
        </p:sp>
        <p:sp>
          <p:nvSpPr>
            <p:cNvPr id="130" name="Rectangle 14"/>
            <p:cNvSpPr>
              <a:spLocks noChangeArrowheads="1"/>
            </p:cNvSpPr>
            <p:nvPr/>
          </p:nvSpPr>
          <p:spPr bwMode="auto">
            <a:xfrm flipV="1">
              <a:off x="7919064" y="3807582"/>
              <a:ext cx="111031" cy="97878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cxnSp>
          <p:nvCxnSpPr>
            <p:cNvPr id="131" name="직선 연결선 130"/>
            <p:cNvCxnSpPr>
              <a:cxnSpLocks/>
              <a:stCxn id="129" idx="0"/>
              <a:endCxn id="130" idx="0"/>
            </p:cNvCxnSpPr>
            <p:nvPr/>
          </p:nvCxnSpPr>
          <p:spPr>
            <a:xfrm flipV="1">
              <a:off x="7974276" y="3905460"/>
              <a:ext cx="304" cy="75288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Rectangle 29"/>
            <p:cNvSpPr>
              <a:spLocks noChangeArrowheads="1"/>
            </p:cNvSpPr>
            <p:nvPr/>
          </p:nvSpPr>
          <p:spPr bwMode="auto">
            <a:xfrm>
              <a:off x="6288657" y="6335199"/>
              <a:ext cx="727268" cy="3087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ko-KR" altLang="en-US" sz="1000" dirty="0">
                  <a:solidFill>
                    <a:srgbClr val="FF0000"/>
                  </a:solidFill>
                  <a:latin typeface="+mn-ea"/>
                </a:rPr>
                <a:t>효과</a:t>
              </a: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D8102845-4E41-4AF6-AC24-D692DAAFB609}"/>
                </a:ext>
              </a:extLst>
            </p:cNvPr>
            <p:cNvSpPr/>
            <p:nvPr/>
          </p:nvSpPr>
          <p:spPr>
            <a:xfrm>
              <a:off x="234814" y="4903552"/>
              <a:ext cx="3121906" cy="17490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7147C150-AAD1-4D49-8380-2FADC755951B}"/>
                </a:ext>
              </a:extLst>
            </p:cNvPr>
            <p:cNvCxnSpPr/>
            <p:nvPr/>
          </p:nvCxnSpPr>
          <p:spPr>
            <a:xfrm flipH="1">
              <a:off x="2659289" y="3704821"/>
              <a:ext cx="2" cy="2916806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0711D949-59E3-4CEA-963A-CF405CB58B30}"/>
                </a:ext>
              </a:extLst>
            </p:cNvPr>
            <p:cNvCxnSpPr>
              <a:stCxn id="69" idx="0"/>
            </p:cNvCxnSpPr>
            <p:nvPr/>
          </p:nvCxnSpPr>
          <p:spPr>
            <a:xfrm flipH="1">
              <a:off x="894838" y="3773909"/>
              <a:ext cx="2" cy="2916806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양쪽 모서리가 둥근 사각형 45">
              <a:extLst>
                <a:ext uri="{FF2B5EF4-FFF2-40B4-BE49-F238E27FC236}">
                  <a16:creationId xmlns:a16="http://schemas.microsoft.com/office/drawing/2014/main" id="{EE128069-0A21-451A-B7FD-71A9404A2E5B}"/>
                </a:ext>
              </a:extLst>
            </p:cNvPr>
            <p:cNvSpPr/>
            <p:nvPr/>
          </p:nvSpPr>
          <p:spPr>
            <a:xfrm>
              <a:off x="894839" y="3623576"/>
              <a:ext cx="2528145" cy="241569"/>
            </a:xfrm>
            <a:prstGeom prst="round2Same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67" name="양쪽 모서리가 둥근 사각형 46">
              <a:extLst>
                <a:ext uri="{FF2B5EF4-FFF2-40B4-BE49-F238E27FC236}">
                  <a16:creationId xmlns:a16="http://schemas.microsoft.com/office/drawing/2014/main" id="{CD765E82-994B-4F50-9238-304E2DA2A61E}"/>
                </a:ext>
              </a:extLst>
            </p:cNvPr>
            <p:cNvSpPr/>
            <p:nvPr/>
          </p:nvSpPr>
          <p:spPr>
            <a:xfrm>
              <a:off x="894839" y="3424764"/>
              <a:ext cx="3042332" cy="440382"/>
            </a:xfrm>
            <a:prstGeom prst="round2Same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7108C237-841F-4598-9596-4D77824E87E7}"/>
                </a:ext>
              </a:extLst>
            </p:cNvPr>
            <p:cNvCxnSpPr>
              <a:cxnSpLocks/>
              <a:stCxn id="69" idx="1"/>
            </p:cNvCxnSpPr>
            <p:nvPr/>
          </p:nvCxnSpPr>
          <p:spPr>
            <a:xfrm flipV="1">
              <a:off x="293462" y="3865146"/>
              <a:ext cx="5279202" cy="1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1091217A-800B-4064-AD70-08232F1AE458}"/>
                </a:ext>
              </a:extLst>
            </p:cNvPr>
            <p:cNvSpPr/>
            <p:nvPr/>
          </p:nvSpPr>
          <p:spPr>
            <a:xfrm>
              <a:off x="293462" y="3773909"/>
              <a:ext cx="1202753" cy="18247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일본출원</a:t>
              </a:r>
              <a:r>
                <a:rPr lang="en-US" altLang="ko-KR" sz="1000" dirty="0">
                  <a:solidFill>
                    <a:schemeClr val="tx1"/>
                  </a:solidFill>
                </a:rPr>
                <a:t>(X)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FB18F328-1F5A-4D02-9537-55C62806093E}"/>
                </a:ext>
              </a:extLst>
            </p:cNvPr>
            <p:cNvSpPr/>
            <p:nvPr/>
          </p:nvSpPr>
          <p:spPr>
            <a:xfrm>
              <a:off x="2040614" y="3773909"/>
              <a:ext cx="1202753" cy="18247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한국출원</a:t>
              </a:r>
              <a:r>
                <a:rPr lang="en-US" altLang="ko-KR" sz="1000" dirty="0">
                  <a:solidFill>
                    <a:schemeClr val="tx1"/>
                  </a:solidFill>
                </a:rPr>
                <a:t>(Y)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A699176E-6F42-4921-99C7-934BF99F8110}"/>
                </a:ext>
              </a:extLst>
            </p:cNvPr>
            <p:cNvSpPr/>
            <p:nvPr/>
          </p:nvSpPr>
          <p:spPr>
            <a:xfrm>
              <a:off x="2040614" y="3956384"/>
              <a:ext cx="1202753" cy="1824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X </a:t>
              </a:r>
              <a:r>
                <a:rPr lang="ko-KR" altLang="en-US" sz="1000" dirty="0">
                  <a:solidFill>
                    <a:schemeClr val="tx1"/>
                  </a:solidFill>
                </a:rPr>
                <a:t>기초 </a:t>
              </a:r>
              <a:r>
                <a:rPr lang="ko-KR" altLang="en-US" sz="900" dirty="0" err="1">
                  <a:solidFill>
                    <a:schemeClr val="tx1"/>
                  </a:solidFill>
                </a:rPr>
                <a:t>우선권주장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5D01B9B2-41F4-463C-889A-BF6B1789B48B}"/>
                </a:ext>
              </a:extLst>
            </p:cNvPr>
            <p:cNvSpPr/>
            <p:nvPr/>
          </p:nvSpPr>
          <p:spPr>
            <a:xfrm>
              <a:off x="3553228" y="4019360"/>
              <a:ext cx="786040" cy="1824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증명서류</a:t>
              </a:r>
              <a:r>
                <a:rPr lang="en-US" altLang="ko-KR" sz="1000" dirty="0">
                  <a:solidFill>
                    <a:schemeClr val="tx1"/>
                  </a:solidFill>
                </a:rPr>
                <a:t>(X)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3" name="Rectangle 14">
              <a:extLst>
                <a:ext uri="{FF2B5EF4-FFF2-40B4-BE49-F238E27FC236}">
                  <a16:creationId xmlns:a16="http://schemas.microsoft.com/office/drawing/2014/main" id="{A012948F-F055-4E7E-97AF-A6F3CBAD260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674233" y="3816208"/>
              <a:ext cx="115042" cy="97878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F9A83C4D-1BE2-414F-BEE9-6C869AE1944C}"/>
                </a:ext>
              </a:extLst>
            </p:cNvPr>
            <p:cNvCxnSpPr>
              <a:cxnSpLocks/>
              <a:stCxn id="72" idx="0"/>
              <a:endCxn id="94" idx="0"/>
            </p:cNvCxnSpPr>
            <p:nvPr/>
          </p:nvCxnSpPr>
          <p:spPr>
            <a:xfrm flipH="1" flipV="1">
              <a:off x="3942072" y="3914086"/>
              <a:ext cx="4176" cy="105274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20024A2C-0848-422A-B40D-45BE9C91C7F5}"/>
                </a:ext>
              </a:extLst>
            </p:cNvPr>
            <p:cNvSpPr/>
            <p:nvPr/>
          </p:nvSpPr>
          <p:spPr>
            <a:xfrm>
              <a:off x="1715586" y="3457242"/>
              <a:ext cx="1202753" cy="1824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r>
                <a:rPr lang="ko-KR" altLang="en-US" sz="1000" dirty="0">
                  <a:solidFill>
                    <a:schemeClr val="tx1"/>
                  </a:solidFill>
                </a:rPr>
                <a:t>년</a:t>
              </a: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587C1F0C-C251-4395-92E1-CF24BE0C04D8}"/>
                </a:ext>
              </a:extLst>
            </p:cNvPr>
            <p:cNvSpPr/>
            <p:nvPr/>
          </p:nvSpPr>
          <p:spPr>
            <a:xfrm>
              <a:off x="2484326" y="3260783"/>
              <a:ext cx="1202753" cy="1824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r>
                <a:rPr lang="ko-KR" altLang="en-US" sz="1000" dirty="0">
                  <a:solidFill>
                    <a:schemeClr val="tx1"/>
                  </a:solidFill>
                </a:rPr>
                <a:t>년 </a:t>
              </a:r>
              <a:r>
                <a:rPr lang="en-US" altLang="ko-KR" sz="1000" dirty="0">
                  <a:solidFill>
                    <a:schemeClr val="tx1"/>
                  </a:solidFill>
                </a:rPr>
                <a:t>4</a:t>
              </a:r>
              <a:r>
                <a:rPr lang="ko-KR" altLang="en-US" sz="1000" dirty="0">
                  <a:solidFill>
                    <a:schemeClr val="tx1"/>
                  </a:solidFill>
                </a:rPr>
                <a:t>개월</a:t>
              </a: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C760CFD7-CA96-427A-8DAA-854D35841C7F}"/>
                </a:ext>
              </a:extLst>
            </p:cNvPr>
            <p:cNvSpPr/>
            <p:nvPr/>
          </p:nvSpPr>
          <p:spPr>
            <a:xfrm>
              <a:off x="293462" y="4234668"/>
              <a:ext cx="1202753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A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A08E456A-8073-4392-AD73-3ED1791F680C}"/>
                </a:ext>
              </a:extLst>
            </p:cNvPr>
            <p:cNvSpPr/>
            <p:nvPr/>
          </p:nvSpPr>
          <p:spPr>
            <a:xfrm>
              <a:off x="293462" y="4417144"/>
              <a:ext cx="1202753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A, B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00B74714-32B6-4AF0-B30F-0599BFE34DBB}"/>
                </a:ext>
              </a:extLst>
            </p:cNvPr>
            <p:cNvSpPr/>
            <p:nvPr/>
          </p:nvSpPr>
          <p:spPr>
            <a:xfrm>
              <a:off x="2040614" y="4234668"/>
              <a:ext cx="1202753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A, C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2CA086B3-41A7-4829-9303-A86810974DCE}"/>
                </a:ext>
              </a:extLst>
            </p:cNvPr>
            <p:cNvSpPr/>
            <p:nvPr/>
          </p:nvSpPr>
          <p:spPr>
            <a:xfrm>
              <a:off x="2040614" y="4417144"/>
              <a:ext cx="1202753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A, B, C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8B738B59-E3A0-4F9E-B566-32868A045427}"/>
                </a:ext>
              </a:extLst>
            </p:cNvPr>
            <p:cNvSpPr/>
            <p:nvPr/>
          </p:nvSpPr>
          <p:spPr>
            <a:xfrm>
              <a:off x="3773281" y="5335845"/>
              <a:ext cx="1202753" cy="18247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Y </a:t>
              </a:r>
              <a:r>
                <a:rPr lang="ko-KR" altLang="en-US" sz="1000" dirty="0">
                  <a:solidFill>
                    <a:schemeClr val="tx1"/>
                  </a:solidFill>
                </a:rPr>
                <a:t>기초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분할출원</a:t>
              </a:r>
              <a:r>
                <a:rPr lang="en-US" altLang="ko-KR" sz="1000" dirty="0">
                  <a:solidFill>
                    <a:schemeClr val="tx1"/>
                  </a:solidFill>
                </a:rPr>
                <a:t>(Z)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5E439DF1-78CB-4DED-94B8-9FAD4BC4FDD3}"/>
                </a:ext>
              </a:extLst>
            </p:cNvPr>
            <p:cNvSpPr/>
            <p:nvPr/>
          </p:nvSpPr>
          <p:spPr>
            <a:xfrm>
              <a:off x="3773281" y="5518321"/>
              <a:ext cx="1202753" cy="182475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X </a:t>
              </a:r>
              <a:r>
                <a:rPr lang="ko-KR" altLang="en-US" sz="800" dirty="0">
                  <a:solidFill>
                    <a:schemeClr val="bg1"/>
                  </a:solidFill>
                </a:rPr>
                <a:t>기초 우선권주장간주</a:t>
              </a: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8A85B795-7481-4E70-A7F1-226526EF3C76}"/>
                </a:ext>
              </a:extLst>
            </p:cNvPr>
            <p:cNvSpPr/>
            <p:nvPr/>
          </p:nvSpPr>
          <p:spPr>
            <a:xfrm>
              <a:off x="3773280" y="5986382"/>
              <a:ext cx="1202753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B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9712DFF4-2ED8-40C8-BC3E-B62D84A1E903}"/>
                </a:ext>
              </a:extLst>
            </p:cNvPr>
            <p:cNvSpPr/>
            <p:nvPr/>
          </p:nvSpPr>
          <p:spPr>
            <a:xfrm>
              <a:off x="3773280" y="6168858"/>
              <a:ext cx="1202753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B, C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94" name="Rectangle 14">
              <a:extLst>
                <a:ext uri="{FF2B5EF4-FFF2-40B4-BE49-F238E27FC236}">
                  <a16:creationId xmlns:a16="http://schemas.microsoft.com/office/drawing/2014/main" id="{DCC48E8F-A09B-48DF-9709-0AB118419D8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884551" y="3816208"/>
              <a:ext cx="115042" cy="97878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64672267-69A8-4AAA-9BF9-7FAA88F865ED}"/>
                </a:ext>
              </a:extLst>
            </p:cNvPr>
            <p:cNvSpPr/>
            <p:nvPr/>
          </p:nvSpPr>
          <p:spPr>
            <a:xfrm>
              <a:off x="2026911" y="5570133"/>
              <a:ext cx="1202753" cy="18247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한국출원</a:t>
              </a:r>
              <a:r>
                <a:rPr lang="en-US" altLang="ko-KR" sz="1000" dirty="0">
                  <a:solidFill>
                    <a:schemeClr val="tx1"/>
                  </a:solidFill>
                </a:rPr>
                <a:t>(Y)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A142A8BD-5023-423D-B1A6-A4158A0892B3}"/>
                </a:ext>
              </a:extLst>
            </p:cNvPr>
            <p:cNvSpPr/>
            <p:nvPr/>
          </p:nvSpPr>
          <p:spPr>
            <a:xfrm>
              <a:off x="2026910" y="5177116"/>
              <a:ext cx="1202753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A, C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CD61D785-D328-4B86-8AE3-19E161483E59}"/>
                </a:ext>
              </a:extLst>
            </p:cNvPr>
            <p:cNvSpPr/>
            <p:nvPr/>
          </p:nvSpPr>
          <p:spPr>
            <a:xfrm>
              <a:off x="2026910" y="5359592"/>
              <a:ext cx="1202753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A, B, C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03" name="Rectangle 29">
              <a:extLst>
                <a:ext uri="{FF2B5EF4-FFF2-40B4-BE49-F238E27FC236}">
                  <a16:creationId xmlns:a16="http://schemas.microsoft.com/office/drawing/2014/main" id="{26390AF6-8BDD-4332-9B2F-3B53E55C8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066" y="4959873"/>
              <a:ext cx="753544" cy="1872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Y</a:t>
              </a:r>
              <a:r>
                <a:rPr lang="ko-KR" altLang="en-US" sz="1000" dirty="0">
                  <a:solidFill>
                    <a:srgbClr val="FF0000"/>
                  </a:solidFill>
                  <a:latin typeface="+mn-ea"/>
                </a:rPr>
                <a:t>의</a:t>
              </a: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 A</a:t>
              </a:r>
              <a:endParaRPr lang="ko-KR" altLang="en-US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16" name="Rectangle 29">
              <a:extLst>
                <a:ext uri="{FF2B5EF4-FFF2-40B4-BE49-F238E27FC236}">
                  <a16:creationId xmlns:a16="http://schemas.microsoft.com/office/drawing/2014/main" id="{B3D69FBF-241A-40BE-906B-83911DD74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1553" y="4959873"/>
              <a:ext cx="753544" cy="1872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Y</a:t>
              </a:r>
              <a:r>
                <a:rPr lang="ko-KR" altLang="en-US" sz="1000" dirty="0">
                  <a:solidFill>
                    <a:srgbClr val="FF0000"/>
                  </a:solidFill>
                  <a:latin typeface="+mn-ea"/>
                </a:rPr>
                <a:t>의</a:t>
              </a: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 C</a:t>
              </a:r>
              <a:endParaRPr lang="ko-KR" altLang="en-US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082952AF-C9C9-4FE1-B6E6-55268F29B93F}"/>
                </a:ext>
              </a:extLst>
            </p:cNvPr>
            <p:cNvSpPr/>
            <p:nvPr/>
          </p:nvSpPr>
          <p:spPr>
            <a:xfrm>
              <a:off x="2025647" y="5978873"/>
              <a:ext cx="1202753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B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1DB69CCE-3C20-4EB6-B4C4-F6BB465CD184}"/>
                </a:ext>
              </a:extLst>
            </p:cNvPr>
            <p:cNvSpPr/>
            <p:nvPr/>
          </p:nvSpPr>
          <p:spPr>
            <a:xfrm>
              <a:off x="2025647" y="6161349"/>
              <a:ext cx="1202753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B, C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71C034DF-87AF-4BC4-9055-DEEBCB881913}"/>
                </a:ext>
              </a:extLst>
            </p:cNvPr>
            <p:cNvSpPr/>
            <p:nvPr/>
          </p:nvSpPr>
          <p:spPr>
            <a:xfrm>
              <a:off x="2026911" y="6371890"/>
              <a:ext cx="1202753" cy="18247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한국출원</a:t>
              </a:r>
              <a:r>
                <a:rPr lang="en-US" altLang="ko-KR" sz="1000" dirty="0">
                  <a:solidFill>
                    <a:schemeClr val="tx1"/>
                  </a:solidFill>
                </a:rPr>
                <a:t>(Z)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40" name="Rectangle 29">
              <a:extLst>
                <a:ext uri="{FF2B5EF4-FFF2-40B4-BE49-F238E27FC236}">
                  <a16:creationId xmlns:a16="http://schemas.microsoft.com/office/drawing/2014/main" id="{57CC0C61-7679-4552-94F2-B7C7B33360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066" y="5882884"/>
              <a:ext cx="753544" cy="1872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Z</a:t>
              </a:r>
              <a:r>
                <a:rPr lang="ko-KR" altLang="en-US" sz="1000" dirty="0">
                  <a:solidFill>
                    <a:srgbClr val="FF0000"/>
                  </a:solidFill>
                  <a:latin typeface="+mn-ea"/>
                </a:rPr>
                <a:t>의</a:t>
              </a: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 B</a:t>
              </a:r>
              <a:endParaRPr lang="ko-KR" altLang="en-US" sz="1000" dirty="0">
                <a:solidFill>
                  <a:srgbClr val="FF0000"/>
                </a:solidFill>
                <a:latin typeface="+mn-ea"/>
              </a:endParaRPr>
            </a:p>
          </p:txBody>
        </p:sp>
        <p:cxnSp>
          <p:nvCxnSpPr>
            <p:cNvPr id="141" name="직선 화살표 연결선 140">
              <a:extLst>
                <a:ext uri="{FF2B5EF4-FFF2-40B4-BE49-F238E27FC236}">
                  <a16:creationId xmlns:a16="http://schemas.microsoft.com/office/drawing/2014/main" id="{85C21503-DAE6-4FFA-A1AC-D16BB2A09C33}"/>
                </a:ext>
              </a:extLst>
            </p:cNvPr>
            <p:cNvCxnSpPr>
              <a:cxnSpLocks/>
              <a:stCxn id="79" idx="1"/>
              <a:endCxn id="78" idx="3"/>
            </p:cNvCxnSpPr>
            <p:nvPr/>
          </p:nvCxnSpPr>
          <p:spPr>
            <a:xfrm flipH="1">
              <a:off x="1496216" y="4325905"/>
              <a:ext cx="544398" cy="182476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직선 화살표 연결선 141">
              <a:extLst>
                <a:ext uri="{FF2B5EF4-FFF2-40B4-BE49-F238E27FC236}">
                  <a16:creationId xmlns:a16="http://schemas.microsoft.com/office/drawing/2014/main" id="{F5F79430-AF1E-43F8-9F8A-2B301C6123BF}"/>
                </a:ext>
              </a:extLst>
            </p:cNvPr>
            <p:cNvCxnSpPr>
              <a:cxnSpLocks/>
              <a:stCxn id="91" idx="1"/>
              <a:endCxn id="80" idx="3"/>
            </p:cNvCxnSpPr>
            <p:nvPr/>
          </p:nvCxnSpPr>
          <p:spPr>
            <a:xfrm flipH="1" flipV="1">
              <a:off x="3243367" y="4508382"/>
              <a:ext cx="529913" cy="1751714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직선 화살표 연결선 142">
              <a:extLst>
                <a:ext uri="{FF2B5EF4-FFF2-40B4-BE49-F238E27FC236}">
                  <a16:creationId xmlns:a16="http://schemas.microsoft.com/office/drawing/2014/main" id="{6248C110-F335-4892-AC45-1DE6C2251BE7}"/>
                </a:ext>
              </a:extLst>
            </p:cNvPr>
            <p:cNvCxnSpPr>
              <a:stCxn id="120" idx="1"/>
              <a:endCxn id="78" idx="3"/>
            </p:cNvCxnSpPr>
            <p:nvPr/>
          </p:nvCxnSpPr>
          <p:spPr>
            <a:xfrm flipH="1" flipV="1">
              <a:off x="1496216" y="4508381"/>
              <a:ext cx="529431" cy="1561729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854F95AB-4137-4161-B63D-011F3672F0DD}"/>
                </a:ext>
              </a:extLst>
            </p:cNvPr>
            <p:cNvSpPr/>
            <p:nvPr/>
          </p:nvSpPr>
          <p:spPr>
            <a:xfrm>
              <a:off x="1223018" y="4666975"/>
              <a:ext cx="1202753" cy="18247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제</a:t>
              </a:r>
              <a:r>
                <a:rPr lang="en-US" altLang="ko-KR" sz="1000" dirty="0">
                  <a:solidFill>
                    <a:schemeClr val="tx1"/>
                  </a:solidFill>
                </a:rPr>
                <a:t>3</a:t>
              </a:r>
              <a:r>
                <a:rPr lang="ko-KR" altLang="en-US" sz="1000" dirty="0">
                  <a:solidFill>
                    <a:schemeClr val="tx1"/>
                  </a:solidFill>
                </a:rPr>
                <a:t>자의 </a:t>
              </a:r>
              <a:r>
                <a:rPr lang="en-US" altLang="ko-KR" sz="1000" dirty="0">
                  <a:solidFill>
                    <a:schemeClr val="tx1"/>
                  </a:solidFill>
                </a:rPr>
                <a:t>B</a:t>
              </a:r>
              <a:r>
                <a:rPr lang="ko-KR" altLang="en-US" sz="1000" dirty="0">
                  <a:solidFill>
                    <a:schemeClr val="tx1"/>
                  </a:solidFill>
                </a:rPr>
                <a:t>공지</a:t>
              </a:r>
            </a:p>
          </p:txBody>
        </p:sp>
        <p:sp>
          <p:nvSpPr>
            <p:cNvPr id="145" name="Rectangle 14">
              <a:extLst>
                <a:ext uri="{FF2B5EF4-FFF2-40B4-BE49-F238E27FC236}">
                  <a16:creationId xmlns:a16="http://schemas.microsoft.com/office/drawing/2014/main" id="{54F005BF-6A39-42E0-851E-D9D129125EC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767187" y="3816208"/>
              <a:ext cx="115042" cy="97878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9C31293D-7E1C-45CD-ADB9-0C2CAAD46181}"/>
                </a:ext>
              </a:extLst>
            </p:cNvPr>
            <p:cNvCxnSpPr>
              <a:cxnSpLocks/>
              <a:stCxn id="144" idx="0"/>
              <a:endCxn id="145" idx="0"/>
            </p:cNvCxnSpPr>
            <p:nvPr/>
          </p:nvCxnSpPr>
          <p:spPr>
            <a:xfrm flipV="1">
              <a:off x="1824395" y="3914086"/>
              <a:ext cx="313" cy="75288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Rectangle 29">
              <a:extLst>
                <a:ext uri="{FF2B5EF4-FFF2-40B4-BE49-F238E27FC236}">
                  <a16:creationId xmlns:a16="http://schemas.microsoft.com/office/drawing/2014/main" id="{1B2AECB1-042B-4CE8-BA82-71C3927A28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75" y="6343825"/>
              <a:ext cx="753544" cy="3087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ko-KR" altLang="en-US" sz="1000" dirty="0">
                  <a:solidFill>
                    <a:srgbClr val="FF0000"/>
                  </a:solidFill>
                  <a:latin typeface="+mn-ea"/>
                </a:rPr>
                <a:t>효과</a:t>
              </a:r>
            </a:p>
          </p:txBody>
        </p: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B8476B82-6CA1-4F5C-BBFF-DA47D6BA9513}"/>
                </a:ext>
              </a:extLst>
            </p:cNvPr>
            <p:cNvSpPr/>
            <p:nvPr/>
          </p:nvSpPr>
          <p:spPr>
            <a:xfrm>
              <a:off x="3773281" y="5693007"/>
              <a:ext cx="1202753" cy="182475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</a:rPr>
                <a:t>증명서류 제출간주</a:t>
              </a:r>
            </a:p>
          </p:txBody>
        </p:sp>
        <p:sp>
          <p:nvSpPr>
            <p:cNvPr id="149" name="직사각형 148">
              <a:extLst>
                <a:ext uri="{FF2B5EF4-FFF2-40B4-BE49-F238E27FC236}">
                  <a16:creationId xmlns:a16="http://schemas.microsoft.com/office/drawing/2014/main" id="{6B447461-0B56-446C-8C2E-E50B0C6506BE}"/>
                </a:ext>
              </a:extLst>
            </p:cNvPr>
            <p:cNvSpPr/>
            <p:nvPr/>
          </p:nvSpPr>
          <p:spPr>
            <a:xfrm>
              <a:off x="10202535" y="5603867"/>
              <a:ext cx="1160814" cy="18247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bg1"/>
                  </a:solidFill>
                </a:rPr>
                <a:t>취하간주</a:t>
              </a:r>
              <a:r>
                <a:rPr lang="en-US" altLang="ko-KR" sz="900" dirty="0">
                  <a:solidFill>
                    <a:schemeClr val="bg1"/>
                  </a:solidFill>
                </a:rPr>
                <a:t>(Y)</a:t>
              </a:r>
              <a:endParaRPr lang="ko-KR" alt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4999EF0E-DCC9-47B1-A888-2B2811315796}"/>
                </a:ext>
              </a:extLst>
            </p:cNvPr>
            <p:cNvSpPr/>
            <p:nvPr/>
          </p:nvSpPr>
          <p:spPr>
            <a:xfrm>
              <a:off x="4389288" y="3416138"/>
              <a:ext cx="1160814" cy="1824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30</a:t>
              </a:r>
              <a:r>
                <a:rPr lang="ko-KR" altLang="en-US" sz="1000" dirty="0">
                  <a:solidFill>
                    <a:schemeClr val="tx1"/>
                  </a:solidFill>
                </a:rPr>
                <a:t>일</a:t>
              </a:r>
            </a:p>
          </p:txBody>
        </p:sp>
        <p:sp>
          <p:nvSpPr>
            <p:cNvPr id="163" name="직사각형 162">
              <a:extLst>
                <a:ext uri="{FF2B5EF4-FFF2-40B4-BE49-F238E27FC236}">
                  <a16:creationId xmlns:a16="http://schemas.microsoft.com/office/drawing/2014/main" id="{E15D0ADC-BCE2-4AC2-A0BC-74DED4BCC50D}"/>
                </a:ext>
              </a:extLst>
            </p:cNvPr>
            <p:cNvSpPr/>
            <p:nvPr/>
          </p:nvSpPr>
          <p:spPr>
            <a:xfrm>
              <a:off x="5101685" y="5523825"/>
              <a:ext cx="787956" cy="35043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X </a:t>
              </a:r>
              <a:r>
                <a:rPr lang="ko-KR" altLang="en-US" sz="800" dirty="0">
                  <a:solidFill>
                    <a:schemeClr val="bg1"/>
                  </a:solidFill>
                </a:rPr>
                <a:t>기초 </a:t>
              </a:r>
              <a:r>
                <a:rPr lang="ko-KR" altLang="en-US" sz="800" dirty="0" err="1">
                  <a:solidFill>
                    <a:schemeClr val="bg1"/>
                  </a:solidFill>
                </a:rPr>
                <a:t>우선권주장취하가능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cxnSp>
          <p:nvCxnSpPr>
            <p:cNvPr id="25" name="연결선: 꺾임 24">
              <a:extLst>
                <a:ext uri="{FF2B5EF4-FFF2-40B4-BE49-F238E27FC236}">
                  <a16:creationId xmlns:a16="http://schemas.microsoft.com/office/drawing/2014/main" id="{03A0AADB-B7AD-42EB-8FC9-08B11C5E0D7A}"/>
                </a:ext>
              </a:extLst>
            </p:cNvPr>
            <p:cNvCxnSpPr>
              <a:stCxn id="163" idx="0"/>
            </p:cNvCxnSpPr>
            <p:nvPr/>
          </p:nvCxnSpPr>
          <p:spPr>
            <a:xfrm rot="16200000" flipV="1">
              <a:off x="4410816" y="4438978"/>
              <a:ext cx="1621357" cy="548338"/>
            </a:xfrm>
            <a:prstGeom prst="bentConnector3">
              <a:avLst/>
            </a:prstGeom>
            <a:ln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연결선: 꺾임 26">
              <a:extLst>
                <a:ext uri="{FF2B5EF4-FFF2-40B4-BE49-F238E27FC236}">
                  <a16:creationId xmlns:a16="http://schemas.microsoft.com/office/drawing/2014/main" id="{6A4BA7FB-FFDC-406A-AF15-A18FBB49ACB9}"/>
                </a:ext>
              </a:extLst>
            </p:cNvPr>
            <p:cNvCxnSpPr>
              <a:stCxn id="82" idx="0"/>
              <a:endCxn id="73" idx="0"/>
            </p:cNvCxnSpPr>
            <p:nvPr/>
          </p:nvCxnSpPr>
          <p:spPr>
            <a:xfrm rot="5400000" flipH="1" flipV="1">
              <a:off x="3842327" y="4446418"/>
              <a:ext cx="1421759" cy="357096"/>
            </a:xfrm>
            <a:prstGeom prst="bentConnector3">
              <a:avLst/>
            </a:prstGeom>
            <a:ln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9164818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54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err="1"/>
              <a:t>조약우선권주장을</a:t>
            </a:r>
            <a:r>
              <a:rPr lang="ko-KR" altLang="en-US" sz="2400" dirty="0"/>
              <a:t> 수반하는 분할출원</a:t>
            </a:r>
            <a:r>
              <a:rPr lang="en-US" altLang="ko-KR" sz="2400" dirty="0"/>
              <a:t>(</a:t>
            </a:r>
            <a:r>
              <a:rPr lang="ko-KR" altLang="en-US" sz="2000" dirty="0"/>
              <a:t>제</a:t>
            </a:r>
            <a:r>
              <a:rPr lang="en-US" altLang="ko-KR" sz="2000" dirty="0"/>
              <a:t>52</a:t>
            </a:r>
            <a:r>
              <a:rPr lang="ko-KR" altLang="en-US" sz="2000" dirty="0"/>
              <a:t>조제</a:t>
            </a:r>
            <a:r>
              <a:rPr lang="en-US" altLang="ko-KR" sz="2000" dirty="0"/>
              <a:t>2</a:t>
            </a:r>
            <a:r>
              <a:rPr lang="ko-KR" altLang="en-US" sz="2000" dirty="0" err="1"/>
              <a:t>항제</a:t>
            </a:r>
            <a:r>
              <a:rPr lang="en-US" altLang="ko-KR" sz="2000" dirty="0"/>
              <a:t>3</a:t>
            </a:r>
            <a:r>
              <a:rPr lang="ko-KR" altLang="en-US" sz="2000" dirty="0"/>
              <a:t>호</a:t>
            </a:r>
            <a:r>
              <a:rPr lang="en-US" altLang="ko-KR" sz="2000" dirty="0"/>
              <a:t>, </a:t>
            </a:r>
            <a:r>
              <a:rPr lang="ko-KR" altLang="en-US" sz="2000" dirty="0"/>
              <a:t>제</a:t>
            </a:r>
            <a:r>
              <a:rPr lang="en-US" altLang="ko-KR" sz="2000" dirty="0"/>
              <a:t>4</a:t>
            </a:r>
            <a:r>
              <a:rPr lang="ko-KR" altLang="en-US" sz="2000" dirty="0"/>
              <a:t>항</a:t>
            </a:r>
            <a:r>
              <a:rPr lang="en-US" altLang="ko-KR" sz="2000" dirty="0"/>
              <a:t>-</a:t>
            </a:r>
            <a:r>
              <a:rPr lang="ko-KR" altLang="en-US" sz="2000" dirty="0"/>
              <a:t>제</a:t>
            </a:r>
            <a:r>
              <a:rPr lang="en-US" altLang="ko-KR" sz="2000" dirty="0"/>
              <a:t>6</a:t>
            </a:r>
            <a:r>
              <a:rPr lang="ko-KR" altLang="en-US" sz="2000" dirty="0"/>
              <a:t>항</a:t>
            </a:r>
            <a:r>
              <a:rPr lang="en-US" altLang="ko-KR" sz="2000" dirty="0"/>
              <a:t>)</a:t>
            </a:r>
            <a:endParaRPr lang="ko-KR" altLang="en-US" dirty="0"/>
          </a:p>
        </p:txBody>
      </p:sp>
      <p:cxnSp>
        <p:nvCxnSpPr>
          <p:cNvPr id="68" name="직선 화살표 연결선 67"/>
          <p:cNvCxnSpPr/>
          <p:nvPr/>
        </p:nvCxnSpPr>
        <p:spPr>
          <a:xfrm>
            <a:off x="887767" y="2381500"/>
            <a:ext cx="1058986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/>
          <p:cNvSpPr/>
          <p:nvPr/>
        </p:nvSpPr>
        <p:spPr>
          <a:xfrm>
            <a:off x="1261029" y="1051675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1261029" y="1357677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9" name="Rectangle 14"/>
          <p:cNvSpPr>
            <a:spLocks noChangeArrowheads="1"/>
          </p:cNvSpPr>
          <p:nvPr/>
        </p:nvSpPr>
        <p:spPr bwMode="auto">
          <a:xfrm>
            <a:off x="4993500" y="1771793"/>
            <a:ext cx="1418541" cy="359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latin typeface="+mn-ea"/>
              </a:rPr>
              <a:t>한국출원</a:t>
            </a:r>
            <a:r>
              <a:rPr lang="en-US" altLang="ko-KR" sz="1400" b="0" dirty="0">
                <a:latin typeface="+mn-ea"/>
              </a:rPr>
              <a:t>(Y)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111" name="직선 연결선 110"/>
          <p:cNvCxnSpPr>
            <a:cxnSpLocks/>
            <a:stCxn id="109" idx="2"/>
            <a:endCxn id="143" idx="4"/>
          </p:cNvCxnSpPr>
          <p:nvPr/>
        </p:nvCxnSpPr>
        <p:spPr>
          <a:xfrm>
            <a:off x="5702771" y="2130798"/>
            <a:ext cx="8623" cy="14258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직사각형 132"/>
          <p:cNvSpPr/>
          <p:nvPr/>
        </p:nvSpPr>
        <p:spPr>
          <a:xfrm>
            <a:off x="9250844" y="1046926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9250844" y="1352928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35" name="Rectangle 14"/>
          <p:cNvSpPr>
            <a:spLocks noChangeArrowheads="1"/>
          </p:cNvSpPr>
          <p:nvPr/>
        </p:nvSpPr>
        <p:spPr bwMode="auto">
          <a:xfrm>
            <a:off x="9007702" y="1744096"/>
            <a:ext cx="1418541" cy="3590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latin typeface="+mn-ea"/>
              </a:rPr>
              <a:t>분할출원</a:t>
            </a:r>
            <a:r>
              <a:rPr lang="en-US" altLang="ko-KR" sz="1400" b="0" dirty="0">
                <a:latin typeface="+mn-ea"/>
              </a:rPr>
              <a:t>(Z)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137" name="직선 연결선 136"/>
          <p:cNvCxnSpPr>
            <a:cxnSpLocks/>
            <a:stCxn id="135" idx="2"/>
            <a:endCxn id="145" idx="4"/>
          </p:cNvCxnSpPr>
          <p:nvPr/>
        </p:nvCxnSpPr>
        <p:spPr>
          <a:xfrm>
            <a:off x="9716973" y="2103101"/>
            <a:ext cx="0" cy="17028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양쪽 모서리가 둥근 사각형 139"/>
          <p:cNvSpPr/>
          <p:nvPr/>
        </p:nvSpPr>
        <p:spPr>
          <a:xfrm rot="10800000">
            <a:off x="1722795" y="2392882"/>
            <a:ext cx="3979975" cy="406414"/>
          </a:xfrm>
          <a:prstGeom prst="round2SameRect">
            <a:avLst>
              <a:gd name="adj1" fmla="val 50000"/>
              <a:gd name="adj2" fmla="val 0"/>
            </a:avLst>
          </a:prstGeom>
          <a:pattFill prst="dotGrid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Rectangle 14"/>
          <p:cNvSpPr>
            <a:spLocks noChangeArrowheads="1"/>
          </p:cNvSpPr>
          <p:nvPr/>
        </p:nvSpPr>
        <p:spPr bwMode="auto">
          <a:xfrm flipV="1">
            <a:off x="1600470" y="2273385"/>
            <a:ext cx="238000" cy="254967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3" name="Rectangle 14"/>
          <p:cNvSpPr>
            <a:spLocks noChangeArrowheads="1"/>
          </p:cNvSpPr>
          <p:nvPr/>
        </p:nvSpPr>
        <p:spPr bwMode="auto">
          <a:xfrm flipV="1">
            <a:off x="5592394" y="2273385"/>
            <a:ext cx="238000" cy="254967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5" name="Rectangle 14"/>
          <p:cNvSpPr>
            <a:spLocks noChangeArrowheads="1"/>
          </p:cNvSpPr>
          <p:nvPr/>
        </p:nvSpPr>
        <p:spPr bwMode="auto">
          <a:xfrm flipV="1">
            <a:off x="9597973" y="2273385"/>
            <a:ext cx="238000" cy="254967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79650" y="2810678"/>
            <a:ext cx="9492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12</a:t>
            </a:r>
            <a:r>
              <a:rPr lang="ko-KR" altLang="en-US" sz="1200" dirty="0"/>
              <a:t>개월 이내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8934450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확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9561203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10187956" y="6181761"/>
            <a:ext cx="514350" cy="51435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조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10803760" y="6181761"/>
            <a:ext cx="514350" cy="514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국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11394310" y="6181761"/>
            <a:ext cx="514350" cy="514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등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222</a:t>
            </a:fld>
            <a:endParaRPr lang="ko-KR" alt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B453A484-D488-479A-A5B6-B0ECD3B2B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417" y="1771794"/>
            <a:ext cx="1418541" cy="359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latin typeface="+mn-ea"/>
              </a:rPr>
              <a:t>일본출원</a:t>
            </a:r>
            <a:r>
              <a:rPr lang="en-US" altLang="ko-KR" sz="1400" b="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92ACE20-D95F-54F9-5D8C-EDB3AE5D9B89}"/>
              </a:ext>
            </a:extLst>
          </p:cNvPr>
          <p:cNvCxnSpPr>
            <a:cxnSpLocks/>
            <a:stCxn id="6" idx="2"/>
            <a:endCxn id="142" idx="4"/>
          </p:cNvCxnSpPr>
          <p:nvPr/>
        </p:nvCxnSpPr>
        <p:spPr>
          <a:xfrm>
            <a:off x="1712688" y="2130799"/>
            <a:ext cx="6782" cy="14258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85E98F3-4ACE-67BE-CB1C-0598C647BA58}"/>
              </a:ext>
            </a:extLst>
          </p:cNvPr>
          <p:cNvSpPr/>
          <p:nvPr/>
        </p:nvSpPr>
        <p:spPr>
          <a:xfrm>
            <a:off x="5236642" y="1051675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D038A57-0E7D-6DD3-E773-32DF6E0B06BB}"/>
              </a:ext>
            </a:extLst>
          </p:cNvPr>
          <p:cNvSpPr/>
          <p:nvPr/>
        </p:nvSpPr>
        <p:spPr>
          <a:xfrm>
            <a:off x="5236642" y="1357677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18E874F-4CB6-EA91-6CDE-27C5D3E636FC}"/>
              </a:ext>
            </a:extLst>
          </p:cNvPr>
          <p:cNvCxnSpPr>
            <a:cxnSpLocks/>
          </p:cNvCxnSpPr>
          <p:nvPr/>
        </p:nvCxnSpPr>
        <p:spPr>
          <a:xfrm>
            <a:off x="0" y="3170702"/>
            <a:ext cx="12051102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표 17">
            <a:extLst>
              <a:ext uri="{FF2B5EF4-FFF2-40B4-BE49-F238E27FC236}">
                <a16:creationId xmlns:a16="http://schemas.microsoft.com/office/drawing/2014/main" id="{879F845A-6B6C-DA51-C874-A08BC5AC40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460631"/>
              </p:ext>
            </p:extLst>
          </p:nvPr>
        </p:nvGraphicFramePr>
        <p:xfrm>
          <a:off x="715992" y="3322583"/>
          <a:ext cx="10852032" cy="280416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713008">
                  <a:extLst>
                    <a:ext uri="{9D8B030D-6E8A-4147-A177-3AD203B41FA5}">
                      <a16:colId xmlns:a16="http://schemas.microsoft.com/office/drawing/2014/main" val="2505033017"/>
                    </a:ext>
                  </a:extLst>
                </a:gridCol>
                <a:gridCol w="2713008">
                  <a:extLst>
                    <a:ext uri="{9D8B030D-6E8A-4147-A177-3AD203B41FA5}">
                      <a16:colId xmlns:a16="http://schemas.microsoft.com/office/drawing/2014/main" val="3391108749"/>
                    </a:ext>
                  </a:extLst>
                </a:gridCol>
                <a:gridCol w="2713008">
                  <a:extLst>
                    <a:ext uri="{9D8B030D-6E8A-4147-A177-3AD203B41FA5}">
                      <a16:colId xmlns:a16="http://schemas.microsoft.com/office/drawing/2014/main" val="698794702"/>
                    </a:ext>
                  </a:extLst>
                </a:gridCol>
                <a:gridCol w="2713008">
                  <a:extLst>
                    <a:ext uri="{9D8B030D-6E8A-4147-A177-3AD203B41FA5}">
                      <a16:colId xmlns:a16="http://schemas.microsoft.com/office/drawing/2014/main" val="2276556145"/>
                    </a:ext>
                  </a:extLst>
                </a:gridCol>
              </a:tblGrid>
              <a:tr h="14555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Y</a:t>
                      </a:r>
                      <a:r>
                        <a:rPr lang="ko-KR" altLang="en-US" sz="1400" dirty="0"/>
                        <a:t>출원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Z</a:t>
                      </a:r>
                      <a:r>
                        <a:rPr lang="ko-KR" altLang="en-US" sz="1400" dirty="0"/>
                        <a:t>출원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8493821"/>
                  </a:ext>
                </a:extLst>
              </a:tr>
              <a:tr h="1455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조약우선권주장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증명서류제출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조약우선권주장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증명서류제출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6295705"/>
                  </a:ext>
                </a:extLst>
              </a:tr>
              <a:tr h="1455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×</a:t>
                      </a:r>
                      <a:endParaRPr lang="en-US" altLang="ko-KR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×(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실무상 불인정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)</a:t>
                      </a:r>
                      <a:endParaRPr lang="en-US" altLang="ko-KR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047339"/>
                  </a:ext>
                </a:extLst>
              </a:tr>
              <a:tr h="4512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○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○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자동주장간주</a:t>
                      </a:r>
                      <a:endParaRPr lang="en-US" altLang="ko-KR" sz="140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2</a:t>
                      </a:r>
                      <a:r>
                        <a:rPr lang="ko-KR" altLang="en-US" sz="1400" kern="1200" dirty="0" err="1">
                          <a:solidFill>
                            <a:schemeClr val="dk1"/>
                          </a:solidFill>
                          <a:effectLst/>
                        </a:rPr>
                        <a:t>항제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3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호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4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항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우선권주장의 취하</a:t>
                      </a:r>
                      <a:endParaRPr lang="en-US" altLang="ko-KR" sz="140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5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항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)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자동제출간주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항</a:t>
                      </a:r>
                      <a:r>
                        <a:rPr lang="en-US" altLang="ko-KR" sz="140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3060057"/>
                  </a:ext>
                </a:extLst>
              </a:tr>
              <a:tr h="2474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○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×</a:t>
                      </a:r>
                      <a:endParaRPr lang="en-US" altLang="ko-KR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자동주장간주</a:t>
                      </a:r>
                      <a:endParaRPr lang="en-US" altLang="ko-KR" sz="140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2</a:t>
                      </a:r>
                      <a:r>
                        <a:rPr lang="ko-KR" altLang="en-US" sz="1400" kern="1200" dirty="0" err="1">
                          <a:solidFill>
                            <a:schemeClr val="dk1"/>
                          </a:solidFill>
                          <a:effectLst/>
                        </a:rPr>
                        <a:t>항제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3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호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4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항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)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endParaRPr lang="en-US" altLang="ko-KR" sz="140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우선권주장의 취하</a:t>
                      </a:r>
                      <a:endParaRPr lang="en-US" altLang="ko-KR" sz="140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5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항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)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기간의 특례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6</a:t>
                      </a:r>
                      <a:r>
                        <a:rPr lang="ko-KR" altLang="en-US" sz="1400" dirty="0"/>
                        <a:t>항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7738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33734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양쪽 모서리가 둥근 사각형 139"/>
          <p:cNvSpPr/>
          <p:nvPr/>
        </p:nvSpPr>
        <p:spPr>
          <a:xfrm>
            <a:off x="8227199" y="4694206"/>
            <a:ext cx="2155051" cy="610554"/>
          </a:xfrm>
          <a:prstGeom prst="round2SameRect">
            <a:avLst>
              <a:gd name="adj1" fmla="val 50000"/>
              <a:gd name="adj2" fmla="val 0"/>
            </a:avLst>
          </a:prstGeom>
          <a:pattFill prst="dkHorz">
            <a:fgClr>
              <a:srgbClr val="FF0000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자유형 5"/>
          <p:cNvSpPr/>
          <p:nvPr/>
        </p:nvSpPr>
        <p:spPr>
          <a:xfrm>
            <a:off x="9010650" y="3133725"/>
            <a:ext cx="2495550" cy="381000"/>
          </a:xfrm>
          <a:custGeom>
            <a:avLst/>
            <a:gdLst>
              <a:gd name="connsiteX0" fmla="*/ 0 w 2495550"/>
              <a:gd name="connsiteY0" fmla="*/ 381000 h 381000"/>
              <a:gd name="connsiteX1" fmla="*/ 381000 w 2495550"/>
              <a:gd name="connsiteY1" fmla="*/ 0 h 381000"/>
              <a:gd name="connsiteX2" fmla="*/ 2495550 w 2495550"/>
              <a:gd name="connsiteY2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95550" h="381000">
                <a:moveTo>
                  <a:pt x="0" y="381000"/>
                </a:moveTo>
                <a:lnTo>
                  <a:pt x="381000" y="0"/>
                </a:lnTo>
                <a:lnTo>
                  <a:pt x="2495550" y="0"/>
                </a:ln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양쪽 모서리가 둥근 사각형 65"/>
          <p:cNvSpPr/>
          <p:nvPr/>
        </p:nvSpPr>
        <p:spPr>
          <a:xfrm rot="10800000">
            <a:off x="5969146" y="3546122"/>
            <a:ext cx="2463077" cy="473324"/>
          </a:xfrm>
          <a:prstGeom prst="round2SameRect">
            <a:avLst>
              <a:gd name="adj1" fmla="val 50000"/>
              <a:gd name="adj2" fmla="val 0"/>
            </a:avLst>
          </a:prstGeom>
          <a:pattFill prst="dkHorz">
            <a:fgClr>
              <a:schemeClr val="bg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양쪽 모서리가 둥근 사각형 61"/>
          <p:cNvSpPr/>
          <p:nvPr/>
        </p:nvSpPr>
        <p:spPr>
          <a:xfrm>
            <a:off x="8215423" y="1663482"/>
            <a:ext cx="3041504" cy="473324"/>
          </a:xfrm>
          <a:prstGeom prst="round2SameRect">
            <a:avLst>
              <a:gd name="adj1" fmla="val 50000"/>
              <a:gd name="adj2" fmla="val 0"/>
            </a:avLst>
          </a:prstGeom>
          <a:pattFill prst="dkHorz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양쪽 모서리가 둥근 사각형 59"/>
          <p:cNvSpPr/>
          <p:nvPr/>
        </p:nvSpPr>
        <p:spPr>
          <a:xfrm>
            <a:off x="4562474" y="1397909"/>
            <a:ext cx="6694453" cy="738897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양쪽 모서리가 둥근 사각형 57"/>
          <p:cNvSpPr/>
          <p:nvPr/>
        </p:nvSpPr>
        <p:spPr>
          <a:xfrm>
            <a:off x="4577844" y="1663482"/>
            <a:ext cx="2339904" cy="473324"/>
          </a:xfrm>
          <a:prstGeom prst="round2SameRect">
            <a:avLst>
              <a:gd name="adj1" fmla="val 50000"/>
              <a:gd name="adj2" fmla="val 0"/>
            </a:avLst>
          </a:prstGeom>
          <a:pattFill prst="dkHorz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54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소급효의 예외</a:t>
            </a:r>
          </a:p>
        </p:txBody>
      </p:sp>
      <p:sp>
        <p:nvSpPr>
          <p:cNvPr id="46" name="양쪽 모서리가 둥근 사각형 45"/>
          <p:cNvSpPr/>
          <p:nvPr/>
        </p:nvSpPr>
        <p:spPr>
          <a:xfrm>
            <a:off x="2600325" y="1834964"/>
            <a:ext cx="1933576" cy="301842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9" name="직선 연결선 48"/>
          <p:cNvCxnSpPr>
            <a:stCxn id="50" idx="1"/>
          </p:cNvCxnSpPr>
          <p:nvPr/>
        </p:nvCxnSpPr>
        <p:spPr>
          <a:xfrm>
            <a:off x="1843087" y="2136807"/>
            <a:ext cx="978693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/>
          <p:cNvSpPr/>
          <p:nvPr/>
        </p:nvSpPr>
        <p:spPr>
          <a:xfrm>
            <a:off x="2031204" y="2022805"/>
            <a:ext cx="1138242" cy="2280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</a:rPr>
              <a:t>일본출원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90960" y="2022805"/>
            <a:ext cx="1138242" cy="2280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3890960" y="2250809"/>
            <a:ext cx="1138242" cy="2280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 </a:t>
            </a:r>
            <a:r>
              <a:rPr lang="ko-KR" altLang="en-US" sz="1000" dirty="0">
                <a:solidFill>
                  <a:schemeClr val="tx1"/>
                </a:solidFill>
              </a:rPr>
              <a:t>기초 </a:t>
            </a:r>
            <a:r>
              <a:rPr lang="ko-KR" altLang="en-US" sz="1000" dirty="0" err="1">
                <a:solidFill>
                  <a:schemeClr val="tx1"/>
                </a:solidFill>
              </a:rPr>
              <a:t>우선권주장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2824162" y="1627128"/>
            <a:ext cx="1514475" cy="2280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</a:p>
        </p:txBody>
      </p:sp>
      <p:sp>
        <p:nvSpPr>
          <p:cNvPr id="133" name="직사각형 132"/>
          <p:cNvSpPr/>
          <p:nvPr/>
        </p:nvSpPr>
        <p:spPr>
          <a:xfrm>
            <a:off x="8934450" y="6181761"/>
            <a:ext cx="514350" cy="51435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심</a:t>
            </a:r>
          </a:p>
        </p:txBody>
      </p:sp>
      <p:sp>
        <p:nvSpPr>
          <p:cNvPr id="134" name="직사각형 133"/>
          <p:cNvSpPr/>
          <p:nvPr/>
        </p:nvSpPr>
        <p:spPr>
          <a:xfrm>
            <a:off x="9561203" y="6181761"/>
            <a:ext cx="514350" cy="514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</a:t>
            </a:r>
          </a:p>
        </p:txBody>
      </p:sp>
      <p:sp>
        <p:nvSpPr>
          <p:cNvPr id="135" name="직사각형 134"/>
          <p:cNvSpPr/>
          <p:nvPr/>
        </p:nvSpPr>
        <p:spPr>
          <a:xfrm>
            <a:off x="10187956" y="6181761"/>
            <a:ext cx="514350" cy="51435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존</a:t>
            </a:r>
          </a:p>
        </p:txBody>
      </p:sp>
      <p:sp>
        <p:nvSpPr>
          <p:cNvPr id="136" name="직사각형 135"/>
          <p:cNvSpPr/>
          <p:nvPr/>
        </p:nvSpPr>
        <p:spPr>
          <a:xfrm>
            <a:off x="10803760" y="6181761"/>
            <a:ext cx="514350" cy="51435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재</a:t>
            </a:r>
          </a:p>
        </p:txBody>
      </p:sp>
      <p:sp>
        <p:nvSpPr>
          <p:cNvPr id="137" name="직사각형 136"/>
          <p:cNvSpPr/>
          <p:nvPr/>
        </p:nvSpPr>
        <p:spPr>
          <a:xfrm>
            <a:off x="11394310" y="6181761"/>
            <a:ext cx="514350" cy="51435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등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7608313" y="2022805"/>
            <a:ext cx="1138242" cy="2280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설정등록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5103022" y="1446153"/>
            <a:ext cx="1514475" cy="2280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3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6917748" y="1190487"/>
            <a:ext cx="1514475" cy="2280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143718" y="1722209"/>
            <a:ext cx="12907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심사청구기간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65815" y="1722209"/>
            <a:ext cx="9220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존속기간</a:t>
            </a:r>
          </a:p>
        </p:txBody>
      </p:sp>
      <p:sp>
        <p:nvSpPr>
          <p:cNvPr id="68" name="양쪽 모서리가 둥근 사각형 67"/>
          <p:cNvSpPr/>
          <p:nvPr/>
        </p:nvSpPr>
        <p:spPr>
          <a:xfrm>
            <a:off x="4577844" y="3046261"/>
            <a:ext cx="4432806" cy="473324"/>
          </a:xfrm>
          <a:prstGeom prst="round2SameRect">
            <a:avLst>
              <a:gd name="adj1" fmla="val 50000"/>
              <a:gd name="adj2" fmla="val 0"/>
            </a:avLst>
          </a:prstGeom>
          <a:pattFill prst="dkHorz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양쪽 모서리가 둥근 사각형 68"/>
          <p:cNvSpPr/>
          <p:nvPr/>
        </p:nvSpPr>
        <p:spPr>
          <a:xfrm>
            <a:off x="2600325" y="3217743"/>
            <a:ext cx="1933576" cy="301842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0" name="직선 연결선 69"/>
          <p:cNvCxnSpPr>
            <a:stCxn id="71" idx="1"/>
          </p:cNvCxnSpPr>
          <p:nvPr/>
        </p:nvCxnSpPr>
        <p:spPr>
          <a:xfrm>
            <a:off x="1843087" y="3519586"/>
            <a:ext cx="978693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/>
          <p:cNvSpPr/>
          <p:nvPr/>
        </p:nvSpPr>
        <p:spPr>
          <a:xfrm>
            <a:off x="2031204" y="3405584"/>
            <a:ext cx="1138242" cy="2280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</a:rPr>
              <a:t>일본출원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3890960" y="3405584"/>
            <a:ext cx="1138242" cy="2280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3890960" y="3633588"/>
            <a:ext cx="1138242" cy="2280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 </a:t>
            </a:r>
            <a:r>
              <a:rPr lang="ko-KR" altLang="en-US" sz="1000" dirty="0">
                <a:solidFill>
                  <a:schemeClr val="tx1"/>
                </a:solidFill>
              </a:rPr>
              <a:t>기초 </a:t>
            </a:r>
            <a:r>
              <a:rPr lang="ko-KR" altLang="en-US" sz="1000" dirty="0" err="1">
                <a:solidFill>
                  <a:schemeClr val="tx1"/>
                </a:solidFill>
              </a:rPr>
              <a:t>우선권주장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2824162" y="3009907"/>
            <a:ext cx="1514475" cy="2280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</a:p>
        </p:txBody>
      </p:sp>
      <p:sp>
        <p:nvSpPr>
          <p:cNvPr id="75" name="직사각형 74"/>
          <p:cNvSpPr/>
          <p:nvPr/>
        </p:nvSpPr>
        <p:spPr>
          <a:xfrm>
            <a:off x="5436613" y="3405584"/>
            <a:ext cx="1138242" cy="2280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설정등록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6150772" y="2809882"/>
            <a:ext cx="1514475" cy="2280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4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6150772" y="4030479"/>
            <a:ext cx="1514475" cy="2280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3</a:t>
            </a:r>
            <a:r>
              <a:rPr lang="ko-KR" altLang="en-US" sz="1000" dirty="0">
                <a:solidFill>
                  <a:schemeClr val="tx1"/>
                </a:solidFill>
              </a:rPr>
              <a:t>년 이상 계속 </a:t>
            </a:r>
            <a:r>
              <a:rPr lang="ko-KR" altLang="en-US" sz="1000" dirty="0" err="1">
                <a:solidFill>
                  <a:schemeClr val="tx1"/>
                </a:solidFill>
              </a:rPr>
              <a:t>불실시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2" name="Rectangle 14"/>
          <p:cNvSpPr>
            <a:spLocks noChangeArrowheads="1"/>
          </p:cNvSpPr>
          <p:nvPr/>
        </p:nvSpPr>
        <p:spPr bwMode="auto">
          <a:xfrm flipV="1">
            <a:off x="8939806" y="3456783"/>
            <a:ext cx="144858" cy="122299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9791681" y="3170388"/>
            <a:ext cx="9220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err="1">
                <a:solidFill>
                  <a:srgbClr val="FF0000"/>
                </a:solidFill>
              </a:rPr>
              <a:t>재정청구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94" name="양쪽 모서리가 둥근 사각형 93"/>
          <p:cNvSpPr/>
          <p:nvPr/>
        </p:nvSpPr>
        <p:spPr>
          <a:xfrm rot="10800000">
            <a:off x="5969145" y="5331297"/>
            <a:ext cx="1888979" cy="473324"/>
          </a:xfrm>
          <a:prstGeom prst="round2SameRect">
            <a:avLst>
              <a:gd name="adj1" fmla="val 50000"/>
              <a:gd name="adj2" fmla="val 0"/>
            </a:avLst>
          </a:prstGeom>
          <a:pattFill prst="dkHorz">
            <a:fgClr>
              <a:schemeClr val="bg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양쪽 모서리가 둥근 사각형 94"/>
          <p:cNvSpPr/>
          <p:nvPr/>
        </p:nvSpPr>
        <p:spPr>
          <a:xfrm>
            <a:off x="4577843" y="4831436"/>
            <a:ext cx="3637579" cy="473324"/>
          </a:xfrm>
          <a:prstGeom prst="round2SameRect">
            <a:avLst>
              <a:gd name="adj1" fmla="val 50000"/>
              <a:gd name="adj2" fmla="val 0"/>
            </a:avLst>
          </a:prstGeom>
          <a:pattFill prst="dkHorz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양쪽 모서리가 둥근 사각형 95"/>
          <p:cNvSpPr/>
          <p:nvPr/>
        </p:nvSpPr>
        <p:spPr>
          <a:xfrm>
            <a:off x="2600325" y="5002918"/>
            <a:ext cx="1933576" cy="301842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7" name="직선 연결선 96"/>
          <p:cNvCxnSpPr>
            <a:stCxn id="98" idx="1"/>
          </p:cNvCxnSpPr>
          <p:nvPr/>
        </p:nvCxnSpPr>
        <p:spPr>
          <a:xfrm>
            <a:off x="1843087" y="5304761"/>
            <a:ext cx="978693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2031204" y="5190759"/>
            <a:ext cx="1138242" cy="2280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</a:rPr>
              <a:t>일본출원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3890960" y="5190759"/>
            <a:ext cx="1138242" cy="2280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3890960" y="5418763"/>
            <a:ext cx="1138242" cy="2280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 </a:t>
            </a:r>
            <a:r>
              <a:rPr lang="ko-KR" altLang="en-US" sz="1000" dirty="0">
                <a:solidFill>
                  <a:schemeClr val="tx1"/>
                </a:solidFill>
              </a:rPr>
              <a:t>기초 </a:t>
            </a:r>
            <a:r>
              <a:rPr lang="ko-KR" altLang="en-US" sz="1000" dirty="0" err="1">
                <a:solidFill>
                  <a:schemeClr val="tx1"/>
                </a:solidFill>
              </a:rPr>
              <a:t>우선권주장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2824162" y="4795082"/>
            <a:ext cx="1514475" cy="2280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</a:p>
        </p:txBody>
      </p:sp>
      <p:sp>
        <p:nvSpPr>
          <p:cNvPr id="102" name="직사각형 101"/>
          <p:cNvSpPr/>
          <p:nvPr/>
        </p:nvSpPr>
        <p:spPr>
          <a:xfrm>
            <a:off x="5436613" y="5190759"/>
            <a:ext cx="1138242" cy="2280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심사청구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5026822" y="4509332"/>
            <a:ext cx="1514475" cy="2280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4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</a:p>
        </p:txBody>
      </p:sp>
      <p:sp>
        <p:nvSpPr>
          <p:cNvPr id="116" name="직사각형 115"/>
          <p:cNvSpPr/>
          <p:nvPr/>
        </p:nvSpPr>
        <p:spPr>
          <a:xfrm>
            <a:off x="6150772" y="5815654"/>
            <a:ext cx="1514475" cy="2280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3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</a:p>
        </p:txBody>
      </p:sp>
      <p:sp>
        <p:nvSpPr>
          <p:cNvPr id="139" name="직사각형 138"/>
          <p:cNvSpPr/>
          <p:nvPr/>
        </p:nvSpPr>
        <p:spPr>
          <a:xfrm>
            <a:off x="9687889" y="5190759"/>
            <a:ext cx="1138242" cy="2280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설정등록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8466666" y="4407940"/>
            <a:ext cx="1717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존속기간 연장가능</a:t>
            </a:r>
          </a:p>
        </p:txBody>
      </p:sp>
      <p:sp>
        <p:nvSpPr>
          <p:cNvPr id="142" name="직사각형 141"/>
          <p:cNvSpPr/>
          <p:nvPr/>
        </p:nvSpPr>
        <p:spPr>
          <a:xfrm>
            <a:off x="857250" y="1068881"/>
            <a:ext cx="10925176" cy="1565860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" name="모서리가 둥근 직사각형 142"/>
          <p:cNvSpPr/>
          <p:nvPr/>
        </p:nvSpPr>
        <p:spPr>
          <a:xfrm>
            <a:off x="134759" y="1506890"/>
            <a:ext cx="1452564" cy="672132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심사청구</a:t>
            </a:r>
            <a:endParaRPr lang="en-US" altLang="ko-KR" sz="1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존속기간</a:t>
            </a:r>
          </a:p>
        </p:txBody>
      </p:sp>
      <p:sp>
        <p:nvSpPr>
          <p:cNvPr id="144" name="직사각형 143"/>
          <p:cNvSpPr/>
          <p:nvPr/>
        </p:nvSpPr>
        <p:spPr>
          <a:xfrm>
            <a:off x="857250" y="2715468"/>
            <a:ext cx="10925176" cy="1565860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134759" y="3173683"/>
            <a:ext cx="1452564" cy="67213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재정</a:t>
            </a:r>
            <a:endParaRPr lang="en-US" altLang="ko-KR" sz="1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6" name="직사각형 145"/>
          <p:cNvSpPr/>
          <p:nvPr/>
        </p:nvSpPr>
        <p:spPr>
          <a:xfrm>
            <a:off x="857250" y="4345730"/>
            <a:ext cx="10925176" cy="1708959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134759" y="4803946"/>
            <a:ext cx="1452564" cy="67213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등록지연에 따른 </a:t>
            </a:r>
            <a:endParaRPr lang="en-US" altLang="ko-KR" sz="1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존속기간 연장</a:t>
            </a:r>
            <a:endParaRPr lang="en-US" altLang="ko-KR" sz="1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3" name="Rectangle 14"/>
          <p:cNvSpPr>
            <a:spLocks noChangeArrowheads="1"/>
          </p:cNvSpPr>
          <p:nvPr/>
        </p:nvSpPr>
        <p:spPr bwMode="auto">
          <a:xfrm flipV="1">
            <a:off x="8154770" y="5234085"/>
            <a:ext cx="144858" cy="122299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62116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177">
            <a:extLst>
              <a:ext uri="{FF2B5EF4-FFF2-40B4-BE49-F238E27FC236}">
                <a16:creationId xmlns:a16="http://schemas.microsoft.com/office/drawing/2014/main" id="{DDC0CD7B-165F-1030-3914-83FAB19C8A7D}"/>
              </a:ext>
            </a:extLst>
          </p:cNvPr>
          <p:cNvSpPr/>
          <p:nvPr/>
        </p:nvSpPr>
        <p:spPr>
          <a:xfrm rot="10800000">
            <a:off x="1722792" y="5665291"/>
            <a:ext cx="4184469" cy="647018"/>
          </a:xfrm>
          <a:prstGeom prst="round2SameRect">
            <a:avLst>
              <a:gd name="adj1" fmla="val 50000"/>
              <a:gd name="adj2" fmla="val 0"/>
            </a:avLst>
          </a:prstGeom>
          <a:pattFill prst="dotGrid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54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공지예외적용주장을 수반하는 조약우선권주장출원</a:t>
            </a:r>
          </a:p>
        </p:txBody>
      </p:sp>
      <p:sp>
        <p:nvSpPr>
          <p:cNvPr id="133" name="직사각형 132"/>
          <p:cNvSpPr/>
          <p:nvPr/>
        </p:nvSpPr>
        <p:spPr>
          <a:xfrm>
            <a:off x="8934450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심</a:t>
            </a:r>
          </a:p>
        </p:txBody>
      </p:sp>
      <p:sp>
        <p:nvSpPr>
          <p:cNvPr id="134" name="직사각형 133"/>
          <p:cNvSpPr/>
          <p:nvPr/>
        </p:nvSpPr>
        <p:spPr>
          <a:xfrm>
            <a:off x="9561203" y="6181761"/>
            <a:ext cx="514350" cy="51435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</a:t>
            </a:r>
          </a:p>
        </p:txBody>
      </p:sp>
      <p:sp>
        <p:nvSpPr>
          <p:cNvPr id="135" name="직사각형 134"/>
          <p:cNvSpPr/>
          <p:nvPr/>
        </p:nvSpPr>
        <p:spPr>
          <a:xfrm>
            <a:off x="10187956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존</a:t>
            </a:r>
          </a:p>
        </p:txBody>
      </p:sp>
      <p:sp>
        <p:nvSpPr>
          <p:cNvPr id="136" name="직사각형 135"/>
          <p:cNvSpPr/>
          <p:nvPr/>
        </p:nvSpPr>
        <p:spPr>
          <a:xfrm>
            <a:off x="10803760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재</a:t>
            </a:r>
          </a:p>
        </p:txBody>
      </p:sp>
      <p:sp>
        <p:nvSpPr>
          <p:cNvPr id="137" name="직사각형 136"/>
          <p:cNvSpPr/>
          <p:nvPr/>
        </p:nvSpPr>
        <p:spPr>
          <a:xfrm>
            <a:off x="11394310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등</a:t>
            </a:r>
          </a:p>
        </p:txBody>
      </p:sp>
      <p:graphicFrame>
        <p:nvGraphicFramePr>
          <p:cNvPr id="67" name="표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794260"/>
              </p:ext>
            </p:extLst>
          </p:nvPr>
        </p:nvGraphicFramePr>
        <p:xfrm>
          <a:off x="466724" y="1040160"/>
          <a:ext cx="11239502" cy="1449992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00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79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0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533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구  분</a:t>
                      </a: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개월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취지기재서면 및 증명서류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23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분할출원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52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소급효 ○</a:t>
                      </a: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소급효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61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분리출원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52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의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소급효 ○</a:t>
                      </a: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소급효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6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변경출원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53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소급효 ○</a:t>
                      </a: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소급효 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endParaRPr lang="ko-KR" altLang="en-US" sz="11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2367116551"/>
                  </a:ext>
                </a:extLst>
              </a:tr>
              <a:tr h="24723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조약우선권주장출원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54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③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소급효 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×(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항의 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“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특허출원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＂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을 국내출원으로 제한해석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소급효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국내우선권주장출원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55</a:t>
                      </a:r>
                      <a:r>
                        <a:rPr lang="ko-KR" altLang="en-US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소급효 ○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판단시점의 소급효가 인정된 발명으로 제한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소급효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5" name="양쪽 모서리가 둥근 사각형 174"/>
          <p:cNvSpPr/>
          <p:nvPr/>
        </p:nvSpPr>
        <p:spPr>
          <a:xfrm rot="10800000">
            <a:off x="3732927" y="5660950"/>
            <a:ext cx="2161078" cy="304032"/>
          </a:xfrm>
          <a:prstGeom prst="round2SameRect">
            <a:avLst>
              <a:gd name="adj1" fmla="val 50000"/>
              <a:gd name="adj2" fmla="val 0"/>
            </a:avLst>
          </a:prstGeom>
          <a:pattFill prst="dkHorz">
            <a:fgClr>
              <a:schemeClr val="accent4"/>
            </a:fgClr>
            <a:bgClr>
              <a:schemeClr val="bg1"/>
            </a:bgClr>
          </a:patt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77" name="양쪽 모서리가 둥근 사각형 176"/>
          <p:cNvSpPr/>
          <p:nvPr/>
        </p:nvSpPr>
        <p:spPr>
          <a:xfrm rot="10800000">
            <a:off x="6019668" y="3657639"/>
            <a:ext cx="1809881" cy="304032"/>
          </a:xfrm>
          <a:prstGeom prst="round2SameRect">
            <a:avLst>
              <a:gd name="adj1" fmla="val 50000"/>
              <a:gd name="adj2" fmla="val 0"/>
            </a:avLst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78" name="양쪽 모서리가 둥근 사각형 177"/>
          <p:cNvSpPr/>
          <p:nvPr/>
        </p:nvSpPr>
        <p:spPr>
          <a:xfrm rot="10800000">
            <a:off x="1722796" y="3657639"/>
            <a:ext cx="4220803" cy="304032"/>
          </a:xfrm>
          <a:prstGeom prst="round2SameRect">
            <a:avLst>
              <a:gd name="adj1" fmla="val 50000"/>
              <a:gd name="adj2" fmla="val 0"/>
            </a:avLst>
          </a:prstGeom>
          <a:pattFill prst="dotGrid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79" name="양쪽 모서리가 둥근 사각형 178"/>
          <p:cNvSpPr/>
          <p:nvPr/>
        </p:nvSpPr>
        <p:spPr>
          <a:xfrm>
            <a:off x="3657600" y="2836104"/>
            <a:ext cx="6742885" cy="836286"/>
          </a:xfrm>
          <a:prstGeom prst="round2SameRect">
            <a:avLst>
              <a:gd name="adj1" fmla="val 50000"/>
              <a:gd name="adj2" fmla="val 0"/>
            </a:avLst>
          </a:prstGeom>
          <a:pattFill prst="dkVert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cxnSp>
        <p:nvCxnSpPr>
          <p:cNvPr id="180" name="직선 화살표 연결선 179"/>
          <p:cNvCxnSpPr/>
          <p:nvPr/>
        </p:nvCxnSpPr>
        <p:spPr>
          <a:xfrm>
            <a:off x="887767" y="3649124"/>
            <a:ext cx="1058986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Rectangle 14"/>
          <p:cNvSpPr>
            <a:spLocks noChangeArrowheads="1"/>
          </p:cNvSpPr>
          <p:nvPr/>
        </p:nvSpPr>
        <p:spPr bwMode="auto">
          <a:xfrm>
            <a:off x="1108778" y="3506051"/>
            <a:ext cx="1228042" cy="2685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 dirty="0">
                <a:latin typeface="+mn-ea"/>
              </a:rPr>
              <a:t>논문발표</a:t>
            </a:r>
          </a:p>
        </p:txBody>
      </p:sp>
      <p:sp>
        <p:nvSpPr>
          <p:cNvPr id="182" name="Rectangle 14"/>
          <p:cNvSpPr>
            <a:spLocks noChangeArrowheads="1"/>
          </p:cNvSpPr>
          <p:nvPr/>
        </p:nvSpPr>
        <p:spPr bwMode="auto">
          <a:xfrm>
            <a:off x="2957671" y="3513177"/>
            <a:ext cx="1418541" cy="2685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 dirty="0" err="1">
                <a:latin typeface="+mn-ea"/>
              </a:rPr>
              <a:t>일본출원</a:t>
            </a:r>
            <a:r>
              <a:rPr lang="en-US" altLang="ko-KR" sz="1200" b="0" dirty="0">
                <a:latin typeface="+mn-ea"/>
              </a:rPr>
              <a:t>(X)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183" name="Rectangle 14"/>
          <p:cNvSpPr>
            <a:spLocks noChangeArrowheads="1"/>
          </p:cNvSpPr>
          <p:nvPr/>
        </p:nvSpPr>
        <p:spPr bwMode="auto">
          <a:xfrm>
            <a:off x="5212367" y="3513177"/>
            <a:ext cx="1418541" cy="2685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 err="1">
                <a:latin typeface="+mn-ea"/>
              </a:rPr>
              <a:t>한국</a:t>
            </a:r>
            <a:r>
              <a:rPr lang="ko-KR" altLang="en-US" sz="1200" b="0" dirty="0" err="1">
                <a:latin typeface="+mn-ea"/>
              </a:rPr>
              <a:t>출원</a:t>
            </a:r>
            <a:r>
              <a:rPr lang="en-US" altLang="ko-KR" sz="1200" b="0" dirty="0">
                <a:latin typeface="+mn-ea"/>
              </a:rPr>
              <a:t>(Y)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184" name="Rectangle 14"/>
          <p:cNvSpPr>
            <a:spLocks noChangeArrowheads="1"/>
          </p:cNvSpPr>
          <p:nvPr/>
        </p:nvSpPr>
        <p:spPr bwMode="auto">
          <a:xfrm>
            <a:off x="5212367" y="2977709"/>
            <a:ext cx="1418541" cy="26856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200" b="0" dirty="0">
                <a:latin typeface="+mn-ea"/>
              </a:rPr>
              <a:t>X</a:t>
            </a:r>
            <a:r>
              <a:rPr lang="ko-KR" altLang="en-US" sz="1200" b="0" dirty="0">
                <a:latin typeface="+mn-ea"/>
              </a:rPr>
              <a:t>기초 </a:t>
            </a:r>
            <a:r>
              <a:rPr lang="ko-KR" altLang="en-US" sz="1200" b="0" dirty="0" err="1">
                <a:latin typeface="+mn-ea"/>
              </a:rPr>
              <a:t>우선권주장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185" name="Rectangle 14"/>
          <p:cNvSpPr>
            <a:spLocks noChangeArrowheads="1"/>
          </p:cNvSpPr>
          <p:nvPr/>
        </p:nvSpPr>
        <p:spPr bwMode="auto">
          <a:xfrm>
            <a:off x="9786464" y="3514453"/>
            <a:ext cx="1228042" cy="26856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n-ea"/>
              </a:rPr>
              <a:t>증명서류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3289535" y="3961670"/>
            <a:ext cx="8867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12</a:t>
            </a:r>
            <a:r>
              <a:rPr lang="ko-KR" altLang="en-US" sz="1100" dirty="0">
                <a:solidFill>
                  <a:srgbClr val="FF0000"/>
                </a:solidFill>
              </a:rPr>
              <a:t>개월 이내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6456516" y="3948365"/>
            <a:ext cx="7601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30</a:t>
            </a:r>
            <a:r>
              <a:rPr lang="ko-KR" altLang="en-US" sz="1100" dirty="0"/>
              <a:t>일 이내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6385276" y="2611944"/>
            <a:ext cx="7601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</a:t>
            </a:r>
            <a:r>
              <a:rPr lang="ko-KR" altLang="en-US" sz="1100" dirty="0"/>
              <a:t>년 </a:t>
            </a:r>
            <a:r>
              <a:rPr lang="en-US" altLang="ko-KR" sz="1100" dirty="0"/>
              <a:t>4</a:t>
            </a:r>
            <a:r>
              <a:rPr lang="ko-KR" altLang="en-US" sz="1100" dirty="0"/>
              <a:t>개월</a:t>
            </a:r>
          </a:p>
        </p:txBody>
      </p:sp>
      <p:sp>
        <p:nvSpPr>
          <p:cNvPr id="189" name="Rectangle 14"/>
          <p:cNvSpPr>
            <a:spLocks noChangeArrowheads="1"/>
          </p:cNvSpPr>
          <p:nvPr/>
        </p:nvSpPr>
        <p:spPr bwMode="auto">
          <a:xfrm>
            <a:off x="5212367" y="3247940"/>
            <a:ext cx="1418541" cy="2685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n-ea"/>
              </a:rPr>
              <a:t>공지예외적용주장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190" name="Rectangle 14"/>
          <p:cNvSpPr>
            <a:spLocks noChangeArrowheads="1"/>
          </p:cNvSpPr>
          <p:nvPr/>
        </p:nvSpPr>
        <p:spPr bwMode="auto">
          <a:xfrm>
            <a:off x="7193418" y="3511583"/>
            <a:ext cx="1418541" cy="2685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n-ea"/>
              </a:rPr>
              <a:t>증명서류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191" name="양쪽 모서리가 둥근 사각형 190"/>
          <p:cNvSpPr/>
          <p:nvPr/>
        </p:nvSpPr>
        <p:spPr>
          <a:xfrm>
            <a:off x="3657601" y="4820408"/>
            <a:ext cx="5829300" cy="836286"/>
          </a:xfrm>
          <a:prstGeom prst="round2SameRect">
            <a:avLst>
              <a:gd name="adj1" fmla="val 50000"/>
              <a:gd name="adj2" fmla="val 0"/>
            </a:avLst>
          </a:prstGeom>
          <a:pattFill prst="dkVert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92" name="TextBox 191"/>
          <p:cNvSpPr txBox="1"/>
          <p:nvPr/>
        </p:nvSpPr>
        <p:spPr>
          <a:xfrm>
            <a:off x="6385276" y="4558799"/>
            <a:ext cx="7601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</a:t>
            </a:r>
            <a:r>
              <a:rPr lang="ko-KR" altLang="en-US" sz="1100" dirty="0"/>
              <a:t>년 </a:t>
            </a:r>
            <a:r>
              <a:rPr lang="en-US" altLang="ko-KR" sz="1100" dirty="0"/>
              <a:t>3</a:t>
            </a:r>
            <a:r>
              <a:rPr lang="ko-KR" altLang="en-US" sz="1100" dirty="0"/>
              <a:t>개월</a:t>
            </a:r>
          </a:p>
        </p:txBody>
      </p:sp>
      <p:sp>
        <p:nvSpPr>
          <p:cNvPr id="193" name="양쪽 모서리가 둥근 사각형 192"/>
          <p:cNvSpPr/>
          <p:nvPr/>
        </p:nvSpPr>
        <p:spPr>
          <a:xfrm rot="10800000">
            <a:off x="6019668" y="5660950"/>
            <a:ext cx="1809881" cy="304032"/>
          </a:xfrm>
          <a:prstGeom prst="round2SameRect">
            <a:avLst>
              <a:gd name="adj1" fmla="val 50000"/>
              <a:gd name="adj2" fmla="val 0"/>
            </a:avLst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94" name="양쪽 모서리가 둥근 사각형 193"/>
          <p:cNvSpPr/>
          <p:nvPr/>
        </p:nvSpPr>
        <p:spPr>
          <a:xfrm rot="10800000">
            <a:off x="1722796" y="5660950"/>
            <a:ext cx="1849079" cy="304032"/>
          </a:xfrm>
          <a:prstGeom prst="round2SameRect">
            <a:avLst>
              <a:gd name="adj1" fmla="val 50000"/>
              <a:gd name="adj2" fmla="val 0"/>
            </a:avLst>
          </a:prstGeom>
          <a:pattFill prst="dotGrid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cxnSp>
        <p:nvCxnSpPr>
          <p:cNvPr id="195" name="직선 화살표 연결선 194"/>
          <p:cNvCxnSpPr/>
          <p:nvPr/>
        </p:nvCxnSpPr>
        <p:spPr>
          <a:xfrm>
            <a:off x="887767" y="5652435"/>
            <a:ext cx="1058986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Rectangle 14"/>
          <p:cNvSpPr>
            <a:spLocks noChangeArrowheads="1"/>
          </p:cNvSpPr>
          <p:nvPr/>
        </p:nvSpPr>
        <p:spPr bwMode="auto">
          <a:xfrm>
            <a:off x="1108778" y="5509362"/>
            <a:ext cx="1228042" cy="2685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 dirty="0">
                <a:latin typeface="+mn-ea"/>
              </a:rPr>
              <a:t>논문발표</a:t>
            </a:r>
          </a:p>
        </p:txBody>
      </p:sp>
      <p:sp>
        <p:nvSpPr>
          <p:cNvPr id="197" name="Rectangle 14"/>
          <p:cNvSpPr>
            <a:spLocks noChangeArrowheads="1"/>
          </p:cNvSpPr>
          <p:nvPr/>
        </p:nvSpPr>
        <p:spPr bwMode="auto">
          <a:xfrm>
            <a:off x="2957671" y="5516488"/>
            <a:ext cx="1418541" cy="2685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 err="1">
                <a:latin typeface="+mn-ea"/>
              </a:rPr>
              <a:t>한국</a:t>
            </a:r>
            <a:r>
              <a:rPr lang="ko-KR" altLang="en-US" sz="1200" b="0" dirty="0" err="1">
                <a:latin typeface="+mn-ea"/>
              </a:rPr>
              <a:t>출원</a:t>
            </a:r>
            <a:r>
              <a:rPr lang="en-US" altLang="ko-KR" sz="1200" b="0" dirty="0">
                <a:latin typeface="+mn-ea"/>
              </a:rPr>
              <a:t>(X)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198" name="Rectangle 14"/>
          <p:cNvSpPr>
            <a:spLocks noChangeArrowheads="1"/>
          </p:cNvSpPr>
          <p:nvPr/>
        </p:nvSpPr>
        <p:spPr bwMode="auto">
          <a:xfrm>
            <a:off x="5212367" y="5516488"/>
            <a:ext cx="1418541" cy="2685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 err="1">
                <a:latin typeface="+mn-ea"/>
              </a:rPr>
              <a:t>한국</a:t>
            </a:r>
            <a:r>
              <a:rPr lang="ko-KR" altLang="en-US" sz="1200" b="0" dirty="0" err="1">
                <a:latin typeface="+mn-ea"/>
              </a:rPr>
              <a:t>출원</a:t>
            </a:r>
            <a:r>
              <a:rPr lang="en-US" altLang="ko-KR" sz="1200" b="0" dirty="0">
                <a:latin typeface="+mn-ea"/>
              </a:rPr>
              <a:t>(Y)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199" name="Rectangle 14"/>
          <p:cNvSpPr>
            <a:spLocks noChangeArrowheads="1"/>
          </p:cNvSpPr>
          <p:nvPr/>
        </p:nvSpPr>
        <p:spPr bwMode="auto">
          <a:xfrm>
            <a:off x="5212367" y="4981020"/>
            <a:ext cx="1418541" cy="26856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200" b="0" dirty="0">
                <a:latin typeface="+mn-ea"/>
              </a:rPr>
              <a:t>X</a:t>
            </a:r>
            <a:r>
              <a:rPr lang="ko-KR" altLang="en-US" sz="1200" b="0" dirty="0">
                <a:latin typeface="+mn-ea"/>
              </a:rPr>
              <a:t>기초 </a:t>
            </a:r>
            <a:r>
              <a:rPr lang="ko-KR" altLang="en-US" sz="1200" b="0" dirty="0" err="1">
                <a:latin typeface="+mn-ea"/>
              </a:rPr>
              <a:t>우선권주장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200" name="Rectangle 14"/>
          <p:cNvSpPr>
            <a:spLocks noChangeArrowheads="1"/>
          </p:cNvSpPr>
          <p:nvPr/>
        </p:nvSpPr>
        <p:spPr bwMode="auto">
          <a:xfrm>
            <a:off x="8891114" y="5517764"/>
            <a:ext cx="1228042" cy="2685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 err="1">
                <a:latin typeface="+mn-ea"/>
              </a:rPr>
              <a:t>취하간주</a:t>
            </a:r>
            <a:r>
              <a:rPr lang="en-US" altLang="ko-KR" sz="1200" dirty="0">
                <a:latin typeface="+mn-ea"/>
              </a:rPr>
              <a:t>(X)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201" name="TextBox 200"/>
          <p:cNvSpPr txBox="1"/>
          <p:nvPr/>
        </p:nvSpPr>
        <p:spPr>
          <a:xfrm>
            <a:off x="2198042" y="5972545"/>
            <a:ext cx="8867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12</a:t>
            </a:r>
            <a:r>
              <a:rPr lang="ko-KR" altLang="en-US" sz="1100" dirty="0">
                <a:solidFill>
                  <a:srgbClr val="FF0000"/>
                </a:solidFill>
              </a:rPr>
              <a:t>개월 이내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6456516" y="5970725"/>
            <a:ext cx="7601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30</a:t>
            </a:r>
            <a:r>
              <a:rPr lang="ko-KR" altLang="en-US" sz="1100" dirty="0"/>
              <a:t>일 이내</a:t>
            </a:r>
          </a:p>
        </p:txBody>
      </p:sp>
      <p:sp>
        <p:nvSpPr>
          <p:cNvPr id="203" name="Rectangle 14"/>
          <p:cNvSpPr>
            <a:spLocks noChangeArrowheads="1"/>
          </p:cNvSpPr>
          <p:nvPr/>
        </p:nvSpPr>
        <p:spPr bwMode="auto">
          <a:xfrm>
            <a:off x="5212367" y="5251251"/>
            <a:ext cx="1418541" cy="2685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n-ea"/>
              </a:rPr>
              <a:t>공지예외적용주장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204" name="Rectangle 14"/>
          <p:cNvSpPr>
            <a:spLocks noChangeArrowheads="1"/>
          </p:cNvSpPr>
          <p:nvPr/>
        </p:nvSpPr>
        <p:spPr bwMode="auto">
          <a:xfrm>
            <a:off x="7193418" y="5514894"/>
            <a:ext cx="1418541" cy="2685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n-ea"/>
              </a:rPr>
              <a:t>증명서류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4376212" y="5972545"/>
            <a:ext cx="8867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12</a:t>
            </a:r>
            <a:r>
              <a:rPr lang="ko-KR" altLang="en-US" sz="1100" dirty="0"/>
              <a:t>개월 이내</a:t>
            </a:r>
          </a:p>
        </p:txBody>
      </p:sp>
      <p:sp>
        <p:nvSpPr>
          <p:cNvPr id="206" name="직사각형 205"/>
          <p:cNvSpPr/>
          <p:nvPr/>
        </p:nvSpPr>
        <p:spPr>
          <a:xfrm>
            <a:off x="6167454" y="3788131"/>
            <a:ext cx="409086" cy="4812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rgbClr val="FF0000"/>
                </a:solidFill>
                <a:ea typeface="함초롬바탕" panose="02030504000101010101" pitchFamily="18" charset="-127"/>
              </a:rPr>
              <a:t>❸</a:t>
            </a:r>
            <a:endParaRPr lang="ko-KR" altLang="en-US" kern="0" dirty="0">
              <a:solidFill>
                <a:srgbClr val="FF0000"/>
              </a:solidFill>
            </a:endParaRPr>
          </a:p>
        </p:txBody>
      </p:sp>
      <p:sp>
        <p:nvSpPr>
          <p:cNvPr id="207" name="직사각형 206"/>
          <p:cNvSpPr/>
          <p:nvPr/>
        </p:nvSpPr>
        <p:spPr>
          <a:xfrm>
            <a:off x="3046958" y="3789306"/>
            <a:ext cx="409086" cy="4812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rgbClr val="FF0000"/>
                </a:solidFill>
                <a:ea typeface="함초롬바탕" panose="02030504000101010101" pitchFamily="18" charset="-127"/>
              </a:rPr>
              <a:t>❶</a:t>
            </a:r>
            <a:endParaRPr lang="ko-KR" altLang="en-US" kern="0" dirty="0">
              <a:solidFill>
                <a:srgbClr val="FF0000"/>
              </a:solidFill>
            </a:endParaRPr>
          </a:p>
        </p:txBody>
      </p:sp>
      <p:sp>
        <p:nvSpPr>
          <p:cNvPr id="208" name="직사각형 207"/>
          <p:cNvSpPr/>
          <p:nvPr/>
        </p:nvSpPr>
        <p:spPr>
          <a:xfrm>
            <a:off x="1927734" y="5803302"/>
            <a:ext cx="409086" cy="4812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rgbClr val="FF0000"/>
                </a:solidFill>
                <a:ea typeface="함초롬바탕" panose="02030504000101010101" pitchFamily="18" charset="-127"/>
              </a:rPr>
              <a:t>❶</a:t>
            </a:r>
            <a:endParaRPr lang="ko-KR" altLang="en-US" kern="0" dirty="0">
              <a:solidFill>
                <a:srgbClr val="FF0000"/>
              </a:solidFill>
            </a:endParaRPr>
          </a:p>
        </p:txBody>
      </p:sp>
      <p:sp>
        <p:nvSpPr>
          <p:cNvPr id="209" name="직사각형 208"/>
          <p:cNvSpPr/>
          <p:nvPr/>
        </p:nvSpPr>
        <p:spPr>
          <a:xfrm>
            <a:off x="4928067" y="3091800"/>
            <a:ext cx="409086" cy="4812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rgbClr val="FF0000"/>
                </a:solidFill>
                <a:ea typeface="함초롬바탕" panose="02030504000101010101" pitchFamily="18" charset="-127"/>
              </a:rPr>
              <a:t>❷</a:t>
            </a:r>
            <a:endParaRPr lang="ko-KR" altLang="en-US" kern="0" dirty="0">
              <a:solidFill>
                <a:srgbClr val="FF0000"/>
              </a:solidFill>
            </a:endParaRPr>
          </a:p>
        </p:txBody>
      </p:sp>
      <p:sp>
        <p:nvSpPr>
          <p:cNvPr id="210" name="직사각형 209"/>
          <p:cNvSpPr/>
          <p:nvPr/>
        </p:nvSpPr>
        <p:spPr>
          <a:xfrm>
            <a:off x="4928067" y="5118928"/>
            <a:ext cx="409086" cy="4812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rgbClr val="FF0000"/>
                </a:solidFill>
                <a:ea typeface="함초롬바탕" panose="02030504000101010101" pitchFamily="18" charset="-127"/>
              </a:rPr>
              <a:t>❷</a:t>
            </a:r>
            <a:endParaRPr lang="ko-KR" altLang="en-US" kern="0" dirty="0">
              <a:solidFill>
                <a:srgbClr val="FF0000"/>
              </a:solidFill>
            </a:endParaRPr>
          </a:p>
        </p:txBody>
      </p:sp>
      <p:sp>
        <p:nvSpPr>
          <p:cNvPr id="211" name="직사각형 210"/>
          <p:cNvSpPr/>
          <p:nvPr/>
        </p:nvSpPr>
        <p:spPr>
          <a:xfrm>
            <a:off x="6187708" y="5831087"/>
            <a:ext cx="409086" cy="4812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rgbClr val="FF0000"/>
                </a:solidFill>
                <a:ea typeface="함초롬바탕" panose="02030504000101010101" pitchFamily="18" charset="-127"/>
              </a:rPr>
              <a:t>❸</a:t>
            </a:r>
            <a:endParaRPr lang="ko-KR" altLang="en-US" kern="0" dirty="0">
              <a:solidFill>
                <a:srgbClr val="FF0000"/>
              </a:solidFill>
            </a:endParaRPr>
          </a:p>
        </p:txBody>
      </p:sp>
      <p:cxnSp>
        <p:nvCxnSpPr>
          <p:cNvPr id="212" name="직선 연결선 211"/>
          <p:cNvCxnSpPr/>
          <p:nvPr/>
        </p:nvCxnSpPr>
        <p:spPr>
          <a:xfrm flipV="1">
            <a:off x="314325" y="4362450"/>
            <a:ext cx="11594335" cy="952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224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CD495C-BDCE-3714-EA56-E5D5BC4975CA}"/>
              </a:ext>
            </a:extLst>
          </p:cNvPr>
          <p:cNvSpPr txBox="1"/>
          <p:nvPr/>
        </p:nvSpPr>
        <p:spPr>
          <a:xfrm>
            <a:off x="3406661" y="6331722"/>
            <a:ext cx="8867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12</a:t>
            </a:r>
            <a:r>
              <a:rPr lang="ko-KR" altLang="en-US" sz="1100" dirty="0">
                <a:solidFill>
                  <a:srgbClr val="FF0000"/>
                </a:solidFill>
              </a:rPr>
              <a:t>개월 이내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C5F4F8D-E515-4534-A0D2-A8E9CAC53E61}"/>
              </a:ext>
            </a:extLst>
          </p:cNvPr>
          <p:cNvSpPr/>
          <p:nvPr/>
        </p:nvSpPr>
        <p:spPr>
          <a:xfrm>
            <a:off x="3136353" y="6162479"/>
            <a:ext cx="409086" cy="4812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rgbClr val="FF0000"/>
                </a:solidFill>
                <a:ea typeface="함초롬바탕" panose="02030504000101010101" pitchFamily="18" charset="-127"/>
              </a:rPr>
              <a:t>❶</a:t>
            </a:r>
            <a:endParaRPr lang="ko-KR" altLang="en-US" kern="0" dirty="0">
              <a:solidFill>
                <a:srgbClr val="FF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E9DA660-33EC-2281-11B0-6DBE0124346C}"/>
              </a:ext>
            </a:extLst>
          </p:cNvPr>
          <p:cNvSpPr/>
          <p:nvPr/>
        </p:nvSpPr>
        <p:spPr>
          <a:xfrm>
            <a:off x="5000823" y="688903"/>
            <a:ext cx="409086" cy="4812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rgbClr val="FF0000"/>
                </a:solidFill>
                <a:ea typeface="함초롬바탕" panose="02030504000101010101" pitchFamily="18" charset="-127"/>
              </a:rPr>
              <a:t>❶</a:t>
            </a:r>
            <a:endParaRPr lang="ko-KR" altLang="en-US" kern="0" dirty="0">
              <a:solidFill>
                <a:srgbClr val="FF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242DFDE-3C4B-FC22-58B9-BF810D106C80}"/>
              </a:ext>
            </a:extLst>
          </p:cNvPr>
          <p:cNvSpPr/>
          <p:nvPr/>
        </p:nvSpPr>
        <p:spPr>
          <a:xfrm>
            <a:off x="8362311" y="699573"/>
            <a:ext cx="633507" cy="9263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rgbClr val="FF0000"/>
                </a:solidFill>
                <a:ea typeface="함초롬바탕" panose="02030504000101010101" pitchFamily="18" charset="-127"/>
              </a:rPr>
              <a:t>❷❸</a:t>
            </a:r>
            <a:endParaRPr lang="ko-KR" altLang="en-US" kern="0" dirty="0">
              <a:solidFill>
                <a:srgbClr val="FF0000"/>
              </a:solidFill>
            </a:endParaRPr>
          </a:p>
          <a:p>
            <a:pPr algn="just" fontAlgn="base">
              <a:lnSpc>
                <a:spcPct val="160000"/>
              </a:lnSpc>
            </a:pPr>
            <a:endParaRPr lang="ko-KR" altLang="en-US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947402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양쪽 모서리가 둥근 사각형 92"/>
          <p:cNvSpPr/>
          <p:nvPr/>
        </p:nvSpPr>
        <p:spPr>
          <a:xfrm rot="10800000">
            <a:off x="5390966" y="5037810"/>
            <a:ext cx="3931096" cy="528720"/>
          </a:xfrm>
          <a:prstGeom prst="round2SameRect">
            <a:avLst>
              <a:gd name="adj1" fmla="val 50000"/>
              <a:gd name="adj2" fmla="val 0"/>
            </a:avLst>
          </a:prstGeom>
          <a:pattFill prst="dkVert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양쪽 모서리가 둥근 사각형 91"/>
          <p:cNvSpPr/>
          <p:nvPr/>
        </p:nvSpPr>
        <p:spPr>
          <a:xfrm>
            <a:off x="1541824" y="4501964"/>
            <a:ext cx="7780238" cy="528720"/>
          </a:xfrm>
          <a:prstGeom prst="round2SameRect">
            <a:avLst>
              <a:gd name="adj1" fmla="val 50000"/>
              <a:gd name="adj2" fmla="val 0"/>
            </a:avLst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54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우선권주장이 </a:t>
            </a:r>
            <a:r>
              <a:rPr lang="ko-KR" altLang="en-US" dirty="0" err="1"/>
              <a:t>부적법한</a:t>
            </a:r>
            <a:r>
              <a:rPr lang="ko-KR" altLang="en-US" dirty="0"/>
              <a:t> 경우의 취급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/>
              <a:t>출원인이</a:t>
            </a:r>
            <a:r>
              <a:rPr lang="ko-KR" altLang="en-US" sz="1400" dirty="0"/>
              <a:t> 공지예외적용주장</a:t>
            </a:r>
            <a:r>
              <a:rPr lang="en-US" altLang="ko-KR" sz="1400" dirty="0"/>
              <a:t>/</a:t>
            </a:r>
            <a:r>
              <a:rPr lang="ko-KR" altLang="en-US" sz="1400" dirty="0"/>
              <a:t>우선권주장출원을 하였으나</a:t>
            </a:r>
            <a:r>
              <a:rPr lang="en-US" altLang="ko-KR" sz="1400" dirty="0"/>
              <a:t>, </a:t>
            </a:r>
            <a:r>
              <a:rPr lang="ko-KR" altLang="en-US" sz="1400" dirty="0"/>
              <a:t>공지예외적용주장</a:t>
            </a:r>
            <a:r>
              <a:rPr lang="en-US" altLang="ko-KR" sz="1400" dirty="0"/>
              <a:t>/</a:t>
            </a:r>
            <a:r>
              <a:rPr lang="ko-KR" altLang="en-US" sz="1400" dirty="0"/>
              <a:t>우선권주장이 방식에 위반된 경우 지식재산처장은 그 흠결을 지적하여 보정명령을 하고 보정명령에도 불구하고 보정하지 않거나 보정에 의하여 흠결이 치유되지 아니한 경우 그 보정명령을 한 절차인 </a:t>
            </a:r>
            <a:r>
              <a:rPr lang="ko-KR" altLang="en-US" sz="1400" dirty="0">
                <a:highlight>
                  <a:srgbClr val="FFFF00"/>
                </a:highlight>
              </a:rPr>
              <a:t>「공지예외적용주장</a:t>
            </a:r>
            <a:r>
              <a:rPr lang="en-US" altLang="ko-KR" sz="1400" dirty="0">
                <a:highlight>
                  <a:srgbClr val="FFFF00"/>
                </a:highlight>
              </a:rPr>
              <a:t>/</a:t>
            </a:r>
            <a:r>
              <a:rPr lang="ko-KR" altLang="en-US" sz="1400" dirty="0">
                <a:highlight>
                  <a:srgbClr val="FFFF00"/>
                </a:highlight>
              </a:rPr>
              <a:t>우선권주장」</a:t>
            </a:r>
            <a:r>
              <a:rPr lang="ko-KR" altLang="en-US" sz="1400" dirty="0"/>
              <a:t>을 무효로 할 수 있다</a:t>
            </a:r>
            <a:r>
              <a:rPr lang="en-US" altLang="ko-KR" sz="1400" dirty="0"/>
              <a:t>. </a:t>
            </a:r>
            <a:r>
              <a:rPr lang="ko-KR" altLang="en-US" sz="1400" dirty="0">
                <a:highlight>
                  <a:srgbClr val="FFFF00"/>
                </a:highlight>
              </a:rPr>
              <a:t>출원</a:t>
            </a:r>
            <a:r>
              <a:rPr lang="ko-KR" altLang="en-US" sz="1400" dirty="0"/>
              <a:t>은 공지예외적용주장</a:t>
            </a:r>
            <a:r>
              <a:rPr lang="en-US" altLang="ko-KR" sz="1400" dirty="0"/>
              <a:t>/</a:t>
            </a:r>
            <a:r>
              <a:rPr lang="ko-KR" altLang="en-US" sz="1400" dirty="0"/>
              <a:t>우선권주장을 하지 아니한 출원이 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172341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885824" y="1789023"/>
            <a:ext cx="1038225" cy="3370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30</a:t>
            </a:r>
            <a:r>
              <a:rPr lang="ko-KR" altLang="en-US" sz="1400" dirty="0">
                <a:solidFill>
                  <a:schemeClr val="tx1"/>
                </a:solidFill>
              </a:rPr>
              <a:t>조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885824" y="2213661"/>
            <a:ext cx="1038225" cy="3370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54</a:t>
            </a:r>
            <a:r>
              <a:rPr lang="ko-KR" altLang="en-US" sz="1400" dirty="0">
                <a:solidFill>
                  <a:schemeClr val="tx1"/>
                </a:solidFill>
              </a:rPr>
              <a:t>조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885824" y="2624818"/>
            <a:ext cx="1038225" cy="3370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55</a:t>
            </a:r>
            <a:r>
              <a:rPr lang="ko-KR" altLang="en-US" sz="1400" dirty="0">
                <a:solidFill>
                  <a:schemeClr val="tx1"/>
                </a:solidFill>
              </a:rPr>
              <a:t>조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885824" y="3069676"/>
            <a:ext cx="1038225" cy="337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52</a:t>
            </a:r>
            <a:r>
              <a:rPr lang="ko-KR" altLang="en-US" sz="1400" dirty="0">
                <a:solidFill>
                  <a:schemeClr val="tx1"/>
                </a:solidFill>
              </a:rPr>
              <a:t>조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885824" y="3480833"/>
            <a:ext cx="1038225" cy="337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52</a:t>
            </a:r>
            <a:r>
              <a:rPr lang="ko-KR" altLang="en-US" sz="1400" dirty="0">
                <a:solidFill>
                  <a:schemeClr val="tx1"/>
                </a:solidFill>
              </a:rPr>
              <a:t>조의</a:t>
            </a:r>
            <a:r>
              <a:rPr lang="en-US" altLang="ko-KR" sz="1400" dirty="0">
                <a:solidFill>
                  <a:schemeClr val="tx1"/>
                </a:solidFill>
              </a:rPr>
              <a:t>2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5019674" y="2206920"/>
            <a:ext cx="2428876" cy="33701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주장과 출원이 가분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2990849" y="3251664"/>
            <a:ext cx="1400176" cy="33701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1"/>
                </a:solidFill>
              </a:rPr>
              <a:t>주장 </a:t>
            </a:r>
            <a:r>
              <a:rPr lang="ko-KR" altLang="en-US" sz="1400" dirty="0" err="1">
                <a:solidFill>
                  <a:schemeClr val="bg1"/>
                </a:solidFill>
              </a:rPr>
              <a:t>부적법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2990849" y="2206920"/>
            <a:ext cx="1400176" cy="33701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1"/>
                </a:solidFill>
              </a:rPr>
              <a:t>주장 </a:t>
            </a:r>
            <a:r>
              <a:rPr lang="ko-KR" altLang="en-US" sz="1400" dirty="0" err="1">
                <a:solidFill>
                  <a:schemeClr val="bg1"/>
                </a:solidFill>
              </a:rPr>
              <a:t>부적법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5019674" y="3251664"/>
            <a:ext cx="2371726" cy="33701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주장과 출원이 불가분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8077199" y="2206920"/>
            <a:ext cx="1400176" cy="33701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주장 무효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8077199" y="3251664"/>
            <a:ext cx="1400176" cy="33701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출원 불수리</a:t>
            </a:r>
          </a:p>
        </p:txBody>
      </p:sp>
      <p:cxnSp>
        <p:nvCxnSpPr>
          <p:cNvPr id="7" name="꺾인 연결선 6"/>
          <p:cNvCxnSpPr>
            <a:stCxn id="5" idx="3"/>
            <a:endCxn id="48" idx="1"/>
          </p:cNvCxnSpPr>
          <p:nvPr/>
        </p:nvCxnSpPr>
        <p:spPr>
          <a:xfrm>
            <a:off x="1924049" y="1957530"/>
            <a:ext cx="1066800" cy="41789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꺾인 연결선 56"/>
          <p:cNvCxnSpPr>
            <a:stCxn id="41" idx="3"/>
            <a:endCxn id="46" idx="1"/>
          </p:cNvCxnSpPr>
          <p:nvPr/>
        </p:nvCxnSpPr>
        <p:spPr>
          <a:xfrm>
            <a:off x="1924049" y="3238183"/>
            <a:ext cx="1066800" cy="18198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꺾인 연결선 57"/>
          <p:cNvCxnSpPr>
            <a:stCxn id="44" idx="3"/>
            <a:endCxn id="46" idx="1"/>
          </p:cNvCxnSpPr>
          <p:nvPr/>
        </p:nvCxnSpPr>
        <p:spPr>
          <a:xfrm flipV="1">
            <a:off x="1924049" y="3420171"/>
            <a:ext cx="1066800" cy="22916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꺾인 연결선 58"/>
          <p:cNvCxnSpPr>
            <a:stCxn id="38" idx="3"/>
            <a:endCxn id="48" idx="1"/>
          </p:cNvCxnSpPr>
          <p:nvPr/>
        </p:nvCxnSpPr>
        <p:spPr>
          <a:xfrm flipV="1">
            <a:off x="1924049" y="2375427"/>
            <a:ext cx="1066800" cy="41789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꺾인 연결선 59"/>
          <p:cNvCxnSpPr>
            <a:stCxn id="37" idx="3"/>
            <a:endCxn id="48" idx="1"/>
          </p:cNvCxnSpPr>
          <p:nvPr/>
        </p:nvCxnSpPr>
        <p:spPr>
          <a:xfrm flipV="1">
            <a:off x="1924049" y="2375427"/>
            <a:ext cx="1066800" cy="674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>
            <a:stCxn id="45" idx="3"/>
            <a:endCxn id="55" idx="1"/>
          </p:cNvCxnSpPr>
          <p:nvPr/>
        </p:nvCxnSpPr>
        <p:spPr>
          <a:xfrm>
            <a:off x="7448550" y="2375427"/>
            <a:ext cx="628649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>
            <a:stCxn id="48" idx="3"/>
            <a:endCxn id="45" idx="1"/>
          </p:cNvCxnSpPr>
          <p:nvPr/>
        </p:nvCxnSpPr>
        <p:spPr>
          <a:xfrm>
            <a:off x="4391025" y="2375427"/>
            <a:ext cx="628649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>
            <a:stCxn id="46" idx="3"/>
            <a:endCxn id="52" idx="1"/>
          </p:cNvCxnSpPr>
          <p:nvPr/>
        </p:nvCxnSpPr>
        <p:spPr>
          <a:xfrm>
            <a:off x="4391025" y="3420171"/>
            <a:ext cx="628649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>
            <a:stCxn id="52" idx="3"/>
            <a:endCxn id="56" idx="1"/>
          </p:cNvCxnSpPr>
          <p:nvPr/>
        </p:nvCxnSpPr>
        <p:spPr>
          <a:xfrm>
            <a:off x="7391400" y="3420171"/>
            <a:ext cx="685799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모서리가 둥근 사각형 설명선 61"/>
          <p:cNvSpPr/>
          <p:nvPr/>
        </p:nvSpPr>
        <p:spPr>
          <a:xfrm>
            <a:off x="9477375" y="1875621"/>
            <a:ext cx="2431285" cy="262871"/>
          </a:xfrm>
          <a:prstGeom prst="wedgeRoundRectCallout">
            <a:avLst>
              <a:gd name="adj1" fmla="val -56953"/>
              <a:gd name="adj2" fmla="val 46000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주장을 수반하지 않은 출원만 존재</a:t>
            </a:r>
          </a:p>
        </p:txBody>
      </p:sp>
      <p:cxnSp>
        <p:nvCxnSpPr>
          <p:cNvPr id="64" name="직선 연결선 63"/>
          <p:cNvCxnSpPr/>
          <p:nvPr/>
        </p:nvCxnSpPr>
        <p:spPr>
          <a:xfrm flipV="1">
            <a:off x="314325" y="4349564"/>
            <a:ext cx="11594335" cy="952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/>
          <p:cNvCxnSpPr/>
          <p:nvPr/>
        </p:nvCxnSpPr>
        <p:spPr>
          <a:xfrm>
            <a:off x="706792" y="5039474"/>
            <a:ext cx="1058986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14"/>
          <p:cNvSpPr>
            <a:spLocks noChangeArrowheads="1"/>
          </p:cNvSpPr>
          <p:nvPr/>
        </p:nvSpPr>
        <p:spPr bwMode="auto">
          <a:xfrm>
            <a:off x="927803" y="4896401"/>
            <a:ext cx="1228042" cy="2685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 dirty="0">
                <a:latin typeface="+mn-ea"/>
              </a:rPr>
              <a:t>미국출원</a:t>
            </a:r>
            <a:r>
              <a:rPr lang="en-US" altLang="ko-KR" sz="1200" b="0" dirty="0">
                <a:latin typeface="+mn-ea"/>
              </a:rPr>
              <a:t>(X)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87" name="Rectangle 14"/>
          <p:cNvSpPr>
            <a:spLocks noChangeArrowheads="1"/>
          </p:cNvSpPr>
          <p:nvPr/>
        </p:nvSpPr>
        <p:spPr bwMode="auto">
          <a:xfrm>
            <a:off x="4681696" y="4903527"/>
            <a:ext cx="1418541" cy="2685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 dirty="0">
                <a:latin typeface="+mn-ea"/>
              </a:rPr>
              <a:t>일본출원</a:t>
            </a:r>
            <a:r>
              <a:rPr lang="en-US" altLang="ko-KR" sz="1200" b="0" dirty="0">
                <a:latin typeface="+mn-ea"/>
              </a:rPr>
              <a:t>(Y)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88" name="Rectangle 14"/>
          <p:cNvSpPr>
            <a:spLocks noChangeArrowheads="1"/>
          </p:cNvSpPr>
          <p:nvPr/>
        </p:nvSpPr>
        <p:spPr bwMode="auto">
          <a:xfrm>
            <a:off x="8685220" y="6017019"/>
            <a:ext cx="1418541" cy="2685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n-ea"/>
              </a:rPr>
              <a:t>한국</a:t>
            </a:r>
            <a:r>
              <a:rPr lang="ko-KR" altLang="en-US" sz="1200" b="0" dirty="0">
                <a:latin typeface="+mn-ea"/>
              </a:rPr>
              <a:t>출원</a:t>
            </a:r>
            <a:r>
              <a:rPr lang="en-US" altLang="ko-KR" sz="1200" b="0" dirty="0">
                <a:latin typeface="+mn-ea"/>
              </a:rPr>
              <a:t>(Z)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96" name="Rectangle 14"/>
          <p:cNvSpPr>
            <a:spLocks noChangeArrowheads="1"/>
          </p:cNvSpPr>
          <p:nvPr/>
        </p:nvSpPr>
        <p:spPr bwMode="auto">
          <a:xfrm flipV="1">
            <a:off x="9249633" y="4969534"/>
            <a:ext cx="144858" cy="122299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7" name="Rectangle 14"/>
          <p:cNvSpPr>
            <a:spLocks noChangeArrowheads="1"/>
          </p:cNvSpPr>
          <p:nvPr/>
        </p:nvSpPr>
        <p:spPr bwMode="auto">
          <a:xfrm>
            <a:off x="6919028" y="6017019"/>
            <a:ext cx="1228042" cy="2685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200" b="0" dirty="0">
                <a:latin typeface="+mn-ea"/>
              </a:rPr>
              <a:t>X</a:t>
            </a:r>
            <a:r>
              <a:rPr lang="ko-KR" altLang="en-US" sz="1200" b="0" dirty="0">
                <a:latin typeface="+mn-ea"/>
              </a:rPr>
              <a:t>기초 우선권주장</a:t>
            </a:r>
          </a:p>
        </p:txBody>
      </p:sp>
      <p:sp>
        <p:nvSpPr>
          <p:cNvPr id="98" name="Rectangle 14"/>
          <p:cNvSpPr>
            <a:spLocks noChangeArrowheads="1"/>
          </p:cNvSpPr>
          <p:nvPr/>
        </p:nvSpPr>
        <p:spPr bwMode="auto">
          <a:xfrm>
            <a:off x="10682632" y="6017019"/>
            <a:ext cx="1228042" cy="2685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200" b="0" dirty="0">
                <a:latin typeface="+mn-ea"/>
              </a:rPr>
              <a:t>Y</a:t>
            </a:r>
            <a:r>
              <a:rPr lang="ko-KR" altLang="en-US" sz="1200" b="0" dirty="0">
                <a:latin typeface="+mn-ea"/>
              </a:rPr>
              <a:t>기초 우선권주장</a:t>
            </a:r>
          </a:p>
        </p:txBody>
      </p:sp>
      <p:cxnSp>
        <p:nvCxnSpPr>
          <p:cNvPr id="100" name="직선 연결선 99"/>
          <p:cNvCxnSpPr>
            <a:stCxn id="97" idx="0"/>
            <a:endCxn id="96" idx="1"/>
          </p:cNvCxnSpPr>
          <p:nvPr/>
        </p:nvCxnSpPr>
        <p:spPr>
          <a:xfrm flipV="1">
            <a:off x="7533049" y="5073923"/>
            <a:ext cx="1737798" cy="943096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>
            <a:stCxn id="88" idx="0"/>
          </p:cNvCxnSpPr>
          <p:nvPr/>
        </p:nvCxnSpPr>
        <p:spPr>
          <a:xfrm flipH="1" flipV="1">
            <a:off x="9322062" y="5091833"/>
            <a:ext cx="72429" cy="925186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/>
          <p:cNvCxnSpPr>
            <a:stCxn id="98" idx="0"/>
            <a:endCxn id="96" idx="7"/>
          </p:cNvCxnSpPr>
          <p:nvPr/>
        </p:nvCxnSpPr>
        <p:spPr>
          <a:xfrm flipH="1" flipV="1">
            <a:off x="9373277" y="5073923"/>
            <a:ext cx="1923376" cy="943096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직사각형 106"/>
          <p:cNvSpPr/>
          <p:nvPr/>
        </p:nvSpPr>
        <p:spPr>
          <a:xfrm>
            <a:off x="504824" y="5865552"/>
            <a:ext cx="5924551" cy="571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chemeClr val="tx1"/>
                </a:solidFill>
              </a:rPr>
              <a:t>X</a:t>
            </a:r>
            <a:r>
              <a:rPr lang="ko-KR" altLang="en-US" sz="1600" dirty="0">
                <a:solidFill>
                  <a:schemeClr val="tx1"/>
                </a:solidFill>
              </a:rPr>
              <a:t>기초 우선권주장이 </a:t>
            </a:r>
            <a:r>
              <a:rPr lang="ko-KR" altLang="en-US" sz="1600" dirty="0" err="1">
                <a:solidFill>
                  <a:schemeClr val="tx1"/>
                </a:solidFill>
              </a:rPr>
              <a:t>부적법한</a:t>
            </a:r>
            <a:r>
              <a:rPr lang="ko-KR" altLang="en-US" sz="1600" dirty="0">
                <a:solidFill>
                  <a:schemeClr val="tx1"/>
                </a:solidFill>
              </a:rPr>
              <a:t> 경우 </a:t>
            </a:r>
            <a:r>
              <a:rPr lang="en-US" altLang="ko-KR" sz="1600" dirty="0">
                <a:solidFill>
                  <a:schemeClr val="tx1"/>
                </a:solidFill>
              </a:rPr>
              <a:t>X</a:t>
            </a:r>
            <a:r>
              <a:rPr lang="ko-KR" altLang="en-US" sz="1600" dirty="0">
                <a:solidFill>
                  <a:schemeClr val="tx1"/>
                </a:solidFill>
              </a:rPr>
              <a:t>기초 우선권주장을 무효로 할 수 있고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dirty="0">
                <a:solidFill>
                  <a:schemeClr val="tx1"/>
                </a:solidFill>
              </a:rPr>
              <a:t>그 결과 </a:t>
            </a:r>
            <a:r>
              <a:rPr lang="en-US" altLang="ko-KR" sz="1600" dirty="0">
                <a:solidFill>
                  <a:schemeClr val="tx1"/>
                </a:solidFill>
              </a:rPr>
              <a:t>X</a:t>
            </a:r>
            <a:r>
              <a:rPr lang="ko-KR" altLang="en-US" sz="1600" dirty="0">
                <a:solidFill>
                  <a:schemeClr val="tx1"/>
                </a:solidFill>
              </a:rPr>
              <a:t>기초 우선권주장은 처음부터 없었던 것으로 간주</a:t>
            </a:r>
          </a:p>
        </p:txBody>
      </p:sp>
      <p:cxnSp>
        <p:nvCxnSpPr>
          <p:cNvPr id="109" name="직선 연결선 108"/>
          <p:cNvCxnSpPr>
            <a:stCxn id="107" idx="3"/>
            <a:endCxn id="97" idx="1"/>
          </p:cNvCxnSpPr>
          <p:nvPr/>
        </p:nvCxnSpPr>
        <p:spPr>
          <a:xfrm>
            <a:off x="6429375" y="6151302"/>
            <a:ext cx="489653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곱셈 기호 109"/>
          <p:cNvSpPr/>
          <p:nvPr/>
        </p:nvSpPr>
        <p:spPr>
          <a:xfrm>
            <a:off x="6612492" y="6064345"/>
            <a:ext cx="744022" cy="763282"/>
          </a:xfrm>
          <a:prstGeom prst="mathMultiply">
            <a:avLst>
              <a:gd name="adj1" fmla="val 1530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도넛 110"/>
          <p:cNvSpPr/>
          <p:nvPr/>
        </p:nvSpPr>
        <p:spPr>
          <a:xfrm>
            <a:off x="8539686" y="6164391"/>
            <a:ext cx="566213" cy="545322"/>
          </a:xfrm>
          <a:prstGeom prst="donut">
            <a:avLst>
              <a:gd name="adj" fmla="val 1540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12" name="도넛 111"/>
          <p:cNvSpPr/>
          <p:nvPr/>
        </p:nvSpPr>
        <p:spPr>
          <a:xfrm>
            <a:off x="10399525" y="6164391"/>
            <a:ext cx="566213" cy="545322"/>
          </a:xfrm>
          <a:prstGeom prst="donut">
            <a:avLst>
              <a:gd name="adj" fmla="val 1540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225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094994-3465-0256-75D1-4C4D84466B4A}"/>
              </a:ext>
            </a:extLst>
          </p:cNvPr>
          <p:cNvSpPr/>
          <p:nvPr/>
        </p:nvSpPr>
        <p:spPr>
          <a:xfrm>
            <a:off x="885824" y="3900967"/>
            <a:ext cx="1038225" cy="337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53</a:t>
            </a:r>
            <a:r>
              <a:rPr lang="ko-KR" altLang="en-US" sz="1400" dirty="0">
                <a:solidFill>
                  <a:schemeClr val="tx1"/>
                </a:solidFill>
              </a:rPr>
              <a:t>조</a:t>
            </a:r>
          </a:p>
        </p:txBody>
      </p:sp>
      <p:cxnSp>
        <p:nvCxnSpPr>
          <p:cNvPr id="9" name="꺾인 연결선 57">
            <a:extLst>
              <a:ext uri="{FF2B5EF4-FFF2-40B4-BE49-F238E27FC236}">
                <a16:creationId xmlns:a16="http://schemas.microsoft.com/office/drawing/2014/main" id="{B2C31A1A-619D-78E8-50C9-CE04A0CF72C9}"/>
              </a:ext>
            </a:extLst>
          </p:cNvPr>
          <p:cNvCxnSpPr>
            <a:cxnSpLocks/>
            <a:stCxn id="8" idx="3"/>
            <a:endCxn id="46" idx="1"/>
          </p:cNvCxnSpPr>
          <p:nvPr/>
        </p:nvCxnSpPr>
        <p:spPr>
          <a:xfrm flipV="1">
            <a:off x="1924049" y="3420171"/>
            <a:ext cx="1066800" cy="64930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52335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54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조약우선권주장출원의</a:t>
            </a:r>
            <a:r>
              <a:rPr lang="ko-KR" altLang="en-US" dirty="0"/>
              <a:t> 법조문</a:t>
            </a:r>
          </a:p>
        </p:txBody>
      </p:sp>
      <p:cxnSp>
        <p:nvCxnSpPr>
          <p:cNvPr id="60" name="직선 연결선 59"/>
          <p:cNvCxnSpPr/>
          <p:nvPr/>
        </p:nvCxnSpPr>
        <p:spPr>
          <a:xfrm>
            <a:off x="0" y="472274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7875" y="986046"/>
            <a:ext cx="12019532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54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조약에 의한 우선권 주장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① 조약에 따라 다음 각 호의 어느 하나에 해당하는 경우에는 제</a:t>
            </a:r>
            <a:r>
              <a:rPr lang="en-US" altLang="ko-KR" sz="1400" dirty="0">
                <a:solidFill>
                  <a:schemeClr val="tx2"/>
                </a:solidFill>
              </a:rPr>
              <a:t>29</a:t>
            </a:r>
            <a:r>
              <a:rPr lang="ko-KR" altLang="en-US" sz="1400" dirty="0">
                <a:solidFill>
                  <a:schemeClr val="tx2"/>
                </a:solidFill>
              </a:rPr>
              <a:t>조 및 제</a:t>
            </a:r>
            <a:r>
              <a:rPr lang="en-US" altLang="ko-KR" sz="1400" dirty="0">
                <a:solidFill>
                  <a:schemeClr val="tx2"/>
                </a:solidFill>
              </a:rPr>
              <a:t>36</a:t>
            </a:r>
            <a:r>
              <a:rPr lang="ko-KR" altLang="en-US" sz="1400" dirty="0">
                <a:solidFill>
                  <a:schemeClr val="tx2"/>
                </a:solidFill>
              </a:rPr>
              <a:t>조를 적용할 때에 그 당사국에 출원한 날을 대한민국에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특허출원한</a:t>
            </a:r>
            <a:r>
              <a:rPr lang="ko-KR" altLang="en-US" sz="1400" dirty="0">
                <a:solidFill>
                  <a:schemeClr val="tx2"/>
                </a:solidFill>
              </a:rPr>
              <a:t> 날로 본다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대한민국 국민에게 특허출원에 대한 우선권을 인정하는 당사국의 국민이 그 당사국 또는 다른 당사국에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특허출원한</a:t>
            </a:r>
            <a:r>
              <a:rPr lang="ko-KR" altLang="en-US" sz="1400" dirty="0">
                <a:solidFill>
                  <a:schemeClr val="tx2"/>
                </a:solidFill>
              </a:rPr>
              <a:t> 후 동일한 발명을 대한민국에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특허출원하여</a:t>
            </a:r>
            <a:r>
              <a:rPr lang="ko-KR" altLang="en-US" sz="1400" dirty="0">
                <a:solidFill>
                  <a:schemeClr val="tx2"/>
                </a:solidFill>
              </a:rPr>
              <a:t> 우선권을 주장하는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대한민국 국민에게 특허출원에 대한 우선권을 인정하는 당사국에 대한민국 국민이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특허출원한</a:t>
            </a:r>
            <a:r>
              <a:rPr lang="ko-KR" altLang="en-US" sz="1400" dirty="0">
                <a:solidFill>
                  <a:schemeClr val="tx2"/>
                </a:solidFill>
              </a:rPr>
              <a:t> 후 동일한 발명을 대한민국에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특허출원하여</a:t>
            </a:r>
            <a:r>
              <a:rPr lang="ko-KR" altLang="en-US" sz="1400" dirty="0">
                <a:solidFill>
                  <a:schemeClr val="tx2"/>
                </a:solidFill>
              </a:rPr>
              <a:t> 우선권을 주장하는 경우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②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우선권을 주장하려는 자는 우선권 주장의 기초가 되는 최초의 출원일부터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이내에 특허출원을 하지 아니하면 우선권을 주장할 수 없다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우선권을 주장하려는 자는 특허출원을 할 때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400" dirty="0">
                <a:solidFill>
                  <a:schemeClr val="tx2"/>
                </a:solidFill>
              </a:rPr>
              <a:t> 그 취지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최초로 출원한 </a:t>
            </a:r>
            <a:r>
              <a:rPr lang="ko-KR" altLang="en-US" sz="1400" dirty="0" err="1">
                <a:solidFill>
                  <a:schemeClr val="tx2"/>
                </a:solidFill>
              </a:rPr>
              <a:t>국가명</a:t>
            </a:r>
            <a:r>
              <a:rPr lang="ko-KR" altLang="en-US" sz="1400" dirty="0">
                <a:solidFill>
                  <a:schemeClr val="tx2"/>
                </a:solidFill>
              </a:rPr>
              <a:t> 및 출원의 연월일을 적어야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④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항에 따라 우선권을 주장한 자는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호의 서류 또는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호의 서면을 지식재산처장에게 제출하여야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호의 서면은 총리령으로 정하는 국가의 경우만 해당한다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최초로 출원한 국가의 정부가 인증하는 서류로서 특허출원의 연월일을 적은 서면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발명의 명세서 및 도면의 등본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최초로 출원한 국가의 특허출원의 출원번호 및 그 밖에 출원을 확인할 수 있는 정보 등 총리령으로 정하는 사항을 적은 서면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⑤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항에 따른 서류 또는 서면은 다음 각 호에 해당하는 날 중 최우선일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最優先日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부터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개월 이내에 제출하여야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조약 당사국에 최초로 출원한 출원일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그 특허출원이 제</a:t>
            </a:r>
            <a:r>
              <a:rPr lang="en-US" altLang="ko-KR" sz="1400" dirty="0">
                <a:solidFill>
                  <a:schemeClr val="tx2"/>
                </a:solidFill>
              </a:rPr>
              <a:t>55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우선권 주장을 수반하는 경우에는 그 우선권 주장의 기초가 되는 출원의 출원일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</a:rPr>
              <a:t>그 특허출원이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항에 따른 다른 우선권 주장을 수반하는 경우에는 그 우선권 주장의 기초가 되는 출원의 출원일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⑥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항에 따라 우선권을 주장한 자가 제</a:t>
            </a:r>
            <a:r>
              <a:rPr lang="en-US" altLang="ko-KR" sz="1400" dirty="0">
                <a:solidFill>
                  <a:schemeClr val="tx2"/>
                </a:solidFill>
              </a:rPr>
              <a:t>5</a:t>
            </a:r>
            <a:r>
              <a:rPr lang="ko-KR" altLang="en-US" sz="1400" dirty="0">
                <a:solidFill>
                  <a:schemeClr val="tx2"/>
                </a:solidFill>
              </a:rPr>
              <a:t>항의 기간에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항에 따른 서류를 제출하지 아니한 경우에는 그 우선권 주장은 효력을 상실한다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⑦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우선권 주장을 한 자 중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항의 요건을 갖춘 자는 제</a:t>
            </a:r>
            <a:r>
              <a:rPr lang="en-US" altLang="ko-KR" sz="1400" dirty="0">
                <a:solidFill>
                  <a:schemeClr val="tx2"/>
                </a:solidFill>
              </a:rPr>
              <a:t>5</a:t>
            </a:r>
            <a:r>
              <a:rPr lang="ko-KR" altLang="en-US" sz="1400" dirty="0">
                <a:solidFill>
                  <a:schemeClr val="tx2"/>
                </a:solidFill>
              </a:rPr>
              <a:t>항에 따른 최우선일부터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개월 이내에 해당 우선권 주장을 보정하거나 추가할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64" name="직사각형 63"/>
          <p:cNvSpPr/>
          <p:nvPr/>
        </p:nvSpPr>
        <p:spPr>
          <a:xfrm>
            <a:off x="3634381" y="5204885"/>
            <a:ext cx="3333979" cy="2941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우선권주장의 요건 및 효과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r>
              <a:rPr lang="ko-KR" altLang="en-US" sz="1200" dirty="0">
                <a:solidFill>
                  <a:schemeClr val="tx1"/>
                </a:solidFill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3634381" y="5747389"/>
            <a:ext cx="3333979" cy="2941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우선기간 </a:t>
            </a:r>
            <a:r>
              <a:rPr lang="en-US" altLang="ko-KR" sz="1200" dirty="0">
                <a:solidFill>
                  <a:schemeClr val="tx1"/>
                </a:solidFill>
              </a:rPr>
              <a:t>vs </a:t>
            </a:r>
            <a:r>
              <a:rPr lang="ko-KR" altLang="en-US" sz="1200" dirty="0">
                <a:solidFill>
                  <a:schemeClr val="tx1"/>
                </a:solidFill>
              </a:rPr>
              <a:t>우선권주장기간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r>
              <a:rPr lang="ko-KR" altLang="en-US" sz="1200" dirty="0">
                <a:solidFill>
                  <a:schemeClr val="tx1"/>
                </a:solidFill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7</a:t>
            </a:r>
            <a:r>
              <a:rPr lang="ko-KR" altLang="en-US" sz="1200" dirty="0">
                <a:solidFill>
                  <a:schemeClr val="tx1"/>
                </a:solidFill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3634381" y="6255504"/>
            <a:ext cx="3333979" cy="2941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증명서류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4</a:t>
            </a:r>
            <a:r>
              <a:rPr lang="ko-KR" altLang="en-US" sz="1200" dirty="0">
                <a:solidFill>
                  <a:schemeClr val="tx1"/>
                </a:solidFill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5</a:t>
            </a:r>
            <a:r>
              <a:rPr lang="ko-KR" altLang="en-US" sz="1200" dirty="0">
                <a:solidFill>
                  <a:schemeClr val="tx1"/>
                </a:solidFill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6</a:t>
            </a:r>
            <a:r>
              <a:rPr lang="ko-KR" altLang="en-US" sz="1200" dirty="0">
                <a:solidFill>
                  <a:schemeClr val="tx1"/>
                </a:solidFill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71" name="꺾인 연결선 70"/>
          <p:cNvCxnSpPr>
            <a:cxnSpLocks/>
            <a:stCxn id="76" idx="3"/>
            <a:endCxn id="67" idx="1"/>
          </p:cNvCxnSpPr>
          <p:nvPr/>
        </p:nvCxnSpPr>
        <p:spPr>
          <a:xfrm>
            <a:off x="2959986" y="5789247"/>
            <a:ext cx="674395" cy="61332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꺾인 연결선 71"/>
          <p:cNvCxnSpPr>
            <a:cxnSpLocks/>
            <a:stCxn id="76" idx="3"/>
            <a:endCxn id="64" idx="1"/>
          </p:cNvCxnSpPr>
          <p:nvPr/>
        </p:nvCxnSpPr>
        <p:spPr>
          <a:xfrm flipV="1">
            <a:off x="2959986" y="5351949"/>
            <a:ext cx="674395" cy="437298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cxnSpLocks/>
            <a:stCxn id="76" idx="3"/>
            <a:endCxn id="66" idx="1"/>
          </p:cNvCxnSpPr>
          <p:nvPr/>
        </p:nvCxnSpPr>
        <p:spPr>
          <a:xfrm>
            <a:off x="2959986" y="5789247"/>
            <a:ext cx="674395" cy="105206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/>
          <p:cNvSpPr/>
          <p:nvPr/>
        </p:nvSpPr>
        <p:spPr>
          <a:xfrm>
            <a:off x="651644" y="5485343"/>
            <a:ext cx="2308342" cy="60780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bg1"/>
                </a:solidFill>
              </a:rPr>
              <a:t>조약우선권주장출원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54</a:t>
            </a:r>
            <a:r>
              <a:rPr lang="ko-KR" altLang="en-US" sz="1400" dirty="0">
                <a:solidFill>
                  <a:schemeClr val="bg1"/>
                </a:solidFill>
              </a:rPr>
              <a:t>조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226</a:t>
            </a:fld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AB681EB-6A05-449E-AEFE-913A1C1BBA9E}"/>
              </a:ext>
            </a:extLst>
          </p:cNvPr>
          <p:cNvSpPr/>
          <p:nvPr/>
        </p:nvSpPr>
        <p:spPr>
          <a:xfrm>
            <a:off x="7722905" y="4784472"/>
            <a:ext cx="3333979" cy="2941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r>
              <a:rPr lang="ko-KR" altLang="en-US" sz="1200" dirty="0">
                <a:solidFill>
                  <a:schemeClr val="tx1"/>
                </a:solidFill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>
                <a:solidFill>
                  <a:schemeClr val="tx1"/>
                </a:solidFill>
              </a:rPr>
              <a:t>우선기간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39DF850-999B-4CB2-87EF-020EE38D2CB7}"/>
              </a:ext>
            </a:extLst>
          </p:cNvPr>
          <p:cNvSpPr/>
          <p:nvPr/>
        </p:nvSpPr>
        <p:spPr>
          <a:xfrm>
            <a:off x="7722905" y="5121232"/>
            <a:ext cx="3333979" cy="2941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>
                <a:solidFill>
                  <a:schemeClr val="tx1"/>
                </a:solidFill>
              </a:rPr>
              <a:t>우선권주장기간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2D59386-3BB1-407A-AFB2-4B2FB4F4F6CC}"/>
              </a:ext>
            </a:extLst>
          </p:cNvPr>
          <p:cNvSpPr/>
          <p:nvPr/>
        </p:nvSpPr>
        <p:spPr>
          <a:xfrm>
            <a:off x="7722905" y="5465868"/>
            <a:ext cx="3333979" cy="2941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7</a:t>
            </a:r>
            <a:r>
              <a:rPr lang="ko-KR" altLang="en-US" sz="1200" dirty="0">
                <a:solidFill>
                  <a:schemeClr val="tx1"/>
                </a:solidFill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>
                <a:solidFill>
                  <a:schemeClr val="tx1"/>
                </a:solidFill>
              </a:rPr>
              <a:t>우선권주장의 보정 또는 추가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48" name="꺾인 연결선 70">
            <a:extLst>
              <a:ext uri="{FF2B5EF4-FFF2-40B4-BE49-F238E27FC236}">
                <a16:creationId xmlns:a16="http://schemas.microsoft.com/office/drawing/2014/main" id="{1A0A1EA4-4624-47FE-8243-5E24ACBF42D4}"/>
              </a:ext>
            </a:extLst>
          </p:cNvPr>
          <p:cNvCxnSpPr>
            <a:cxnSpLocks/>
            <a:stCxn id="66" idx="3"/>
            <a:endCxn id="45" idx="1"/>
          </p:cNvCxnSpPr>
          <p:nvPr/>
        </p:nvCxnSpPr>
        <p:spPr>
          <a:xfrm flipV="1">
            <a:off x="6968360" y="5612932"/>
            <a:ext cx="754545" cy="28152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꺾인 연결선 71">
            <a:extLst>
              <a:ext uri="{FF2B5EF4-FFF2-40B4-BE49-F238E27FC236}">
                <a16:creationId xmlns:a16="http://schemas.microsoft.com/office/drawing/2014/main" id="{E78D628E-D512-49B8-AF79-6ECED700C602}"/>
              </a:ext>
            </a:extLst>
          </p:cNvPr>
          <p:cNvCxnSpPr>
            <a:cxnSpLocks/>
            <a:stCxn id="66" idx="3"/>
            <a:endCxn id="41" idx="1"/>
          </p:cNvCxnSpPr>
          <p:nvPr/>
        </p:nvCxnSpPr>
        <p:spPr>
          <a:xfrm flipV="1">
            <a:off x="6968360" y="4931536"/>
            <a:ext cx="754545" cy="962917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꺾인 연결선 72">
            <a:extLst>
              <a:ext uri="{FF2B5EF4-FFF2-40B4-BE49-F238E27FC236}">
                <a16:creationId xmlns:a16="http://schemas.microsoft.com/office/drawing/2014/main" id="{28737A70-7B21-485C-B9FD-A6138864350A}"/>
              </a:ext>
            </a:extLst>
          </p:cNvPr>
          <p:cNvCxnSpPr>
            <a:cxnSpLocks/>
            <a:stCxn id="66" idx="3"/>
            <a:endCxn id="43" idx="1"/>
          </p:cNvCxnSpPr>
          <p:nvPr/>
        </p:nvCxnSpPr>
        <p:spPr>
          <a:xfrm flipV="1">
            <a:off x="6968360" y="5268296"/>
            <a:ext cx="754545" cy="626157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ECF79B8-29FD-4472-9BD0-11FA9C92CCF1}"/>
              </a:ext>
            </a:extLst>
          </p:cNvPr>
          <p:cNvSpPr/>
          <p:nvPr/>
        </p:nvSpPr>
        <p:spPr>
          <a:xfrm>
            <a:off x="7722905" y="5810827"/>
            <a:ext cx="3333979" cy="2941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4</a:t>
            </a:r>
            <a:r>
              <a:rPr lang="ko-KR" altLang="en-US" sz="1200" dirty="0">
                <a:solidFill>
                  <a:schemeClr val="tx1"/>
                </a:solidFill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>
                <a:solidFill>
                  <a:schemeClr val="tx1"/>
                </a:solidFill>
              </a:rPr>
              <a:t>제출대상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60B8D46-6A03-457A-919E-84105959F126}"/>
              </a:ext>
            </a:extLst>
          </p:cNvPr>
          <p:cNvSpPr/>
          <p:nvPr/>
        </p:nvSpPr>
        <p:spPr>
          <a:xfrm>
            <a:off x="7722905" y="6147587"/>
            <a:ext cx="3333979" cy="2941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5</a:t>
            </a:r>
            <a:r>
              <a:rPr lang="ko-KR" altLang="en-US" sz="1200" dirty="0">
                <a:solidFill>
                  <a:schemeClr val="tx1"/>
                </a:solidFill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>
                <a:solidFill>
                  <a:schemeClr val="tx1"/>
                </a:solidFill>
              </a:rPr>
              <a:t>제출시기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659B9B6E-9992-411F-A038-7B085387381B}"/>
              </a:ext>
            </a:extLst>
          </p:cNvPr>
          <p:cNvSpPr/>
          <p:nvPr/>
        </p:nvSpPr>
        <p:spPr>
          <a:xfrm>
            <a:off x="7722905" y="6492223"/>
            <a:ext cx="3333979" cy="2941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6</a:t>
            </a:r>
            <a:r>
              <a:rPr lang="ko-KR" altLang="en-US" sz="1200" dirty="0">
                <a:solidFill>
                  <a:schemeClr val="tx1"/>
                </a:solidFill>
              </a:rPr>
              <a:t>황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 err="1">
                <a:solidFill>
                  <a:schemeClr val="tx1"/>
                </a:solidFill>
              </a:rPr>
              <a:t>부제출</a:t>
            </a:r>
            <a:r>
              <a:rPr lang="ko-KR" altLang="en-US" sz="1200" dirty="0">
                <a:solidFill>
                  <a:schemeClr val="tx1"/>
                </a:solidFill>
              </a:rPr>
              <a:t> 효과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68" name="꺾인 연결선 70">
            <a:extLst>
              <a:ext uri="{FF2B5EF4-FFF2-40B4-BE49-F238E27FC236}">
                <a16:creationId xmlns:a16="http://schemas.microsoft.com/office/drawing/2014/main" id="{F83AB5FC-56FB-4850-BD8A-55EBBEA5C533}"/>
              </a:ext>
            </a:extLst>
          </p:cNvPr>
          <p:cNvCxnSpPr>
            <a:cxnSpLocks/>
            <a:stCxn id="67" idx="3"/>
            <a:endCxn id="65" idx="1"/>
          </p:cNvCxnSpPr>
          <p:nvPr/>
        </p:nvCxnSpPr>
        <p:spPr>
          <a:xfrm>
            <a:off x="6968360" y="6402568"/>
            <a:ext cx="754545" cy="236719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꺾인 연결선 71">
            <a:extLst>
              <a:ext uri="{FF2B5EF4-FFF2-40B4-BE49-F238E27FC236}">
                <a16:creationId xmlns:a16="http://schemas.microsoft.com/office/drawing/2014/main" id="{10E9B0DE-A752-4FE2-ACAB-7E388642F9E8}"/>
              </a:ext>
            </a:extLst>
          </p:cNvPr>
          <p:cNvCxnSpPr>
            <a:cxnSpLocks/>
            <a:stCxn id="67" idx="3"/>
            <a:endCxn id="52" idx="1"/>
          </p:cNvCxnSpPr>
          <p:nvPr/>
        </p:nvCxnSpPr>
        <p:spPr>
          <a:xfrm flipV="1">
            <a:off x="6968360" y="5957891"/>
            <a:ext cx="754545" cy="444677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연결선 72">
            <a:extLst>
              <a:ext uri="{FF2B5EF4-FFF2-40B4-BE49-F238E27FC236}">
                <a16:creationId xmlns:a16="http://schemas.microsoft.com/office/drawing/2014/main" id="{A2D27844-63BB-4DF2-A184-88B7F163DD2B}"/>
              </a:ext>
            </a:extLst>
          </p:cNvPr>
          <p:cNvCxnSpPr>
            <a:cxnSpLocks/>
            <a:stCxn id="67" idx="3"/>
            <a:endCxn id="53" idx="1"/>
          </p:cNvCxnSpPr>
          <p:nvPr/>
        </p:nvCxnSpPr>
        <p:spPr>
          <a:xfrm flipV="1">
            <a:off x="6968360" y="6294651"/>
            <a:ext cx="754545" cy="107917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809130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55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국내우선권주장의 취지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/>
              <a:t>국내우선권주장제도를 이용하는 경우 </a:t>
            </a:r>
            <a:r>
              <a:rPr lang="ko-KR" altLang="en-US" sz="1400" dirty="0" err="1"/>
              <a:t>선출원에</a:t>
            </a:r>
            <a:r>
              <a:rPr lang="ko-KR" altLang="en-US" sz="1400" dirty="0"/>
              <a:t> 포함된 </a:t>
            </a:r>
            <a:r>
              <a:rPr lang="ko-KR" altLang="en-US" sz="1400" dirty="0">
                <a:highlight>
                  <a:srgbClr val="FFFF00"/>
                </a:highlight>
              </a:rPr>
              <a:t>기본발명을 보다 구체화하거나 </a:t>
            </a:r>
            <a:r>
              <a:rPr lang="ko-KR" altLang="en-US" sz="1400" dirty="0" err="1">
                <a:highlight>
                  <a:srgbClr val="FFFF00"/>
                </a:highlight>
              </a:rPr>
              <a:t>개량ㆍ추가하는</a:t>
            </a:r>
            <a:r>
              <a:rPr lang="ko-KR" altLang="en-US" sz="1400" dirty="0">
                <a:highlight>
                  <a:srgbClr val="FFFF00"/>
                </a:highlight>
              </a:rPr>
              <a:t> 발명을 하였을 때 기본발명과 개량발명을 하나의 출원으로 보호함으로써 기술개발의 진전이 현저한 현 실정에 비추어 포괄적이고 </a:t>
            </a:r>
            <a:r>
              <a:rPr lang="ko-KR" altLang="en-US" sz="1400" dirty="0" err="1">
                <a:highlight>
                  <a:srgbClr val="FFFF00"/>
                </a:highlight>
              </a:rPr>
              <a:t>누락없이</a:t>
            </a:r>
            <a:r>
              <a:rPr lang="ko-KR" altLang="en-US" sz="1400" dirty="0">
                <a:highlight>
                  <a:srgbClr val="FFFF00"/>
                </a:highlight>
              </a:rPr>
              <a:t> 발명을 보호</a:t>
            </a:r>
            <a:r>
              <a:rPr lang="ko-KR" altLang="en-US" sz="1400" dirty="0"/>
              <a:t>할 수 있으며</a:t>
            </a:r>
            <a:r>
              <a:rPr lang="en-US" altLang="ko-KR" sz="1400" dirty="0"/>
              <a:t>, </a:t>
            </a:r>
            <a:r>
              <a:rPr lang="ko-KR" altLang="en-US" sz="1400" dirty="0"/>
              <a:t>출원절차의 간편 및 출원비용의 절감을 통한 출원인의 발명의욕을 고취시킬 수 있다</a:t>
            </a:r>
            <a:r>
              <a:rPr lang="en-US" altLang="ko-KR" sz="1400" dirty="0"/>
              <a:t>. </a:t>
            </a:r>
            <a:r>
              <a:rPr lang="ko-KR" altLang="en-US" sz="1400" dirty="0"/>
              <a:t>또한</a:t>
            </a:r>
            <a:r>
              <a:rPr lang="en-US" altLang="ko-KR" sz="1400" dirty="0"/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기본발명의 출원심사청구기간 또는 특허권의 존속기간을 우선기간만큼 연장</a:t>
            </a:r>
            <a:r>
              <a:rPr lang="ko-KR" altLang="en-US" sz="1400" dirty="0"/>
              <a:t>할 수 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172341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>
            <a:off x="835934" y="3577997"/>
            <a:ext cx="10603591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>
            <a:stCxn id="54" idx="1"/>
          </p:cNvCxnSpPr>
          <p:nvPr/>
        </p:nvCxnSpPr>
        <p:spPr>
          <a:xfrm flipH="1">
            <a:off x="2428875" y="4145127"/>
            <a:ext cx="2055772" cy="154380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양쪽 모서리가 둥근 사각형 62"/>
          <p:cNvSpPr/>
          <p:nvPr/>
        </p:nvSpPr>
        <p:spPr>
          <a:xfrm>
            <a:off x="1939074" y="3189832"/>
            <a:ext cx="3098839" cy="363303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양쪽 모서리가 둥근 사각형 68"/>
          <p:cNvSpPr/>
          <p:nvPr/>
        </p:nvSpPr>
        <p:spPr>
          <a:xfrm>
            <a:off x="1939074" y="2870846"/>
            <a:ext cx="5737220" cy="682290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양쪽 모서리가 둥근 사각형 69"/>
          <p:cNvSpPr/>
          <p:nvPr/>
        </p:nvSpPr>
        <p:spPr>
          <a:xfrm>
            <a:off x="1939076" y="2495550"/>
            <a:ext cx="7778634" cy="1057586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Rectangle 29"/>
          <p:cNvSpPr>
            <a:spLocks noChangeArrowheads="1"/>
          </p:cNvSpPr>
          <p:nvPr/>
        </p:nvSpPr>
        <p:spPr bwMode="auto">
          <a:xfrm>
            <a:off x="2873666" y="2965987"/>
            <a:ext cx="1092319" cy="233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10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rgbClr val="000000"/>
                </a:solidFill>
                <a:latin typeface="+mn-ea"/>
              </a:rPr>
              <a:t>년</a:t>
            </a:r>
          </a:p>
        </p:txBody>
      </p:sp>
      <p:sp>
        <p:nvSpPr>
          <p:cNvPr id="72" name="Rectangle 29"/>
          <p:cNvSpPr>
            <a:spLocks noChangeArrowheads="1"/>
          </p:cNvSpPr>
          <p:nvPr/>
        </p:nvSpPr>
        <p:spPr bwMode="auto">
          <a:xfrm>
            <a:off x="4118180" y="2639843"/>
            <a:ext cx="1092319" cy="233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100" dirty="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rgbClr val="000000"/>
                </a:solidFill>
                <a:latin typeface="+mn-ea"/>
              </a:rPr>
              <a:t>년 </a:t>
            </a:r>
            <a:r>
              <a:rPr lang="en-US" altLang="ko-KR" sz="1100" dirty="0">
                <a:solidFill>
                  <a:srgbClr val="000000"/>
                </a:solidFill>
                <a:latin typeface="+mn-ea"/>
              </a:rPr>
              <a:t>3</a:t>
            </a:r>
            <a:r>
              <a:rPr lang="ko-KR" altLang="en-US" sz="1100" dirty="0">
                <a:solidFill>
                  <a:srgbClr val="000000"/>
                </a:solidFill>
                <a:latin typeface="+mn-ea"/>
              </a:rPr>
              <a:t>개월</a:t>
            </a:r>
          </a:p>
        </p:txBody>
      </p:sp>
      <p:sp>
        <p:nvSpPr>
          <p:cNvPr id="73" name="Rectangle 29"/>
          <p:cNvSpPr>
            <a:spLocks noChangeArrowheads="1"/>
          </p:cNvSpPr>
          <p:nvPr/>
        </p:nvSpPr>
        <p:spPr bwMode="auto">
          <a:xfrm>
            <a:off x="5483164" y="2260353"/>
            <a:ext cx="1092319" cy="233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100" dirty="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rgbClr val="000000"/>
                </a:solidFill>
                <a:latin typeface="+mn-ea"/>
              </a:rPr>
              <a:t>년 </a:t>
            </a:r>
            <a:r>
              <a:rPr lang="en-US" altLang="ko-KR" sz="1100" dirty="0">
                <a:solidFill>
                  <a:srgbClr val="000000"/>
                </a:solidFill>
                <a:latin typeface="+mn-ea"/>
              </a:rPr>
              <a:t>6</a:t>
            </a:r>
            <a:r>
              <a:rPr lang="ko-KR" altLang="en-US" sz="1100" dirty="0">
                <a:solidFill>
                  <a:srgbClr val="000000"/>
                </a:solidFill>
                <a:latin typeface="+mn-ea"/>
              </a:rPr>
              <a:t>개월</a:t>
            </a:r>
          </a:p>
        </p:txBody>
      </p:sp>
      <p:cxnSp>
        <p:nvCxnSpPr>
          <p:cNvPr id="80" name="직선 연결선 79"/>
          <p:cNvCxnSpPr/>
          <p:nvPr/>
        </p:nvCxnSpPr>
        <p:spPr>
          <a:xfrm flipH="1">
            <a:off x="1928251" y="4163813"/>
            <a:ext cx="10822" cy="164516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직사각형 80"/>
          <p:cNvSpPr/>
          <p:nvPr/>
        </p:nvSpPr>
        <p:spPr>
          <a:xfrm>
            <a:off x="1176260" y="4030377"/>
            <a:ext cx="1525628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1176260" y="4259878"/>
            <a:ext cx="1525628" cy="2295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83" name="직선 연결선 82"/>
          <p:cNvCxnSpPr>
            <a:stCxn id="82" idx="3"/>
            <a:endCxn id="54" idx="1"/>
          </p:cNvCxnSpPr>
          <p:nvPr/>
        </p:nvCxnSpPr>
        <p:spPr>
          <a:xfrm flipV="1">
            <a:off x="2701888" y="4145127"/>
            <a:ext cx="1782759" cy="229501"/>
          </a:xfrm>
          <a:prstGeom prst="line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/>
          <p:cNvCxnSpPr/>
          <p:nvPr/>
        </p:nvCxnSpPr>
        <p:spPr>
          <a:xfrm flipH="1">
            <a:off x="5027087" y="4163813"/>
            <a:ext cx="10822" cy="164516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29"/>
          <p:cNvSpPr>
            <a:spLocks noChangeArrowheads="1"/>
          </p:cNvSpPr>
          <p:nvPr/>
        </p:nvSpPr>
        <p:spPr bwMode="auto">
          <a:xfrm>
            <a:off x="1001208" y="5688928"/>
            <a:ext cx="1773220" cy="2339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Y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의 </a:t>
            </a:r>
            <a:r>
              <a:rPr lang="ko-KR" altLang="en-US" sz="1200" dirty="0" err="1">
                <a:solidFill>
                  <a:srgbClr val="FF0000"/>
                </a:solidFill>
                <a:latin typeface="+mn-ea"/>
              </a:rPr>
              <a:t>청구범위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 中</a:t>
            </a:r>
            <a:endParaRPr lang="en-US" altLang="ko-KR" sz="1200" dirty="0">
              <a:solidFill>
                <a:srgbClr val="FF0000"/>
              </a:solidFill>
              <a:latin typeface="+mn-ea"/>
            </a:endParaRPr>
          </a:p>
          <a:p>
            <a:pPr algn="ctr">
              <a:defRPr/>
            </a:pP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A</a:t>
            </a:r>
            <a:endParaRPr lang="ko-KR" altLang="en-US" sz="12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90" name="Rectangle 29"/>
          <p:cNvSpPr>
            <a:spLocks noChangeArrowheads="1"/>
          </p:cNvSpPr>
          <p:nvPr/>
        </p:nvSpPr>
        <p:spPr bwMode="auto">
          <a:xfrm>
            <a:off x="4158278" y="5688928"/>
            <a:ext cx="1773220" cy="2339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Y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의 </a:t>
            </a:r>
            <a:r>
              <a:rPr lang="ko-KR" altLang="en-US" sz="1200" dirty="0" err="1">
                <a:solidFill>
                  <a:srgbClr val="FF0000"/>
                </a:solidFill>
                <a:latin typeface="+mn-ea"/>
              </a:rPr>
              <a:t>청구범위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 中</a:t>
            </a:r>
            <a:endParaRPr lang="en-US" altLang="ko-KR" sz="1200" dirty="0">
              <a:solidFill>
                <a:srgbClr val="FF0000"/>
              </a:solidFill>
              <a:latin typeface="+mn-ea"/>
            </a:endParaRPr>
          </a:p>
          <a:p>
            <a:pPr algn="ctr">
              <a:defRPr/>
            </a:pP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C</a:t>
            </a:r>
            <a:endParaRPr lang="ko-KR" altLang="en-US" sz="12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2842643" y="4694009"/>
            <a:ext cx="102450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판단시점 </a:t>
            </a:r>
            <a:endParaRPr lang="en-US" altLang="ko-KR" sz="16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소급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4485283" y="3453722"/>
            <a:ext cx="1525628" cy="229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한국출원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4484647" y="3684478"/>
            <a:ext cx="1525628" cy="229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X </a:t>
            </a:r>
            <a:r>
              <a:rPr lang="ko-KR" altLang="en-US" sz="1100" dirty="0">
                <a:solidFill>
                  <a:schemeClr val="tx1"/>
                </a:solidFill>
              </a:rPr>
              <a:t>기초 </a:t>
            </a:r>
            <a:r>
              <a:rPr lang="ko-KR" altLang="en-US" sz="1100" dirty="0" err="1">
                <a:solidFill>
                  <a:schemeClr val="tx1"/>
                </a:solidFill>
              </a:rPr>
              <a:t>우선권주장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484647" y="4030377"/>
            <a:ext cx="1525628" cy="2295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4484647" y="4259878"/>
            <a:ext cx="1525628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6989100" y="3465402"/>
            <a:ext cx="1354800" cy="2368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취하간주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9034120" y="3472772"/>
            <a:ext cx="1367180" cy="229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출원공개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1176260" y="3453722"/>
            <a:ext cx="1525628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한국출원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11365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55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525252"/>
                </a:solidFill>
              </a:rPr>
              <a:t>우선권주장을 할 수 있는 자</a:t>
            </a:r>
            <a:r>
              <a:rPr lang="en-US" altLang="ko-KR" dirty="0">
                <a:solidFill>
                  <a:srgbClr val="525252"/>
                </a:solidFill>
              </a:rPr>
              <a:t>(</a:t>
            </a:r>
            <a:r>
              <a:rPr lang="ko-KR" altLang="en-US" dirty="0">
                <a:solidFill>
                  <a:srgbClr val="525252"/>
                </a:solidFill>
              </a:rPr>
              <a:t>제</a:t>
            </a:r>
            <a:r>
              <a:rPr lang="en-US" altLang="ko-KR" dirty="0">
                <a:solidFill>
                  <a:srgbClr val="525252"/>
                </a:solidFill>
              </a:rPr>
              <a:t>55</a:t>
            </a:r>
            <a:r>
              <a:rPr lang="ko-KR" altLang="en-US" dirty="0">
                <a:solidFill>
                  <a:srgbClr val="525252"/>
                </a:solidFill>
              </a:rPr>
              <a:t>조제</a:t>
            </a:r>
            <a:r>
              <a:rPr lang="en-US" altLang="ko-KR" dirty="0">
                <a:solidFill>
                  <a:srgbClr val="525252"/>
                </a:solidFill>
              </a:rPr>
              <a:t>1</a:t>
            </a:r>
            <a:r>
              <a:rPr lang="ko-KR" altLang="en-US" dirty="0">
                <a:solidFill>
                  <a:srgbClr val="525252"/>
                </a:solidFill>
              </a:rPr>
              <a:t>항</a:t>
            </a:r>
            <a:r>
              <a:rPr lang="en-US" altLang="ko-KR" dirty="0">
                <a:solidFill>
                  <a:srgbClr val="525252"/>
                </a:solidFill>
              </a:rPr>
              <a:t>)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44250" y="3175"/>
            <a:ext cx="1047750" cy="7143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228</a:t>
            </a:fld>
            <a:endParaRPr lang="ko-KR" altLang="en-US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C008379-E292-4BEB-8714-A1019DC5B169}"/>
              </a:ext>
            </a:extLst>
          </p:cNvPr>
          <p:cNvSpPr txBox="1"/>
          <p:nvPr/>
        </p:nvSpPr>
        <p:spPr>
          <a:xfrm>
            <a:off x="77875" y="1341693"/>
            <a:ext cx="1193632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300" dirty="0"/>
              <a:t>…(</a:t>
            </a:r>
            <a:r>
              <a:rPr lang="ko-KR" altLang="en-US" sz="1300" dirty="0"/>
              <a:t>중략</a:t>
            </a:r>
            <a:r>
              <a:rPr lang="en-US" altLang="ko-KR" sz="1300" dirty="0"/>
              <a:t>)…</a:t>
            </a:r>
            <a:r>
              <a:rPr lang="ko-KR" altLang="en-US" sz="1300" dirty="0"/>
              <a:t>이러한 국내우선권 제도의 취지는 기술개발이 지속적으로 이루어지는 점을 감안하여 발명자의 누적된 성과를 특허권으로 보호받을 수 있도록 하는 것이다</a:t>
            </a:r>
            <a:r>
              <a:rPr lang="en-US" altLang="ko-KR" sz="1300" dirty="0"/>
              <a:t>. </a:t>
            </a:r>
            <a:r>
              <a:rPr lang="ko-KR" altLang="en-US" sz="1300" dirty="0"/>
              <a:t>발명을 한 자 또는 그 승계인은 특허법에서 정하는 바에 의하여 특허를 받을 수 있는 권리를 갖고</a:t>
            </a:r>
            <a:r>
              <a:rPr lang="en-US" altLang="ko-KR" sz="1300" dirty="0"/>
              <a:t>(</a:t>
            </a:r>
            <a:r>
              <a:rPr lang="ko-KR" altLang="en-US" sz="1300" dirty="0"/>
              <a:t>특허법 제</a:t>
            </a:r>
            <a:r>
              <a:rPr lang="en-US" altLang="ko-KR" sz="1300" dirty="0"/>
              <a:t>33</a:t>
            </a:r>
            <a:r>
              <a:rPr lang="ko-KR" altLang="en-US" sz="1300" dirty="0"/>
              <a:t>조 제</a:t>
            </a:r>
            <a:r>
              <a:rPr lang="en-US" altLang="ko-KR" sz="1300" dirty="0"/>
              <a:t>1</a:t>
            </a:r>
            <a:r>
              <a:rPr lang="ko-KR" altLang="en-US" sz="1300" dirty="0"/>
              <a:t>항 본문</a:t>
            </a:r>
            <a:r>
              <a:rPr lang="en-US" altLang="ko-KR" sz="1300" dirty="0"/>
              <a:t>), </a:t>
            </a:r>
            <a:r>
              <a:rPr lang="ko-KR" altLang="en-US" sz="1300" dirty="0"/>
              <a:t>특허를 받을 수 있는 권리는 이전할 수 있으므로</a:t>
            </a:r>
            <a:r>
              <a:rPr lang="en-US" altLang="ko-KR" sz="1300" dirty="0"/>
              <a:t>(</a:t>
            </a:r>
            <a:r>
              <a:rPr lang="ko-KR" altLang="en-US" sz="1300" dirty="0"/>
              <a:t>특허법 제</a:t>
            </a:r>
            <a:r>
              <a:rPr lang="en-US" altLang="ko-KR" sz="1300" dirty="0"/>
              <a:t>37</a:t>
            </a:r>
            <a:r>
              <a:rPr lang="ko-KR" altLang="en-US" sz="1300" dirty="0"/>
              <a:t>조 제</a:t>
            </a:r>
            <a:r>
              <a:rPr lang="en-US" altLang="ko-KR" sz="1300" dirty="0"/>
              <a:t>1</a:t>
            </a:r>
            <a:r>
              <a:rPr lang="ko-KR" altLang="en-US" sz="1300" dirty="0"/>
              <a:t>항</a:t>
            </a:r>
            <a:r>
              <a:rPr lang="en-US" altLang="ko-KR" sz="1300" dirty="0"/>
              <a:t>), </a:t>
            </a:r>
            <a:r>
              <a:rPr lang="ko-KR" altLang="en-US" sz="1300" dirty="0"/>
              <a:t>후출원의 출원인이 </a:t>
            </a:r>
            <a:r>
              <a:rPr lang="ko-KR" altLang="en-US" sz="1300" dirty="0" err="1"/>
              <a:t>후출원</a:t>
            </a:r>
            <a:r>
              <a:rPr lang="ko-KR" altLang="en-US" sz="1300" dirty="0"/>
              <a:t> 시에 ‘특허를 받을 수 있는 </a:t>
            </a:r>
            <a:r>
              <a:rPr lang="ko-KR" altLang="en-US" sz="1300" dirty="0" err="1"/>
              <a:t>권리’를</a:t>
            </a:r>
            <a:r>
              <a:rPr lang="ko-KR" altLang="en-US" sz="1300" dirty="0"/>
              <a:t> 승계하였다면 우선권 주장을 할 수 있고</a:t>
            </a:r>
            <a:r>
              <a:rPr lang="en-US" altLang="ko-KR" sz="1300" dirty="0"/>
              <a:t>, </a:t>
            </a:r>
            <a:r>
              <a:rPr lang="ko-KR" altLang="en-US" sz="1300" dirty="0" err="1"/>
              <a:t>후출원</a:t>
            </a:r>
            <a:r>
              <a:rPr lang="ko-KR" altLang="en-US" sz="1300" dirty="0"/>
              <a:t> 시에 선출원에 대하여 </a:t>
            </a:r>
            <a:r>
              <a:rPr lang="ko-KR" altLang="en-US" sz="1300" dirty="0" err="1"/>
              <a:t>특허출원인변경신고를</a:t>
            </a:r>
            <a:r>
              <a:rPr lang="ko-KR" altLang="en-US" sz="1300" dirty="0"/>
              <a:t> 마쳐야만 하는 것은 아니다</a:t>
            </a:r>
            <a:r>
              <a:rPr lang="en-US" altLang="ko-KR" sz="1300" dirty="0"/>
              <a:t>. </a:t>
            </a:r>
            <a:r>
              <a:rPr lang="ko-KR" altLang="en-US" sz="1300" dirty="0">
                <a:highlight>
                  <a:srgbClr val="FFFF00"/>
                </a:highlight>
              </a:rPr>
              <a:t>특허출원 후 특허를 받을 수 있는 권리의 승계는 상속 기타 일반승계의 경우를 제외하고는 </a:t>
            </a:r>
            <a:r>
              <a:rPr lang="ko-KR" altLang="en-US" sz="1300" dirty="0" err="1">
                <a:highlight>
                  <a:srgbClr val="FFFF00"/>
                </a:highlight>
              </a:rPr>
              <a:t>특허출원인변경신고를</a:t>
            </a:r>
            <a:r>
              <a:rPr lang="ko-KR" altLang="en-US" sz="1300" dirty="0">
                <a:highlight>
                  <a:srgbClr val="FFFF00"/>
                </a:highlight>
              </a:rPr>
              <a:t> 하지 아니하면 그 효력이 발생하지 아니한다고 규정한 특허법 제</a:t>
            </a:r>
            <a:r>
              <a:rPr lang="en-US" altLang="ko-KR" sz="1300" dirty="0">
                <a:highlight>
                  <a:srgbClr val="FFFF00"/>
                </a:highlight>
              </a:rPr>
              <a:t>38</a:t>
            </a:r>
            <a:r>
              <a:rPr lang="ko-KR" altLang="en-US" sz="1300" dirty="0">
                <a:highlight>
                  <a:srgbClr val="FFFF00"/>
                </a:highlight>
              </a:rPr>
              <a:t>조 제</a:t>
            </a:r>
            <a:r>
              <a:rPr lang="en-US" altLang="ko-KR" sz="1300" dirty="0">
                <a:highlight>
                  <a:srgbClr val="FFFF00"/>
                </a:highlight>
              </a:rPr>
              <a:t>4</a:t>
            </a:r>
            <a:r>
              <a:rPr lang="ko-KR" altLang="en-US" sz="1300" dirty="0">
                <a:highlight>
                  <a:srgbClr val="FFFF00"/>
                </a:highlight>
              </a:rPr>
              <a:t>항은 특허에 관한 절차에서 참여자와 특허를 </a:t>
            </a:r>
            <a:r>
              <a:rPr lang="ko-KR" altLang="en-US" sz="1300" dirty="0" err="1">
                <a:highlight>
                  <a:srgbClr val="FFFF00"/>
                </a:highlight>
              </a:rPr>
              <a:t>등록받을</a:t>
            </a:r>
            <a:r>
              <a:rPr lang="ko-KR" altLang="en-US" sz="1300" dirty="0">
                <a:highlight>
                  <a:srgbClr val="FFFF00"/>
                </a:highlight>
              </a:rPr>
              <a:t> 자를 쉽게 확정함으로써 출원심사의 편의성 및 신속성을 추구하고자 하는 규정으로 우선권주장에 관한 절차에 적용된다고 볼 수 없다</a:t>
            </a:r>
            <a:r>
              <a:rPr lang="en-US" altLang="ko-KR" sz="1300" dirty="0">
                <a:highlight>
                  <a:srgbClr val="FFFF00"/>
                </a:highlight>
              </a:rPr>
              <a:t>. </a:t>
            </a:r>
            <a:r>
              <a:rPr lang="ko-KR" altLang="en-US" sz="1300" dirty="0">
                <a:highlight>
                  <a:srgbClr val="FFFF00"/>
                </a:highlight>
              </a:rPr>
              <a:t>따라서 후출원의 출원인이 선출원의 출원인과 다르더라도 특허를 받을 수 있는 권리를 </a:t>
            </a:r>
            <a:r>
              <a:rPr lang="ko-KR" altLang="en-US" sz="1300" dirty="0" err="1">
                <a:highlight>
                  <a:srgbClr val="FFFF00"/>
                </a:highlight>
              </a:rPr>
              <a:t>승계받았다면</a:t>
            </a:r>
            <a:r>
              <a:rPr lang="ko-KR" altLang="en-US" sz="1300" dirty="0">
                <a:highlight>
                  <a:srgbClr val="FFFF00"/>
                </a:highlight>
              </a:rPr>
              <a:t> 우선권 주장을 할 수 있다고 보아야 한다</a:t>
            </a:r>
            <a:r>
              <a:rPr lang="en-US" altLang="ko-KR" sz="1300" dirty="0">
                <a:highlight>
                  <a:srgbClr val="FFFF00"/>
                </a:highlight>
              </a:rPr>
              <a:t>.</a:t>
            </a:r>
          </a:p>
          <a:p>
            <a:pPr fontAlgn="base"/>
            <a:r>
              <a:rPr lang="en-US" altLang="ko-KR" sz="1300" dirty="0"/>
              <a:t>  ➀ PCT </a:t>
            </a:r>
            <a:r>
              <a:rPr lang="ko-KR" altLang="en-US" sz="1300" dirty="0"/>
              <a:t>자기지정출원 과정에서 </a:t>
            </a:r>
            <a:r>
              <a:rPr lang="ko-KR" altLang="en-US" sz="1300" dirty="0" err="1"/>
              <a:t>후출원인이</a:t>
            </a:r>
            <a:r>
              <a:rPr lang="ko-KR" altLang="en-US" sz="1300" dirty="0"/>
              <a:t> 선출원인으로부터 특허를 받을 수 있는 권리를 실질적으로 </a:t>
            </a:r>
            <a:r>
              <a:rPr lang="ko-KR" altLang="en-US" sz="1300" dirty="0" err="1"/>
              <a:t>승계받았는지</a:t>
            </a:r>
            <a:r>
              <a:rPr lang="ko-KR" altLang="en-US" sz="1300" dirty="0"/>
              <a:t> 여부에 대한 </a:t>
            </a:r>
            <a:r>
              <a:rPr lang="ko-KR" altLang="en-US" sz="1300" dirty="0">
                <a:highlight>
                  <a:srgbClr val="00FFFF"/>
                </a:highlight>
              </a:rPr>
              <a:t>실체심사는 </a:t>
            </a:r>
            <a:r>
              <a:rPr lang="en-US" altLang="ko-KR" sz="1300" dirty="0">
                <a:highlight>
                  <a:srgbClr val="00FFFF"/>
                </a:highlight>
              </a:rPr>
              <a:t>PCT </a:t>
            </a:r>
            <a:r>
              <a:rPr lang="ko-KR" altLang="en-US" sz="1300" dirty="0">
                <a:highlight>
                  <a:srgbClr val="00FFFF"/>
                </a:highlight>
              </a:rPr>
              <a:t>제</a:t>
            </a:r>
            <a:r>
              <a:rPr lang="en-US" altLang="ko-KR" sz="1300" dirty="0">
                <a:highlight>
                  <a:srgbClr val="00FFFF"/>
                </a:highlight>
              </a:rPr>
              <a:t>8</a:t>
            </a:r>
            <a:r>
              <a:rPr lang="ko-KR" altLang="en-US" sz="1300" dirty="0">
                <a:highlight>
                  <a:srgbClr val="00FFFF"/>
                </a:highlight>
              </a:rPr>
              <a:t>조 ⑵⒝에 따라 국내단계에 진입한 이후에 우리나라의 법령에 따라 해야 한다</a:t>
            </a:r>
            <a:r>
              <a:rPr lang="en-US" altLang="ko-KR" sz="1300" dirty="0">
                <a:highlight>
                  <a:srgbClr val="00FFFF"/>
                </a:highlight>
              </a:rPr>
              <a:t>. </a:t>
            </a:r>
            <a:r>
              <a:rPr lang="ko-KR" altLang="en-US" sz="1300" dirty="0"/>
              <a:t>지식재산처장은 특허를 받을 수 있는 권리를 승계한 자가 특허에 관한 절차를 밟고자 하는 경우에는 그 승계인임을 증명하는 서류를 제출하게 할 수 있으므로</a:t>
            </a:r>
            <a:r>
              <a:rPr lang="en-US" altLang="ko-KR" sz="1300" dirty="0"/>
              <a:t>(</a:t>
            </a:r>
            <a:r>
              <a:rPr lang="ko-KR" altLang="en-US" sz="1300" dirty="0"/>
              <a:t>특허법 시행규칙 제</a:t>
            </a:r>
            <a:r>
              <a:rPr lang="en-US" altLang="ko-KR" sz="1300" dirty="0"/>
              <a:t>7</a:t>
            </a:r>
            <a:r>
              <a:rPr lang="ko-KR" altLang="en-US" sz="1300" dirty="0"/>
              <a:t>조 제</a:t>
            </a:r>
            <a:r>
              <a:rPr lang="en-US" altLang="ko-KR" sz="1300" dirty="0"/>
              <a:t>1</a:t>
            </a:r>
            <a:r>
              <a:rPr lang="ko-KR" altLang="en-US" sz="1300" dirty="0"/>
              <a:t>항</a:t>
            </a:r>
            <a:r>
              <a:rPr lang="en-US" altLang="ko-KR" sz="1300" dirty="0"/>
              <a:t>), </a:t>
            </a:r>
            <a:r>
              <a:rPr lang="ko-KR" altLang="en-US" sz="1300" dirty="0"/>
              <a:t>필요한 경우 보완을 요구함으로써 권리의 승계 여부를 심사할 수 있다</a:t>
            </a:r>
            <a:r>
              <a:rPr lang="en-US" altLang="ko-KR" sz="1300" dirty="0"/>
              <a:t>. </a:t>
            </a:r>
            <a:r>
              <a:rPr lang="ko-KR" altLang="en-US" sz="1300" dirty="0"/>
              <a:t>그리고 </a:t>
            </a:r>
            <a:r>
              <a:rPr lang="ko-KR" altLang="en-US" sz="1300" dirty="0">
                <a:highlight>
                  <a:srgbClr val="00FFFF"/>
                </a:highlight>
              </a:rPr>
              <a:t>특허법 제</a:t>
            </a:r>
            <a:r>
              <a:rPr lang="en-US" altLang="ko-KR" sz="1300" dirty="0">
                <a:highlight>
                  <a:srgbClr val="00FFFF"/>
                </a:highlight>
              </a:rPr>
              <a:t>38</a:t>
            </a:r>
            <a:r>
              <a:rPr lang="ko-KR" altLang="en-US" sz="1300" dirty="0">
                <a:highlight>
                  <a:srgbClr val="00FFFF"/>
                </a:highlight>
              </a:rPr>
              <a:t>조 제</a:t>
            </a:r>
            <a:r>
              <a:rPr lang="en-US" altLang="ko-KR" sz="1300" dirty="0">
                <a:highlight>
                  <a:srgbClr val="00FFFF"/>
                </a:highlight>
              </a:rPr>
              <a:t>4</a:t>
            </a:r>
            <a:r>
              <a:rPr lang="ko-KR" altLang="en-US" sz="1300" dirty="0">
                <a:highlight>
                  <a:srgbClr val="00FFFF"/>
                </a:highlight>
              </a:rPr>
              <a:t>항을 특허를 받을 수 있는 권리를 승계한 </a:t>
            </a:r>
            <a:r>
              <a:rPr lang="ko-KR" altLang="en-US" sz="1300" dirty="0" err="1">
                <a:highlight>
                  <a:srgbClr val="00FFFF"/>
                </a:highlight>
              </a:rPr>
              <a:t>후출원인이</a:t>
            </a:r>
            <a:r>
              <a:rPr lang="ko-KR" altLang="en-US" sz="1300" dirty="0">
                <a:highlight>
                  <a:srgbClr val="00FFFF"/>
                </a:highlight>
              </a:rPr>
              <a:t> </a:t>
            </a:r>
            <a:r>
              <a:rPr lang="en-US" altLang="ko-KR" sz="1300" dirty="0">
                <a:highlight>
                  <a:srgbClr val="00FFFF"/>
                </a:highlight>
              </a:rPr>
              <a:t>PCT </a:t>
            </a:r>
            <a:r>
              <a:rPr lang="ko-KR" altLang="en-US" sz="1300" dirty="0">
                <a:highlight>
                  <a:srgbClr val="00FFFF"/>
                </a:highlight>
              </a:rPr>
              <a:t>국제출원을 하기 전에 그 </a:t>
            </a:r>
            <a:r>
              <a:rPr lang="ko-KR" altLang="en-US" sz="1300" dirty="0" err="1">
                <a:highlight>
                  <a:srgbClr val="00FFFF"/>
                </a:highlight>
              </a:rPr>
              <a:t>후출원인에게</a:t>
            </a:r>
            <a:r>
              <a:rPr lang="ko-KR" altLang="en-US" sz="1300" dirty="0">
                <a:highlight>
                  <a:srgbClr val="00FFFF"/>
                </a:highlight>
              </a:rPr>
              <a:t> 국내에서 </a:t>
            </a:r>
            <a:r>
              <a:rPr lang="ko-KR" altLang="en-US" sz="1300" dirty="0" err="1">
                <a:highlight>
                  <a:srgbClr val="00FFFF"/>
                </a:highlight>
              </a:rPr>
              <a:t>특허출원인변경신고를</a:t>
            </a:r>
            <a:r>
              <a:rPr lang="ko-KR" altLang="en-US" sz="1300" dirty="0">
                <a:highlight>
                  <a:srgbClr val="00FFFF"/>
                </a:highlight>
              </a:rPr>
              <a:t> 마칠 것을 요구하는 것으로 해석한다면</a:t>
            </a:r>
            <a:r>
              <a:rPr lang="en-US" altLang="ko-KR" sz="1300" dirty="0">
                <a:highlight>
                  <a:srgbClr val="00FFFF"/>
                </a:highlight>
              </a:rPr>
              <a:t>, </a:t>
            </a:r>
            <a:r>
              <a:rPr lang="ko-KR" altLang="en-US" sz="1300" dirty="0" err="1">
                <a:highlight>
                  <a:srgbClr val="00FFFF"/>
                </a:highlight>
              </a:rPr>
              <a:t>후출원인은</a:t>
            </a:r>
            <a:r>
              <a:rPr lang="ko-KR" altLang="en-US" sz="1300" dirty="0">
                <a:highlight>
                  <a:srgbClr val="00FFFF"/>
                </a:highlight>
              </a:rPr>
              <a:t> 국내단계에서 절차상 하자를 보완할 기회를 상실하게 되므로 국내우선권 제도의 취지에 부합된다고 볼 수 없다</a:t>
            </a:r>
            <a:r>
              <a:rPr lang="en-US" altLang="ko-KR" sz="1300" dirty="0">
                <a:highlight>
                  <a:srgbClr val="00FFFF"/>
                </a:highlight>
              </a:rPr>
              <a:t>.</a:t>
            </a:r>
            <a:r>
              <a:rPr lang="en-US" altLang="ko-KR" sz="1300" dirty="0"/>
              <a:t> </a:t>
            </a:r>
            <a:r>
              <a:rPr lang="ko-KR" altLang="en-US" sz="1300" dirty="0"/>
              <a:t>또한</a:t>
            </a:r>
            <a:r>
              <a:rPr lang="ko-KR" altLang="en-US" sz="1300" u="sng" dirty="0">
                <a:highlight>
                  <a:srgbClr val="00FF00"/>
                </a:highlight>
              </a:rPr>
              <a:t> </a:t>
            </a:r>
            <a:r>
              <a:rPr lang="ko-KR" altLang="en-US" sz="1300" dirty="0" err="1">
                <a:highlight>
                  <a:srgbClr val="00FF00"/>
                </a:highlight>
              </a:rPr>
              <a:t>선출원</a:t>
            </a:r>
            <a:r>
              <a:rPr lang="ko-KR" altLang="en-US" sz="1300" dirty="0">
                <a:highlight>
                  <a:srgbClr val="00FF00"/>
                </a:highlight>
              </a:rPr>
              <a:t> 발명을 개량하여 </a:t>
            </a:r>
            <a:r>
              <a:rPr lang="ko-KR" altLang="en-US" sz="1300" dirty="0" err="1">
                <a:highlight>
                  <a:srgbClr val="00FF00"/>
                </a:highlight>
              </a:rPr>
              <a:t>후출원</a:t>
            </a:r>
            <a:r>
              <a:rPr lang="ko-KR" altLang="en-US" sz="1300" dirty="0">
                <a:highlight>
                  <a:srgbClr val="00FF00"/>
                </a:highlight>
              </a:rPr>
              <a:t> 발명을 하는 과정에서 선출원의 출원인 중 일부만 후출원의 출원인에 포함되거나 선출원의 출원인과 후출원의 출원인이 달라질 수 있고</a:t>
            </a:r>
            <a:r>
              <a:rPr lang="en-US" altLang="ko-KR" sz="1300" dirty="0">
                <a:highlight>
                  <a:srgbClr val="00FF00"/>
                </a:highlight>
              </a:rPr>
              <a:t>, </a:t>
            </a:r>
            <a:r>
              <a:rPr lang="ko-KR" altLang="en-US" sz="1300" dirty="0" err="1">
                <a:highlight>
                  <a:srgbClr val="00FF00"/>
                </a:highlight>
              </a:rPr>
              <a:t>후출원</a:t>
            </a:r>
            <a:r>
              <a:rPr lang="ko-KR" altLang="en-US" sz="1300" dirty="0">
                <a:highlight>
                  <a:srgbClr val="00FF00"/>
                </a:highlight>
              </a:rPr>
              <a:t> 시에 </a:t>
            </a:r>
            <a:r>
              <a:rPr lang="ko-KR" altLang="en-US" sz="1300" dirty="0" err="1">
                <a:highlight>
                  <a:srgbClr val="00FF00"/>
                </a:highlight>
              </a:rPr>
              <a:t>출원인명의변경</a:t>
            </a:r>
            <a:r>
              <a:rPr lang="ko-KR" altLang="en-US" sz="1300" dirty="0">
                <a:highlight>
                  <a:srgbClr val="00FF00"/>
                </a:highlight>
              </a:rPr>
              <a:t> 절차를 정당하게 마칠 수 없는 경우도 생기게 된다</a:t>
            </a:r>
            <a:r>
              <a:rPr lang="en-US" altLang="ko-KR" sz="1300" dirty="0">
                <a:highlight>
                  <a:srgbClr val="00FF00"/>
                </a:highlight>
              </a:rPr>
              <a:t>. </a:t>
            </a:r>
            <a:r>
              <a:rPr lang="ko-KR" altLang="en-US" sz="1300" dirty="0">
                <a:highlight>
                  <a:srgbClr val="00FF00"/>
                </a:highlight>
              </a:rPr>
              <a:t>이러한 경우에도 선출원의 출원인과 후출원의 출원인이 다르다는 이유로 우선권 주장의 효력을 부정하는 것은 우선권 주장 제도의 취지에 반하게 된다</a:t>
            </a:r>
            <a:r>
              <a:rPr lang="en-US" altLang="ko-KR" sz="1300" dirty="0">
                <a:highlight>
                  <a:srgbClr val="FFFF00"/>
                </a:highlight>
              </a:rPr>
              <a:t>.</a:t>
            </a:r>
          </a:p>
          <a:p>
            <a:pPr fontAlgn="base"/>
            <a:r>
              <a:rPr lang="en-US" altLang="ko-KR" sz="1300" dirty="0"/>
              <a:t>  ➁ </a:t>
            </a:r>
            <a:r>
              <a:rPr lang="ko-KR" altLang="en-US" sz="1300" dirty="0">
                <a:highlight>
                  <a:srgbClr val="C0C0C0"/>
                </a:highlight>
              </a:rPr>
              <a:t>특허법 제</a:t>
            </a:r>
            <a:r>
              <a:rPr lang="en-US" altLang="ko-KR" sz="1300" dirty="0">
                <a:highlight>
                  <a:srgbClr val="C0C0C0"/>
                </a:highlight>
              </a:rPr>
              <a:t>55</a:t>
            </a:r>
            <a:r>
              <a:rPr lang="ko-KR" altLang="en-US" sz="1300" dirty="0">
                <a:highlight>
                  <a:srgbClr val="C0C0C0"/>
                </a:highlight>
              </a:rPr>
              <a:t>조 제</a:t>
            </a:r>
            <a:r>
              <a:rPr lang="en-US" altLang="ko-KR" sz="1300" dirty="0">
                <a:highlight>
                  <a:srgbClr val="C0C0C0"/>
                </a:highlight>
              </a:rPr>
              <a:t>1</a:t>
            </a:r>
            <a:r>
              <a:rPr lang="ko-KR" altLang="en-US" sz="1300" dirty="0">
                <a:highlight>
                  <a:srgbClr val="C0C0C0"/>
                </a:highlight>
              </a:rPr>
              <a:t>항은 우선권 주장을 할 수 있는 자는 ‘특허를 받으려는 자’라고 규정하고 있을 뿐이다</a:t>
            </a:r>
            <a:r>
              <a:rPr lang="en-US" altLang="ko-KR" sz="1300" dirty="0">
                <a:highlight>
                  <a:srgbClr val="C0C0C0"/>
                </a:highlight>
              </a:rPr>
              <a:t>. </a:t>
            </a:r>
            <a:r>
              <a:rPr lang="ko-KR" altLang="en-US" sz="1300" dirty="0">
                <a:highlight>
                  <a:srgbClr val="C0C0C0"/>
                </a:highlight>
              </a:rPr>
              <a:t>이는 특허법이 분할출원</a:t>
            </a:r>
            <a:r>
              <a:rPr lang="en-US" altLang="ko-KR" sz="1300" dirty="0">
                <a:highlight>
                  <a:srgbClr val="C0C0C0"/>
                </a:highlight>
              </a:rPr>
              <a:t>(</a:t>
            </a:r>
            <a:r>
              <a:rPr lang="ko-KR" altLang="en-US" sz="1300" dirty="0">
                <a:highlight>
                  <a:srgbClr val="C0C0C0"/>
                </a:highlight>
              </a:rPr>
              <a:t>제</a:t>
            </a:r>
            <a:r>
              <a:rPr lang="en-US" altLang="ko-KR" sz="1300" dirty="0">
                <a:highlight>
                  <a:srgbClr val="C0C0C0"/>
                </a:highlight>
              </a:rPr>
              <a:t>52</a:t>
            </a:r>
            <a:r>
              <a:rPr lang="ko-KR" altLang="en-US" sz="1300" dirty="0">
                <a:highlight>
                  <a:srgbClr val="C0C0C0"/>
                </a:highlight>
              </a:rPr>
              <a:t>조</a:t>
            </a:r>
            <a:r>
              <a:rPr lang="en-US" altLang="ko-KR" sz="1300" dirty="0">
                <a:highlight>
                  <a:srgbClr val="C0C0C0"/>
                </a:highlight>
              </a:rPr>
              <a:t>)</a:t>
            </a:r>
            <a:r>
              <a:rPr lang="ko-KR" altLang="en-US" sz="1300" dirty="0">
                <a:highlight>
                  <a:srgbClr val="C0C0C0"/>
                </a:highlight>
              </a:rPr>
              <a:t>과 실용신안등록출원의 변경출원</a:t>
            </a:r>
            <a:r>
              <a:rPr lang="en-US" altLang="ko-KR" sz="1300" dirty="0">
                <a:highlight>
                  <a:srgbClr val="C0C0C0"/>
                </a:highlight>
              </a:rPr>
              <a:t>(</a:t>
            </a:r>
            <a:r>
              <a:rPr lang="ko-KR" altLang="en-US" sz="1300" dirty="0">
                <a:highlight>
                  <a:srgbClr val="C0C0C0"/>
                </a:highlight>
              </a:rPr>
              <a:t>제</a:t>
            </a:r>
            <a:r>
              <a:rPr lang="en-US" altLang="ko-KR" sz="1300" dirty="0">
                <a:highlight>
                  <a:srgbClr val="C0C0C0"/>
                </a:highlight>
              </a:rPr>
              <a:t>53</a:t>
            </a:r>
            <a:r>
              <a:rPr lang="ko-KR" altLang="en-US" sz="1300" dirty="0">
                <a:highlight>
                  <a:srgbClr val="C0C0C0"/>
                </a:highlight>
              </a:rPr>
              <a:t>조</a:t>
            </a:r>
            <a:r>
              <a:rPr lang="en-US" altLang="ko-KR" sz="1300" dirty="0">
                <a:highlight>
                  <a:srgbClr val="C0C0C0"/>
                </a:highlight>
              </a:rPr>
              <a:t>)</a:t>
            </a:r>
            <a:r>
              <a:rPr lang="ko-KR" altLang="en-US" sz="1300" dirty="0">
                <a:highlight>
                  <a:srgbClr val="C0C0C0"/>
                </a:highlight>
              </a:rPr>
              <a:t>을 할 수 있는 자는 ‘</a:t>
            </a:r>
            <a:r>
              <a:rPr lang="ko-KR" altLang="en-US" sz="1300" dirty="0" err="1">
                <a:highlight>
                  <a:srgbClr val="C0C0C0"/>
                </a:highlight>
              </a:rPr>
              <a:t>출원인’이라고</a:t>
            </a:r>
            <a:r>
              <a:rPr lang="ko-KR" altLang="en-US" sz="1300" dirty="0">
                <a:highlight>
                  <a:srgbClr val="C0C0C0"/>
                </a:highlight>
              </a:rPr>
              <a:t> 규정함으로써 </a:t>
            </a:r>
            <a:r>
              <a:rPr lang="ko-KR" altLang="en-US" sz="1300" dirty="0" err="1">
                <a:highlight>
                  <a:srgbClr val="C0C0C0"/>
                </a:highlight>
              </a:rPr>
              <a:t>분할출원인</a:t>
            </a:r>
            <a:r>
              <a:rPr lang="ko-KR" altLang="en-US" sz="1300" dirty="0">
                <a:highlight>
                  <a:srgbClr val="C0C0C0"/>
                </a:highlight>
              </a:rPr>
              <a:t> 또는 변경출원의 명의인이 일치할 것을 요구하는 것과 대비된다</a:t>
            </a:r>
            <a:r>
              <a:rPr lang="en-US" altLang="ko-KR" sz="1300" dirty="0">
                <a:highlight>
                  <a:srgbClr val="C0C0C0"/>
                </a:highlight>
              </a:rPr>
              <a:t>.</a:t>
            </a:r>
            <a:r>
              <a:rPr lang="en-US" altLang="ko-KR" sz="1300" dirty="0">
                <a:solidFill>
                  <a:srgbClr val="FF0000"/>
                </a:solidFill>
              </a:rPr>
              <a:t> </a:t>
            </a:r>
            <a:r>
              <a:rPr lang="ko-KR" altLang="en-US" sz="1300" dirty="0"/>
              <a:t>발명을 한 자의 승계인도 특허를 받을 수 있는 권리를 가지므로</a:t>
            </a:r>
            <a:r>
              <a:rPr lang="en-US" altLang="ko-KR" sz="1300" dirty="0"/>
              <a:t>(</a:t>
            </a:r>
            <a:r>
              <a:rPr lang="ko-KR" altLang="en-US" sz="1300" dirty="0"/>
              <a:t>특허법 제</a:t>
            </a:r>
            <a:r>
              <a:rPr lang="en-US" altLang="ko-KR" sz="1300" dirty="0"/>
              <a:t>33</a:t>
            </a:r>
            <a:r>
              <a:rPr lang="ko-KR" altLang="en-US" sz="1300" dirty="0"/>
              <a:t>조 제</a:t>
            </a:r>
            <a:r>
              <a:rPr lang="en-US" altLang="ko-KR" sz="1300" dirty="0"/>
              <a:t>1</a:t>
            </a:r>
            <a:r>
              <a:rPr lang="ko-KR" altLang="en-US" sz="1300" dirty="0"/>
              <a:t>항</a:t>
            </a:r>
            <a:r>
              <a:rPr lang="en-US" altLang="ko-KR" sz="1300" dirty="0"/>
              <a:t>), </a:t>
            </a:r>
            <a:r>
              <a:rPr lang="ko-KR" altLang="en-US" sz="1300" dirty="0"/>
              <a:t>특허를 받을 수 있는 권리를 양수한 자는 특허법 제</a:t>
            </a:r>
            <a:r>
              <a:rPr lang="en-US" altLang="ko-KR" sz="1300" dirty="0"/>
              <a:t>55</a:t>
            </a:r>
            <a:r>
              <a:rPr lang="ko-KR" altLang="en-US" sz="1300" dirty="0"/>
              <a:t>조 제</a:t>
            </a:r>
            <a:r>
              <a:rPr lang="en-US" altLang="ko-KR" sz="1300" dirty="0"/>
              <a:t>1</a:t>
            </a:r>
            <a:r>
              <a:rPr lang="ko-KR" altLang="en-US" sz="1300" dirty="0"/>
              <a:t>항의 ‘특허를 받으려는 자’ 및 ‘자신이 특허를 받을 수 있는 권리를 가진 자’에 해당한다고 봄이 문리해석에 부합한다</a:t>
            </a:r>
            <a:r>
              <a:rPr lang="en-US" altLang="ko-KR" sz="1300" dirty="0"/>
              <a:t>. </a:t>
            </a:r>
            <a:r>
              <a:rPr lang="ko-KR" altLang="en-US" sz="1300" dirty="0" err="1"/>
              <a:t>특허출원인변경신고를</a:t>
            </a:r>
            <a:r>
              <a:rPr lang="ko-KR" altLang="en-US" sz="1300" dirty="0"/>
              <a:t> 특허등록 전까지 하도록 규정한 특허법 시행규칙 제</a:t>
            </a:r>
            <a:r>
              <a:rPr lang="en-US" altLang="ko-KR" sz="1300" dirty="0"/>
              <a:t>26</a:t>
            </a:r>
            <a:r>
              <a:rPr lang="ko-KR" altLang="en-US" sz="1300" dirty="0"/>
              <a:t>조 제</a:t>
            </a:r>
            <a:r>
              <a:rPr lang="en-US" altLang="ko-KR" sz="1300" dirty="0"/>
              <a:t>1</a:t>
            </a:r>
            <a:r>
              <a:rPr lang="ko-KR" altLang="en-US" sz="1300" dirty="0"/>
              <a:t>항도 이러한 해석을 뒷받침한다</a:t>
            </a:r>
            <a:r>
              <a:rPr lang="en-US" altLang="ko-KR" sz="1300" dirty="0"/>
              <a:t>.</a:t>
            </a:r>
            <a:endParaRPr lang="ko-KR" altLang="en-US" sz="1300" dirty="0"/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35183F3B-F554-4BD0-97F3-9D013B236D87}"/>
              </a:ext>
            </a:extLst>
          </p:cNvPr>
          <p:cNvSpPr/>
          <p:nvPr/>
        </p:nvSpPr>
        <p:spPr>
          <a:xfrm>
            <a:off x="113937" y="964867"/>
            <a:ext cx="5712031" cy="346234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bIns="0">
            <a:spAutoFit/>
          </a:bodyPr>
          <a:lstStyle/>
          <a:p>
            <a:r>
              <a:rPr lang="ko-KR" altLang="en-US" sz="1600" dirty="0"/>
              <a:t>대법원 </a:t>
            </a:r>
            <a:r>
              <a:rPr lang="en-US" altLang="ko-KR" sz="1600" dirty="0"/>
              <a:t>2019. 10. 17. </a:t>
            </a:r>
            <a:r>
              <a:rPr lang="ko-KR" altLang="en-US" sz="1600" dirty="0"/>
              <a:t>선고 </a:t>
            </a:r>
            <a:r>
              <a:rPr lang="en-US" altLang="ko-KR" sz="1600" dirty="0"/>
              <a:t>2017</a:t>
            </a:r>
            <a:r>
              <a:rPr lang="ko-KR" altLang="en-US" sz="1600" dirty="0"/>
              <a:t>후</a:t>
            </a:r>
            <a:r>
              <a:rPr lang="en-US" altLang="ko-KR" sz="1600" dirty="0"/>
              <a:t>1274 </a:t>
            </a:r>
            <a:r>
              <a:rPr lang="ko-KR" altLang="en-US" sz="1600" dirty="0"/>
              <a:t>판결 </a:t>
            </a:r>
            <a:r>
              <a:rPr lang="en-US" altLang="ko-KR" sz="1600" dirty="0"/>
              <a:t>【</a:t>
            </a:r>
            <a:r>
              <a:rPr lang="ko-KR" altLang="en-US" sz="1600" dirty="0"/>
              <a:t>등록무효</a:t>
            </a:r>
            <a:r>
              <a:rPr lang="en-US" altLang="ko-KR" sz="1600" dirty="0"/>
              <a:t>(</a:t>
            </a:r>
            <a:r>
              <a:rPr lang="ko-KR" altLang="en-US" sz="1600" dirty="0" err="1"/>
              <a:t>특</a:t>
            </a:r>
            <a:r>
              <a:rPr lang="en-US" altLang="ko-KR" sz="1600" dirty="0"/>
              <a:t>)】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E62408A-5851-475D-B6CF-A565D8071C0A}"/>
              </a:ext>
            </a:extLst>
          </p:cNvPr>
          <p:cNvSpPr/>
          <p:nvPr/>
        </p:nvSpPr>
        <p:spPr>
          <a:xfrm>
            <a:off x="950375" y="5268464"/>
            <a:ext cx="402176" cy="33625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을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947EEA-614E-468A-80D5-7C65BC0B0420}"/>
              </a:ext>
            </a:extLst>
          </p:cNvPr>
          <p:cNvCxnSpPr>
            <a:cxnSpLocks/>
          </p:cNvCxnSpPr>
          <p:nvPr/>
        </p:nvCxnSpPr>
        <p:spPr>
          <a:xfrm flipV="1">
            <a:off x="357537" y="5926547"/>
            <a:ext cx="11327342" cy="21559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08A09CD-686E-442C-8C32-399879BD01F4}"/>
              </a:ext>
            </a:extLst>
          </p:cNvPr>
          <p:cNvSpPr/>
          <p:nvPr/>
        </p:nvSpPr>
        <p:spPr>
          <a:xfrm>
            <a:off x="5744934" y="6039728"/>
            <a:ext cx="1111100" cy="2022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98C3D62-B586-49EB-8DC3-2ECE6E6B3CFB}"/>
              </a:ext>
            </a:extLst>
          </p:cNvPr>
          <p:cNvSpPr/>
          <p:nvPr/>
        </p:nvSpPr>
        <p:spPr>
          <a:xfrm>
            <a:off x="595912" y="5847228"/>
            <a:ext cx="1111100" cy="202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 </a:t>
            </a:r>
            <a:r>
              <a:rPr lang="ko-KR" altLang="en-US" sz="1000" dirty="0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CBC1802-2DC3-4F1F-A40D-3BA708E88170}"/>
              </a:ext>
            </a:extLst>
          </p:cNvPr>
          <p:cNvSpPr/>
          <p:nvPr/>
        </p:nvSpPr>
        <p:spPr>
          <a:xfrm>
            <a:off x="5744933" y="5847228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 A, B PCT </a:t>
            </a:r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76FE1044-DF53-4D05-BA58-67F8875F0B37}"/>
              </a:ext>
            </a:extLst>
          </p:cNvPr>
          <p:cNvCxnSpPr>
            <a:cxnSpLocks/>
            <a:stCxn id="9" idx="2"/>
            <a:endCxn id="17" idx="0"/>
          </p:cNvCxnSpPr>
          <p:nvPr/>
        </p:nvCxnSpPr>
        <p:spPr>
          <a:xfrm flipH="1">
            <a:off x="1151462" y="5604719"/>
            <a:ext cx="1" cy="24250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9AD30E88-52FE-4986-BD08-56DE89580FF0}"/>
              </a:ext>
            </a:extLst>
          </p:cNvPr>
          <p:cNvCxnSpPr/>
          <p:nvPr/>
        </p:nvCxnSpPr>
        <p:spPr>
          <a:xfrm>
            <a:off x="0" y="5031989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E3B296A-2CAC-450C-905B-E08721ED8526}"/>
              </a:ext>
            </a:extLst>
          </p:cNvPr>
          <p:cNvSpPr/>
          <p:nvPr/>
        </p:nvSpPr>
        <p:spPr>
          <a:xfrm>
            <a:off x="1616727" y="5268464"/>
            <a:ext cx="4002404" cy="33625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갑이 을로부터 특허를 받을 수 있는 권리 양수 </a:t>
            </a:r>
            <a:r>
              <a:rPr lang="en-US" altLang="ko-KR" sz="1100" dirty="0">
                <a:solidFill>
                  <a:schemeClr val="tx1"/>
                </a:solidFill>
              </a:rPr>
              <a:t>&amp; </a:t>
            </a:r>
            <a:r>
              <a:rPr lang="ko-KR" altLang="en-US" sz="1100" dirty="0" err="1">
                <a:solidFill>
                  <a:schemeClr val="tx1"/>
                </a:solidFill>
              </a:rPr>
              <a:t>출원인변경신고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5121F32D-4E01-4ECF-AC81-57F16A6E68BC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3617929" y="5604719"/>
            <a:ext cx="0" cy="24250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F86E9EA-7843-431C-B4AD-C965CE38DEAB}"/>
              </a:ext>
            </a:extLst>
          </p:cNvPr>
          <p:cNvSpPr/>
          <p:nvPr/>
        </p:nvSpPr>
        <p:spPr>
          <a:xfrm>
            <a:off x="1880697" y="6368069"/>
            <a:ext cx="3787611" cy="3729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병이 </a:t>
            </a:r>
            <a:r>
              <a:rPr lang="ko-KR" altLang="en-US" sz="1100" dirty="0" err="1">
                <a:solidFill>
                  <a:schemeClr val="tx1"/>
                </a:solidFill>
              </a:rPr>
              <a:t>갑로부터</a:t>
            </a:r>
            <a:r>
              <a:rPr lang="ko-KR" altLang="en-US" sz="1100" dirty="0">
                <a:solidFill>
                  <a:schemeClr val="tx1"/>
                </a:solidFill>
              </a:rPr>
              <a:t> 특허를 받을 수 있는 권리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r>
              <a:rPr lang="ko-KR" altLang="en-US" sz="1100" dirty="0">
                <a:solidFill>
                  <a:schemeClr val="tx1"/>
                </a:solidFill>
              </a:rPr>
              <a:t> 및 </a:t>
            </a:r>
            <a:r>
              <a:rPr lang="ko-KR" altLang="en-US" sz="1100" dirty="0" err="1">
                <a:solidFill>
                  <a:schemeClr val="tx1"/>
                </a:solidFill>
              </a:rPr>
              <a:t>우선권주장하여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en-US" altLang="ko-KR" sz="1100" dirty="0">
                <a:solidFill>
                  <a:schemeClr val="tx1"/>
                </a:solidFill>
              </a:rPr>
              <a:t>PCT </a:t>
            </a:r>
            <a:r>
              <a:rPr lang="ko-KR" altLang="en-US" sz="1100" dirty="0" err="1">
                <a:solidFill>
                  <a:schemeClr val="tx1"/>
                </a:solidFill>
              </a:rPr>
              <a:t>국제출원할</a:t>
            </a:r>
            <a:r>
              <a:rPr lang="ko-KR" altLang="en-US" sz="1100" dirty="0">
                <a:solidFill>
                  <a:schemeClr val="tx1"/>
                </a:solidFill>
              </a:rPr>
              <a:t> 수 있는 권리 </a:t>
            </a:r>
            <a:r>
              <a:rPr lang="ko-KR" altLang="en-US" sz="1100" dirty="0" err="1">
                <a:solidFill>
                  <a:schemeClr val="tx1"/>
                </a:solidFill>
              </a:rPr>
              <a:t>이전받기로</a:t>
            </a:r>
            <a:r>
              <a:rPr lang="ko-KR" altLang="en-US" sz="1100" dirty="0">
                <a:solidFill>
                  <a:schemeClr val="tx1"/>
                </a:solidFill>
              </a:rPr>
              <a:t> 계약 체결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44CF13BD-5950-4EEC-A3A6-39FC20BDDC68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3774503" y="5948106"/>
            <a:ext cx="0" cy="41996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8BA66FE-811C-450C-952C-7A1C1E1FCE7B}"/>
              </a:ext>
            </a:extLst>
          </p:cNvPr>
          <p:cNvSpPr/>
          <p:nvPr/>
        </p:nvSpPr>
        <p:spPr>
          <a:xfrm>
            <a:off x="6118498" y="5268464"/>
            <a:ext cx="402176" cy="33625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병</a:t>
            </a: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90C66264-E401-4832-BD30-236F4A81E69F}"/>
              </a:ext>
            </a:extLst>
          </p:cNvPr>
          <p:cNvCxnSpPr>
            <a:cxnSpLocks/>
            <a:stCxn id="45" idx="2"/>
          </p:cNvCxnSpPr>
          <p:nvPr/>
        </p:nvCxnSpPr>
        <p:spPr>
          <a:xfrm flipH="1">
            <a:off x="6319585" y="5604719"/>
            <a:ext cx="1" cy="24250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71693E6-B997-4E2B-9AD1-6F8A1A4880A3}"/>
              </a:ext>
            </a:extLst>
          </p:cNvPr>
          <p:cNvSpPr/>
          <p:nvPr/>
        </p:nvSpPr>
        <p:spPr>
          <a:xfrm>
            <a:off x="7144766" y="5847228"/>
            <a:ext cx="1406714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한국 국내단계 진입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806E609-D735-48C3-939E-E971A81ED577}"/>
              </a:ext>
            </a:extLst>
          </p:cNvPr>
          <p:cNvSpPr/>
          <p:nvPr/>
        </p:nvSpPr>
        <p:spPr>
          <a:xfrm>
            <a:off x="8687816" y="5847228"/>
            <a:ext cx="873314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설정등록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036CEA4-AD12-427C-9354-8EE6A0220933}"/>
              </a:ext>
            </a:extLst>
          </p:cNvPr>
          <p:cNvSpPr/>
          <p:nvPr/>
        </p:nvSpPr>
        <p:spPr>
          <a:xfrm>
            <a:off x="9783190" y="5847229"/>
            <a:ext cx="1187639" cy="202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무효심판청구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E35B4A3-DD4F-4092-A88B-A5142C2A8EB7}"/>
              </a:ext>
            </a:extLst>
          </p:cNvPr>
          <p:cNvSpPr/>
          <p:nvPr/>
        </p:nvSpPr>
        <p:spPr>
          <a:xfrm>
            <a:off x="10216883" y="5268464"/>
            <a:ext cx="402176" cy="33625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무</a:t>
            </a: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617A6FF1-94F0-41A6-B3C5-133D5D95BAEA}"/>
              </a:ext>
            </a:extLst>
          </p:cNvPr>
          <p:cNvCxnSpPr>
            <a:cxnSpLocks/>
            <a:stCxn id="51" idx="2"/>
          </p:cNvCxnSpPr>
          <p:nvPr/>
        </p:nvCxnSpPr>
        <p:spPr>
          <a:xfrm flipH="1">
            <a:off x="10417970" y="5604719"/>
            <a:ext cx="1" cy="24250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7380BC8-FD37-46ED-9F17-8D09970BC2D1}"/>
              </a:ext>
            </a:extLst>
          </p:cNvPr>
          <p:cNvSpPr/>
          <p:nvPr/>
        </p:nvSpPr>
        <p:spPr>
          <a:xfrm>
            <a:off x="4194180" y="5857738"/>
            <a:ext cx="1111100" cy="20222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FFFF00"/>
                </a:solidFill>
              </a:rPr>
              <a:t> A </a:t>
            </a:r>
            <a:r>
              <a:rPr lang="ko-KR" altLang="en-US" sz="1000" dirty="0">
                <a:solidFill>
                  <a:srgbClr val="FFFF00"/>
                </a:solidFill>
              </a:rPr>
              <a:t>공지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C1F5EEC-F3DB-4048-8233-D3993C46EA78}"/>
              </a:ext>
            </a:extLst>
          </p:cNvPr>
          <p:cNvSpPr/>
          <p:nvPr/>
        </p:nvSpPr>
        <p:spPr>
          <a:xfrm>
            <a:off x="6757496" y="6378579"/>
            <a:ext cx="3932833" cy="25930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정이 병로부터 특허를 받을 수 있는 권리 양수 </a:t>
            </a:r>
            <a:r>
              <a:rPr lang="en-US" altLang="ko-KR" sz="1100" dirty="0">
                <a:solidFill>
                  <a:schemeClr val="tx1"/>
                </a:solidFill>
              </a:rPr>
              <a:t>&amp; </a:t>
            </a:r>
            <a:r>
              <a:rPr lang="ko-KR" altLang="en-US" sz="1100" dirty="0" err="1">
                <a:solidFill>
                  <a:schemeClr val="tx1"/>
                </a:solidFill>
              </a:rPr>
              <a:t>출원인변경신고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67E997A8-F4C2-4300-8DB5-FE8C597D44D8}"/>
              </a:ext>
            </a:extLst>
          </p:cNvPr>
          <p:cNvCxnSpPr>
            <a:cxnSpLocks/>
          </p:cNvCxnSpPr>
          <p:nvPr/>
        </p:nvCxnSpPr>
        <p:spPr>
          <a:xfrm flipH="1" flipV="1">
            <a:off x="6999231" y="5944326"/>
            <a:ext cx="9201" cy="41723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394923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양쪽 모서리가 둥근 사각형 177">
            <a:extLst>
              <a:ext uri="{FF2B5EF4-FFF2-40B4-BE49-F238E27FC236}">
                <a16:creationId xmlns:a16="http://schemas.microsoft.com/office/drawing/2014/main" id="{071B5B67-90E7-FC76-CAB2-13BC7E680D45}"/>
              </a:ext>
            </a:extLst>
          </p:cNvPr>
          <p:cNvSpPr/>
          <p:nvPr/>
        </p:nvSpPr>
        <p:spPr>
          <a:xfrm rot="10800000">
            <a:off x="983522" y="2358514"/>
            <a:ext cx="5380625" cy="647018"/>
          </a:xfrm>
          <a:prstGeom prst="round2SameRect">
            <a:avLst>
              <a:gd name="adj1" fmla="val 50000"/>
              <a:gd name="adj2" fmla="val 0"/>
            </a:avLst>
          </a:prstGeom>
          <a:pattFill prst="dotGrid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55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sz="2300" dirty="0"/>
              <a:t>공지예외적용주장을 수반하는 </a:t>
            </a:r>
            <a:r>
              <a:rPr lang="ko-KR" altLang="en-US" sz="2300" dirty="0" err="1"/>
              <a:t>국내우선권주장출원</a:t>
            </a:r>
            <a:r>
              <a:rPr lang="en-US" altLang="ko-KR" sz="2300" dirty="0"/>
              <a:t>(</a:t>
            </a:r>
            <a:r>
              <a:rPr lang="ko-KR" altLang="en-US" sz="2300" dirty="0"/>
              <a:t>제</a:t>
            </a:r>
            <a:r>
              <a:rPr lang="en-US" altLang="ko-KR" sz="2300" dirty="0"/>
              <a:t>55</a:t>
            </a:r>
            <a:r>
              <a:rPr lang="ko-KR" altLang="en-US" sz="2300" dirty="0"/>
              <a:t>조제</a:t>
            </a:r>
            <a:r>
              <a:rPr lang="en-US" altLang="ko-KR" sz="2300" dirty="0"/>
              <a:t>3</a:t>
            </a:r>
            <a:r>
              <a:rPr lang="ko-KR" altLang="en-US" sz="2300" dirty="0"/>
              <a:t>항</a:t>
            </a:r>
            <a:r>
              <a:rPr lang="en-US" altLang="ko-KR" sz="2300" dirty="0"/>
              <a:t>)</a:t>
            </a:r>
            <a:endParaRPr lang="ko-KR" altLang="en-US" sz="2300" dirty="0"/>
          </a:p>
        </p:txBody>
      </p:sp>
      <p:sp>
        <p:nvSpPr>
          <p:cNvPr id="133" name="직사각형 132"/>
          <p:cNvSpPr/>
          <p:nvPr/>
        </p:nvSpPr>
        <p:spPr>
          <a:xfrm>
            <a:off x="8377402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심</a:t>
            </a:r>
          </a:p>
        </p:txBody>
      </p:sp>
      <p:sp>
        <p:nvSpPr>
          <p:cNvPr id="134" name="직사각형 133"/>
          <p:cNvSpPr/>
          <p:nvPr/>
        </p:nvSpPr>
        <p:spPr>
          <a:xfrm>
            <a:off x="9004155" y="6181761"/>
            <a:ext cx="514350" cy="51435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</a:t>
            </a:r>
          </a:p>
        </p:txBody>
      </p:sp>
      <p:sp>
        <p:nvSpPr>
          <p:cNvPr id="135" name="직사각형 134"/>
          <p:cNvSpPr/>
          <p:nvPr/>
        </p:nvSpPr>
        <p:spPr>
          <a:xfrm>
            <a:off x="9630908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존</a:t>
            </a:r>
          </a:p>
        </p:txBody>
      </p:sp>
      <p:sp>
        <p:nvSpPr>
          <p:cNvPr id="136" name="직사각형 135"/>
          <p:cNvSpPr/>
          <p:nvPr/>
        </p:nvSpPr>
        <p:spPr>
          <a:xfrm>
            <a:off x="10246712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재</a:t>
            </a:r>
          </a:p>
        </p:txBody>
      </p:sp>
      <p:sp>
        <p:nvSpPr>
          <p:cNvPr id="137" name="직사각형 136"/>
          <p:cNvSpPr/>
          <p:nvPr/>
        </p:nvSpPr>
        <p:spPr>
          <a:xfrm>
            <a:off x="10837262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등</a:t>
            </a:r>
          </a:p>
        </p:txBody>
      </p:sp>
      <p:sp>
        <p:nvSpPr>
          <p:cNvPr id="175" name="양쪽 모서리가 둥근 사각형 174"/>
          <p:cNvSpPr/>
          <p:nvPr/>
        </p:nvSpPr>
        <p:spPr>
          <a:xfrm rot="10800000">
            <a:off x="3034426" y="2379417"/>
            <a:ext cx="3329722" cy="309775"/>
          </a:xfrm>
          <a:prstGeom prst="round2SameRect">
            <a:avLst>
              <a:gd name="adj1" fmla="val 50000"/>
              <a:gd name="adj2" fmla="val 0"/>
            </a:avLst>
          </a:prstGeom>
          <a:pattFill prst="dkHorz">
            <a:fgClr>
              <a:schemeClr val="accent4"/>
            </a:fgClr>
            <a:bgClr>
              <a:schemeClr val="bg1"/>
            </a:bgClr>
          </a:patt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91" name="양쪽 모서리가 둥근 사각형 190"/>
          <p:cNvSpPr/>
          <p:nvPr/>
        </p:nvSpPr>
        <p:spPr>
          <a:xfrm>
            <a:off x="2959100" y="1311994"/>
            <a:ext cx="6973730" cy="1063167"/>
          </a:xfrm>
          <a:prstGeom prst="round2SameRect">
            <a:avLst>
              <a:gd name="adj1" fmla="val 50000"/>
              <a:gd name="adj2" fmla="val 0"/>
            </a:avLst>
          </a:prstGeom>
          <a:pattFill prst="dkVert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92" name="TextBox 191"/>
          <p:cNvSpPr txBox="1"/>
          <p:nvPr/>
        </p:nvSpPr>
        <p:spPr>
          <a:xfrm>
            <a:off x="6033752" y="1019180"/>
            <a:ext cx="7601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</a:t>
            </a:r>
            <a:r>
              <a:rPr lang="ko-KR" altLang="en-US" sz="1100" dirty="0"/>
              <a:t>년 </a:t>
            </a:r>
            <a:r>
              <a:rPr lang="en-US" altLang="ko-KR" sz="1100" dirty="0"/>
              <a:t>3</a:t>
            </a:r>
            <a:r>
              <a:rPr lang="ko-KR" altLang="en-US" sz="1100" dirty="0"/>
              <a:t>개월</a:t>
            </a:r>
          </a:p>
        </p:txBody>
      </p:sp>
      <p:sp>
        <p:nvSpPr>
          <p:cNvPr id="193" name="양쪽 모서리가 둥근 사각형 192"/>
          <p:cNvSpPr/>
          <p:nvPr/>
        </p:nvSpPr>
        <p:spPr>
          <a:xfrm rot="10800000">
            <a:off x="6421313" y="2379418"/>
            <a:ext cx="1809881" cy="304032"/>
          </a:xfrm>
          <a:prstGeom prst="round2SameRect">
            <a:avLst>
              <a:gd name="adj1" fmla="val 50000"/>
              <a:gd name="adj2" fmla="val 0"/>
            </a:avLst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94" name="양쪽 모서리가 둥근 사각형 193"/>
          <p:cNvSpPr/>
          <p:nvPr/>
        </p:nvSpPr>
        <p:spPr>
          <a:xfrm rot="10800000">
            <a:off x="1024295" y="2379418"/>
            <a:ext cx="1849079" cy="304032"/>
          </a:xfrm>
          <a:prstGeom prst="round2SameRect">
            <a:avLst>
              <a:gd name="adj1" fmla="val 50000"/>
              <a:gd name="adj2" fmla="val 0"/>
            </a:avLst>
          </a:prstGeom>
          <a:pattFill prst="dotGrid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cxnSp>
        <p:nvCxnSpPr>
          <p:cNvPr id="195" name="직선 화살표 연결선 194"/>
          <p:cNvCxnSpPr>
            <a:cxnSpLocks/>
          </p:cNvCxnSpPr>
          <p:nvPr/>
        </p:nvCxnSpPr>
        <p:spPr>
          <a:xfrm>
            <a:off x="189266" y="2370903"/>
            <a:ext cx="11752896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Rectangle 14"/>
          <p:cNvSpPr>
            <a:spLocks noChangeArrowheads="1"/>
          </p:cNvSpPr>
          <p:nvPr/>
        </p:nvSpPr>
        <p:spPr bwMode="auto">
          <a:xfrm>
            <a:off x="410277" y="2227830"/>
            <a:ext cx="1228042" cy="2685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 dirty="0">
                <a:latin typeface="+mn-ea"/>
              </a:rPr>
              <a:t>논문발표</a:t>
            </a:r>
          </a:p>
        </p:txBody>
      </p:sp>
      <p:sp>
        <p:nvSpPr>
          <p:cNvPr id="197" name="Rectangle 14"/>
          <p:cNvSpPr>
            <a:spLocks noChangeArrowheads="1"/>
          </p:cNvSpPr>
          <p:nvPr/>
        </p:nvSpPr>
        <p:spPr bwMode="auto">
          <a:xfrm>
            <a:off x="2259170" y="2234956"/>
            <a:ext cx="1418541" cy="2685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 err="1">
                <a:latin typeface="+mn-ea"/>
              </a:rPr>
              <a:t>한국</a:t>
            </a:r>
            <a:r>
              <a:rPr lang="ko-KR" altLang="en-US" sz="1200" b="0" dirty="0" err="1">
                <a:latin typeface="+mn-ea"/>
              </a:rPr>
              <a:t>출원</a:t>
            </a:r>
            <a:r>
              <a:rPr lang="en-US" altLang="ko-KR" sz="1200" b="0" dirty="0">
                <a:latin typeface="+mn-ea"/>
              </a:rPr>
              <a:t>(X)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198" name="Rectangle 14"/>
          <p:cNvSpPr>
            <a:spLocks noChangeArrowheads="1"/>
          </p:cNvSpPr>
          <p:nvPr/>
        </p:nvSpPr>
        <p:spPr bwMode="auto">
          <a:xfrm>
            <a:off x="5614012" y="2234955"/>
            <a:ext cx="1701896" cy="2922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 err="1">
                <a:latin typeface="+mn-ea"/>
              </a:rPr>
              <a:t>한국</a:t>
            </a:r>
            <a:r>
              <a:rPr lang="ko-KR" altLang="en-US" sz="1200" b="0" dirty="0" err="1">
                <a:latin typeface="+mn-ea"/>
              </a:rPr>
              <a:t>출원</a:t>
            </a:r>
            <a:r>
              <a:rPr lang="en-US" altLang="ko-KR" sz="1200" b="0" dirty="0">
                <a:latin typeface="+mn-ea"/>
              </a:rPr>
              <a:t>(Y)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199" name="Rectangle 14"/>
          <p:cNvSpPr>
            <a:spLocks noChangeArrowheads="1"/>
          </p:cNvSpPr>
          <p:nvPr/>
        </p:nvSpPr>
        <p:spPr bwMode="auto">
          <a:xfrm>
            <a:off x="5614012" y="1429761"/>
            <a:ext cx="1701896" cy="292229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200" b="0" dirty="0">
                <a:latin typeface="+mn-ea"/>
              </a:rPr>
              <a:t>X</a:t>
            </a:r>
            <a:r>
              <a:rPr lang="ko-KR" altLang="en-US" sz="1200" b="0" dirty="0">
                <a:latin typeface="+mn-ea"/>
              </a:rPr>
              <a:t>기초 </a:t>
            </a:r>
            <a:r>
              <a:rPr lang="ko-KR" altLang="en-US" sz="1200" b="0" dirty="0" err="1">
                <a:latin typeface="+mn-ea"/>
              </a:rPr>
              <a:t>우선권주장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200" name="Rectangle 14"/>
          <p:cNvSpPr>
            <a:spLocks noChangeArrowheads="1"/>
          </p:cNvSpPr>
          <p:nvPr/>
        </p:nvSpPr>
        <p:spPr bwMode="auto">
          <a:xfrm>
            <a:off x="9292759" y="2236232"/>
            <a:ext cx="1228042" cy="2685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 err="1">
                <a:latin typeface="+mn-ea"/>
              </a:rPr>
              <a:t>취하간주</a:t>
            </a:r>
            <a:r>
              <a:rPr lang="en-US" altLang="ko-KR" sz="1200" dirty="0">
                <a:latin typeface="+mn-ea"/>
              </a:rPr>
              <a:t>(X)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201" name="TextBox 200"/>
          <p:cNvSpPr txBox="1"/>
          <p:nvPr/>
        </p:nvSpPr>
        <p:spPr>
          <a:xfrm>
            <a:off x="1499541" y="2691013"/>
            <a:ext cx="8867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12</a:t>
            </a:r>
            <a:r>
              <a:rPr lang="ko-KR" altLang="en-US" sz="1100" dirty="0">
                <a:solidFill>
                  <a:srgbClr val="FF0000"/>
                </a:solidFill>
              </a:rPr>
              <a:t>개월 이내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6858161" y="2689193"/>
            <a:ext cx="7601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30</a:t>
            </a:r>
            <a:r>
              <a:rPr lang="ko-KR" altLang="en-US" sz="1100" dirty="0"/>
              <a:t>일 이내</a:t>
            </a:r>
          </a:p>
        </p:txBody>
      </p:sp>
      <p:sp>
        <p:nvSpPr>
          <p:cNvPr id="203" name="Rectangle 14"/>
          <p:cNvSpPr>
            <a:spLocks noChangeArrowheads="1"/>
          </p:cNvSpPr>
          <p:nvPr/>
        </p:nvSpPr>
        <p:spPr bwMode="auto">
          <a:xfrm>
            <a:off x="5614012" y="1969718"/>
            <a:ext cx="1701896" cy="2922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 err="1">
                <a:latin typeface="+mn-ea"/>
              </a:rPr>
              <a:t>공지예외적용주장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박람회</a:t>
            </a:r>
            <a:r>
              <a:rPr lang="en-US" altLang="ko-KR" sz="1200" dirty="0">
                <a:latin typeface="+mn-ea"/>
              </a:rPr>
              <a:t>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204" name="Rectangle 14"/>
          <p:cNvSpPr>
            <a:spLocks noChangeArrowheads="1"/>
          </p:cNvSpPr>
          <p:nvPr/>
        </p:nvSpPr>
        <p:spPr bwMode="auto">
          <a:xfrm>
            <a:off x="7595063" y="2233362"/>
            <a:ext cx="1418541" cy="2685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n-ea"/>
              </a:rPr>
              <a:t>증명서류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박람회</a:t>
            </a:r>
            <a:r>
              <a:rPr lang="en-US" altLang="ko-KR" sz="1200" dirty="0">
                <a:latin typeface="+mn-ea"/>
              </a:rPr>
              <a:t>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3677711" y="2691013"/>
            <a:ext cx="8867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12</a:t>
            </a:r>
            <a:r>
              <a:rPr lang="ko-KR" altLang="en-US" sz="1100" dirty="0"/>
              <a:t>개월 이내</a:t>
            </a:r>
          </a:p>
        </p:txBody>
      </p:sp>
      <p:sp>
        <p:nvSpPr>
          <p:cNvPr id="208" name="직사각형 207"/>
          <p:cNvSpPr/>
          <p:nvPr/>
        </p:nvSpPr>
        <p:spPr>
          <a:xfrm>
            <a:off x="1229233" y="2521770"/>
            <a:ext cx="409086" cy="4812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rgbClr val="FF0000"/>
                </a:solidFill>
                <a:ea typeface="함초롬바탕" panose="02030504000101010101" pitchFamily="18" charset="-127"/>
              </a:rPr>
              <a:t>❶</a:t>
            </a:r>
            <a:endParaRPr lang="ko-KR" altLang="en-US" kern="0" dirty="0">
              <a:solidFill>
                <a:srgbClr val="FF0000"/>
              </a:solidFill>
            </a:endParaRPr>
          </a:p>
        </p:txBody>
      </p:sp>
      <p:sp>
        <p:nvSpPr>
          <p:cNvPr id="210" name="직사각형 209"/>
          <p:cNvSpPr/>
          <p:nvPr/>
        </p:nvSpPr>
        <p:spPr>
          <a:xfrm>
            <a:off x="5329711" y="1837396"/>
            <a:ext cx="490801" cy="4812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rgbClr val="FF0000"/>
                </a:solidFill>
                <a:ea typeface="함초롬바탕" panose="02030504000101010101" pitchFamily="18" charset="-127"/>
              </a:rPr>
              <a:t>❷</a:t>
            </a:r>
            <a:endParaRPr lang="ko-KR" altLang="en-US" kern="0" dirty="0">
              <a:solidFill>
                <a:srgbClr val="FF0000"/>
              </a:solidFill>
            </a:endParaRPr>
          </a:p>
        </p:txBody>
      </p:sp>
      <p:sp>
        <p:nvSpPr>
          <p:cNvPr id="211" name="직사각형 210"/>
          <p:cNvSpPr/>
          <p:nvPr/>
        </p:nvSpPr>
        <p:spPr>
          <a:xfrm>
            <a:off x="6589353" y="2549555"/>
            <a:ext cx="409086" cy="4812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rgbClr val="FF0000"/>
                </a:solidFill>
                <a:ea typeface="함초롬바탕" panose="02030504000101010101" pitchFamily="18" charset="-127"/>
              </a:rPr>
              <a:t>❸</a:t>
            </a:r>
            <a:endParaRPr lang="ko-KR" altLang="en-US" kern="0" dirty="0">
              <a:solidFill>
                <a:srgbClr val="FF0000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229</a:t>
            </a:fld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74B56B1-68E6-4309-9D30-EE22FE279A10}"/>
              </a:ext>
            </a:extLst>
          </p:cNvPr>
          <p:cNvCxnSpPr>
            <a:cxnSpLocks/>
          </p:cNvCxnSpPr>
          <p:nvPr/>
        </p:nvCxnSpPr>
        <p:spPr>
          <a:xfrm>
            <a:off x="988435" y="2531434"/>
            <a:ext cx="18046" cy="153300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F880896C-09B6-4674-8745-D603F093CAF8}"/>
              </a:ext>
            </a:extLst>
          </p:cNvPr>
          <p:cNvSpPr/>
          <p:nvPr/>
        </p:nvSpPr>
        <p:spPr>
          <a:xfrm>
            <a:off x="577605" y="4149452"/>
            <a:ext cx="914400" cy="2685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A</a:t>
            </a:r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548A47AA-FEF6-4830-955B-230A86091D91}"/>
              </a:ext>
            </a:extLst>
          </p:cNvPr>
          <p:cNvCxnSpPr>
            <a:cxnSpLocks/>
            <a:stCxn id="197" idx="2"/>
            <a:endCxn id="52" idx="0"/>
          </p:cNvCxnSpPr>
          <p:nvPr/>
        </p:nvCxnSpPr>
        <p:spPr>
          <a:xfrm>
            <a:off x="2968441" y="2503522"/>
            <a:ext cx="3256" cy="159335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C080B32-37F2-4FA7-B953-925960055DFC}"/>
              </a:ext>
            </a:extLst>
          </p:cNvPr>
          <p:cNvSpPr/>
          <p:nvPr/>
        </p:nvSpPr>
        <p:spPr>
          <a:xfrm>
            <a:off x="2514497" y="4096881"/>
            <a:ext cx="914400" cy="2685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A</a:t>
            </a:r>
          </a:p>
          <a:p>
            <a:pPr algn="ctr"/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B</a:t>
            </a:r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AC83DD88-87CA-4FBD-8C6C-A85BB363AB7B}"/>
              </a:ext>
            </a:extLst>
          </p:cNvPr>
          <p:cNvCxnSpPr/>
          <p:nvPr/>
        </p:nvCxnSpPr>
        <p:spPr>
          <a:xfrm flipH="1">
            <a:off x="4780786" y="2359978"/>
            <a:ext cx="1" cy="168650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5191D3B5-E852-4AC6-BECC-9045D0CBEA10}"/>
              </a:ext>
            </a:extLst>
          </p:cNvPr>
          <p:cNvSpPr/>
          <p:nvPr/>
        </p:nvSpPr>
        <p:spPr>
          <a:xfrm>
            <a:off x="5930008" y="4096881"/>
            <a:ext cx="914400" cy="2685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A</a:t>
            </a:r>
          </a:p>
          <a:p>
            <a:pPr algn="ctr"/>
            <a:r>
              <a:rPr lang="en-US" altLang="ko-KR" dirty="0">
                <a:solidFill>
                  <a:srgbClr val="FF0000"/>
                </a:solidFill>
              </a:rPr>
              <a:t>B</a:t>
            </a:r>
          </a:p>
          <a:p>
            <a:pPr algn="ctr"/>
            <a:endParaRPr lang="en-US" altLang="ko-KR" dirty="0">
              <a:solidFill>
                <a:srgbClr val="FF0000"/>
              </a:solidFill>
            </a:endParaRPr>
          </a:p>
          <a:p>
            <a:pPr algn="ctr"/>
            <a:r>
              <a:rPr lang="en-US" altLang="ko-KR" dirty="0">
                <a:solidFill>
                  <a:schemeClr val="accent1">
                    <a:lumMod val="50000"/>
                  </a:schemeClr>
                </a:solidFill>
              </a:rPr>
              <a:t>C</a:t>
            </a:r>
            <a:endParaRPr lang="ko-KR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말풍선: 모서리가 둥근 사각형 7">
            <a:extLst>
              <a:ext uri="{FF2B5EF4-FFF2-40B4-BE49-F238E27FC236}">
                <a16:creationId xmlns:a16="http://schemas.microsoft.com/office/drawing/2014/main" id="{5AB4770E-14CA-4CF1-8CEA-7F1D0BC37239}"/>
              </a:ext>
            </a:extLst>
          </p:cNvPr>
          <p:cNvSpPr/>
          <p:nvPr/>
        </p:nvSpPr>
        <p:spPr>
          <a:xfrm>
            <a:off x="624224" y="5629100"/>
            <a:ext cx="4270618" cy="1053694"/>
          </a:xfrm>
          <a:prstGeom prst="wedgeRoundRectCallout">
            <a:avLst>
              <a:gd name="adj1" fmla="val -1912"/>
              <a:gd name="adj2" fmla="val -72540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en-US" altLang="ko-KR" sz="1400" dirty="0">
                <a:solidFill>
                  <a:schemeClr val="tx1"/>
                </a:solidFill>
              </a:rPr>
              <a:t>A, B</a:t>
            </a:r>
            <a:r>
              <a:rPr lang="ko-KR" altLang="en-US" sz="1400" dirty="0">
                <a:solidFill>
                  <a:schemeClr val="tx1"/>
                </a:solidFill>
              </a:rPr>
              <a:t>는 </a:t>
            </a:r>
            <a:r>
              <a:rPr lang="ko-KR" altLang="en-US" sz="1400" dirty="0" err="1">
                <a:solidFill>
                  <a:schemeClr val="tx1"/>
                </a:solidFill>
              </a:rPr>
              <a:t>한국출원일</a:t>
            </a:r>
            <a:r>
              <a:rPr lang="en-US" altLang="ko-KR" sz="1400" dirty="0">
                <a:solidFill>
                  <a:schemeClr val="tx1"/>
                </a:solidFill>
              </a:rPr>
              <a:t>(X)</a:t>
            </a:r>
            <a:r>
              <a:rPr lang="ko-KR" altLang="en-US" sz="1400" dirty="0">
                <a:solidFill>
                  <a:schemeClr val="tx1"/>
                </a:solidFill>
              </a:rPr>
              <a:t>을 기준으로 특허요건을 판단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altLang="ko-KR" sz="1400" dirty="0">
                <a:solidFill>
                  <a:schemeClr val="tx1"/>
                </a:solidFill>
              </a:rPr>
              <a:t>A, B</a:t>
            </a:r>
            <a:r>
              <a:rPr lang="ko-KR" altLang="en-US" sz="1400" dirty="0">
                <a:solidFill>
                  <a:schemeClr val="tx1"/>
                </a:solidFill>
              </a:rPr>
              <a:t>는 논문발표일로부터 </a:t>
            </a:r>
            <a:r>
              <a:rPr lang="en-US" altLang="ko-KR" sz="1400" dirty="0">
                <a:solidFill>
                  <a:schemeClr val="tx1"/>
                </a:solidFill>
              </a:rPr>
              <a:t>12</a:t>
            </a:r>
            <a:r>
              <a:rPr lang="ko-KR" altLang="en-US" sz="1400" dirty="0">
                <a:solidFill>
                  <a:schemeClr val="tx1"/>
                </a:solidFill>
              </a:rPr>
              <a:t>개월 이내 출원하였기 때문에 논문발표 </a:t>
            </a:r>
            <a:r>
              <a:rPr lang="en-US" altLang="ko-KR" sz="1400" dirty="0">
                <a:solidFill>
                  <a:schemeClr val="tx1"/>
                </a:solidFill>
              </a:rPr>
              <a:t>A</a:t>
            </a:r>
            <a:r>
              <a:rPr lang="ko-KR" altLang="en-US" sz="1400" dirty="0">
                <a:solidFill>
                  <a:schemeClr val="tx1"/>
                </a:solidFill>
              </a:rPr>
              <a:t>를 공지 등이 되지 아니한 것으로 보고 심사를 진행</a:t>
            </a:r>
          </a:p>
        </p:txBody>
      </p:sp>
      <p:sp>
        <p:nvSpPr>
          <p:cNvPr id="56" name="말풍선: 모서리가 둥근 사각형 55">
            <a:extLst>
              <a:ext uri="{FF2B5EF4-FFF2-40B4-BE49-F238E27FC236}">
                <a16:creationId xmlns:a16="http://schemas.microsoft.com/office/drawing/2014/main" id="{9EEED185-ABE5-4F5E-8688-05E1491D0BDB}"/>
              </a:ext>
            </a:extLst>
          </p:cNvPr>
          <p:cNvSpPr/>
          <p:nvPr/>
        </p:nvSpPr>
        <p:spPr>
          <a:xfrm>
            <a:off x="7343774" y="4151132"/>
            <a:ext cx="4270621" cy="1890216"/>
          </a:xfrm>
          <a:prstGeom prst="wedgeRoundRectCallout">
            <a:avLst>
              <a:gd name="adj1" fmla="val -65957"/>
              <a:gd name="adj2" fmla="val 45860"/>
              <a:gd name="adj3" fmla="val 16667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en-US" altLang="ko-KR" sz="1400" dirty="0">
                <a:solidFill>
                  <a:schemeClr val="tx1"/>
                </a:solidFill>
              </a:rPr>
              <a:t>C</a:t>
            </a:r>
            <a:r>
              <a:rPr lang="ko-KR" altLang="en-US" sz="1400" dirty="0">
                <a:solidFill>
                  <a:schemeClr val="tx1"/>
                </a:solidFill>
              </a:rPr>
              <a:t>는 </a:t>
            </a:r>
            <a:r>
              <a:rPr lang="ko-KR" altLang="en-US" sz="1400" dirty="0" err="1">
                <a:solidFill>
                  <a:schemeClr val="tx1"/>
                </a:solidFill>
              </a:rPr>
              <a:t>한국출원일</a:t>
            </a:r>
            <a:r>
              <a:rPr lang="en-US" altLang="ko-KR" sz="1400" dirty="0">
                <a:solidFill>
                  <a:schemeClr val="tx1"/>
                </a:solidFill>
              </a:rPr>
              <a:t>(Y)</a:t>
            </a:r>
            <a:r>
              <a:rPr lang="ko-KR" altLang="en-US" sz="1400" dirty="0">
                <a:solidFill>
                  <a:schemeClr val="tx1"/>
                </a:solidFill>
              </a:rPr>
              <a:t>을 기준으로 특허요건을 판단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altLang="ko-KR" sz="1400" dirty="0">
                <a:solidFill>
                  <a:schemeClr val="tx1"/>
                </a:solidFill>
              </a:rPr>
              <a:t>C</a:t>
            </a:r>
            <a:r>
              <a:rPr lang="ko-KR" altLang="en-US" sz="1400" dirty="0">
                <a:solidFill>
                  <a:schemeClr val="tx1"/>
                </a:solidFill>
              </a:rPr>
              <a:t>는 </a:t>
            </a:r>
            <a:r>
              <a:rPr lang="ko-KR" altLang="en-US" sz="1400" dirty="0" err="1">
                <a:solidFill>
                  <a:schemeClr val="tx1"/>
                </a:solidFill>
              </a:rPr>
              <a:t>한국출원일</a:t>
            </a:r>
            <a:r>
              <a:rPr lang="en-US" altLang="ko-KR" sz="1400" dirty="0">
                <a:solidFill>
                  <a:schemeClr val="tx1"/>
                </a:solidFill>
              </a:rPr>
              <a:t>(Y)</a:t>
            </a:r>
            <a:r>
              <a:rPr lang="ko-KR" altLang="en-US" sz="1400" dirty="0">
                <a:solidFill>
                  <a:schemeClr val="tx1"/>
                </a:solidFill>
              </a:rPr>
              <a:t>이 논문발표일로부터 </a:t>
            </a:r>
            <a:r>
              <a:rPr lang="en-US" altLang="ko-KR" sz="1400" dirty="0">
                <a:solidFill>
                  <a:schemeClr val="tx1"/>
                </a:solidFill>
              </a:rPr>
              <a:t>1</a:t>
            </a:r>
            <a:r>
              <a:rPr lang="ko-KR" altLang="en-US" sz="1400" dirty="0">
                <a:solidFill>
                  <a:schemeClr val="tx1"/>
                </a:solidFill>
              </a:rPr>
              <a:t>년 이내이라면 논문발표 </a:t>
            </a:r>
            <a:r>
              <a:rPr lang="en-US" altLang="ko-KR" sz="1400" dirty="0">
                <a:solidFill>
                  <a:schemeClr val="tx1"/>
                </a:solidFill>
              </a:rPr>
              <a:t>A</a:t>
            </a:r>
            <a:r>
              <a:rPr lang="ko-KR" altLang="en-US" sz="1400" dirty="0">
                <a:solidFill>
                  <a:schemeClr val="tx1"/>
                </a:solidFill>
              </a:rPr>
              <a:t>를 공지 등이 되지 아니한 것으로 보고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ko-KR" altLang="en-US" sz="1400" dirty="0">
                <a:solidFill>
                  <a:schemeClr val="tx1"/>
                </a:solidFill>
              </a:rPr>
              <a:t>심사를 진행하지만</a:t>
            </a:r>
            <a:r>
              <a:rPr lang="en-US" altLang="ko-KR" sz="1400" dirty="0">
                <a:solidFill>
                  <a:schemeClr val="tx1"/>
                </a:solidFill>
              </a:rPr>
              <a:t>, 1</a:t>
            </a:r>
            <a:r>
              <a:rPr lang="ko-KR" altLang="en-US" sz="1400" dirty="0">
                <a:solidFill>
                  <a:schemeClr val="tx1"/>
                </a:solidFill>
              </a:rPr>
              <a:t>년이 지났다면 논문발표 </a:t>
            </a:r>
            <a:r>
              <a:rPr lang="en-US" altLang="ko-KR" sz="1400" dirty="0">
                <a:solidFill>
                  <a:schemeClr val="tx1"/>
                </a:solidFill>
              </a:rPr>
              <a:t>A</a:t>
            </a:r>
            <a:r>
              <a:rPr lang="ko-KR" altLang="en-US" sz="1400" dirty="0">
                <a:solidFill>
                  <a:schemeClr val="tx1"/>
                </a:solidFill>
              </a:rPr>
              <a:t>를 공지 등이 된 것으로 보고 심사를 진행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altLang="ko-KR" sz="1400" dirty="0">
                <a:solidFill>
                  <a:schemeClr val="tx1"/>
                </a:solidFill>
              </a:rPr>
              <a:t>C</a:t>
            </a:r>
            <a:r>
              <a:rPr lang="ko-KR" altLang="en-US" sz="1400" dirty="0">
                <a:solidFill>
                  <a:schemeClr val="tx1"/>
                </a:solidFill>
              </a:rPr>
              <a:t>는 </a:t>
            </a:r>
            <a:r>
              <a:rPr lang="ko-KR" altLang="en-US" sz="1400" dirty="0" err="1">
                <a:solidFill>
                  <a:schemeClr val="tx1"/>
                </a:solidFill>
              </a:rPr>
              <a:t>한국출원일</a:t>
            </a:r>
            <a:r>
              <a:rPr lang="en-US" altLang="ko-KR" sz="1400" dirty="0">
                <a:solidFill>
                  <a:schemeClr val="tx1"/>
                </a:solidFill>
              </a:rPr>
              <a:t>(Y) </a:t>
            </a:r>
            <a:r>
              <a:rPr lang="ko-KR" altLang="en-US" sz="1400" dirty="0">
                <a:solidFill>
                  <a:schemeClr val="tx1"/>
                </a:solidFill>
              </a:rPr>
              <a:t>이 박람회 출품일로부터 </a:t>
            </a:r>
            <a:r>
              <a:rPr lang="en-US" altLang="ko-KR" sz="1400" dirty="0">
                <a:solidFill>
                  <a:schemeClr val="tx1"/>
                </a:solidFill>
              </a:rPr>
              <a:t>1</a:t>
            </a:r>
            <a:r>
              <a:rPr lang="ko-KR" altLang="en-US" sz="1400" dirty="0">
                <a:solidFill>
                  <a:schemeClr val="tx1"/>
                </a:solidFill>
              </a:rPr>
              <a:t>년 이내이기 때문에 박람회 출품 </a:t>
            </a:r>
            <a:r>
              <a:rPr lang="en-US" altLang="ko-KR" sz="1400" dirty="0">
                <a:solidFill>
                  <a:schemeClr val="tx1"/>
                </a:solidFill>
              </a:rPr>
              <a:t>C</a:t>
            </a:r>
            <a:r>
              <a:rPr lang="ko-KR" altLang="en-US" sz="1400" dirty="0">
                <a:solidFill>
                  <a:schemeClr val="tx1"/>
                </a:solidFill>
              </a:rPr>
              <a:t>를 공지 등이 되지 아니한 것으로 보고 심사를 진행 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00E6C06-D35A-40DB-92AF-256E3A8EBA7C}"/>
              </a:ext>
            </a:extLst>
          </p:cNvPr>
          <p:cNvSpPr/>
          <p:nvPr/>
        </p:nvSpPr>
        <p:spPr>
          <a:xfrm>
            <a:off x="11427812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</a:t>
            </a:r>
          </a:p>
        </p:txBody>
      </p:sp>
      <p:sp>
        <p:nvSpPr>
          <p:cNvPr id="39" name="Rectangle 14">
            <a:extLst>
              <a:ext uri="{FF2B5EF4-FFF2-40B4-BE49-F238E27FC236}">
                <a16:creationId xmlns:a16="http://schemas.microsoft.com/office/drawing/2014/main" id="{C9706388-5E17-481F-AA16-1184CC3EA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5255" y="2227830"/>
            <a:ext cx="1228042" cy="2685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 dirty="0">
                <a:latin typeface="+mn-ea"/>
              </a:rPr>
              <a:t>박람회 출품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344F6081-A3B0-4AF6-87D7-F7FDCB55B55B}"/>
              </a:ext>
            </a:extLst>
          </p:cNvPr>
          <p:cNvCxnSpPr>
            <a:cxnSpLocks/>
            <a:stCxn id="175" idx="2"/>
          </p:cNvCxnSpPr>
          <p:nvPr/>
        </p:nvCxnSpPr>
        <p:spPr>
          <a:xfrm>
            <a:off x="6364148" y="2534304"/>
            <a:ext cx="23062" cy="151217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8F445DF-E90A-4AC2-92C1-2068F310D33B}"/>
              </a:ext>
            </a:extLst>
          </p:cNvPr>
          <p:cNvSpPr/>
          <p:nvPr/>
        </p:nvSpPr>
        <p:spPr>
          <a:xfrm>
            <a:off x="4341435" y="4096881"/>
            <a:ext cx="914400" cy="2685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dirty="0">
                <a:solidFill>
                  <a:schemeClr val="accent1">
                    <a:lumMod val="50000"/>
                  </a:schemeClr>
                </a:solidFill>
              </a:rPr>
              <a:t>C</a:t>
            </a:r>
            <a:endParaRPr lang="ko-KR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3" name="Rectangle 14">
            <a:extLst>
              <a:ext uri="{FF2B5EF4-FFF2-40B4-BE49-F238E27FC236}">
                <a16:creationId xmlns:a16="http://schemas.microsoft.com/office/drawing/2014/main" id="{12C650A0-E50D-4EB3-8417-891A1E3D3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4012" y="1714647"/>
            <a:ext cx="1701896" cy="2922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 err="1">
                <a:latin typeface="+mn-ea"/>
              </a:rPr>
              <a:t>공지예외적용주장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논문</a:t>
            </a:r>
            <a:r>
              <a:rPr lang="en-US" altLang="ko-KR" sz="1200" dirty="0">
                <a:latin typeface="+mn-ea"/>
              </a:rPr>
              <a:t>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44" name="Rectangle 14">
            <a:extLst>
              <a:ext uri="{FF2B5EF4-FFF2-40B4-BE49-F238E27FC236}">
                <a16:creationId xmlns:a16="http://schemas.microsoft.com/office/drawing/2014/main" id="{A051999F-9E95-4519-BE4E-8AF69D041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5063" y="1961925"/>
            <a:ext cx="1418541" cy="2685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n-ea"/>
              </a:rPr>
              <a:t>증명서류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논문</a:t>
            </a:r>
            <a:r>
              <a:rPr lang="en-US" altLang="ko-KR" sz="1200" dirty="0">
                <a:latin typeface="+mn-ea"/>
              </a:rPr>
              <a:t>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0950CBA-80BE-44A2-AA65-056284E41CE8}"/>
              </a:ext>
            </a:extLst>
          </p:cNvPr>
          <p:cNvSpPr/>
          <p:nvPr/>
        </p:nvSpPr>
        <p:spPr>
          <a:xfrm>
            <a:off x="6096000" y="4078653"/>
            <a:ext cx="565707" cy="6658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D225098-8AB0-4AC7-BD98-EB48578025BE}"/>
              </a:ext>
            </a:extLst>
          </p:cNvPr>
          <p:cNvSpPr/>
          <p:nvPr/>
        </p:nvSpPr>
        <p:spPr>
          <a:xfrm>
            <a:off x="2514497" y="4865054"/>
            <a:ext cx="914400" cy="2685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A</a:t>
            </a:r>
          </a:p>
          <a:p>
            <a:pPr algn="ctr"/>
            <a:r>
              <a:rPr lang="en-US" altLang="ko-KR" dirty="0">
                <a:solidFill>
                  <a:srgbClr val="FF0000"/>
                </a:solidFill>
              </a:rPr>
              <a:t>B</a:t>
            </a:r>
          </a:p>
          <a:p>
            <a:pPr algn="ctr"/>
            <a:endParaRPr lang="ko-KR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42355A0-E55B-45D1-A445-1A77565489FB}"/>
              </a:ext>
            </a:extLst>
          </p:cNvPr>
          <p:cNvSpPr/>
          <p:nvPr/>
        </p:nvSpPr>
        <p:spPr>
          <a:xfrm>
            <a:off x="2680489" y="4846826"/>
            <a:ext cx="565707" cy="6658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763B11E-0704-478D-ABDB-DBA21251C09E}"/>
              </a:ext>
            </a:extLst>
          </p:cNvPr>
          <p:cNvCxnSpPr>
            <a:stCxn id="3" idx="1"/>
            <a:endCxn id="46" idx="3"/>
          </p:cNvCxnSpPr>
          <p:nvPr/>
        </p:nvCxnSpPr>
        <p:spPr>
          <a:xfrm flipH="1">
            <a:off x="3246196" y="4411591"/>
            <a:ext cx="2849804" cy="76817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D3E6A06-DF32-4534-B677-D19A3D9CB656}"/>
              </a:ext>
            </a:extLst>
          </p:cNvPr>
          <p:cNvSpPr/>
          <p:nvPr/>
        </p:nvSpPr>
        <p:spPr>
          <a:xfrm>
            <a:off x="6096000" y="4932077"/>
            <a:ext cx="565707" cy="29383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2FF0D26-6022-49C3-A8D3-D06B348B5DDB}"/>
              </a:ext>
            </a:extLst>
          </p:cNvPr>
          <p:cNvSpPr/>
          <p:nvPr/>
        </p:nvSpPr>
        <p:spPr>
          <a:xfrm>
            <a:off x="6087122" y="5867488"/>
            <a:ext cx="565707" cy="29383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4CC3789-BE23-4D85-83AC-6EFB78F60287}"/>
              </a:ext>
            </a:extLst>
          </p:cNvPr>
          <p:cNvSpPr/>
          <p:nvPr/>
        </p:nvSpPr>
        <p:spPr>
          <a:xfrm>
            <a:off x="5930008" y="4730771"/>
            <a:ext cx="914400" cy="2685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ko-KR" dirty="0">
              <a:solidFill>
                <a:srgbClr val="FF0000"/>
              </a:solidFill>
            </a:endParaRPr>
          </a:p>
          <a:p>
            <a:pPr algn="ctr"/>
            <a:endParaRPr lang="en-US" altLang="ko-KR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en-US" altLang="ko-KR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en-US" altLang="ko-KR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n-US" altLang="ko-KR" dirty="0">
                <a:solidFill>
                  <a:schemeClr val="accent1">
                    <a:lumMod val="50000"/>
                  </a:schemeClr>
                </a:solidFill>
              </a:rPr>
              <a:t>C</a:t>
            </a:r>
            <a:endParaRPr lang="ko-KR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4CE2EB5C-D1BC-4DBC-A5E0-9B5454871FBD}"/>
              </a:ext>
            </a:extLst>
          </p:cNvPr>
          <p:cNvCxnSpPr>
            <a:cxnSpLocks/>
          </p:cNvCxnSpPr>
          <p:nvPr/>
        </p:nvCxnSpPr>
        <p:spPr>
          <a:xfrm>
            <a:off x="6364148" y="5225908"/>
            <a:ext cx="22079" cy="61291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391CA99-06ED-4F7A-8AE6-4925A10251BC}"/>
              </a:ext>
            </a:extLst>
          </p:cNvPr>
          <p:cNvSpPr txBox="1"/>
          <p:nvPr/>
        </p:nvSpPr>
        <p:spPr>
          <a:xfrm>
            <a:off x="3994604" y="4676171"/>
            <a:ext cx="736099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판단시점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소급효 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인정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2938FD1-21F6-461C-B953-3BA380BE1EFC}"/>
              </a:ext>
            </a:extLst>
          </p:cNvPr>
          <p:cNvSpPr txBox="1"/>
          <p:nvPr/>
        </p:nvSpPr>
        <p:spPr>
          <a:xfrm>
            <a:off x="5028916" y="5374041"/>
            <a:ext cx="1815492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판단시점 소급효 불인정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8A57CA-6F86-618C-1484-00AFC7455A2B}"/>
              </a:ext>
            </a:extLst>
          </p:cNvPr>
          <p:cNvSpPr txBox="1"/>
          <p:nvPr/>
        </p:nvSpPr>
        <p:spPr>
          <a:xfrm>
            <a:off x="2667392" y="3024945"/>
            <a:ext cx="11402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12</a:t>
            </a:r>
            <a:r>
              <a:rPr lang="ko-KR" altLang="en-US" sz="1100" dirty="0">
                <a:solidFill>
                  <a:srgbClr val="FF0000"/>
                </a:solidFill>
              </a:rPr>
              <a:t>개월 이내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1BAD09C-8E57-EF6D-0F42-298C8BF0CD9B}"/>
              </a:ext>
            </a:extLst>
          </p:cNvPr>
          <p:cNvSpPr/>
          <p:nvPr/>
        </p:nvSpPr>
        <p:spPr>
          <a:xfrm>
            <a:off x="2397084" y="2855702"/>
            <a:ext cx="526026" cy="4812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rgbClr val="FF0000"/>
                </a:solidFill>
                <a:ea typeface="함초롬바탕" panose="02030504000101010101" pitchFamily="18" charset="-127"/>
              </a:rPr>
              <a:t>❶</a:t>
            </a:r>
            <a:endParaRPr lang="ko-KR" altLang="en-US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308530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55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56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국내우선권주장출원의</a:t>
            </a:r>
            <a:r>
              <a:rPr lang="ko-KR" altLang="en-US" dirty="0"/>
              <a:t> 확대된 </a:t>
            </a:r>
            <a:r>
              <a:rPr lang="ko-KR" altLang="en-US" dirty="0" err="1"/>
              <a:t>선출원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55</a:t>
            </a:r>
            <a:r>
              <a:rPr lang="ko-KR" altLang="en-US" dirty="0"/>
              <a:t>조제</a:t>
            </a:r>
            <a:r>
              <a:rPr lang="en-US" altLang="ko-KR" dirty="0"/>
              <a:t>4</a:t>
            </a:r>
            <a:r>
              <a:rPr lang="ko-KR" altLang="en-US" dirty="0"/>
              <a:t>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6" name="직선 연결선 55"/>
          <p:cNvCxnSpPr/>
          <p:nvPr/>
        </p:nvCxnSpPr>
        <p:spPr>
          <a:xfrm>
            <a:off x="0" y="283149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77875" y="986046"/>
            <a:ext cx="1193632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국내우선권주장을 수반하는 특허출원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 err="1">
                <a:solidFill>
                  <a:schemeClr val="tx2"/>
                </a:solidFill>
              </a:rPr>
              <a:t>후특허출원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의 </a:t>
            </a:r>
            <a:r>
              <a:rPr lang="ko-KR" altLang="en-US" sz="1400" dirty="0" err="1">
                <a:solidFill>
                  <a:schemeClr val="tx2"/>
                </a:solidFill>
              </a:rPr>
              <a:t>출원서에</a:t>
            </a:r>
            <a:r>
              <a:rPr lang="ko-KR" altLang="en-US" sz="1400" dirty="0">
                <a:solidFill>
                  <a:schemeClr val="tx2"/>
                </a:solidFill>
              </a:rPr>
              <a:t> 최초로 첨부한 명세서 또는 도면에 기재된 발명 중 해당 우선권주장의 기초가 된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출원서에</a:t>
            </a:r>
            <a:r>
              <a:rPr lang="ko-KR" altLang="en-US" sz="1400" dirty="0">
                <a:solidFill>
                  <a:schemeClr val="tx2"/>
                </a:solidFill>
              </a:rPr>
              <a:t> 최초로 첨부한 명세서 또는 도면에 기재된 발명은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그 특허출원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후특허출원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)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이 출원공개되거나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등록공고된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때에 그 선출원에 관하여 출원공개가 된 것으로 보고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확대된 </a:t>
            </a:r>
            <a:r>
              <a:rPr lang="ko-KR" altLang="en-US" sz="1400" dirty="0" err="1">
                <a:solidFill>
                  <a:schemeClr val="tx2"/>
                </a:solidFill>
              </a:rPr>
              <a:t>선출원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29③④</a:t>
            </a:r>
            <a:r>
              <a:rPr lang="ko-KR" altLang="en-US" sz="1400" dirty="0">
                <a:solidFill>
                  <a:schemeClr val="tx2"/>
                </a:solidFill>
              </a:rPr>
              <a:t>각 호 외의 부분 본문 또는 實用 </a:t>
            </a:r>
            <a:r>
              <a:rPr lang="en-US" altLang="ko-KR" sz="1400" dirty="0">
                <a:solidFill>
                  <a:schemeClr val="tx2"/>
                </a:solidFill>
              </a:rPr>
              <a:t>4③</a:t>
            </a:r>
            <a:r>
              <a:rPr lang="ko-KR" altLang="en-US" sz="1400" dirty="0">
                <a:solidFill>
                  <a:schemeClr val="tx2"/>
                </a:solidFill>
              </a:rPr>
              <a:t>각 호 외의 부분 본문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의 규정을 적용한다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55④). </a:t>
            </a:r>
            <a:r>
              <a:rPr lang="ko-KR" altLang="en-US" sz="1400" dirty="0">
                <a:solidFill>
                  <a:schemeClr val="tx2"/>
                </a:solidFill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우선권주장을 수반하는 특허출원의 출원서에 최초로 첨부한 명세서 또는 도면에 기재된 발명 중 해당 우선권주장의 기초가 된 선출원의 출원서에 최초로 첨부한 명세서 또는 도면에 기재되지 아니한 발명은 </a:t>
            </a:r>
            <a:r>
              <a:rPr lang="ko-KR" altLang="en-US" sz="1400" dirty="0" err="1">
                <a:solidFill>
                  <a:schemeClr val="tx2"/>
                </a:solidFill>
              </a:rPr>
              <a:t>우선권주장출원일의</a:t>
            </a:r>
            <a:r>
              <a:rPr lang="ko-KR" altLang="en-US" sz="1400" dirty="0">
                <a:solidFill>
                  <a:schemeClr val="tx2"/>
                </a:solidFill>
              </a:rPr>
              <a:t> 다음날로부터 우선권주장출원의 출원공개 또는 등록공고 전에 출원된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자의 발명에 대하여 확대된 선출원을 적용한다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국내우선권주장출원의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선출원은</a:t>
            </a:r>
            <a:r>
              <a:rPr lang="ko-KR" altLang="en-US" sz="1400" dirty="0">
                <a:solidFill>
                  <a:schemeClr val="tx2"/>
                </a:solidFill>
              </a:rPr>
              <a:t> 그 출원일로부터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개월을 지난 때에 일반적으로 출원공개되지 않고 취하간주되기 때문에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지위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확대된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지위가 인정되지 아니한다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후출원이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출원공개</a:t>
            </a:r>
            <a:r>
              <a:rPr lang="ko-KR" altLang="en-US" sz="1400" dirty="0">
                <a:solidFill>
                  <a:schemeClr val="tx2"/>
                </a:solidFill>
              </a:rPr>
              <a:t> 또는 </a:t>
            </a:r>
            <a:r>
              <a:rPr lang="ko-KR" altLang="en-US" sz="1400" dirty="0" err="1">
                <a:solidFill>
                  <a:schemeClr val="tx2"/>
                </a:solidFill>
              </a:rPr>
              <a:t>설정등록된</a:t>
            </a:r>
            <a:r>
              <a:rPr lang="ko-KR" altLang="en-US" sz="1400" dirty="0">
                <a:solidFill>
                  <a:schemeClr val="tx2"/>
                </a:solidFill>
              </a:rPr>
              <a:t> 때에는 국내우선권주장출원의 적법성을 판단하기 위해서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열람을 허가하고 있기 때문에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216)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최초 명세서 또는 도면에 기재된 발명의 </a:t>
            </a:r>
            <a:r>
              <a:rPr lang="ko-KR" altLang="en-US" sz="1400" dirty="0" err="1">
                <a:solidFill>
                  <a:schemeClr val="tx2"/>
                </a:solidFill>
              </a:rPr>
              <a:t>공지기술의</a:t>
            </a:r>
            <a:r>
              <a:rPr lang="ko-KR" altLang="en-US" sz="1400" dirty="0">
                <a:solidFill>
                  <a:schemeClr val="tx2"/>
                </a:solidFill>
              </a:rPr>
              <a:t> 지위가 인정된다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182E911-68F2-201B-E0E6-CA1DC3A64E26}"/>
              </a:ext>
            </a:extLst>
          </p:cNvPr>
          <p:cNvGrpSpPr/>
          <p:nvPr/>
        </p:nvGrpSpPr>
        <p:grpSpPr>
          <a:xfrm>
            <a:off x="389467" y="3115127"/>
            <a:ext cx="11791482" cy="3664567"/>
            <a:chOff x="389467" y="2744411"/>
            <a:chExt cx="11791482" cy="4035284"/>
          </a:xfrm>
        </p:grpSpPr>
        <p:cxnSp>
          <p:nvCxnSpPr>
            <p:cNvPr id="77" name="직선 연결선 76"/>
            <p:cNvCxnSpPr/>
            <p:nvPr/>
          </p:nvCxnSpPr>
          <p:spPr>
            <a:xfrm flipV="1">
              <a:off x="4874987" y="3995767"/>
              <a:ext cx="0" cy="1019887"/>
            </a:xfrm>
            <a:prstGeom prst="line">
              <a:avLst/>
            </a:prstGeom>
            <a:ln w="28575"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타원 67"/>
            <p:cNvSpPr/>
            <p:nvPr/>
          </p:nvSpPr>
          <p:spPr>
            <a:xfrm>
              <a:off x="2155607" y="5882655"/>
              <a:ext cx="533473" cy="8970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2246655" y="5025369"/>
              <a:ext cx="351378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dirty="0"/>
                <a:t>A</a:t>
              </a:r>
            </a:p>
            <a:p>
              <a:pPr>
                <a:lnSpc>
                  <a:spcPct val="150000"/>
                </a:lnSpc>
              </a:pPr>
              <a:r>
                <a:rPr lang="en-US" altLang="ko-KR" dirty="0"/>
                <a:t>B</a:t>
              </a:r>
            </a:p>
            <a:p>
              <a:pPr>
                <a:lnSpc>
                  <a:spcPct val="150000"/>
                </a:lnSpc>
              </a:pPr>
              <a:r>
                <a:rPr lang="en-US" altLang="ko-KR" dirty="0"/>
                <a:t>C</a:t>
              </a:r>
            </a:p>
            <a:p>
              <a:pPr>
                <a:lnSpc>
                  <a:spcPct val="150000"/>
                </a:lnSpc>
              </a:pPr>
              <a:r>
                <a:rPr lang="en-US" altLang="ko-KR" dirty="0"/>
                <a:t>D</a:t>
              </a:r>
              <a:endParaRPr lang="ko-KR" altLang="en-US" dirty="0"/>
            </a:p>
          </p:txBody>
        </p:sp>
        <p:sp>
          <p:nvSpPr>
            <p:cNvPr id="60" name="양쪽 모서리가 둥근 사각형 59"/>
            <p:cNvSpPr/>
            <p:nvPr/>
          </p:nvSpPr>
          <p:spPr>
            <a:xfrm rot="10800000">
              <a:off x="3108305" y="3988147"/>
              <a:ext cx="9014692" cy="421196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양쪽 모서리가 둥근 사각형 58"/>
            <p:cNvSpPr/>
            <p:nvPr/>
          </p:nvSpPr>
          <p:spPr>
            <a:xfrm rot="10800000">
              <a:off x="593800" y="3995767"/>
              <a:ext cx="11529197" cy="764522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2" name="직선 연결선 101"/>
            <p:cNvCxnSpPr/>
            <p:nvPr/>
          </p:nvCxnSpPr>
          <p:spPr>
            <a:xfrm>
              <a:off x="389467" y="3987916"/>
              <a:ext cx="11147355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직사각형 113"/>
            <p:cNvSpPr/>
            <p:nvPr/>
          </p:nvSpPr>
          <p:spPr>
            <a:xfrm>
              <a:off x="593659" y="2755591"/>
              <a:ext cx="1111099" cy="1892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5" name="직사각형 114"/>
            <p:cNvSpPr/>
            <p:nvPr/>
          </p:nvSpPr>
          <p:spPr>
            <a:xfrm>
              <a:off x="593659" y="2944835"/>
              <a:ext cx="1111099" cy="18924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A, B, D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6" name="직사각형 115"/>
            <p:cNvSpPr/>
            <p:nvPr/>
          </p:nvSpPr>
          <p:spPr>
            <a:xfrm>
              <a:off x="3108306" y="2755591"/>
              <a:ext cx="1111923" cy="1892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A, C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7" name="직사각형 116"/>
            <p:cNvSpPr/>
            <p:nvPr/>
          </p:nvSpPr>
          <p:spPr>
            <a:xfrm>
              <a:off x="3108306" y="2944835"/>
              <a:ext cx="1111923" cy="18924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A, B, C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3" name="직선 연결선 2"/>
            <p:cNvCxnSpPr>
              <a:stCxn id="115" idx="2"/>
              <a:endCxn id="106" idx="0"/>
            </p:cNvCxnSpPr>
            <p:nvPr/>
          </p:nvCxnSpPr>
          <p:spPr>
            <a:xfrm flipH="1">
              <a:off x="1149208" y="3134078"/>
              <a:ext cx="1" cy="75627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/>
            <p:cNvCxnSpPr>
              <a:stCxn id="117" idx="2"/>
              <a:endCxn id="107" idx="0"/>
            </p:cNvCxnSpPr>
            <p:nvPr/>
          </p:nvCxnSpPr>
          <p:spPr>
            <a:xfrm flipH="1">
              <a:off x="3663856" y="3134078"/>
              <a:ext cx="412" cy="771513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양쪽 모서리가 둥근 사각형 7"/>
            <p:cNvSpPr/>
            <p:nvPr/>
          </p:nvSpPr>
          <p:spPr>
            <a:xfrm>
              <a:off x="1704758" y="3223395"/>
              <a:ext cx="6815399" cy="764522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양쪽 모서리가 둥근 사각형 56"/>
            <p:cNvSpPr/>
            <p:nvPr/>
          </p:nvSpPr>
          <p:spPr>
            <a:xfrm>
              <a:off x="4219405" y="3573034"/>
              <a:ext cx="4300752" cy="414884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양쪽 모서리가 둥근 사각형 57"/>
            <p:cNvSpPr/>
            <p:nvPr/>
          </p:nvSpPr>
          <p:spPr>
            <a:xfrm>
              <a:off x="8520158" y="3223395"/>
              <a:ext cx="3602840" cy="764522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직사각형 105"/>
            <p:cNvSpPr/>
            <p:nvPr/>
          </p:nvSpPr>
          <p:spPr>
            <a:xfrm>
              <a:off x="593658" y="3890350"/>
              <a:ext cx="1111100" cy="18031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한국출원</a:t>
              </a:r>
              <a:r>
                <a:rPr lang="en-US" altLang="ko-KR" sz="1000" dirty="0">
                  <a:solidFill>
                    <a:schemeClr val="tx1"/>
                  </a:solidFill>
                </a:rPr>
                <a:t>(X)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07" name="직사각형 106"/>
            <p:cNvSpPr/>
            <p:nvPr/>
          </p:nvSpPr>
          <p:spPr>
            <a:xfrm>
              <a:off x="3108306" y="3905591"/>
              <a:ext cx="1111100" cy="1803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한국출원</a:t>
              </a:r>
              <a:r>
                <a:rPr lang="en-US" altLang="ko-KR" sz="1000" dirty="0">
                  <a:solidFill>
                    <a:schemeClr val="tx1"/>
                  </a:solidFill>
                </a:rPr>
                <a:t>(Y)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10" name="직사각형 109"/>
            <p:cNvSpPr/>
            <p:nvPr/>
          </p:nvSpPr>
          <p:spPr>
            <a:xfrm>
              <a:off x="3108306" y="4077234"/>
              <a:ext cx="1111100" cy="18031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X</a:t>
              </a:r>
              <a:r>
                <a:rPr lang="ko-KR" altLang="en-US" sz="1000" dirty="0">
                  <a:solidFill>
                    <a:schemeClr val="tx1"/>
                  </a:solidFill>
                </a:rPr>
                <a:t>기초 우선권주장</a:t>
              </a:r>
            </a:p>
          </p:txBody>
        </p:sp>
        <p:sp>
          <p:nvSpPr>
            <p:cNvPr id="168" name="직사각형 167"/>
            <p:cNvSpPr/>
            <p:nvPr/>
          </p:nvSpPr>
          <p:spPr>
            <a:xfrm>
              <a:off x="5706055" y="3912427"/>
              <a:ext cx="1111100" cy="1803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취하</a:t>
              </a:r>
              <a:r>
                <a:rPr lang="en-US" altLang="ko-KR" sz="1000" dirty="0">
                  <a:solidFill>
                    <a:schemeClr val="tx1"/>
                  </a:solidFill>
                </a:rPr>
                <a:t>(X)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72" name="직사각형 171"/>
            <p:cNvSpPr/>
            <p:nvPr/>
          </p:nvSpPr>
          <p:spPr>
            <a:xfrm>
              <a:off x="7864976" y="3905590"/>
              <a:ext cx="1111100" cy="18031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공개</a:t>
              </a:r>
              <a:r>
                <a:rPr lang="en-US" altLang="ko-KR" sz="1000" dirty="0">
                  <a:solidFill>
                    <a:schemeClr val="tx1"/>
                  </a:solidFill>
                </a:rPr>
                <a:t>(Y)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61" name="직사각형 60"/>
            <p:cNvSpPr/>
            <p:nvPr/>
          </p:nvSpPr>
          <p:spPr>
            <a:xfrm>
              <a:off x="4425564" y="3387487"/>
              <a:ext cx="3885735" cy="1892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Y</a:t>
              </a:r>
              <a:r>
                <a:rPr lang="ko-KR" altLang="en-US" sz="1100" dirty="0">
                  <a:solidFill>
                    <a:schemeClr val="tx1"/>
                  </a:solidFill>
                </a:rPr>
                <a:t>의 </a:t>
              </a:r>
              <a:r>
                <a:rPr lang="ko-KR" altLang="en-US" sz="1100" dirty="0" err="1">
                  <a:solidFill>
                    <a:schemeClr val="tx1"/>
                  </a:solidFill>
                </a:rPr>
                <a:t>최명도에</a:t>
              </a:r>
              <a:r>
                <a:rPr lang="ko-KR" altLang="en-US" sz="1100" dirty="0">
                  <a:solidFill>
                    <a:schemeClr val="tx1"/>
                  </a:solidFill>
                </a:rPr>
                <a:t> 기재된 발명 中 </a:t>
              </a:r>
              <a:r>
                <a:rPr lang="en-US" altLang="ko-KR" sz="1100" dirty="0">
                  <a:solidFill>
                    <a:schemeClr val="tx1"/>
                  </a:solidFill>
                </a:rPr>
                <a:t>X</a:t>
              </a:r>
              <a:r>
                <a:rPr lang="ko-KR" altLang="en-US" sz="1100" dirty="0">
                  <a:solidFill>
                    <a:schemeClr val="tx1"/>
                  </a:solidFill>
                </a:rPr>
                <a:t>의 </a:t>
              </a:r>
              <a:r>
                <a:rPr lang="ko-KR" altLang="en-US" sz="1100" dirty="0" err="1">
                  <a:solidFill>
                    <a:schemeClr val="tx1"/>
                  </a:solidFill>
                </a:rPr>
                <a:t>최명도에</a:t>
              </a:r>
              <a:r>
                <a:rPr lang="ko-KR" altLang="en-US" sz="1100" dirty="0">
                  <a:solidFill>
                    <a:schemeClr val="tx1"/>
                  </a:solidFill>
                </a:rPr>
                <a:t> 기재되지 않은 발명</a:t>
              </a:r>
              <a:r>
                <a:rPr lang="en-US" altLang="ko-KR" sz="1100" dirty="0">
                  <a:solidFill>
                    <a:schemeClr val="tx1"/>
                  </a:solidFill>
                </a:rPr>
                <a:t>(C)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4289714" y="3045771"/>
              <a:ext cx="4172493" cy="1892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Y</a:t>
              </a:r>
              <a:r>
                <a:rPr lang="ko-KR" altLang="en-US" sz="1100" dirty="0">
                  <a:solidFill>
                    <a:schemeClr val="tx1"/>
                  </a:solidFill>
                </a:rPr>
                <a:t>의 </a:t>
              </a:r>
              <a:r>
                <a:rPr lang="ko-KR" altLang="en-US" sz="1100" dirty="0" err="1">
                  <a:solidFill>
                    <a:schemeClr val="tx1"/>
                  </a:solidFill>
                </a:rPr>
                <a:t>최명도에</a:t>
              </a:r>
              <a:r>
                <a:rPr lang="ko-KR" altLang="en-US" sz="1100" dirty="0">
                  <a:solidFill>
                    <a:schemeClr val="tx1"/>
                  </a:solidFill>
                </a:rPr>
                <a:t> 기재된 발명 中 </a:t>
              </a:r>
              <a:r>
                <a:rPr lang="en-US" altLang="ko-KR" sz="1100" dirty="0">
                  <a:solidFill>
                    <a:schemeClr val="tx1"/>
                  </a:solidFill>
                </a:rPr>
                <a:t>X</a:t>
              </a:r>
              <a:r>
                <a:rPr lang="ko-KR" altLang="en-US" sz="1100" dirty="0">
                  <a:solidFill>
                    <a:schemeClr val="tx1"/>
                  </a:solidFill>
                </a:rPr>
                <a:t>의 </a:t>
              </a:r>
              <a:r>
                <a:rPr lang="ko-KR" altLang="en-US" sz="1100" dirty="0" err="1">
                  <a:solidFill>
                    <a:schemeClr val="tx1"/>
                  </a:solidFill>
                </a:rPr>
                <a:t>최명도에</a:t>
              </a:r>
              <a:r>
                <a:rPr lang="ko-KR" altLang="en-US" sz="1100" dirty="0">
                  <a:solidFill>
                    <a:schemeClr val="tx1"/>
                  </a:solidFill>
                </a:rPr>
                <a:t> 기재된 발명</a:t>
              </a:r>
              <a:r>
                <a:rPr lang="en-US" altLang="ko-KR" sz="1100" dirty="0">
                  <a:solidFill>
                    <a:schemeClr val="tx1"/>
                  </a:solidFill>
                </a:rPr>
                <a:t>(A, B)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8273879" y="3029522"/>
              <a:ext cx="3760423" cy="1892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X</a:t>
              </a:r>
              <a:r>
                <a:rPr lang="ko-KR" altLang="en-US" sz="1100" dirty="0">
                  <a:solidFill>
                    <a:schemeClr val="tx1"/>
                  </a:solidFill>
                </a:rPr>
                <a:t>의 </a:t>
              </a:r>
              <a:r>
                <a:rPr lang="ko-KR" altLang="en-US" sz="1100" dirty="0" err="1">
                  <a:solidFill>
                    <a:schemeClr val="tx1"/>
                  </a:solidFill>
                </a:rPr>
                <a:t>최명도에</a:t>
              </a:r>
              <a:r>
                <a:rPr lang="ko-KR" altLang="en-US" sz="1100" dirty="0">
                  <a:solidFill>
                    <a:schemeClr val="tx1"/>
                  </a:solidFill>
                </a:rPr>
                <a:t> 기재된 발명</a:t>
              </a:r>
              <a:r>
                <a:rPr lang="en-US" altLang="ko-KR" sz="1100" dirty="0">
                  <a:solidFill>
                    <a:schemeClr val="tx1"/>
                  </a:solidFill>
                </a:rPr>
                <a:t>(A, B, D): </a:t>
              </a:r>
              <a:r>
                <a:rPr lang="ko-KR" altLang="en-US" sz="1100" dirty="0">
                  <a:solidFill>
                    <a:srgbClr val="FF0000"/>
                  </a:solidFill>
                </a:rPr>
                <a:t>제</a:t>
              </a:r>
              <a:r>
                <a:rPr lang="en-US" altLang="ko-KR" sz="1100" dirty="0">
                  <a:solidFill>
                    <a:srgbClr val="FF0000"/>
                  </a:solidFill>
                </a:rPr>
                <a:t>216</a:t>
              </a:r>
              <a:r>
                <a:rPr lang="ko-KR" altLang="en-US" sz="1100" dirty="0">
                  <a:solidFill>
                    <a:srgbClr val="FF0000"/>
                  </a:solidFill>
                </a:rPr>
                <a:t>조</a:t>
              </a:r>
              <a:endParaRPr lang="en-US" altLang="ko-KR" sz="1100" dirty="0">
                <a:solidFill>
                  <a:srgbClr val="FF0000"/>
                </a:solidFill>
              </a:endParaRPr>
            </a:p>
          </p:txBody>
        </p:sp>
        <p:sp>
          <p:nvSpPr>
            <p:cNvPr id="64" name="직사각형 63"/>
            <p:cNvSpPr/>
            <p:nvPr/>
          </p:nvSpPr>
          <p:spPr>
            <a:xfrm>
              <a:off x="8420526" y="3235068"/>
              <a:ext cx="3760423" cy="1892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Y</a:t>
              </a:r>
              <a:r>
                <a:rPr lang="ko-KR" altLang="en-US" sz="1100" dirty="0">
                  <a:solidFill>
                    <a:schemeClr val="tx1"/>
                  </a:solidFill>
                </a:rPr>
                <a:t>의 </a:t>
              </a:r>
              <a:r>
                <a:rPr lang="ko-KR" altLang="en-US" sz="1100" dirty="0" err="1">
                  <a:solidFill>
                    <a:schemeClr val="tx1"/>
                  </a:solidFill>
                </a:rPr>
                <a:t>최명도에</a:t>
              </a:r>
              <a:r>
                <a:rPr lang="ko-KR" altLang="en-US" sz="1100" dirty="0">
                  <a:solidFill>
                    <a:schemeClr val="tx1"/>
                  </a:solidFill>
                </a:rPr>
                <a:t> 기재된 발명</a:t>
              </a:r>
              <a:r>
                <a:rPr lang="en-US" altLang="ko-KR" sz="1100" dirty="0">
                  <a:solidFill>
                    <a:schemeClr val="tx1"/>
                  </a:solidFill>
                </a:rPr>
                <a:t>(A, B, C)</a:t>
              </a:r>
            </a:p>
          </p:txBody>
        </p:sp>
        <p:sp>
          <p:nvSpPr>
            <p:cNvPr id="65" name="직사각형 64"/>
            <p:cNvSpPr/>
            <p:nvPr/>
          </p:nvSpPr>
          <p:spPr>
            <a:xfrm>
              <a:off x="4791043" y="4227721"/>
              <a:ext cx="4185033" cy="1892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Y</a:t>
              </a:r>
              <a:r>
                <a:rPr lang="ko-KR" altLang="en-US" sz="1100" dirty="0">
                  <a:solidFill>
                    <a:schemeClr val="tx1"/>
                  </a:solidFill>
                </a:rPr>
                <a:t>의 </a:t>
              </a:r>
              <a:r>
                <a:rPr lang="ko-KR" altLang="en-US" sz="1100" dirty="0" err="1">
                  <a:solidFill>
                    <a:schemeClr val="tx1"/>
                  </a:solidFill>
                </a:rPr>
                <a:t>청구범위에</a:t>
              </a:r>
              <a:r>
                <a:rPr lang="ko-KR" altLang="en-US" sz="1100" dirty="0">
                  <a:solidFill>
                    <a:schemeClr val="tx1"/>
                  </a:solidFill>
                </a:rPr>
                <a:t> 기재된 발명 中 </a:t>
              </a:r>
              <a:r>
                <a:rPr lang="en-US" altLang="ko-KR" sz="1100" dirty="0">
                  <a:solidFill>
                    <a:schemeClr val="tx1"/>
                  </a:solidFill>
                </a:rPr>
                <a:t>X</a:t>
              </a:r>
              <a:r>
                <a:rPr lang="ko-KR" altLang="en-US" sz="1100" dirty="0">
                  <a:solidFill>
                    <a:schemeClr val="tx1"/>
                  </a:solidFill>
                </a:rPr>
                <a:t>의 </a:t>
              </a:r>
              <a:r>
                <a:rPr lang="ko-KR" altLang="en-US" sz="1100" dirty="0" err="1">
                  <a:solidFill>
                    <a:schemeClr val="tx1"/>
                  </a:solidFill>
                </a:rPr>
                <a:t>최명도에</a:t>
              </a:r>
              <a:r>
                <a:rPr lang="ko-KR" altLang="en-US" sz="1100" dirty="0">
                  <a:solidFill>
                    <a:schemeClr val="tx1"/>
                  </a:solidFill>
                </a:rPr>
                <a:t> 기재되지 않은 발명</a:t>
              </a:r>
              <a:r>
                <a:rPr lang="en-US" altLang="ko-KR" sz="1100" dirty="0">
                  <a:solidFill>
                    <a:schemeClr val="tx1"/>
                  </a:solidFill>
                </a:rPr>
                <a:t>(C)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4169088" y="4571047"/>
              <a:ext cx="4185033" cy="1892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Y</a:t>
              </a:r>
              <a:r>
                <a:rPr lang="ko-KR" altLang="en-US" sz="1100" dirty="0">
                  <a:solidFill>
                    <a:schemeClr val="tx1"/>
                  </a:solidFill>
                </a:rPr>
                <a:t>의 </a:t>
              </a:r>
              <a:r>
                <a:rPr lang="ko-KR" altLang="en-US" sz="1100" dirty="0" err="1">
                  <a:solidFill>
                    <a:schemeClr val="tx1"/>
                  </a:solidFill>
                </a:rPr>
                <a:t>청구범위에</a:t>
              </a:r>
              <a:r>
                <a:rPr lang="ko-KR" altLang="en-US" sz="1100" dirty="0">
                  <a:solidFill>
                    <a:schemeClr val="tx1"/>
                  </a:solidFill>
                </a:rPr>
                <a:t> 기재된 발명 中 </a:t>
              </a:r>
              <a:r>
                <a:rPr lang="en-US" altLang="ko-KR" sz="1100" dirty="0">
                  <a:solidFill>
                    <a:schemeClr val="tx1"/>
                  </a:solidFill>
                </a:rPr>
                <a:t>X</a:t>
              </a:r>
              <a:r>
                <a:rPr lang="ko-KR" altLang="en-US" sz="1100" dirty="0">
                  <a:solidFill>
                    <a:schemeClr val="tx1"/>
                  </a:solidFill>
                </a:rPr>
                <a:t>의 </a:t>
              </a:r>
              <a:r>
                <a:rPr lang="ko-KR" altLang="en-US" sz="1100" dirty="0" err="1">
                  <a:solidFill>
                    <a:schemeClr val="tx1"/>
                  </a:solidFill>
                </a:rPr>
                <a:t>최명도에</a:t>
              </a:r>
              <a:r>
                <a:rPr lang="ko-KR" altLang="en-US" sz="1100" dirty="0">
                  <a:solidFill>
                    <a:schemeClr val="tx1"/>
                  </a:solidFill>
                </a:rPr>
                <a:t> 기재된 발명</a:t>
              </a:r>
              <a:r>
                <a:rPr lang="en-US" altLang="ko-KR" sz="1100" dirty="0">
                  <a:solidFill>
                    <a:schemeClr val="tx1"/>
                  </a:solidFill>
                </a:rPr>
                <a:t>(A)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11536822" y="2956871"/>
              <a:ext cx="644127" cy="21070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0" name="직선 연결선 69"/>
            <p:cNvCxnSpPr/>
            <p:nvPr/>
          </p:nvCxnSpPr>
          <p:spPr>
            <a:xfrm flipV="1">
              <a:off x="2422344" y="3995767"/>
              <a:ext cx="0" cy="1019887"/>
            </a:xfrm>
            <a:prstGeom prst="line">
              <a:avLst/>
            </a:prstGeom>
            <a:ln w="28575"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직사각형 70"/>
            <p:cNvSpPr/>
            <p:nvPr/>
          </p:nvSpPr>
          <p:spPr>
            <a:xfrm>
              <a:off x="2594931" y="5097918"/>
              <a:ext cx="1307178" cy="30480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</a:rPr>
                <a:t>Y-36, 29③</a:t>
              </a:r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2594931" y="5526579"/>
              <a:ext cx="1307178" cy="30480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</a:rPr>
                <a:t>Y- 29③</a:t>
              </a:r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4699298" y="5025369"/>
              <a:ext cx="351378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dirty="0"/>
                <a:t>A</a:t>
              </a:r>
            </a:p>
            <a:p>
              <a:pPr>
                <a:lnSpc>
                  <a:spcPct val="150000"/>
                </a:lnSpc>
              </a:pPr>
              <a:r>
                <a:rPr lang="en-US" altLang="ko-KR" dirty="0"/>
                <a:t>B</a:t>
              </a:r>
            </a:p>
            <a:p>
              <a:pPr>
                <a:lnSpc>
                  <a:spcPct val="150000"/>
                </a:lnSpc>
              </a:pPr>
              <a:r>
                <a:rPr lang="en-US" altLang="ko-KR" dirty="0"/>
                <a:t>C</a:t>
              </a:r>
            </a:p>
            <a:p>
              <a:pPr>
                <a:lnSpc>
                  <a:spcPct val="150000"/>
                </a:lnSpc>
              </a:pPr>
              <a:r>
                <a:rPr lang="en-US" altLang="ko-KR" dirty="0"/>
                <a:t>D</a:t>
              </a:r>
              <a:endParaRPr lang="ko-KR" altLang="en-US" dirty="0"/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5047574" y="5097918"/>
              <a:ext cx="1307178" cy="30480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</a:rPr>
                <a:t>Y-36, 29③</a:t>
              </a:r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5047574" y="5526579"/>
              <a:ext cx="1307178" cy="30480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</a:rPr>
                <a:t>Y- 29③</a:t>
              </a:r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0009558" y="5025369"/>
              <a:ext cx="351378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dirty="0"/>
                <a:t>A</a:t>
              </a:r>
            </a:p>
            <a:p>
              <a:pPr>
                <a:lnSpc>
                  <a:spcPct val="150000"/>
                </a:lnSpc>
              </a:pPr>
              <a:r>
                <a:rPr lang="en-US" altLang="ko-KR" dirty="0"/>
                <a:t>B</a:t>
              </a:r>
            </a:p>
            <a:p>
              <a:pPr>
                <a:lnSpc>
                  <a:spcPct val="150000"/>
                </a:lnSpc>
              </a:pPr>
              <a:r>
                <a:rPr lang="en-US" altLang="ko-KR" dirty="0"/>
                <a:t>C</a:t>
              </a:r>
            </a:p>
            <a:p>
              <a:pPr>
                <a:lnSpc>
                  <a:spcPct val="150000"/>
                </a:lnSpc>
              </a:pPr>
              <a:r>
                <a:rPr lang="en-US" altLang="ko-KR" dirty="0"/>
                <a:t>D</a:t>
              </a:r>
              <a:endParaRPr lang="ko-KR" altLang="en-US" dirty="0"/>
            </a:p>
          </p:txBody>
        </p:sp>
        <p:cxnSp>
          <p:nvCxnSpPr>
            <p:cNvPr id="82" name="직선 연결선 81"/>
            <p:cNvCxnSpPr/>
            <p:nvPr/>
          </p:nvCxnSpPr>
          <p:spPr>
            <a:xfrm flipV="1">
              <a:off x="10185247" y="3995767"/>
              <a:ext cx="0" cy="1019887"/>
            </a:xfrm>
            <a:prstGeom prst="line">
              <a:avLst/>
            </a:prstGeom>
            <a:ln w="28575"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직사각형 82"/>
            <p:cNvSpPr/>
            <p:nvPr/>
          </p:nvSpPr>
          <p:spPr>
            <a:xfrm>
              <a:off x="10357834" y="5097918"/>
              <a:ext cx="1307178" cy="30480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</a:rPr>
                <a:t>X-29①/Y-36, 29①</a:t>
              </a:r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4" name="직사각형 83"/>
            <p:cNvSpPr/>
            <p:nvPr/>
          </p:nvSpPr>
          <p:spPr>
            <a:xfrm>
              <a:off x="10357834" y="5526579"/>
              <a:ext cx="1307178" cy="30480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</a:rPr>
                <a:t>X-29①/Y-29①</a:t>
              </a:r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5" name="직사각형 84"/>
            <p:cNvSpPr/>
            <p:nvPr/>
          </p:nvSpPr>
          <p:spPr>
            <a:xfrm>
              <a:off x="5047574" y="5944057"/>
              <a:ext cx="1307178" cy="30480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</a:rPr>
                <a:t>Y-36, 29③</a:t>
              </a:r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6" name="타원 85"/>
            <p:cNvSpPr/>
            <p:nvPr/>
          </p:nvSpPr>
          <p:spPr>
            <a:xfrm>
              <a:off x="4608250" y="6300133"/>
              <a:ext cx="533474" cy="47956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10357834" y="5944057"/>
              <a:ext cx="1307178" cy="30480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</a:rPr>
                <a:t>Y-36, 29①</a:t>
              </a:r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10357834" y="6382451"/>
              <a:ext cx="1307178" cy="30480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</a:rPr>
                <a:t>X-29①</a:t>
              </a:r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89" name="직선 연결선 88"/>
            <p:cNvCxnSpPr>
              <a:stCxn id="115" idx="3"/>
              <a:endCxn id="117" idx="1"/>
            </p:cNvCxnSpPr>
            <p:nvPr/>
          </p:nvCxnSpPr>
          <p:spPr>
            <a:xfrm>
              <a:off x="1704758" y="3039457"/>
              <a:ext cx="1403548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연결선 91"/>
            <p:cNvCxnSpPr>
              <a:stCxn id="115" idx="3"/>
            </p:cNvCxnSpPr>
            <p:nvPr/>
          </p:nvCxnSpPr>
          <p:spPr>
            <a:xfrm flipV="1">
              <a:off x="1704758" y="2825812"/>
              <a:ext cx="1403548" cy="213645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직사각형 93"/>
            <p:cNvSpPr/>
            <p:nvPr/>
          </p:nvSpPr>
          <p:spPr>
            <a:xfrm>
              <a:off x="1877930" y="2744411"/>
              <a:ext cx="554239" cy="256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제</a:t>
              </a:r>
              <a:r>
                <a:rPr lang="en-US" altLang="ko-KR" sz="1000" dirty="0">
                  <a:solidFill>
                    <a:schemeClr val="tx1"/>
                  </a:solidFill>
                </a:rPr>
                <a:t>55</a:t>
              </a:r>
              <a:r>
                <a:rPr lang="ko-KR" altLang="en-US" sz="1000" dirty="0">
                  <a:solidFill>
                    <a:schemeClr val="tx1"/>
                  </a:solidFill>
                </a:rPr>
                <a:t>조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제</a:t>
              </a:r>
              <a:r>
                <a:rPr lang="en-US" altLang="ko-KR" sz="1000" dirty="0">
                  <a:solidFill>
                    <a:schemeClr val="tx1"/>
                  </a:solidFill>
                </a:rPr>
                <a:t>3</a:t>
              </a:r>
              <a:r>
                <a:rPr lang="ko-KR" altLang="en-US" sz="1000" dirty="0">
                  <a:solidFill>
                    <a:schemeClr val="tx1"/>
                  </a:solidFill>
                </a:rPr>
                <a:t>항</a:t>
              </a:r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2432415" y="2950678"/>
              <a:ext cx="554239" cy="256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제</a:t>
              </a:r>
              <a:r>
                <a:rPr lang="en-US" altLang="ko-KR" sz="1000" dirty="0">
                  <a:solidFill>
                    <a:schemeClr val="tx1"/>
                  </a:solidFill>
                </a:rPr>
                <a:t>55</a:t>
              </a:r>
              <a:r>
                <a:rPr lang="ko-KR" altLang="en-US" sz="1000" dirty="0">
                  <a:solidFill>
                    <a:schemeClr val="tx1"/>
                  </a:solidFill>
                </a:rPr>
                <a:t>조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제</a:t>
              </a:r>
              <a:r>
                <a:rPr lang="en-US" altLang="ko-KR" sz="1000" dirty="0">
                  <a:solidFill>
                    <a:schemeClr val="tx1"/>
                  </a:solidFill>
                </a:rPr>
                <a:t>4</a:t>
              </a:r>
              <a:r>
                <a:rPr lang="ko-KR" altLang="en-US" sz="1000" dirty="0">
                  <a:solidFill>
                    <a:schemeClr val="tx1"/>
                  </a:solidFill>
                </a:rPr>
                <a:t>항</a:t>
              </a: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246679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55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56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이중우선권주장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55</a:t>
            </a:r>
            <a:r>
              <a:rPr lang="ko-KR" altLang="en-US" dirty="0"/>
              <a:t>조제</a:t>
            </a:r>
            <a:r>
              <a:rPr lang="en-US" altLang="ko-KR" dirty="0"/>
              <a:t>5</a:t>
            </a:r>
            <a:r>
              <a:rPr lang="ko-KR" altLang="en-US" dirty="0"/>
              <a:t>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6" name="직선 연결선 55"/>
          <p:cNvCxnSpPr/>
          <p:nvPr/>
        </p:nvCxnSpPr>
        <p:spPr>
          <a:xfrm>
            <a:off x="0" y="367082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77875" y="986046"/>
            <a:ext cx="1193632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55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특허출원 등을 기초로 한 우선권 주장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</a:t>
            </a:r>
            <a:r>
              <a:rPr lang="ko-KR" altLang="en-US" sz="1400" dirty="0">
                <a:solidFill>
                  <a:srgbClr val="FF0000"/>
                </a:solidFill>
              </a:rPr>
              <a:t>우선권 주장을 수반하는 </a:t>
            </a:r>
            <a:r>
              <a:rPr lang="ko-KR" altLang="en-US" sz="1400" dirty="0" err="1">
                <a:solidFill>
                  <a:srgbClr val="FF0000"/>
                </a:solidFill>
              </a:rPr>
              <a:t>특허출원된</a:t>
            </a:r>
            <a:r>
              <a:rPr lang="ko-KR" altLang="en-US" sz="1400" dirty="0">
                <a:solidFill>
                  <a:srgbClr val="FF0000"/>
                </a:solidFill>
              </a:rPr>
              <a:t> 발명 중 해당 우선권 주장의 기초가 된 </a:t>
            </a:r>
            <a:r>
              <a:rPr lang="ko-KR" altLang="en-US" sz="1400" dirty="0" err="1">
                <a:solidFill>
                  <a:srgbClr val="FF0000"/>
                </a:solidFill>
              </a:rPr>
              <a:t>선출원의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 err="1">
                <a:solidFill>
                  <a:srgbClr val="FF0000"/>
                </a:solidFill>
              </a:rPr>
              <a:t>출원서에</a:t>
            </a:r>
            <a:r>
              <a:rPr lang="ko-KR" altLang="en-US" sz="1400" dirty="0">
                <a:solidFill>
                  <a:srgbClr val="FF0000"/>
                </a:solidFill>
              </a:rPr>
              <a:t> 최초로 첨부된 명세서 또는 도면에 기재된 발명과 같은 발명</a:t>
            </a:r>
            <a:r>
              <a:rPr lang="ko-KR" altLang="en-US" sz="1400" dirty="0"/>
              <a:t>에 관하여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29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항ㆍ제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같은 조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 본문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같은 조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 본문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30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36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항부터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항까지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96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98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103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105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항ㆍ제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129</a:t>
            </a:r>
            <a:r>
              <a:rPr lang="ko-KR" altLang="en-US" sz="1400" dirty="0">
                <a:solidFill>
                  <a:schemeClr val="tx2"/>
                </a:solidFill>
              </a:rPr>
              <a:t>조 및 제</a:t>
            </a:r>
            <a:r>
              <a:rPr lang="en-US" altLang="ko-KR" sz="1400" dirty="0">
                <a:solidFill>
                  <a:schemeClr val="tx2"/>
                </a:solidFill>
              </a:rPr>
              <a:t>136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5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132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 또는 제</a:t>
            </a:r>
            <a:r>
              <a:rPr lang="en-US" altLang="ko-KR" sz="1400" dirty="0">
                <a:solidFill>
                  <a:schemeClr val="tx2"/>
                </a:solidFill>
              </a:rPr>
              <a:t>133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항에 따라 준용되는 경우를 포함한다</a:t>
            </a:r>
            <a:r>
              <a:rPr lang="en-US" altLang="ko-KR" sz="1400" dirty="0">
                <a:solidFill>
                  <a:schemeClr val="tx2"/>
                </a:solidFill>
              </a:rPr>
              <a:t>), </a:t>
            </a:r>
            <a:r>
              <a:rPr lang="ko-KR" altLang="en-US" sz="1400" dirty="0">
                <a:solidFill>
                  <a:schemeClr val="tx2"/>
                </a:solidFill>
              </a:rPr>
              <a:t>「</a:t>
            </a:r>
            <a:r>
              <a:rPr lang="ko-KR" altLang="en-US" sz="1400" dirty="0" err="1">
                <a:solidFill>
                  <a:schemeClr val="tx2"/>
                </a:solidFill>
              </a:rPr>
              <a:t>실용신안법</a:t>
            </a:r>
            <a:r>
              <a:rPr lang="ko-KR" altLang="en-US" sz="1400" dirty="0">
                <a:solidFill>
                  <a:schemeClr val="tx2"/>
                </a:solidFill>
              </a:rPr>
              <a:t>」 제</a:t>
            </a:r>
            <a:r>
              <a:rPr lang="en-US" altLang="ko-KR" sz="1400" dirty="0">
                <a:solidFill>
                  <a:schemeClr val="tx2"/>
                </a:solidFill>
              </a:rPr>
              <a:t>7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 err="1">
                <a:solidFill>
                  <a:schemeClr val="tx2"/>
                </a:solidFill>
              </a:rPr>
              <a:t>항ㆍ제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 및 제</a:t>
            </a:r>
            <a:r>
              <a:rPr lang="en-US" altLang="ko-KR" sz="1400" dirty="0">
                <a:solidFill>
                  <a:schemeClr val="tx2"/>
                </a:solidFill>
              </a:rPr>
              <a:t>25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「디자인보호법」 제</a:t>
            </a:r>
            <a:r>
              <a:rPr lang="en-US" altLang="ko-KR" sz="1400" dirty="0">
                <a:solidFill>
                  <a:schemeClr val="tx2"/>
                </a:solidFill>
              </a:rPr>
              <a:t>95</a:t>
            </a:r>
            <a:r>
              <a:rPr lang="ko-KR" altLang="en-US" sz="1400" dirty="0">
                <a:solidFill>
                  <a:schemeClr val="tx2"/>
                </a:solidFill>
              </a:rPr>
              <a:t>조 및 제</a:t>
            </a:r>
            <a:r>
              <a:rPr lang="en-US" altLang="ko-KR" sz="1400" dirty="0">
                <a:solidFill>
                  <a:schemeClr val="tx2"/>
                </a:solidFill>
              </a:rPr>
              <a:t>103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항을 적용할 때에는 그 특허출원은 그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선출원을</a:t>
            </a:r>
            <a:r>
              <a:rPr lang="ko-KR" altLang="en-US" sz="1400" dirty="0">
                <a:solidFill>
                  <a:schemeClr val="tx2"/>
                </a:solidFill>
              </a:rPr>
              <a:t> 한 때에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특허출원한</a:t>
            </a:r>
            <a:r>
              <a:rPr lang="ko-KR" altLang="en-US" sz="1400" dirty="0">
                <a:solidFill>
                  <a:schemeClr val="tx2"/>
                </a:solidFill>
              </a:rPr>
              <a:t> 것으로 본다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④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</a:t>
            </a:r>
            <a:r>
              <a:rPr lang="ko-KR" altLang="en-US" sz="1400" dirty="0">
                <a:solidFill>
                  <a:srgbClr val="FF0000"/>
                </a:solidFill>
              </a:rPr>
              <a:t>우선권 주장을 수반하는 특허출원의 </a:t>
            </a:r>
            <a:r>
              <a:rPr lang="ko-KR" altLang="en-US" sz="1400" dirty="0" err="1">
                <a:solidFill>
                  <a:srgbClr val="FF0000"/>
                </a:solidFill>
              </a:rPr>
              <a:t>출원서에</a:t>
            </a:r>
            <a:r>
              <a:rPr lang="ko-KR" altLang="en-US" sz="1400" dirty="0">
                <a:solidFill>
                  <a:srgbClr val="FF0000"/>
                </a:solidFill>
              </a:rPr>
              <a:t> 최초로 첨부된 명세서 또는 도면에 기재된 발명 중 해당 우선권 주장의 기초가 된 </a:t>
            </a:r>
            <a:r>
              <a:rPr lang="ko-KR" altLang="en-US" sz="1400" dirty="0" err="1">
                <a:solidFill>
                  <a:srgbClr val="FF0000"/>
                </a:solidFill>
              </a:rPr>
              <a:t>선출원의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 err="1">
                <a:solidFill>
                  <a:srgbClr val="FF0000"/>
                </a:solidFill>
              </a:rPr>
              <a:t>출원서에</a:t>
            </a:r>
            <a:r>
              <a:rPr lang="ko-KR" altLang="en-US" sz="1400" dirty="0">
                <a:solidFill>
                  <a:srgbClr val="FF0000"/>
                </a:solidFill>
              </a:rPr>
              <a:t> 최초로 첨부된 명세서 또는 도면에 기재된 발명</a:t>
            </a:r>
            <a:r>
              <a:rPr lang="ko-KR" altLang="en-US" sz="1400" dirty="0">
                <a:solidFill>
                  <a:schemeClr val="tx2"/>
                </a:solidFill>
              </a:rPr>
              <a:t>과 같은 발명은 그 특허출원이 </a:t>
            </a:r>
            <a:r>
              <a:rPr lang="ko-KR" altLang="en-US" sz="1400" dirty="0" err="1">
                <a:solidFill>
                  <a:schemeClr val="tx2"/>
                </a:solidFill>
              </a:rPr>
              <a:t>출원공개되거나</a:t>
            </a:r>
            <a:r>
              <a:rPr lang="ko-KR" altLang="en-US" sz="1400" dirty="0">
                <a:solidFill>
                  <a:schemeClr val="tx2"/>
                </a:solidFill>
              </a:rPr>
              <a:t> 특허가 </a:t>
            </a:r>
            <a:r>
              <a:rPr lang="ko-KR" altLang="en-US" sz="1400" dirty="0" err="1">
                <a:solidFill>
                  <a:schemeClr val="tx2"/>
                </a:solidFill>
              </a:rPr>
              <a:t>등록공고되었을</a:t>
            </a:r>
            <a:r>
              <a:rPr lang="ko-KR" altLang="en-US" sz="1400" dirty="0">
                <a:solidFill>
                  <a:schemeClr val="tx2"/>
                </a:solidFill>
              </a:rPr>
              <a:t> 때에 해당 우선권 주장의 기초가 된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선출원에</a:t>
            </a:r>
            <a:r>
              <a:rPr lang="ko-KR" altLang="en-US" sz="1400" dirty="0">
                <a:solidFill>
                  <a:schemeClr val="tx2"/>
                </a:solidFill>
              </a:rPr>
              <a:t> 관하여 출원공개가 된 것으로 보고 제</a:t>
            </a:r>
            <a:r>
              <a:rPr lang="en-US" altLang="ko-KR" sz="1400" dirty="0">
                <a:solidFill>
                  <a:schemeClr val="tx2"/>
                </a:solidFill>
              </a:rPr>
              <a:t>29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 본문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같은 조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 본문 또는 「</a:t>
            </a:r>
            <a:r>
              <a:rPr lang="ko-KR" altLang="en-US" sz="1400" dirty="0" err="1">
                <a:solidFill>
                  <a:schemeClr val="tx2"/>
                </a:solidFill>
              </a:rPr>
              <a:t>실용신안법</a:t>
            </a:r>
            <a:r>
              <a:rPr lang="ko-KR" altLang="en-US" sz="1400" dirty="0">
                <a:solidFill>
                  <a:schemeClr val="tx2"/>
                </a:solidFill>
              </a:rPr>
              <a:t>」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 </a:t>
            </a:r>
            <a:r>
              <a:rPr lang="ko-KR" altLang="en-US" sz="1400" dirty="0" err="1">
                <a:solidFill>
                  <a:schemeClr val="tx2"/>
                </a:solidFill>
              </a:rPr>
              <a:t>본문ㆍ제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 본문을 적용한다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⑤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선출원이</a:t>
            </a:r>
            <a:r>
              <a:rPr lang="ko-KR" altLang="en-US" sz="1400" dirty="0">
                <a:solidFill>
                  <a:schemeClr val="tx2"/>
                </a:solidFill>
              </a:rPr>
              <a:t> 다음 각 호의 어느 하나에 해당하면 </a:t>
            </a:r>
            <a:r>
              <a:rPr lang="ko-KR" altLang="en-US" sz="1400" dirty="0">
                <a:solidFill>
                  <a:srgbClr val="FF0000"/>
                </a:solidFill>
              </a:rPr>
              <a:t>그 </a:t>
            </a:r>
            <a:r>
              <a:rPr lang="ko-KR" altLang="en-US" sz="1400" dirty="0" err="1">
                <a:solidFill>
                  <a:srgbClr val="FF0000"/>
                </a:solidFill>
              </a:rPr>
              <a:t>선출원의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 err="1">
                <a:solidFill>
                  <a:srgbClr val="FF0000"/>
                </a:solidFill>
              </a:rPr>
              <a:t>출원서에</a:t>
            </a:r>
            <a:r>
              <a:rPr lang="ko-KR" altLang="en-US" sz="1400" dirty="0">
                <a:solidFill>
                  <a:srgbClr val="FF0000"/>
                </a:solidFill>
              </a:rPr>
              <a:t> 최초로 첨부된 명세서 또는 도면에 기재된 발명 중 그 </a:t>
            </a:r>
            <a:r>
              <a:rPr lang="ko-KR" altLang="en-US" sz="1400" dirty="0" err="1">
                <a:solidFill>
                  <a:srgbClr val="FF0000"/>
                </a:solidFill>
              </a:rPr>
              <a:t>선출원에</a:t>
            </a:r>
            <a:r>
              <a:rPr lang="ko-KR" altLang="en-US" sz="1400" dirty="0">
                <a:solidFill>
                  <a:srgbClr val="FF0000"/>
                </a:solidFill>
              </a:rPr>
              <a:t> 관하여 우선권 주장의 기초가 된 출원의 </a:t>
            </a:r>
            <a:r>
              <a:rPr lang="ko-KR" altLang="en-US" sz="1400" dirty="0" err="1">
                <a:solidFill>
                  <a:srgbClr val="FF0000"/>
                </a:solidFill>
              </a:rPr>
              <a:t>출원서에</a:t>
            </a:r>
            <a:r>
              <a:rPr lang="ko-KR" altLang="en-US" sz="1400" dirty="0">
                <a:solidFill>
                  <a:srgbClr val="FF0000"/>
                </a:solidFill>
              </a:rPr>
              <a:t> 최초로 첨부된 명세서 또는 도면에 기재된 발명</a:t>
            </a:r>
            <a:r>
              <a:rPr lang="ko-KR" altLang="en-US" sz="1400" dirty="0">
                <a:solidFill>
                  <a:schemeClr val="tx2"/>
                </a:solidFill>
              </a:rPr>
              <a:t>에 대해서는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항과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항을 적용하지 아니한다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선출원이</a:t>
            </a:r>
            <a:r>
              <a:rPr lang="ko-KR" altLang="en-US" sz="1400" dirty="0">
                <a:solidFill>
                  <a:schemeClr val="tx2"/>
                </a:solidFill>
              </a:rPr>
              <a:t>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우선권 주장을 수반하는 출원인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선출원이</a:t>
            </a:r>
            <a:r>
              <a:rPr lang="ko-KR" altLang="en-US" sz="1400" dirty="0">
                <a:solidFill>
                  <a:schemeClr val="tx2"/>
                </a:solidFill>
              </a:rPr>
              <a:t> 「공업소유권의 보호를 위한 파리 협약」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D(1)</a:t>
            </a:r>
            <a:r>
              <a:rPr lang="ko-KR" altLang="en-US" sz="1400" dirty="0">
                <a:solidFill>
                  <a:schemeClr val="tx2"/>
                </a:solidFill>
              </a:rPr>
              <a:t>에 따른 우선권 주장을 수반하는 출원인 경우</a:t>
            </a:r>
          </a:p>
        </p:txBody>
      </p:sp>
      <p:cxnSp>
        <p:nvCxnSpPr>
          <p:cNvPr id="73" name="직선 연결선 72"/>
          <p:cNvCxnSpPr/>
          <p:nvPr/>
        </p:nvCxnSpPr>
        <p:spPr>
          <a:xfrm>
            <a:off x="6099756" y="3945467"/>
            <a:ext cx="0" cy="274108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양쪽 모서리가 둥근 사각형 83"/>
          <p:cNvSpPr/>
          <p:nvPr/>
        </p:nvSpPr>
        <p:spPr>
          <a:xfrm rot="10800000">
            <a:off x="3880984" y="4077987"/>
            <a:ext cx="1259964" cy="24642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양쪽 모서리가 둥근 사각형 29"/>
          <p:cNvSpPr/>
          <p:nvPr/>
        </p:nvSpPr>
        <p:spPr>
          <a:xfrm>
            <a:off x="2534785" y="3750726"/>
            <a:ext cx="2606164" cy="315295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4" name="직선 연결선 73"/>
          <p:cNvCxnSpPr/>
          <p:nvPr/>
        </p:nvCxnSpPr>
        <p:spPr>
          <a:xfrm>
            <a:off x="1828797" y="4066021"/>
            <a:ext cx="4036643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14"/>
          <p:cNvSpPr>
            <a:spLocks noChangeArrowheads="1"/>
          </p:cNvSpPr>
          <p:nvPr/>
        </p:nvSpPr>
        <p:spPr bwMode="auto">
          <a:xfrm flipV="1">
            <a:off x="5068874" y="3996168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6" name="Rectangle 14"/>
          <p:cNvSpPr>
            <a:spLocks noChangeArrowheads="1"/>
          </p:cNvSpPr>
          <p:nvPr/>
        </p:nvSpPr>
        <p:spPr bwMode="auto">
          <a:xfrm flipV="1">
            <a:off x="3775043" y="3996168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7" name="Rectangle 14"/>
          <p:cNvSpPr>
            <a:spLocks noChangeArrowheads="1"/>
          </p:cNvSpPr>
          <p:nvPr/>
        </p:nvSpPr>
        <p:spPr bwMode="auto">
          <a:xfrm flipV="1">
            <a:off x="2462709" y="3996168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979234" y="4435164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3291568" y="4435164"/>
            <a:ext cx="1111100" cy="202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4585399" y="4435164"/>
            <a:ext cx="1111100" cy="202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4585399" y="4637386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</a:t>
            </a:r>
          </a:p>
        </p:txBody>
      </p:sp>
      <p:sp>
        <p:nvSpPr>
          <p:cNvPr id="82" name="직사각형 81"/>
          <p:cNvSpPr/>
          <p:nvPr/>
        </p:nvSpPr>
        <p:spPr>
          <a:xfrm>
            <a:off x="4585399" y="4839607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</a:t>
            </a:r>
          </a:p>
        </p:txBody>
      </p:sp>
      <p:cxnSp>
        <p:nvCxnSpPr>
          <p:cNvPr id="12" name="직선 연결선 11"/>
          <p:cNvCxnSpPr>
            <a:stCxn id="9" idx="0"/>
          </p:cNvCxnSpPr>
          <p:nvPr/>
        </p:nvCxnSpPr>
        <p:spPr>
          <a:xfrm flipV="1">
            <a:off x="2534784" y="4213653"/>
            <a:ext cx="0" cy="22151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>
            <a:stCxn id="78" idx="0"/>
            <a:endCxn id="76" idx="0"/>
          </p:cNvCxnSpPr>
          <p:nvPr/>
        </p:nvCxnSpPr>
        <p:spPr>
          <a:xfrm flipV="1">
            <a:off x="3847118" y="4135873"/>
            <a:ext cx="0" cy="2992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>
            <a:stCxn id="79" idx="0"/>
            <a:endCxn id="75" idx="0"/>
          </p:cNvCxnSpPr>
          <p:nvPr/>
        </p:nvCxnSpPr>
        <p:spPr>
          <a:xfrm flipV="1">
            <a:off x="5140949" y="4135873"/>
            <a:ext cx="0" cy="2992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양쪽 모서리가 둥근 사각형 84"/>
          <p:cNvSpPr/>
          <p:nvPr/>
        </p:nvSpPr>
        <p:spPr>
          <a:xfrm rot="10800000">
            <a:off x="3880984" y="5534408"/>
            <a:ext cx="1259964" cy="24642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6" name="양쪽 모서리가 둥근 사각형 85"/>
          <p:cNvSpPr/>
          <p:nvPr/>
        </p:nvSpPr>
        <p:spPr>
          <a:xfrm>
            <a:off x="2534785" y="5207147"/>
            <a:ext cx="1312333" cy="315295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7" name="직선 연결선 86"/>
          <p:cNvCxnSpPr/>
          <p:nvPr/>
        </p:nvCxnSpPr>
        <p:spPr>
          <a:xfrm>
            <a:off x="1828797" y="5522442"/>
            <a:ext cx="4036643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14"/>
          <p:cNvSpPr>
            <a:spLocks noChangeArrowheads="1"/>
          </p:cNvSpPr>
          <p:nvPr/>
        </p:nvSpPr>
        <p:spPr bwMode="auto">
          <a:xfrm flipV="1">
            <a:off x="5068874" y="5452589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9" name="Rectangle 14"/>
          <p:cNvSpPr>
            <a:spLocks noChangeArrowheads="1"/>
          </p:cNvSpPr>
          <p:nvPr/>
        </p:nvSpPr>
        <p:spPr bwMode="auto">
          <a:xfrm flipV="1">
            <a:off x="3775043" y="5452589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0" name="Rectangle 14"/>
          <p:cNvSpPr>
            <a:spLocks noChangeArrowheads="1"/>
          </p:cNvSpPr>
          <p:nvPr/>
        </p:nvSpPr>
        <p:spPr bwMode="auto">
          <a:xfrm flipV="1">
            <a:off x="2462709" y="5452589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1979234" y="5891585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3291568" y="5891585"/>
            <a:ext cx="1111100" cy="202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4585399" y="5891585"/>
            <a:ext cx="1111100" cy="202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4585399" y="6093807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</a:t>
            </a:r>
          </a:p>
        </p:txBody>
      </p:sp>
      <p:sp>
        <p:nvSpPr>
          <p:cNvPr id="95" name="직사각형 94"/>
          <p:cNvSpPr/>
          <p:nvPr/>
        </p:nvSpPr>
        <p:spPr>
          <a:xfrm>
            <a:off x="3291568" y="6084085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</a:t>
            </a:r>
          </a:p>
        </p:txBody>
      </p:sp>
      <p:cxnSp>
        <p:nvCxnSpPr>
          <p:cNvPr id="96" name="직선 연결선 95"/>
          <p:cNvCxnSpPr>
            <a:stCxn id="91" idx="0"/>
          </p:cNvCxnSpPr>
          <p:nvPr/>
        </p:nvCxnSpPr>
        <p:spPr>
          <a:xfrm flipV="1">
            <a:off x="2534784" y="5670074"/>
            <a:ext cx="0" cy="22151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>
            <a:stCxn id="92" idx="0"/>
            <a:endCxn id="89" idx="0"/>
          </p:cNvCxnSpPr>
          <p:nvPr/>
        </p:nvCxnSpPr>
        <p:spPr>
          <a:xfrm flipV="1">
            <a:off x="3847118" y="5592294"/>
            <a:ext cx="0" cy="2992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>
            <a:stCxn id="93" idx="0"/>
            <a:endCxn id="88" idx="0"/>
          </p:cNvCxnSpPr>
          <p:nvPr/>
        </p:nvCxnSpPr>
        <p:spPr>
          <a:xfrm flipV="1">
            <a:off x="5140949" y="5592294"/>
            <a:ext cx="0" cy="2992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모서리가 둥근 직사각형 33"/>
          <p:cNvSpPr/>
          <p:nvPr/>
        </p:nvSpPr>
        <p:spPr>
          <a:xfrm>
            <a:off x="169333" y="3925347"/>
            <a:ext cx="1388534" cy="305280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복합우선권주장</a:t>
            </a:r>
          </a:p>
        </p:txBody>
      </p:sp>
      <p:sp>
        <p:nvSpPr>
          <p:cNvPr id="99" name="모서리가 둥근 직사각형 98"/>
          <p:cNvSpPr/>
          <p:nvPr/>
        </p:nvSpPr>
        <p:spPr>
          <a:xfrm>
            <a:off x="169333" y="5369802"/>
            <a:ext cx="1388534" cy="305280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누적적우선권주장</a:t>
            </a:r>
            <a:endParaRPr lang="ko-KR" altLang="en-US" sz="1200" dirty="0"/>
          </a:p>
        </p:txBody>
      </p:sp>
      <p:cxnSp>
        <p:nvCxnSpPr>
          <p:cNvPr id="36" name="직선 연결선 35"/>
          <p:cNvCxnSpPr/>
          <p:nvPr/>
        </p:nvCxnSpPr>
        <p:spPr>
          <a:xfrm>
            <a:off x="347133" y="5139265"/>
            <a:ext cx="5518307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모서리가 둥근 사각형 설명선 41"/>
          <p:cNvSpPr/>
          <p:nvPr/>
        </p:nvSpPr>
        <p:spPr>
          <a:xfrm>
            <a:off x="1202268" y="6477003"/>
            <a:ext cx="4174066" cy="277283"/>
          </a:xfrm>
          <a:prstGeom prst="wedgeRoundRectCallout">
            <a:avLst>
              <a:gd name="adj1" fmla="val 33818"/>
              <a:gd name="adj2" fmla="val -102386"/>
              <a:gd name="adj3" fmla="val 16667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Y</a:t>
            </a:r>
            <a:r>
              <a:rPr lang="ko-KR" altLang="en-US" sz="1100" dirty="0">
                <a:solidFill>
                  <a:schemeClr val="tx1"/>
                </a:solidFill>
              </a:rPr>
              <a:t>기초 우선권주장이 국내우선권주장일 때 이를 이중우선권주장이라 함</a:t>
            </a:r>
          </a:p>
        </p:txBody>
      </p:sp>
      <p:cxnSp>
        <p:nvCxnSpPr>
          <p:cNvPr id="102" name="직선 연결선 101"/>
          <p:cNvCxnSpPr/>
          <p:nvPr/>
        </p:nvCxnSpPr>
        <p:spPr>
          <a:xfrm>
            <a:off x="6392333" y="4864021"/>
            <a:ext cx="562186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4"/>
          <p:cNvSpPr>
            <a:spLocks noChangeArrowheads="1"/>
          </p:cNvSpPr>
          <p:nvPr/>
        </p:nvSpPr>
        <p:spPr bwMode="auto">
          <a:xfrm flipV="1">
            <a:off x="11063313" y="4794168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4" name="Rectangle 14"/>
          <p:cNvSpPr>
            <a:spLocks noChangeArrowheads="1"/>
          </p:cNvSpPr>
          <p:nvPr/>
        </p:nvSpPr>
        <p:spPr bwMode="auto">
          <a:xfrm flipV="1">
            <a:off x="9058254" y="4794168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5" name="Rectangle 14"/>
          <p:cNvSpPr>
            <a:spLocks noChangeArrowheads="1"/>
          </p:cNvSpPr>
          <p:nvPr/>
        </p:nvSpPr>
        <p:spPr bwMode="auto">
          <a:xfrm flipV="1">
            <a:off x="7127829" y="4794168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6644354" y="5233164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8574779" y="5233164"/>
            <a:ext cx="1111100" cy="202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10579838" y="5233164"/>
            <a:ext cx="1111100" cy="202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10579838" y="5435386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</a:t>
            </a:r>
          </a:p>
        </p:txBody>
      </p:sp>
      <p:sp>
        <p:nvSpPr>
          <p:cNvPr id="110" name="직사각형 109"/>
          <p:cNvSpPr/>
          <p:nvPr/>
        </p:nvSpPr>
        <p:spPr>
          <a:xfrm>
            <a:off x="8574779" y="5425664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</a:t>
            </a:r>
          </a:p>
        </p:txBody>
      </p:sp>
      <p:cxnSp>
        <p:nvCxnSpPr>
          <p:cNvPr id="111" name="직선 연결선 110"/>
          <p:cNvCxnSpPr>
            <a:stCxn id="106" idx="0"/>
          </p:cNvCxnSpPr>
          <p:nvPr/>
        </p:nvCxnSpPr>
        <p:spPr>
          <a:xfrm flipV="1">
            <a:off x="7199904" y="5011653"/>
            <a:ext cx="0" cy="22151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/>
          <p:cNvCxnSpPr>
            <a:stCxn id="107" idx="0"/>
            <a:endCxn id="104" idx="0"/>
          </p:cNvCxnSpPr>
          <p:nvPr/>
        </p:nvCxnSpPr>
        <p:spPr>
          <a:xfrm flipV="1">
            <a:off x="9130329" y="4933873"/>
            <a:ext cx="0" cy="2992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/>
          <p:cNvCxnSpPr>
            <a:stCxn id="108" idx="0"/>
            <a:endCxn id="103" idx="0"/>
          </p:cNvCxnSpPr>
          <p:nvPr/>
        </p:nvCxnSpPr>
        <p:spPr>
          <a:xfrm flipV="1">
            <a:off x="11135388" y="4933873"/>
            <a:ext cx="0" cy="2992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그룹 132"/>
          <p:cNvGrpSpPr/>
          <p:nvPr/>
        </p:nvGrpSpPr>
        <p:grpSpPr>
          <a:xfrm>
            <a:off x="6827028" y="3818361"/>
            <a:ext cx="4675206" cy="848959"/>
            <a:chOff x="6827028" y="4386126"/>
            <a:chExt cx="4675206" cy="459001"/>
          </a:xfrm>
        </p:grpSpPr>
        <p:sp>
          <p:nvSpPr>
            <p:cNvPr id="114" name="직사각형 113"/>
            <p:cNvSpPr/>
            <p:nvPr/>
          </p:nvSpPr>
          <p:spPr>
            <a:xfrm>
              <a:off x="6827028" y="4386126"/>
              <a:ext cx="733692" cy="2295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5" name="직사각형 114"/>
            <p:cNvSpPr/>
            <p:nvPr/>
          </p:nvSpPr>
          <p:spPr>
            <a:xfrm>
              <a:off x="6827028" y="4615627"/>
              <a:ext cx="733692" cy="2295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6" name="직사각형 115"/>
            <p:cNvSpPr/>
            <p:nvPr/>
          </p:nvSpPr>
          <p:spPr>
            <a:xfrm>
              <a:off x="8763483" y="4386126"/>
              <a:ext cx="733692" cy="2295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A, B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7" name="직사각형 116"/>
            <p:cNvSpPr/>
            <p:nvPr/>
          </p:nvSpPr>
          <p:spPr>
            <a:xfrm>
              <a:off x="8763483" y="4615627"/>
              <a:ext cx="733692" cy="2295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A, B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8" name="직사각형 117"/>
            <p:cNvSpPr/>
            <p:nvPr/>
          </p:nvSpPr>
          <p:spPr>
            <a:xfrm>
              <a:off x="10768542" y="4386126"/>
              <a:ext cx="733692" cy="2295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A, B, C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9" name="직사각형 118"/>
            <p:cNvSpPr/>
            <p:nvPr/>
          </p:nvSpPr>
          <p:spPr>
            <a:xfrm>
              <a:off x="10768542" y="4615627"/>
              <a:ext cx="733692" cy="2295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A, B, C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23" name="직선 연결선 122"/>
          <p:cNvCxnSpPr>
            <a:stCxn id="115" idx="3"/>
            <a:endCxn id="117" idx="1"/>
          </p:cNvCxnSpPr>
          <p:nvPr/>
        </p:nvCxnSpPr>
        <p:spPr>
          <a:xfrm>
            <a:off x="7560720" y="4455081"/>
            <a:ext cx="1202763" cy="0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/>
          <p:cNvCxnSpPr>
            <a:stCxn id="117" idx="3"/>
            <a:endCxn id="119" idx="1"/>
          </p:cNvCxnSpPr>
          <p:nvPr/>
        </p:nvCxnSpPr>
        <p:spPr>
          <a:xfrm>
            <a:off x="9497175" y="4455081"/>
            <a:ext cx="1271367" cy="0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/>
          <p:cNvCxnSpPr>
            <a:stCxn id="117" idx="3"/>
            <a:endCxn id="118" idx="1"/>
          </p:cNvCxnSpPr>
          <p:nvPr/>
        </p:nvCxnSpPr>
        <p:spPr>
          <a:xfrm flipV="1">
            <a:off x="9497175" y="4030601"/>
            <a:ext cx="1271367" cy="424480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직사각형 129"/>
          <p:cNvSpPr/>
          <p:nvPr/>
        </p:nvSpPr>
        <p:spPr>
          <a:xfrm>
            <a:off x="7937831" y="4325870"/>
            <a:ext cx="554239" cy="2567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55</a:t>
            </a:r>
            <a:r>
              <a:rPr lang="ko-KR" altLang="en-US" sz="1000" dirty="0">
                <a:solidFill>
                  <a:schemeClr val="tx1"/>
                </a:solidFill>
              </a:rPr>
              <a:t>조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5</a:t>
            </a:r>
            <a:r>
              <a:rPr lang="ko-KR" altLang="en-US" sz="1000" dirty="0">
                <a:solidFill>
                  <a:schemeClr val="tx1"/>
                </a:solidFill>
              </a:rPr>
              <a:t>항</a:t>
            </a:r>
          </a:p>
        </p:txBody>
      </p:sp>
      <p:sp>
        <p:nvSpPr>
          <p:cNvPr id="131" name="직사각형 130"/>
          <p:cNvSpPr/>
          <p:nvPr/>
        </p:nvSpPr>
        <p:spPr>
          <a:xfrm>
            <a:off x="9906817" y="4423339"/>
            <a:ext cx="583719" cy="2567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55</a:t>
            </a:r>
            <a:r>
              <a:rPr lang="ko-KR" altLang="en-US" sz="1000" dirty="0">
                <a:solidFill>
                  <a:schemeClr val="tx1"/>
                </a:solidFill>
              </a:rPr>
              <a:t>조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4</a:t>
            </a:r>
            <a:r>
              <a:rPr lang="ko-KR" altLang="en-US" sz="1000" dirty="0">
                <a:solidFill>
                  <a:schemeClr val="tx1"/>
                </a:solidFill>
              </a:rPr>
              <a:t>항</a:t>
            </a:r>
          </a:p>
        </p:txBody>
      </p:sp>
      <p:sp>
        <p:nvSpPr>
          <p:cNvPr id="132" name="직사각형 131"/>
          <p:cNvSpPr/>
          <p:nvPr/>
        </p:nvSpPr>
        <p:spPr>
          <a:xfrm>
            <a:off x="9910983" y="4098940"/>
            <a:ext cx="579553" cy="2567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55</a:t>
            </a:r>
            <a:r>
              <a:rPr lang="ko-KR" altLang="en-US" sz="1000" dirty="0">
                <a:solidFill>
                  <a:schemeClr val="tx1"/>
                </a:solidFill>
              </a:rPr>
              <a:t>조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3</a:t>
            </a:r>
            <a:r>
              <a:rPr lang="ko-KR" altLang="en-US" sz="1000" dirty="0">
                <a:solidFill>
                  <a:schemeClr val="tx1"/>
                </a:solidFill>
              </a:rPr>
              <a:t>항</a:t>
            </a:r>
          </a:p>
        </p:txBody>
      </p:sp>
      <p:sp>
        <p:nvSpPr>
          <p:cNvPr id="64" name="직사각형 63"/>
          <p:cNvSpPr/>
          <p:nvPr/>
        </p:nvSpPr>
        <p:spPr>
          <a:xfrm>
            <a:off x="8519567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심</a:t>
            </a:r>
          </a:p>
        </p:txBody>
      </p:sp>
      <p:sp>
        <p:nvSpPr>
          <p:cNvPr id="65" name="직사각형 64"/>
          <p:cNvSpPr/>
          <p:nvPr/>
        </p:nvSpPr>
        <p:spPr>
          <a:xfrm>
            <a:off x="9146320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</a:t>
            </a:r>
          </a:p>
        </p:txBody>
      </p:sp>
      <p:sp>
        <p:nvSpPr>
          <p:cNvPr id="66" name="직사각형 65"/>
          <p:cNvSpPr/>
          <p:nvPr/>
        </p:nvSpPr>
        <p:spPr>
          <a:xfrm>
            <a:off x="9773073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존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10388877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재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10979427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등</a:t>
            </a:r>
          </a:p>
        </p:txBody>
      </p:sp>
      <p:sp>
        <p:nvSpPr>
          <p:cNvPr id="69" name="직사각형 68"/>
          <p:cNvSpPr/>
          <p:nvPr/>
        </p:nvSpPr>
        <p:spPr>
          <a:xfrm>
            <a:off x="11589028" y="6181761"/>
            <a:ext cx="514350" cy="51435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24801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7" name="직선 연결선 156"/>
          <p:cNvCxnSpPr/>
          <p:nvPr/>
        </p:nvCxnSpPr>
        <p:spPr>
          <a:xfrm>
            <a:off x="7765666" y="3965545"/>
            <a:ext cx="0" cy="28077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/>
          <p:cNvCxnSpPr/>
          <p:nvPr/>
        </p:nvCxnSpPr>
        <p:spPr>
          <a:xfrm>
            <a:off x="5168328" y="3965545"/>
            <a:ext cx="0" cy="28077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/>
          <p:cNvCxnSpPr>
            <a:stCxn id="106" idx="2"/>
          </p:cNvCxnSpPr>
          <p:nvPr/>
        </p:nvCxnSpPr>
        <p:spPr>
          <a:xfrm>
            <a:off x="2653269" y="3965545"/>
            <a:ext cx="0" cy="28077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55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56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이중우선권주장의</a:t>
            </a:r>
            <a:r>
              <a:rPr lang="ko-KR" altLang="en-US" dirty="0"/>
              <a:t>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cxnSp>
        <p:nvCxnSpPr>
          <p:cNvPr id="56" name="직선 연결선 55"/>
          <p:cNvCxnSpPr/>
          <p:nvPr/>
        </p:nvCxnSpPr>
        <p:spPr>
          <a:xfrm>
            <a:off x="0" y="2375794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77875" y="986046"/>
            <a:ext cx="119363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Z </a:t>
            </a:r>
            <a:r>
              <a:rPr lang="ko-KR" altLang="en-US" sz="1400" dirty="0">
                <a:solidFill>
                  <a:schemeClr val="tx2"/>
                </a:solidFill>
              </a:rPr>
              <a:t>출원은 </a:t>
            </a:r>
            <a:r>
              <a:rPr lang="en-US" altLang="ko-KR" sz="1400" dirty="0">
                <a:solidFill>
                  <a:schemeClr val="tx2"/>
                </a:solidFill>
              </a:rPr>
              <a:t>X </a:t>
            </a:r>
            <a:r>
              <a:rPr lang="ko-KR" altLang="en-US" sz="1400" dirty="0">
                <a:solidFill>
                  <a:schemeClr val="tx2"/>
                </a:solidFill>
              </a:rPr>
              <a:t>기초와 </a:t>
            </a:r>
            <a:r>
              <a:rPr lang="en-US" altLang="ko-KR" sz="1400" dirty="0">
                <a:solidFill>
                  <a:schemeClr val="tx2"/>
                </a:solidFill>
              </a:rPr>
              <a:t>Y </a:t>
            </a:r>
            <a:r>
              <a:rPr lang="ko-KR" altLang="en-US" sz="1400" dirty="0">
                <a:solidFill>
                  <a:schemeClr val="tx2"/>
                </a:solidFill>
              </a:rPr>
              <a:t>기초의 복합우선으로서 우선권주장에 의한 소급효 여부는 </a:t>
            </a:r>
            <a:r>
              <a:rPr lang="en-US" altLang="ko-KR" sz="1400" dirty="0">
                <a:solidFill>
                  <a:schemeClr val="tx2"/>
                </a:solidFill>
              </a:rPr>
              <a:t>X </a:t>
            </a:r>
            <a:r>
              <a:rPr lang="ko-KR" altLang="en-US" sz="1400" dirty="0">
                <a:solidFill>
                  <a:schemeClr val="tx2"/>
                </a:solidFill>
              </a:rPr>
              <a:t>기초에 의한 우선권주장과 </a:t>
            </a:r>
            <a:r>
              <a:rPr lang="en-US" altLang="ko-KR" sz="1400" dirty="0">
                <a:solidFill>
                  <a:schemeClr val="tx2"/>
                </a:solidFill>
              </a:rPr>
              <a:t>Y </a:t>
            </a:r>
            <a:r>
              <a:rPr lang="ko-KR" altLang="en-US" sz="1400" dirty="0">
                <a:solidFill>
                  <a:schemeClr val="tx2"/>
                </a:solidFill>
              </a:rPr>
              <a:t>기초에 의한 우선권주장을 각각 별도로 판단한 후 </a:t>
            </a:r>
            <a:r>
              <a:rPr lang="ko-KR" altLang="en-US" sz="1400" dirty="0" err="1">
                <a:solidFill>
                  <a:schemeClr val="tx2"/>
                </a:solidFill>
              </a:rPr>
              <a:t>출원인에게</a:t>
            </a:r>
            <a:r>
              <a:rPr lang="ko-KR" altLang="en-US" sz="1400" dirty="0">
                <a:solidFill>
                  <a:schemeClr val="tx2"/>
                </a:solidFill>
              </a:rPr>
              <a:t> 유리하게 해석하여야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먼저</a:t>
            </a:r>
            <a:r>
              <a:rPr lang="en-US" altLang="ko-KR" sz="1400" dirty="0">
                <a:solidFill>
                  <a:schemeClr val="tx2"/>
                </a:solidFill>
              </a:rPr>
              <a:t>, X </a:t>
            </a:r>
            <a:r>
              <a:rPr lang="ko-KR" altLang="en-US" sz="1400" dirty="0">
                <a:solidFill>
                  <a:schemeClr val="tx2"/>
                </a:solidFill>
              </a:rPr>
              <a:t>기초의 우선권주장은 </a:t>
            </a:r>
            <a:r>
              <a:rPr lang="en-US" altLang="ko-KR" sz="1400" dirty="0">
                <a:solidFill>
                  <a:schemeClr val="tx2"/>
                </a:solidFill>
              </a:rPr>
              <a:t>Z</a:t>
            </a:r>
            <a:r>
              <a:rPr lang="ko-KR" altLang="en-US" sz="1400" dirty="0">
                <a:solidFill>
                  <a:schemeClr val="tx2"/>
                </a:solidFill>
              </a:rPr>
              <a:t>출원의 청구범위에 기재된 </a:t>
            </a:r>
            <a:r>
              <a:rPr lang="en-US" altLang="ko-KR" sz="1400" dirty="0">
                <a:solidFill>
                  <a:schemeClr val="tx2"/>
                </a:solidFill>
              </a:rPr>
              <a:t>A, B, C </a:t>
            </a:r>
            <a:r>
              <a:rPr lang="ko-KR" altLang="en-US" sz="1400" dirty="0">
                <a:solidFill>
                  <a:schemeClr val="tx2"/>
                </a:solidFill>
              </a:rPr>
              <a:t>발명 중 </a:t>
            </a:r>
            <a:r>
              <a:rPr lang="en-US" altLang="ko-KR" sz="1400" dirty="0">
                <a:solidFill>
                  <a:schemeClr val="tx2"/>
                </a:solidFill>
              </a:rPr>
              <a:t>X</a:t>
            </a:r>
            <a:r>
              <a:rPr lang="ko-KR" altLang="en-US" sz="1400" dirty="0">
                <a:solidFill>
                  <a:schemeClr val="tx2"/>
                </a:solidFill>
              </a:rPr>
              <a:t>출원의 최초 명세서 또는 도면에 기재된 </a:t>
            </a:r>
            <a:r>
              <a:rPr lang="en-US" altLang="ko-KR" sz="1400" dirty="0">
                <a:solidFill>
                  <a:schemeClr val="tx2"/>
                </a:solidFill>
              </a:rPr>
              <a:t>A </a:t>
            </a:r>
            <a:r>
              <a:rPr lang="ko-KR" altLang="en-US" sz="1400" dirty="0">
                <a:solidFill>
                  <a:schemeClr val="tx2"/>
                </a:solidFill>
              </a:rPr>
              <a:t>발명만 </a:t>
            </a:r>
            <a:r>
              <a:rPr lang="en-US" altLang="ko-KR" sz="1400" dirty="0">
                <a:solidFill>
                  <a:schemeClr val="tx2"/>
                </a:solidFill>
              </a:rPr>
              <a:t>X </a:t>
            </a:r>
            <a:r>
              <a:rPr lang="ko-KR" altLang="en-US" sz="1400" dirty="0">
                <a:solidFill>
                  <a:schemeClr val="tx2"/>
                </a:solidFill>
              </a:rPr>
              <a:t>출원일로 판단시점이 소급되고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그렇지 아니한 </a:t>
            </a:r>
            <a:r>
              <a:rPr lang="en-US" altLang="ko-KR" sz="1400" dirty="0">
                <a:solidFill>
                  <a:schemeClr val="tx2"/>
                </a:solidFill>
              </a:rPr>
              <a:t>B, C </a:t>
            </a:r>
            <a:r>
              <a:rPr lang="ko-KR" altLang="en-US" sz="1400" dirty="0">
                <a:solidFill>
                  <a:schemeClr val="tx2"/>
                </a:solidFill>
              </a:rPr>
              <a:t>발명은 판단시점이 소급되지 아니한다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다음으로</a:t>
            </a:r>
            <a:r>
              <a:rPr lang="en-US" altLang="ko-KR" sz="1400" dirty="0">
                <a:solidFill>
                  <a:schemeClr val="tx2"/>
                </a:solidFill>
              </a:rPr>
              <a:t>, Y </a:t>
            </a:r>
            <a:r>
              <a:rPr lang="ko-KR" altLang="en-US" sz="1400" dirty="0">
                <a:solidFill>
                  <a:schemeClr val="tx2"/>
                </a:solidFill>
              </a:rPr>
              <a:t>기초의 우선권주장은 </a:t>
            </a:r>
            <a:r>
              <a:rPr lang="en-US" altLang="ko-KR" sz="1400" dirty="0">
                <a:solidFill>
                  <a:schemeClr val="tx2"/>
                </a:solidFill>
              </a:rPr>
              <a:t>Z</a:t>
            </a:r>
            <a:r>
              <a:rPr lang="ko-KR" altLang="en-US" sz="1400" dirty="0">
                <a:solidFill>
                  <a:schemeClr val="tx2"/>
                </a:solidFill>
              </a:rPr>
              <a:t>출원의 청구범위에 기재된 </a:t>
            </a:r>
            <a:r>
              <a:rPr lang="en-US" altLang="ko-KR" sz="1400" dirty="0">
                <a:solidFill>
                  <a:schemeClr val="tx2"/>
                </a:solidFill>
              </a:rPr>
              <a:t>A, B, C </a:t>
            </a:r>
            <a:r>
              <a:rPr lang="ko-KR" altLang="en-US" sz="1400" dirty="0">
                <a:solidFill>
                  <a:schemeClr val="tx2"/>
                </a:solidFill>
              </a:rPr>
              <a:t>발명 중 </a:t>
            </a:r>
            <a:r>
              <a:rPr lang="en-US" altLang="ko-KR" sz="1400" dirty="0">
                <a:solidFill>
                  <a:schemeClr val="tx2"/>
                </a:solidFill>
              </a:rPr>
              <a:t>Y</a:t>
            </a:r>
            <a:r>
              <a:rPr lang="ko-KR" altLang="en-US" sz="1400" dirty="0">
                <a:solidFill>
                  <a:schemeClr val="tx2"/>
                </a:solidFill>
              </a:rPr>
              <a:t>출원의 최초 명세서 또는 도면에 기재된 </a:t>
            </a:r>
            <a:r>
              <a:rPr lang="en-US" altLang="ko-KR" sz="1400" dirty="0">
                <a:solidFill>
                  <a:schemeClr val="tx2"/>
                </a:solidFill>
              </a:rPr>
              <a:t>B </a:t>
            </a:r>
            <a:r>
              <a:rPr lang="ko-KR" altLang="en-US" sz="1400" dirty="0">
                <a:solidFill>
                  <a:schemeClr val="tx2"/>
                </a:solidFill>
              </a:rPr>
              <a:t>발명만</a:t>
            </a:r>
            <a:r>
              <a:rPr lang="en-US" altLang="ko-KR" sz="1400" dirty="0">
                <a:solidFill>
                  <a:schemeClr val="tx2"/>
                </a:solidFill>
              </a:rPr>
              <a:t>, Y </a:t>
            </a:r>
            <a:r>
              <a:rPr lang="ko-KR" altLang="en-US" sz="1400" dirty="0">
                <a:solidFill>
                  <a:schemeClr val="tx2"/>
                </a:solidFill>
              </a:rPr>
              <a:t>출원일로 판단시점이 소급되고 그렇지 아니한 </a:t>
            </a:r>
            <a:r>
              <a:rPr lang="en-US" altLang="ko-KR" sz="1400" dirty="0">
                <a:solidFill>
                  <a:schemeClr val="tx2"/>
                </a:solidFill>
              </a:rPr>
              <a:t>C </a:t>
            </a:r>
            <a:r>
              <a:rPr lang="ko-KR" altLang="en-US" sz="1400" dirty="0">
                <a:solidFill>
                  <a:schemeClr val="tx2"/>
                </a:solidFill>
              </a:rPr>
              <a:t>발명은 판단시점이 소급되지 아니한다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</a:rPr>
              <a:t>, A </a:t>
            </a:r>
            <a:r>
              <a:rPr lang="ko-KR" altLang="en-US" sz="1400" dirty="0">
                <a:solidFill>
                  <a:schemeClr val="tx2"/>
                </a:solidFill>
              </a:rPr>
              <a:t>발명은 </a:t>
            </a:r>
            <a:r>
              <a:rPr lang="en-US" altLang="ko-KR" sz="1400" dirty="0">
                <a:solidFill>
                  <a:schemeClr val="tx2"/>
                </a:solidFill>
              </a:rPr>
              <a:t>Y </a:t>
            </a:r>
            <a:r>
              <a:rPr lang="ko-KR" altLang="en-US" sz="1400" dirty="0">
                <a:solidFill>
                  <a:schemeClr val="tx2"/>
                </a:solidFill>
              </a:rPr>
              <a:t>출원의 최초 명세서 또는 도면에 기재되어 있으나 제</a:t>
            </a:r>
            <a:r>
              <a:rPr lang="en-US" altLang="ko-KR" sz="1400" dirty="0">
                <a:solidFill>
                  <a:schemeClr val="tx2"/>
                </a:solidFill>
              </a:rPr>
              <a:t>55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5</a:t>
            </a:r>
            <a:r>
              <a:rPr lang="ko-KR" altLang="en-US" sz="1400" dirty="0">
                <a:solidFill>
                  <a:schemeClr val="tx2"/>
                </a:solidFill>
              </a:rPr>
              <a:t>항의 이중우선으로 판단시점이 소급되지 아니한다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따라서 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Z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출원 발명의 특허요건은 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A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발명은 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X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출원일을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기준으로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, B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발명은 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Y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출원일을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기준으로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, C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발명은 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Z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출원일을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기준으로 판단</a:t>
            </a:r>
            <a:r>
              <a:rPr lang="ko-KR" altLang="en-US" sz="1400" dirty="0">
                <a:solidFill>
                  <a:schemeClr val="tx2"/>
                </a:solidFill>
              </a:rPr>
              <a:t>하게 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102" name="직선 연결선 101"/>
          <p:cNvCxnSpPr/>
          <p:nvPr/>
        </p:nvCxnSpPr>
        <p:spPr>
          <a:xfrm>
            <a:off x="389467" y="3394181"/>
            <a:ext cx="11438466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4"/>
          <p:cNvSpPr>
            <a:spLocks noChangeArrowheads="1"/>
          </p:cNvSpPr>
          <p:nvPr/>
        </p:nvSpPr>
        <p:spPr bwMode="auto">
          <a:xfrm flipV="1">
            <a:off x="7693591" y="3324328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4" name="Rectangle 14"/>
          <p:cNvSpPr>
            <a:spLocks noChangeArrowheads="1"/>
          </p:cNvSpPr>
          <p:nvPr/>
        </p:nvSpPr>
        <p:spPr bwMode="auto">
          <a:xfrm flipV="1">
            <a:off x="5095842" y="3324328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5" name="Rectangle 14"/>
          <p:cNvSpPr>
            <a:spLocks noChangeArrowheads="1"/>
          </p:cNvSpPr>
          <p:nvPr/>
        </p:nvSpPr>
        <p:spPr bwMode="auto">
          <a:xfrm flipV="1">
            <a:off x="2581194" y="3324328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2097719" y="3763324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일본출원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4612367" y="3763324"/>
            <a:ext cx="1111100" cy="202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7210116" y="3763324"/>
            <a:ext cx="1111100" cy="202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7210116" y="3965546"/>
            <a:ext cx="1111100" cy="202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accent4"/>
                </a:solidFill>
              </a:rPr>
              <a:t>X</a:t>
            </a:r>
            <a:r>
              <a:rPr lang="ko-KR" altLang="en-US" sz="1000" dirty="0">
                <a:solidFill>
                  <a:schemeClr val="accent4"/>
                </a:solidFill>
              </a:rPr>
              <a:t>기초 우선권주장</a:t>
            </a:r>
          </a:p>
        </p:txBody>
      </p:sp>
      <p:sp>
        <p:nvSpPr>
          <p:cNvPr id="110" name="직사각형 109"/>
          <p:cNvSpPr/>
          <p:nvPr/>
        </p:nvSpPr>
        <p:spPr>
          <a:xfrm>
            <a:off x="4612367" y="3955824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</a:t>
            </a:r>
          </a:p>
        </p:txBody>
      </p:sp>
      <p:cxnSp>
        <p:nvCxnSpPr>
          <p:cNvPr id="111" name="직선 연결선 110"/>
          <p:cNvCxnSpPr>
            <a:stCxn id="106" idx="0"/>
          </p:cNvCxnSpPr>
          <p:nvPr/>
        </p:nvCxnSpPr>
        <p:spPr>
          <a:xfrm flipV="1">
            <a:off x="2653269" y="3541813"/>
            <a:ext cx="0" cy="22151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/>
          <p:cNvCxnSpPr>
            <a:stCxn id="107" idx="0"/>
            <a:endCxn id="104" idx="0"/>
          </p:cNvCxnSpPr>
          <p:nvPr/>
        </p:nvCxnSpPr>
        <p:spPr>
          <a:xfrm flipV="1">
            <a:off x="5167917" y="3464033"/>
            <a:ext cx="0" cy="2992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/>
          <p:cNvCxnSpPr>
            <a:stCxn id="108" idx="0"/>
            <a:endCxn id="103" idx="0"/>
          </p:cNvCxnSpPr>
          <p:nvPr/>
        </p:nvCxnSpPr>
        <p:spPr>
          <a:xfrm flipV="1">
            <a:off x="7765666" y="3464033"/>
            <a:ext cx="0" cy="2992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직사각형 113"/>
          <p:cNvSpPr/>
          <p:nvPr/>
        </p:nvSpPr>
        <p:spPr>
          <a:xfrm>
            <a:off x="2097720" y="2806868"/>
            <a:ext cx="1111099" cy="21224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5" name="직사각형 114"/>
          <p:cNvSpPr/>
          <p:nvPr/>
        </p:nvSpPr>
        <p:spPr>
          <a:xfrm>
            <a:off x="2097720" y="3019108"/>
            <a:ext cx="1111099" cy="2122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4612367" y="2806868"/>
            <a:ext cx="1111923" cy="21224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4612367" y="3019108"/>
            <a:ext cx="1111923" cy="2122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7210116" y="2806868"/>
            <a:ext cx="1111100" cy="21224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7210116" y="3019108"/>
            <a:ext cx="1111100" cy="2122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7210116" y="4168689"/>
            <a:ext cx="1111100" cy="20222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</a:rPr>
              <a:t>Y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</a:rPr>
              <a:t>기초 우선권주장</a:t>
            </a:r>
          </a:p>
        </p:txBody>
      </p:sp>
      <p:sp>
        <p:nvSpPr>
          <p:cNvPr id="141" name="모서리가 둥근 직사각형 140"/>
          <p:cNvSpPr/>
          <p:nvPr/>
        </p:nvSpPr>
        <p:spPr>
          <a:xfrm>
            <a:off x="1563868" y="6067111"/>
            <a:ext cx="8113532" cy="43815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142" name="모서리가 둥근 직사각형 141"/>
          <p:cNvSpPr/>
          <p:nvPr/>
        </p:nvSpPr>
        <p:spPr>
          <a:xfrm>
            <a:off x="1563868" y="5255419"/>
            <a:ext cx="8113532" cy="43815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143" name="모서리가 둥근 직사각형 142"/>
          <p:cNvSpPr/>
          <p:nvPr/>
        </p:nvSpPr>
        <p:spPr>
          <a:xfrm>
            <a:off x="1563868" y="4600575"/>
            <a:ext cx="8113532" cy="43815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144" name="모서리가 둥근 직사각형 143"/>
          <p:cNvSpPr/>
          <p:nvPr/>
        </p:nvSpPr>
        <p:spPr>
          <a:xfrm>
            <a:off x="476250" y="4600575"/>
            <a:ext cx="1087618" cy="43815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4"/>
                </a:solidFill>
              </a:rPr>
              <a:t>X</a:t>
            </a:r>
            <a:r>
              <a:rPr lang="ko-KR" altLang="en-US" sz="1200" dirty="0">
                <a:solidFill>
                  <a:schemeClr val="accent4"/>
                </a:solidFill>
              </a:rPr>
              <a:t>기초</a:t>
            </a:r>
            <a:endParaRPr lang="en-US" altLang="ko-KR" sz="1200" dirty="0">
              <a:solidFill>
                <a:schemeClr val="accent4"/>
              </a:solidFill>
            </a:endParaRPr>
          </a:p>
          <a:p>
            <a:pPr algn="ctr"/>
            <a:r>
              <a:rPr lang="ko-KR" altLang="en-US" sz="1200" dirty="0" err="1">
                <a:solidFill>
                  <a:schemeClr val="accent4"/>
                </a:solidFill>
              </a:rPr>
              <a:t>우선권주장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2110485" y="4600575"/>
            <a:ext cx="1087618" cy="438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Z</a:t>
            </a:r>
            <a:r>
              <a:rPr lang="ko-KR" altLang="en-US" sz="1200" dirty="0">
                <a:solidFill>
                  <a:schemeClr val="tx1"/>
                </a:solidFill>
              </a:rPr>
              <a:t>의 </a:t>
            </a:r>
            <a:r>
              <a:rPr lang="ko-KR" altLang="en-US" sz="1200" dirty="0" err="1">
                <a:solidFill>
                  <a:schemeClr val="tx1"/>
                </a:solidFill>
              </a:rPr>
              <a:t>청구범위</a:t>
            </a:r>
            <a:r>
              <a:rPr lang="ko-KR" altLang="en-US" sz="1200" dirty="0">
                <a:solidFill>
                  <a:schemeClr val="tx1"/>
                </a:solidFill>
              </a:rPr>
              <a:t> 중 </a:t>
            </a:r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46" name="모서리가 둥근 직사각형 145"/>
          <p:cNvSpPr/>
          <p:nvPr/>
        </p:nvSpPr>
        <p:spPr>
          <a:xfrm>
            <a:off x="7214073" y="4600575"/>
            <a:ext cx="1087618" cy="438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Z</a:t>
            </a:r>
            <a:r>
              <a:rPr lang="ko-KR" altLang="en-US" sz="1200" dirty="0">
                <a:solidFill>
                  <a:schemeClr val="tx1"/>
                </a:solidFill>
              </a:rPr>
              <a:t>의 </a:t>
            </a:r>
            <a:r>
              <a:rPr lang="ko-KR" altLang="en-US" sz="1200" dirty="0" err="1">
                <a:solidFill>
                  <a:schemeClr val="tx1"/>
                </a:solidFill>
              </a:rPr>
              <a:t>청구범위</a:t>
            </a:r>
            <a:r>
              <a:rPr lang="ko-KR" altLang="en-US" sz="1200" dirty="0">
                <a:solidFill>
                  <a:schemeClr val="tx1"/>
                </a:solidFill>
              </a:rPr>
              <a:t> 중 </a:t>
            </a:r>
            <a:r>
              <a:rPr lang="en-US" altLang="ko-KR" sz="1200" dirty="0">
                <a:solidFill>
                  <a:schemeClr val="tx1"/>
                </a:solidFill>
              </a:rPr>
              <a:t>B,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476250" y="5245677"/>
            <a:ext cx="1087618" cy="43815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Y</a:t>
            </a:r>
            <a:r>
              <a:rPr lang="ko-KR" altLang="en-US" sz="1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기초</a:t>
            </a:r>
            <a:endParaRPr lang="en-US" altLang="ko-KR" sz="12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ko-KR" altLang="en-US" sz="12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우선권주장</a:t>
            </a:r>
            <a:endParaRPr lang="ko-KR" altLang="en-US" sz="12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8" name="모서리가 둥근 직사각형 147"/>
          <p:cNvSpPr/>
          <p:nvPr/>
        </p:nvSpPr>
        <p:spPr>
          <a:xfrm>
            <a:off x="4620871" y="5245677"/>
            <a:ext cx="1087618" cy="438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Z</a:t>
            </a:r>
            <a:r>
              <a:rPr lang="ko-KR" altLang="en-US" sz="1200" dirty="0">
                <a:solidFill>
                  <a:schemeClr val="tx1"/>
                </a:solidFill>
              </a:rPr>
              <a:t>의 </a:t>
            </a:r>
            <a:r>
              <a:rPr lang="ko-KR" altLang="en-US" sz="1200" dirty="0" err="1">
                <a:solidFill>
                  <a:schemeClr val="tx1"/>
                </a:solidFill>
              </a:rPr>
              <a:t>청구범위</a:t>
            </a:r>
            <a:r>
              <a:rPr lang="ko-KR" altLang="en-US" sz="1200" dirty="0">
                <a:solidFill>
                  <a:schemeClr val="tx1"/>
                </a:solidFill>
              </a:rPr>
              <a:t> 중 </a:t>
            </a:r>
            <a:r>
              <a:rPr lang="en-US" altLang="ko-K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7214073" y="5245677"/>
            <a:ext cx="1087618" cy="438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Z</a:t>
            </a:r>
            <a:r>
              <a:rPr lang="ko-KR" altLang="en-US" sz="1200" dirty="0">
                <a:solidFill>
                  <a:schemeClr val="tx1"/>
                </a:solidFill>
              </a:rPr>
              <a:t>의 </a:t>
            </a:r>
            <a:r>
              <a:rPr lang="ko-KR" altLang="en-US" sz="1200" dirty="0" err="1">
                <a:solidFill>
                  <a:schemeClr val="tx1"/>
                </a:solidFill>
              </a:rPr>
              <a:t>청구범위</a:t>
            </a:r>
            <a:r>
              <a:rPr lang="ko-KR" altLang="en-US" sz="1200" dirty="0">
                <a:solidFill>
                  <a:schemeClr val="tx1"/>
                </a:solidFill>
              </a:rPr>
              <a:t> 중 </a:t>
            </a:r>
            <a:r>
              <a:rPr lang="en-US" altLang="ko-KR" sz="1200" dirty="0">
                <a:solidFill>
                  <a:schemeClr val="tx1"/>
                </a:solidFill>
              </a:rPr>
              <a:t>A,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50" name="직선 연결선 149"/>
          <p:cNvCxnSpPr/>
          <p:nvPr/>
        </p:nvCxnSpPr>
        <p:spPr>
          <a:xfrm>
            <a:off x="161925" y="5819775"/>
            <a:ext cx="9837208" cy="0"/>
          </a:xfrm>
          <a:prstGeom prst="line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모서리가 둥근 직사각형 150"/>
          <p:cNvSpPr/>
          <p:nvPr/>
        </p:nvSpPr>
        <p:spPr>
          <a:xfrm>
            <a:off x="2102018" y="6072188"/>
            <a:ext cx="1087618" cy="438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Z</a:t>
            </a:r>
            <a:r>
              <a:rPr lang="ko-KR" altLang="en-US" sz="1200" dirty="0">
                <a:solidFill>
                  <a:schemeClr val="tx1"/>
                </a:solidFill>
              </a:rPr>
              <a:t>의 </a:t>
            </a:r>
            <a:r>
              <a:rPr lang="ko-KR" altLang="en-US" sz="1200" dirty="0" err="1">
                <a:solidFill>
                  <a:schemeClr val="tx1"/>
                </a:solidFill>
              </a:rPr>
              <a:t>청구범위</a:t>
            </a:r>
            <a:r>
              <a:rPr lang="ko-KR" altLang="en-US" sz="1200" dirty="0">
                <a:solidFill>
                  <a:schemeClr val="tx1"/>
                </a:solidFill>
              </a:rPr>
              <a:t> 중 </a:t>
            </a:r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4620871" y="6067111"/>
            <a:ext cx="1087618" cy="438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Z</a:t>
            </a:r>
            <a:r>
              <a:rPr lang="ko-KR" altLang="en-US" sz="1200" dirty="0">
                <a:solidFill>
                  <a:schemeClr val="tx1"/>
                </a:solidFill>
              </a:rPr>
              <a:t>의 </a:t>
            </a:r>
            <a:r>
              <a:rPr lang="ko-KR" altLang="en-US" sz="1200" dirty="0" err="1">
                <a:solidFill>
                  <a:schemeClr val="tx1"/>
                </a:solidFill>
              </a:rPr>
              <a:t>청구범위</a:t>
            </a:r>
            <a:r>
              <a:rPr lang="ko-KR" altLang="en-US" sz="1200" dirty="0">
                <a:solidFill>
                  <a:schemeClr val="tx1"/>
                </a:solidFill>
              </a:rPr>
              <a:t> 중 </a:t>
            </a:r>
            <a:r>
              <a:rPr lang="en-US" altLang="ko-K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53" name="모서리가 둥근 직사각형 152"/>
          <p:cNvSpPr/>
          <p:nvPr/>
        </p:nvSpPr>
        <p:spPr>
          <a:xfrm>
            <a:off x="7214073" y="6067111"/>
            <a:ext cx="1087618" cy="438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Z</a:t>
            </a:r>
            <a:r>
              <a:rPr lang="ko-KR" altLang="en-US" sz="1200" dirty="0">
                <a:solidFill>
                  <a:schemeClr val="tx1"/>
                </a:solidFill>
              </a:rPr>
              <a:t>의 </a:t>
            </a:r>
            <a:r>
              <a:rPr lang="ko-KR" altLang="en-US" sz="1200" dirty="0" err="1">
                <a:solidFill>
                  <a:schemeClr val="tx1"/>
                </a:solidFill>
              </a:rPr>
              <a:t>청구범위</a:t>
            </a:r>
            <a:r>
              <a:rPr lang="ko-KR" altLang="en-US" sz="1200" dirty="0">
                <a:solidFill>
                  <a:schemeClr val="tx1"/>
                </a:solidFill>
              </a:rPr>
              <a:t> 중 </a:t>
            </a:r>
            <a:r>
              <a:rPr lang="en-US" altLang="ko-KR" sz="1200" dirty="0">
                <a:solidFill>
                  <a:schemeClr val="tx1"/>
                </a:solidFill>
              </a:rPr>
              <a:t>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59" name="직선 연결선 158"/>
          <p:cNvCxnSpPr>
            <a:stCxn id="115" idx="3"/>
            <a:endCxn id="117" idx="1"/>
          </p:cNvCxnSpPr>
          <p:nvPr/>
        </p:nvCxnSpPr>
        <p:spPr>
          <a:xfrm>
            <a:off x="3208819" y="3125228"/>
            <a:ext cx="1403548" cy="0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연결선 161"/>
          <p:cNvCxnSpPr>
            <a:stCxn id="117" idx="3"/>
            <a:endCxn id="118" idx="1"/>
          </p:cNvCxnSpPr>
          <p:nvPr/>
        </p:nvCxnSpPr>
        <p:spPr>
          <a:xfrm flipV="1">
            <a:off x="5724290" y="2912988"/>
            <a:ext cx="1485826" cy="212240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Rectangle 14"/>
          <p:cNvSpPr>
            <a:spLocks noChangeArrowheads="1"/>
          </p:cNvSpPr>
          <p:nvPr/>
        </p:nvSpPr>
        <p:spPr bwMode="auto">
          <a:xfrm flipV="1">
            <a:off x="9261442" y="3324328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68" name="직사각형 167"/>
          <p:cNvSpPr/>
          <p:nvPr/>
        </p:nvSpPr>
        <p:spPr>
          <a:xfrm>
            <a:off x="8777967" y="3763324"/>
            <a:ext cx="1111100" cy="202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취하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70" name="직선 연결선 169"/>
          <p:cNvCxnSpPr>
            <a:stCxn id="168" idx="0"/>
            <a:endCxn id="167" idx="0"/>
          </p:cNvCxnSpPr>
          <p:nvPr/>
        </p:nvCxnSpPr>
        <p:spPr>
          <a:xfrm flipV="1">
            <a:off x="9333517" y="3464033"/>
            <a:ext cx="0" cy="2992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4"/>
          <p:cNvSpPr>
            <a:spLocks noChangeArrowheads="1"/>
          </p:cNvSpPr>
          <p:nvPr/>
        </p:nvSpPr>
        <p:spPr bwMode="auto">
          <a:xfrm flipV="1">
            <a:off x="10775458" y="3324328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72" name="직사각형 171"/>
          <p:cNvSpPr/>
          <p:nvPr/>
        </p:nvSpPr>
        <p:spPr>
          <a:xfrm>
            <a:off x="10291983" y="3763324"/>
            <a:ext cx="1111100" cy="202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공개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74" name="직선 연결선 173"/>
          <p:cNvCxnSpPr>
            <a:stCxn id="172" idx="0"/>
            <a:endCxn id="171" idx="0"/>
          </p:cNvCxnSpPr>
          <p:nvPr/>
        </p:nvCxnSpPr>
        <p:spPr>
          <a:xfrm flipV="1">
            <a:off x="10847533" y="3464033"/>
            <a:ext cx="0" cy="2992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자유형 180"/>
          <p:cNvSpPr/>
          <p:nvPr/>
        </p:nvSpPr>
        <p:spPr>
          <a:xfrm>
            <a:off x="1778000" y="2582335"/>
            <a:ext cx="5960533" cy="559828"/>
          </a:xfrm>
          <a:custGeom>
            <a:avLst/>
            <a:gdLst>
              <a:gd name="connsiteX0" fmla="*/ 5960533 w 5960533"/>
              <a:gd name="connsiteY0" fmla="*/ 228600 h 592667"/>
              <a:gd name="connsiteX1" fmla="*/ 5960533 w 5960533"/>
              <a:gd name="connsiteY1" fmla="*/ 0 h 592667"/>
              <a:gd name="connsiteX2" fmla="*/ 0 w 5960533"/>
              <a:gd name="connsiteY2" fmla="*/ 0 h 592667"/>
              <a:gd name="connsiteX3" fmla="*/ 0 w 5960533"/>
              <a:gd name="connsiteY3" fmla="*/ 592667 h 592667"/>
              <a:gd name="connsiteX4" fmla="*/ 338667 w 5960533"/>
              <a:gd name="connsiteY4" fmla="*/ 592667 h 59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60533" h="592667">
                <a:moveTo>
                  <a:pt x="5960533" y="228600"/>
                </a:moveTo>
                <a:lnTo>
                  <a:pt x="5960533" y="0"/>
                </a:lnTo>
                <a:lnTo>
                  <a:pt x="0" y="0"/>
                </a:lnTo>
                <a:lnTo>
                  <a:pt x="0" y="592667"/>
                </a:lnTo>
                <a:lnTo>
                  <a:pt x="338667" y="592667"/>
                </a:lnTo>
              </a:path>
            </a:pathLst>
          </a:cu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445967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" name="직선 연결선 141"/>
          <p:cNvCxnSpPr/>
          <p:nvPr/>
        </p:nvCxnSpPr>
        <p:spPr>
          <a:xfrm>
            <a:off x="7492200" y="3820262"/>
            <a:ext cx="0" cy="28283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46"/>
          <p:cNvCxnSpPr/>
          <p:nvPr/>
        </p:nvCxnSpPr>
        <p:spPr>
          <a:xfrm>
            <a:off x="2809274" y="3820262"/>
            <a:ext cx="0" cy="28283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양쪽 모서리가 둥근 사각형 136"/>
          <p:cNvSpPr/>
          <p:nvPr/>
        </p:nvSpPr>
        <p:spPr>
          <a:xfrm>
            <a:off x="5939743" y="3027676"/>
            <a:ext cx="5909128" cy="690520"/>
          </a:xfrm>
          <a:prstGeom prst="round2SameRect">
            <a:avLst>
              <a:gd name="adj1" fmla="val 50000"/>
              <a:gd name="adj2" fmla="val 0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55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56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이중우선권주장출원의 </a:t>
            </a:r>
            <a:r>
              <a:rPr lang="ko-KR" altLang="en-US" dirty="0" err="1"/>
              <a:t>등록금지적</a:t>
            </a:r>
            <a:r>
              <a:rPr lang="ko-KR" altLang="en-US" dirty="0"/>
              <a:t> 효력</a:t>
            </a:r>
            <a:r>
              <a:rPr lang="en-US" altLang="ko-KR" sz="2400" dirty="0"/>
              <a:t>(</a:t>
            </a:r>
            <a:r>
              <a:rPr lang="ko-KR" altLang="en-US" sz="2400" dirty="0"/>
              <a:t>다른 출원의 지위</a:t>
            </a:r>
            <a:r>
              <a:rPr lang="en-US" altLang="ko-KR" sz="2400" dirty="0"/>
              <a:t>)</a:t>
            </a:r>
            <a:endParaRPr lang="ko-KR" altLang="en-US" dirty="0"/>
          </a:p>
        </p:txBody>
      </p:sp>
      <p:sp>
        <p:nvSpPr>
          <p:cNvPr id="89" name="직사각형 88"/>
          <p:cNvSpPr/>
          <p:nvPr/>
        </p:nvSpPr>
        <p:spPr>
          <a:xfrm>
            <a:off x="354377" y="1354081"/>
            <a:ext cx="1111099" cy="212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354377" y="1566321"/>
            <a:ext cx="1111099" cy="2122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2253724" y="1354081"/>
            <a:ext cx="1111923" cy="212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2253724" y="1566321"/>
            <a:ext cx="1111923" cy="2122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6936650" y="1354081"/>
            <a:ext cx="1111100" cy="212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6936650" y="1566321"/>
            <a:ext cx="1111100" cy="2122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20" name="양쪽 모서리가 둥근 사각형 119"/>
          <p:cNvSpPr/>
          <p:nvPr/>
        </p:nvSpPr>
        <p:spPr>
          <a:xfrm>
            <a:off x="1465476" y="2932839"/>
            <a:ext cx="4472531" cy="764522"/>
          </a:xfrm>
          <a:prstGeom prst="round2SameRect">
            <a:avLst>
              <a:gd name="adj1" fmla="val 50000"/>
              <a:gd name="adj2" fmla="val 0"/>
            </a:avLst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직사각형 120"/>
          <p:cNvSpPr/>
          <p:nvPr/>
        </p:nvSpPr>
        <p:spPr>
          <a:xfrm>
            <a:off x="3913974" y="2721700"/>
            <a:ext cx="803281" cy="211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Y</a:t>
            </a:r>
            <a:r>
              <a:rPr lang="ko-KR" altLang="en-US" sz="1100" dirty="0">
                <a:solidFill>
                  <a:schemeClr val="tx1"/>
                </a:solidFill>
              </a:rPr>
              <a:t>의 </a:t>
            </a:r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3971999" y="3077702"/>
            <a:ext cx="803281" cy="211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Y</a:t>
            </a:r>
            <a:r>
              <a:rPr lang="ko-KR" altLang="en-US" sz="1100" dirty="0">
                <a:solidFill>
                  <a:schemeClr val="tx1"/>
                </a:solidFill>
              </a:rPr>
              <a:t>의 </a:t>
            </a:r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24" name="양쪽 모서리가 둥근 사각형 123"/>
          <p:cNvSpPr/>
          <p:nvPr/>
        </p:nvSpPr>
        <p:spPr>
          <a:xfrm>
            <a:off x="5939742" y="2941385"/>
            <a:ext cx="5909129" cy="764522"/>
          </a:xfrm>
          <a:prstGeom prst="round2SameRect">
            <a:avLst>
              <a:gd name="adj1" fmla="val 50000"/>
              <a:gd name="adj2" fmla="val 0"/>
            </a:avLst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직사각형 124"/>
          <p:cNvSpPr/>
          <p:nvPr/>
        </p:nvSpPr>
        <p:spPr>
          <a:xfrm>
            <a:off x="8586335" y="2721700"/>
            <a:ext cx="803281" cy="211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Y</a:t>
            </a:r>
            <a:r>
              <a:rPr lang="ko-KR" altLang="en-US" sz="1100" dirty="0">
                <a:solidFill>
                  <a:schemeClr val="tx1"/>
                </a:solidFill>
              </a:rPr>
              <a:t>의 </a:t>
            </a:r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26" name="양쪽 모서리가 둥근 사각형 125"/>
          <p:cNvSpPr/>
          <p:nvPr/>
        </p:nvSpPr>
        <p:spPr>
          <a:xfrm rot="10800000">
            <a:off x="2253727" y="3705914"/>
            <a:ext cx="9664806" cy="1150708"/>
          </a:xfrm>
          <a:prstGeom prst="round2SameRect">
            <a:avLst>
              <a:gd name="adj1" fmla="val 50000"/>
              <a:gd name="adj2" fmla="val 0"/>
            </a:avLst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양쪽 모서리가 둥근 사각형 126"/>
          <p:cNvSpPr/>
          <p:nvPr/>
        </p:nvSpPr>
        <p:spPr>
          <a:xfrm>
            <a:off x="3364824" y="3288839"/>
            <a:ext cx="2573183" cy="408521"/>
          </a:xfrm>
          <a:prstGeom prst="round2SameRect">
            <a:avLst>
              <a:gd name="adj1" fmla="val 50000"/>
              <a:gd name="adj2" fmla="val 0"/>
            </a:avLst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양쪽 모서리가 둥근 사각형 127"/>
          <p:cNvSpPr/>
          <p:nvPr/>
        </p:nvSpPr>
        <p:spPr>
          <a:xfrm rot="10800000">
            <a:off x="6936648" y="3705910"/>
            <a:ext cx="4912224" cy="857881"/>
          </a:xfrm>
          <a:prstGeom prst="round2SameRect">
            <a:avLst>
              <a:gd name="adj1" fmla="val 50000"/>
              <a:gd name="adj2" fmla="val 0"/>
            </a:avLst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양쪽 모서리가 둥근 사각형 128"/>
          <p:cNvSpPr/>
          <p:nvPr/>
        </p:nvSpPr>
        <p:spPr>
          <a:xfrm>
            <a:off x="10511743" y="2602387"/>
            <a:ext cx="1332716" cy="1098044"/>
          </a:xfrm>
          <a:prstGeom prst="round2SameRect">
            <a:avLst>
              <a:gd name="adj1" fmla="val 31825"/>
              <a:gd name="adj2" fmla="val 0"/>
            </a:avLst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양쪽 모서리가 둥근 사각형 129"/>
          <p:cNvSpPr/>
          <p:nvPr/>
        </p:nvSpPr>
        <p:spPr>
          <a:xfrm>
            <a:off x="8046014" y="2593841"/>
            <a:ext cx="2463993" cy="1098044"/>
          </a:xfrm>
          <a:prstGeom prst="round2SameRect">
            <a:avLst>
              <a:gd name="adj1" fmla="val 44277"/>
              <a:gd name="adj2" fmla="val 0"/>
            </a:avLst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양쪽 모서리가 둥근 사각형 130"/>
          <p:cNvSpPr/>
          <p:nvPr/>
        </p:nvSpPr>
        <p:spPr>
          <a:xfrm>
            <a:off x="3363089" y="2131708"/>
            <a:ext cx="7146918" cy="1568723"/>
          </a:xfrm>
          <a:prstGeom prst="round2SameRect">
            <a:avLst>
              <a:gd name="adj1" fmla="val 44277"/>
              <a:gd name="adj2" fmla="val 0"/>
            </a:avLst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양쪽 모서리가 둥근 사각형 6"/>
          <p:cNvSpPr/>
          <p:nvPr/>
        </p:nvSpPr>
        <p:spPr>
          <a:xfrm>
            <a:off x="11442818" y="2584622"/>
            <a:ext cx="585000" cy="2827479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직사각형 131"/>
          <p:cNvSpPr/>
          <p:nvPr/>
        </p:nvSpPr>
        <p:spPr>
          <a:xfrm>
            <a:off x="4579176" y="1912017"/>
            <a:ext cx="803281" cy="211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Z</a:t>
            </a:r>
            <a:r>
              <a:rPr lang="ko-KR" altLang="en-US" sz="1100" dirty="0">
                <a:solidFill>
                  <a:schemeClr val="tx1"/>
                </a:solidFill>
              </a:rPr>
              <a:t>의 </a:t>
            </a:r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8680365" y="2373484"/>
            <a:ext cx="803281" cy="211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Z</a:t>
            </a:r>
            <a:r>
              <a:rPr lang="ko-KR" altLang="en-US" sz="1100" dirty="0">
                <a:solidFill>
                  <a:schemeClr val="tx1"/>
                </a:solidFill>
              </a:rPr>
              <a:t>의 </a:t>
            </a:r>
            <a:r>
              <a:rPr lang="en-US" altLang="ko-KR" sz="1100" dirty="0">
                <a:solidFill>
                  <a:schemeClr val="tx1"/>
                </a:solidFill>
              </a:rPr>
              <a:t>A,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10727976" y="2373484"/>
            <a:ext cx="996852" cy="211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Z</a:t>
            </a:r>
            <a:r>
              <a:rPr lang="ko-KR" altLang="en-US" sz="1100" dirty="0">
                <a:solidFill>
                  <a:schemeClr val="tx1"/>
                </a:solidFill>
              </a:rPr>
              <a:t>의 </a:t>
            </a:r>
            <a:r>
              <a:rPr lang="en-US" altLang="ko-KR" sz="1100" dirty="0">
                <a:solidFill>
                  <a:schemeClr val="tx1"/>
                </a:solidFill>
              </a:rPr>
              <a:t>A, 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5690276" y="4637201"/>
            <a:ext cx="803281" cy="211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Z</a:t>
            </a:r>
            <a:r>
              <a:rPr lang="ko-KR" altLang="en-US" sz="1100" dirty="0">
                <a:solidFill>
                  <a:schemeClr val="tx1"/>
                </a:solidFill>
              </a:rPr>
              <a:t>의 </a:t>
            </a:r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36" name="직사각형 135"/>
          <p:cNvSpPr/>
          <p:nvPr/>
        </p:nvSpPr>
        <p:spPr>
          <a:xfrm>
            <a:off x="8987975" y="4356554"/>
            <a:ext cx="803281" cy="211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Z</a:t>
            </a:r>
            <a:r>
              <a:rPr lang="ko-KR" altLang="en-US" sz="1100" dirty="0">
                <a:solidFill>
                  <a:schemeClr val="tx1"/>
                </a:solidFill>
              </a:rPr>
              <a:t>의 </a:t>
            </a:r>
            <a:r>
              <a:rPr lang="en-US" altLang="ko-KR" sz="1100" dirty="0">
                <a:solidFill>
                  <a:schemeClr val="tx1"/>
                </a:solidFill>
              </a:rPr>
              <a:t>A,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47" name="직선 연결선 46"/>
          <p:cNvCxnSpPr/>
          <p:nvPr/>
        </p:nvCxnSpPr>
        <p:spPr>
          <a:xfrm flipV="1">
            <a:off x="116001" y="3697361"/>
            <a:ext cx="11326817" cy="21558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/>
          <p:cNvSpPr/>
          <p:nvPr/>
        </p:nvSpPr>
        <p:spPr>
          <a:xfrm>
            <a:off x="6936650" y="3820263"/>
            <a:ext cx="1111100" cy="2022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2253724" y="3810541"/>
            <a:ext cx="1111100" cy="2022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354376" y="3618041"/>
            <a:ext cx="1111100" cy="202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2253724" y="3618041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6936650" y="3618041"/>
            <a:ext cx="1111100" cy="202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8504501" y="3618041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취하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10018517" y="3618041"/>
            <a:ext cx="1111100" cy="202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공개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3854128" y="3618041"/>
            <a:ext cx="1111100" cy="202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취하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13" name="직사각형 112"/>
          <p:cNvSpPr/>
          <p:nvPr/>
        </p:nvSpPr>
        <p:spPr>
          <a:xfrm>
            <a:off x="5382457" y="3618041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공개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8586335" y="3029312"/>
            <a:ext cx="803281" cy="211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rgbClr val="FF0000"/>
                </a:solidFill>
              </a:rPr>
              <a:t>X</a:t>
            </a:r>
            <a:r>
              <a:rPr lang="ko-KR" altLang="en-US" sz="1100" dirty="0">
                <a:solidFill>
                  <a:srgbClr val="FF0000"/>
                </a:solidFill>
              </a:rPr>
              <a:t>의 </a:t>
            </a:r>
            <a:r>
              <a:rPr lang="en-US" altLang="ko-KR" sz="1100" dirty="0">
                <a:solidFill>
                  <a:srgbClr val="FF0000"/>
                </a:solidFill>
              </a:rPr>
              <a:t>A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cxnSp>
        <p:nvCxnSpPr>
          <p:cNvPr id="11" name="직선 연결선 10"/>
          <p:cNvCxnSpPr>
            <a:stCxn id="90" idx="2"/>
            <a:endCxn id="51" idx="0"/>
          </p:cNvCxnSpPr>
          <p:nvPr/>
        </p:nvCxnSpPr>
        <p:spPr>
          <a:xfrm flipH="1">
            <a:off x="909926" y="1778561"/>
            <a:ext cx="1" cy="183948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>
            <a:stCxn id="92" idx="2"/>
            <a:endCxn id="53" idx="0"/>
          </p:cNvCxnSpPr>
          <p:nvPr/>
        </p:nvCxnSpPr>
        <p:spPr>
          <a:xfrm flipH="1">
            <a:off x="2809274" y="1778561"/>
            <a:ext cx="412" cy="183948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>
            <a:stCxn id="94" idx="2"/>
            <a:endCxn id="54" idx="0"/>
          </p:cNvCxnSpPr>
          <p:nvPr/>
        </p:nvCxnSpPr>
        <p:spPr>
          <a:xfrm>
            <a:off x="7492200" y="1778561"/>
            <a:ext cx="0" cy="183948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>
            <a:stCxn id="51" idx="2"/>
          </p:cNvCxnSpPr>
          <p:nvPr/>
        </p:nvCxnSpPr>
        <p:spPr>
          <a:xfrm>
            <a:off x="909926" y="3820262"/>
            <a:ext cx="0" cy="28283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/>
          <p:cNvCxnSpPr/>
          <p:nvPr/>
        </p:nvCxnSpPr>
        <p:spPr>
          <a:xfrm>
            <a:off x="4413701" y="3820262"/>
            <a:ext cx="0" cy="28283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/>
          <p:cNvCxnSpPr/>
          <p:nvPr/>
        </p:nvCxnSpPr>
        <p:spPr>
          <a:xfrm>
            <a:off x="5938007" y="3820262"/>
            <a:ext cx="0" cy="28283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/>
          <p:cNvCxnSpPr/>
          <p:nvPr/>
        </p:nvCxnSpPr>
        <p:spPr>
          <a:xfrm>
            <a:off x="9064626" y="3820262"/>
            <a:ext cx="0" cy="28283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/>
          <p:cNvCxnSpPr/>
          <p:nvPr/>
        </p:nvCxnSpPr>
        <p:spPr>
          <a:xfrm>
            <a:off x="10510007" y="3820262"/>
            <a:ext cx="0" cy="28283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909926" y="5136021"/>
            <a:ext cx="350377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연결선 144"/>
          <p:cNvCxnSpPr/>
          <p:nvPr/>
        </p:nvCxnSpPr>
        <p:spPr>
          <a:xfrm>
            <a:off x="909926" y="5477853"/>
            <a:ext cx="5028081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/>
          <p:cNvCxnSpPr/>
          <p:nvPr/>
        </p:nvCxnSpPr>
        <p:spPr>
          <a:xfrm>
            <a:off x="2827288" y="5905143"/>
            <a:ext cx="6237338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/>
          <p:cNvCxnSpPr/>
          <p:nvPr/>
        </p:nvCxnSpPr>
        <p:spPr>
          <a:xfrm>
            <a:off x="2827288" y="6298249"/>
            <a:ext cx="7682719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직사각형 149"/>
          <p:cNvSpPr/>
          <p:nvPr/>
        </p:nvSpPr>
        <p:spPr>
          <a:xfrm>
            <a:off x="1836037" y="5030452"/>
            <a:ext cx="803281" cy="211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</a:t>
            </a:r>
            <a:r>
              <a:rPr lang="ko-KR" altLang="en-US" sz="1100" dirty="0">
                <a:solidFill>
                  <a:schemeClr val="tx1"/>
                </a:solidFill>
              </a:rPr>
              <a:t>년 </a:t>
            </a:r>
            <a:r>
              <a:rPr lang="en-US" altLang="ko-KR" sz="1100" dirty="0">
                <a:solidFill>
                  <a:schemeClr val="tx1"/>
                </a:solidFill>
              </a:rPr>
              <a:t>3</a:t>
            </a:r>
            <a:r>
              <a:rPr lang="ko-KR" altLang="en-US" sz="1100" dirty="0">
                <a:solidFill>
                  <a:schemeClr val="tx1"/>
                </a:solidFill>
              </a:rPr>
              <a:t>개월</a:t>
            </a:r>
          </a:p>
        </p:txBody>
      </p:sp>
      <p:sp>
        <p:nvSpPr>
          <p:cNvPr id="151" name="직사각형 150"/>
          <p:cNvSpPr/>
          <p:nvPr/>
        </p:nvSpPr>
        <p:spPr>
          <a:xfrm>
            <a:off x="1836037" y="5387204"/>
            <a:ext cx="803281" cy="211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</a:t>
            </a:r>
            <a:r>
              <a:rPr lang="ko-KR" altLang="en-US" sz="1100" dirty="0">
                <a:solidFill>
                  <a:schemeClr val="tx1"/>
                </a:solidFill>
              </a:rPr>
              <a:t>년 </a:t>
            </a:r>
            <a:r>
              <a:rPr lang="en-US" altLang="ko-KR" sz="1100" dirty="0">
                <a:solidFill>
                  <a:schemeClr val="tx1"/>
                </a:solidFill>
              </a:rPr>
              <a:t>6</a:t>
            </a:r>
            <a:r>
              <a:rPr lang="ko-KR" altLang="en-US" sz="1100" dirty="0">
                <a:solidFill>
                  <a:schemeClr val="tx1"/>
                </a:solidFill>
              </a:rPr>
              <a:t>개월</a:t>
            </a:r>
          </a:p>
        </p:txBody>
      </p:sp>
      <p:sp>
        <p:nvSpPr>
          <p:cNvPr id="152" name="직사각형 151"/>
          <p:cNvSpPr/>
          <p:nvPr/>
        </p:nvSpPr>
        <p:spPr>
          <a:xfrm>
            <a:off x="6329543" y="5810792"/>
            <a:ext cx="803281" cy="211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</a:t>
            </a:r>
            <a:r>
              <a:rPr lang="ko-KR" altLang="en-US" sz="1100" dirty="0">
                <a:solidFill>
                  <a:schemeClr val="tx1"/>
                </a:solidFill>
              </a:rPr>
              <a:t>년 </a:t>
            </a:r>
            <a:r>
              <a:rPr lang="en-US" altLang="ko-KR" sz="1100" dirty="0">
                <a:solidFill>
                  <a:schemeClr val="tx1"/>
                </a:solidFill>
              </a:rPr>
              <a:t>3</a:t>
            </a:r>
            <a:r>
              <a:rPr lang="ko-KR" altLang="en-US" sz="1100" dirty="0">
                <a:solidFill>
                  <a:schemeClr val="tx1"/>
                </a:solidFill>
              </a:rPr>
              <a:t>개월</a:t>
            </a:r>
          </a:p>
        </p:txBody>
      </p:sp>
      <p:sp>
        <p:nvSpPr>
          <p:cNvPr id="153" name="직사각형 152"/>
          <p:cNvSpPr/>
          <p:nvPr/>
        </p:nvSpPr>
        <p:spPr>
          <a:xfrm>
            <a:off x="6329543" y="6210274"/>
            <a:ext cx="803281" cy="211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</a:t>
            </a:r>
            <a:r>
              <a:rPr lang="ko-KR" altLang="en-US" sz="1100" dirty="0">
                <a:solidFill>
                  <a:schemeClr val="tx1"/>
                </a:solidFill>
              </a:rPr>
              <a:t>년 </a:t>
            </a:r>
            <a:r>
              <a:rPr lang="en-US" altLang="ko-KR" sz="1100" dirty="0">
                <a:solidFill>
                  <a:schemeClr val="tx1"/>
                </a:solidFill>
              </a:rPr>
              <a:t>6</a:t>
            </a:r>
            <a:r>
              <a:rPr lang="ko-KR" altLang="en-US" sz="1100" dirty="0">
                <a:solidFill>
                  <a:schemeClr val="tx1"/>
                </a:solidFill>
              </a:rPr>
              <a:t>개월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233</a:t>
            </a:fld>
            <a:endParaRPr lang="ko-KR" altLang="en-US"/>
          </a:p>
        </p:txBody>
      </p:sp>
      <p:sp>
        <p:nvSpPr>
          <p:cNvPr id="3" name="말풍선: 모서리가 둥근 사각형 2">
            <a:extLst>
              <a:ext uri="{FF2B5EF4-FFF2-40B4-BE49-F238E27FC236}">
                <a16:creationId xmlns:a16="http://schemas.microsoft.com/office/drawing/2014/main" id="{67A6DF0C-89D0-4E64-8703-0EF3A32688B1}"/>
              </a:ext>
            </a:extLst>
          </p:cNvPr>
          <p:cNvSpPr/>
          <p:nvPr/>
        </p:nvSpPr>
        <p:spPr>
          <a:xfrm>
            <a:off x="9624751" y="5132942"/>
            <a:ext cx="1894579" cy="595196"/>
          </a:xfrm>
          <a:prstGeom prst="wedgeRoundRectCallout">
            <a:avLst>
              <a:gd name="adj1" fmla="val -60722"/>
              <a:gd name="adj2" fmla="val -144106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2">
                    <a:lumMod val="50000"/>
                  </a:schemeClr>
                </a:solidFill>
              </a:rPr>
              <a:t>현재 </a:t>
            </a:r>
            <a:r>
              <a:rPr lang="en-US" altLang="ko-KR" sz="1200" dirty="0">
                <a:solidFill>
                  <a:schemeClr val="accent2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accent2">
                    <a:lumMod val="50000"/>
                  </a:schemeClr>
                </a:solidFill>
              </a:rPr>
              <a:t>는 신규성 위반으로 선출원의 지위 불인정</a:t>
            </a:r>
          </a:p>
        </p:txBody>
      </p:sp>
    </p:spTree>
    <p:extLst>
      <p:ext uri="{BB962C8B-B14F-4D97-AF65-F5344CB8AC3E}">
        <p14:creationId xmlns:p14="http://schemas.microsoft.com/office/powerpoint/2010/main" val="352070148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" name="직선 연결선 143"/>
          <p:cNvCxnSpPr/>
          <p:nvPr/>
        </p:nvCxnSpPr>
        <p:spPr>
          <a:xfrm>
            <a:off x="10751543" y="3991691"/>
            <a:ext cx="0" cy="28283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/>
          <p:cNvCxnSpPr/>
          <p:nvPr/>
        </p:nvCxnSpPr>
        <p:spPr>
          <a:xfrm>
            <a:off x="6179543" y="3991691"/>
            <a:ext cx="0" cy="28283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/>
          <p:cNvCxnSpPr/>
          <p:nvPr/>
        </p:nvCxnSpPr>
        <p:spPr>
          <a:xfrm>
            <a:off x="7733736" y="3991691"/>
            <a:ext cx="0" cy="28283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46"/>
          <p:cNvCxnSpPr/>
          <p:nvPr/>
        </p:nvCxnSpPr>
        <p:spPr>
          <a:xfrm>
            <a:off x="3050810" y="3991691"/>
            <a:ext cx="0" cy="28283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55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56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누적적 우선권주장출원의 그 출원의 지위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44250" y="3175"/>
            <a:ext cx="1047750" cy="7143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234</a:t>
            </a:fld>
            <a:endParaRPr lang="ko-KR" altLang="en-US"/>
          </a:p>
        </p:txBody>
      </p:sp>
      <p:sp>
        <p:nvSpPr>
          <p:cNvPr id="89" name="직사각형 88"/>
          <p:cNvSpPr/>
          <p:nvPr/>
        </p:nvSpPr>
        <p:spPr>
          <a:xfrm>
            <a:off x="595913" y="3619264"/>
            <a:ext cx="1111099" cy="212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595913" y="3831504"/>
            <a:ext cx="1111099" cy="2122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2495260" y="3619264"/>
            <a:ext cx="1111923" cy="212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2495260" y="3831504"/>
            <a:ext cx="1111923" cy="2122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7178186" y="3619264"/>
            <a:ext cx="1111100" cy="212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7178186" y="3831504"/>
            <a:ext cx="1111100" cy="2122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" name="양쪽 모서리가 둥근 사각형 6"/>
          <p:cNvSpPr/>
          <p:nvPr/>
        </p:nvSpPr>
        <p:spPr>
          <a:xfrm>
            <a:off x="11477322" y="3771510"/>
            <a:ext cx="585000" cy="2827479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7" name="직선 연결선 46"/>
          <p:cNvCxnSpPr/>
          <p:nvPr/>
        </p:nvCxnSpPr>
        <p:spPr>
          <a:xfrm flipV="1">
            <a:off x="357537" y="4365573"/>
            <a:ext cx="11326817" cy="21558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/>
          <p:cNvSpPr/>
          <p:nvPr/>
        </p:nvSpPr>
        <p:spPr>
          <a:xfrm>
            <a:off x="7178186" y="4488475"/>
            <a:ext cx="1111100" cy="2022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2495260" y="4478753"/>
            <a:ext cx="1111100" cy="2022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95912" y="4286253"/>
            <a:ext cx="1111100" cy="202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2495260" y="4286253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7178186" y="4286253"/>
            <a:ext cx="1111100" cy="202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8746037" y="4286253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취하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10260053" y="4286253"/>
            <a:ext cx="1111100" cy="202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공개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4095664" y="4286253"/>
            <a:ext cx="1111100" cy="202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취하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13" name="직사각형 112"/>
          <p:cNvSpPr/>
          <p:nvPr/>
        </p:nvSpPr>
        <p:spPr>
          <a:xfrm>
            <a:off x="5623993" y="4286253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공개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1" name="직선 연결선 10"/>
          <p:cNvCxnSpPr>
            <a:stCxn id="90" idx="2"/>
            <a:endCxn id="51" idx="0"/>
          </p:cNvCxnSpPr>
          <p:nvPr/>
        </p:nvCxnSpPr>
        <p:spPr>
          <a:xfrm flipH="1">
            <a:off x="1151462" y="4043744"/>
            <a:ext cx="1" cy="24250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>
            <a:stCxn id="92" idx="2"/>
            <a:endCxn id="53" idx="0"/>
          </p:cNvCxnSpPr>
          <p:nvPr/>
        </p:nvCxnSpPr>
        <p:spPr>
          <a:xfrm flipH="1">
            <a:off x="3050810" y="4043744"/>
            <a:ext cx="412" cy="24250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>
            <a:stCxn id="94" idx="2"/>
            <a:endCxn id="54" idx="0"/>
          </p:cNvCxnSpPr>
          <p:nvPr/>
        </p:nvCxnSpPr>
        <p:spPr>
          <a:xfrm>
            <a:off x="7733736" y="4043744"/>
            <a:ext cx="0" cy="24250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>
            <a:cxnSpLocks/>
          </p:cNvCxnSpPr>
          <p:nvPr/>
        </p:nvCxnSpPr>
        <p:spPr>
          <a:xfrm>
            <a:off x="1151462" y="4479509"/>
            <a:ext cx="0" cy="234054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FEA6690C-26EA-4958-8466-5CCCB4C8591A}"/>
              </a:ext>
            </a:extLst>
          </p:cNvPr>
          <p:cNvCxnSpPr/>
          <p:nvPr/>
        </p:nvCxnSpPr>
        <p:spPr>
          <a:xfrm flipV="1">
            <a:off x="357537" y="5591598"/>
            <a:ext cx="11326817" cy="21558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903D8541-A97C-46AA-B3C1-304598165688}"/>
              </a:ext>
            </a:extLst>
          </p:cNvPr>
          <p:cNvSpPr/>
          <p:nvPr/>
        </p:nvSpPr>
        <p:spPr>
          <a:xfrm>
            <a:off x="7178186" y="5714500"/>
            <a:ext cx="1111100" cy="2022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20ACDB6F-562B-4AF7-9C3E-6D984FC521ED}"/>
              </a:ext>
            </a:extLst>
          </p:cNvPr>
          <p:cNvSpPr/>
          <p:nvPr/>
        </p:nvSpPr>
        <p:spPr>
          <a:xfrm>
            <a:off x="2495260" y="5704778"/>
            <a:ext cx="1111100" cy="2022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0BF41417-353C-4198-9A8E-351FFE840E78}"/>
              </a:ext>
            </a:extLst>
          </p:cNvPr>
          <p:cNvSpPr/>
          <p:nvPr/>
        </p:nvSpPr>
        <p:spPr>
          <a:xfrm>
            <a:off x="595912" y="5512278"/>
            <a:ext cx="1111100" cy="202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미국출원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7766709C-C21A-48B2-9D27-0AA74ED2AD2B}"/>
              </a:ext>
            </a:extLst>
          </p:cNvPr>
          <p:cNvSpPr/>
          <p:nvPr/>
        </p:nvSpPr>
        <p:spPr>
          <a:xfrm>
            <a:off x="2495260" y="5512278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일본출원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CED2544D-0090-422F-B9F2-293B65F24B1C}"/>
              </a:ext>
            </a:extLst>
          </p:cNvPr>
          <p:cNvSpPr/>
          <p:nvPr/>
        </p:nvSpPr>
        <p:spPr>
          <a:xfrm>
            <a:off x="7178186" y="5512278"/>
            <a:ext cx="1111100" cy="202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043D6F48-BBA7-493D-91BC-CAC1460E72F6}"/>
              </a:ext>
            </a:extLst>
          </p:cNvPr>
          <p:cNvSpPr/>
          <p:nvPr/>
        </p:nvSpPr>
        <p:spPr>
          <a:xfrm>
            <a:off x="10260053" y="5512278"/>
            <a:ext cx="1111100" cy="202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공개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FD6DAB8-BAD2-4BA2-A7D8-CB808EE1AAF9}"/>
              </a:ext>
            </a:extLst>
          </p:cNvPr>
          <p:cNvSpPr/>
          <p:nvPr/>
        </p:nvSpPr>
        <p:spPr>
          <a:xfrm>
            <a:off x="5623993" y="5512278"/>
            <a:ext cx="1111100" cy="202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공개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93ED9755-6D3E-4224-ADF3-9DCA6E71F3A1}"/>
              </a:ext>
            </a:extLst>
          </p:cNvPr>
          <p:cNvSpPr/>
          <p:nvPr/>
        </p:nvSpPr>
        <p:spPr>
          <a:xfrm>
            <a:off x="5623993" y="5714500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공개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F6913CD9-1EAE-4782-A469-85A7B946B8B4}"/>
              </a:ext>
            </a:extLst>
          </p:cNvPr>
          <p:cNvSpPr/>
          <p:nvPr/>
        </p:nvSpPr>
        <p:spPr>
          <a:xfrm>
            <a:off x="2495260" y="4864784"/>
            <a:ext cx="1111100" cy="202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Z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 B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1416A8ED-535D-450B-A7BA-99F16FD2DEB9}"/>
              </a:ext>
            </a:extLst>
          </p:cNvPr>
          <p:cNvSpPr/>
          <p:nvPr/>
        </p:nvSpPr>
        <p:spPr>
          <a:xfrm>
            <a:off x="7178186" y="4864784"/>
            <a:ext cx="1111100" cy="2022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Z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 A 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7B6085B9-2EEB-4CC8-82A1-0912DE29AD09}"/>
              </a:ext>
            </a:extLst>
          </p:cNvPr>
          <p:cNvSpPr/>
          <p:nvPr/>
        </p:nvSpPr>
        <p:spPr>
          <a:xfrm>
            <a:off x="2495260" y="6074139"/>
            <a:ext cx="1111100" cy="202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Z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 B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E6BEBC72-00C6-44E5-97E5-2C4A357FB48B}"/>
              </a:ext>
            </a:extLst>
          </p:cNvPr>
          <p:cNvSpPr/>
          <p:nvPr/>
        </p:nvSpPr>
        <p:spPr>
          <a:xfrm>
            <a:off x="7178186" y="5130876"/>
            <a:ext cx="1111100" cy="202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Z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 C </a:t>
            </a: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8CDB0586-4EB2-4291-A64B-0273ABD7B209}"/>
              </a:ext>
            </a:extLst>
          </p:cNvPr>
          <p:cNvSpPr/>
          <p:nvPr/>
        </p:nvSpPr>
        <p:spPr>
          <a:xfrm>
            <a:off x="8607024" y="4864784"/>
            <a:ext cx="1111100" cy="202221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bg1"/>
                </a:solidFill>
              </a:rPr>
              <a:t>이중우선권주장</a:t>
            </a:r>
            <a:endParaRPr lang="en-US" altLang="ko-KR" sz="1000" dirty="0">
              <a:solidFill>
                <a:schemeClr val="bg1"/>
              </a:solidFill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EC7258BB-E8E9-4149-B445-0B43D0772985}"/>
              </a:ext>
            </a:extLst>
          </p:cNvPr>
          <p:cNvCxnSpPr>
            <a:stCxn id="81" idx="1"/>
            <a:endCxn id="77" idx="3"/>
          </p:cNvCxnSpPr>
          <p:nvPr/>
        </p:nvCxnSpPr>
        <p:spPr>
          <a:xfrm flipH="1">
            <a:off x="8289286" y="4965895"/>
            <a:ext cx="317738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C91C0E8C-B733-4E2D-9B71-65BC13A5669E}"/>
              </a:ext>
            </a:extLst>
          </p:cNvPr>
          <p:cNvSpPr/>
          <p:nvPr/>
        </p:nvSpPr>
        <p:spPr>
          <a:xfrm>
            <a:off x="7178186" y="6080653"/>
            <a:ext cx="1111100" cy="2022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Z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 A 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BA44715-DE98-48CA-9A08-AC36CF1A77F5}"/>
              </a:ext>
            </a:extLst>
          </p:cNvPr>
          <p:cNvSpPr/>
          <p:nvPr/>
        </p:nvSpPr>
        <p:spPr>
          <a:xfrm>
            <a:off x="7178186" y="6346745"/>
            <a:ext cx="1111100" cy="202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Z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 C 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3026A202-8A7E-440A-9449-6A8825B30487}"/>
              </a:ext>
            </a:extLst>
          </p:cNvPr>
          <p:cNvSpPr/>
          <p:nvPr/>
        </p:nvSpPr>
        <p:spPr>
          <a:xfrm>
            <a:off x="8607024" y="6080653"/>
            <a:ext cx="1111100" cy="202221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bg1"/>
                </a:solidFill>
              </a:rPr>
              <a:t>최선성</a:t>
            </a:r>
            <a:r>
              <a:rPr lang="ko-KR" altLang="en-US" sz="1000" dirty="0">
                <a:solidFill>
                  <a:schemeClr val="bg1"/>
                </a:solidFill>
              </a:rPr>
              <a:t> 불만족</a:t>
            </a:r>
            <a:endParaRPr lang="en-US" altLang="ko-KR" sz="1000" dirty="0">
              <a:solidFill>
                <a:schemeClr val="bg1"/>
              </a:solidFill>
            </a:endParaRPr>
          </a:p>
        </p:txBody>
      </p: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ACBC9F26-2D83-40CE-935B-0B0E1E103384}"/>
              </a:ext>
            </a:extLst>
          </p:cNvPr>
          <p:cNvCxnSpPr>
            <a:stCxn id="85" idx="1"/>
            <a:endCxn id="83" idx="3"/>
          </p:cNvCxnSpPr>
          <p:nvPr/>
        </p:nvCxnSpPr>
        <p:spPr>
          <a:xfrm flipH="1">
            <a:off x="8289286" y="6181764"/>
            <a:ext cx="317738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F6F39FA7-81AF-4B2C-B6F7-0E624E102CA3}"/>
              </a:ext>
            </a:extLst>
          </p:cNvPr>
          <p:cNvSpPr/>
          <p:nvPr/>
        </p:nvSpPr>
        <p:spPr>
          <a:xfrm>
            <a:off x="232372" y="1269047"/>
            <a:ext cx="11681987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sz="1200" dirty="0"/>
              <a:t>특허법 제</a:t>
            </a:r>
            <a:r>
              <a:rPr lang="en-US" altLang="ko-KR" sz="1200" dirty="0"/>
              <a:t>54</a:t>
            </a:r>
            <a:r>
              <a:rPr lang="ko-KR" altLang="en-US" sz="1200" dirty="0"/>
              <a:t>조는 ‘① 조약에 의하여 대한민국 국민에게 특허출원에 대한 우선권을 인정하는 당사국 국민이 그 당사국 또는 다른 당사국에 특허출원을 한 후 동일발명을 대한민국에 </a:t>
            </a:r>
            <a:r>
              <a:rPr lang="ko-KR" altLang="en-US" sz="1200" dirty="0" err="1"/>
              <a:t>특허출원하여</a:t>
            </a:r>
            <a:r>
              <a:rPr lang="ko-KR" altLang="en-US" sz="1200" dirty="0"/>
              <a:t> 우선권을 주장하는 때에는 제</a:t>
            </a:r>
            <a:r>
              <a:rPr lang="en-US" altLang="ko-KR" sz="1200" dirty="0"/>
              <a:t>29</a:t>
            </a:r>
            <a:r>
              <a:rPr lang="ko-KR" altLang="en-US" sz="1200" dirty="0"/>
              <a:t>조 및 제</a:t>
            </a:r>
            <a:r>
              <a:rPr lang="en-US" altLang="ko-KR" sz="1200" dirty="0"/>
              <a:t>36</a:t>
            </a:r>
            <a:r>
              <a:rPr lang="ko-KR" altLang="en-US" sz="1200" dirty="0"/>
              <a:t>조의 규정을 적용함에 있어서 그 당사국에 출원한 날을 대한민국에 </a:t>
            </a:r>
            <a:r>
              <a:rPr lang="ko-KR" altLang="en-US" sz="1200" dirty="0" err="1"/>
              <a:t>특허출원한</a:t>
            </a:r>
            <a:r>
              <a:rPr lang="ko-KR" altLang="en-US" sz="1200" dirty="0"/>
              <a:t> 날로 본다</a:t>
            </a:r>
            <a:r>
              <a:rPr lang="en-US" altLang="ko-KR" sz="1200" dirty="0"/>
              <a:t>. ② </a:t>
            </a:r>
            <a:r>
              <a:rPr lang="ko-KR" altLang="en-US" sz="1200" dirty="0"/>
              <a:t>제</a:t>
            </a:r>
            <a:r>
              <a:rPr lang="en-US" altLang="ko-KR" sz="1200" dirty="0"/>
              <a:t>1</a:t>
            </a:r>
            <a:r>
              <a:rPr lang="ko-KR" altLang="en-US" sz="1200" dirty="0"/>
              <a:t>항의 규정에 의하여 우선권을 주장하고자 하는 자는 우선권 주장의 기초가 되는 최초의 출원일로부터 </a:t>
            </a:r>
            <a:r>
              <a:rPr lang="en-US" altLang="ko-KR" sz="1200" dirty="0"/>
              <a:t>1</a:t>
            </a:r>
            <a:r>
              <a:rPr lang="ko-KR" altLang="en-US" sz="1200" dirty="0"/>
              <a:t>년 이내에 </a:t>
            </a:r>
            <a:r>
              <a:rPr lang="ko-KR" altLang="en-US" sz="1200" dirty="0" err="1"/>
              <a:t>특허출원하지</a:t>
            </a:r>
            <a:r>
              <a:rPr lang="ko-KR" altLang="en-US" sz="1200" dirty="0"/>
              <a:t> 않으면 이를 주장할 수 </a:t>
            </a:r>
            <a:r>
              <a:rPr lang="ko-KR" altLang="en-US" sz="1200" dirty="0" err="1"/>
              <a:t>없다’고</a:t>
            </a:r>
            <a:r>
              <a:rPr lang="ko-KR" altLang="en-US" sz="1200" dirty="0"/>
              <a:t> 규정하고 있다</a:t>
            </a:r>
            <a:r>
              <a:rPr lang="en-US" altLang="ko-KR" sz="1200" dirty="0"/>
              <a:t>. </a:t>
            </a:r>
            <a:r>
              <a:rPr lang="ko-KR" altLang="en-US" sz="1200" dirty="0"/>
              <a:t>이러한 특허법의 관련 규정에 비추어 보면</a:t>
            </a:r>
            <a:r>
              <a:rPr lang="en-US" altLang="ko-KR" sz="1200" dirty="0"/>
              <a:t>, </a:t>
            </a:r>
            <a:r>
              <a:rPr lang="ko-KR" altLang="en-US" sz="1200" dirty="0"/>
              <a:t>조약에 의한 우선권 주장을 인정받기 위해서는 ① 제</a:t>
            </a:r>
            <a:r>
              <a:rPr lang="en-US" altLang="ko-KR" sz="1200" dirty="0"/>
              <a:t>1</a:t>
            </a:r>
            <a:r>
              <a:rPr lang="ko-KR" altLang="en-US" sz="1200" dirty="0"/>
              <a:t>국 출원이 정규의 최초의 출원이어야 할 것</a:t>
            </a:r>
            <a:r>
              <a:rPr lang="en-US" altLang="ko-KR" sz="1200" dirty="0"/>
              <a:t>, ② </a:t>
            </a:r>
            <a:r>
              <a:rPr lang="ko-KR" altLang="en-US" sz="1200" dirty="0"/>
              <a:t>제</a:t>
            </a:r>
            <a:r>
              <a:rPr lang="en-US" altLang="ko-KR" sz="1200" dirty="0"/>
              <a:t>1</a:t>
            </a:r>
            <a:r>
              <a:rPr lang="ko-KR" altLang="en-US" sz="1200" dirty="0"/>
              <a:t>국 출원과 제</a:t>
            </a:r>
            <a:r>
              <a:rPr lang="en-US" altLang="ko-KR" sz="1200" dirty="0"/>
              <a:t>2</a:t>
            </a:r>
            <a:r>
              <a:rPr lang="ko-KR" altLang="en-US" sz="1200" dirty="0"/>
              <a:t>국 출원이 동일한 발명이어야 할 것</a:t>
            </a:r>
            <a:r>
              <a:rPr lang="en-US" altLang="ko-KR" sz="1200" dirty="0"/>
              <a:t>, ③ </a:t>
            </a:r>
            <a:r>
              <a:rPr lang="ko-KR" altLang="en-US" sz="1200" dirty="0"/>
              <a:t>제</a:t>
            </a:r>
            <a:r>
              <a:rPr lang="en-US" altLang="ko-KR" sz="1200" dirty="0"/>
              <a:t>2</a:t>
            </a:r>
            <a:r>
              <a:rPr lang="ko-KR" altLang="en-US" sz="1200" dirty="0"/>
              <a:t>국 출원이 제</a:t>
            </a:r>
            <a:r>
              <a:rPr lang="en-US" altLang="ko-KR" sz="1200" dirty="0"/>
              <a:t>1</a:t>
            </a:r>
            <a:r>
              <a:rPr lang="ko-KR" altLang="en-US" sz="1200" dirty="0"/>
              <a:t>국 출원일로부터 </a:t>
            </a:r>
            <a:r>
              <a:rPr lang="en-US" altLang="ko-KR" sz="1200" dirty="0"/>
              <a:t>1</a:t>
            </a:r>
            <a:r>
              <a:rPr lang="ko-KR" altLang="en-US" sz="1200" dirty="0"/>
              <a:t>년 이내에 이루어져야 할 것 등의 요건을 모두 충족시켜야 하므로</a:t>
            </a:r>
            <a:r>
              <a:rPr lang="en-US" altLang="ko-KR" sz="1200" dirty="0"/>
              <a:t>, </a:t>
            </a:r>
            <a:r>
              <a:rPr lang="ko-KR" altLang="en-US" sz="1200" dirty="0"/>
              <a:t>조약에 의한 우선권 주장을 수반하는 제</a:t>
            </a:r>
            <a:r>
              <a:rPr lang="en-US" altLang="ko-KR" sz="1200" dirty="0"/>
              <a:t>2</a:t>
            </a:r>
            <a:r>
              <a:rPr lang="ko-KR" altLang="en-US" sz="1200" dirty="0"/>
              <a:t>국 출원일 경우에도 그 우선권 주장의 기초가 되는 제</a:t>
            </a:r>
            <a:r>
              <a:rPr lang="en-US" altLang="ko-KR" sz="1200" dirty="0"/>
              <a:t>1</a:t>
            </a:r>
            <a:r>
              <a:rPr lang="ko-KR" altLang="en-US" sz="1200" dirty="0"/>
              <a:t>국 출원이 최초의 출원이 아니거나</a:t>
            </a:r>
            <a:r>
              <a:rPr lang="en-US" altLang="ko-KR" sz="1200" dirty="0"/>
              <a:t>(</a:t>
            </a:r>
            <a:r>
              <a:rPr lang="ko-KR" altLang="en-US" sz="1200" dirty="0"/>
              <a:t>즉</a:t>
            </a:r>
            <a:r>
              <a:rPr lang="en-US" altLang="ko-KR" sz="1200" dirty="0"/>
              <a:t>, </a:t>
            </a:r>
            <a:r>
              <a:rPr lang="ko-KR" altLang="en-US" sz="1200" dirty="0"/>
              <a:t>제</a:t>
            </a:r>
            <a:r>
              <a:rPr lang="en-US" altLang="ko-KR" sz="1200" dirty="0"/>
              <a:t>1</a:t>
            </a:r>
            <a:r>
              <a:rPr lang="ko-KR" altLang="en-US" sz="1200" dirty="0"/>
              <a:t>국 출원이 이미 또 다른 당사국에 한 전출원을 기초로 하여 우선권을 주장하여 출원된 것이고</a:t>
            </a:r>
            <a:r>
              <a:rPr lang="en-US" altLang="ko-KR" sz="1200" dirty="0"/>
              <a:t>) </a:t>
            </a:r>
            <a:r>
              <a:rPr lang="ko-KR" altLang="en-US" sz="1200" dirty="0"/>
              <a:t>그 제</a:t>
            </a:r>
            <a:r>
              <a:rPr lang="en-US" altLang="ko-KR" sz="1200" dirty="0"/>
              <a:t>2</a:t>
            </a:r>
            <a:r>
              <a:rPr lang="ko-KR" altLang="en-US" sz="1200" dirty="0"/>
              <a:t>국 출원이 전출원일로부터 우선권 기간</a:t>
            </a:r>
            <a:r>
              <a:rPr lang="en-US" altLang="ko-KR" sz="1200" dirty="0"/>
              <a:t>(1</a:t>
            </a:r>
            <a:r>
              <a:rPr lang="ko-KR" altLang="en-US" sz="1200" dirty="0"/>
              <a:t>년</a:t>
            </a:r>
            <a:r>
              <a:rPr lang="en-US" altLang="ko-KR" sz="1200" dirty="0"/>
              <a:t>)</a:t>
            </a:r>
            <a:r>
              <a:rPr lang="ko-KR" altLang="en-US" sz="1200" dirty="0"/>
              <a:t>을 경과하여 이루어진 경우에는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2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국 출원에 기재된 발명 중에 전출원과 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1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국 출원의 명세서에 공통으로 포함된 발명에 대해서는 그 우선권 주장이 인정되지 않는데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이는 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2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국 출원이 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1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국 출원의 우선권 주장의 기초가 되었던 전출원에 기재되었던 발명에 대해서 중복하여 우선권이 허용되는 경우에는 실질적으로 우선권 기간이 연장되는 결과를 초래하는 것이므로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이와 같은 경우에는 우선일의 소급 효과를 인정하지 않고 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1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국 출원에서 새로이 추가된 발명에 대해서만 우선권 주장의 효과를 인정할 수 있는 것이다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따라서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2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국 출원의 우선권 주장이 인정받지 못하고 그 우선권 주장의 기초가 된 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1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국 출원이 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2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국 출원일 이전에 공개되었을 경우에는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2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국 출원은 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1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국 출원에 기재된 내용에 의하여 신규성을 상실하게 된다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</a:p>
          <a:p>
            <a:pPr fontAlgn="base"/>
            <a:endParaRPr lang="en-US" altLang="ko-KR" sz="1200" dirty="0"/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277AFAD9-E0AC-45F1-87B6-80E372A8FF29}"/>
              </a:ext>
            </a:extLst>
          </p:cNvPr>
          <p:cNvSpPr/>
          <p:nvPr/>
        </p:nvSpPr>
        <p:spPr>
          <a:xfrm>
            <a:off x="113937" y="964867"/>
            <a:ext cx="4765205" cy="30295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bIns="0">
            <a:spAutoFit/>
          </a:bodyPr>
          <a:lstStyle/>
          <a:p>
            <a:r>
              <a:rPr lang="ko-KR" altLang="en-US" sz="1400" dirty="0"/>
              <a:t>특허법원 </a:t>
            </a:r>
            <a:r>
              <a:rPr lang="en-US" altLang="ko-KR" sz="1400" dirty="0"/>
              <a:t>2006. 2. 9.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2004</a:t>
            </a:r>
            <a:r>
              <a:rPr lang="ko-KR" altLang="en-US" sz="1400" dirty="0"/>
              <a:t>허</a:t>
            </a:r>
            <a:r>
              <a:rPr lang="en-US" altLang="ko-KR" sz="1400" dirty="0"/>
              <a:t>8749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등록무효</a:t>
            </a:r>
            <a:r>
              <a:rPr lang="en-US" altLang="ko-KR" sz="1400" dirty="0"/>
              <a:t>】</a:t>
            </a:r>
            <a:endParaRPr lang="ko-KR" altLang="en-US" sz="1400" dirty="0"/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ECE41AA2-2546-405F-8260-2678A68E181D}"/>
              </a:ext>
            </a:extLst>
          </p:cNvPr>
          <p:cNvCxnSpPr/>
          <p:nvPr/>
        </p:nvCxnSpPr>
        <p:spPr>
          <a:xfrm>
            <a:off x="0" y="3279389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C899B2A-3992-3948-E740-DFD537BB8465}"/>
              </a:ext>
            </a:extLst>
          </p:cNvPr>
          <p:cNvSpPr txBox="1"/>
          <p:nvPr/>
        </p:nvSpPr>
        <p:spPr>
          <a:xfrm>
            <a:off x="8395455" y="3417174"/>
            <a:ext cx="3607078" cy="5847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조약</a:t>
            </a:r>
            <a:r>
              <a:rPr lang="en-US" altLang="ko-KR" sz="1600" dirty="0">
                <a:solidFill>
                  <a:srgbClr val="FF0000"/>
                </a:solidFill>
              </a:rPr>
              <a:t>/</a:t>
            </a:r>
            <a:r>
              <a:rPr lang="ko-KR" altLang="en-US" sz="1600" dirty="0" err="1">
                <a:solidFill>
                  <a:srgbClr val="FF0000"/>
                </a:solidFill>
              </a:rPr>
              <a:t>국내우선권주장</a:t>
            </a:r>
            <a:r>
              <a:rPr lang="ko-KR" altLang="en-US" sz="1600" dirty="0">
                <a:solidFill>
                  <a:srgbClr val="FF0000"/>
                </a:solidFill>
              </a:rPr>
              <a:t> 상관없이</a:t>
            </a:r>
            <a:endParaRPr lang="en-US" altLang="ko-KR" sz="16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누적적 우선권주장의 경우 소급효 불인정</a:t>
            </a:r>
          </a:p>
        </p:txBody>
      </p:sp>
    </p:spTree>
    <p:extLst>
      <p:ext uri="{BB962C8B-B14F-4D97-AF65-F5344CB8AC3E}">
        <p14:creationId xmlns:p14="http://schemas.microsoft.com/office/powerpoint/2010/main" val="332840551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양쪽 모서리가 둥근 사각형 48"/>
          <p:cNvSpPr/>
          <p:nvPr/>
        </p:nvSpPr>
        <p:spPr>
          <a:xfrm>
            <a:off x="6680200" y="2438399"/>
            <a:ext cx="4437139" cy="1139063"/>
          </a:xfrm>
          <a:prstGeom prst="round2Same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72" name="양쪽 모서리가 둥근 사각형 71"/>
          <p:cNvSpPr/>
          <p:nvPr/>
        </p:nvSpPr>
        <p:spPr>
          <a:xfrm>
            <a:off x="7672233" y="2127364"/>
            <a:ext cx="4120374" cy="1448943"/>
          </a:xfrm>
          <a:prstGeom prst="round2Same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45" name="양쪽 모서리가 둥근 사각형 44"/>
          <p:cNvSpPr/>
          <p:nvPr/>
        </p:nvSpPr>
        <p:spPr>
          <a:xfrm>
            <a:off x="1576232" y="3081866"/>
            <a:ext cx="2249456" cy="495596"/>
          </a:xfrm>
          <a:prstGeom prst="round2Same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55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56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최우선일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54</a:t>
            </a:r>
            <a:r>
              <a:rPr lang="ko-KR" altLang="en-US" dirty="0"/>
              <a:t>조제</a:t>
            </a:r>
            <a:r>
              <a:rPr lang="en-US" altLang="ko-KR" dirty="0"/>
              <a:t>7</a:t>
            </a:r>
            <a:r>
              <a:rPr lang="ko-KR" altLang="en-US" dirty="0"/>
              <a:t>항</a:t>
            </a:r>
            <a:r>
              <a:rPr lang="en-US" altLang="ko-KR" dirty="0"/>
              <a:t>) vs </a:t>
            </a:r>
            <a:r>
              <a:rPr lang="ko-KR" altLang="en-US" dirty="0"/>
              <a:t>최선출원일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55</a:t>
            </a:r>
            <a:r>
              <a:rPr lang="ko-KR" altLang="en-US" dirty="0"/>
              <a:t>조제</a:t>
            </a:r>
            <a:r>
              <a:rPr lang="en-US" altLang="ko-KR" dirty="0"/>
              <a:t>7</a:t>
            </a:r>
            <a:r>
              <a:rPr lang="ko-KR" altLang="en-US" dirty="0"/>
              <a:t>항</a:t>
            </a:r>
            <a:r>
              <a:rPr lang="en-US" altLang="ko-KR" dirty="0"/>
              <a:t>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75" y="986046"/>
            <a:ext cx="5872235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54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조약에 의한 우선권 주장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⑦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우선권 주장을 한 자 중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항의 요건을 갖춘 자는 제</a:t>
            </a:r>
            <a:r>
              <a:rPr lang="en-US" altLang="ko-KR" sz="1400" dirty="0">
                <a:solidFill>
                  <a:schemeClr val="tx2"/>
                </a:solidFill>
              </a:rPr>
              <a:t>5</a:t>
            </a:r>
            <a:r>
              <a:rPr lang="ko-KR" altLang="en-US" sz="1400" dirty="0">
                <a:solidFill>
                  <a:schemeClr val="tx2"/>
                </a:solidFill>
              </a:rPr>
              <a:t>항에 따른 </a:t>
            </a:r>
            <a:r>
              <a:rPr lang="ko-KR" altLang="en-US" sz="1400" dirty="0" err="1">
                <a:solidFill>
                  <a:srgbClr val="FF0000"/>
                </a:solidFill>
              </a:rPr>
              <a:t>최우선일</a:t>
            </a:r>
            <a:r>
              <a:rPr lang="ko-KR" altLang="en-US" sz="1400" dirty="0" err="1">
                <a:solidFill>
                  <a:schemeClr val="tx2"/>
                </a:solidFill>
              </a:rPr>
              <a:t>부터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개월 이내에 해당 우선권 주장을 보정하거나 추가할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6099756" y="1057275"/>
            <a:ext cx="0" cy="562927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170119" y="986046"/>
            <a:ext cx="5875991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55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특허출원 등을 기초로 한 우선권 주장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⑦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요건을 갖추어 우선권 주장을 한 자는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선출원일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선출원이</a:t>
            </a:r>
            <a:r>
              <a:rPr lang="ko-KR" altLang="en-US" sz="1400" dirty="0">
                <a:solidFill>
                  <a:schemeClr val="tx2"/>
                </a:solidFill>
              </a:rPr>
              <a:t> 둘 이상인 경우에는 </a:t>
            </a:r>
            <a:r>
              <a:rPr lang="ko-KR" altLang="en-US" sz="1400" dirty="0" err="1">
                <a:solidFill>
                  <a:srgbClr val="FF0000"/>
                </a:solidFill>
              </a:rPr>
              <a:t>최선출원일</a:t>
            </a:r>
            <a:r>
              <a:rPr lang="ko-KR" altLang="en-US" sz="1400" dirty="0" err="1">
                <a:solidFill>
                  <a:schemeClr val="tx2"/>
                </a:solidFill>
              </a:rPr>
              <a:t>을</a:t>
            </a:r>
            <a:r>
              <a:rPr lang="ko-KR" altLang="en-US" sz="1400" dirty="0">
                <a:solidFill>
                  <a:schemeClr val="tx2"/>
                </a:solidFill>
              </a:rPr>
              <a:t> 말한다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부터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개월 이내에 그 우선권 주장을 보정하거나 추가할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13" name="양쪽 모서리가 둥근 사각형 12"/>
          <p:cNvSpPr/>
          <p:nvPr/>
        </p:nvSpPr>
        <p:spPr>
          <a:xfrm>
            <a:off x="583709" y="2760133"/>
            <a:ext cx="3241979" cy="817329"/>
          </a:xfrm>
          <a:prstGeom prst="round2Same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14" name="양쪽 모서리가 둥근 사각형 13"/>
          <p:cNvSpPr/>
          <p:nvPr/>
        </p:nvSpPr>
        <p:spPr>
          <a:xfrm>
            <a:off x="583711" y="2438399"/>
            <a:ext cx="4640827" cy="1139063"/>
          </a:xfrm>
          <a:prstGeom prst="round2Same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cxnSp>
        <p:nvCxnSpPr>
          <p:cNvPr id="15" name="직선 연결선 14"/>
          <p:cNvCxnSpPr>
            <a:stCxn id="16" idx="1"/>
          </p:cNvCxnSpPr>
          <p:nvPr/>
        </p:nvCxnSpPr>
        <p:spPr>
          <a:xfrm>
            <a:off x="124460" y="3577463"/>
            <a:ext cx="582565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124460" y="3435700"/>
            <a:ext cx="918503" cy="2835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 한국출원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3184135" y="3435700"/>
            <a:ext cx="1283108" cy="2835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(W)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116981" y="3435700"/>
            <a:ext cx="918503" cy="2835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 일본출원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184135" y="3719226"/>
            <a:ext cx="1283108" cy="2835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 </a:t>
            </a:r>
            <a:r>
              <a:rPr lang="ko-KR" altLang="en-US" sz="1000" dirty="0">
                <a:solidFill>
                  <a:schemeClr val="tx1"/>
                </a:solidFill>
              </a:rPr>
              <a:t>기초 </a:t>
            </a:r>
            <a:r>
              <a:rPr lang="ko-KR" altLang="en-US" sz="1000" dirty="0" err="1">
                <a:solidFill>
                  <a:schemeClr val="tx1"/>
                </a:solidFill>
              </a:rPr>
              <a:t>우선권주장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4765287" y="4014501"/>
            <a:ext cx="918503" cy="2835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증명서류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765287" y="4298027"/>
            <a:ext cx="918503" cy="2835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증명서류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2" name="Rectangle 14"/>
          <p:cNvSpPr>
            <a:spLocks noChangeArrowheads="1"/>
          </p:cNvSpPr>
          <p:nvPr/>
        </p:nvSpPr>
        <p:spPr bwMode="auto">
          <a:xfrm flipV="1">
            <a:off x="5153544" y="3501423"/>
            <a:ext cx="144150" cy="152080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23" name="직선 연결선 22"/>
          <p:cNvCxnSpPr>
            <a:stCxn id="20" idx="0"/>
            <a:endCxn id="22" idx="0"/>
          </p:cNvCxnSpPr>
          <p:nvPr/>
        </p:nvCxnSpPr>
        <p:spPr>
          <a:xfrm flipV="1">
            <a:off x="5224539" y="3653503"/>
            <a:ext cx="1080" cy="36099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1257854" y="2478833"/>
            <a:ext cx="918503" cy="2835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1797549" y="2164265"/>
            <a:ext cx="918503" cy="2835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1</a:t>
            </a:r>
            <a:r>
              <a:rPr lang="ko-KR" altLang="en-US" sz="1400" b="1" dirty="0">
                <a:solidFill>
                  <a:srgbClr val="FF0000"/>
                </a:solidFill>
              </a:rPr>
              <a:t>년 </a:t>
            </a:r>
            <a:r>
              <a:rPr lang="en-US" altLang="ko-KR" sz="1400" b="1" dirty="0">
                <a:solidFill>
                  <a:srgbClr val="FF0000"/>
                </a:solidFill>
              </a:rPr>
              <a:t>4</a:t>
            </a:r>
            <a:r>
              <a:rPr lang="ko-KR" altLang="en-US" sz="1400" b="1" dirty="0">
                <a:solidFill>
                  <a:srgbClr val="FF0000"/>
                </a:solidFill>
              </a:rPr>
              <a:t>개월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3742965" y="4944141"/>
            <a:ext cx="1766404" cy="283526"/>
          </a:xfrm>
          <a:prstGeom prst="rect">
            <a:avLst/>
          </a:prstGeom>
          <a:solidFill>
            <a:srgbClr val="00B0F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Y </a:t>
            </a:r>
            <a:r>
              <a:rPr lang="ko-KR" altLang="en-US" sz="1000" dirty="0">
                <a:solidFill>
                  <a:schemeClr val="bg1"/>
                </a:solidFill>
              </a:rPr>
              <a:t>기초 우선권주장의 추가</a:t>
            </a:r>
          </a:p>
        </p:txBody>
      </p:sp>
      <p:sp>
        <p:nvSpPr>
          <p:cNvPr id="38" name="Rectangle 14"/>
          <p:cNvSpPr>
            <a:spLocks noChangeArrowheads="1"/>
          </p:cNvSpPr>
          <p:nvPr/>
        </p:nvSpPr>
        <p:spPr bwMode="auto">
          <a:xfrm flipV="1">
            <a:off x="4555172" y="3501423"/>
            <a:ext cx="144150" cy="152080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39" name="직선 연결선 38"/>
          <p:cNvCxnSpPr>
            <a:stCxn id="37" idx="0"/>
            <a:endCxn id="38" idx="0"/>
          </p:cNvCxnSpPr>
          <p:nvPr/>
        </p:nvCxnSpPr>
        <p:spPr>
          <a:xfrm flipV="1">
            <a:off x="4626167" y="3653503"/>
            <a:ext cx="1080" cy="129063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176357" y="2940103"/>
            <a:ext cx="329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2121471" y="3435700"/>
            <a:ext cx="918503" cy="2835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 미국출원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184135" y="4002752"/>
            <a:ext cx="1283108" cy="2835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Z </a:t>
            </a:r>
            <a:r>
              <a:rPr lang="ko-KR" altLang="en-US" sz="1000" dirty="0">
                <a:solidFill>
                  <a:schemeClr val="tx1"/>
                </a:solidFill>
              </a:rPr>
              <a:t>기초 </a:t>
            </a:r>
            <a:r>
              <a:rPr lang="ko-KR" altLang="en-US" sz="1000" dirty="0" err="1">
                <a:solidFill>
                  <a:schemeClr val="tx1"/>
                </a:solidFill>
              </a:rPr>
              <a:t>우선권주장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008602" y="4121880"/>
            <a:ext cx="329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2207930" y="2798340"/>
            <a:ext cx="918503" cy="2835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</a:t>
            </a:r>
            <a:r>
              <a:rPr lang="ko-KR" altLang="en-US" sz="1000" dirty="0">
                <a:solidFill>
                  <a:schemeClr val="tx1"/>
                </a:solidFill>
              </a:rPr>
              <a:t>년 이내</a:t>
            </a:r>
          </a:p>
        </p:txBody>
      </p:sp>
      <p:sp>
        <p:nvSpPr>
          <p:cNvPr id="47" name="양쪽 모서리가 둥근 사각형 46"/>
          <p:cNvSpPr/>
          <p:nvPr/>
        </p:nvSpPr>
        <p:spPr>
          <a:xfrm>
            <a:off x="7672232" y="3081866"/>
            <a:ext cx="2249456" cy="495596"/>
          </a:xfrm>
          <a:prstGeom prst="round2Same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48" name="양쪽 모서리가 둥근 사각형 47"/>
          <p:cNvSpPr/>
          <p:nvPr/>
        </p:nvSpPr>
        <p:spPr>
          <a:xfrm>
            <a:off x="6679709" y="2760133"/>
            <a:ext cx="3241979" cy="817329"/>
          </a:xfrm>
          <a:prstGeom prst="round2Same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cxnSp>
        <p:nvCxnSpPr>
          <p:cNvPr id="50" name="직선 연결선 49"/>
          <p:cNvCxnSpPr>
            <a:cxnSpLocks/>
            <a:stCxn id="51" idx="1"/>
          </p:cNvCxnSpPr>
          <p:nvPr/>
        </p:nvCxnSpPr>
        <p:spPr>
          <a:xfrm>
            <a:off x="6220460" y="3577463"/>
            <a:ext cx="582565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/>
          <p:cNvSpPr/>
          <p:nvPr/>
        </p:nvSpPr>
        <p:spPr>
          <a:xfrm>
            <a:off x="6220460" y="3435700"/>
            <a:ext cx="918503" cy="2835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 일본출원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9280135" y="3435700"/>
            <a:ext cx="1283108" cy="2835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(W)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7212981" y="3435700"/>
            <a:ext cx="918503" cy="2835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 한국출원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9280135" y="3719226"/>
            <a:ext cx="1283108" cy="2835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 </a:t>
            </a:r>
            <a:r>
              <a:rPr lang="ko-KR" altLang="en-US" sz="1000" dirty="0">
                <a:solidFill>
                  <a:schemeClr val="tx1"/>
                </a:solidFill>
              </a:rPr>
              <a:t>기초 </a:t>
            </a:r>
            <a:r>
              <a:rPr lang="ko-KR" altLang="en-US" sz="1000" dirty="0" err="1">
                <a:solidFill>
                  <a:schemeClr val="tx1"/>
                </a:solidFill>
              </a:rPr>
              <a:t>우선권주장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10658087" y="4014501"/>
            <a:ext cx="918503" cy="2835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증명서류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7" name="Rectangle 14"/>
          <p:cNvSpPr>
            <a:spLocks noChangeArrowheads="1"/>
          </p:cNvSpPr>
          <p:nvPr/>
        </p:nvSpPr>
        <p:spPr bwMode="auto">
          <a:xfrm flipV="1">
            <a:off x="11046344" y="3501423"/>
            <a:ext cx="144150" cy="152080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58" name="직선 연결선 57"/>
          <p:cNvCxnSpPr>
            <a:stCxn id="55" idx="0"/>
            <a:endCxn id="57" idx="0"/>
          </p:cNvCxnSpPr>
          <p:nvPr/>
        </p:nvCxnSpPr>
        <p:spPr>
          <a:xfrm flipV="1">
            <a:off x="11117339" y="3653503"/>
            <a:ext cx="1080" cy="36099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/>
          <p:cNvSpPr/>
          <p:nvPr/>
        </p:nvSpPr>
        <p:spPr>
          <a:xfrm>
            <a:off x="6656927" y="2504234"/>
            <a:ext cx="918503" cy="2835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8920462" y="2154873"/>
            <a:ext cx="918503" cy="2835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1</a:t>
            </a:r>
            <a:r>
              <a:rPr lang="ko-KR" altLang="en-US" sz="1050" dirty="0">
                <a:solidFill>
                  <a:schemeClr val="tx1"/>
                </a:solidFill>
              </a:rPr>
              <a:t>년 </a:t>
            </a:r>
            <a:r>
              <a:rPr lang="en-US" altLang="ko-KR" sz="1050" dirty="0">
                <a:solidFill>
                  <a:schemeClr val="tx1"/>
                </a:solidFill>
              </a:rPr>
              <a:t>4</a:t>
            </a:r>
            <a:r>
              <a:rPr lang="ko-KR" altLang="en-US" sz="1050" dirty="0">
                <a:solidFill>
                  <a:schemeClr val="tx1"/>
                </a:solidFill>
              </a:rPr>
              <a:t>개월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10201135" y="4944141"/>
            <a:ext cx="1766404" cy="283526"/>
          </a:xfrm>
          <a:prstGeom prst="rect">
            <a:avLst/>
          </a:prstGeom>
          <a:solidFill>
            <a:srgbClr val="00B0F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Y </a:t>
            </a:r>
            <a:r>
              <a:rPr lang="ko-KR" altLang="en-US" sz="1000" dirty="0">
                <a:solidFill>
                  <a:schemeClr val="bg1"/>
                </a:solidFill>
              </a:rPr>
              <a:t>기초 우선권주장의 추가</a:t>
            </a:r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 flipV="1">
            <a:off x="11572142" y="3501423"/>
            <a:ext cx="144150" cy="152080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63" name="직선 연결선 62"/>
          <p:cNvCxnSpPr>
            <a:endCxn id="62" idx="0"/>
          </p:cNvCxnSpPr>
          <p:nvPr/>
        </p:nvCxnSpPr>
        <p:spPr>
          <a:xfrm flipV="1">
            <a:off x="11639904" y="3653503"/>
            <a:ext cx="4313" cy="129063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272357" y="2940103"/>
            <a:ext cx="329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65" name="직사각형 64"/>
          <p:cNvSpPr/>
          <p:nvPr/>
        </p:nvSpPr>
        <p:spPr>
          <a:xfrm>
            <a:off x="8217471" y="3435700"/>
            <a:ext cx="918503" cy="2835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 한국출원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9280135" y="4002752"/>
            <a:ext cx="1283108" cy="2835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Z </a:t>
            </a:r>
            <a:r>
              <a:rPr lang="ko-KR" altLang="en-US" sz="1000" dirty="0">
                <a:solidFill>
                  <a:schemeClr val="tx1"/>
                </a:solidFill>
              </a:rPr>
              <a:t>기초 </a:t>
            </a:r>
            <a:r>
              <a:rPr lang="ko-KR" altLang="en-US" sz="1000" dirty="0" err="1">
                <a:solidFill>
                  <a:schemeClr val="tx1"/>
                </a:solidFill>
              </a:rPr>
              <a:t>우선권주장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9104602" y="4121880"/>
            <a:ext cx="329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8303930" y="2798340"/>
            <a:ext cx="918503" cy="2835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</a:t>
            </a:r>
            <a:r>
              <a:rPr lang="ko-KR" altLang="en-US" sz="1000" dirty="0">
                <a:solidFill>
                  <a:schemeClr val="tx1"/>
                </a:solidFill>
              </a:rPr>
              <a:t>년 이내</a:t>
            </a:r>
          </a:p>
        </p:txBody>
      </p:sp>
      <p:sp>
        <p:nvSpPr>
          <p:cNvPr id="69" name="직사각형 68"/>
          <p:cNvSpPr/>
          <p:nvPr/>
        </p:nvSpPr>
        <p:spPr>
          <a:xfrm>
            <a:off x="6174433" y="5712424"/>
            <a:ext cx="5871677" cy="954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400" dirty="0"/>
              <a:t>제</a:t>
            </a:r>
            <a:r>
              <a:rPr lang="en-US" altLang="ko-KR" sz="1400" dirty="0"/>
              <a:t>55</a:t>
            </a:r>
            <a:r>
              <a:rPr lang="ko-KR" altLang="en-US" sz="1400" dirty="0"/>
              <a:t>조제</a:t>
            </a:r>
            <a:r>
              <a:rPr lang="en-US" altLang="ko-KR" sz="1400" dirty="0"/>
              <a:t>1</a:t>
            </a:r>
            <a:r>
              <a:rPr lang="ko-KR" altLang="en-US" sz="1400" dirty="0"/>
              <a:t>항의 요건 中 </a:t>
            </a:r>
            <a:r>
              <a:rPr lang="ko-KR" altLang="en-US" sz="1400" dirty="0">
                <a:solidFill>
                  <a:srgbClr val="FF0000"/>
                </a:solidFill>
              </a:rPr>
              <a:t>우선기간 </a:t>
            </a:r>
            <a:r>
              <a:rPr lang="en-US" altLang="ko-KR" sz="1400" dirty="0">
                <a:solidFill>
                  <a:srgbClr val="FF0000"/>
                </a:solidFill>
              </a:rPr>
              <a:t>1</a:t>
            </a:r>
            <a:r>
              <a:rPr lang="ko-KR" altLang="en-US" sz="1400" dirty="0">
                <a:solidFill>
                  <a:srgbClr val="FF0000"/>
                </a:solidFill>
              </a:rPr>
              <a:t>년</a:t>
            </a:r>
            <a:r>
              <a:rPr lang="ko-KR" altLang="en-US" sz="1400" dirty="0"/>
              <a:t>의 판단시점은 </a:t>
            </a:r>
            <a:r>
              <a:rPr lang="ko-KR" altLang="en-US" sz="1400" dirty="0" err="1"/>
              <a:t>후출원</a:t>
            </a:r>
            <a:r>
              <a:rPr lang="en-US" altLang="ko-KR" sz="1400" dirty="0"/>
              <a:t>(W)</a:t>
            </a:r>
            <a:r>
              <a:rPr lang="ko-KR" altLang="en-US" sz="1400" dirty="0"/>
              <a:t> 시이고</a:t>
            </a:r>
            <a:r>
              <a:rPr lang="en-US" altLang="ko-KR" sz="1400" dirty="0"/>
              <a:t>, </a:t>
            </a:r>
            <a:r>
              <a:rPr lang="ko-KR" altLang="en-US" sz="1400" dirty="0" err="1">
                <a:solidFill>
                  <a:srgbClr val="FF0000"/>
                </a:solidFill>
              </a:rPr>
              <a:t>우선권주장출원할</a:t>
            </a:r>
            <a:r>
              <a:rPr lang="ko-KR" altLang="en-US" sz="1400" dirty="0">
                <a:solidFill>
                  <a:srgbClr val="FF0000"/>
                </a:solidFill>
              </a:rPr>
              <a:t> 때에 선출원이 무효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취하 또는 포기되거나 설정등록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거절결정이 확정되지 아니하였을 것</a:t>
            </a:r>
            <a:r>
              <a:rPr lang="ko-KR" altLang="en-US" sz="1400" dirty="0"/>
              <a:t>은 국내우선권주장의 보정 또는 추가시를 기준으로 판단한다</a:t>
            </a:r>
          </a:p>
        </p:txBody>
      </p:sp>
      <p:sp>
        <p:nvSpPr>
          <p:cNvPr id="70" name="모서리가 둥근 사각형 설명선 69"/>
          <p:cNvSpPr/>
          <p:nvPr/>
        </p:nvSpPr>
        <p:spPr>
          <a:xfrm>
            <a:off x="807803" y="4419751"/>
            <a:ext cx="1818603" cy="1048780"/>
          </a:xfrm>
          <a:prstGeom prst="wedgeRoundRectCallout">
            <a:avLst>
              <a:gd name="adj1" fmla="val -56681"/>
              <a:gd name="adj2" fmla="val -115103"/>
              <a:gd name="adj3" fmla="val 16667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(</a:t>
            </a:r>
            <a:r>
              <a:rPr lang="ko-KR" altLang="en-US" sz="1400" b="1" dirty="0"/>
              <a:t>최우선일</a:t>
            </a:r>
            <a:r>
              <a:rPr lang="en-US" altLang="ko-KR" sz="1400" b="1" dirty="0"/>
              <a:t>) </a:t>
            </a:r>
            <a:r>
              <a:rPr lang="ko-KR" altLang="en-US" sz="1400" dirty="0"/>
              <a:t>조약</a:t>
            </a:r>
            <a:r>
              <a:rPr lang="en-US" altLang="ko-KR" sz="1400" dirty="0"/>
              <a:t>/</a:t>
            </a:r>
            <a:r>
              <a:rPr lang="ko-KR" altLang="en-US" sz="1400" dirty="0"/>
              <a:t>국내우선권주장의 기초출원 중 가장 빠른 출원</a:t>
            </a:r>
          </a:p>
        </p:txBody>
      </p:sp>
      <p:sp>
        <p:nvSpPr>
          <p:cNvPr id="71" name="모서리가 둥근 사각형 설명선 70"/>
          <p:cNvSpPr/>
          <p:nvPr/>
        </p:nvSpPr>
        <p:spPr>
          <a:xfrm>
            <a:off x="6398868" y="4419751"/>
            <a:ext cx="2202825" cy="1048780"/>
          </a:xfrm>
          <a:prstGeom prst="wedgeRoundRectCallout">
            <a:avLst>
              <a:gd name="adj1" fmla="val 8032"/>
              <a:gd name="adj2" fmla="val -116718"/>
              <a:gd name="adj3" fmla="val 16667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(</a:t>
            </a:r>
            <a:r>
              <a:rPr lang="ko-KR" altLang="en-US" sz="1400" b="1" dirty="0"/>
              <a:t>최선출원일</a:t>
            </a:r>
            <a:r>
              <a:rPr lang="en-US" altLang="ko-KR" sz="1400" b="1" dirty="0"/>
              <a:t>) </a:t>
            </a:r>
            <a:r>
              <a:rPr lang="ko-KR" altLang="en-US" sz="1400" b="1" dirty="0"/>
              <a:t>국내</a:t>
            </a:r>
            <a:r>
              <a:rPr lang="ko-KR" altLang="en-US" sz="1400" dirty="0"/>
              <a:t>우선권주장의 기초출원 중 가장 빠른 출원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235</a:t>
            </a:fld>
            <a:endParaRPr lang="ko-KR" altLang="en-US"/>
          </a:p>
        </p:txBody>
      </p:sp>
      <p:sp>
        <p:nvSpPr>
          <p:cNvPr id="73" name="직사각형 72"/>
          <p:cNvSpPr/>
          <p:nvPr/>
        </p:nvSpPr>
        <p:spPr>
          <a:xfrm>
            <a:off x="8920462" y="1824734"/>
            <a:ext cx="918503" cy="2835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1</a:t>
            </a:r>
            <a:r>
              <a:rPr lang="ko-KR" altLang="en-US" sz="1400" b="1" dirty="0">
                <a:solidFill>
                  <a:srgbClr val="FF0000"/>
                </a:solidFill>
              </a:rPr>
              <a:t>년 </a:t>
            </a:r>
            <a:r>
              <a:rPr lang="en-US" altLang="ko-KR" sz="1400" b="1" dirty="0">
                <a:solidFill>
                  <a:srgbClr val="FF0000"/>
                </a:solidFill>
              </a:rPr>
              <a:t>4</a:t>
            </a:r>
            <a:r>
              <a:rPr lang="ko-KR" altLang="en-US" sz="1400" b="1" dirty="0">
                <a:solidFill>
                  <a:srgbClr val="FF0000"/>
                </a:solidFill>
              </a:rPr>
              <a:t>개월</a:t>
            </a:r>
          </a:p>
        </p:txBody>
      </p:sp>
    </p:spTree>
    <p:extLst>
      <p:ext uri="{BB962C8B-B14F-4D97-AF65-F5344CB8AC3E}">
        <p14:creationId xmlns:p14="http://schemas.microsoft.com/office/powerpoint/2010/main" val="285252158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양쪽 모서리가 둥근 사각형 100">
            <a:extLst>
              <a:ext uri="{FF2B5EF4-FFF2-40B4-BE49-F238E27FC236}">
                <a16:creationId xmlns:a16="http://schemas.microsoft.com/office/drawing/2014/main" id="{12E46635-744F-44D5-A4E6-5AE0D0327225}"/>
              </a:ext>
            </a:extLst>
          </p:cNvPr>
          <p:cNvSpPr/>
          <p:nvPr/>
        </p:nvSpPr>
        <p:spPr>
          <a:xfrm>
            <a:off x="8271641" y="5389970"/>
            <a:ext cx="2205179" cy="399366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2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607819A0-BF0A-46B9-9BEB-8631E4152337}"/>
              </a:ext>
            </a:extLst>
          </p:cNvPr>
          <p:cNvCxnSpPr>
            <a:cxnSpLocks/>
          </p:cNvCxnSpPr>
          <p:nvPr/>
        </p:nvCxnSpPr>
        <p:spPr>
          <a:xfrm>
            <a:off x="8471263" y="1667143"/>
            <a:ext cx="0" cy="2264242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양쪽 모서리가 둥근 사각형 48">
            <a:extLst>
              <a:ext uri="{FF2B5EF4-FFF2-40B4-BE49-F238E27FC236}">
                <a16:creationId xmlns:a16="http://schemas.microsoft.com/office/drawing/2014/main" id="{F9DACA7E-D11E-4803-8246-ACBE25D0EB42}"/>
              </a:ext>
            </a:extLst>
          </p:cNvPr>
          <p:cNvSpPr/>
          <p:nvPr/>
        </p:nvSpPr>
        <p:spPr>
          <a:xfrm>
            <a:off x="5616498" y="2172822"/>
            <a:ext cx="5443138" cy="879282"/>
          </a:xfrm>
          <a:prstGeom prst="round2Same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55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56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국내우선권주장의</a:t>
            </a:r>
            <a:r>
              <a:rPr lang="ko-KR" altLang="en-US" dirty="0"/>
              <a:t> 보정 또는 추가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55</a:t>
            </a:r>
            <a:r>
              <a:rPr lang="ko-KR" altLang="en-US" dirty="0"/>
              <a:t>조제</a:t>
            </a:r>
            <a:r>
              <a:rPr lang="en-US" altLang="ko-KR" dirty="0"/>
              <a:t>7</a:t>
            </a:r>
            <a:r>
              <a:rPr lang="ko-KR" altLang="en-US" dirty="0"/>
              <a:t>항</a:t>
            </a:r>
            <a:r>
              <a:rPr lang="en-US" altLang="ko-KR" dirty="0"/>
              <a:t>)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236</a:t>
            </a:fld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6778AFF-AAB5-4F0E-9A4D-3E481F59579C}"/>
              </a:ext>
            </a:extLst>
          </p:cNvPr>
          <p:cNvSpPr/>
          <p:nvPr/>
        </p:nvSpPr>
        <p:spPr>
          <a:xfrm>
            <a:off x="272769" y="2673841"/>
            <a:ext cx="1482459" cy="505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특허법 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55</a:t>
            </a:r>
            <a:r>
              <a:rPr lang="ko-KR" altLang="en-US" sz="1400" dirty="0">
                <a:solidFill>
                  <a:schemeClr val="tx1"/>
                </a:solidFill>
              </a:rPr>
              <a:t>조제</a:t>
            </a:r>
            <a:r>
              <a:rPr lang="en-US" altLang="ko-KR" sz="1400" dirty="0">
                <a:solidFill>
                  <a:schemeClr val="tx1"/>
                </a:solidFill>
              </a:rPr>
              <a:t>7</a:t>
            </a:r>
            <a:r>
              <a:rPr lang="ko-KR" altLang="en-US" sz="1400" dirty="0">
                <a:solidFill>
                  <a:schemeClr val="tx1"/>
                </a:solidFill>
              </a:rPr>
              <a:t>항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9D3BA783-E094-401A-BE40-D121301993E9}"/>
              </a:ext>
            </a:extLst>
          </p:cNvPr>
          <p:cNvSpPr/>
          <p:nvPr/>
        </p:nvSpPr>
        <p:spPr>
          <a:xfrm>
            <a:off x="2698126" y="1144906"/>
            <a:ext cx="1482459" cy="505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특허법 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54</a:t>
            </a:r>
            <a:r>
              <a:rPr lang="ko-KR" altLang="en-US" sz="1400" dirty="0">
                <a:solidFill>
                  <a:schemeClr val="tx1"/>
                </a:solidFill>
              </a:rPr>
              <a:t>조제</a:t>
            </a:r>
            <a:r>
              <a:rPr lang="en-US" altLang="ko-KR" sz="1400" dirty="0">
                <a:solidFill>
                  <a:schemeClr val="tx1"/>
                </a:solidFill>
              </a:rPr>
              <a:t>7</a:t>
            </a:r>
            <a:r>
              <a:rPr lang="ko-KR" altLang="en-US" sz="1400" dirty="0">
                <a:solidFill>
                  <a:schemeClr val="tx1"/>
                </a:solidFill>
              </a:rPr>
              <a:t>항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7BE9AB4F-8E10-4B73-A596-D9ADC8992E54}"/>
              </a:ext>
            </a:extLst>
          </p:cNvPr>
          <p:cNvSpPr/>
          <p:nvPr/>
        </p:nvSpPr>
        <p:spPr>
          <a:xfrm>
            <a:off x="2698126" y="2270677"/>
            <a:ext cx="1482459" cy="505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특허법 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56</a:t>
            </a:r>
            <a:r>
              <a:rPr lang="ko-KR" altLang="en-US" sz="1400" dirty="0">
                <a:solidFill>
                  <a:schemeClr val="tx1"/>
                </a:solidFill>
              </a:rPr>
              <a:t>조제</a:t>
            </a:r>
            <a:r>
              <a:rPr lang="en-US" altLang="ko-KR" sz="1400" dirty="0">
                <a:solidFill>
                  <a:schemeClr val="tx1"/>
                </a:solidFill>
              </a:rPr>
              <a:t>2</a:t>
            </a:r>
            <a:r>
              <a:rPr lang="ko-KR" altLang="en-US" sz="1400" dirty="0">
                <a:solidFill>
                  <a:schemeClr val="tx1"/>
                </a:solidFill>
              </a:rPr>
              <a:t>항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DAB4AC11-113A-4EE5-94DF-DE20B683DF4A}"/>
              </a:ext>
            </a:extLst>
          </p:cNvPr>
          <p:cNvSpPr/>
          <p:nvPr/>
        </p:nvSpPr>
        <p:spPr>
          <a:xfrm>
            <a:off x="2698126" y="4895586"/>
            <a:ext cx="1482459" cy="505680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특허법 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55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조제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1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항</a:t>
            </a:r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3EEDC9E0-808A-43E6-89E2-39A492E818C6}"/>
              </a:ext>
            </a:extLst>
          </p:cNvPr>
          <p:cNvCxnSpPr>
            <a:stCxn id="3" idx="0"/>
            <a:endCxn id="74" idx="1"/>
          </p:cNvCxnSpPr>
          <p:nvPr/>
        </p:nvCxnSpPr>
        <p:spPr>
          <a:xfrm rot="5400000" flipH="1" flipV="1">
            <a:off x="1218015" y="1193731"/>
            <a:ext cx="1276095" cy="1684127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4D2CE42F-57EF-4A0F-986A-B2D54A438B37}"/>
              </a:ext>
            </a:extLst>
          </p:cNvPr>
          <p:cNvCxnSpPr>
            <a:stCxn id="3" idx="3"/>
            <a:endCxn id="75" idx="1"/>
          </p:cNvCxnSpPr>
          <p:nvPr/>
        </p:nvCxnSpPr>
        <p:spPr>
          <a:xfrm flipV="1">
            <a:off x="1755228" y="2523517"/>
            <a:ext cx="942898" cy="403164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6AFFC878-EA0E-436F-BC4B-0073901D8A94}"/>
              </a:ext>
            </a:extLst>
          </p:cNvPr>
          <p:cNvCxnSpPr>
            <a:stCxn id="3" idx="2"/>
            <a:endCxn id="76" idx="1"/>
          </p:cNvCxnSpPr>
          <p:nvPr/>
        </p:nvCxnSpPr>
        <p:spPr>
          <a:xfrm rot="16200000" flipH="1">
            <a:off x="871610" y="3321909"/>
            <a:ext cx="1968905" cy="1684127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1DB9230-061F-475D-B5B2-99E6559DFC69}"/>
              </a:ext>
            </a:extLst>
          </p:cNvPr>
          <p:cNvSpPr txBox="1"/>
          <p:nvPr/>
        </p:nvSpPr>
        <p:spPr>
          <a:xfrm>
            <a:off x="1788139" y="1020810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비교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3A1A9B6-5303-43CB-9DB3-E5E0F7B8E2D3}"/>
              </a:ext>
            </a:extLst>
          </p:cNvPr>
          <p:cNvSpPr txBox="1"/>
          <p:nvPr/>
        </p:nvSpPr>
        <p:spPr>
          <a:xfrm>
            <a:off x="1795956" y="2098711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제한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7E677BE-2E87-493B-9641-F215944443C9}"/>
              </a:ext>
            </a:extLst>
          </p:cNvPr>
          <p:cNvSpPr txBox="1"/>
          <p:nvPr/>
        </p:nvSpPr>
        <p:spPr>
          <a:xfrm>
            <a:off x="1115054" y="4480088"/>
            <a:ext cx="1642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보정</a:t>
            </a:r>
            <a:r>
              <a:rPr lang="en-US" altLang="ko-KR" dirty="0"/>
              <a:t>/</a:t>
            </a:r>
            <a:r>
              <a:rPr lang="ko-KR" altLang="en-US" dirty="0"/>
              <a:t>추가출원</a:t>
            </a:r>
            <a:endParaRPr lang="en-US" altLang="ko-KR" dirty="0"/>
          </a:p>
          <a:p>
            <a:r>
              <a:rPr lang="ko-KR" altLang="en-US" dirty="0"/>
              <a:t>제</a:t>
            </a:r>
            <a:r>
              <a:rPr lang="en-US" altLang="ko-KR" dirty="0"/>
              <a:t>1</a:t>
            </a:r>
            <a:r>
              <a:rPr lang="ko-KR" altLang="en-US" dirty="0" err="1"/>
              <a:t>항요건</a:t>
            </a:r>
            <a:r>
              <a:rPr lang="ko-KR" altLang="en-US" dirty="0"/>
              <a:t> 충족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54A141-62F8-4DD4-A2B5-C5A00ADC4423}"/>
              </a:ext>
            </a:extLst>
          </p:cNvPr>
          <p:cNvSpPr txBox="1"/>
          <p:nvPr/>
        </p:nvSpPr>
        <p:spPr>
          <a:xfrm>
            <a:off x="2626810" y="5799213"/>
            <a:ext cx="1407758" cy="830997"/>
          </a:xfrm>
          <a:prstGeom prst="wedgeRectCallout">
            <a:avLst>
              <a:gd name="adj1" fmla="val 6735"/>
              <a:gd name="adj2" fmla="val -9299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1. </a:t>
            </a:r>
            <a:r>
              <a:rPr lang="ko-KR" altLang="en-US" sz="1200" dirty="0" err="1"/>
              <a:t>후출원시</a:t>
            </a:r>
            <a:endParaRPr lang="en-US" altLang="ko-KR" sz="1200" dirty="0"/>
          </a:p>
          <a:p>
            <a:r>
              <a:rPr lang="en-US" altLang="ko-KR" sz="1200" dirty="0"/>
              <a:t>2.</a:t>
            </a:r>
          </a:p>
          <a:p>
            <a:r>
              <a:rPr lang="en-US" altLang="ko-KR" sz="1200" dirty="0"/>
              <a:t>3. </a:t>
            </a:r>
            <a:r>
              <a:rPr lang="ko-KR" altLang="en-US" sz="1200" dirty="0"/>
              <a:t>보정 또는 </a:t>
            </a:r>
            <a:r>
              <a:rPr lang="ko-KR" altLang="en-US" sz="1200" dirty="0" err="1"/>
              <a:t>추가시</a:t>
            </a:r>
            <a:endParaRPr lang="en-US" altLang="ko-KR" sz="1200" dirty="0"/>
          </a:p>
          <a:p>
            <a:r>
              <a:rPr lang="en-US" altLang="ko-KR" sz="1200" dirty="0"/>
              <a:t>4. </a:t>
            </a:r>
            <a:r>
              <a:rPr lang="ko-KR" altLang="en-US" sz="1200" dirty="0"/>
              <a:t>보정 또는 </a:t>
            </a:r>
            <a:r>
              <a:rPr lang="ko-KR" altLang="en-US" sz="1200" dirty="0" err="1"/>
              <a:t>추가시</a:t>
            </a:r>
            <a:endParaRPr lang="ko-KR" altLang="en-US" sz="1200" dirty="0"/>
          </a:p>
        </p:txBody>
      </p:sp>
      <p:sp>
        <p:nvSpPr>
          <p:cNvPr id="81" name="양쪽 모서리가 둥근 사각형 46">
            <a:extLst>
              <a:ext uri="{FF2B5EF4-FFF2-40B4-BE49-F238E27FC236}">
                <a16:creationId xmlns:a16="http://schemas.microsoft.com/office/drawing/2014/main" id="{4EB8C2FF-4087-4180-A0CB-F4C30715C09C}"/>
              </a:ext>
            </a:extLst>
          </p:cNvPr>
          <p:cNvSpPr/>
          <p:nvPr/>
        </p:nvSpPr>
        <p:spPr>
          <a:xfrm>
            <a:off x="5612527" y="2557663"/>
            <a:ext cx="2858736" cy="495596"/>
          </a:xfrm>
          <a:prstGeom prst="round2Same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66BC89F8-E5E7-43F7-812E-94CD8EDAE9F1}"/>
              </a:ext>
            </a:extLst>
          </p:cNvPr>
          <p:cNvCxnSpPr>
            <a:cxnSpLocks/>
          </p:cNvCxnSpPr>
          <p:nvPr/>
        </p:nvCxnSpPr>
        <p:spPr>
          <a:xfrm>
            <a:off x="4770035" y="3053260"/>
            <a:ext cx="704359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57C74FC-6935-4035-A040-8A7A08C7F3AD}"/>
              </a:ext>
            </a:extLst>
          </p:cNvPr>
          <p:cNvSpPr/>
          <p:nvPr/>
        </p:nvSpPr>
        <p:spPr>
          <a:xfrm>
            <a:off x="7829710" y="2911497"/>
            <a:ext cx="1283108" cy="3467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7ACC5971-4076-4AE3-9BA3-B47B5DBD2808}"/>
              </a:ext>
            </a:extLst>
          </p:cNvPr>
          <p:cNvSpPr/>
          <p:nvPr/>
        </p:nvSpPr>
        <p:spPr>
          <a:xfrm>
            <a:off x="5089895" y="2911497"/>
            <a:ext cx="918503" cy="3467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 한국출원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F984A042-27CF-40B8-A452-B7D66A6DB916}"/>
              </a:ext>
            </a:extLst>
          </p:cNvPr>
          <p:cNvSpPr/>
          <p:nvPr/>
        </p:nvSpPr>
        <p:spPr>
          <a:xfrm>
            <a:off x="7829710" y="3258083"/>
            <a:ext cx="1283108" cy="3467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 </a:t>
            </a:r>
            <a:r>
              <a:rPr lang="ko-KR" altLang="en-US" sz="1000" dirty="0">
                <a:solidFill>
                  <a:schemeClr val="tx1"/>
                </a:solidFill>
              </a:rPr>
              <a:t>기초 </a:t>
            </a:r>
            <a:r>
              <a:rPr lang="ko-KR" altLang="en-US" sz="1000" dirty="0" err="1">
                <a:solidFill>
                  <a:schemeClr val="tx1"/>
                </a:solidFill>
              </a:rPr>
              <a:t>우선권주장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12503FE0-9AE0-4001-8B26-916348C050C3}"/>
              </a:ext>
            </a:extLst>
          </p:cNvPr>
          <p:cNvSpPr/>
          <p:nvPr/>
        </p:nvSpPr>
        <p:spPr>
          <a:xfrm>
            <a:off x="6441227" y="2911497"/>
            <a:ext cx="918503" cy="3467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 한국출원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DB70293C-85CF-4FBB-8C12-2B9A884F227F}"/>
              </a:ext>
            </a:extLst>
          </p:cNvPr>
          <p:cNvSpPr/>
          <p:nvPr/>
        </p:nvSpPr>
        <p:spPr>
          <a:xfrm>
            <a:off x="6853505" y="2274137"/>
            <a:ext cx="918503" cy="2835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</a:t>
            </a:r>
            <a:r>
              <a:rPr lang="ko-KR" altLang="en-US" sz="1000" dirty="0">
                <a:solidFill>
                  <a:schemeClr val="tx1"/>
                </a:solidFill>
              </a:rPr>
              <a:t>년 이내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0716111-3F96-4F6A-80D7-46FC93892EA3}"/>
              </a:ext>
            </a:extLst>
          </p:cNvPr>
          <p:cNvSpPr/>
          <p:nvPr/>
        </p:nvSpPr>
        <p:spPr>
          <a:xfrm>
            <a:off x="7916827" y="1889296"/>
            <a:ext cx="918503" cy="2835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1</a:t>
            </a:r>
            <a:r>
              <a:rPr lang="ko-KR" altLang="en-US" sz="1050" dirty="0">
                <a:solidFill>
                  <a:schemeClr val="tx1"/>
                </a:solidFill>
              </a:rPr>
              <a:t>년 </a:t>
            </a:r>
            <a:r>
              <a:rPr lang="en-US" altLang="ko-KR" sz="1050" dirty="0">
                <a:solidFill>
                  <a:schemeClr val="tx1"/>
                </a:solidFill>
              </a:rPr>
              <a:t>4</a:t>
            </a:r>
            <a:r>
              <a:rPr lang="ko-KR" altLang="en-US" sz="1050" dirty="0">
                <a:solidFill>
                  <a:schemeClr val="tx1"/>
                </a:solidFill>
              </a:rPr>
              <a:t>개월</a:t>
            </a:r>
          </a:p>
        </p:txBody>
      </p: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95FEE975-3C6C-44D0-BDF5-79E5B7314286}"/>
              </a:ext>
            </a:extLst>
          </p:cNvPr>
          <p:cNvCxnSpPr>
            <a:cxnSpLocks/>
          </p:cNvCxnSpPr>
          <p:nvPr/>
        </p:nvCxnSpPr>
        <p:spPr>
          <a:xfrm>
            <a:off x="10142408" y="1667143"/>
            <a:ext cx="0" cy="2264242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631C841A-0D7F-4B7C-B398-22258AD6E913}"/>
              </a:ext>
            </a:extLst>
          </p:cNvPr>
          <p:cNvSpPr/>
          <p:nvPr/>
        </p:nvSpPr>
        <p:spPr>
          <a:xfrm rot="10800000" flipV="1">
            <a:off x="7734657" y="1184252"/>
            <a:ext cx="1473214" cy="580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Z </a:t>
            </a:r>
            <a:r>
              <a:rPr lang="ko-KR" altLang="en-US" sz="1200" dirty="0" err="1">
                <a:solidFill>
                  <a:srgbClr val="FF0000"/>
                </a:solidFill>
              </a:rPr>
              <a:t>출원시</a:t>
            </a:r>
            <a:r>
              <a:rPr lang="ko-KR" altLang="en-US" sz="1200" dirty="0">
                <a:solidFill>
                  <a:srgbClr val="FF0000"/>
                </a:solidFill>
              </a:rPr>
              <a:t> 제</a:t>
            </a:r>
            <a:r>
              <a:rPr lang="en-US" altLang="ko-KR" sz="1200" dirty="0">
                <a:solidFill>
                  <a:srgbClr val="FF0000"/>
                </a:solidFill>
              </a:rPr>
              <a:t>55</a:t>
            </a:r>
            <a:r>
              <a:rPr lang="ko-KR" altLang="en-US" sz="1200" dirty="0">
                <a:solidFill>
                  <a:srgbClr val="FF0000"/>
                </a:solidFill>
              </a:rPr>
              <a:t>조 제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항 제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호</a:t>
            </a:r>
            <a:r>
              <a:rPr lang="en-US" altLang="ko-KR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>
                <a:solidFill>
                  <a:srgbClr val="FF0000"/>
                </a:solidFill>
              </a:rPr>
              <a:t>충족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BB16AF8D-1495-4C40-A3A8-1193CDE59D5E}"/>
              </a:ext>
            </a:extLst>
          </p:cNvPr>
          <p:cNvSpPr/>
          <p:nvPr/>
        </p:nvSpPr>
        <p:spPr>
          <a:xfrm>
            <a:off x="9225188" y="1301371"/>
            <a:ext cx="1834440" cy="3467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보정</a:t>
            </a:r>
            <a:r>
              <a:rPr lang="en-US" altLang="ko-KR" sz="1200" dirty="0">
                <a:solidFill>
                  <a:srgbClr val="FF0000"/>
                </a:solidFill>
              </a:rPr>
              <a:t>/</a:t>
            </a:r>
            <a:r>
              <a:rPr lang="ko-KR" altLang="en-US" sz="1200" dirty="0" err="1">
                <a:solidFill>
                  <a:srgbClr val="FF0000"/>
                </a:solidFill>
              </a:rPr>
              <a:t>추가시</a:t>
            </a:r>
            <a:r>
              <a:rPr lang="ko-KR" altLang="en-US" sz="1200" dirty="0">
                <a:solidFill>
                  <a:srgbClr val="FF0000"/>
                </a:solidFill>
              </a:rPr>
              <a:t> 제</a:t>
            </a:r>
            <a:r>
              <a:rPr lang="en-US" altLang="ko-KR" sz="1200" dirty="0">
                <a:solidFill>
                  <a:srgbClr val="FF0000"/>
                </a:solidFill>
              </a:rPr>
              <a:t>55</a:t>
            </a:r>
            <a:r>
              <a:rPr lang="ko-KR" altLang="en-US" sz="1200" dirty="0">
                <a:solidFill>
                  <a:srgbClr val="FF0000"/>
                </a:solidFill>
              </a:rPr>
              <a:t>조 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제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항 제</a:t>
            </a:r>
            <a:r>
              <a:rPr lang="en-US" altLang="ko-KR" sz="1200" dirty="0">
                <a:solidFill>
                  <a:srgbClr val="FF0000"/>
                </a:solidFill>
              </a:rPr>
              <a:t>3</a:t>
            </a:r>
            <a:r>
              <a:rPr lang="ko-KR" altLang="en-US" sz="1200" dirty="0">
                <a:solidFill>
                  <a:srgbClr val="FF0000"/>
                </a:solidFill>
              </a:rPr>
              <a:t>호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제</a:t>
            </a:r>
            <a:r>
              <a:rPr lang="en-US" altLang="ko-KR" sz="1200" dirty="0">
                <a:solidFill>
                  <a:srgbClr val="FF0000"/>
                </a:solidFill>
              </a:rPr>
              <a:t>4</a:t>
            </a:r>
            <a:r>
              <a:rPr lang="ko-KR" altLang="en-US" sz="1200" dirty="0">
                <a:solidFill>
                  <a:srgbClr val="FF0000"/>
                </a:solidFill>
              </a:rPr>
              <a:t>호</a:t>
            </a:r>
            <a:r>
              <a:rPr lang="en-US" altLang="ko-KR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>
                <a:solidFill>
                  <a:srgbClr val="FF0000"/>
                </a:solidFill>
              </a:rPr>
              <a:t>충족</a:t>
            </a:r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09E198EF-3046-4973-B7BA-4542A6E639F8}"/>
              </a:ext>
            </a:extLst>
          </p:cNvPr>
          <p:cNvCxnSpPr/>
          <p:nvPr/>
        </p:nvCxnSpPr>
        <p:spPr>
          <a:xfrm>
            <a:off x="4424855" y="861848"/>
            <a:ext cx="0" cy="567558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744E8311-F94E-4E26-94C0-8F078AD8848D}"/>
              </a:ext>
            </a:extLst>
          </p:cNvPr>
          <p:cNvSpPr/>
          <p:nvPr/>
        </p:nvSpPr>
        <p:spPr>
          <a:xfrm>
            <a:off x="4669126" y="4609075"/>
            <a:ext cx="7218074" cy="17693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Rectangle 5">
            <a:extLst>
              <a:ext uri="{FF2B5EF4-FFF2-40B4-BE49-F238E27FC236}">
                <a16:creationId xmlns:a16="http://schemas.microsoft.com/office/drawing/2014/main" id="{606CC2C7-94EB-41FE-9F73-A86EB3E58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0330" y="4442088"/>
            <a:ext cx="752880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+mj-ea"/>
                <a:ea typeface="+mj-ea"/>
              </a:rPr>
              <a:t>CASE</a:t>
            </a:r>
            <a:endParaRPr lang="ko-KR" altLang="en-US" sz="14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F5F2FF8E-9AC5-4018-8F37-B2A4AF0E0D2F}"/>
              </a:ext>
            </a:extLst>
          </p:cNvPr>
          <p:cNvCxnSpPr>
            <a:cxnSpLocks/>
          </p:cNvCxnSpPr>
          <p:nvPr/>
        </p:nvCxnSpPr>
        <p:spPr>
          <a:xfrm>
            <a:off x="4744721" y="5780975"/>
            <a:ext cx="704359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1FE16CD9-0308-44D4-BDE6-F870659B2188}"/>
              </a:ext>
            </a:extLst>
          </p:cNvPr>
          <p:cNvSpPr/>
          <p:nvPr/>
        </p:nvSpPr>
        <p:spPr>
          <a:xfrm>
            <a:off x="7804396" y="5607682"/>
            <a:ext cx="918503" cy="3467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34E80226-E418-49C8-A23F-D5899ED44412}"/>
              </a:ext>
            </a:extLst>
          </p:cNvPr>
          <p:cNvSpPr/>
          <p:nvPr/>
        </p:nvSpPr>
        <p:spPr>
          <a:xfrm>
            <a:off x="5064581" y="5607682"/>
            <a:ext cx="918503" cy="3467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 한국출원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E4AD3278-DC02-4325-A5F1-ABF40C3428EA}"/>
              </a:ext>
            </a:extLst>
          </p:cNvPr>
          <p:cNvSpPr/>
          <p:nvPr/>
        </p:nvSpPr>
        <p:spPr>
          <a:xfrm>
            <a:off x="7804396" y="5954268"/>
            <a:ext cx="918503" cy="3467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 </a:t>
            </a:r>
            <a:r>
              <a:rPr lang="ko-KR" altLang="en-US" sz="1000" dirty="0">
                <a:solidFill>
                  <a:schemeClr val="tx1"/>
                </a:solidFill>
              </a:rPr>
              <a:t>기초 </a:t>
            </a:r>
            <a:r>
              <a:rPr lang="ko-KR" altLang="en-US" sz="1000" dirty="0" err="1">
                <a:solidFill>
                  <a:schemeClr val="tx1"/>
                </a:solidFill>
              </a:rPr>
              <a:t>우선권주장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D3B61D08-55AD-41CD-B1F3-20EFD5FFDB26}"/>
              </a:ext>
            </a:extLst>
          </p:cNvPr>
          <p:cNvSpPr/>
          <p:nvPr/>
        </p:nvSpPr>
        <p:spPr>
          <a:xfrm>
            <a:off x="10038481" y="5607682"/>
            <a:ext cx="818706" cy="3467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취하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EC5CDFEF-C55A-4EC8-86A3-387C4AA0B232}"/>
              </a:ext>
            </a:extLst>
          </p:cNvPr>
          <p:cNvSpPr/>
          <p:nvPr/>
        </p:nvSpPr>
        <p:spPr>
          <a:xfrm>
            <a:off x="6415913" y="5607682"/>
            <a:ext cx="918503" cy="3467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 한국출원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A537036F-4F4A-4E5B-B7FA-060145439EF0}"/>
              </a:ext>
            </a:extLst>
          </p:cNvPr>
          <p:cNvSpPr/>
          <p:nvPr/>
        </p:nvSpPr>
        <p:spPr>
          <a:xfrm>
            <a:off x="6407377" y="5954268"/>
            <a:ext cx="927039" cy="3467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 </a:t>
            </a:r>
            <a:r>
              <a:rPr lang="ko-KR" altLang="en-US" sz="1000" dirty="0">
                <a:solidFill>
                  <a:schemeClr val="tx1"/>
                </a:solidFill>
              </a:rPr>
              <a:t>기초 </a:t>
            </a:r>
            <a:r>
              <a:rPr lang="ko-KR" altLang="en-US" sz="1000" dirty="0" err="1">
                <a:solidFill>
                  <a:schemeClr val="tx1"/>
                </a:solidFill>
              </a:rPr>
              <a:t>우선권주장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6BCD77F7-6571-493E-9EB3-0CDAB1C6AD8D}"/>
              </a:ext>
            </a:extLst>
          </p:cNvPr>
          <p:cNvSpPr/>
          <p:nvPr/>
        </p:nvSpPr>
        <p:spPr>
          <a:xfrm rot="10800000" flipV="1">
            <a:off x="4728365" y="4858865"/>
            <a:ext cx="4872974" cy="3413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Z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 출원이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X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기초 우선권주장을 보정 또는 추가할 수 있는 기간은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?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0FC05305-DB28-4F87-9202-D40019B20C03}"/>
              </a:ext>
            </a:extLst>
          </p:cNvPr>
          <p:cNvSpPr/>
          <p:nvPr/>
        </p:nvSpPr>
        <p:spPr>
          <a:xfrm>
            <a:off x="9601339" y="2911497"/>
            <a:ext cx="1140236" cy="3467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 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우선권주장의 추가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BEA7A33-96BB-49A5-BD05-6DD487AB7FD3}"/>
              </a:ext>
            </a:extLst>
          </p:cNvPr>
          <p:cNvSpPr/>
          <p:nvPr/>
        </p:nvSpPr>
        <p:spPr>
          <a:xfrm>
            <a:off x="2698126" y="3124144"/>
            <a:ext cx="1482459" cy="6619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특허법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52</a:t>
            </a:r>
            <a:r>
              <a:rPr lang="ko-KR" altLang="en-US" sz="1400" dirty="0">
                <a:solidFill>
                  <a:schemeClr val="tx1"/>
                </a:solidFill>
              </a:rPr>
              <a:t>조제</a:t>
            </a:r>
            <a:r>
              <a:rPr lang="en-US" altLang="ko-KR" sz="1400" dirty="0">
                <a:solidFill>
                  <a:schemeClr val="tx1"/>
                </a:solidFill>
              </a:rPr>
              <a:t>5</a:t>
            </a:r>
            <a:r>
              <a:rPr lang="ko-KR" altLang="en-US" sz="1400" dirty="0">
                <a:solidFill>
                  <a:schemeClr val="tx1"/>
                </a:solidFill>
              </a:rPr>
              <a:t>항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52</a:t>
            </a:r>
            <a:r>
              <a:rPr lang="ko-KR" altLang="en-US" sz="1400" dirty="0">
                <a:solidFill>
                  <a:schemeClr val="tx1"/>
                </a:solidFill>
              </a:rPr>
              <a:t>조의</a:t>
            </a:r>
            <a:r>
              <a:rPr lang="en-US" altLang="ko-KR" sz="1400" dirty="0">
                <a:solidFill>
                  <a:schemeClr val="tx1"/>
                </a:solidFill>
              </a:rPr>
              <a:t>2</a:t>
            </a:r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2</a:t>
            </a:r>
            <a:r>
              <a:rPr lang="ko-KR" altLang="en-US" sz="1400" dirty="0">
                <a:solidFill>
                  <a:schemeClr val="tx1"/>
                </a:solidFill>
              </a:rPr>
              <a:t>항</a:t>
            </a:r>
          </a:p>
        </p:txBody>
      </p: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F4FB7B58-D74C-4C52-A340-88D830BF4D1D}"/>
              </a:ext>
            </a:extLst>
          </p:cNvPr>
          <p:cNvCxnSpPr>
            <a:cxnSpLocks/>
            <a:stCxn id="3" idx="3"/>
            <a:endCxn id="45" idx="1"/>
          </p:cNvCxnSpPr>
          <p:nvPr/>
        </p:nvCxnSpPr>
        <p:spPr>
          <a:xfrm>
            <a:off x="1755228" y="2926681"/>
            <a:ext cx="942898" cy="52842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931F8568-7AE9-48F9-86E6-CB1C30D6E72A}"/>
              </a:ext>
            </a:extLst>
          </p:cNvPr>
          <p:cNvSpPr txBox="1"/>
          <p:nvPr/>
        </p:nvSpPr>
        <p:spPr>
          <a:xfrm>
            <a:off x="1589526" y="3547574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기간특례</a:t>
            </a:r>
          </a:p>
        </p:txBody>
      </p:sp>
    </p:spTree>
    <p:extLst>
      <p:ext uri="{BB962C8B-B14F-4D97-AF65-F5344CB8AC3E}">
        <p14:creationId xmlns:p14="http://schemas.microsoft.com/office/powerpoint/2010/main" val="235966430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55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56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56</a:t>
            </a:r>
            <a:r>
              <a:rPr lang="ko-KR" altLang="en-US" dirty="0"/>
              <a:t>조의 이해</a:t>
            </a:r>
          </a:p>
        </p:txBody>
      </p:sp>
      <p:cxnSp>
        <p:nvCxnSpPr>
          <p:cNvPr id="57" name="직선 연결선 56"/>
          <p:cNvCxnSpPr/>
          <p:nvPr/>
        </p:nvCxnSpPr>
        <p:spPr>
          <a:xfrm>
            <a:off x="0" y="2589442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875" y="986046"/>
            <a:ext cx="1193632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56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 err="1">
                <a:solidFill>
                  <a:schemeClr val="accent1"/>
                </a:solidFill>
              </a:rPr>
              <a:t>선출원의</a:t>
            </a:r>
            <a:r>
              <a:rPr lang="ko-KR" altLang="en-US" sz="1400" b="1" dirty="0">
                <a:solidFill>
                  <a:schemeClr val="accent1"/>
                </a:solidFill>
              </a:rPr>
              <a:t> 취하 등</a:t>
            </a:r>
            <a:r>
              <a:rPr lang="en-US" altLang="ko-KR" sz="1400" b="1" dirty="0">
                <a:solidFill>
                  <a:schemeClr val="accent1"/>
                </a:solidFill>
              </a:rPr>
              <a:t>)</a:t>
            </a:r>
            <a:r>
              <a:rPr lang="en-US" altLang="ko-KR" sz="1400" dirty="0">
                <a:solidFill>
                  <a:schemeClr val="tx2"/>
                </a:solidFill>
              </a:rPr>
              <a:t> ①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55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우선권 주장의 기초가 된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선출원은</a:t>
            </a:r>
            <a:r>
              <a:rPr lang="ko-KR" altLang="en-US" sz="1400" dirty="0">
                <a:solidFill>
                  <a:schemeClr val="tx2"/>
                </a:solidFill>
              </a:rPr>
              <a:t> 그 </a:t>
            </a:r>
            <a:r>
              <a:rPr lang="ko-KR" altLang="en-US" sz="1400" dirty="0" err="1">
                <a:solidFill>
                  <a:schemeClr val="tx2"/>
                </a:solidFill>
              </a:rPr>
              <a:t>출원일부터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개월이 지난 때에 취하된 것으로 본다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그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선출원이</a:t>
            </a:r>
            <a:r>
              <a:rPr lang="ko-KR" altLang="en-US" sz="1400" dirty="0">
                <a:solidFill>
                  <a:schemeClr val="tx2"/>
                </a:solidFill>
              </a:rPr>
              <a:t> 다음 각 호의 어느 하나에 해당하는 경우에는 그러하지 아니하다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포기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무효 또는 취하된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 err="1">
                <a:solidFill>
                  <a:schemeClr val="tx2"/>
                </a:solidFill>
              </a:rPr>
              <a:t>설정등록되었거나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특허거절결정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실용신안등록거절결정</a:t>
            </a:r>
            <a:r>
              <a:rPr lang="ko-KR" altLang="en-US" sz="1400" dirty="0">
                <a:solidFill>
                  <a:schemeClr val="tx2"/>
                </a:solidFill>
              </a:rPr>
              <a:t> 또는 거절한다는 취지의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</a:rPr>
              <a:t>해당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선출원을</a:t>
            </a:r>
            <a:r>
              <a:rPr lang="ko-KR" altLang="en-US" sz="1400" dirty="0">
                <a:solidFill>
                  <a:schemeClr val="tx2"/>
                </a:solidFill>
              </a:rPr>
              <a:t> 기초로 한 우선권 주장이 취하된 경우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② 제</a:t>
            </a:r>
            <a:r>
              <a:rPr lang="en-US" altLang="ko-KR" sz="1400" dirty="0">
                <a:solidFill>
                  <a:schemeClr val="tx2"/>
                </a:solidFill>
              </a:rPr>
              <a:t>55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우선권 주장을 수반하는 특허출원의 </a:t>
            </a:r>
            <a:r>
              <a:rPr lang="ko-KR" altLang="en-US" sz="1400" dirty="0" err="1">
                <a:solidFill>
                  <a:schemeClr val="tx2"/>
                </a:solidFill>
              </a:rPr>
              <a:t>출원인은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출원일부터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개월이 지난 후에는 그 우선권 주장을 취하할 수 없다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55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우선권 주장을 수반하는 특허출원이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출원일부터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개월 이내에 취하된 때에는 그 우선권 주장도 동시에 취하된 것으로 본다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61" name="직선 화살표 연결선 60"/>
          <p:cNvCxnSpPr/>
          <p:nvPr/>
        </p:nvCxnSpPr>
        <p:spPr>
          <a:xfrm flipV="1">
            <a:off x="1508002" y="4273581"/>
            <a:ext cx="9931523" cy="1593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그룹 8"/>
          <p:cNvGrpSpPr/>
          <p:nvPr/>
        </p:nvGrpSpPr>
        <p:grpSpPr>
          <a:xfrm>
            <a:off x="952452" y="3774036"/>
            <a:ext cx="1111100" cy="356976"/>
            <a:chOff x="952452" y="2940373"/>
            <a:chExt cx="936104" cy="356976"/>
          </a:xfrm>
        </p:grpSpPr>
        <p:sp>
          <p:nvSpPr>
            <p:cNvPr id="62" name="순서도: 처리 61"/>
            <p:cNvSpPr/>
            <p:nvPr/>
          </p:nvSpPr>
          <p:spPr>
            <a:xfrm>
              <a:off x="952452" y="3117990"/>
              <a:ext cx="936104" cy="179359"/>
            </a:xfrm>
            <a:prstGeom prst="flowChartProcess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A, B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63" name="순서도: 처리 62"/>
            <p:cNvSpPr/>
            <p:nvPr/>
          </p:nvSpPr>
          <p:spPr>
            <a:xfrm>
              <a:off x="952452" y="2940373"/>
              <a:ext cx="936104" cy="179359"/>
            </a:xfrm>
            <a:prstGeom prst="flowChartProcess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</p:grpSp>
      <p:sp>
        <p:nvSpPr>
          <p:cNvPr id="72" name="직사각형 71"/>
          <p:cNvSpPr/>
          <p:nvPr/>
        </p:nvSpPr>
        <p:spPr>
          <a:xfrm flipV="1">
            <a:off x="4826162" y="4241813"/>
            <a:ext cx="2493976" cy="83128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/>
          <p:cNvSpPr/>
          <p:nvPr/>
        </p:nvSpPr>
        <p:spPr>
          <a:xfrm>
            <a:off x="6591428" y="3137365"/>
            <a:ext cx="1453502" cy="3649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 </a:t>
            </a:r>
            <a:r>
              <a:rPr lang="ko-KR" altLang="en-US" sz="1000" dirty="0"/>
              <a:t>특정사유발생시 </a:t>
            </a:r>
            <a:r>
              <a:rPr lang="en-US" altLang="ko-KR" sz="1000" dirty="0"/>
              <a:t>X</a:t>
            </a:r>
            <a:r>
              <a:rPr lang="ko-KR" altLang="en-US" sz="1000" dirty="0"/>
              <a:t>출원 </a:t>
            </a:r>
            <a:endParaRPr lang="en-US" altLang="ko-KR" sz="1000" dirty="0"/>
          </a:p>
          <a:p>
            <a:pPr algn="ctr"/>
            <a:r>
              <a:rPr lang="ko-KR" altLang="en-US" sz="1000" dirty="0" err="1"/>
              <a:t>不취하간주</a:t>
            </a:r>
            <a:endParaRPr lang="ko-KR" altLang="en-US" sz="1000" dirty="0"/>
          </a:p>
        </p:txBody>
      </p:sp>
      <p:sp>
        <p:nvSpPr>
          <p:cNvPr id="75" name="직사각형 74"/>
          <p:cNvSpPr/>
          <p:nvPr/>
        </p:nvSpPr>
        <p:spPr>
          <a:xfrm>
            <a:off x="8271548" y="2786544"/>
            <a:ext cx="3375958" cy="274112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dirty="0"/>
              <a:t>X</a:t>
            </a:r>
            <a:r>
              <a:rPr lang="ko-KR" altLang="en-US" sz="1000" dirty="0"/>
              <a:t>출원이 </a:t>
            </a:r>
            <a:r>
              <a:rPr lang="ko-KR" altLang="en-US" sz="1000" dirty="0" err="1"/>
              <a:t>포기ㆍ무효</a:t>
            </a:r>
            <a:r>
              <a:rPr lang="ko-KR" altLang="en-US" sz="1000" dirty="0"/>
              <a:t> 또는 취하된 경우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56①Ⅰ)</a:t>
            </a:r>
            <a:endParaRPr lang="ko-KR" altLang="en-US" sz="1000" dirty="0"/>
          </a:p>
        </p:txBody>
      </p:sp>
      <p:sp>
        <p:nvSpPr>
          <p:cNvPr id="77" name="직사각형 76"/>
          <p:cNvSpPr/>
          <p:nvPr/>
        </p:nvSpPr>
        <p:spPr>
          <a:xfrm>
            <a:off x="4995643" y="4693536"/>
            <a:ext cx="1374625" cy="2160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우선권주장의 </a:t>
            </a:r>
            <a:r>
              <a:rPr lang="ko-KR" altLang="en-US" sz="1000" dirty="0" err="1"/>
              <a:t>취하가능</a:t>
            </a:r>
            <a:endParaRPr lang="ko-KR" altLang="en-US" sz="1000" dirty="0"/>
          </a:p>
        </p:txBody>
      </p:sp>
      <p:sp>
        <p:nvSpPr>
          <p:cNvPr id="78" name="직사각형 77"/>
          <p:cNvSpPr/>
          <p:nvPr/>
        </p:nvSpPr>
        <p:spPr>
          <a:xfrm>
            <a:off x="3605844" y="4954119"/>
            <a:ext cx="2753590" cy="648072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dirty="0"/>
              <a:t>▪</a:t>
            </a:r>
            <a:r>
              <a:rPr lang="en-US" altLang="ko-KR" sz="1000" dirty="0"/>
              <a:t>Y</a:t>
            </a:r>
            <a:r>
              <a:rPr lang="ko-KR" altLang="en-US" sz="1000" dirty="0"/>
              <a:t>출원 판단시점 불소급</a:t>
            </a:r>
          </a:p>
          <a:p>
            <a:r>
              <a:rPr lang="ko-KR" altLang="en-US" sz="1000" dirty="0"/>
              <a:t>▪</a:t>
            </a:r>
            <a:r>
              <a:rPr lang="en-US" altLang="ko-KR" sz="1000" dirty="0"/>
              <a:t>X</a:t>
            </a:r>
            <a:r>
              <a:rPr lang="ko-KR" altLang="en-US" sz="1000" dirty="0"/>
              <a:t>출원 不취하간주 </a:t>
            </a:r>
            <a:r>
              <a:rPr lang="en-US" altLang="ko-KR" sz="1000" dirty="0">
                <a:solidFill>
                  <a:srgbClr val="FF0000"/>
                </a:solidFill>
              </a:rPr>
              <a:t>/ X </a:t>
            </a:r>
            <a:r>
              <a:rPr lang="ko-KR" altLang="en-US" sz="1000" dirty="0">
                <a:solidFill>
                  <a:srgbClr val="FF0000"/>
                </a:solidFill>
              </a:rPr>
              <a:t>출원은 설정등록 가능</a:t>
            </a:r>
          </a:p>
          <a:p>
            <a:r>
              <a:rPr lang="ko-KR" altLang="en-US" sz="1000" dirty="0"/>
              <a:t>▪</a:t>
            </a:r>
            <a:r>
              <a:rPr lang="en-US" altLang="ko-KR" sz="1000" dirty="0"/>
              <a:t>Y</a:t>
            </a:r>
            <a:r>
              <a:rPr lang="ko-KR" altLang="en-US" sz="1000" dirty="0"/>
              <a:t>출원에 포함된 </a:t>
            </a:r>
            <a:r>
              <a:rPr lang="ko-KR" altLang="en-US" sz="1000" dirty="0" err="1"/>
              <a:t>기본발명</a:t>
            </a:r>
            <a:r>
              <a:rPr lang="en-US" altLang="ko-KR" sz="1000" dirty="0"/>
              <a:t>(A)</a:t>
            </a:r>
            <a:r>
              <a:rPr lang="ko-KR" altLang="en-US" sz="1000" dirty="0"/>
              <a:t>은 선출원주의 위반</a:t>
            </a:r>
          </a:p>
        </p:txBody>
      </p:sp>
      <p:sp>
        <p:nvSpPr>
          <p:cNvPr id="83" name="직사각형 82"/>
          <p:cNvSpPr/>
          <p:nvPr/>
        </p:nvSpPr>
        <p:spPr>
          <a:xfrm>
            <a:off x="6212429" y="6015345"/>
            <a:ext cx="2110357" cy="432048"/>
          </a:xfrm>
          <a:prstGeom prst="rect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dirty="0"/>
              <a:t>▪우선권주장의 취하간주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56③)</a:t>
            </a:r>
            <a:endParaRPr lang="ko-KR" altLang="en-US" sz="1000" dirty="0"/>
          </a:p>
          <a:p>
            <a:r>
              <a:rPr lang="ko-KR" altLang="en-US" sz="1000" dirty="0"/>
              <a:t>▪</a:t>
            </a:r>
            <a:r>
              <a:rPr lang="en-US" altLang="ko-KR" sz="1000" dirty="0"/>
              <a:t>X</a:t>
            </a:r>
            <a:r>
              <a:rPr lang="ko-KR" altLang="en-US" sz="1000" dirty="0"/>
              <a:t>출원 </a:t>
            </a:r>
            <a:r>
              <a:rPr lang="ko-KR" altLang="en-US" sz="1000" dirty="0" err="1"/>
              <a:t>不취하간주</a:t>
            </a:r>
            <a:endParaRPr lang="ko-KR" altLang="en-US" sz="1000" dirty="0"/>
          </a:p>
        </p:txBody>
      </p:sp>
      <p:sp>
        <p:nvSpPr>
          <p:cNvPr id="86" name="직사각형 85"/>
          <p:cNvSpPr/>
          <p:nvPr/>
        </p:nvSpPr>
        <p:spPr>
          <a:xfrm>
            <a:off x="3715061" y="4387828"/>
            <a:ext cx="1111100" cy="2022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952452" y="4195504"/>
            <a:ext cx="1111100" cy="202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3715061" y="4195328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grpSp>
        <p:nvGrpSpPr>
          <p:cNvPr id="95" name="그룹 94"/>
          <p:cNvGrpSpPr/>
          <p:nvPr/>
        </p:nvGrpSpPr>
        <p:grpSpPr>
          <a:xfrm>
            <a:off x="3715061" y="3774036"/>
            <a:ext cx="1111100" cy="356976"/>
            <a:chOff x="952452" y="2940373"/>
            <a:chExt cx="936104" cy="356976"/>
          </a:xfrm>
        </p:grpSpPr>
        <p:sp>
          <p:nvSpPr>
            <p:cNvPr id="96" name="순서도: 처리 95"/>
            <p:cNvSpPr/>
            <p:nvPr/>
          </p:nvSpPr>
          <p:spPr>
            <a:xfrm>
              <a:off x="952452" y="3117990"/>
              <a:ext cx="936104" cy="179359"/>
            </a:xfrm>
            <a:prstGeom prst="flowChartProcess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A, B, C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97" name="순서도: 처리 96"/>
            <p:cNvSpPr/>
            <p:nvPr/>
          </p:nvSpPr>
          <p:spPr>
            <a:xfrm>
              <a:off x="952452" y="2940373"/>
              <a:ext cx="936104" cy="179359"/>
            </a:xfrm>
            <a:prstGeom prst="flowChartProcess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A, C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</p:grpSp>
      <p:sp>
        <p:nvSpPr>
          <p:cNvPr id="98" name="직사각형 97"/>
          <p:cNvSpPr/>
          <p:nvPr/>
        </p:nvSpPr>
        <p:spPr>
          <a:xfrm>
            <a:off x="7320137" y="4195328"/>
            <a:ext cx="1111100" cy="202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취하간주예정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8271548" y="3102340"/>
            <a:ext cx="3375958" cy="440927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dirty="0"/>
              <a:t>X</a:t>
            </a:r>
            <a:r>
              <a:rPr lang="ko-KR" altLang="en-US" sz="1000" dirty="0"/>
              <a:t>출원의 설정등록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특허거절결정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실용신안등록거절결정</a:t>
            </a:r>
            <a:r>
              <a:rPr lang="ko-KR" altLang="en-US" sz="1000" dirty="0"/>
              <a:t> 또는 거절한다는 취지의 </a:t>
            </a:r>
            <a:r>
              <a:rPr lang="ko-KR" altLang="en-US" sz="1000" dirty="0" err="1"/>
              <a:t>심결이</a:t>
            </a:r>
            <a:r>
              <a:rPr lang="ko-KR" altLang="en-US" sz="1000" dirty="0"/>
              <a:t> 확정된 경우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56①Ⅱ)</a:t>
            </a:r>
            <a:endParaRPr lang="ko-KR" altLang="en-US" sz="1000" dirty="0"/>
          </a:p>
        </p:txBody>
      </p:sp>
      <p:sp>
        <p:nvSpPr>
          <p:cNvPr id="101" name="직사각형 100"/>
          <p:cNvSpPr/>
          <p:nvPr/>
        </p:nvSpPr>
        <p:spPr>
          <a:xfrm>
            <a:off x="8271548" y="3599008"/>
            <a:ext cx="3375958" cy="25071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accent4"/>
                </a:solidFill>
              </a:rPr>
              <a:t>우선권주장의 취하</a:t>
            </a:r>
            <a:r>
              <a:rPr lang="en-US" altLang="ko-KR" sz="1000" dirty="0">
                <a:solidFill>
                  <a:schemeClr val="accent4"/>
                </a:solidFill>
              </a:rPr>
              <a:t>(</a:t>
            </a:r>
            <a:r>
              <a:rPr lang="ko-KR" altLang="en-US" sz="1000" dirty="0">
                <a:solidFill>
                  <a:schemeClr val="accent4"/>
                </a:solidFill>
              </a:rPr>
              <a:t>法 </a:t>
            </a:r>
            <a:r>
              <a:rPr lang="en-US" altLang="ko-KR" sz="1000" dirty="0">
                <a:solidFill>
                  <a:schemeClr val="accent4"/>
                </a:solidFill>
              </a:rPr>
              <a:t>56①Ⅲ)</a:t>
            </a:r>
            <a:endParaRPr lang="ko-KR" altLang="en-US" sz="1000" dirty="0">
              <a:solidFill>
                <a:schemeClr val="accent4"/>
              </a:solidFill>
            </a:endParaRPr>
          </a:p>
        </p:txBody>
      </p:sp>
      <p:cxnSp>
        <p:nvCxnSpPr>
          <p:cNvPr id="17" name="꺾인 연결선 16"/>
          <p:cNvCxnSpPr>
            <a:cxnSpLocks/>
            <a:stCxn id="73" idx="3"/>
            <a:endCxn id="75" idx="1"/>
          </p:cNvCxnSpPr>
          <p:nvPr/>
        </p:nvCxnSpPr>
        <p:spPr>
          <a:xfrm flipV="1">
            <a:off x="8044930" y="2923600"/>
            <a:ext cx="226618" cy="39622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cxnSpLocks/>
            <a:stCxn id="73" idx="3"/>
            <a:endCxn id="101" idx="1"/>
          </p:cNvCxnSpPr>
          <p:nvPr/>
        </p:nvCxnSpPr>
        <p:spPr>
          <a:xfrm>
            <a:off x="8044930" y="3319829"/>
            <a:ext cx="226618" cy="40453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cxnSpLocks/>
            <a:stCxn id="73" idx="3"/>
            <a:endCxn id="100" idx="1"/>
          </p:cNvCxnSpPr>
          <p:nvPr/>
        </p:nvCxnSpPr>
        <p:spPr>
          <a:xfrm>
            <a:off x="8044930" y="3319829"/>
            <a:ext cx="226618" cy="297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/>
          <p:cNvCxnSpPr>
            <a:stCxn id="77" idx="0"/>
          </p:cNvCxnSpPr>
          <p:nvPr/>
        </p:nvCxnSpPr>
        <p:spPr>
          <a:xfrm flipV="1">
            <a:off x="5682956" y="4355362"/>
            <a:ext cx="1564" cy="33817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직사각형 113"/>
          <p:cNvSpPr/>
          <p:nvPr/>
        </p:nvSpPr>
        <p:spPr>
          <a:xfrm>
            <a:off x="8432211" y="4693536"/>
            <a:ext cx="1542370" cy="2160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우선권주장의 </a:t>
            </a:r>
            <a:r>
              <a:rPr lang="ko-KR" altLang="en-US" sz="1000" dirty="0" err="1"/>
              <a:t>취하不가능</a:t>
            </a:r>
            <a:endParaRPr lang="ko-KR" altLang="en-US" sz="1000" dirty="0"/>
          </a:p>
        </p:txBody>
      </p:sp>
      <p:cxnSp>
        <p:nvCxnSpPr>
          <p:cNvPr id="115" name="직선 연결선 114"/>
          <p:cNvCxnSpPr>
            <a:stCxn id="114" idx="0"/>
          </p:cNvCxnSpPr>
          <p:nvPr/>
        </p:nvCxnSpPr>
        <p:spPr>
          <a:xfrm flipV="1">
            <a:off x="9203396" y="4355362"/>
            <a:ext cx="1564" cy="33817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직사각형 116"/>
          <p:cNvSpPr/>
          <p:nvPr/>
        </p:nvSpPr>
        <p:spPr>
          <a:xfrm>
            <a:off x="6212429" y="5723703"/>
            <a:ext cx="1374625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Y</a:t>
            </a:r>
            <a:r>
              <a:rPr lang="ko-KR" altLang="en-US" sz="1000" dirty="0"/>
              <a:t>출원의 </a:t>
            </a:r>
            <a:r>
              <a:rPr lang="ko-KR" altLang="en-US" sz="1000" dirty="0" err="1"/>
              <a:t>취하가능</a:t>
            </a:r>
            <a:endParaRPr lang="ko-KR" altLang="en-US" sz="1000" dirty="0"/>
          </a:p>
        </p:txBody>
      </p:sp>
      <p:cxnSp>
        <p:nvCxnSpPr>
          <p:cNvPr id="118" name="직선 연결선 117"/>
          <p:cNvCxnSpPr>
            <a:stCxn id="117" idx="0"/>
          </p:cNvCxnSpPr>
          <p:nvPr/>
        </p:nvCxnSpPr>
        <p:spPr>
          <a:xfrm flipV="1">
            <a:off x="6899742" y="4366239"/>
            <a:ext cx="0" cy="135746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직사각형 118"/>
          <p:cNvSpPr/>
          <p:nvPr/>
        </p:nvSpPr>
        <p:spPr>
          <a:xfrm>
            <a:off x="9963045" y="5723703"/>
            <a:ext cx="1374625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Y</a:t>
            </a:r>
            <a:r>
              <a:rPr lang="ko-KR" altLang="en-US" sz="1000" dirty="0"/>
              <a:t>출원의 </a:t>
            </a:r>
            <a:r>
              <a:rPr lang="ko-KR" altLang="en-US" sz="1000" dirty="0" err="1"/>
              <a:t>취하가능</a:t>
            </a:r>
            <a:endParaRPr lang="ko-KR" altLang="en-US" sz="1000" dirty="0"/>
          </a:p>
        </p:txBody>
      </p:sp>
      <p:cxnSp>
        <p:nvCxnSpPr>
          <p:cNvPr id="122" name="직선 연결선 121"/>
          <p:cNvCxnSpPr>
            <a:stCxn id="119" idx="0"/>
          </p:cNvCxnSpPr>
          <p:nvPr/>
        </p:nvCxnSpPr>
        <p:spPr>
          <a:xfrm flipV="1">
            <a:off x="10650358" y="4366239"/>
            <a:ext cx="0" cy="135746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>
            <a:cxnSpLocks/>
            <a:stCxn id="77" idx="3"/>
          </p:cNvCxnSpPr>
          <p:nvPr/>
        </p:nvCxnSpPr>
        <p:spPr>
          <a:xfrm flipV="1">
            <a:off x="6370268" y="3870888"/>
            <a:ext cx="1984065" cy="93066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138"/>
          <p:cNvCxnSpPr>
            <a:cxnSpLocks/>
            <a:endCxn id="101" idx="2"/>
          </p:cNvCxnSpPr>
          <p:nvPr/>
        </p:nvCxnSpPr>
        <p:spPr>
          <a:xfrm flipV="1">
            <a:off x="7155402" y="3849726"/>
            <a:ext cx="2804125" cy="1873977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모서리가 둥근 사각형 설명선 145"/>
          <p:cNvSpPr/>
          <p:nvPr/>
        </p:nvSpPr>
        <p:spPr>
          <a:xfrm>
            <a:off x="3019170" y="5970366"/>
            <a:ext cx="1619505" cy="477027"/>
          </a:xfrm>
          <a:prstGeom prst="wedgeRoundRectCallout">
            <a:avLst>
              <a:gd name="adj1" fmla="val -37"/>
              <a:gd name="adj2" fmla="val -121937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우선권주장의 취하는 특별수권사항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237</a:t>
            </a:fld>
            <a:endParaRPr lang="ko-KR" altLang="en-US"/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4838B202-7041-4BDD-AF50-25575AE07FC5}"/>
              </a:ext>
            </a:extLst>
          </p:cNvPr>
          <p:cNvCxnSpPr>
            <a:stCxn id="73" idx="2"/>
            <a:endCxn id="98" idx="0"/>
          </p:cNvCxnSpPr>
          <p:nvPr/>
        </p:nvCxnSpPr>
        <p:spPr>
          <a:xfrm rot="16200000" flipH="1">
            <a:off x="7250416" y="3570056"/>
            <a:ext cx="693035" cy="557508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FE94E9D-C4D1-4093-8425-FE2C5EF0358C}"/>
              </a:ext>
            </a:extLst>
          </p:cNvPr>
          <p:cNvSpPr/>
          <p:nvPr/>
        </p:nvSpPr>
        <p:spPr>
          <a:xfrm>
            <a:off x="4995643" y="3611861"/>
            <a:ext cx="1374625" cy="2160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X</a:t>
            </a:r>
            <a:r>
              <a:rPr lang="ko-KR" altLang="en-US" sz="1000" dirty="0"/>
              <a:t>출원 설정등록불가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22B8F4AB-AC77-41A9-A435-C680FE5732C0}"/>
              </a:ext>
            </a:extLst>
          </p:cNvPr>
          <p:cNvSpPr/>
          <p:nvPr/>
        </p:nvSpPr>
        <p:spPr>
          <a:xfrm>
            <a:off x="4995642" y="3143054"/>
            <a:ext cx="1381547" cy="438386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dirty="0"/>
              <a:t>단</a:t>
            </a:r>
            <a:r>
              <a:rPr lang="en-US" altLang="ko-KR" sz="1000" dirty="0"/>
              <a:t>, </a:t>
            </a:r>
            <a:r>
              <a:rPr lang="ko-KR" altLang="en-US" sz="1000" dirty="0"/>
              <a:t>우선권주장이 취하된 경우 가능</a:t>
            </a: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762F51A1-0162-4C97-A274-C6FC5DA67D9F}"/>
              </a:ext>
            </a:extLst>
          </p:cNvPr>
          <p:cNvCxnSpPr>
            <a:cxnSpLocks/>
          </p:cNvCxnSpPr>
          <p:nvPr/>
        </p:nvCxnSpPr>
        <p:spPr>
          <a:xfrm>
            <a:off x="5863781" y="3827885"/>
            <a:ext cx="0" cy="36744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918377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55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56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55</a:t>
            </a:r>
            <a:r>
              <a:rPr lang="ko-KR" altLang="en-US" dirty="0"/>
              <a:t>조의 이해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875" y="986046"/>
            <a:ext cx="1193632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55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특허출원 등을 기초로 한 우선권 주장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 </a:t>
            </a:r>
            <a:r>
              <a:rPr lang="ko-KR" altLang="en-US" sz="1400" dirty="0">
                <a:solidFill>
                  <a:schemeClr val="tx2"/>
                </a:solidFill>
              </a:rPr>
              <a:t>① 특허를 받으려는 자는 자신이 특허나 실용신안등록을 받을 수 있는 권리를 가진 특허출원 또는 실용신안등록출원으로 먼저 한 출원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이하 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 err="1">
                <a:solidFill>
                  <a:schemeClr val="tx2"/>
                </a:solidFill>
              </a:rPr>
              <a:t>선출원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이라 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의 출원서에 최초로 첨부한 명세서 또는 도면에 기재된 발명을 기초로 그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특허출원한</a:t>
            </a:r>
            <a:r>
              <a:rPr lang="ko-KR" altLang="en-US" sz="1400" dirty="0">
                <a:solidFill>
                  <a:schemeClr val="tx2"/>
                </a:solidFill>
              </a:rPr>
              <a:t> 발명에 관하여 우선권을 주장할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다음 각 호의 어느 하나에 해당하는 경우에는 그러하지 아니하다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그 특허출원이 선출원의 출원일부터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년이 지난 후에 출원된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선출원이 제</a:t>
            </a:r>
            <a:r>
              <a:rPr lang="en-US" altLang="ko-KR" sz="1400" dirty="0">
                <a:solidFill>
                  <a:schemeClr val="tx2"/>
                </a:solidFill>
              </a:rPr>
              <a:t>52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「실용신안법」 제</a:t>
            </a:r>
            <a:r>
              <a:rPr lang="en-US" altLang="ko-KR" sz="1400" dirty="0">
                <a:solidFill>
                  <a:schemeClr val="tx2"/>
                </a:solidFill>
              </a:rPr>
              <a:t>11</a:t>
            </a:r>
            <a:r>
              <a:rPr lang="ko-KR" altLang="en-US" sz="1400" dirty="0">
                <a:solidFill>
                  <a:schemeClr val="tx2"/>
                </a:solidFill>
              </a:rPr>
              <a:t>조에 따라 준용되는 경우를 포함한다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 따른 분할출원 또는 </a:t>
            </a:r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52</a:t>
            </a:r>
            <a:r>
              <a:rPr lang="ko-KR" altLang="en-US" sz="1400" dirty="0">
                <a:solidFill>
                  <a:srgbClr val="FF0000"/>
                </a:solidFill>
              </a:rPr>
              <a:t>조의</a:t>
            </a:r>
            <a:r>
              <a:rPr lang="en-US" altLang="ko-KR" sz="1400" dirty="0">
                <a:solidFill>
                  <a:srgbClr val="FF0000"/>
                </a:solidFill>
              </a:rPr>
              <a:t>2</a:t>
            </a:r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2</a:t>
            </a:r>
            <a:r>
              <a:rPr lang="ko-KR" altLang="en-US" sz="1400" dirty="0">
                <a:solidFill>
                  <a:srgbClr val="FF0000"/>
                </a:solidFill>
              </a:rPr>
              <a:t>항</a:t>
            </a:r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「실용신안법」 제</a:t>
            </a:r>
            <a:r>
              <a:rPr lang="en-US" altLang="ko-KR" sz="1400" dirty="0">
                <a:solidFill>
                  <a:srgbClr val="FF0000"/>
                </a:solidFill>
              </a:rPr>
              <a:t>11</a:t>
            </a:r>
            <a:r>
              <a:rPr lang="ko-KR" altLang="en-US" sz="1400" dirty="0">
                <a:solidFill>
                  <a:srgbClr val="FF0000"/>
                </a:solidFill>
              </a:rPr>
              <a:t>조에 따라 준용되는 경우를 포함한다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  <a:r>
              <a:rPr lang="ko-KR" altLang="en-US" sz="1400" dirty="0">
                <a:solidFill>
                  <a:srgbClr val="FF0000"/>
                </a:solidFill>
              </a:rPr>
              <a:t>에 따른 </a:t>
            </a:r>
            <a:r>
              <a:rPr lang="ko-KR" altLang="en-US" sz="1400" dirty="0" err="1">
                <a:solidFill>
                  <a:srgbClr val="FF0000"/>
                </a:solidFill>
              </a:rPr>
              <a:t>분리출원이거나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53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 또는 「실용신안법」 제</a:t>
            </a:r>
            <a:r>
              <a:rPr lang="en-US" altLang="ko-KR" sz="1400" dirty="0">
                <a:solidFill>
                  <a:schemeClr val="tx2"/>
                </a:solidFill>
              </a:rPr>
              <a:t>10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따른 </a:t>
            </a:r>
            <a:r>
              <a:rPr lang="ko-KR" altLang="en-US" sz="1400" dirty="0" err="1">
                <a:solidFill>
                  <a:schemeClr val="tx2"/>
                </a:solidFill>
              </a:rPr>
              <a:t>변경출원인</a:t>
            </a:r>
            <a:r>
              <a:rPr lang="ko-KR" altLang="en-US" sz="1400" dirty="0">
                <a:solidFill>
                  <a:schemeClr val="tx2"/>
                </a:solidFill>
              </a:rPr>
              <a:t> 경우</a:t>
            </a:r>
            <a:endParaRPr lang="en-US" altLang="ko-KR" sz="14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</a:rPr>
              <a:t>그 특허출원을 할 때에 선출원이 포기</a:t>
            </a:r>
            <a:r>
              <a:rPr lang="en-US" altLang="ko-KR" sz="1400" dirty="0">
                <a:solidFill>
                  <a:schemeClr val="tx2"/>
                </a:solidFill>
              </a:rPr>
              <a:t>·</a:t>
            </a:r>
            <a:r>
              <a:rPr lang="ko-KR" altLang="en-US" sz="1400" dirty="0">
                <a:solidFill>
                  <a:schemeClr val="tx2"/>
                </a:solidFill>
              </a:rPr>
              <a:t>무효 또는 취하된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4. </a:t>
            </a:r>
            <a:r>
              <a:rPr lang="ko-KR" altLang="en-US" sz="1400" dirty="0">
                <a:solidFill>
                  <a:schemeClr val="tx2"/>
                </a:solidFill>
              </a:rPr>
              <a:t>그 특허출원을 할 때에 선출원이 </a:t>
            </a:r>
            <a:r>
              <a:rPr lang="ko-KR" altLang="en-US" sz="1400" dirty="0" err="1">
                <a:solidFill>
                  <a:schemeClr val="tx2"/>
                </a:solidFill>
              </a:rPr>
              <a:t>설정등록되었거나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특허거절결정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실용신안등록거절결정</a:t>
            </a:r>
            <a:r>
              <a:rPr lang="ko-KR" altLang="en-US" sz="1400" dirty="0">
                <a:solidFill>
                  <a:schemeClr val="tx2"/>
                </a:solidFill>
              </a:rPr>
              <a:t> 또는 거절한다는 취지의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경우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②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우선권을 주장하려는 자는 특허출원을 할 때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400" dirty="0">
                <a:solidFill>
                  <a:schemeClr val="tx2"/>
                </a:solidFill>
              </a:rPr>
              <a:t> 그 취지와 선출원의 표시를 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우선권 주장을 수반하는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특허출원된</a:t>
            </a:r>
            <a:r>
              <a:rPr lang="ko-KR" altLang="en-US" sz="1400" dirty="0">
                <a:solidFill>
                  <a:schemeClr val="tx2"/>
                </a:solidFill>
              </a:rPr>
              <a:t> 발명 중 해당 우선권 주장의 기초가 된 선출원의 출원서에 최초로 첨부된 명세서 또는 도면에 기재된 발명과 같은 발명에 관하여 제</a:t>
            </a:r>
            <a:r>
              <a:rPr lang="en-US" altLang="ko-KR" sz="1400" dirty="0">
                <a:solidFill>
                  <a:schemeClr val="tx2"/>
                </a:solidFill>
              </a:rPr>
              <a:t>29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·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같은 조 제</a:t>
            </a:r>
            <a:r>
              <a:rPr lang="en-US" altLang="ko-KR" sz="1400" dirty="0">
                <a:solidFill>
                  <a:srgbClr val="FF0000"/>
                </a:solidFill>
              </a:rPr>
              <a:t>3</a:t>
            </a:r>
            <a:r>
              <a:rPr lang="ko-KR" altLang="en-US" sz="1400" dirty="0">
                <a:solidFill>
                  <a:srgbClr val="FF0000"/>
                </a:solidFill>
              </a:rPr>
              <a:t>항 본문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같은 조 제</a:t>
            </a:r>
            <a:r>
              <a:rPr lang="en-US" altLang="ko-KR" sz="1400" dirty="0">
                <a:solidFill>
                  <a:srgbClr val="FF0000"/>
                </a:solidFill>
              </a:rPr>
              <a:t>4</a:t>
            </a:r>
            <a:r>
              <a:rPr lang="ko-KR" altLang="en-US" sz="1400" dirty="0">
                <a:solidFill>
                  <a:srgbClr val="FF0000"/>
                </a:solidFill>
              </a:rPr>
              <a:t>항 본문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30</a:t>
            </a:r>
            <a:r>
              <a:rPr lang="ko-KR" altLang="en-US" sz="1400" dirty="0">
                <a:solidFill>
                  <a:srgbClr val="FF0000"/>
                </a:solidFill>
              </a:rPr>
              <a:t>조제</a:t>
            </a:r>
            <a:r>
              <a:rPr lang="en-US" altLang="ko-KR" sz="1400" dirty="0">
                <a:solidFill>
                  <a:srgbClr val="FF0000"/>
                </a:solidFill>
              </a:rPr>
              <a:t>1</a:t>
            </a:r>
            <a:r>
              <a:rPr lang="ko-KR" altLang="en-US" sz="1400" dirty="0">
                <a:solidFill>
                  <a:srgbClr val="FF0000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36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항부터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항까지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96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98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103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105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·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129</a:t>
            </a:r>
            <a:r>
              <a:rPr lang="ko-KR" altLang="en-US" sz="1400" dirty="0">
                <a:solidFill>
                  <a:schemeClr val="tx2"/>
                </a:solidFill>
              </a:rPr>
              <a:t>조 및 제</a:t>
            </a:r>
            <a:r>
              <a:rPr lang="en-US" altLang="ko-KR" sz="1400" dirty="0">
                <a:solidFill>
                  <a:schemeClr val="tx2"/>
                </a:solidFill>
              </a:rPr>
              <a:t>136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5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132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 또는 제</a:t>
            </a:r>
            <a:r>
              <a:rPr lang="en-US" altLang="ko-KR" sz="1400" dirty="0">
                <a:solidFill>
                  <a:schemeClr val="tx2"/>
                </a:solidFill>
              </a:rPr>
              <a:t>133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항에 따라 준용되는 경우를 포함한다</a:t>
            </a:r>
            <a:r>
              <a:rPr lang="en-US" altLang="ko-KR" sz="1400" dirty="0">
                <a:solidFill>
                  <a:schemeClr val="tx2"/>
                </a:solidFill>
              </a:rPr>
              <a:t>), </a:t>
            </a:r>
            <a:r>
              <a:rPr lang="ko-KR" altLang="en-US" sz="1400" dirty="0">
                <a:solidFill>
                  <a:schemeClr val="tx2"/>
                </a:solidFill>
              </a:rPr>
              <a:t>「실용신안법」 제</a:t>
            </a:r>
            <a:r>
              <a:rPr lang="en-US" altLang="ko-KR" sz="1400" dirty="0">
                <a:solidFill>
                  <a:schemeClr val="tx2"/>
                </a:solidFill>
              </a:rPr>
              <a:t>7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·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 및 제</a:t>
            </a:r>
            <a:r>
              <a:rPr lang="en-US" altLang="ko-KR" sz="1400" dirty="0">
                <a:solidFill>
                  <a:schemeClr val="tx2"/>
                </a:solidFill>
              </a:rPr>
              <a:t>25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「디자인보호법」 제</a:t>
            </a:r>
            <a:r>
              <a:rPr lang="en-US" altLang="ko-KR" sz="1400" dirty="0">
                <a:solidFill>
                  <a:schemeClr val="tx2"/>
                </a:solidFill>
              </a:rPr>
              <a:t>95</a:t>
            </a:r>
            <a:r>
              <a:rPr lang="ko-KR" altLang="en-US" sz="1400" dirty="0">
                <a:solidFill>
                  <a:schemeClr val="tx2"/>
                </a:solidFill>
              </a:rPr>
              <a:t>조 및 제</a:t>
            </a:r>
            <a:r>
              <a:rPr lang="en-US" altLang="ko-KR" sz="1400" dirty="0">
                <a:solidFill>
                  <a:schemeClr val="tx2"/>
                </a:solidFill>
              </a:rPr>
              <a:t>103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항을 적용할 때에는 그 특허출원은 그 선출원을 한 때에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특허출원한</a:t>
            </a:r>
            <a:r>
              <a:rPr lang="ko-KR" altLang="en-US" sz="1400" dirty="0">
                <a:solidFill>
                  <a:schemeClr val="tx2"/>
                </a:solidFill>
              </a:rPr>
              <a:t> 것으로 본다</a:t>
            </a:r>
            <a:r>
              <a:rPr lang="en-US" altLang="ko-KR" sz="1400" dirty="0">
                <a:solidFill>
                  <a:schemeClr val="tx2"/>
                </a:solidFill>
              </a:rPr>
              <a:t>.  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④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우선권 주장을 수반하는 특허출원의 출원서에 최초로 첨부한 명세서 또는 도면에 기재된 발명 중 해당 우선권 주장의 기초가 된 선출원의 출원서에 최초로 첨부한 명세서 또는 도면에 기재된 발명과 같은 발명은 그 특허출원이 </a:t>
            </a:r>
            <a:r>
              <a:rPr lang="ko-KR" altLang="en-US" sz="1400" dirty="0" err="1">
                <a:solidFill>
                  <a:schemeClr val="tx2"/>
                </a:solidFill>
              </a:rPr>
              <a:t>출원공개되거나</a:t>
            </a:r>
            <a:r>
              <a:rPr lang="ko-KR" altLang="en-US" sz="1400" dirty="0">
                <a:solidFill>
                  <a:schemeClr val="tx2"/>
                </a:solidFill>
              </a:rPr>
              <a:t> 특허가 </a:t>
            </a:r>
            <a:r>
              <a:rPr lang="ko-KR" altLang="en-US" sz="1400" dirty="0" err="1">
                <a:solidFill>
                  <a:schemeClr val="tx2"/>
                </a:solidFill>
              </a:rPr>
              <a:t>등록공고되었을</a:t>
            </a:r>
            <a:r>
              <a:rPr lang="ko-KR" altLang="en-US" sz="1400" dirty="0">
                <a:solidFill>
                  <a:schemeClr val="tx2"/>
                </a:solidFill>
              </a:rPr>
              <a:t> 때에 해당 우선권 주장의 기초가 된 선출원에 관하여 출원공개가 된 것으로 보고 제</a:t>
            </a:r>
            <a:r>
              <a:rPr lang="en-US" altLang="ko-KR" sz="1400" dirty="0">
                <a:solidFill>
                  <a:schemeClr val="tx2"/>
                </a:solidFill>
              </a:rPr>
              <a:t>29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 본문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같은 조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 본문 또는 「실용신안법」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 본문</a:t>
            </a:r>
            <a:r>
              <a:rPr lang="en-US" altLang="ko-KR" sz="1400" dirty="0">
                <a:solidFill>
                  <a:schemeClr val="tx2"/>
                </a:solidFill>
              </a:rPr>
              <a:t>·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 본문을 적용한다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⑤ </a:t>
            </a:r>
            <a:r>
              <a:rPr lang="ko-KR" altLang="en-US" sz="1400" dirty="0">
                <a:solidFill>
                  <a:schemeClr val="tx2"/>
                </a:solidFill>
              </a:rPr>
              <a:t>선출원이 다음 각 호의 어느 하나에 해당하면 그 선출원의 출원서에 최초로 첨부한 명세서 또는 도면에 기재된 발명 중 그 선출원에 관하여 우선권 주장의 기초가 된 출원의 출원서에 최초로 첨부한 명세서 또는 도면에 기재된 발명에 대해서는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항과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항을 적용하지 아니한다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선출원이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우선권 주장을 수반하는 출원인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선출원이 「공업소유권의 보호를 위한 파리 협약」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D(1)</a:t>
            </a:r>
            <a:r>
              <a:rPr lang="ko-KR" altLang="en-US" sz="1400" dirty="0">
                <a:solidFill>
                  <a:schemeClr val="tx2"/>
                </a:solidFill>
              </a:rPr>
              <a:t>에 따른 우선권 주장을 수반하는 출원인 경우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⑥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항을 적용할 때 선출원이 다음 각 호의 어느 하나에 해당하더라도 제</a:t>
            </a:r>
            <a:r>
              <a:rPr lang="en-US" altLang="ko-KR" sz="1400" dirty="0">
                <a:solidFill>
                  <a:schemeClr val="tx2"/>
                </a:solidFill>
              </a:rPr>
              <a:t>29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7</a:t>
            </a:r>
            <a:r>
              <a:rPr lang="ko-KR" altLang="en-US" sz="1400" dirty="0">
                <a:solidFill>
                  <a:schemeClr val="tx2"/>
                </a:solidFill>
              </a:rPr>
              <a:t>항을 적용하지 아니한다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선출원이 제</a:t>
            </a:r>
            <a:r>
              <a:rPr lang="en-US" altLang="ko-KR" sz="1400" dirty="0">
                <a:solidFill>
                  <a:schemeClr val="tx2"/>
                </a:solidFill>
              </a:rPr>
              <a:t>201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항에 따라 취하한 것으로 보는 </a:t>
            </a:r>
            <a:r>
              <a:rPr lang="ko-KR" altLang="en-US" sz="1400" dirty="0" err="1">
                <a:solidFill>
                  <a:schemeClr val="tx2"/>
                </a:solidFill>
              </a:rPr>
              <a:t>국제특허출원인</a:t>
            </a:r>
            <a:r>
              <a:rPr lang="ko-KR" altLang="en-US" sz="1400" dirty="0">
                <a:solidFill>
                  <a:schemeClr val="tx2"/>
                </a:solidFill>
              </a:rPr>
              <a:t>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선출원이 「실용신안법」 제</a:t>
            </a:r>
            <a:r>
              <a:rPr lang="en-US" altLang="ko-KR" sz="1400" dirty="0">
                <a:solidFill>
                  <a:schemeClr val="tx2"/>
                </a:solidFill>
              </a:rPr>
              <a:t>35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항에 따라 취하한 것으로 보는 </a:t>
            </a:r>
            <a:r>
              <a:rPr lang="ko-KR" altLang="en-US" sz="1400" dirty="0" err="1">
                <a:solidFill>
                  <a:schemeClr val="tx2"/>
                </a:solidFill>
              </a:rPr>
              <a:t>국제실용신안등록출원인</a:t>
            </a:r>
            <a:r>
              <a:rPr lang="ko-KR" altLang="en-US" sz="1400" dirty="0">
                <a:solidFill>
                  <a:schemeClr val="tx2"/>
                </a:solidFill>
              </a:rPr>
              <a:t> 경우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⑦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요건을 갖추어 우선권 주장을 한 자는 선출원일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선출원이 둘 이상인 경우에는 최선출원일을 말한다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부터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개월 이내에 그 우선권 주장을 보정하거나 추가할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⑧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우선권 주장의 기초가 된 선출원은 제</a:t>
            </a:r>
            <a:r>
              <a:rPr lang="en-US" altLang="ko-KR" sz="1400" dirty="0">
                <a:solidFill>
                  <a:schemeClr val="tx2"/>
                </a:solidFill>
              </a:rPr>
              <a:t>79</a:t>
            </a:r>
            <a:r>
              <a:rPr lang="ko-KR" altLang="en-US" sz="1400" dirty="0">
                <a:solidFill>
                  <a:schemeClr val="tx2"/>
                </a:solidFill>
              </a:rPr>
              <a:t>조에 따른 설정등록을 받을 수 없다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해당 선출원을 기초로 한 우선권 주장이 취하된 경우에는 그러하지 아니하다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435422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34</a:t>
            </a:r>
            <a:r>
              <a:rPr lang="ko-KR" altLang="en-US" dirty="0"/>
              <a:t>조</a:t>
            </a:r>
            <a:r>
              <a:rPr lang="en-US" altLang="ko-KR" dirty="0"/>
              <a:t>-</a:t>
            </a:r>
            <a:r>
              <a:rPr lang="ko-KR" altLang="en-US" dirty="0"/>
              <a:t>제</a:t>
            </a:r>
            <a:r>
              <a:rPr lang="en-US" altLang="ko-KR" dirty="0"/>
              <a:t>56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소급효의 예외와 기간의 특례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239</a:t>
            </a:fld>
            <a:endParaRPr lang="ko-KR" altLang="en-US"/>
          </a:p>
        </p:txBody>
      </p:sp>
      <p:graphicFrame>
        <p:nvGraphicFramePr>
          <p:cNvPr id="3" name="표 6">
            <a:extLst>
              <a:ext uri="{FF2B5EF4-FFF2-40B4-BE49-F238E27FC236}">
                <a16:creationId xmlns:a16="http://schemas.microsoft.com/office/drawing/2014/main" id="{19A20D4C-A459-7EDE-4A0F-FDFF08088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332391"/>
              </p:ext>
            </p:extLst>
          </p:nvPr>
        </p:nvGraphicFramePr>
        <p:xfrm>
          <a:off x="195541" y="1182418"/>
          <a:ext cx="11800918" cy="531876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513907">
                  <a:extLst>
                    <a:ext uri="{9D8B030D-6E8A-4147-A177-3AD203B41FA5}">
                      <a16:colId xmlns:a16="http://schemas.microsoft.com/office/drawing/2014/main" val="977740950"/>
                    </a:ext>
                  </a:extLst>
                </a:gridCol>
                <a:gridCol w="636719">
                  <a:extLst>
                    <a:ext uri="{9D8B030D-6E8A-4147-A177-3AD203B41FA5}">
                      <a16:colId xmlns:a16="http://schemas.microsoft.com/office/drawing/2014/main" val="2856804863"/>
                    </a:ext>
                  </a:extLst>
                </a:gridCol>
                <a:gridCol w="945983">
                  <a:extLst>
                    <a:ext uri="{9D8B030D-6E8A-4147-A177-3AD203B41FA5}">
                      <a16:colId xmlns:a16="http://schemas.microsoft.com/office/drawing/2014/main" val="3898888419"/>
                    </a:ext>
                  </a:extLst>
                </a:gridCol>
                <a:gridCol w="765624">
                  <a:extLst>
                    <a:ext uri="{9D8B030D-6E8A-4147-A177-3AD203B41FA5}">
                      <a16:colId xmlns:a16="http://schemas.microsoft.com/office/drawing/2014/main" val="329637478"/>
                    </a:ext>
                  </a:extLst>
                </a:gridCol>
                <a:gridCol w="798888">
                  <a:extLst>
                    <a:ext uri="{9D8B030D-6E8A-4147-A177-3AD203B41FA5}">
                      <a16:colId xmlns:a16="http://schemas.microsoft.com/office/drawing/2014/main" val="2496932691"/>
                    </a:ext>
                  </a:extLst>
                </a:gridCol>
                <a:gridCol w="891407">
                  <a:extLst>
                    <a:ext uri="{9D8B030D-6E8A-4147-A177-3AD203B41FA5}">
                      <a16:colId xmlns:a16="http://schemas.microsoft.com/office/drawing/2014/main" val="1479428939"/>
                    </a:ext>
                  </a:extLst>
                </a:gridCol>
                <a:gridCol w="897686">
                  <a:extLst>
                    <a:ext uri="{9D8B030D-6E8A-4147-A177-3AD203B41FA5}">
                      <a16:colId xmlns:a16="http://schemas.microsoft.com/office/drawing/2014/main" val="2895490828"/>
                    </a:ext>
                  </a:extLst>
                </a:gridCol>
                <a:gridCol w="1693928">
                  <a:extLst>
                    <a:ext uri="{9D8B030D-6E8A-4147-A177-3AD203B41FA5}">
                      <a16:colId xmlns:a16="http://schemas.microsoft.com/office/drawing/2014/main" val="3478401952"/>
                    </a:ext>
                  </a:extLst>
                </a:gridCol>
                <a:gridCol w="664194">
                  <a:extLst>
                    <a:ext uri="{9D8B030D-6E8A-4147-A177-3AD203B41FA5}">
                      <a16:colId xmlns:a16="http://schemas.microsoft.com/office/drawing/2014/main" val="3871069447"/>
                    </a:ext>
                  </a:extLst>
                </a:gridCol>
                <a:gridCol w="664194">
                  <a:extLst>
                    <a:ext uri="{9D8B030D-6E8A-4147-A177-3AD203B41FA5}">
                      <a16:colId xmlns:a16="http://schemas.microsoft.com/office/drawing/2014/main" val="2984934703"/>
                    </a:ext>
                  </a:extLst>
                </a:gridCol>
                <a:gridCol w="664194">
                  <a:extLst>
                    <a:ext uri="{9D8B030D-6E8A-4147-A177-3AD203B41FA5}">
                      <a16:colId xmlns:a16="http://schemas.microsoft.com/office/drawing/2014/main" val="1355755654"/>
                    </a:ext>
                  </a:extLst>
                </a:gridCol>
                <a:gridCol w="664194">
                  <a:extLst>
                    <a:ext uri="{9D8B030D-6E8A-4147-A177-3AD203B41FA5}">
                      <a16:colId xmlns:a16="http://schemas.microsoft.com/office/drawing/2014/main" val="2857704563"/>
                    </a:ext>
                  </a:extLst>
                </a:gridCol>
              </a:tblGrid>
              <a:tr h="2471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소급효의 예외</a:t>
                      </a:r>
                    </a:p>
                  </a:txBody>
                  <a:tcPr marL="0" marR="0"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제</a:t>
                      </a:r>
                      <a:r>
                        <a:rPr lang="en-US" altLang="ko-KR" sz="1050" dirty="0"/>
                        <a:t>34</a:t>
                      </a:r>
                      <a:r>
                        <a:rPr lang="ko-KR" altLang="en-US" sz="1050" dirty="0"/>
                        <a:t>조</a:t>
                      </a:r>
                      <a:r>
                        <a:rPr lang="en-US" altLang="ko-KR" sz="1050" dirty="0"/>
                        <a:t>,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제</a:t>
                      </a:r>
                      <a:r>
                        <a:rPr lang="en-US" altLang="ko-KR" sz="1050" dirty="0"/>
                        <a:t>35</a:t>
                      </a:r>
                      <a:r>
                        <a:rPr lang="ko-KR" altLang="en-US" sz="1050" dirty="0"/>
                        <a:t>조</a:t>
                      </a:r>
                    </a:p>
                  </a:txBody>
                  <a:tcPr marL="0" marR="0"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제</a:t>
                      </a:r>
                      <a:r>
                        <a:rPr lang="en-US" altLang="ko-KR" sz="1050" dirty="0"/>
                        <a:t>52</a:t>
                      </a:r>
                      <a:r>
                        <a:rPr lang="ko-KR" altLang="en-US" sz="1050" dirty="0"/>
                        <a:t>조</a:t>
                      </a:r>
                    </a:p>
                  </a:txBody>
                  <a:tcPr marL="0" marR="0" anchor="ctr"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제</a:t>
                      </a:r>
                      <a:r>
                        <a:rPr lang="en-US" altLang="ko-KR" sz="1050" dirty="0"/>
                        <a:t>52</a:t>
                      </a:r>
                      <a:r>
                        <a:rPr lang="ko-KR" altLang="en-US" sz="1050" dirty="0"/>
                        <a:t>조의</a:t>
                      </a:r>
                      <a:r>
                        <a:rPr lang="en-US" altLang="ko-KR" sz="1050" dirty="0"/>
                        <a:t>2</a:t>
                      </a:r>
                      <a:endParaRPr lang="ko-KR" altLang="en-US" sz="1050" dirty="0"/>
                    </a:p>
                  </a:txBody>
                  <a:tcPr marL="0" marR="0" anchor="ctr"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제</a:t>
                      </a:r>
                      <a:r>
                        <a:rPr lang="en-US" altLang="ko-KR" sz="1050" dirty="0"/>
                        <a:t>53</a:t>
                      </a:r>
                      <a:r>
                        <a:rPr lang="ko-KR" altLang="en-US" sz="1050" dirty="0"/>
                        <a:t>조</a:t>
                      </a:r>
                    </a:p>
                  </a:txBody>
                  <a:tcPr marL="0" marR="0" anchor="ctr"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제</a:t>
                      </a:r>
                      <a:r>
                        <a:rPr lang="en-US" altLang="ko-KR" sz="1050" dirty="0"/>
                        <a:t>54</a:t>
                      </a:r>
                      <a:r>
                        <a:rPr lang="ko-KR" altLang="en-US" sz="1050" dirty="0"/>
                        <a:t>조</a:t>
                      </a:r>
                    </a:p>
                  </a:txBody>
                  <a:tcPr marL="0" marR="0" anchor="ctr"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제</a:t>
                      </a:r>
                      <a:r>
                        <a:rPr lang="en-US" altLang="ko-KR" sz="1050" dirty="0"/>
                        <a:t>55</a:t>
                      </a:r>
                      <a:r>
                        <a:rPr lang="ko-KR" altLang="en-US" sz="1050" dirty="0"/>
                        <a:t>조</a:t>
                      </a:r>
                    </a:p>
                  </a:txBody>
                  <a:tcPr marL="0" marR="0" anchor="ctr"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기간의 특례</a:t>
                      </a:r>
                    </a:p>
                  </a:txBody>
                  <a:tcPr marL="0" marR="0"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제</a:t>
                      </a:r>
                      <a:r>
                        <a:rPr lang="en-US" altLang="ko-KR" sz="1050" dirty="0"/>
                        <a:t>34</a:t>
                      </a:r>
                      <a:r>
                        <a:rPr lang="ko-KR" altLang="en-US" sz="1050" dirty="0"/>
                        <a:t>조</a:t>
                      </a:r>
                      <a:r>
                        <a:rPr lang="en-US" altLang="ko-KR" sz="1050" dirty="0"/>
                        <a:t>,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제</a:t>
                      </a:r>
                      <a:r>
                        <a:rPr lang="en-US" altLang="ko-KR" sz="1050" dirty="0"/>
                        <a:t>35</a:t>
                      </a:r>
                      <a:r>
                        <a:rPr lang="ko-KR" altLang="en-US" sz="1050" dirty="0"/>
                        <a:t>조</a:t>
                      </a:r>
                    </a:p>
                  </a:txBody>
                  <a:tcPr marL="0" marR="0"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제</a:t>
                      </a:r>
                      <a:r>
                        <a:rPr lang="en-US" altLang="ko-KR" sz="1050" dirty="0"/>
                        <a:t>52</a:t>
                      </a:r>
                      <a:r>
                        <a:rPr lang="ko-KR" altLang="en-US" sz="1050" dirty="0"/>
                        <a:t>조</a:t>
                      </a:r>
                    </a:p>
                  </a:txBody>
                  <a:tcPr marL="0" marR="0"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제</a:t>
                      </a:r>
                      <a:r>
                        <a:rPr lang="en-US" altLang="ko-KR" sz="1050" dirty="0"/>
                        <a:t>52</a:t>
                      </a:r>
                      <a:r>
                        <a:rPr lang="ko-KR" altLang="en-US" sz="1050" dirty="0"/>
                        <a:t>조의</a:t>
                      </a:r>
                      <a:r>
                        <a:rPr lang="en-US" altLang="ko-KR" sz="1050" dirty="0"/>
                        <a:t>2</a:t>
                      </a:r>
                      <a:endParaRPr lang="ko-KR" altLang="en-US" sz="1050" dirty="0"/>
                    </a:p>
                  </a:txBody>
                  <a:tcPr marL="0" marR="0"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제</a:t>
                      </a:r>
                      <a:r>
                        <a:rPr lang="en-US" altLang="ko-KR" sz="1050" dirty="0"/>
                        <a:t>53</a:t>
                      </a:r>
                      <a:r>
                        <a:rPr lang="ko-KR" altLang="en-US" sz="1050" dirty="0"/>
                        <a:t>조</a:t>
                      </a:r>
                    </a:p>
                  </a:txBody>
                  <a:tcPr marL="0" marR="0" anchor="ctr"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403007"/>
                  </a:ext>
                </a:extLst>
              </a:tr>
              <a:tr h="2912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확</a:t>
                      </a:r>
                      <a:r>
                        <a:rPr lang="ko-KR" altLang="en-US" sz="1050" dirty="0"/>
                        <a:t>대된 선출원에서 다른 출원의 지위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X</a:t>
                      </a:r>
                      <a:endParaRPr lang="ko-KR" altLang="en-US" sz="900" dirty="0"/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marL="0" marR="0" anchor="ctr"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marL="0" marR="0" anchor="ctr"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marL="0" marR="0" anchor="ctr"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5" gridSpan="2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청</a:t>
                      </a:r>
                      <a:r>
                        <a:rPr lang="ko-KR" altLang="en-US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구범위 제출 유예기간의 특례</a:t>
                      </a:r>
                      <a:r>
                        <a:rPr lang="en-US" altLang="ko-KR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(30</a:t>
                      </a:r>
                      <a:r>
                        <a:rPr lang="ko-KR" altLang="en-US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일</a:t>
                      </a:r>
                      <a:r>
                        <a:rPr lang="en-US" altLang="ko-KR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X</a:t>
                      </a:r>
                      <a:endParaRPr lang="ko-KR" altLang="en-US" sz="900" dirty="0"/>
                    </a:p>
                  </a:txBody>
                  <a:tcPr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X</a:t>
                      </a:r>
                      <a:endParaRPr lang="ko-KR" altLang="en-US" sz="900" dirty="0"/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anchor="ctr"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057423"/>
                  </a:ext>
                </a:extLst>
              </a:tr>
              <a:tr h="3707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solidFill>
                            <a:srgbClr val="FF0000"/>
                          </a:solidFill>
                        </a:rPr>
                        <a:t>공</a:t>
                      </a:r>
                      <a:r>
                        <a:rPr lang="ko-KR" altLang="en-US" sz="1050" dirty="0" err="1"/>
                        <a:t>지예외적용주장을</a:t>
                      </a:r>
                      <a:r>
                        <a:rPr lang="ko-KR" altLang="en-US" sz="1050" dirty="0"/>
                        <a:t> 수반하는 경우 </a:t>
                      </a:r>
                      <a:endParaRPr lang="en-US" altLang="ko-KR" sz="105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그 취지 및 증명서류</a:t>
                      </a:r>
                      <a:endParaRPr lang="en-US" altLang="ko-KR" sz="1050" dirty="0"/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X</a:t>
                      </a:r>
                      <a:endParaRPr lang="ko-KR" altLang="en-US" sz="900" dirty="0"/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</a:t>
                      </a: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년은 인정</a:t>
                      </a: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900" dirty="0"/>
                    </a:p>
                  </a:txBody>
                  <a:tcPr marL="0" marR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</a:t>
                      </a: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년은 인정</a:t>
                      </a: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900" dirty="0"/>
                    </a:p>
                  </a:txBody>
                  <a:tcPr marL="0" marR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(1</a:t>
                      </a:r>
                      <a:r>
                        <a:rPr lang="ko-KR" altLang="en-US" sz="900" dirty="0"/>
                        <a:t>년은 인정</a:t>
                      </a:r>
                      <a:r>
                        <a:rPr lang="en-US" altLang="ko-KR" sz="900" dirty="0"/>
                        <a:t>)</a:t>
                      </a:r>
                    </a:p>
                  </a:txBody>
                  <a:tcPr marL="0" marR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번</a:t>
                      </a:r>
                      <a:r>
                        <a:rPr lang="ko-KR" altLang="en-US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역문 제출기간의</a:t>
                      </a:r>
                      <a:endParaRPr lang="en-US" altLang="ko-KR" sz="105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특례</a:t>
                      </a:r>
                      <a:r>
                        <a:rPr lang="en-US" altLang="ko-KR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(30</a:t>
                      </a:r>
                      <a:r>
                        <a:rPr lang="ko-KR" altLang="en-US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일</a:t>
                      </a:r>
                      <a:r>
                        <a:rPr lang="en-US" altLang="ko-KR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X</a:t>
                      </a:r>
                      <a:endParaRPr lang="ko-KR" altLang="en-US" sz="900" dirty="0"/>
                    </a:p>
                  </a:txBody>
                  <a:tcPr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X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anchor="ctr"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789969"/>
                  </a:ext>
                </a:extLst>
              </a:tr>
              <a:tr h="3442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solidFill>
                            <a:srgbClr val="FF0000"/>
                          </a:solidFill>
                        </a:rPr>
                        <a:t>조</a:t>
                      </a:r>
                      <a:r>
                        <a:rPr lang="ko-KR" altLang="en-US" sz="1050" dirty="0" err="1"/>
                        <a:t>약우선권주장을</a:t>
                      </a:r>
                      <a:r>
                        <a:rPr lang="ko-KR" altLang="en-US" sz="1050" dirty="0"/>
                        <a:t> 수반하는 경우 </a:t>
                      </a:r>
                      <a:endParaRPr lang="en-US" altLang="ko-KR" sz="105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그 취지</a:t>
                      </a:r>
                      <a:endParaRPr lang="en-US" altLang="ko-KR" sz="1050" dirty="0"/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X</a:t>
                      </a:r>
                      <a:endParaRPr lang="ko-KR" altLang="en-US" sz="900" dirty="0"/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en-US" altLang="ko-KR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</a:t>
                      </a: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년은 인정</a:t>
                      </a: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algn="ctr" latinLnBrk="1"/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자동간주</a:t>
                      </a: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900" dirty="0"/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en-US" altLang="ko-KR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</a:t>
                      </a: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년은 </a:t>
                      </a:r>
                      <a:r>
                        <a:rPr lang="ko-KR" altLang="en-US" sz="900" dirty="0"/>
                        <a:t>인정</a:t>
                      </a: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9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자동간주</a:t>
                      </a: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900" dirty="0"/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en-US" altLang="ko-KR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</a:t>
                      </a: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년은 </a:t>
                      </a:r>
                      <a:r>
                        <a:rPr lang="ko-KR" altLang="en-US" sz="900" dirty="0"/>
                        <a:t>인정</a:t>
                      </a: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900" dirty="0"/>
                    </a:p>
                  </a:txBody>
                  <a:tcPr marL="0" marR="0" anchor="ctr"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solidFill>
                            <a:srgbClr val="FF0000"/>
                          </a:solidFill>
                        </a:rPr>
                        <a:t>조</a:t>
                      </a:r>
                      <a:r>
                        <a:rPr lang="ko-KR" altLang="en-US" sz="105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약우선권주장</a:t>
                      </a:r>
                      <a:r>
                        <a:rPr lang="ko-KR" altLang="en-US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 증명서류 제출기간의 특례</a:t>
                      </a:r>
                      <a:r>
                        <a:rPr lang="en-US" altLang="ko-KR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(3</a:t>
                      </a:r>
                      <a:r>
                        <a:rPr lang="ko-KR" altLang="en-US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월</a:t>
                      </a:r>
                      <a:r>
                        <a:rPr lang="en-US" altLang="ko-KR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X</a:t>
                      </a:r>
                      <a:endParaRPr lang="ko-KR" altLang="en-US" sz="900" dirty="0"/>
                    </a:p>
                  </a:txBody>
                  <a:tcPr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  <a:p>
                      <a:pPr algn="ctr" latinLnBrk="1"/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단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자동간주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X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단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자동간주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74475219"/>
                  </a:ext>
                </a:extLst>
              </a:tr>
              <a:tr h="2912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solidFill>
                            <a:srgbClr val="FF0000"/>
                          </a:solidFill>
                        </a:rPr>
                        <a:t>국</a:t>
                      </a:r>
                      <a:r>
                        <a:rPr lang="ko-KR" altLang="en-US" sz="1050" dirty="0" err="1"/>
                        <a:t>내우선권주장을</a:t>
                      </a:r>
                      <a:r>
                        <a:rPr lang="ko-KR" altLang="en-US" sz="1050" dirty="0"/>
                        <a:t> 수반하는 경우 </a:t>
                      </a:r>
                      <a:endParaRPr lang="en-US" altLang="ko-KR" sz="105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그 취지</a:t>
                      </a:r>
                      <a:endParaRPr lang="en-US" altLang="ko-KR" sz="1050" dirty="0"/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X</a:t>
                      </a:r>
                      <a:endParaRPr lang="ko-KR" altLang="en-US" sz="900" dirty="0"/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en-US" altLang="ko-KR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</a:t>
                      </a: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년은 인정</a:t>
                      </a: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자동간주</a:t>
                      </a: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900" dirty="0"/>
                    </a:p>
                  </a:txBody>
                  <a:tcPr marL="0" marR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en-US" altLang="ko-KR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</a:t>
                      </a: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년은 인정</a:t>
                      </a: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자동간주</a:t>
                      </a: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900" dirty="0"/>
                    </a:p>
                  </a:txBody>
                  <a:tcPr marL="0" marR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en-US" altLang="ko-KR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</a:t>
                      </a: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년은 인정</a:t>
                      </a: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900" dirty="0"/>
                    </a:p>
                  </a:txBody>
                  <a:tcPr marL="0" marR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solidFill>
                            <a:srgbClr val="FF0000"/>
                          </a:solidFill>
                        </a:rPr>
                        <a:t>우</a:t>
                      </a:r>
                      <a:r>
                        <a:rPr lang="ko-KR" altLang="en-US" sz="105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선권주장취하기간의</a:t>
                      </a:r>
                      <a:r>
                        <a:rPr lang="ko-KR" altLang="en-US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 </a:t>
                      </a:r>
                      <a:endParaRPr lang="en-US" altLang="ko-KR" sz="105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특례</a:t>
                      </a:r>
                      <a:r>
                        <a:rPr lang="en-US" altLang="ko-KR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(30</a:t>
                      </a:r>
                      <a:r>
                        <a:rPr lang="ko-KR" altLang="en-US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일</a:t>
                      </a:r>
                      <a:r>
                        <a:rPr lang="en-US" altLang="ko-KR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)</a:t>
                      </a:r>
                      <a:endParaRPr lang="ko-KR" altLang="en-US" sz="105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X</a:t>
                      </a:r>
                      <a:endParaRPr lang="ko-KR" altLang="en-US" sz="900" dirty="0"/>
                    </a:p>
                  </a:txBody>
                  <a:tcPr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X</a:t>
                      </a:r>
                      <a:endParaRPr lang="ko-KR" altLang="en-US" sz="900" dirty="0"/>
                    </a:p>
                  </a:txBody>
                  <a:tcPr anchor="ctr"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28734353"/>
                  </a:ext>
                </a:extLst>
              </a:tr>
              <a:tr h="2912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등</a:t>
                      </a:r>
                      <a:r>
                        <a:rPr lang="ko-KR" altLang="en-US" sz="1050" dirty="0"/>
                        <a:t>록지연에 따른 존속기간연장의 경우</a:t>
                      </a:r>
                      <a:endParaRPr lang="en-US" altLang="ko-KR" sz="105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 출원일의 기산</a:t>
                      </a:r>
                      <a:endParaRPr lang="en-US" altLang="ko-KR" sz="1050" dirty="0"/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marL="0" marR="0" anchor="ctr"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marL="0" marR="0" anchor="ctr"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marL="0" marR="0" anchor="ctr"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심</a:t>
                      </a:r>
                      <a:r>
                        <a:rPr lang="ko-KR" altLang="en-US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사청구기간의 </a:t>
                      </a:r>
                      <a:endParaRPr lang="en-US" altLang="ko-KR" sz="105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특례</a:t>
                      </a:r>
                      <a:r>
                        <a:rPr lang="en-US" altLang="ko-KR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(30</a:t>
                      </a:r>
                      <a:r>
                        <a:rPr lang="ko-KR" altLang="en-US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일</a:t>
                      </a:r>
                      <a:r>
                        <a:rPr lang="en-US" altLang="ko-KR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anchor="ctr"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anchor="ctr"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anchor="ctr"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014445"/>
                  </a:ext>
                </a:extLst>
              </a:tr>
              <a:tr h="1941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solidFill>
                            <a:srgbClr val="FF0000"/>
                          </a:solidFill>
                        </a:rPr>
                        <a:t>심</a:t>
                      </a:r>
                      <a:r>
                        <a:rPr lang="ko-KR" altLang="en-US" sz="1050" dirty="0" err="1"/>
                        <a:t>사청구할</a:t>
                      </a:r>
                      <a:r>
                        <a:rPr lang="ko-KR" altLang="en-US" sz="1050" dirty="0"/>
                        <a:t> 때 출원일의 기산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6" gridSpan="4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anchor="ctr"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6" gridSpan="5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68365"/>
                  </a:ext>
                </a:extLst>
              </a:tr>
              <a:tr h="3272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solidFill>
                            <a:srgbClr val="FF0000"/>
                          </a:solidFill>
                        </a:rPr>
                        <a:t>공</a:t>
                      </a:r>
                      <a:r>
                        <a:rPr lang="ko-KR" altLang="en-US" sz="1050" dirty="0" err="1"/>
                        <a:t>지예외적용주장을</a:t>
                      </a:r>
                      <a:r>
                        <a:rPr lang="ko-KR" altLang="en-US" sz="1050" dirty="0"/>
                        <a:t> 수반하는 경우 </a:t>
                      </a:r>
                      <a:endParaRPr lang="en-US" altLang="ko-KR" sz="105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그 취지 및 증명서류</a:t>
                      </a:r>
                      <a:endParaRPr lang="en-US" altLang="ko-KR" sz="1050" dirty="0"/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</a:t>
                      </a:r>
                      <a:r>
                        <a:rPr lang="ko-KR" altLang="en-US" sz="900" dirty="0"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년도 불인정</a:t>
                      </a:r>
                      <a:r>
                        <a:rPr lang="en-US" altLang="ko-KR" sz="900" dirty="0"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900" dirty="0">
                        <a:highlight>
                          <a:srgbClr val="FFFF00"/>
                        </a:highlight>
                      </a:endParaRPr>
                    </a:p>
                  </a:txBody>
                  <a:tcPr marL="0" marR="0" anchor="ctr"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highlight>
                            <a:srgbClr val="00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</a:t>
                      </a:r>
                      <a:r>
                        <a:rPr lang="ko-KR" altLang="en-US" sz="900" dirty="0">
                          <a:highlight>
                            <a:srgbClr val="00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년은 </a:t>
                      </a:r>
                      <a:endParaRPr lang="en-US" altLang="ko-KR" sz="900" dirty="0">
                        <a:highlight>
                          <a:srgbClr val="00FFFF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highlight>
                            <a:srgbClr val="00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발명단위로 인정</a:t>
                      </a:r>
                      <a:r>
                        <a:rPr lang="en-US" altLang="ko-KR" sz="900" dirty="0">
                          <a:highlight>
                            <a:srgbClr val="00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900" dirty="0">
                        <a:highlight>
                          <a:srgbClr val="00FFFF"/>
                        </a:highlight>
                      </a:endParaRPr>
                    </a:p>
                  </a:txBody>
                  <a:tcPr marL="0" marR="0" anchor="ctr"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903708"/>
                  </a:ext>
                </a:extLst>
              </a:tr>
              <a:tr h="1941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solidFill>
                            <a:srgbClr val="FF0000"/>
                          </a:solidFill>
                        </a:rPr>
                        <a:t>존</a:t>
                      </a:r>
                      <a:r>
                        <a:rPr lang="ko-KR" altLang="en-US" sz="1050"/>
                        <a:t>속기간 만료일의 </a:t>
                      </a:r>
                      <a:r>
                        <a:rPr lang="ko-KR" altLang="en-US" sz="1050" dirty="0"/>
                        <a:t>기산</a:t>
                      </a:r>
                      <a:endParaRPr lang="en-US" altLang="ko-KR" sz="1050" dirty="0"/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744475"/>
                  </a:ext>
                </a:extLst>
              </a:tr>
              <a:tr h="2912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재</a:t>
                      </a:r>
                      <a:r>
                        <a:rPr lang="ko-KR" altLang="en-US" sz="1050" dirty="0"/>
                        <a:t>정에 있어서 </a:t>
                      </a:r>
                      <a:r>
                        <a:rPr lang="ko-KR" altLang="en-US" sz="1050" dirty="0" err="1"/>
                        <a:t>불실시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불충분실시의 </a:t>
                      </a:r>
                      <a:endParaRPr lang="en-US" altLang="ko-KR" sz="105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경우 출원일의 기산</a:t>
                      </a:r>
                      <a:endParaRPr lang="en-US" altLang="ko-KR" sz="1050" dirty="0"/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marL="0" marR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marL="0" marR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16143"/>
                  </a:ext>
                </a:extLst>
              </a:tr>
              <a:tr h="2912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등</a:t>
                      </a:r>
                      <a:r>
                        <a:rPr lang="ko-KR" altLang="en-US" sz="1050" dirty="0"/>
                        <a:t>록지연에 따른 존속기간연장의 경우</a:t>
                      </a:r>
                      <a:endParaRPr lang="en-US" altLang="ko-KR" sz="105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 출원일의 기산</a:t>
                      </a:r>
                      <a:endParaRPr lang="en-US" altLang="ko-KR" sz="1050" dirty="0"/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marL="0" marR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marL="0" marR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473473"/>
                  </a:ext>
                </a:extLst>
              </a:tr>
              <a:tr h="2912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solidFill>
                            <a:srgbClr val="FF0000"/>
                          </a:solidFill>
                        </a:rPr>
                        <a:t>이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중우선권주장된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발명의 소급효 및 확대된 선출원에서 다른 출원의 지위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X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 err="1"/>
                        <a:t>최선성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 marL="0" marR="0" anchor="ctr"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marL="0" marR="0" anchor="ctr"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341279"/>
                  </a:ext>
                </a:extLst>
              </a:tr>
            </a:tbl>
          </a:graphicData>
        </a:graphic>
      </p:graphicFrame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44CC1111-2530-5C2C-3373-B619716E947C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5065059" y="2931230"/>
            <a:ext cx="2725270" cy="34985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94F82177-4AC3-B944-FCFC-6881AE0E70C3}"/>
              </a:ext>
            </a:extLst>
          </p:cNvPr>
          <p:cNvSpPr/>
          <p:nvPr/>
        </p:nvSpPr>
        <p:spPr>
          <a:xfrm>
            <a:off x="3370729" y="2837334"/>
            <a:ext cx="1694330" cy="1877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AE32328-3199-3E94-5DF3-C12E2B9327EB}"/>
              </a:ext>
            </a:extLst>
          </p:cNvPr>
          <p:cNvSpPr/>
          <p:nvPr/>
        </p:nvSpPr>
        <p:spPr>
          <a:xfrm>
            <a:off x="3370729" y="3346906"/>
            <a:ext cx="1694330" cy="1877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89DECB28-80A1-D941-08EA-9D1344F77ADD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5065059" y="3381937"/>
            <a:ext cx="2725270" cy="5886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649690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  <a:r>
              <a:rPr lang="en-US" altLang="ko-KR" dirty="0"/>
              <a:t>-</a:t>
            </a:r>
            <a:r>
              <a:rPr lang="ko-KR" altLang="en-US" dirty="0"/>
              <a:t>제</a:t>
            </a:r>
            <a:r>
              <a:rPr lang="en-US" altLang="ko-KR" dirty="0"/>
              <a:t>56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sz="2200" dirty="0" err="1"/>
              <a:t>분할ㆍ분리ㆍ변경ㆍ조약우선권주장ㆍ국내우선권주장출원의</a:t>
            </a:r>
            <a:r>
              <a:rPr lang="ko-KR" altLang="en-US" sz="2200" dirty="0"/>
              <a:t> 적법성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240</a:t>
            </a:fld>
            <a:endParaRPr lang="ko-KR" altLang="en-US"/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F9ADB070-2108-4F38-9B8E-BCACD79A2647}"/>
              </a:ext>
            </a:extLst>
          </p:cNvPr>
          <p:cNvCxnSpPr>
            <a:cxnSpLocks/>
          </p:cNvCxnSpPr>
          <p:nvPr/>
        </p:nvCxnSpPr>
        <p:spPr>
          <a:xfrm>
            <a:off x="491706" y="1322024"/>
            <a:ext cx="10886536" cy="0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2F8D41E8-0868-4FB8-8A75-68823DF269DD}"/>
              </a:ext>
            </a:extLst>
          </p:cNvPr>
          <p:cNvSpPr/>
          <p:nvPr/>
        </p:nvSpPr>
        <p:spPr>
          <a:xfrm>
            <a:off x="2263667" y="1143797"/>
            <a:ext cx="1111100" cy="3706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  <a:r>
              <a:rPr lang="en-US" altLang="ko-KR" sz="1200" dirty="0">
                <a:solidFill>
                  <a:schemeClr val="tx1"/>
                </a:solidFill>
              </a:rPr>
              <a:t>(X)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B2297406-93DF-42CA-A446-B66E4EC738EA}"/>
              </a:ext>
            </a:extLst>
          </p:cNvPr>
          <p:cNvSpPr/>
          <p:nvPr/>
        </p:nvSpPr>
        <p:spPr>
          <a:xfrm>
            <a:off x="5594156" y="1143621"/>
            <a:ext cx="1111100" cy="3706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  <a:r>
              <a:rPr lang="en-US" altLang="ko-KR" sz="1200" dirty="0">
                <a:solidFill>
                  <a:schemeClr val="tx1"/>
                </a:solidFill>
              </a:rPr>
              <a:t>(Y)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BE55B757-1319-4090-AB64-30781DCB4BD4}"/>
              </a:ext>
            </a:extLst>
          </p:cNvPr>
          <p:cNvSpPr/>
          <p:nvPr/>
        </p:nvSpPr>
        <p:spPr>
          <a:xfrm>
            <a:off x="8924647" y="1143621"/>
            <a:ext cx="1111100" cy="3706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  <a:r>
              <a:rPr lang="en-US" altLang="ko-KR" sz="1200" dirty="0">
                <a:solidFill>
                  <a:schemeClr val="tx1"/>
                </a:solidFill>
              </a:rPr>
              <a:t>(Z)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EECB1AC-B8AD-46E5-9136-6DA48BEDE4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583722"/>
              </p:ext>
            </p:extLst>
          </p:nvPr>
        </p:nvGraphicFramePr>
        <p:xfrm>
          <a:off x="491706" y="1725291"/>
          <a:ext cx="11179834" cy="4075875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457864">
                  <a:extLst>
                    <a:ext uri="{9D8B030D-6E8A-4147-A177-3AD203B41FA5}">
                      <a16:colId xmlns:a16="http://schemas.microsoft.com/office/drawing/2014/main" val="4194579340"/>
                    </a:ext>
                  </a:extLst>
                </a:gridCol>
                <a:gridCol w="1759788">
                  <a:extLst>
                    <a:ext uri="{9D8B030D-6E8A-4147-A177-3AD203B41FA5}">
                      <a16:colId xmlns:a16="http://schemas.microsoft.com/office/drawing/2014/main" val="342669937"/>
                    </a:ext>
                  </a:extLst>
                </a:gridCol>
                <a:gridCol w="1526876">
                  <a:extLst>
                    <a:ext uri="{9D8B030D-6E8A-4147-A177-3AD203B41FA5}">
                      <a16:colId xmlns:a16="http://schemas.microsoft.com/office/drawing/2014/main" val="2817899823"/>
                    </a:ext>
                  </a:extLst>
                </a:gridCol>
                <a:gridCol w="1630392">
                  <a:extLst>
                    <a:ext uri="{9D8B030D-6E8A-4147-A177-3AD203B41FA5}">
                      <a16:colId xmlns:a16="http://schemas.microsoft.com/office/drawing/2014/main" val="3953379425"/>
                    </a:ext>
                  </a:extLst>
                </a:gridCol>
                <a:gridCol w="2234216">
                  <a:extLst>
                    <a:ext uri="{9D8B030D-6E8A-4147-A177-3AD203B41FA5}">
                      <a16:colId xmlns:a16="http://schemas.microsoft.com/office/drawing/2014/main" val="418615186"/>
                    </a:ext>
                  </a:extLst>
                </a:gridCol>
                <a:gridCol w="2570698">
                  <a:extLst>
                    <a:ext uri="{9D8B030D-6E8A-4147-A177-3AD203B41FA5}">
                      <a16:colId xmlns:a16="http://schemas.microsoft.com/office/drawing/2014/main" val="4266537111"/>
                    </a:ext>
                  </a:extLst>
                </a:gridCol>
              </a:tblGrid>
              <a:tr h="565819"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spc="-5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Z </a:t>
                      </a:r>
                      <a:r>
                        <a:rPr lang="ko-KR" altLang="en-US" sz="1200" kern="100" spc="-5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출원</a:t>
                      </a:r>
                    </a:p>
                    <a:p>
                      <a:pPr marL="0" marR="0" indent="0" algn="l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spc="-5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Y </a:t>
                      </a:r>
                      <a:r>
                        <a:rPr lang="ko-KR" altLang="en-US" sz="1200" kern="100" spc="-5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출원</a:t>
                      </a:r>
                      <a:endParaRPr lang="ko-KR" altLang="en-US" sz="1200" kern="100" spc="-5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분할출원</a:t>
                      </a:r>
                      <a:endParaRPr lang="ko-KR" altLang="en-US" sz="1200" kern="100" spc="-5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분리출원</a:t>
                      </a:r>
                      <a:endParaRPr lang="ko-KR" altLang="en-US" sz="1200" kern="100" spc="-5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변경출원</a:t>
                      </a:r>
                      <a:endParaRPr lang="ko-KR" altLang="en-US" sz="1200" kern="100" spc="-5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조약우선권주장출원</a:t>
                      </a:r>
                      <a:endParaRPr lang="ko-KR" altLang="en-US" sz="1200" kern="100" spc="-5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국내우선권주장출원</a:t>
                      </a:r>
                      <a:endParaRPr lang="ko-KR" altLang="en-US" sz="1200" kern="100" spc="-5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114172"/>
                  </a:ext>
                </a:extLst>
              </a:tr>
              <a:tr h="3933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분할출원</a:t>
                      </a:r>
                      <a:endParaRPr lang="ko-KR" altLang="en-US" sz="1200" kern="100" spc="-5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가능*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가능*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가능*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17780" marR="1778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외국법이 국내법과 동일하지 아니하기 때문에 논의 실익 </a:t>
                      </a:r>
                      <a:r>
                        <a:rPr lang="en-US" altLang="ko-KR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× </a:t>
                      </a:r>
                      <a:endParaRPr lang="ko-KR" altLang="en-US" sz="1200" kern="0" spc="-7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99060" marR="17780" indent="-9906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불가능</a:t>
                      </a:r>
                      <a:r>
                        <a:rPr lang="en-US" altLang="ko-KR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(∵</a:t>
                      </a:r>
                      <a:r>
                        <a:rPr lang="ko-KR" altLang="en-US" sz="1200" kern="0" spc="-8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요건 불만족하여 무효처분</a:t>
                      </a:r>
                      <a:r>
                        <a:rPr lang="en-US" altLang="ko-KR" sz="1200" kern="0" spc="-8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)</a:t>
                      </a:r>
                      <a:endParaRPr lang="ko-KR" altLang="en-US" sz="1200" kern="0" spc="-8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2645376"/>
                  </a:ext>
                </a:extLst>
              </a:tr>
              <a:tr h="39438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분리출원</a:t>
                      </a:r>
                      <a:endParaRPr lang="ko-KR" altLang="en-US" sz="1200" kern="100" spc="-5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불가능</a:t>
                      </a:r>
                      <a:r>
                        <a:rPr lang="en-US" altLang="ko-KR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7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불수리</a:t>
                      </a:r>
                      <a:r>
                        <a:rPr lang="en-US" altLang="ko-KR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)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불가능</a:t>
                      </a:r>
                      <a:r>
                        <a:rPr lang="en-US" altLang="ko-KR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7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불수리</a:t>
                      </a:r>
                      <a:r>
                        <a:rPr lang="en-US" altLang="ko-KR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)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2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불가능</a:t>
                      </a:r>
                      <a:r>
                        <a:rPr lang="en-US" altLang="ko-KR" sz="1200" kern="0" spc="-12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12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불수리</a:t>
                      </a:r>
                      <a:r>
                        <a:rPr lang="en-US" altLang="ko-KR" sz="1200" kern="0" spc="-12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)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659909"/>
                  </a:ext>
                </a:extLst>
              </a:tr>
              <a:tr h="3933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변경출원</a:t>
                      </a:r>
                      <a:endParaRPr lang="ko-KR" altLang="en-US" sz="1200" kern="100" spc="-5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가능*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가능*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2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가능*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73849"/>
                  </a:ext>
                </a:extLst>
              </a:tr>
              <a:tr h="393328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조약우선권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주장출원</a:t>
                      </a:r>
                      <a:endParaRPr lang="ko-KR" altLang="en-US" sz="1200" kern="100" spc="-5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7780" marR="1778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가능</a:t>
                      </a:r>
                      <a:r>
                        <a:rPr lang="en-US" altLang="ko-KR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우선기간</a:t>
                      </a:r>
                      <a:r>
                        <a:rPr lang="en-US" altLang="ko-KR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(1</a:t>
                      </a:r>
                      <a:r>
                        <a:rPr lang="ko-KR" altLang="en-US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년</a:t>
                      </a:r>
                      <a:r>
                        <a:rPr lang="en-US" altLang="ko-KR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) - </a:t>
                      </a:r>
                      <a:r>
                        <a:rPr lang="ko-KR" altLang="en-US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소급효 ○</a:t>
                      </a:r>
                      <a:r>
                        <a:rPr lang="en-US" altLang="ko-KR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취지 </a:t>
                      </a:r>
                      <a:r>
                        <a:rPr lang="en-US" altLang="ko-KR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- </a:t>
                      </a:r>
                      <a:r>
                        <a:rPr lang="ko-KR" altLang="en-US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소급효 </a:t>
                      </a:r>
                      <a:r>
                        <a:rPr lang="en-US" altLang="ko-KR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×)</a:t>
                      </a:r>
                      <a:endParaRPr lang="ko-KR" altLang="en-US" sz="1200" kern="0" spc="-7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marL="17780" marR="1778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최선성</a:t>
                      </a:r>
                      <a:r>
                        <a:rPr lang="ko-KR" altLang="en-US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 요건 불만족하여 무효처분</a:t>
                      </a:r>
                      <a:br>
                        <a:rPr lang="ko-KR" altLang="en-US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</a:br>
                      <a:r>
                        <a:rPr lang="en-US" altLang="ko-KR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∵ 우선기간의 </a:t>
                      </a:r>
                      <a:endParaRPr lang="en-US" altLang="ko-KR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 marL="17780" marR="1778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실질적 연장을 방지</a:t>
                      </a:r>
                      <a:r>
                        <a:rPr lang="en-US" altLang="ko-KR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)**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marL="17780" marR="1778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요건 만족하지만 이중우선으로 소급효의 예외 인정</a:t>
                      </a:r>
                      <a:endParaRPr lang="en-US" altLang="ko-KR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 marL="17780" marR="1778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∵ 우선기간의 실질적 연장을 방지</a:t>
                      </a:r>
                      <a:r>
                        <a:rPr lang="en-US" altLang="ko-KR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)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5987759"/>
                  </a:ext>
                </a:extLst>
              </a:tr>
              <a:tr h="3943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자동주장간주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자동주장간주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출원과 동시에 주장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843503"/>
                  </a:ext>
                </a:extLst>
              </a:tr>
              <a:tr h="7535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자동증명서류제출간주</a:t>
                      </a:r>
                      <a:r>
                        <a:rPr lang="en-US" altLang="ko-KR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/</a:t>
                      </a:r>
                      <a:endParaRPr lang="ko-KR" altLang="en-US" sz="1200" kern="0" spc="-7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 marL="17780" marR="1778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증명서류제출기간 특례</a:t>
                      </a:r>
                      <a:endParaRPr lang="ko-KR" altLang="en-US" sz="1200" kern="0" spc="-7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자동증명서류제출간주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증명서류제출기간 특례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7700299"/>
                  </a:ext>
                </a:extLst>
              </a:tr>
              <a:tr h="393328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국내우선권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주장출원</a:t>
                      </a:r>
                      <a:endParaRPr lang="ko-KR" altLang="en-US" sz="1200" kern="100" spc="-5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7780" marR="1778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9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가능</a:t>
                      </a:r>
                      <a:r>
                        <a:rPr lang="en-US" altLang="ko-KR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9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우선기간</a:t>
                      </a:r>
                      <a:r>
                        <a:rPr lang="en-US" altLang="ko-KR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(1</a:t>
                      </a:r>
                      <a:r>
                        <a:rPr lang="ko-KR" altLang="en-US" sz="1200" kern="0" spc="-9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년</a:t>
                      </a:r>
                      <a:r>
                        <a:rPr lang="en-US" altLang="ko-KR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) - </a:t>
                      </a:r>
                      <a:r>
                        <a:rPr lang="ko-KR" altLang="en-US" sz="1200" kern="0" spc="-9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소급효 </a:t>
                      </a:r>
                      <a:r>
                        <a:rPr lang="ko-KR" altLang="en-US" sz="1200" kern="0" spc="-5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○</a:t>
                      </a:r>
                      <a:r>
                        <a:rPr lang="en-US" altLang="ko-KR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kern="0" spc="-9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취지 </a:t>
                      </a:r>
                      <a:r>
                        <a:rPr lang="en-US" altLang="ko-KR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- </a:t>
                      </a:r>
                      <a:r>
                        <a:rPr lang="ko-KR" altLang="en-US" sz="1200" kern="0" spc="-9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소급효 </a:t>
                      </a:r>
                      <a:r>
                        <a:rPr lang="en-US" altLang="ko-KR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×)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364015"/>
                  </a:ext>
                </a:extLst>
              </a:tr>
              <a:tr h="3943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자동주장간주</a:t>
                      </a:r>
                      <a:endParaRPr lang="ko-KR" altLang="en-US" sz="1200" kern="0" spc="-7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자동주장간주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출원과 동시에 주장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243806"/>
                  </a:ext>
                </a:extLst>
              </a:tr>
            </a:tbl>
          </a:graphicData>
        </a:graphic>
      </p:graphicFrame>
      <p:sp>
        <p:nvSpPr>
          <p:cNvPr id="109" name="TextBox 108">
            <a:extLst>
              <a:ext uri="{FF2B5EF4-FFF2-40B4-BE49-F238E27FC236}">
                <a16:creationId xmlns:a16="http://schemas.microsoft.com/office/drawing/2014/main" id="{DABE9BE7-2EAC-452C-9635-24CC1F87A90A}"/>
              </a:ext>
            </a:extLst>
          </p:cNvPr>
          <p:cNvSpPr txBox="1"/>
          <p:nvPr/>
        </p:nvSpPr>
        <p:spPr>
          <a:xfrm>
            <a:off x="416224" y="5846170"/>
            <a:ext cx="1126394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/>
            <a:r>
              <a:rPr lang="ko-KR" altLang="en-US" sz="1100" dirty="0"/>
              <a:t>* </a:t>
            </a:r>
            <a:r>
              <a:rPr lang="en-US" altLang="ko-KR" sz="1100" dirty="0"/>
              <a:t>X </a:t>
            </a:r>
            <a:r>
              <a:rPr lang="ko-KR" altLang="en-US" sz="1100" dirty="0"/>
              <a:t>출원과 </a:t>
            </a:r>
            <a:r>
              <a:rPr lang="en-US" altLang="ko-KR" sz="1100" dirty="0"/>
              <a:t>Y </a:t>
            </a:r>
            <a:r>
              <a:rPr lang="ko-KR" altLang="en-US" sz="1100" dirty="0"/>
              <a:t>출원 사이에 분할</a:t>
            </a:r>
            <a:r>
              <a:rPr lang="en-US" altLang="ko-KR" sz="1100" dirty="0"/>
              <a:t>(</a:t>
            </a:r>
            <a:r>
              <a:rPr lang="ko-KR" altLang="en-US" sz="1100" dirty="0"/>
              <a:t>분리</a:t>
            </a:r>
            <a:r>
              <a:rPr lang="en-US" altLang="ko-KR" sz="1100" dirty="0"/>
              <a:t>, </a:t>
            </a:r>
            <a:r>
              <a:rPr lang="ko-KR" altLang="en-US" sz="1100" dirty="0"/>
              <a:t>변경</a:t>
            </a:r>
            <a:r>
              <a:rPr lang="en-US" altLang="ko-KR" sz="1100" dirty="0"/>
              <a:t>)</a:t>
            </a:r>
            <a:r>
              <a:rPr lang="ko-KR" altLang="en-US" sz="1100" dirty="0"/>
              <a:t>출원의 요건을 만족하고 </a:t>
            </a:r>
            <a:r>
              <a:rPr lang="en-US" altLang="ko-KR" sz="1100" dirty="0"/>
              <a:t>Y </a:t>
            </a:r>
            <a:r>
              <a:rPr lang="ko-KR" altLang="en-US" sz="1100" dirty="0"/>
              <a:t>출원과 </a:t>
            </a:r>
            <a:r>
              <a:rPr lang="en-US" altLang="ko-KR" sz="1100" dirty="0"/>
              <a:t>Z </a:t>
            </a:r>
            <a:r>
              <a:rPr lang="ko-KR" altLang="en-US" sz="1100" dirty="0"/>
              <a:t>출원 사이에 분할</a:t>
            </a:r>
            <a:r>
              <a:rPr lang="en-US" altLang="ko-KR" sz="1100" dirty="0"/>
              <a:t>(</a:t>
            </a:r>
            <a:r>
              <a:rPr lang="ko-KR" altLang="en-US" sz="1100" dirty="0"/>
              <a:t>분리</a:t>
            </a:r>
            <a:r>
              <a:rPr lang="en-US" altLang="ko-KR" sz="1100" dirty="0"/>
              <a:t>, </a:t>
            </a:r>
            <a:r>
              <a:rPr lang="ko-KR" altLang="en-US" sz="1100" dirty="0"/>
              <a:t>변경</a:t>
            </a:r>
            <a:r>
              <a:rPr lang="en-US" altLang="ko-KR" sz="1100" dirty="0"/>
              <a:t>)</a:t>
            </a:r>
            <a:r>
              <a:rPr lang="ko-KR" altLang="en-US" sz="1100" dirty="0"/>
              <a:t>출원의 요건을 만족하며</a:t>
            </a:r>
            <a:r>
              <a:rPr lang="en-US" altLang="ko-KR" sz="1100" dirty="0"/>
              <a:t>, Z </a:t>
            </a:r>
            <a:r>
              <a:rPr lang="ko-KR" altLang="en-US" sz="1100" dirty="0"/>
              <a:t>출원의 명세서 또는 도면에 기재된 발명이 </a:t>
            </a:r>
            <a:r>
              <a:rPr lang="en-US" altLang="ko-KR" sz="1100" dirty="0"/>
              <a:t>X </a:t>
            </a:r>
            <a:r>
              <a:rPr lang="ko-KR" altLang="en-US" sz="1100" dirty="0"/>
              <a:t>출원의 최초 명세서 또는 도면에 기재된 </a:t>
            </a:r>
            <a:r>
              <a:rPr lang="ko-KR" altLang="en-US" sz="1100" dirty="0" err="1"/>
              <a:t>범위이내이면</a:t>
            </a:r>
            <a:r>
              <a:rPr lang="en-US" altLang="ko-KR" sz="1100" dirty="0"/>
              <a:t>, Z </a:t>
            </a:r>
            <a:r>
              <a:rPr lang="ko-KR" altLang="en-US" sz="1100" dirty="0"/>
              <a:t>출원이 </a:t>
            </a:r>
            <a:r>
              <a:rPr lang="en-US" altLang="ko-KR" sz="1100" dirty="0"/>
              <a:t>X </a:t>
            </a:r>
            <a:r>
              <a:rPr lang="ko-KR" altLang="en-US" sz="1100" dirty="0"/>
              <a:t>출원의 출원일로 소급</a:t>
            </a:r>
          </a:p>
          <a:p>
            <a:pPr marL="180975" indent="-180975"/>
            <a:r>
              <a:rPr lang="ko-KR" altLang="en-US" sz="1100" dirty="0"/>
              <a:t>** 다만</a:t>
            </a:r>
            <a:r>
              <a:rPr lang="en-US" altLang="ko-KR" sz="1100" dirty="0"/>
              <a:t>, Z </a:t>
            </a:r>
            <a:r>
              <a:rPr lang="ko-KR" altLang="en-US" sz="1100" dirty="0"/>
              <a:t>출원에 포함된 발명 중 </a:t>
            </a:r>
            <a:r>
              <a:rPr lang="en-US" altLang="ko-KR" sz="1100" dirty="0"/>
              <a:t>X </a:t>
            </a:r>
            <a:r>
              <a:rPr lang="ko-KR" altLang="en-US" sz="1100" dirty="0"/>
              <a:t>출원에 기재되어 있지 않지만</a:t>
            </a:r>
            <a:r>
              <a:rPr lang="en-US" altLang="ko-KR" sz="1100" dirty="0"/>
              <a:t>, Y </a:t>
            </a:r>
            <a:r>
              <a:rPr lang="ko-KR" altLang="en-US" sz="1100" dirty="0"/>
              <a:t>출원에 새로이 추가된 발명이 있는 경우에는 그 추가된 발명은 최선성이 있기 때문에 우선권주장을 </a:t>
            </a:r>
            <a:r>
              <a:rPr lang="ko-KR" altLang="en-US" sz="1100" dirty="0" err="1"/>
              <a:t>무효처분하는</a:t>
            </a:r>
            <a:r>
              <a:rPr lang="ko-KR" altLang="en-US" sz="1100" dirty="0"/>
              <a:t> 것이 아니라  그 추가된 발명에 대해서만 우선권 주장의 효과를 인정</a:t>
            </a:r>
            <a:r>
              <a:rPr lang="en-US" altLang="ko-KR" sz="1100" dirty="0"/>
              <a:t>(2004</a:t>
            </a:r>
            <a:r>
              <a:rPr lang="ko-KR" altLang="en-US" sz="1100" dirty="0"/>
              <a:t>허</a:t>
            </a:r>
            <a:r>
              <a:rPr lang="en-US" altLang="ko-KR" sz="1100" dirty="0"/>
              <a:t>8749). 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50706723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이익제도 체계</a:t>
            </a:r>
            <a:r>
              <a:rPr lang="en-US" altLang="ko-KR"/>
              <a:t>: </a:t>
            </a:r>
            <a:r>
              <a:rPr lang="ko-KR" altLang="en-US"/>
              <a:t>제</a:t>
            </a:r>
            <a:r>
              <a:rPr lang="en-US" altLang="ko-KR"/>
              <a:t>2</a:t>
            </a:r>
            <a:r>
              <a:rPr lang="ko-KR" altLang="en-US"/>
              <a:t>장</a:t>
            </a:r>
            <a:endParaRPr lang="ko-KR" altLang="en-US" dirty="0"/>
          </a:p>
        </p:txBody>
      </p:sp>
      <p:sp>
        <p:nvSpPr>
          <p:cNvPr id="31" name="직사각형 30"/>
          <p:cNvSpPr/>
          <p:nvPr/>
        </p:nvSpPr>
        <p:spPr>
          <a:xfrm>
            <a:off x="1801401" y="1267290"/>
            <a:ext cx="970795" cy="94062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/>
              <a:t>이익</a:t>
            </a:r>
            <a:endParaRPr lang="en-US" altLang="ko-KR" sz="2400" dirty="0"/>
          </a:p>
          <a:p>
            <a:pPr algn="ctr"/>
            <a:r>
              <a:rPr lang="ko-KR" altLang="en-US" sz="2400"/>
              <a:t>제도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6084565" y="2351931"/>
            <a:ext cx="4878710" cy="37990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공지예외적용주장출원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法 </a:t>
            </a:r>
            <a:r>
              <a:rPr lang="en-US" altLang="ko-KR" sz="1400" dirty="0">
                <a:solidFill>
                  <a:schemeClr val="tx1"/>
                </a:solidFill>
              </a:rPr>
              <a:t>30)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6084565" y="3048422"/>
            <a:ext cx="4878710" cy="3799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정당한 권리자의 보호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法 </a:t>
            </a:r>
            <a:r>
              <a:rPr lang="en-US" altLang="ko-KR" sz="1400" dirty="0">
                <a:solidFill>
                  <a:schemeClr val="tx1"/>
                </a:solidFill>
              </a:rPr>
              <a:t>34, 35, 99</a:t>
            </a:r>
            <a:r>
              <a:rPr lang="ko-KR" altLang="en-US" sz="1400" dirty="0">
                <a:solidFill>
                  <a:schemeClr val="tx1"/>
                </a:solidFill>
              </a:rPr>
              <a:t>의</a:t>
            </a:r>
            <a:r>
              <a:rPr lang="en-US" altLang="ko-KR" sz="1400" dirty="0">
                <a:solidFill>
                  <a:schemeClr val="tx1"/>
                </a:solidFill>
              </a:rPr>
              <a:t>2)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6084565" y="3554961"/>
            <a:ext cx="4878710" cy="3799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보정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法 </a:t>
            </a:r>
            <a:r>
              <a:rPr lang="en-US" altLang="ko-KR" sz="1400" dirty="0">
                <a:solidFill>
                  <a:schemeClr val="tx1"/>
                </a:solidFill>
              </a:rPr>
              <a:t>46, 47, 51)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6084565" y="4061500"/>
            <a:ext cx="4878710" cy="3799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분할출원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法 </a:t>
            </a:r>
            <a:r>
              <a:rPr lang="en-US" altLang="ko-KR" sz="1400" dirty="0">
                <a:solidFill>
                  <a:schemeClr val="tx1"/>
                </a:solidFill>
              </a:rPr>
              <a:t>52)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6084565" y="4983676"/>
            <a:ext cx="4878710" cy="3799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변경출원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法 </a:t>
            </a:r>
            <a:r>
              <a:rPr lang="en-US" altLang="ko-KR" sz="1400" dirty="0">
                <a:solidFill>
                  <a:schemeClr val="tx1"/>
                </a:solidFill>
              </a:rPr>
              <a:t>53)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6084565" y="5516585"/>
            <a:ext cx="4878710" cy="3799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조약우선권주장출원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法 </a:t>
            </a:r>
            <a:r>
              <a:rPr lang="en-US" altLang="ko-KR" sz="1400" dirty="0">
                <a:solidFill>
                  <a:schemeClr val="tx1"/>
                </a:solidFill>
              </a:rPr>
              <a:t>54)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6084565" y="6023124"/>
            <a:ext cx="4878710" cy="3799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국내우선권주장출원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法 </a:t>
            </a:r>
            <a:r>
              <a:rPr lang="en-US" altLang="ko-KR" sz="1400" dirty="0">
                <a:solidFill>
                  <a:schemeClr val="tx1"/>
                </a:solidFill>
              </a:rPr>
              <a:t>55, 56)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3204245" y="3498743"/>
            <a:ext cx="1385106" cy="823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출원일</a:t>
            </a:r>
            <a:endParaRPr lang="en-US" altLang="ko-KR" sz="1400" dirty="0"/>
          </a:p>
          <a:p>
            <a:pPr algn="ctr"/>
            <a:r>
              <a:rPr lang="ko-KR" altLang="en-US" sz="1400" dirty="0"/>
              <a:t>소급제도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3204245" y="5579902"/>
            <a:ext cx="1385106" cy="82312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판단시점</a:t>
            </a:r>
            <a:endParaRPr lang="en-US" altLang="ko-KR" sz="1400" dirty="0"/>
          </a:p>
          <a:p>
            <a:pPr algn="ctr"/>
            <a:r>
              <a:rPr lang="ko-KR" altLang="en-US" sz="1400"/>
              <a:t>소급제도</a:t>
            </a:r>
            <a:endParaRPr lang="ko-KR" altLang="en-US" sz="1400" dirty="0"/>
          </a:p>
        </p:txBody>
      </p:sp>
      <p:cxnSp>
        <p:nvCxnSpPr>
          <p:cNvPr id="41" name="꺾인 연결선 40"/>
          <p:cNvCxnSpPr>
            <a:stCxn id="31" idx="2"/>
            <a:endCxn id="32" idx="1"/>
          </p:cNvCxnSpPr>
          <p:nvPr/>
        </p:nvCxnSpPr>
        <p:spPr>
          <a:xfrm rot="16200000" flipH="1">
            <a:off x="4018698" y="476016"/>
            <a:ext cx="333968" cy="3797766"/>
          </a:xfrm>
          <a:prstGeom prst="bentConnector2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>
            <a:stCxn id="31" idx="2"/>
            <a:endCxn id="40" idx="1"/>
          </p:cNvCxnSpPr>
          <p:nvPr/>
        </p:nvCxnSpPr>
        <p:spPr>
          <a:xfrm rot="16200000" flipH="1">
            <a:off x="853747" y="3640967"/>
            <a:ext cx="3783550" cy="917446"/>
          </a:xfrm>
          <a:prstGeom prst="bentConnector2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꺾인 연결선 42"/>
          <p:cNvCxnSpPr>
            <a:stCxn id="31" idx="2"/>
            <a:endCxn id="39" idx="1"/>
          </p:cNvCxnSpPr>
          <p:nvPr/>
        </p:nvCxnSpPr>
        <p:spPr>
          <a:xfrm rot="16200000" flipH="1">
            <a:off x="1894327" y="2600387"/>
            <a:ext cx="1702391" cy="917446"/>
          </a:xfrm>
          <a:prstGeom prst="bentConnector2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꺾인 연결선 43"/>
          <p:cNvCxnSpPr>
            <a:stCxn id="39" idx="3"/>
            <a:endCxn id="33" idx="1"/>
          </p:cNvCxnSpPr>
          <p:nvPr/>
        </p:nvCxnSpPr>
        <p:spPr>
          <a:xfrm flipV="1">
            <a:off x="4589351" y="3238374"/>
            <a:ext cx="1495214" cy="67193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꺾인 연결선 44"/>
          <p:cNvCxnSpPr>
            <a:stCxn id="39" idx="3"/>
            <a:endCxn id="36" idx="1"/>
          </p:cNvCxnSpPr>
          <p:nvPr/>
        </p:nvCxnSpPr>
        <p:spPr>
          <a:xfrm>
            <a:off x="4589351" y="3910306"/>
            <a:ext cx="1495214" cy="126332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꺾인 연결선 45"/>
          <p:cNvCxnSpPr>
            <a:stCxn id="39" idx="3"/>
            <a:endCxn id="34" idx="1"/>
          </p:cNvCxnSpPr>
          <p:nvPr/>
        </p:nvCxnSpPr>
        <p:spPr>
          <a:xfrm flipV="1">
            <a:off x="4589351" y="3744913"/>
            <a:ext cx="1495214" cy="16539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꺾인 연결선 46"/>
          <p:cNvCxnSpPr>
            <a:stCxn id="39" idx="3"/>
            <a:endCxn id="35" idx="1"/>
          </p:cNvCxnSpPr>
          <p:nvPr/>
        </p:nvCxnSpPr>
        <p:spPr>
          <a:xfrm>
            <a:off x="4589351" y="3910306"/>
            <a:ext cx="1495214" cy="34114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40" idx="3"/>
            <a:endCxn id="37" idx="1"/>
          </p:cNvCxnSpPr>
          <p:nvPr/>
        </p:nvCxnSpPr>
        <p:spPr>
          <a:xfrm flipV="1">
            <a:off x="4589351" y="5706537"/>
            <a:ext cx="1495214" cy="2849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꺾인 연결선 48"/>
          <p:cNvCxnSpPr>
            <a:stCxn id="40" idx="3"/>
            <a:endCxn id="38" idx="1"/>
          </p:cNvCxnSpPr>
          <p:nvPr/>
        </p:nvCxnSpPr>
        <p:spPr>
          <a:xfrm>
            <a:off x="4589351" y="5991465"/>
            <a:ext cx="1495214" cy="22161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241</a:t>
            </a:fld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AA04365-4156-45F1-AD14-0349733CE80A}"/>
              </a:ext>
            </a:extLst>
          </p:cNvPr>
          <p:cNvSpPr/>
          <p:nvPr/>
        </p:nvSpPr>
        <p:spPr>
          <a:xfrm>
            <a:off x="6084565" y="4536380"/>
            <a:ext cx="4878710" cy="3799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분리출원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法 </a:t>
            </a:r>
            <a:r>
              <a:rPr lang="en-US" altLang="ko-KR" sz="1400" dirty="0">
                <a:solidFill>
                  <a:schemeClr val="tx1"/>
                </a:solidFill>
              </a:rPr>
              <a:t>52</a:t>
            </a:r>
            <a:r>
              <a:rPr lang="ko-KR" altLang="en-US" sz="1400" dirty="0">
                <a:solidFill>
                  <a:schemeClr val="tx1"/>
                </a:solidFill>
              </a:rPr>
              <a:t>의</a:t>
            </a:r>
            <a:r>
              <a:rPr lang="en-US" altLang="ko-KR" sz="1400" dirty="0">
                <a:solidFill>
                  <a:schemeClr val="tx1"/>
                </a:solidFill>
              </a:rPr>
              <a:t>2)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26" name="꺾인 연결선 44">
            <a:extLst>
              <a:ext uri="{FF2B5EF4-FFF2-40B4-BE49-F238E27FC236}">
                <a16:creationId xmlns:a16="http://schemas.microsoft.com/office/drawing/2014/main" id="{74522B3E-A8D1-4060-8AD9-4E13884E5E78}"/>
              </a:ext>
            </a:extLst>
          </p:cNvPr>
          <p:cNvCxnSpPr>
            <a:cxnSpLocks/>
            <a:stCxn id="39" idx="3"/>
            <a:endCxn id="25" idx="1"/>
          </p:cNvCxnSpPr>
          <p:nvPr/>
        </p:nvCxnSpPr>
        <p:spPr>
          <a:xfrm>
            <a:off x="4589351" y="3910306"/>
            <a:ext cx="1495214" cy="81602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967094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이익제도</a:t>
            </a:r>
            <a:r>
              <a:rPr lang="ko-KR" altLang="en-US" dirty="0"/>
              <a:t> 정리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121823"/>
              </p:ext>
            </p:extLst>
          </p:nvPr>
        </p:nvGraphicFramePr>
        <p:xfrm>
          <a:off x="114299" y="1009047"/>
          <a:ext cx="11915776" cy="5728212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480391">
                  <a:extLst>
                    <a:ext uri="{9D8B030D-6E8A-4147-A177-3AD203B41FA5}">
                      <a16:colId xmlns:a16="http://schemas.microsoft.com/office/drawing/2014/main" val="1214876107"/>
                    </a:ext>
                  </a:extLst>
                </a:gridCol>
                <a:gridCol w="409533">
                  <a:extLst>
                    <a:ext uri="{9D8B030D-6E8A-4147-A177-3AD203B41FA5}">
                      <a16:colId xmlns:a16="http://schemas.microsoft.com/office/drawing/2014/main" val="503493295"/>
                    </a:ext>
                  </a:extLst>
                </a:gridCol>
                <a:gridCol w="1960030">
                  <a:extLst>
                    <a:ext uri="{9D8B030D-6E8A-4147-A177-3AD203B41FA5}">
                      <a16:colId xmlns:a16="http://schemas.microsoft.com/office/drawing/2014/main" val="1247649556"/>
                    </a:ext>
                  </a:extLst>
                </a:gridCol>
                <a:gridCol w="2355089">
                  <a:extLst>
                    <a:ext uri="{9D8B030D-6E8A-4147-A177-3AD203B41FA5}">
                      <a16:colId xmlns:a16="http://schemas.microsoft.com/office/drawing/2014/main" val="2529376712"/>
                    </a:ext>
                  </a:extLst>
                </a:gridCol>
                <a:gridCol w="2236911">
                  <a:extLst>
                    <a:ext uri="{9D8B030D-6E8A-4147-A177-3AD203B41FA5}">
                      <a16:colId xmlns:a16="http://schemas.microsoft.com/office/drawing/2014/main" val="2874547347"/>
                    </a:ext>
                  </a:extLst>
                </a:gridCol>
                <a:gridCol w="2236911">
                  <a:extLst>
                    <a:ext uri="{9D8B030D-6E8A-4147-A177-3AD203B41FA5}">
                      <a16:colId xmlns:a16="http://schemas.microsoft.com/office/drawing/2014/main" val="3069846259"/>
                    </a:ext>
                  </a:extLst>
                </a:gridCol>
                <a:gridCol w="2236911">
                  <a:extLst>
                    <a:ext uri="{9D8B030D-6E8A-4147-A177-3AD203B41FA5}">
                      <a16:colId xmlns:a16="http://schemas.microsoft.com/office/drawing/2014/main" val="1461646051"/>
                    </a:ext>
                  </a:extLst>
                </a:gridCol>
              </a:tblGrid>
              <a:tr h="107211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제 도　</a:t>
                      </a:r>
                    </a:p>
                  </a:txBody>
                  <a:tcPr marL="45699" marR="45699" marT="18000" marB="18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34, 35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47, 51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54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55, 56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93220"/>
                  </a:ext>
                </a:extLst>
              </a:tr>
              <a:tr h="446897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요건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주체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특허를 받을 수 있는 권리를 가진 자의 발명이 공지가 되었을 것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무권리자의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출원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공동출원의 경우 각자</a:t>
                      </a:r>
                    </a:p>
                    <a:p>
                      <a:pPr marL="72390" marR="0" indent="-723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임의대리인은 특별히 권한 위임 不要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대한민국 국민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조약당사국 국민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준당사국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국민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특허를 받을 수 있는 권리를 가지고 있다면 출원인의 동일성 불필요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승계인은 우선권 별도로 승계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특허를 받을 수 있는 권리를 가지고 있다면 출원인의 동일성 불필요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임의대리인은 특별히 권한 위임 要</a:t>
                      </a: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292602096"/>
                  </a:ext>
                </a:extLst>
              </a:tr>
              <a:tr h="7016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객체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공지가 법 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 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항 각호에 해당</a:t>
                      </a:r>
                    </a:p>
                    <a:p>
                      <a:pPr marL="124460" marR="0" indent="-1244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①의사에 의한 공지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출원공개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등록공고제외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②의사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1. 2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에 반한 공지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정ㆍ명ㆍ도가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무ㆍ최ㆍ명ㆍ도에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 기재된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범위이내일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 것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72390" marR="0" indent="-723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법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①본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,Ⅰ-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신규사항추가금지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법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en-US" altLang="ko-KR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ⅡⅢ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20650" marR="0" indent="-12065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①신규사항추가금지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20650" marR="0" indent="-12065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청구범위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보정범위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제한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③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7950" marR="0" indent="-10795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③보정에 의하여 새로운 거절이유 발생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선출원의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요건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최선성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②정규성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③형식제한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×-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디자인○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우선권출원의 요건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후ㆍ청구범위가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선ㆍ최ㆍ명ㆍ도에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 기재된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범위이내일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 것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선출원의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요건</a:t>
                      </a:r>
                    </a:p>
                    <a:p>
                      <a:pPr marL="124460" marR="0" indent="-1244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후출원당시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선출원이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출원계속중일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것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24460" marR="0" indent="-1244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분할ㆍ분리ㆍ변경출원이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아닐 것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③형식 제한 ○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디자인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우선권출원의 요건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후ㆍ청구범위가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선ㆍ최ㆍ명ㆍ도에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 기재된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범위이내일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 것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328944606"/>
                  </a:ext>
                </a:extLst>
              </a:tr>
              <a:tr h="4468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시기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최선의 공지일로부터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월 이내 출원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특허를 받지 못한 경우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34)-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무권리자의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출원후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거절결정이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확정된 날로부터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일이내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착오로 특허를 받은 경우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35)-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무권리자의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출원후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무효심결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확정일로부터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일이내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원칙→특허결정등본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송달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받기전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예외</a:t>
                      </a:r>
                    </a:p>
                    <a:p>
                      <a:pPr marL="120650" marR="0" indent="-12065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최초거절이유통지받은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경우 의견서제출기간 </a:t>
                      </a:r>
                    </a:p>
                    <a:p>
                      <a:pPr marL="124460" marR="0" indent="-1244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최후거절이유통지받은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경우 의견서제출기간 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③재심사를 청구할 때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동종우선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 출원일로부터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년이내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이종우선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 출원일로부터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개월이내 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선출원의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출원일로부터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년이내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1402780529"/>
                  </a:ext>
                </a:extLst>
              </a:tr>
              <a:tr h="446897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절차</a:t>
                      </a:r>
                    </a:p>
                  </a:txBody>
                  <a:tcPr marL="45699" marR="45699" marT="18000" marB="1800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법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Ⅰ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의 경우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출원서에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취지 기재하고 출원일로부터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 이내 증명서류 제출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다만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보완수수료를 납부한 경우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보정기간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또는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특허결정등본송달일로부터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개월이나 설정등록일까지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정당한 권리자임을 증명하는 서류 첨부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보정서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제출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수수료 납부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최초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최후거절이유통지에 대응한 의견서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제출기간에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보정을 하는 경우에는 각각의 보정절차에서 마지막 보정 전에 한 모든 보정은 취하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출원과 동시에 취지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출원국가명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출원연월일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기재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54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③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우선권주장의 보정 또는 추가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54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⑦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우선권증명서류를 최우선일로부터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월이내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제출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54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④⑤⑥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출원과 동시에 취지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선출원의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표시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55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우선권주장의 보정 또는 추가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55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⑦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)-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,1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월 지난 후에는 우선권주장의 취하 不可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증명서류제출 불요</a:t>
                      </a: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4081333889"/>
                  </a:ext>
                </a:extLst>
              </a:tr>
              <a:tr h="531818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효과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적법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공지 등이 되지 아니한 것으로 간주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무권리자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출원일로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소급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등록지연에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따른 특허권의 존속기간의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연장시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특허출원일의 기산일은 불소급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심사청구기간의 특례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무권리자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출원일로부터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 지난 경우 정당한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권리자출원일로부터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일이내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소급효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판단시점의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소급효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심공존재등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확대된 선출원의 적용은 국내우선권주장출원과 동일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판단시점의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소급효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심공존재등이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확대된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선출원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우선권주장의 취하금지 및 간주</a:t>
                      </a: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1943930367"/>
                  </a:ext>
                </a:extLst>
              </a:tr>
              <a:tr h="3619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부적법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공지예외적용주장의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무효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출원은 공지기술에 의하여 신규성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진보성 판단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72390" marR="0" indent="-723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소급효 불인정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무권리자의 출원에 의하여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거절결정되지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않음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2390" marR="0" indent="-723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청구범위제출유예기간 지난 경우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불수리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기간경과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불수리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법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①본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,Ⅰ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시기 범위 위반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거절이유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법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en-US" altLang="ko-KR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ⅡⅢ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시기 범위 위반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보정각하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예외 존재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우선권주장의 무효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출원은 실제출원일을 기준으로 판단</a:t>
                      </a:r>
                    </a:p>
                  </a:txBody>
                  <a:tcPr marL="45699" marR="45699" marT="18000" marB="1800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122286"/>
                  </a:ext>
                </a:extLst>
              </a:tr>
              <a:tr h="19213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협의제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회피</a:t>
                      </a:r>
                    </a:p>
                  </a:txBody>
                  <a:tcPr marL="45699" marR="45699" marT="18000" marB="1800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무권리자 출원의 선출원 지위 불인정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선출원이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외국출원이므로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협의제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회피 不要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선출원일로부터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월 지난 후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선출원의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취하간주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예외 존재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/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선출원등록불가</a:t>
                      </a: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1802766043"/>
                  </a:ext>
                </a:extLst>
              </a:tr>
              <a:tr h="19213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외국어 출원</a:t>
                      </a:r>
                    </a:p>
                  </a:txBody>
                  <a:tcPr marL="45699" marR="45699" marT="18000" marB="1800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307029644"/>
                  </a:ext>
                </a:extLst>
              </a:tr>
              <a:tr h="277054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특례</a:t>
                      </a:r>
                    </a:p>
                  </a:txBody>
                  <a:tcPr marL="45699" marR="45699" marT="18000" marB="1800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기준일 지난 후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 이내 취지 및 증명서류 제출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74930" marR="0" indent="-7493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시기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수수료납부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번역문제출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기준일 후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범위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원문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&amp;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번역문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오역정정이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있는 정정된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국어번역문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또는 도면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설명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PCT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(1),(2)(a)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를 적용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199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PCT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(1),(2)(b)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를 적용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55, 56, 202)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2280016456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26289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이익제도</a:t>
            </a:r>
            <a:r>
              <a:rPr lang="ko-KR" altLang="en-US" dirty="0"/>
              <a:t> 정리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51289"/>
              </p:ext>
            </p:extLst>
          </p:nvPr>
        </p:nvGraphicFramePr>
        <p:xfrm>
          <a:off x="114299" y="997294"/>
          <a:ext cx="11830051" cy="581724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83634">
                  <a:extLst>
                    <a:ext uri="{9D8B030D-6E8A-4147-A177-3AD203B41FA5}">
                      <a16:colId xmlns:a16="http://schemas.microsoft.com/office/drawing/2014/main" val="1214876107"/>
                    </a:ext>
                  </a:extLst>
                </a:gridCol>
                <a:gridCol w="476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4009">
                  <a:extLst>
                    <a:ext uri="{9D8B030D-6E8A-4147-A177-3AD203B41FA5}">
                      <a16:colId xmlns:a16="http://schemas.microsoft.com/office/drawing/2014/main" val="4263834630"/>
                    </a:ext>
                  </a:extLst>
                </a:gridCol>
                <a:gridCol w="3876675">
                  <a:extLst>
                    <a:ext uri="{9D8B030D-6E8A-4147-A177-3AD203B41FA5}">
                      <a16:colId xmlns:a16="http://schemas.microsoft.com/office/drawing/2014/main" val="3506241478"/>
                    </a:ext>
                  </a:extLst>
                </a:gridCol>
                <a:gridCol w="3629025">
                  <a:extLst>
                    <a:ext uri="{9D8B030D-6E8A-4147-A177-3AD203B41FA5}">
                      <a16:colId xmlns:a16="http://schemas.microsoft.com/office/drawing/2014/main" val="1529689091"/>
                    </a:ext>
                  </a:extLst>
                </a:gridCol>
              </a:tblGrid>
              <a:tr h="8034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　제 도</a:t>
                      </a:r>
                    </a:p>
                  </a:txBody>
                  <a:tcPr marL="45699" marR="45699" marT="18000" marB="18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52</a:t>
                      </a:r>
                      <a:endParaRPr lang="ko-KR" altLang="en-US" sz="900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00" kern="120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52</a:t>
                      </a:r>
                      <a:r>
                        <a:rPr lang="ko-KR" altLang="en-US" sz="900" kern="120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의</a:t>
                      </a:r>
                      <a:r>
                        <a:rPr lang="en-US" altLang="ko-KR" sz="900" kern="120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marL="45699" marR="45699" marT="18000" marB="18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00" kern="120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53</a:t>
                      </a:r>
                      <a:endParaRPr lang="ko-KR" altLang="en-US" sz="900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93220"/>
                  </a:ext>
                </a:extLst>
              </a:tr>
              <a:tr h="143977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요건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주체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분할출원당시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원출원인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또는 그 승계인과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분할출원인이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동일인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분리출원당시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원출원인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또는 그 승계인과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분리출원인이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동일인</a:t>
                      </a:r>
                      <a:endParaRPr lang="ko-KR" altLang="en-US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변경출원당시 원출원인 또는 그 승계인과 변경출원인이 동일인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임의대리인은 특별수권 要</a:t>
                      </a:r>
                      <a:endParaRPr lang="ko-KR" altLang="en-US" sz="900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292602096"/>
                  </a:ext>
                </a:extLst>
              </a:tr>
              <a:tr h="7803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객체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원출원의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요건</a:t>
                      </a:r>
                    </a:p>
                    <a:p>
                      <a:pPr marL="80010" marR="0" indent="-8001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분할출원당시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지식재산처에 적법하게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계속중</a:t>
                      </a:r>
                      <a:endParaRPr lang="en-US" altLang="ko-KR" sz="900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0010" marR="0" indent="-8001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②분리출원이 아닐 것</a:t>
                      </a:r>
                    </a:p>
                    <a:p>
                      <a:pPr marL="80010" marR="0" lvl="0" indent="-8001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③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원출원의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최ㆍ명ㆍ도에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이상의 발명 포함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분할출원의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요건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분ㆍ명ㆍ도가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원ㆍ최ㆍ명ㆍ도에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기재된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범위이내일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것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원출원의 요건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분리출원당시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지식재산처에 적법하게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계속중</a:t>
                      </a:r>
                      <a:endParaRPr lang="en-US" altLang="ko-KR" sz="900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②분리출원이 아닐 것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분리출원의 요건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분ㆍ명ㆍ도가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원ㆍ최ㆍ명ㆍ도에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기재된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범위이내일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것</a:t>
                      </a:r>
                      <a:endParaRPr lang="en-US" altLang="ko-KR" sz="900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②분리출원의 경우 청구범위에 기재된 청구항이 다음의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ⅰ)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내지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ⅳ)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어느 하나에 해당할 것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ⅰ)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특허거절결정에서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거절되지 아니한 청구항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, ⅱ)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거절된 청구항에서 그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특허거절결정의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기초가 된 선택적 기재사항을 삭제한 청구항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, ⅲ) ⅰ)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또는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ⅱ)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에 따른 청구항을 제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47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항 각 호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같은 항 제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호는 제외한다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의 어느 하나에 해당하도록 적은 청구항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, ⅳ) ⅰ)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부터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ⅲ)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까지 중 어느 하나의 청구항에서 원출원의 최초 명세서 또는 도면에 기재된 사항의 범위를 벗어난 부분을 삭제한 청구항</a:t>
                      </a:r>
                      <a:endParaRPr lang="ko-KR" altLang="en-US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원출원의 요건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변경출원당시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지식재산처에 적법하게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계속중</a:t>
                      </a:r>
                      <a:endParaRPr lang="en-US" altLang="ko-KR" sz="900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②분리출원이 아닐 것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변경출원의 요건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변ㆍ명ㆍ도가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원ㆍ최ㆍ명ㆍ도에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기재된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범위이내일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것</a:t>
                      </a: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328944606"/>
                  </a:ext>
                </a:extLst>
              </a:tr>
              <a:tr h="3348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시기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법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47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①에 의하여 보정할 수 있는 기간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거절결정등본을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송달받은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날부터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개월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연장된 경우에는 연장된 기간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이내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3.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특허결정등본을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송달받은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날부터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개월 기간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다만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설정등록을 받으려는 날이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개월보다 짧은 경우에는 그 날까지의 기간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거절결정불복심판청구가 기각된 경우 그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심결의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등본을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송달받은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날부터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186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항에 따라 심판장이 부가기간을 정한 경우에는 그 기간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실용신안등록출원후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최초의 거절결정등본을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송달받은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날부터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개월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연장된 경우에는 연장된 기간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1402780529"/>
                  </a:ext>
                </a:extLst>
              </a:tr>
              <a:tr h="80340">
                <a:tc rowSpan="2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절차</a:t>
                      </a:r>
                    </a:p>
                  </a:txBody>
                  <a:tcPr marL="45699" marR="45699" marT="18000" marB="18000" anchor="ctr"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그 취지 및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원출원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표시를 한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분할ㆍ분리ㆍ변경출원서와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명세서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필요한 도면 및 요약서 제출</a:t>
                      </a:r>
                    </a:p>
                  </a:txBody>
                  <a:tcPr marL="45699" marR="45699" marT="18000" marB="1800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4081333889"/>
                  </a:ext>
                </a:extLst>
              </a:tr>
              <a:tr h="14397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원출원이 우선권을 주장한 특허출원인 경우에는 자동 주장 간주하며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원출원에 대하여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조약우선권주장증명서류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제출기간 내 증명서류 제출이 있는 자동 제출간주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이 경우 우선권주장의 보정 또는 추가기간이 지난 후에도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분할ㆍ분리출원을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한 날부터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일 이내 우선권 주장의 전부 또는 일부 취하가능</a:t>
                      </a:r>
                    </a:p>
                  </a:txBody>
                  <a:tcPr marL="45699" marR="45699" marT="18000" marB="18000" anchor="ctr"/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변경출원과 동시에 우선권주장을 하고 증명서류를 별도로 제출</a:t>
                      </a: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3244362237"/>
                  </a:ext>
                </a:extLst>
              </a:tr>
              <a:tr h="271251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효과</a:t>
                      </a:r>
                    </a:p>
                  </a:txBody>
                  <a:tcPr marL="45699" marR="45699" marT="18000" marB="18000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적법</a:t>
                      </a:r>
                    </a:p>
                  </a:txBody>
                  <a:tcPr marL="45699" marR="45699" marT="18000" marB="18000" anchor="ctr"/>
                </a:tc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출원일의 소급효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확공조국등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원출원과의 독립성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9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단 심사순서는 지식재산처장이 정하는 바에 의함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원출원이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우선권주장하지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않은 경우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분할ㆍ분리ㆍ변경출원도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불가</a:t>
                      </a:r>
                      <a:endParaRPr lang="en-US" altLang="ko-KR" sz="900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심사청구기간의 특례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원출원일로부터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년 지난 후라도 분할출원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분리출원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변경출원일로부터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일 이내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4.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국내우선권주장출원과의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관계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분할출원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분리출원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변경출원은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국내우선권주장출원의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선출원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불가</a:t>
                      </a:r>
                    </a:p>
                  </a:txBody>
                  <a:tcPr marL="45699" marR="45699" marT="18000" marB="1800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1943930367"/>
                  </a:ext>
                </a:extLst>
              </a:tr>
              <a:tr h="2712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5.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분할출원이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조약우선권주장을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수반하는 경우에는 최우선일로부터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개월의 기간이 지난 후에도 분할출원을 한 날부터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개월 이내에 지식재산처장에게 증명서류 제출</a:t>
                      </a:r>
                      <a:endParaRPr lang="en-US" altLang="ko-KR" sz="900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6.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청구범위제출유예기간이 지난 후라도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분할출원일로부터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일 이내 제출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rgbClr val="FF0000"/>
                          </a:solidFill>
                        </a:rPr>
                        <a:t>5. </a:t>
                      </a:r>
                      <a:r>
                        <a:rPr lang="ko-KR" altLang="en-US" sz="900" dirty="0" err="1">
                          <a:solidFill>
                            <a:srgbClr val="FF0000"/>
                          </a:solidFill>
                        </a:rPr>
                        <a:t>우선권증명서류제출기간의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</a:rPr>
                        <a:t> 특례 불비</a:t>
                      </a:r>
                      <a:endParaRPr lang="en-US" altLang="ko-KR" sz="900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r>
                        <a:rPr lang="en-US" altLang="ko-KR" sz="90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6. </a:t>
                      </a:r>
                      <a:r>
                        <a:rPr lang="ko-KR" altLang="en-US" sz="9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청구범위제출유예제도</a:t>
                      </a:r>
                      <a:r>
                        <a:rPr lang="ko-KR" altLang="en-US" sz="90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 이용 불가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5.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변경출원이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조약우선권주장을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수반하는 경우에는 최우선일로부터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개월의 기간이 지난 후에도 변경출원을 한 날부터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개월 이내에 지식재산처장에게 증명서류 제출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6.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청구범위제출유예기간이 지난 후라도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변경출원일로부터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일 이내 제출</a:t>
                      </a: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2331099691"/>
                  </a:ext>
                </a:extLst>
              </a:tr>
              <a:tr h="1439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부적법</a:t>
                      </a:r>
                      <a:endParaRPr lang="ko-KR" altLang="en-US" sz="900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일반요건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불만족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불수리</a:t>
                      </a:r>
                      <a:endParaRPr lang="ko-KR" altLang="en-US" sz="900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명도가 원출원의 최명도에 기재된 범위 이내일 것 위반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거절이유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정보제공사유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무효사유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 (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분리출원의 경우 청구범위의 요건을 만족하지 않은 경우 거절이유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정보제공사유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4267122286"/>
                  </a:ext>
                </a:extLst>
              </a:tr>
              <a:tr h="8034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협의제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회피</a:t>
                      </a:r>
                    </a:p>
                  </a:txBody>
                  <a:tcPr marL="45699" marR="45699" marT="18000" marB="1800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원출원과 청구범위가 동일한 경우 회피 필요</a:t>
                      </a:r>
                    </a:p>
                  </a:txBody>
                  <a:tcPr marL="45699" marR="45699" marT="18000" marB="18000" anchor="ctr"/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변경출원시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원출원의 취하간주</a:t>
                      </a:r>
                      <a:endParaRPr lang="ko-KR" altLang="en-US" dirty="0"/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변경출원과 동시에 원출원의 취하간주</a:t>
                      </a: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1802766043"/>
                  </a:ext>
                </a:extLst>
              </a:tr>
              <a:tr h="127394">
                <a:tc rowSpan="2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외국어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출원</a:t>
                      </a:r>
                    </a:p>
                  </a:txBody>
                  <a:tcPr marL="45699" marR="45699" marT="18000" marB="18000" anchor="ctr"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69850" marR="0" indent="-6985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원출원이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외국어출원인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경우에는 국어번역문이 제출된 경우에만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분할ㆍ변경출원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가능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분리출원도 마찬가지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 hMerge="1">
                  <a:txBody>
                    <a:bodyPr/>
                    <a:lstStyle/>
                    <a:p>
                      <a:pPr marL="71120" marR="0" indent="-711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 hMerge="1">
                  <a:txBody>
                    <a:bodyPr/>
                    <a:lstStyle/>
                    <a:p>
                      <a:pPr marL="69850" marR="0" indent="-6985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원출원이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외국어출원인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경우에는 국어번역문이 제출된 경우에만 변경출원 가능</a:t>
                      </a: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307029644"/>
                  </a:ext>
                </a:extLst>
              </a:tr>
              <a:tr h="207614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120" marR="0" lvl="0" indent="-7112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분할출원이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외국어출원인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경우에는 국어번역문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제출기간이 지난 후라도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분할출원일로부터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일 이내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다만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보정하거나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출원인이 심사청구한 경우 새로운 국어번역문 제출 불가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71120" marR="0" lvl="0" indent="-7112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분리출원은 외국어 출원 불가 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71120" marR="0" lvl="0" indent="-7112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변경출원이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외국어출원인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경우에는 국어번역문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제출기간이 지난 후라도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변경출원일로부터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일 이내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다만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보정하거나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출원인이 심사청구한 경우 새로운 국어번역문 제출 불가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3342575972"/>
                  </a:ext>
                </a:extLst>
              </a:tr>
              <a:tr h="8034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특례</a:t>
                      </a:r>
                    </a:p>
                  </a:txBody>
                  <a:tcPr marL="45699" marR="45699" marT="18000" marB="1800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수수료 납부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번역문 제출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기준일 지난 후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수수료 납부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번역문 제출 후</a:t>
                      </a: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2280016456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285115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3249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Frutiger LT 75 Black"/>
        <a:ea typeface="Rix모던고딕 EB"/>
        <a:cs typeface=""/>
      </a:majorFont>
      <a:minorFont>
        <a:latin typeface="Frutiger LT 65 Bold"/>
        <a:ea typeface="Rix모던고딕 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bg1">
              <a:lumMod val="50000"/>
            </a:schemeClr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Frutiger LT 75 Black"/>
        <a:ea typeface="Rix모던고딕 EB"/>
        <a:cs typeface=""/>
      </a:majorFont>
      <a:minorFont>
        <a:latin typeface="Frutiger LT 65 Bold"/>
        <a:ea typeface="Rix모던고딕 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bg1">
              <a:lumMod val="50000"/>
            </a:schemeClr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9198</TotalTime>
  <Words>27118</Words>
  <Application>Microsoft Office PowerPoint</Application>
  <PresentationFormat>와이드스크린</PresentationFormat>
  <Paragraphs>3822</Paragraphs>
  <Slides>100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100</vt:i4>
      </vt:variant>
    </vt:vector>
  </HeadingPairs>
  <TitlesOfParts>
    <vt:vector size="116" baseType="lpstr">
      <vt:lpstr>Frutiger LT 75 Black</vt:lpstr>
      <vt:lpstr>Rix모던명조 B</vt:lpstr>
      <vt:lpstr>맑은 고딕</vt:lpstr>
      <vt:lpstr>Rix모던고딕 EB</vt:lpstr>
      <vt:lpstr>Rix커피향 M</vt:lpstr>
      <vt:lpstr>Frutiger LT 65 Bold</vt:lpstr>
      <vt:lpstr>Rix모던명조 L</vt:lpstr>
      <vt:lpstr>Arial</vt:lpstr>
      <vt:lpstr>Wingdings</vt:lpstr>
      <vt:lpstr>Rix모던고딕 L</vt:lpstr>
      <vt:lpstr>산돌신문제비 L</vt:lpstr>
      <vt:lpstr>Rix모던고딕 B</vt:lpstr>
      <vt:lpstr>Rix모던고딕 M</vt:lpstr>
      <vt:lpstr>함초롬바탕</vt:lpstr>
      <vt:lpstr>Office 테마</vt:lpstr>
      <vt:lpstr>1_Office 테마</vt:lpstr>
      <vt:lpstr>PowerPoint 프레젠테이션</vt:lpstr>
      <vt:lpstr>PowerPoint 프레젠테이션</vt:lpstr>
      <vt:lpstr>참고노트</vt:lpstr>
      <vt:lpstr>참고노트</vt:lpstr>
      <vt:lpstr>제30조</vt:lpstr>
      <vt:lpstr>제30조</vt:lpstr>
      <vt:lpstr>제30조</vt:lpstr>
      <vt:lpstr>제30조</vt:lpstr>
      <vt:lpstr>제30조</vt:lpstr>
      <vt:lpstr>참고노트</vt:lpstr>
      <vt:lpstr>제34조, 제35조</vt:lpstr>
      <vt:lpstr>제34조, 제35조</vt:lpstr>
      <vt:lpstr>제34조, 제35조</vt:lpstr>
      <vt:lpstr>제34조, 제35조</vt:lpstr>
      <vt:lpstr>제104조</vt:lpstr>
      <vt:lpstr>제34조, 제35조</vt:lpstr>
      <vt:lpstr>제34조, 제35조</vt:lpstr>
      <vt:lpstr>제99조의2</vt:lpstr>
      <vt:lpstr>제103조의2</vt:lpstr>
      <vt:lpstr>제35조, 제99조</vt:lpstr>
      <vt:lpstr>제47조, 제51조</vt:lpstr>
      <vt:lpstr>제47조, 제51조</vt:lpstr>
      <vt:lpstr>제47조, 제51조</vt:lpstr>
      <vt:lpstr>제47조, 제51조</vt:lpstr>
      <vt:lpstr>제47조, 제51조</vt:lpstr>
      <vt:lpstr>제47조, 제51조</vt:lpstr>
      <vt:lpstr>제47조, 제51조</vt:lpstr>
      <vt:lpstr>제47조, 제51조</vt:lpstr>
      <vt:lpstr>제47조, 제51조</vt:lpstr>
      <vt:lpstr>제47조, 제51조</vt:lpstr>
      <vt:lpstr>제47조, 제51조</vt:lpstr>
      <vt:lpstr>제47조, 제51조</vt:lpstr>
      <vt:lpstr>제47조, 제51조</vt:lpstr>
      <vt:lpstr>제47조, 제51조</vt:lpstr>
      <vt:lpstr>제47조, 제51조</vt:lpstr>
      <vt:lpstr>제47조, 제51조</vt:lpstr>
      <vt:lpstr>제47조, 제51조</vt:lpstr>
      <vt:lpstr>제47조, 제51조</vt:lpstr>
      <vt:lpstr>제47조, 제51조</vt:lpstr>
      <vt:lpstr>제47조, 제51조</vt:lpstr>
      <vt:lpstr>제47조, 제51조</vt:lpstr>
      <vt:lpstr>제42조의3</vt:lpstr>
      <vt:lpstr>제42조의3</vt:lpstr>
      <vt:lpstr>제42조의3, 제47조</vt:lpstr>
      <vt:lpstr>제42조의3, 제47조</vt:lpstr>
      <vt:lpstr>제52조</vt:lpstr>
      <vt:lpstr>제52조</vt:lpstr>
      <vt:lpstr>제52조</vt:lpstr>
      <vt:lpstr>제52조</vt:lpstr>
      <vt:lpstr>제52조</vt:lpstr>
      <vt:lpstr>제52조</vt:lpstr>
      <vt:lpstr>제52조</vt:lpstr>
      <vt:lpstr>제52조</vt:lpstr>
      <vt:lpstr>제52조</vt:lpstr>
      <vt:lpstr>제52조</vt:lpstr>
      <vt:lpstr>제52조</vt:lpstr>
      <vt:lpstr>제52조</vt:lpstr>
      <vt:lpstr>제52조, 제36조</vt:lpstr>
      <vt:lpstr>제52조, 제36조</vt:lpstr>
      <vt:lpstr>제52조의2</vt:lpstr>
      <vt:lpstr>제52조의2</vt:lpstr>
      <vt:lpstr>제52조, 제52조의2</vt:lpstr>
      <vt:lpstr>제53조</vt:lpstr>
      <vt:lpstr>제53조</vt:lpstr>
      <vt:lpstr>제53조</vt:lpstr>
      <vt:lpstr>제53조</vt:lpstr>
      <vt:lpstr>제52조, 제53조</vt:lpstr>
      <vt:lpstr>제52조-제53조</vt:lpstr>
      <vt:lpstr>제54조</vt:lpstr>
      <vt:lpstr>참고노트</vt:lpstr>
      <vt:lpstr>제54조</vt:lpstr>
      <vt:lpstr>제54조</vt:lpstr>
      <vt:lpstr>제54조</vt:lpstr>
      <vt:lpstr>제54조</vt:lpstr>
      <vt:lpstr>제54조</vt:lpstr>
      <vt:lpstr>제54조</vt:lpstr>
      <vt:lpstr>제54조</vt:lpstr>
      <vt:lpstr>제54조</vt:lpstr>
      <vt:lpstr>제54조</vt:lpstr>
      <vt:lpstr>제54조</vt:lpstr>
      <vt:lpstr>제54조</vt:lpstr>
      <vt:lpstr>제54조</vt:lpstr>
      <vt:lpstr>제55조, 제56조</vt:lpstr>
      <vt:lpstr>제55조, 제56조</vt:lpstr>
      <vt:lpstr>제55조</vt:lpstr>
      <vt:lpstr>제55조, 제56조</vt:lpstr>
      <vt:lpstr>제55조, 제56조</vt:lpstr>
      <vt:lpstr>제55조, 제56조</vt:lpstr>
      <vt:lpstr>제55조, 제56조</vt:lpstr>
      <vt:lpstr>제55조, 제56조</vt:lpstr>
      <vt:lpstr>제55조, 제56조</vt:lpstr>
      <vt:lpstr>제55조, 제56조</vt:lpstr>
      <vt:lpstr>제55조, 제56조</vt:lpstr>
      <vt:lpstr>제55조, 제56조</vt:lpstr>
      <vt:lpstr>제34조-제56조</vt:lpstr>
      <vt:lpstr>제52조-제56조</vt:lpstr>
      <vt:lpstr>참고노트</vt:lpstr>
      <vt:lpstr>참고노트</vt:lpstr>
      <vt:lpstr>참고노트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(주)INVENSTOR</dc:title>
  <dc:creator>Windows 사용자</dc:creator>
  <cp:lastModifiedBy>병웅 임</cp:lastModifiedBy>
  <cp:revision>441</cp:revision>
  <cp:lastPrinted>2018-02-11T06:03:07Z</cp:lastPrinted>
  <dcterms:created xsi:type="dcterms:W3CDTF">2016-02-25T00:12:49Z</dcterms:created>
  <dcterms:modified xsi:type="dcterms:W3CDTF">2026-05-20T05:28:27Z</dcterms:modified>
</cp:coreProperties>
</file>