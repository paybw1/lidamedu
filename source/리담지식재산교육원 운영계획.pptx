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840" r:id="rId2"/>
    <p:sldId id="915" r:id="rId3"/>
    <p:sldId id="924" r:id="rId4"/>
    <p:sldId id="933" r:id="rId5"/>
    <p:sldId id="925" r:id="rId6"/>
    <p:sldId id="926" r:id="rId7"/>
    <p:sldId id="928" r:id="rId8"/>
    <p:sldId id="931" r:id="rId9"/>
    <p:sldId id="921" r:id="rId10"/>
    <p:sldId id="950" r:id="rId11"/>
    <p:sldId id="932" r:id="rId12"/>
    <p:sldId id="983" r:id="rId13"/>
    <p:sldId id="961" r:id="rId14"/>
    <p:sldId id="963" r:id="rId15"/>
    <p:sldId id="937" r:id="rId16"/>
    <p:sldId id="953" r:id="rId17"/>
    <p:sldId id="972" r:id="rId18"/>
    <p:sldId id="973" r:id="rId19"/>
    <p:sldId id="935" r:id="rId20"/>
    <p:sldId id="951" r:id="rId21"/>
    <p:sldId id="962" r:id="rId22"/>
    <p:sldId id="964" r:id="rId23"/>
    <p:sldId id="936" r:id="rId24"/>
    <p:sldId id="952" r:id="rId25"/>
    <p:sldId id="920" r:id="rId26"/>
    <p:sldId id="949" r:id="rId27"/>
    <p:sldId id="974" r:id="rId28"/>
    <p:sldId id="975" r:id="rId29"/>
    <p:sldId id="956" r:id="rId30"/>
    <p:sldId id="957" r:id="rId31"/>
    <p:sldId id="960" r:id="rId32"/>
    <p:sldId id="958" r:id="rId33"/>
    <p:sldId id="959" r:id="rId34"/>
    <p:sldId id="965" r:id="rId35"/>
    <p:sldId id="966" r:id="rId36"/>
    <p:sldId id="967" r:id="rId37"/>
    <p:sldId id="968" r:id="rId38"/>
    <p:sldId id="969" r:id="rId39"/>
    <p:sldId id="970" r:id="rId40"/>
    <p:sldId id="971" r:id="rId41"/>
    <p:sldId id="976" r:id="rId42"/>
    <p:sldId id="977" r:id="rId43"/>
    <p:sldId id="978" r:id="rId44"/>
    <p:sldId id="260" r:id="rId45"/>
    <p:sldId id="954" r:id="rId46"/>
    <p:sldId id="938" r:id="rId47"/>
    <p:sldId id="955" r:id="rId48"/>
    <p:sldId id="980" r:id="rId49"/>
    <p:sldId id="981" r:id="rId50"/>
    <p:sldId id="979" r:id="rId51"/>
    <p:sldId id="982" r:id="rId52"/>
  </p:sldIdLst>
  <p:sldSz cx="12192000" cy="6858000"/>
  <p:notesSz cx="7104063" cy="10234613"/>
  <p:embeddedFontLst>
    <p:embeddedFont>
      <p:font typeface="Frutiger LT 65 Bold" panose="020B0800000000000000" pitchFamily="34" charset="0"/>
      <p:regular r:id="rId55"/>
    </p:embeddedFont>
    <p:embeddedFont>
      <p:font typeface="Frutiger LT 75 Black" panose="02000A03050000020004" pitchFamily="2" charset="0"/>
      <p:regular r:id="rId56"/>
    </p:embeddedFont>
    <p:embeddedFont>
      <p:font typeface="KoPubWorld돋움체 Bold" panose="00000800000000000000" pitchFamily="2" charset="-127"/>
      <p:bold r:id="rId57"/>
    </p:embeddedFont>
    <p:embeddedFont>
      <p:font typeface="Rix모던고딕 EB" panose="02020603020101020101" pitchFamily="18" charset="-127"/>
      <p:regular r:id="rId58"/>
    </p:embeddedFont>
    <p:embeddedFont>
      <p:font typeface="Rix모던고딕 M" panose="02020603020101020101" pitchFamily="18" charset="-127"/>
      <p:regular r:id="rId59"/>
    </p:embeddedFont>
    <p:embeddedFont>
      <p:font typeface="Rix모던명조 B" panose="02020603020101020101" pitchFamily="18" charset="-127"/>
      <p:regular r:id="rId60"/>
    </p:embeddedFont>
    <p:embeddedFont>
      <p:font typeface="맑은 고딕" panose="020B0503020000020004" pitchFamily="50" charset="-127"/>
      <p:regular r:id="rId61"/>
      <p:bold r:id="rId62"/>
    </p:embeddedFont>
    <p:embeddedFont>
      <p:font typeface="-윤명조320" panose="02030504000101010101" pitchFamily="18" charset="-127"/>
      <p:regular r:id="rId6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-400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62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1" tIns="47321" rIns="94641" bIns="473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4641" tIns="47321" rIns="94641" bIns="4732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404C-6FF0-D731-DBB5-8DB961A3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C0C5D08-5D95-B527-2F03-9A733E3043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A1610AB7-BD2C-48E1-C92C-B9296EA7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C2345DC9-0493-1661-EB9E-D60BBD491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42741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4D7C-3FEB-44FA-1810-C936D7A0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E9EA2D35-6521-0321-6C15-1207CA61FA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42C2F6B-93C1-69EB-A7E9-2301C7A17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DE50CBC-F116-7B61-EEF5-2EEF02444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38459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B71B-8B30-8E8E-AC19-A4137695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2F634A4-5F2B-2ED3-7421-431CBF6C05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7343401A-C07D-268E-0961-558C998F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0DA758A4-B403-6E4E-5C35-9AAA0E1C8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737796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3EF4-508C-471A-1DA9-6EB5CD08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A0F5E2A-F3D8-BC98-FF5A-D860832771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34365464-429F-0701-DB40-63B32CA7F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1ADEC7A-397F-E093-0A6F-431106D1C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997588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9541-91ED-0701-E576-E30C919F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946FCBE-85F7-1F2A-B980-C76DFF794A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2FEF2099-CC82-1530-24BF-A6F501A01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E1EB86E-4914-BA8E-79DE-EEF7E9B89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6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490937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D99B-F2D1-3404-FFAF-E257079E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BEFF2A2-0439-025B-AAB6-FB6C20FD5A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8C38EF1-6AEA-7BA4-E92E-2501E7FFF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F97C46C-3C07-FFD5-CB74-6B553EF77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20674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9F97-5429-5B2F-A5CD-D771C18E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36A8797F-138C-FCB6-7866-BB7D82565E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1A0A5F79-EB57-EDA3-CA58-D5B1A59F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FB906891-CD1B-178A-A8D4-030B75E2F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089650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9397-4620-4F9D-8396-2EDB667F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012C030-7D09-63DE-E700-504317FF1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915BECEB-03DF-F660-0868-98EA78552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5B0B91DC-09FC-C4ED-1008-E06C8A1DE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47153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EF0F-E590-6BC0-F8C1-1403E367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D3D709F-6A8A-2227-0DA6-63AD142168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BA1EF322-B794-62B3-0047-50F3E8C3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A5D5E15-0181-4794-6C3A-0039288BA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450543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6467-F116-653B-FE14-C6AFF69D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5D5A101D-0CFC-0B23-82CE-0D489B85D4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BECD01FE-0E2B-A356-599D-F6CA2500B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92C6CE3-D833-5A6B-FAE9-E6961AFFF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636476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2F39-0AD8-CE52-AE2B-3283277C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9B47ECCC-01CC-0E6E-4471-069DA21329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B182E44-2C68-3399-4C94-93DFF9CD6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D01253D-EBEB-3C9D-9633-C30DC77C7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180853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64D0-AFFD-FEEC-5EBC-0457BB37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E068AC1E-016C-C173-7782-CC5BCA37ED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E25C59D-B38C-461C-0CB1-5CEFA442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53444174-7ADA-E9F5-CA4E-3C133C505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14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256129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13A1-B6DD-D054-6C31-561BD014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DF8D627-9E0E-745A-992B-BD97674820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D998DA1C-2959-975A-DE11-C69FB2CBE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85239EC-AF08-521D-7283-74E06EFDC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50428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7EEE-43EE-D6D4-3043-C673001D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5E21071-813E-2D40-822B-C29A00B999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7D44D6D4-A44E-A005-8D37-30797040C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3BFEE027-94DB-A59E-AE3D-3E4668ED4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16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298875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F684-D6A4-C8FC-F278-433BDC49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8288A645-3A79-7945-705A-23B1736A5C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18E029C-8DF9-2F2A-884F-B7227D76E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30ABAD69-3663-AA4C-6C3D-3FD20C411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98027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83B4-9376-4466-9F98-70E737B0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DD89147-FD7E-6EE7-219F-89B38F97CD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E0F7D7A-D3E0-75FD-4D93-B0244C07E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B7ABF5D8-A23F-E42E-B0DA-85A440D5F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556761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32F5-A0E2-3A0C-943A-7158939F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73B5072-9196-F8B9-F225-21E8A245C6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D898BB0C-6061-7D14-B77E-72CEA639B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92BFA22B-5948-DCEA-2C3C-433772FB3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700398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DDB0-6A59-AB44-DAC3-512054A6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01E67DB7-030A-0F27-FF95-EEC96A12A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3A1F6AEC-5D92-A75B-67EE-DF2FA8488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0F0E2E4E-3AE8-24F5-312E-B2CC66701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934333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35F3-D319-D028-F99D-9E2FB7CE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90B3C22-78A0-8FD7-F23B-AF623D0917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850288BE-8021-D0EC-37C3-190AB221E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002D988-E7C3-D670-7772-D050C6606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487528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6281-9763-C502-A5A7-6196C42D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EC24EC30-F513-B386-1C31-3FA4AA124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A7582860-858E-C0D4-8DFA-817F74C4A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B877A55F-71C0-FD2E-135F-6F410BD25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655649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1B64-BD94-D384-3A1C-56E422AF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221396A0-E5AE-34D6-D5CD-0BEF02B85A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3A5D3D22-5951-8D0A-5B7F-A9B231BF1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FFA82569-0CC6-DAA1-46F6-2152FB921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093573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343C-462E-85BA-393B-CFC1FEDF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0D73BCC4-2F9C-9CC0-CE5F-86438DB100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468A4CD5-2C1D-A507-B162-BBC1D3730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4139A4E9-123B-59BF-F1F1-376383014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24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636184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0DBC-3937-A525-0B49-EBC8083B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F366C60-7E52-BA78-BFE4-51CB6182BB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8C5AAE2B-BCCA-A9F4-C371-B0E736F2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D7C6DED-DB76-6EF8-DA20-E468DD17E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861421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58385-C57F-749E-B5BB-0A2AEDF5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43D40DF-B27F-BC2A-607F-B70118689F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DD894B98-3E96-FDB5-0B4E-AD4A448A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FC1270B6-DA65-9FDF-334D-8855A980E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26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8779521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F9A3-C843-DD66-9777-EC438FD1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0326B07-CB54-CAA4-963D-7E03083AC7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4670A69C-D280-1606-CE20-A61A1A82C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9A85985-E038-F3E1-CCA5-E858781E4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7869808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2D72-8DC2-8049-7A0C-C62E9241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96981BDD-295E-EAC2-A98E-C5D0A55658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D885C9BA-6C4B-BD7D-CFFB-BB2EBEB84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9AAC223E-F1D3-C5A7-5B6F-8B64A2A72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755257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CAC3-8825-6318-6F96-2EBB00AF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49A55B7E-59B7-047A-86D3-72C3CB423C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127E80F-CF6C-96B1-9B57-7C1670EC9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350CA74-307B-5077-08D4-1346DDEC3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6506957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F104-8ECE-C170-EA7E-58D46210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DAA01E63-B8DB-DCB2-C245-D49B201E8E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654C346-8818-1BCA-0779-E0C55691C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DB468DA-3C13-0113-5ACD-D2687CDF6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995541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4E57-D14B-C662-A355-170503DF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006B16C0-27D1-6DAC-6255-E67EF03CB4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8BC44A9F-C838-38F8-647F-C2F8F191C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D9E19C7-7457-F620-0168-98B9D2A3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5630609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254C-52AD-CC6C-0466-EA14B93C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E5116F37-9691-10A7-06E2-9662D7428F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A8E8C39-0B6E-047D-22D2-2D89BC662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8ACBF520-29E3-1093-2A33-05CF66153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87381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FFD2-FF49-78C8-253A-D7854AAF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C082A390-AC0C-C780-44E7-4ADE240D22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4405AE5-CAE0-2666-591C-99BA49B7A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912F7AB8-5505-F57A-DF18-CB563911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767214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2A32-93BC-78BC-4EFE-F25014E2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5F5E97F-D220-1169-AB17-15CB3BF2EE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464884A-0047-FD5B-429D-B983FD287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560D8CD-C36A-1964-6C4A-7617F5F24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34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3209555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4A23-E249-EEA1-0534-8E7BEAFC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45934E4-BA6E-6382-6583-6BD43D498D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106EEB7A-CDCC-45EC-C536-47B670F21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25FB0C5-10AA-BB3E-9EF1-141981C46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807833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26FC-529B-0AC4-D32B-16A26A90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2A32772-760E-F067-C850-7FE467F810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27FE206-1165-FFAC-7B74-FCDEA8E4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031A3DC-FCA4-1A32-ACFD-B9DCA3739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36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045441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7E0E-E0C8-3124-7E18-867CE866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2EE2D08B-87B3-5DFB-FA3D-AD0F254319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32E7B99B-3402-D1F5-B9DF-03E0E7334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DE76778-BAE2-E36F-0158-2C39C992F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480265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136F-9FE9-CD9C-8F91-E9608C24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F374A97D-B496-4E55-F84D-B4AE372415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1F877AE-EC84-6E9C-5659-FD7515106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C5C1766-D933-AC9A-6BA4-DDA2F3583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0458480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873C-5A00-43B9-62EB-F3E2393E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943DCAA-3420-FF24-9ABE-E47AEB5F8E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9432D998-95B4-1A2C-FA1C-ADC9077F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188EF64D-AC34-8315-B378-5E2158571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39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171485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C5AB-8EE5-962A-7707-0CDCAE3D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D8AF7AAF-6B43-C29E-2D5F-44EDC5A701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8BCD780-FC04-714E-7732-2D1E8326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DECF271-9D0D-242C-8C20-6A87BA108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6878705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9730-73CD-34E8-2905-900FD069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120BF2E4-B9AC-A29D-5090-A95542CC13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E208F01-DA71-892B-BA36-87FB32457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6FAF5CF2-8F06-71ED-5FEC-DB8B44239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5958956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D247-312B-B6B5-E57B-FCAD9995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964F3EDD-3FD6-8109-07B2-0E8B71A3A4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0ACAE920-5EC9-52B1-92F4-30ED86DF9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41E33855-66E8-F554-251B-770A8EF0F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8226905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662C-63C0-3559-5F41-F3DC3854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AD74B9D-7C71-4EEE-F793-05F88B7E3D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AD0BF8AD-E2AC-BBEB-4922-6AA6C1DC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458A825B-CFC5-B50C-2EF2-26D46B0DD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43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6362408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1208-B9D1-AA7D-F8B6-5D7CD1C9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1AF7673-2EC5-2FF4-F493-71C886A031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8EDA729B-0894-E418-4B05-3047DF625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4B26525-A682-6DA1-FD77-0E9D2BF55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45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4147690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1FC6-95A8-EC93-EA9D-38FB5FE7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B6A401C9-9C4C-9842-6397-63204B66BB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76A09263-5077-09ED-3AAF-B6F4CCB6D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FAFD71EA-06E0-FD80-1BF0-3F05BA14E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47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517165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FE06-FE94-7E8D-87E3-BDD749E2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A5183C4-EFE8-2AB3-A045-98C6B0A3E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255ABEC3-DCFF-D5F0-02CF-47356ED4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CBD0F885-6158-593D-5215-7CE2AEF57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48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5914901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09E4-2EB9-986B-42D7-FD0C6838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A2BEBDC9-C072-8726-3550-9AABC1C551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7CA9D74D-3BDD-7966-62CF-25CF9E1D4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08F073A8-2FF1-9942-9628-070AAB9C8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49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39845307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C96E-5EC7-1A2D-E443-0CED9C72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08A5155A-CCEB-D54F-2243-4AD7BFC9A5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A6F1B835-9A6E-D303-9318-C64CE7DB6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760B8912-4FEC-45B6-0694-1304F23B9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50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890185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1D5E-ACEF-EB65-91C9-B9D81F05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FE2A5221-D0FE-9988-943E-FB8A8AB623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173D9632-3391-9A9C-867A-B5B38ED6D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EB75310B-0299-4F28-9A82-98C0CDD00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51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03426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666" y="1"/>
            <a:ext cx="11853333" cy="7112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  <a:latin typeface="Rix모던명조 B" pitchFamily="18" charset="-127"/>
                <a:ea typeface="Rix모던명조 B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F2DC9F7A-CE87-4F2F-B819-ED60230A6616}" type="datetime1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16733" y="0"/>
            <a:ext cx="1075267" cy="694267"/>
          </a:xfrm>
          <a:prstGeom prst="rect">
            <a:avLst/>
          </a:prstGeom>
        </p:spPr>
        <p:txBody>
          <a:bodyPr/>
          <a:lstStyle/>
          <a:p>
            <a:fld id="{F5C6BE04-1001-4903-9B58-AE34FA26E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8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6F580-FEA4-47E1-A244-F2F4053AD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B45946-CA02-090F-D72A-626EC8455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08E526-454C-07FB-BD77-1B5078B3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A0925-F88F-4C81-A167-7DBBB7CE7C5F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BD22C-3ECF-AF14-668C-060033DA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D3C638-E376-7211-62B3-B071F451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72224-13FA-4FB4-9242-71374825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23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2A7F7-198F-4CC5-81DA-04A92B1D0C9E}" type="datetime1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048871" y="1447147"/>
            <a:ext cx="10094258" cy="2310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리담지식재산교육원</a:t>
            </a:r>
            <a:r>
              <a:rPr lang="ko-KR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운영계획</a:t>
            </a:r>
            <a:endParaRPr lang="en-US" altLang="ko-KR" sz="3200" dirty="0">
              <a:solidFill>
                <a:schemeClr val="tx1">
                  <a:lumMod val="75000"/>
                  <a:lumOff val="25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/>
            <a:endParaRPr lang="en-US" altLang="ko-KR" sz="3200" dirty="0">
              <a:solidFill>
                <a:schemeClr val="bg1">
                  <a:lumMod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/>
            <a:endParaRPr lang="en-US" altLang="ko-KR" sz="3200" dirty="0">
              <a:solidFill>
                <a:schemeClr val="bg1">
                  <a:lumMod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8B3D4-AE89-6A67-9E7B-49BDC7EB25B1}"/>
              </a:ext>
            </a:extLst>
          </p:cNvPr>
          <p:cNvSpPr txBox="1"/>
          <p:nvPr/>
        </p:nvSpPr>
        <p:spPr>
          <a:xfrm>
            <a:off x="3048000" y="49745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93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4449-4A80-7C2D-E47E-4018AC1F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06110-0694-82B0-CCE1-29C9C74CB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변리사 시장</a:t>
            </a:r>
            <a:r>
              <a:rPr lang="en-US" altLang="ko-KR" dirty="0"/>
              <a:t>: </a:t>
            </a:r>
            <a:r>
              <a:rPr lang="ko-KR" altLang="en-US" dirty="0"/>
              <a:t>통계자료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225207-D41C-CB69-C0DB-E3FECC70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544B4F-6746-8180-76BD-66D06C5A5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49756"/>
              </p:ext>
            </p:extLst>
          </p:nvPr>
        </p:nvGraphicFramePr>
        <p:xfrm>
          <a:off x="508001" y="1044038"/>
          <a:ext cx="11164356" cy="548564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40484">
                  <a:extLst>
                    <a:ext uri="{9D8B030D-6E8A-4147-A177-3AD203B41FA5}">
                      <a16:colId xmlns:a16="http://schemas.microsoft.com/office/drawing/2014/main" val="2087032284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536318582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3988423657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3556607523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3796663348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508243746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3404327087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912926002"/>
                    </a:ext>
                  </a:extLst>
                </a:gridCol>
                <a:gridCol w="1240484">
                  <a:extLst>
                    <a:ext uri="{9D8B030D-6E8A-4147-A177-3AD203B41FA5}">
                      <a16:colId xmlns:a16="http://schemas.microsoft.com/office/drawing/2014/main" val="2631742914"/>
                    </a:ext>
                  </a:extLst>
                </a:gridCol>
              </a:tblGrid>
              <a:tr h="2123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구 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차 시험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차 시험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881031"/>
                  </a:ext>
                </a:extLst>
              </a:tr>
              <a:tr h="203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대상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응시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합격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합격률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대상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응시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합격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합격률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94004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2014</a:t>
                      </a:r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3,267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2,528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635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25.11%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1,280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1,148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216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18.81%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7930986"/>
                  </a:ext>
                </a:extLst>
              </a:tr>
              <a:tr h="4158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2015</a:t>
                      </a:r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3,186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2,814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646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22.96%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1,263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1,131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218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19.27%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8819569"/>
                  </a:ext>
                </a:extLst>
              </a:tr>
              <a:tr h="4158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2016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3,569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3,171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606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19.11%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1,251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1,155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211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18.27%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8201234"/>
                  </a:ext>
                </a:extLst>
              </a:tr>
              <a:tr h="4158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2017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3,816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3,462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651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18.80%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1,300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1,209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17.37%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4036738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2018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3,609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3,271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662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20.24%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1,254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1,170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17.69%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2852678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2019</a:t>
                      </a:r>
                      <a:r>
                        <a:rPr lang="ko-KR" altLang="en-US" sz="1200" b="0" u="none" strike="noStrike" dirty="0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3,232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2,908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614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21.11%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1,241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1,160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17.50%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3634787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2020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3,055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2,724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647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23.75%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1,209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1,157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18.15%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18002786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2021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3,380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2,305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613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20.20%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1,193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1,111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18.09%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88887064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3,713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3,349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602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17.97%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1,160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1,093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19.21%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7217673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3,640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3,312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665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20.07%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1,184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1,116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209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18.72%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27010366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2024</a:t>
                      </a:r>
                      <a:r>
                        <a:rPr lang="ko-KR" altLang="en-US" sz="1200" b="0" u="none" strike="noStrike">
                          <a:effectLst/>
                          <a:latin typeface="+mn-ea"/>
                          <a:ea typeface="+mn-ea"/>
                        </a:rPr>
                        <a:t>년도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3,465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3,071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607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19.76%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1,219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>
                          <a:effectLst/>
                          <a:latin typeface="+mn-ea"/>
                          <a:ea typeface="+mn-ea"/>
                        </a:rPr>
                        <a:t>1,149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effectLst/>
                          <a:latin typeface="+mn-ea"/>
                          <a:ea typeface="+mn-ea"/>
                        </a:rPr>
                        <a:t>200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17.40%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24226016"/>
                  </a:ext>
                </a:extLst>
              </a:tr>
              <a:tr h="4246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년도</a:t>
                      </a: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3,974</a:t>
                      </a: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3,541</a:t>
                      </a: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661</a:t>
                      </a: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18.66%</a:t>
                      </a: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1,204</a:t>
                      </a:r>
                    </a:p>
                  </a:txBody>
                  <a:tcPr marL="7607" marR="7607" marT="760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1,138</a:t>
                      </a: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</a:p>
                  </a:txBody>
                  <a:tcPr marL="7607" marR="7607" marT="7607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17.66%</a:t>
                      </a:r>
                    </a:p>
                  </a:txBody>
                  <a:tcPr marL="7607" marR="7607" marT="7607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49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57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C53D-59F3-6A56-96E1-259AE868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D12A3E-C77E-E1BA-6B36-8CC9CCD8AF1C}"/>
              </a:ext>
            </a:extLst>
          </p:cNvPr>
          <p:cNvSpPr/>
          <p:nvPr/>
        </p:nvSpPr>
        <p:spPr>
          <a:xfrm>
            <a:off x="57398" y="2564268"/>
            <a:ext cx="12096749" cy="1846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BE541A8-6F79-FABE-9DF7-DF879EAA4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변리사 시장</a:t>
            </a:r>
            <a:r>
              <a:rPr lang="en-US" altLang="ko-KR" dirty="0"/>
              <a:t>: </a:t>
            </a:r>
            <a:r>
              <a:rPr lang="ko-KR" altLang="en-US" dirty="0"/>
              <a:t>시장의 특색 및 니즈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200F44-91CB-9248-B8CA-FF164157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1CC3B0E-B78C-B947-DB7A-C6DD2D2B952A}"/>
              </a:ext>
            </a:extLst>
          </p:cNvPr>
          <p:cNvSpPr/>
          <p:nvPr/>
        </p:nvSpPr>
        <p:spPr>
          <a:xfrm>
            <a:off x="795867" y="1223185"/>
            <a:ext cx="1248730" cy="12055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시장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특색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D58B0-00A6-0EE0-5775-C814443C64E0}"/>
              </a:ext>
            </a:extLst>
          </p:cNvPr>
          <p:cNvSpPr txBox="1"/>
          <p:nvPr/>
        </p:nvSpPr>
        <p:spPr>
          <a:xfrm>
            <a:off x="2391134" y="1218205"/>
            <a:ext cx="7263857" cy="116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약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100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억 규모의 시장</a:t>
            </a:r>
            <a:r>
              <a:rPr lang="en-US" altLang="ko-KR" sz="1600" dirty="0">
                <a:latin typeface="Arial" panose="020B0604020202020204" pitchFamily="34" charset="0"/>
              </a:rPr>
              <a:t>: </a:t>
            </a:r>
            <a:r>
              <a:rPr lang="ko-KR" altLang="en-US" sz="1600" dirty="0">
                <a:latin typeface="Arial" panose="020B0604020202020204" pitchFamily="34" charset="0"/>
              </a:rPr>
              <a:t>대기업이 진출하기에 적절하지 않음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고학력 수험생</a:t>
            </a:r>
            <a:r>
              <a:rPr lang="en-US" altLang="ko-KR" sz="1600" dirty="0">
                <a:latin typeface="Arial" panose="020B0604020202020204" pitchFamily="34" charset="0"/>
              </a:rPr>
              <a:t>: </a:t>
            </a:r>
            <a:r>
              <a:rPr lang="ko-KR" altLang="en-US" sz="1600" dirty="0">
                <a:latin typeface="Arial" panose="020B0604020202020204" pitchFamily="34" charset="0"/>
              </a:rPr>
              <a:t>가격의 영향력이 상대적으로 약함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산재법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강사의 중요성</a:t>
            </a:r>
            <a:r>
              <a:rPr lang="en-US" altLang="ko-KR" sz="1600" dirty="0">
                <a:latin typeface="Arial" panose="020B0604020202020204" pitchFamily="34" charset="0"/>
              </a:rPr>
              <a:t>: </a:t>
            </a:r>
            <a:r>
              <a:rPr lang="ko-KR" altLang="en-US" sz="1600" dirty="0">
                <a:latin typeface="Arial" panose="020B0604020202020204" pitchFamily="34" charset="0"/>
              </a:rPr>
              <a:t>다른 시험의 강사로 대체 불가</a:t>
            </a:r>
            <a:endParaRPr lang="ko-KR" altLang="ko-KR" sz="1600" dirty="0">
              <a:latin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5690170-8A78-90EA-1625-986816A87243}"/>
              </a:ext>
            </a:extLst>
          </p:cNvPr>
          <p:cNvSpPr/>
          <p:nvPr/>
        </p:nvSpPr>
        <p:spPr>
          <a:xfrm>
            <a:off x="795867" y="2863728"/>
            <a:ext cx="1248730" cy="120553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강사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니즈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2E1A7-9792-44E0-8D81-045324464FB0}"/>
              </a:ext>
            </a:extLst>
          </p:cNvPr>
          <p:cNvSpPr txBox="1"/>
          <p:nvPr/>
        </p:nvSpPr>
        <p:spPr>
          <a:xfrm>
            <a:off x="2391134" y="2717051"/>
            <a:ext cx="7263857" cy="1531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" panose="020B0604020202020204" pitchFamily="34" charset="0"/>
              </a:rPr>
              <a:t>안정적인 강의와 수입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" panose="020B0604020202020204" pitchFamily="34" charset="0"/>
              </a:rPr>
              <a:t>학원의 지원을 통한 평판 향상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" panose="020B0604020202020204" pitchFamily="34" charset="0"/>
              </a:rPr>
              <a:t>다른 과목 강사와의 시너지 효과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28575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" panose="020B0604020202020204" pitchFamily="34" charset="0"/>
              </a:rPr>
              <a:t>강의 편의성</a:t>
            </a:r>
            <a:r>
              <a:rPr lang="en-US" altLang="ko-KR" sz="1600" dirty="0">
                <a:latin typeface="Arial" panose="020B0604020202020204" pitchFamily="34" charset="0"/>
              </a:rPr>
              <a:t>(</a:t>
            </a:r>
            <a:r>
              <a:rPr lang="ko-KR" altLang="en-US" sz="1600" dirty="0">
                <a:latin typeface="Arial" panose="020B0604020202020204" pitchFamily="34" charset="0"/>
              </a:rPr>
              <a:t>강의실 운영</a:t>
            </a:r>
            <a:r>
              <a:rPr lang="en-US" altLang="ko-KR" sz="1600" dirty="0"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</a:rPr>
              <a:t>컨텐츠 제작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</a:rPr>
              <a:t>등</a:t>
            </a:r>
            <a:r>
              <a:rPr lang="en-US" altLang="ko-KR" sz="1600" dirty="0">
                <a:latin typeface="Arial" panose="020B0604020202020204" pitchFamily="34" charset="0"/>
              </a:rPr>
              <a:t>) </a:t>
            </a:r>
            <a:r>
              <a:rPr lang="ko-KR" altLang="en-US" sz="1600" dirty="0">
                <a:latin typeface="Arial" panose="020B0604020202020204" pitchFamily="34" charset="0"/>
              </a:rPr>
              <a:t>증진</a:t>
            </a:r>
            <a:endParaRPr lang="ko-KR" altLang="ko-KR" sz="1600" dirty="0">
              <a:latin typeface="Arial" panose="020B0604020202020204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95A9740-AEB2-3C16-02FE-16DEBB8EF309}"/>
              </a:ext>
            </a:extLst>
          </p:cNvPr>
          <p:cNvSpPr/>
          <p:nvPr/>
        </p:nvSpPr>
        <p:spPr>
          <a:xfrm>
            <a:off x="795867" y="4851154"/>
            <a:ext cx="1248730" cy="12055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수험생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니즈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346B5-CCA1-9B5D-2807-6D5BD29F9728}"/>
              </a:ext>
            </a:extLst>
          </p:cNvPr>
          <p:cNvSpPr txBox="1"/>
          <p:nvPr/>
        </p:nvSpPr>
        <p:spPr>
          <a:xfrm>
            <a:off x="2391134" y="4516216"/>
            <a:ext cx="9388490" cy="1901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합격을 위한 종합적인 학습 생태계 지원</a:t>
            </a:r>
            <a:r>
              <a:rPr lang="en-US" altLang="ko-KR" sz="1600" dirty="0"/>
              <a:t>: </a:t>
            </a:r>
            <a:r>
              <a:rPr lang="ko-KR" altLang="en-US" sz="1600" dirty="0"/>
              <a:t>막대한 시간과 노력 절감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체계적인 단계 학습</a:t>
            </a:r>
            <a:r>
              <a:rPr lang="en-US" altLang="ko-KR" sz="1600" dirty="0"/>
              <a:t>(</a:t>
            </a:r>
            <a:r>
              <a:rPr lang="ko-KR" altLang="en-US" sz="1600" dirty="0"/>
              <a:t>수험생 상황에 따른 패키지 구성</a:t>
            </a:r>
            <a:r>
              <a:rPr lang="en-US" altLang="ko-KR" sz="1600" dirty="0"/>
              <a:t>)</a:t>
            </a:r>
            <a:r>
              <a:rPr lang="ko-KR" altLang="en-US" sz="1600" dirty="0"/>
              <a:t>과 </a:t>
            </a:r>
            <a:r>
              <a:rPr lang="ko-KR" altLang="en-US" sz="1600" dirty="0">
                <a:solidFill>
                  <a:srgbClr val="FF0000"/>
                </a:solidFill>
              </a:rPr>
              <a:t>검증된 강사</a:t>
            </a:r>
            <a:r>
              <a:rPr lang="en-US" altLang="ko-KR" sz="1600" dirty="0"/>
              <a:t>(</a:t>
            </a:r>
            <a:r>
              <a:rPr lang="ko-KR" altLang="en-US" sz="1600" dirty="0"/>
              <a:t>학원 브랜드보다는 자신의 학습 스타일에 맞는 검증된 강사 추종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심리적</a:t>
            </a:r>
            <a:r>
              <a:rPr lang="en-US" altLang="ko-KR" sz="1600" dirty="0"/>
              <a:t>(</a:t>
            </a:r>
            <a:r>
              <a:rPr lang="ko-KR" altLang="en-US" sz="1600" dirty="0"/>
              <a:t>커리큘럼</a:t>
            </a:r>
            <a:r>
              <a:rPr lang="en-US" altLang="ko-KR" sz="1600" dirty="0"/>
              <a:t>, </a:t>
            </a:r>
            <a:r>
              <a:rPr lang="ko-KR" altLang="en-US" sz="1600" dirty="0"/>
              <a:t>통합 체계</a:t>
            </a:r>
            <a:r>
              <a:rPr lang="en-US" altLang="ko-KR" sz="1600" dirty="0"/>
              <a:t>, </a:t>
            </a:r>
            <a:r>
              <a:rPr lang="ko-KR" altLang="en-US" sz="1600" dirty="0"/>
              <a:t>멘토링</a:t>
            </a:r>
            <a:r>
              <a:rPr lang="en-US" altLang="ko-KR" sz="1600" dirty="0"/>
              <a:t>, </a:t>
            </a:r>
            <a:r>
              <a:rPr lang="ko-KR" altLang="en-US" sz="1600" dirty="0"/>
              <a:t>강제성</a:t>
            </a:r>
            <a:r>
              <a:rPr lang="en-US" altLang="ko-KR" sz="1600" dirty="0"/>
              <a:t>) + </a:t>
            </a:r>
            <a:r>
              <a:rPr lang="ko-KR" altLang="en-US" sz="1600" dirty="0">
                <a:solidFill>
                  <a:srgbClr val="FF0000"/>
                </a:solidFill>
              </a:rPr>
              <a:t>사회적</a:t>
            </a:r>
            <a:r>
              <a:rPr lang="en-US" altLang="ko-KR" sz="1600" dirty="0"/>
              <a:t>(</a:t>
            </a:r>
            <a:r>
              <a:rPr lang="ko-KR" altLang="en-US" sz="1600" dirty="0"/>
              <a:t>스터디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종합반</a:t>
            </a:r>
            <a:r>
              <a:rPr lang="en-US" altLang="ko-KR" sz="1600" dirty="0"/>
              <a:t>, </a:t>
            </a:r>
            <a:r>
              <a:rPr lang="ko-KR" altLang="en-US" sz="1600" dirty="0"/>
              <a:t>질의응답</a:t>
            </a:r>
            <a:r>
              <a:rPr lang="en-US" altLang="ko-KR" sz="1600" dirty="0"/>
              <a:t>) + </a:t>
            </a:r>
            <a:r>
              <a:rPr lang="ko-KR" altLang="en-US" sz="1600" dirty="0">
                <a:solidFill>
                  <a:srgbClr val="FF0000"/>
                </a:solidFill>
              </a:rPr>
              <a:t>물리적</a:t>
            </a:r>
            <a:r>
              <a:rPr lang="en-US" altLang="ko-KR" sz="1600" dirty="0"/>
              <a:t>(</a:t>
            </a:r>
            <a:r>
              <a:rPr lang="ko-KR" altLang="en-US" sz="1600" dirty="0"/>
              <a:t>독서실</a:t>
            </a:r>
            <a:r>
              <a:rPr lang="en-US" altLang="ko-KR" sz="1600" dirty="0"/>
              <a:t>, </a:t>
            </a:r>
            <a:r>
              <a:rPr lang="ko-KR" altLang="en-US" sz="1600" dirty="0"/>
              <a:t>온라인 강의의 편의성</a:t>
            </a:r>
            <a:r>
              <a:rPr lang="en-US" altLang="ko-KR" sz="1600" dirty="0"/>
              <a:t>) </a:t>
            </a:r>
            <a:r>
              <a:rPr lang="ko-KR" altLang="en-US" sz="1600" dirty="0"/>
              <a:t>지원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22413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739D-7F5C-833B-D90E-E5A57E94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EA91A92-59AE-7BB1-FF8E-46658D6EE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변리사 시장</a:t>
            </a:r>
            <a:r>
              <a:rPr lang="en-US" altLang="ko-KR" dirty="0"/>
              <a:t>: </a:t>
            </a:r>
            <a:r>
              <a:rPr lang="ko-KR" altLang="en-US" dirty="0"/>
              <a:t>학원의 수익성 악화 요인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D0F7F6-6CF0-5C9E-E022-3C3A5610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AFB3236-7D81-B330-F008-08FB5D639C70}"/>
              </a:ext>
            </a:extLst>
          </p:cNvPr>
          <p:cNvSpPr/>
          <p:nvPr/>
        </p:nvSpPr>
        <p:spPr>
          <a:xfrm>
            <a:off x="1055844" y="1397502"/>
            <a:ext cx="422506" cy="416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1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B2513-99ED-8D3E-783E-1CE9492B1019}"/>
              </a:ext>
            </a:extLst>
          </p:cNvPr>
          <p:cNvSpPr txBox="1"/>
          <p:nvPr/>
        </p:nvSpPr>
        <p:spPr>
          <a:xfrm>
            <a:off x="1730885" y="1377951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매출과 상관없는 기본 </a:t>
            </a:r>
            <a:r>
              <a:rPr lang="ko-KR" altLang="en-US" sz="2400" dirty="0" err="1">
                <a:latin typeface="Arial" panose="020B0604020202020204" pitchFamily="34" charset="0"/>
              </a:rPr>
              <a:t>강의료</a:t>
            </a:r>
            <a:r>
              <a:rPr lang="ko-KR" altLang="en-US" sz="2400" dirty="0">
                <a:latin typeface="Arial" panose="020B0604020202020204" pitchFamily="34" charset="0"/>
              </a:rPr>
              <a:t> 정책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7F89AC8-1ED4-36FE-D245-3468B58663AD}"/>
              </a:ext>
            </a:extLst>
          </p:cNvPr>
          <p:cNvSpPr/>
          <p:nvPr/>
        </p:nvSpPr>
        <p:spPr>
          <a:xfrm>
            <a:off x="1055844" y="2101443"/>
            <a:ext cx="422506" cy="41603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2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DBB37-7D0A-41C0-4C0B-9A80A486A0F1}"/>
              </a:ext>
            </a:extLst>
          </p:cNvPr>
          <p:cNvSpPr txBox="1"/>
          <p:nvPr/>
        </p:nvSpPr>
        <p:spPr>
          <a:xfrm>
            <a:off x="1730885" y="2081892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오프라인 </a:t>
            </a:r>
            <a:r>
              <a:rPr lang="ko-KR" altLang="en-US" sz="2400" dirty="0" err="1">
                <a:latin typeface="Arial" panose="020B0604020202020204" pitchFamily="34" charset="0"/>
              </a:rPr>
              <a:t>종합반</a:t>
            </a:r>
            <a:r>
              <a:rPr lang="ko-KR" altLang="en-US" sz="2400" dirty="0">
                <a:latin typeface="Arial" panose="020B0604020202020204" pitchFamily="34" charset="0"/>
              </a:rPr>
              <a:t> </a:t>
            </a:r>
            <a:r>
              <a:rPr lang="en-US" altLang="ko-KR" sz="2400" dirty="0">
                <a:latin typeface="Arial" panose="020B0604020202020204" pitchFamily="34" charset="0"/>
              </a:rPr>
              <a:t>* </a:t>
            </a:r>
            <a:r>
              <a:rPr lang="ko-KR" altLang="en-US" sz="2400" dirty="0">
                <a:latin typeface="Arial" panose="020B0604020202020204" pitchFamily="34" charset="0"/>
              </a:rPr>
              <a:t>할인 정책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E55E012-531C-6895-6140-672D94627AFD}"/>
              </a:ext>
            </a:extLst>
          </p:cNvPr>
          <p:cNvSpPr/>
          <p:nvPr/>
        </p:nvSpPr>
        <p:spPr>
          <a:xfrm>
            <a:off x="1055844" y="2830658"/>
            <a:ext cx="422506" cy="416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3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9037BA-F68C-053C-385E-D52A8D39274F}"/>
              </a:ext>
            </a:extLst>
          </p:cNvPr>
          <p:cNvSpPr txBox="1"/>
          <p:nvPr/>
        </p:nvSpPr>
        <p:spPr>
          <a:xfrm>
            <a:off x="1730885" y="2811107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온라인 </a:t>
            </a:r>
            <a:r>
              <a:rPr lang="en-US" altLang="ko-KR" sz="2400" dirty="0">
                <a:latin typeface="Arial" panose="020B0604020202020204" pitchFamily="34" charset="0"/>
              </a:rPr>
              <a:t>PASS * </a:t>
            </a:r>
            <a:r>
              <a:rPr lang="ko-KR" altLang="en-US" sz="2400" dirty="0">
                <a:latin typeface="Arial" panose="020B0604020202020204" pitchFamily="34" charset="0"/>
              </a:rPr>
              <a:t>할인 정책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A146B21-8E0B-81D9-5EBB-4500279F0A28}"/>
              </a:ext>
            </a:extLst>
          </p:cNvPr>
          <p:cNvSpPr/>
          <p:nvPr/>
        </p:nvSpPr>
        <p:spPr>
          <a:xfrm>
            <a:off x="1055844" y="3585147"/>
            <a:ext cx="422506" cy="41603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4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7AAAC-6A82-09EB-C2E8-406FD150A9B4}"/>
              </a:ext>
            </a:extLst>
          </p:cNvPr>
          <p:cNvSpPr txBox="1"/>
          <p:nvPr/>
        </p:nvSpPr>
        <p:spPr>
          <a:xfrm>
            <a:off x="1730885" y="3565597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과도한 운영비용</a:t>
            </a:r>
            <a:r>
              <a:rPr lang="en-US" altLang="ko-KR" sz="2400" dirty="0">
                <a:latin typeface="Arial" panose="020B0604020202020204" pitchFamily="34" charset="0"/>
              </a:rPr>
              <a:t>(</a:t>
            </a:r>
            <a:r>
              <a:rPr lang="ko-KR" altLang="en-US" sz="2400" dirty="0">
                <a:latin typeface="Arial" panose="020B0604020202020204" pitchFamily="34" charset="0"/>
              </a:rPr>
              <a:t>인건비</a:t>
            </a:r>
            <a:r>
              <a:rPr lang="en-US" altLang="ko-KR" sz="2400" dirty="0">
                <a:latin typeface="Arial" panose="020B0604020202020204" pitchFamily="34" charset="0"/>
              </a:rPr>
              <a:t>, </a:t>
            </a:r>
            <a:r>
              <a:rPr lang="ko-KR" altLang="en-US" sz="2400" dirty="0">
                <a:latin typeface="Arial" panose="020B0604020202020204" pitchFamily="34" charset="0"/>
              </a:rPr>
              <a:t>임대료</a:t>
            </a:r>
            <a:r>
              <a:rPr lang="en-US" altLang="ko-KR" sz="2400" dirty="0">
                <a:latin typeface="Arial" panose="020B0604020202020204" pitchFamily="34" charset="0"/>
              </a:rPr>
              <a:t>, </a:t>
            </a:r>
            <a:r>
              <a:rPr lang="ko-KR" altLang="en-US" sz="2400" dirty="0">
                <a:latin typeface="Arial" panose="020B0604020202020204" pitchFamily="34" charset="0"/>
              </a:rPr>
              <a:t>구독료</a:t>
            </a:r>
            <a:r>
              <a:rPr lang="en-US" altLang="ko-KR" sz="2400" dirty="0">
                <a:latin typeface="Arial" panose="020B0604020202020204" pitchFamily="34" charset="0"/>
              </a:rPr>
              <a:t>)</a:t>
            </a:r>
            <a:r>
              <a:rPr lang="ko-KR" altLang="en-US" sz="2400" dirty="0">
                <a:latin typeface="Arial" panose="020B0604020202020204" pitchFamily="34" charset="0"/>
              </a:rPr>
              <a:t> 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663F78-2909-E98C-FA7B-A750229AD263}"/>
              </a:ext>
            </a:extLst>
          </p:cNvPr>
          <p:cNvSpPr/>
          <p:nvPr/>
        </p:nvSpPr>
        <p:spPr>
          <a:xfrm>
            <a:off x="1055844" y="4398012"/>
            <a:ext cx="422506" cy="4160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5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DF280-4A6D-23AB-FA50-4B58D886C754}"/>
              </a:ext>
            </a:extLst>
          </p:cNvPr>
          <p:cNvSpPr txBox="1"/>
          <p:nvPr/>
        </p:nvSpPr>
        <p:spPr>
          <a:xfrm>
            <a:off x="1730885" y="4378461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적자인 다양한 출판물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C0D7CF9-D12D-F5B7-9B85-7DF44EE8A058}"/>
              </a:ext>
            </a:extLst>
          </p:cNvPr>
          <p:cNvSpPr/>
          <p:nvPr/>
        </p:nvSpPr>
        <p:spPr>
          <a:xfrm>
            <a:off x="1055844" y="5256505"/>
            <a:ext cx="422506" cy="41603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6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D43B06-47C5-5C45-3729-F0DD2AEA883F}"/>
              </a:ext>
            </a:extLst>
          </p:cNvPr>
          <p:cNvSpPr txBox="1"/>
          <p:nvPr/>
        </p:nvSpPr>
        <p:spPr>
          <a:xfrm>
            <a:off x="1730885" y="5236955"/>
            <a:ext cx="768205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latin typeface="Arial" panose="020B0604020202020204" pitchFamily="34" charset="0"/>
              </a:rPr>
              <a:t>강사료율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71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CD7E-377C-6537-2B55-E4D2A3D2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1B3AF83-B3D3-3D75-6B1F-955C42B36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변리사 시장</a:t>
            </a:r>
            <a:r>
              <a:rPr lang="en-US" altLang="ko-KR" dirty="0"/>
              <a:t>: SWOT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F54571-DF60-A9AF-E369-9E042FEF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E37186D-0B5F-9D70-2F3E-1B42198CE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741027"/>
              </p:ext>
            </p:extLst>
          </p:nvPr>
        </p:nvGraphicFramePr>
        <p:xfrm>
          <a:off x="591918" y="1326778"/>
          <a:ext cx="11062448" cy="4825604"/>
        </p:xfrm>
        <a:graphic>
          <a:graphicData uri="http://schemas.openxmlformats.org/drawingml/2006/table">
            <a:tbl>
              <a:tblPr/>
              <a:tblGrid>
                <a:gridCol w="1730189">
                  <a:extLst>
                    <a:ext uri="{9D8B030D-6E8A-4147-A177-3AD203B41FA5}">
                      <a16:colId xmlns:a16="http://schemas.microsoft.com/office/drawing/2014/main" val="2316788461"/>
                    </a:ext>
                  </a:extLst>
                </a:gridCol>
                <a:gridCol w="3370729">
                  <a:extLst>
                    <a:ext uri="{9D8B030D-6E8A-4147-A177-3AD203B41FA5}">
                      <a16:colId xmlns:a16="http://schemas.microsoft.com/office/drawing/2014/main" val="3603848408"/>
                    </a:ext>
                  </a:extLst>
                </a:gridCol>
                <a:gridCol w="3195918">
                  <a:extLst>
                    <a:ext uri="{9D8B030D-6E8A-4147-A177-3AD203B41FA5}">
                      <a16:colId xmlns:a16="http://schemas.microsoft.com/office/drawing/2014/main" val="1224029390"/>
                    </a:ext>
                  </a:extLst>
                </a:gridCol>
                <a:gridCol w="2765612">
                  <a:extLst>
                    <a:ext uri="{9D8B030D-6E8A-4147-A177-3AD203B41FA5}">
                      <a16:colId xmlns:a16="http://schemas.microsoft.com/office/drawing/2014/main" val="165959228"/>
                    </a:ext>
                  </a:extLst>
                </a:gridCol>
              </a:tblGrid>
              <a:tr h="249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solidFill>
                            <a:srgbClr val="FFFF00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solidFill>
                            <a:srgbClr val="FFFF00"/>
                          </a:solidFill>
                          <a:latin typeface="+mn-ea"/>
                          <a:ea typeface="+mn-ea"/>
                        </a:rPr>
                        <a:t>시장 특색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solidFill>
                            <a:srgbClr val="FFFF00"/>
                          </a:solidFill>
                          <a:latin typeface="+mn-ea"/>
                          <a:ea typeface="+mn-ea"/>
                        </a:rPr>
                        <a:t>강사 니즈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solidFill>
                            <a:srgbClr val="FFFF00"/>
                          </a:solidFill>
                          <a:latin typeface="+mn-ea"/>
                          <a:ea typeface="+mn-ea"/>
                        </a:rPr>
                        <a:t>수험생 니즈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319680"/>
                  </a:ext>
                </a:extLst>
              </a:tr>
              <a:tr h="1185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강점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Strengths)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다년간 축적된 합격 노하우와 기출 데이터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대형 학원의 브랜드 파워 및 합격 실적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전문 영역 중심의 집중 커리큘럼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안정적 강의 기회 제공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수강생 풀 확보로 강의 효율성↑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학원 시스템 지원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체계적 커리큘럼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관리 시스템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합격생 네트워크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스터디 환경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효율적 관리 가능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247373"/>
                  </a:ext>
                </a:extLst>
              </a:tr>
              <a:tr h="998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약점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Weaknesses)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수강료 등 고비용 구조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학원 중심의 획일적 커리큘럼</a:t>
                      </a:r>
                      <a:b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맞춤형 학습 부족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일부 스타강사 의존 리스크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교재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연구 개발 자원 부족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개인 브랜딩 제약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장기 수험 시 동기 저하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심리적 지원 부족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맞춤형 피드백 한계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377904"/>
                  </a:ext>
                </a:extLst>
              </a:tr>
              <a:tr h="1185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기회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Opportunities)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온라인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모바일 학습 수요 확대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AI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기반 맞춤형 학습관리 도입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시험 제도 변화에 따른 신규 강좌 기회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온라인 강의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개인 브랜딩 확장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커리어 연계 서비스 참여 기회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콘텐츠 다변화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다양한 전공자 유입 확대</a:t>
                      </a:r>
                      <a:b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합격 후 실무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진로 연계 수요 증가</a:t>
                      </a:r>
                      <a:b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자기주도형 학습 도구 활용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262495"/>
                  </a:ext>
                </a:extLst>
              </a:tr>
              <a:tr h="1185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위협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Threats)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저출산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청년 인구 감소로 수험생 축소</a:t>
                      </a:r>
                      <a:br>
                        <a:rPr lang="ko-KR" altLang="en-US" sz="1400">
                          <a:latin typeface="+mn-ea"/>
                          <a:ea typeface="+mn-ea"/>
                        </a:rPr>
                      </a:br>
                      <a:r>
                        <a:rPr lang="en-US" altLang="ko-KR" sz="140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유튜브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무료 콘텐츠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개인 강사 대체재 확산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시험 제도 변화 대응 부담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학원 수익 악화 시 처우 불안</a:t>
                      </a:r>
                      <a:b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시장 포화에 따른 경쟁 심화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시험 난이도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제도 변화 불확실성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비용 대비 효율성 불만</a:t>
                      </a:r>
                      <a:br>
                        <a:rPr lang="ko-KR" altLang="en-US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대체 학습 자원의 매력 증가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1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55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6DC7D-1B73-257D-EF3C-C1F27AE5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7B861E-063D-B230-C3F3-FA93363E0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변리사 시장</a:t>
            </a:r>
            <a:r>
              <a:rPr lang="en-US" altLang="ko-KR" dirty="0"/>
              <a:t>: SWOT </a:t>
            </a:r>
            <a:r>
              <a:rPr lang="ko-KR" altLang="en-US" dirty="0"/>
              <a:t>분석에 따른 전략도출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ED5C4C-DB5D-CAE6-20F0-8ED5C8BC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4530BF-AFC9-DC7D-FF6D-A7E2579E127A}"/>
              </a:ext>
            </a:extLst>
          </p:cNvPr>
          <p:cNvGrpSpPr/>
          <p:nvPr/>
        </p:nvGrpSpPr>
        <p:grpSpPr>
          <a:xfrm>
            <a:off x="338664" y="1048522"/>
            <a:ext cx="11611288" cy="5453878"/>
            <a:chOff x="338664" y="1099322"/>
            <a:chExt cx="11611288" cy="46829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5DC7F5-9875-49FF-88CC-3B24521C12E1}"/>
                </a:ext>
              </a:extLst>
            </p:cNvPr>
            <p:cNvSpPr txBox="1"/>
            <p:nvPr/>
          </p:nvSpPr>
          <p:spPr>
            <a:xfrm>
              <a:off x="338665" y="1099322"/>
              <a:ext cx="11611287" cy="10772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altLang="ko-KR" sz="1600" b="1" dirty="0">
                  <a:solidFill>
                    <a:srgbClr val="FF0000"/>
                  </a:solidFill>
                </a:rPr>
                <a:t>SO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전략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강점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×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기회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): </a:t>
              </a:r>
              <a:r>
                <a:rPr lang="ko-KR" altLang="en-US" sz="1200" dirty="0"/>
                <a:t>강점을 활용해 기회를 극대화하는 전략</a:t>
              </a:r>
              <a:endParaRPr lang="en-US" altLang="ko-KR" sz="1200" dirty="0"/>
            </a:p>
            <a:p>
              <a:endParaRPr lang="ko-KR" altLang="en-US" sz="12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브랜드 신뢰 </a:t>
              </a:r>
              <a:r>
                <a:rPr lang="en-US" altLang="ko-KR" sz="1200" b="1" dirty="0"/>
                <a:t>+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온라인 확장</a:t>
              </a:r>
              <a:r>
                <a:rPr lang="ko-KR" altLang="en-US" sz="1200" dirty="0">
                  <a:highlight>
                    <a:srgbClr val="00FF00"/>
                  </a:highlight>
                </a:rPr>
                <a:t> </a:t>
              </a:r>
              <a:r>
                <a:rPr lang="ko-KR" altLang="en-US" sz="1200" dirty="0"/>
                <a:t>→ 학원의 합격 실적을 기반으로 온라인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모바일 전용 프리미엄 강좌 출시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전문성 </a:t>
              </a:r>
              <a:r>
                <a:rPr lang="en-US" altLang="ko-KR" sz="1200" b="1" dirty="0"/>
                <a:t>+ </a:t>
              </a:r>
              <a:r>
                <a:rPr lang="en-US" altLang="ko-KR" sz="1200" b="1" dirty="0">
                  <a:highlight>
                    <a:srgbClr val="00FF00"/>
                  </a:highlight>
                </a:rPr>
                <a:t>AI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학습관리</a:t>
              </a:r>
              <a:r>
                <a:rPr lang="ko-KR" altLang="en-US" sz="1200" dirty="0">
                  <a:highlight>
                    <a:srgbClr val="00FF00"/>
                  </a:highlight>
                </a:rPr>
                <a:t> </a:t>
              </a:r>
              <a:r>
                <a:rPr lang="ko-KR" altLang="en-US" sz="1200" dirty="0"/>
                <a:t>→ 기출 데이터</a:t>
              </a:r>
              <a:r>
                <a:rPr lang="en-US" altLang="ko-KR" sz="1200" dirty="0"/>
                <a:t>·</a:t>
              </a:r>
              <a:r>
                <a:rPr lang="ko-KR" altLang="en-US" sz="1200" dirty="0"/>
                <a:t>합격 노하우와 </a:t>
              </a:r>
              <a:r>
                <a:rPr lang="en-US" altLang="ko-KR" sz="1200" dirty="0"/>
                <a:t>AI </a:t>
              </a:r>
              <a:r>
                <a:rPr lang="ko-KR" altLang="en-US" sz="1200" dirty="0"/>
                <a:t>분석을 결합한 개인 맞춤형 진단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피드백 제공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합격 네트워크 </a:t>
              </a:r>
              <a:r>
                <a:rPr lang="en-US" altLang="ko-KR" sz="1200" b="1" dirty="0">
                  <a:highlight>
                    <a:srgbClr val="00FF00"/>
                  </a:highlight>
                </a:rPr>
                <a:t>+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커리어 연계</a:t>
              </a:r>
              <a:r>
                <a:rPr lang="ko-KR" altLang="en-US" sz="1200" dirty="0">
                  <a:highlight>
                    <a:srgbClr val="00FF00"/>
                  </a:highlight>
                </a:rPr>
                <a:t> </a:t>
              </a:r>
              <a:r>
                <a:rPr lang="ko-KR" altLang="en-US" sz="1200" dirty="0"/>
                <a:t>→ 합격생 커뮤니티와 연계한 실무 교육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로펌 취업</a:t>
              </a:r>
              <a:r>
                <a:rPr lang="en-US" altLang="ko-KR" sz="1200" dirty="0"/>
                <a:t>·</a:t>
              </a:r>
              <a:r>
                <a:rPr lang="ko-KR" altLang="en-US" sz="1200" dirty="0"/>
                <a:t>창업 컨설팅 프로그램 운영지속 가능한 경쟁력을 확보해야 함</a:t>
              </a:r>
              <a:r>
                <a:rPr lang="en-US" altLang="ko-KR" sz="1200" dirty="0"/>
                <a:t>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32D4F4-1759-5590-D671-1D4BDAE9BC3A}"/>
                </a:ext>
              </a:extLst>
            </p:cNvPr>
            <p:cNvSpPr txBox="1"/>
            <p:nvPr/>
          </p:nvSpPr>
          <p:spPr>
            <a:xfrm>
              <a:off x="338664" y="3379326"/>
              <a:ext cx="11611287" cy="12618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600" b="1" dirty="0">
                  <a:solidFill>
                    <a:srgbClr val="FF0000"/>
                  </a:solidFill>
                </a:rPr>
                <a:t>3. ST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전략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강점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×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위협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): </a:t>
              </a:r>
              <a:r>
                <a:rPr lang="ko-KR" altLang="en-US" sz="1200" dirty="0"/>
                <a:t>강점을 활용해 위협을 최소화하는 전략</a:t>
              </a:r>
              <a:endParaRPr lang="en-US" altLang="ko-KR" sz="1200" dirty="0"/>
            </a:p>
            <a:p>
              <a:pPr>
                <a:buNone/>
              </a:pPr>
              <a:endParaRPr lang="ko-KR" altLang="en-US" sz="12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브랜드 파워 </a:t>
              </a:r>
              <a:r>
                <a:rPr lang="en-US" altLang="ko-KR" sz="1200" b="1" dirty="0"/>
                <a:t>+ </a:t>
              </a:r>
              <a:r>
                <a:rPr lang="ko-KR" altLang="en-US" sz="1200" b="1" dirty="0"/>
                <a:t>대체재 차별화</a:t>
              </a:r>
              <a:r>
                <a:rPr lang="ko-KR" altLang="en-US" sz="1200" dirty="0"/>
                <a:t> → 무료 콘텐츠와 차별화된 “합격률 보장형” 서비스 제공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전문 교수진 </a:t>
              </a:r>
              <a:r>
                <a:rPr lang="en-US" altLang="ko-KR" sz="1200" b="1" dirty="0"/>
                <a:t>+ </a:t>
              </a:r>
              <a:r>
                <a:rPr lang="ko-KR" altLang="en-US" sz="1200" b="1" dirty="0"/>
                <a:t>시험 변화 대응</a:t>
              </a:r>
              <a:r>
                <a:rPr lang="ko-KR" altLang="en-US" sz="1200" dirty="0"/>
                <a:t> → 스타강사 중심에서 </a:t>
              </a:r>
              <a:r>
                <a:rPr lang="ko-KR" altLang="en-US" sz="1200" dirty="0" err="1">
                  <a:highlight>
                    <a:srgbClr val="00FF00"/>
                  </a:highlight>
                </a:rPr>
                <a:t>팀티칭</a:t>
              </a:r>
              <a:r>
                <a:rPr lang="ko-KR" altLang="en-US" sz="1200" dirty="0">
                  <a:highlight>
                    <a:srgbClr val="00FF00"/>
                  </a:highlight>
                </a:rPr>
                <a:t> 체제로 전환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신유형 문제</a:t>
              </a:r>
              <a:r>
                <a:rPr lang="en-US" altLang="ko-KR" sz="1200" dirty="0"/>
                <a:t>·</a:t>
              </a:r>
              <a:r>
                <a:rPr lang="ko-KR" altLang="en-US" sz="1200" dirty="0"/>
                <a:t>최신판례 강좌 강화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합격 실적 </a:t>
              </a:r>
              <a:r>
                <a:rPr lang="en-US" altLang="ko-KR" sz="1200" b="1" dirty="0"/>
                <a:t>+ </a:t>
              </a:r>
              <a:r>
                <a:rPr lang="ko-KR" altLang="en-US" sz="1200" b="1" dirty="0"/>
                <a:t>수험생 감소 대응</a:t>
              </a:r>
              <a:r>
                <a:rPr lang="ko-KR" altLang="en-US" sz="1200" dirty="0"/>
                <a:t> → 대학</a:t>
              </a:r>
              <a:r>
                <a:rPr lang="en-US" altLang="ko-KR" sz="1200" dirty="0"/>
                <a:t>·</a:t>
              </a:r>
              <a:r>
                <a:rPr lang="ko-KR" altLang="en-US" sz="1200" dirty="0"/>
                <a:t>대학원과 제휴한 </a:t>
              </a:r>
              <a:r>
                <a:rPr lang="en-US" altLang="ko-KR" sz="1200" dirty="0"/>
                <a:t>IP </a:t>
              </a:r>
              <a:r>
                <a:rPr lang="ko-KR" altLang="en-US" sz="1200" dirty="0"/>
                <a:t>특화 과정 개설로 신규 수요 창출</a:t>
              </a:r>
              <a:br>
                <a:rPr lang="ko-KR" altLang="en-US" sz="1200" dirty="0"/>
              </a:br>
              <a:endParaRPr lang="ko-KR" altLang="en-US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91A5DF-1174-3644-98F2-B529B8ADD5F7}"/>
                </a:ext>
              </a:extLst>
            </p:cNvPr>
            <p:cNvSpPr txBox="1"/>
            <p:nvPr/>
          </p:nvSpPr>
          <p:spPr>
            <a:xfrm>
              <a:off x="338665" y="2235855"/>
              <a:ext cx="11611285" cy="10772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600" b="1" dirty="0">
                  <a:solidFill>
                    <a:srgbClr val="FF0000"/>
                  </a:solidFill>
                </a:rPr>
                <a:t>2. WO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전략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약점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×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기회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): </a:t>
              </a:r>
              <a:r>
                <a:rPr lang="ko-KR" altLang="en-US" sz="1200" dirty="0"/>
                <a:t>약점을 보완하면서 기회를 활용하는 전략</a:t>
              </a:r>
              <a:endParaRPr lang="en-US" altLang="ko-KR" sz="1200" dirty="0"/>
            </a:p>
            <a:p>
              <a:pPr>
                <a:buNone/>
              </a:pPr>
              <a:endParaRPr lang="ko-KR" altLang="en-US" sz="12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획일적 커리큘럼 보완</a:t>
              </a:r>
              <a:r>
                <a:rPr lang="ko-KR" altLang="en-US" sz="1200" dirty="0">
                  <a:highlight>
                    <a:srgbClr val="00FF00"/>
                  </a:highlight>
                </a:rPr>
                <a:t> </a:t>
              </a:r>
              <a:r>
                <a:rPr lang="ko-KR" altLang="en-US" sz="1200" dirty="0"/>
                <a:t>→ 온라인 기반 모듈형 강좌</a:t>
              </a:r>
              <a:r>
                <a:rPr lang="en-US" altLang="ko-KR" sz="1200" dirty="0"/>
                <a:t>(</a:t>
              </a:r>
              <a:r>
                <a:rPr lang="ko-KR" altLang="en-US" sz="1200" dirty="0"/>
                <a:t>개별 맞춤 선택형 과정</a:t>
              </a:r>
              <a:r>
                <a:rPr lang="en-US" altLang="ko-KR" sz="1200" dirty="0"/>
                <a:t>) </a:t>
              </a:r>
              <a:r>
                <a:rPr lang="ko-KR" altLang="en-US" sz="1200" dirty="0"/>
                <a:t>개발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심리</a:t>
              </a:r>
              <a:r>
                <a:rPr lang="en-US" altLang="ko-KR" sz="1200" b="1" dirty="0">
                  <a:highlight>
                    <a:srgbClr val="00FF00"/>
                  </a:highlight>
                </a:rPr>
                <a:t>·</a:t>
              </a:r>
              <a:r>
                <a:rPr lang="ko-KR" altLang="en-US" sz="1200" b="1" dirty="0">
                  <a:highlight>
                    <a:srgbClr val="00FF00"/>
                  </a:highlight>
                </a:rPr>
                <a:t>동기 관리 부족 개선</a:t>
              </a:r>
              <a:r>
                <a:rPr lang="ko-KR" altLang="en-US" sz="1200" dirty="0">
                  <a:highlight>
                    <a:srgbClr val="00FF00"/>
                  </a:highlight>
                </a:rPr>
                <a:t> </a:t>
              </a:r>
              <a:r>
                <a:rPr lang="ko-KR" altLang="en-US" sz="1200" dirty="0"/>
                <a:t>→ </a:t>
              </a:r>
              <a:r>
                <a:rPr lang="en-US" altLang="ko-KR" sz="1200" dirty="0"/>
                <a:t>AI </a:t>
              </a:r>
              <a:r>
                <a:rPr lang="ko-KR" altLang="en-US" sz="1200" dirty="0"/>
                <a:t>기반 학습 멘토링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심리 코칭 프로그램 도입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고비용 문제 완화</a:t>
              </a:r>
              <a:r>
                <a:rPr lang="ko-KR" altLang="en-US" sz="1200" dirty="0"/>
                <a:t> </a:t>
              </a:r>
              <a:r>
                <a:rPr lang="ko-KR" altLang="en-US" sz="1200" dirty="0">
                  <a:highlight>
                    <a:srgbClr val="00FF00"/>
                  </a:highlight>
                </a:rPr>
                <a:t>→ 온라인 구독형 멤버십</a:t>
              </a:r>
              <a:r>
                <a:rPr lang="en-US" altLang="ko-KR" sz="1200" dirty="0">
                  <a:highlight>
                    <a:srgbClr val="00FF00"/>
                  </a:highlight>
                </a:rPr>
                <a:t>, </a:t>
              </a:r>
              <a:r>
                <a:rPr lang="ko-KR" altLang="en-US" sz="1200" dirty="0">
                  <a:highlight>
                    <a:srgbClr val="00FF00"/>
                  </a:highlight>
                </a:rPr>
                <a:t>부분 결제 시스템 도입</a:t>
              </a:r>
              <a:r>
                <a:rPr lang="ko-KR" altLang="en-US" sz="1200" dirty="0"/>
                <a:t>으로 비용 부담 완화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331C6A-2454-97A2-3363-BA1AFE61F989}"/>
                </a:ext>
              </a:extLst>
            </p:cNvPr>
            <p:cNvSpPr txBox="1"/>
            <p:nvPr/>
          </p:nvSpPr>
          <p:spPr>
            <a:xfrm>
              <a:off x="338664" y="4705096"/>
              <a:ext cx="11611286" cy="10772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600" b="1" dirty="0">
                  <a:solidFill>
                    <a:srgbClr val="FF0000"/>
                  </a:solidFill>
                </a:rPr>
                <a:t>4. WT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전략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약점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×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위협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): </a:t>
              </a:r>
              <a:r>
                <a:rPr lang="ko-KR" altLang="en-US" sz="1200" dirty="0"/>
                <a:t>약점과 위협을 동시에 줄이기 위한 방어 전략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altLang="ko-KR" sz="1200" b="1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altLang="ko-KR" sz="1200" b="1" dirty="0"/>
                <a:t> </a:t>
              </a:r>
              <a:r>
                <a:rPr lang="ko-KR" altLang="en-US" sz="1200" b="1" dirty="0"/>
                <a:t>스타강사 의존 리스크 감소</a:t>
              </a:r>
              <a:r>
                <a:rPr lang="ko-KR" altLang="en-US" sz="1200" dirty="0"/>
                <a:t> → 강사 다변화</a:t>
              </a:r>
              <a:r>
                <a:rPr lang="en-US" altLang="ko-KR" sz="1200" dirty="0"/>
                <a:t>, </a:t>
              </a:r>
              <a:r>
                <a:rPr lang="ko-KR" altLang="en-US" sz="1200" dirty="0">
                  <a:highlight>
                    <a:srgbClr val="00FF00"/>
                  </a:highlight>
                </a:rPr>
                <a:t>내부 전임강사 육성 프로그램 강화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수험생 감소 대비</a:t>
              </a:r>
              <a:r>
                <a:rPr lang="ko-KR" altLang="en-US" sz="1200" dirty="0"/>
                <a:t> → 기존 수험생 의존에서 벗어나 </a:t>
              </a:r>
              <a:r>
                <a:rPr lang="ko-KR" altLang="en-US" sz="1200" dirty="0">
                  <a:highlight>
                    <a:srgbClr val="00FF00"/>
                  </a:highlight>
                </a:rPr>
                <a:t>기업 </a:t>
              </a:r>
              <a:r>
                <a:rPr lang="en-US" altLang="ko-KR" sz="1200" dirty="0">
                  <a:highlight>
                    <a:srgbClr val="00FF00"/>
                  </a:highlight>
                </a:rPr>
                <a:t>IP</a:t>
              </a:r>
              <a:r>
                <a:rPr lang="ko-KR" altLang="en-US" sz="1200" dirty="0">
                  <a:highlight>
                    <a:srgbClr val="00FF00"/>
                  </a:highlight>
                </a:rPr>
                <a:t>팀</a:t>
              </a:r>
              <a:r>
                <a:rPr lang="en-US" altLang="ko-KR" sz="1200" dirty="0">
                  <a:highlight>
                    <a:srgbClr val="00FF00"/>
                  </a:highlight>
                </a:rPr>
                <a:t>·</a:t>
              </a:r>
              <a:r>
                <a:rPr lang="ko-KR" altLang="en-US" sz="1200" dirty="0">
                  <a:highlight>
                    <a:srgbClr val="00FF00"/>
                  </a:highlight>
                </a:rPr>
                <a:t>연구소 대상 “실무자 재교육 과정” 신시장 개척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200" b="1" dirty="0"/>
                <a:t> 고비용 구조와 경쟁 심화 대응</a:t>
              </a:r>
              <a:r>
                <a:rPr lang="ko-KR" altLang="en-US" sz="1200" dirty="0"/>
                <a:t> → 학원</a:t>
              </a:r>
              <a:r>
                <a:rPr lang="en-US" altLang="ko-KR" sz="1200" dirty="0"/>
                <a:t>+</a:t>
              </a:r>
              <a:r>
                <a:rPr lang="ko-KR" altLang="en-US" sz="1200" dirty="0"/>
                <a:t>온라인 하이브리드 패키지로 가격 경쟁력 확보</a:t>
              </a:r>
              <a:endParaRPr lang="en-US" altLang="ko-K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4277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3776-D480-E7E3-9C16-DFC42359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CEDCD0C-F592-A1BD-AF38-2570C658F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전략에 따른 운영방안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53CA13-FA87-E49E-16D5-4143160C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DC63D7A-B010-74D3-AC6B-91C291956978}"/>
              </a:ext>
            </a:extLst>
          </p:cNvPr>
          <p:cNvSpPr/>
          <p:nvPr/>
        </p:nvSpPr>
        <p:spPr>
          <a:xfrm>
            <a:off x="875554" y="1713007"/>
            <a:ext cx="654422" cy="6544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872F3-9EB6-AA20-B79E-5BF0889DB5B2}"/>
              </a:ext>
            </a:extLst>
          </p:cNvPr>
          <p:cNvSpPr txBox="1"/>
          <p:nvPr/>
        </p:nvSpPr>
        <p:spPr>
          <a:xfrm>
            <a:off x="1736165" y="177549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컨텐츠 기반 </a:t>
            </a:r>
            <a:r>
              <a:rPr lang="ko-KR" altLang="en-US" sz="2800" dirty="0">
                <a:highlight>
                  <a:srgbClr val="FFFF00"/>
                </a:highlight>
              </a:rPr>
              <a:t>온라인 생태계</a:t>
            </a:r>
            <a:r>
              <a:rPr lang="ko-KR" altLang="en-US" sz="2800" dirty="0"/>
              <a:t> 조성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29A2AD2-221A-02A4-17EA-E3B944F16730}"/>
              </a:ext>
            </a:extLst>
          </p:cNvPr>
          <p:cNvSpPr/>
          <p:nvPr/>
        </p:nvSpPr>
        <p:spPr>
          <a:xfrm>
            <a:off x="875554" y="2667738"/>
            <a:ext cx="654422" cy="65442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A891F5-7B25-C9B4-903C-7C828252E812}"/>
              </a:ext>
            </a:extLst>
          </p:cNvPr>
          <p:cNvSpPr txBox="1"/>
          <p:nvPr/>
        </p:nvSpPr>
        <p:spPr>
          <a:xfrm>
            <a:off x="1736165" y="27264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맞춤형</a:t>
            </a:r>
            <a:r>
              <a:rPr lang="en-US" altLang="ko-KR" sz="2800" dirty="0"/>
              <a:t>·</a:t>
            </a:r>
            <a:r>
              <a:rPr lang="ko-KR" altLang="en-US" sz="2800" dirty="0"/>
              <a:t>데이터 기반 </a:t>
            </a:r>
            <a:r>
              <a:rPr lang="ko-KR" altLang="en-US" sz="2800" dirty="0">
                <a:highlight>
                  <a:srgbClr val="FFFF00"/>
                </a:highlight>
              </a:rPr>
              <a:t>학습관리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02AD338-0215-F323-C91E-7B75E107CBAC}"/>
              </a:ext>
            </a:extLst>
          </p:cNvPr>
          <p:cNvSpPr/>
          <p:nvPr/>
        </p:nvSpPr>
        <p:spPr>
          <a:xfrm>
            <a:off x="875554" y="3631434"/>
            <a:ext cx="654422" cy="654422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</a:rPr>
              <a:t>3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C7EAA-A837-4860-B738-1D7822A07472}"/>
              </a:ext>
            </a:extLst>
          </p:cNvPr>
          <p:cNvSpPr txBox="1"/>
          <p:nvPr/>
        </p:nvSpPr>
        <p:spPr>
          <a:xfrm>
            <a:off x="1736164" y="3702887"/>
            <a:ext cx="815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통합 커리큘럼</a:t>
            </a:r>
            <a:r>
              <a:rPr lang="en-US" altLang="ko-KR" sz="2800" dirty="0">
                <a:highlight>
                  <a:srgbClr val="FFFF00"/>
                </a:highlight>
              </a:rPr>
              <a:t>(</a:t>
            </a:r>
            <a:r>
              <a:rPr lang="ko-KR" altLang="en-US" sz="2800" dirty="0">
                <a:highlight>
                  <a:srgbClr val="FFFF00"/>
                </a:highlight>
              </a:rPr>
              <a:t>프로그램</a:t>
            </a:r>
            <a:r>
              <a:rPr lang="en-US" altLang="ko-KR" sz="2800" dirty="0">
                <a:highlight>
                  <a:srgbClr val="FFFF00"/>
                </a:highlight>
              </a:rPr>
              <a:t>)</a:t>
            </a:r>
            <a:r>
              <a:rPr lang="ko-KR" altLang="en-US" sz="2800" dirty="0"/>
              <a:t>을 통한 명확한 방향성 제시  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05A7048-C708-5B09-7E9B-46E63BFACA89}"/>
              </a:ext>
            </a:extLst>
          </p:cNvPr>
          <p:cNvSpPr/>
          <p:nvPr/>
        </p:nvSpPr>
        <p:spPr>
          <a:xfrm>
            <a:off x="875554" y="4582430"/>
            <a:ext cx="654422" cy="65442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</a:rPr>
              <a:t>4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B42C32-352F-D6EC-C46C-9036F9CDA142}"/>
              </a:ext>
            </a:extLst>
          </p:cNvPr>
          <p:cNvSpPr txBox="1"/>
          <p:nvPr/>
        </p:nvSpPr>
        <p:spPr>
          <a:xfrm>
            <a:off x="1736164" y="4653883"/>
            <a:ext cx="7547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지속가능</a:t>
            </a:r>
            <a:r>
              <a:rPr lang="ko-KR" altLang="en-US" sz="2800" dirty="0"/>
              <a:t>한 학원 성장 프로그램의 개발 </a:t>
            </a:r>
          </a:p>
        </p:txBody>
      </p:sp>
    </p:spTree>
    <p:extLst>
      <p:ext uri="{BB962C8B-B14F-4D97-AF65-F5344CB8AC3E}">
        <p14:creationId xmlns:p14="http://schemas.microsoft.com/office/powerpoint/2010/main" val="109266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C406-9CD6-249D-9D69-142A5AFD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5DF97E-D6F1-742A-4358-DD738423B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온라인 생태계 안에서 통합 프로그램을 통한 맞춤형</a:t>
            </a:r>
            <a:r>
              <a:rPr lang="en-US" altLang="ko-KR" sz="2800" dirty="0"/>
              <a:t>·</a:t>
            </a:r>
            <a:r>
              <a:rPr lang="ko-KR" altLang="en-US" sz="2800" dirty="0"/>
              <a:t>데이터 기반 학습관리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B64B13-5333-30F1-C587-8C5022A9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92103-6C09-7D75-D505-6CC4A0002428}"/>
              </a:ext>
            </a:extLst>
          </p:cNvPr>
          <p:cNvSpPr txBox="1"/>
          <p:nvPr/>
        </p:nvSpPr>
        <p:spPr>
          <a:xfrm>
            <a:off x="581210" y="3702420"/>
            <a:ext cx="12954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맞춤형</a:t>
            </a:r>
            <a:endParaRPr lang="en-US" altLang="ko-KR" sz="2800" dirty="0"/>
          </a:p>
          <a:p>
            <a:pPr algn="ctr"/>
            <a:r>
              <a:rPr lang="ko-KR" altLang="en-US" sz="2800" dirty="0"/>
              <a:t>진단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1E64B-3DD7-DD38-75FA-1021671C4969}"/>
              </a:ext>
            </a:extLst>
          </p:cNvPr>
          <p:cNvSpPr txBox="1"/>
          <p:nvPr/>
        </p:nvSpPr>
        <p:spPr>
          <a:xfrm>
            <a:off x="6105710" y="3702420"/>
            <a:ext cx="19177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강의 수강</a:t>
            </a:r>
            <a:endParaRPr lang="en-US" altLang="ko-KR" sz="2800" dirty="0"/>
          </a:p>
          <a:p>
            <a:pPr algn="ctr"/>
            <a:r>
              <a:rPr lang="ko-KR" altLang="en-US" sz="2800" dirty="0"/>
              <a:t>및 학습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97C15-B45C-0F99-3B83-978658B0BBC2}"/>
              </a:ext>
            </a:extLst>
          </p:cNvPr>
          <p:cNvSpPr txBox="1"/>
          <p:nvPr/>
        </p:nvSpPr>
        <p:spPr>
          <a:xfrm>
            <a:off x="3133910" y="3702420"/>
            <a:ext cx="16891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프로그램 </a:t>
            </a:r>
            <a:endParaRPr lang="en-US" altLang="ko-KR" sz="2800" dirty="0"/>
          </a:p>
          <a:p>
            <a:pPr algn="ctr"/>
            <a:r>
              <a:rPr lang="ko-KR" altLang="en-US" sz="2800" dirty="0"/>
              <a:t>구성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FC69A-63CD-D81D-91B9-CAA49779B493}"/>
              </a:ext>
            </a:extLst>
          </p:cNvPr>
          <p:cNvSpPr txBox="1"/>
          <p:nvPr/>
        </p:nvSpPr>
        <p:spPr>
          <a:xfrm>
            <a:off x="9179110" y="3702420"/>
            <a:ext cx="133350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결과</a:t>
            </a:r>
            <a:endParaRPr lang="en-US" altLang="ko-KR" sz="2800" dirty="0"/>
          </a:p>
          <a:p>
            <a:pPr algn="ctr"/>
            <a:r>
              <a:rPr lang="ko-KR" altLang="en-US" sz="2800" dirty="0"/>
              <a:t>측정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68A7C-B3AC-8544-F3B8-F9DBAB4F5898}"/>
              </a:ext>
            </a:extLst>
          </p:cNvPr>
          <p:cNvSpPr txBox="1"/>
          <p:nvPr/>
        </p:nvSpPr>
        <p:spPr>
          <a:xfrm>
            <a:off x="3108510" y="4732727"/>
            <a:ext cx="1835758" cy="51935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강의 커리큘럼</a:t>
            </a:r>
            <a:endParaRPr lang="en-US" altLang="ko-KR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F77DC18-7A0F-497F-0807-3A3CBFF19C6D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1876610" y="4179474"/>
            <a:ext cx="12573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F36FC7F-6071-9E0D-F9BD-933B5F592C31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4823010" y="4179474"/>
            <a:ext cx="12827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1C07DBC-061F-4A00-A4E7-AF4F19A35AD1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023410" y="4179474"/>
            <a:ext cx="11557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ADFBED27-ACD5-8490-862E-88ECBE899A7E}"/>
              </a:ext>
            </a:extLst>
          </p:cNvPr>
          <p:cNvCxnSpPr>
            <a:cxnSpLocks/>
            <a:stCxn id="13" idx="0"/>
            <a:endCxn id="3" idx="0"/>
          </p:cNvCxnSpPr>
          <p:nvPr/>
        </p:nvCxnSpPr>
        <p:spPr>
          <a:xfrm rot="16200000" flipV="1">
            <a:off x="5537385" y="-606055"/>
            <a:ext cx="12700" cy="8616950"/>
          </a:xfrm>
          <a:prstGeom prst="bentConnector3">
            <a:avLst>
              <a:gd name="adj1" fmla="val 85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7C5887-AC17-4A15-AF4D-937F0A235323}"/>
              </a:ext>
            </a:extLst>
          </p:cNvPr>
          <p:cNvSpPr txBox="1"/>
          <p:nvPr/>
        </p:nvSpPr>
        <p:spPr>
          <a:xfrm>
            <a:off x="3090756" y="5313900"/>
            <a:ext cx="1871267" cy="51934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ko-KR" altLang="en-US" dirty="0"/>
              <a:t>학습 계획 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3D7550-30B9-E5AB-1D99-9ADDB62A4D85}"/>
              </a:ext>
            </a:extLst>
          </p:cNvPr>
          <p:cNvSpPr txBox="1"/>
          <p:nvPr/>
        </p:nvSpPr>
        <p:spPr>
          <a:xfrm>
            <a:off x="6214902" y="4732728"/>
            <a:ext cx="1699315" cy="476866"/>
          </a:xfrm>
          <a:prstGeom prst="roundRect">
            <a:avLst>
              <a:gd name="adj" fmla="val 35267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ko-KR" altLang="en-US" dirty="0"/>
              <a:t>최신 자료 제공</a:t>
            </a:r>
            <a:endParaRPr lang="en-US" altLang="ko-K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099AA-499D-F971-FEC9-581B915CC1FC}"/>
              </a:ext>
            </a:extLst>
          </p:cNvPr>
          <p:cNvSpPr txBox="1"/>
          <p:nvPr/>
        </p:nvSpPr>
        <p:spPr>
          <a:xfrm>
            <a:off x="5218191" y="2192312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피드백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85F916-805C-BEED-3E09-6B89C583DFB5}"/>
              </a:ext>
            </a:extLst>
          </p:cNvPr>
          <p:cNvSpPr txBox="1"/>
          <p:nvPr/>
        </p:nvSpPr>
        <p:spPr>
          <a:xfrm>
            <a:off x="4658866" y="1784880"/>
            <a:ext cx="1929444" cy="41036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분기별 학습 컨설팅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9E0CF-6D46-D7AF-C5EE-598E9A883D5A}"/>
              </a:ext>
            </a:extLst>
          </p:cNvPr>
          <p:cNvSpPr txBox="1"/>
          <p:nvPr/>
        </p:nvSpPr>
        <p:spPr>
          <a:xfrm>
            <a:off x="6654679" y="1717697"/>
            <a:ext cx="2276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ko-KR" altLang="en-US" sz="1600" dirty="0"/>
              <a:t>학습 방향</a:t>
            </a:r>
            <a:r>
              <a:rPr lang="en-US" altLang="ko-KR" sz="1600" dirty="0"/>
              <a:t>(</a:t>
            </a:r>
            <a:r>
              <a:rPr lang="ko-KR" altLang="en-US" sz="1600" dirty="0"/>
              <a:t>학원 직원</a:t>
            </a:r>
            <a:r>
              <a:rPr lang="en-US" altLang="ko-KR" sz="1600" dirty="0"/>
              <a:t>)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ko-KR" altLang="en-US" sz="1600" dirty="0"/>
              <a:t>학습 내용</a:t>
            </a:r>
            <a:r>
              <a:rPr lang="en-US" altLang="ko-KR" sz="1600" dirty="0"/>
              <a:t>(</a:t>
            </a:r>
            <a:r>
              <a:rPr lang="ko-KR" altLang="en-US" sz="1600" dirty="0"/>
              <a:t>과목별 강사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06C4FA4A-9151-B5D3-5EF2-C2E9CA6AD148}"/>
              </a:ext>
            </a:extLst>
          </p:cNvPr>
          <p:cNvSpPr/>
          <p:nvPr/>
        </p:nvSpPr>
        <p:spPr>
          <a:xfrm>
            <a:off x="3789202" y="2767845"/>
            <a:ext cx="2425700" cy="699223"/>
          </a:xfrm>
          <a:prstGeom prst="wedgeRoundRectCallout">
            <a:avLst>
              <a:gd name="adj1" fmla="val -32351"/>
              <a:gd name="adj2" fmla="val 7158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진단결과에 맞춘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통합 프로그램 설계</a:t>
            </a:r>
          </a:p>
        </p:txBody>
      </p:sp>
      <p:sp>
        <p:nvSpPr>
          <p:cNvPr id="41" name="말풍선: 모서리가 둥근 사각형 40">
            <a:extLst>
              <a:ext uri="{FF2B5EF4-FFF2-40B4-BE49-F238E27FC236}">
                <a16:creationId xmlns:a16="http://schemas.microsoft.com/office/drawing/2014/main" id="{4ACB4642-B508-FCB7-C8A6-B59C73CEB275}"/>
              </a:ext>
            </a:extLst>
          </p:cNvPr>
          <p:cNvSpPr/>
          <p:nvPr/>
        </p:nvSpPr>
        <p:spPr>
          <a:xfrm>
            <a:off x="8931264" y="1211076"/>
            <a:ext cx="2425700" cy="699223"/>
          </a:xfrm>
          <a:prstGeom prst="wedgeRoundRectCallout">
            <a:avLst>
              <a:gd name="adj1" fmla="val -51199"/>
              <a:gd name="adj2" fmla="val 7884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학습 컨설팅을 포함한 과목별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운영</a:t>
            </a:r>
          </a:p>
        </p:txBody>
      </p:sp>
      <p:sp>
        <p:nvSpPr>
          <p:cNvPr id="42" name="말풍선: 모서리가 둥근 사각형 41">
            <a:extLst>
              <a:ext uri="{FF2B5EF4-FFF2-40B4-BE49-F238E27FC236}">
                <a16:creationId xmlns:a16="http://schemas.microsoft.com/office/drawing/2014/main" id="{C8A36F0C-5196-43B4-16E1-E8E0A8425511}"/>
              </a:ext>
            </a:extLst>
          </p:cNvPr>
          <p:cNvSpPr/>
          <p:nvPr/>
        </p:nvSpPr>
        <p:spPr>
          <a:xfrm>
            <a:off x="10662783" y="4319481"/>
            <a:ext cx="1388362" cy="476867"/>
          </a:xfrm>
          <a:prstGeom prst="wedgeRoundRectCallout">
            <a:avLst>
              <a:gd name="adj1" fmla="val -60361"/>
              <a:gd name="adj2" fmla="val 7893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구독 서비스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A52E21-2523-EF83-1171-C80BCC99DB1C}"/>
              </a:ext>
            </a:extLst>
          </p:cNvPr>
          <p:cNvSpPr txBox="1"/>
          <p:nvPr/>
        </p:nvSpPr>
        <p:spPr>
          <a:xfrm>
            <a:off x="9236476" y="4732727"/>
            <a:ext cx="1276134" cy="51935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/>
              <a:t>학습 결과</a:t>
            </a:r>
            <a:endParaRPr lang="en-US" altLang="ko-KR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2D4815-6985-C183-A155-507406FC9EC2}"/>
              </a:ext>
            </a:extLst>
          </p:cNvPr>
          <p:cNvSpPr txBox="1"/>
          <p:nvPr/>
        </p:nvSpPr>
        <p:spPr>
          <a:xfrm>
            <a:off x="9236476" y="5328278"/>
            <a:ext cx="1276134" cy="51935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계획 달성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49EF7-1134-5BD2-6B6C-F93B63EC6309}"/>
              </a:ext>
            </a:extLst>
          </p:cNvPr>
          <p:cNvSpPr txBox="1"/>
          <p:nvPr/>
        </p:nvSpPr>
        <p:spPr>
          <a:xfrm>
            <a:off x="6163616" y="5313900"/>
            <a:ext cx="1750601" cy="51934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noAutofit/>
          </a:bodyPr>
          <a:lstStyle/>
          <a:p>
            <a:pPr algn="ctr"/>
            <a:r>
              <a:rPr lang="ko-KR" altLang="en-US" dirty="0"/>
              <a:t>학습관리프로그램</a:t>
            </a:r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D4B509CA-8B80-A2A3-DE0F-891C7BB0E5EA}"/>
              </a:ext>
            </a:extLst>
          </p:cNvPr>
          <p:cNvSpPr/>
          <p:nvPr/>
        </p:nvSpPr>
        <p:spPr>
          <a:xfrm>
            <a:off x="7848114" y="5986227"/>
            <a:ext cx="1388362" cy="476867"/>
          </a:xfrm>
          <a:prstGeom prst="wedgeRoundRectCallout">
            <a:avLst>
              <a:gd name="adj1" fmla="val -46155"/>
              <a:gd name="adj2" fmla="val -23501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구독 서비스</a:t>
            </a:r>
          </a:p>
        </p:txBody>
      </p:sp>
    </p:spTree>
    <p:extLst>
      <p:ext uri="{BB962C8B-B14F-4D97-AF65-F5344CB8AC3E}">
        <p14:creationId xmlns:p14="http://schemas.microsoft.com/office/powerpoint/2010/main" val="420874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23A4-9AB8-03B0-801C-BBC7C573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6BBF427-6844-016D-C4B5-7D68E654B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특허법 </a:t>
            </a:r>
            <a:r>
              <a:rPr lang="en-US" altLang="ko-KR" dirty="0"/>
              <a:t>1</a:t>
            </a:r>
            <a:r>
              <a:rPr lang="ko-KR" altLang="en-US" dirty="0"/>
              <a:t>차 커리큘럼과 </a:t>
            </a:r>
            <a:r>
              <a:rPr lang="en-US" altLang="ko-KR" dirty="0"/>
              <a:t>Pass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B63FBA-FAA8-7E4A-493C-99F7949B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1500439-4B37-EF69-1CB8-0A393336C8B0}"/>
              </a:ext>
            </a:extLst>
          </p:cNvPr>
          <p:cNvSpPr/>
          <p:nvPr/>
        </p:nvSpPr>
        <p:spPr>
          <a:xfrm>
            <a:off x="28575" y="1221441"/>
            <a:ext cx="12096749" cy="546864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DDBAA9-5EC0-2CF5-58EF-D220A81F78CE}"/>
              </a:ext>
            </a:extLst>
          </p:cNvPr>
          <p:cNvSpPr/>
          <p:nvPr/>
        </p:nvSpPr>
        <p:spPr>
          <a:xfrm>
            <a:off x="28575" y="3417226"/>
            <a:ext cx="12096749" cy="1424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7D90796C-02E8-C989-0393-3315DEE988C5}"/>
              </a:ext>
            </a:extLst>
          </p:cNvPr>
          <p:cNvSpPr/>
          <p:nvPr/>
        </p:nvSpPr>
        <p:spPr>
          <a:xfrm>
            <a:off x="5186277" y="225338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조문강의</a:t>
            </a:r>
          </a:p>
        </p:txBody>
      </p:sp>
      <p:sp>
        <p:nvSpPr>
          <p:cNvPr id="4142" name="사각형: 둥근 모서리 4141">
            <a:extLst>
              <a:ext uri="{FF2B5EF4-FFF2-40B4-BE49-F238E27FC236}">
                <a16:creationId xmlns:a16="http://schemas.microsoft.com/office/drawing/2014/main" id="{A1E98BCD-96D7-9F32-CC6A-A9B58A7C9AA8}"/>
              </a:ext>
            </a:extLst>
          </p:cNvPr>
          <p:cNvSpPr/>
          <p:nvPr/>
        </p:nvSpPr>
        <p:spPr>
          <a:xfrm>
            <a:off x="2532724" y="22565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</a:rPr>
              <a:t>1</a:t>
            </a:r>
            <a:r>
              <a:rPr lang="ko-KR" altLang="en-US" sz="1200" dirty="0">
                <a:solidFill>
                  <a:srgbClr val="FFFF00"/>
                </a:solidFill>
              </a:rPr>
              <a:t>차기본강의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F49D986C-3950-E0B4-9885-F202FFC18BAD}"/>
              </a:ext>
            </a:extLst>
          </p:cNvPr>
          <p:cNvSpPr/>
          <p:nvPr/>
        </p:nvSpPr>
        <p:spPr>
          <a:xfrm>
            <a:off x="10530681" y="225338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0137633-45F6-58DF-DECE-8619F30C3274}"/>
              </a:ext>
            </a:extLst>
          </p:cNvPr>
          <p:cNvSpPr/>
          <p:nvPr/>
        </p:nvSpPr>
        <p:spPr>
          <a:xfrm>
            <a:off x="7587959" y="22501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판례강의</a:t>
            </a:r>
            <a:r>
              <a:rPr lang="en-US" altLang="ko-KR" sz="1200" dirty="0">
                <a:solidFill>
                  <a:srgbClr val="FFFF00"/>
                </a:solidFill>
              </a:rPr>
              <a:t>(</a:t>
            </a:r>
            <a:r>
              <a:rPr lang="ko-KR" altLang="en-US" sz="1200" dirty="0">
                <a:solidFill>
                  <a:srgbClr val="FFFF00"/>
                </a:solidFill>
              </a:rPr>
              <a:t>심화</a:t>
            </a:r>
            <a:r>
              <a:rPr lang="en-US" altLang="ko-KR" sz="1200" dirty="0">
                <a:solidFill>
                  <a:srgbClr val="FFFF00"/>
                </a:solidFill>
              </a:rPr>
              <a:t>)</a:t>
            </a:r>
            <a:endParaRPr lang="ko-KR" altLang="en-US" sz="1200" dirty="0">
              <a:solidFill>
                <a:srgbClr val="FFFF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2D7EA1B-FD7C-AEFE-92B9-9CC6E4091306}"/>
              </a:ext>
            </a:extLst>
          </p:cNvPr>
          <p:cNvCxnSpPr>
            <a:stCxn id="4142" idx="3"/>
            <a:endCxn id="4139" idx="1"/>
          </p:cNvCxnSpPr>
          <p:nvPr/>
        </p:nvCxnSpPr>
        <p:spPr>
          <a:xfrm flipV="1">
            <a:off x="3632227" y="2394839"/>
            <a:ext cx="1554050" cy="31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96E9989-382B-E6EA-4034-7921D8E923BB}"/>
              </a:ext>
            </a:extLst>
          </p:cNvPr>
          <p:cNvCxnSpPr>
            <a:cxnSpLocks/>
            <a:stCxn id="4139" idx="3"/>
            <a:endCxn id="4" idx="1"/>
          </p:cNvCxnSpPr>
          <p:nvPr/>
        </p:nvCxnSpPr>
        <p:spPr>
          <a:xfrm flipV="1">
            <a:off x="6285780" y="2391614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D08B9A6-76D5-0E2D-E356-9C0B1DE2D179}"/>
              </a:ext>
            </a:extLst>
          </p:cNvPr>
          <p:cNvSpPr txBox="1"/>
          <p:nvPr/>
        </p:nvSpPr>
        <p:spPr>
          <a:xfrm>
            <a:off x="2578700" y="132937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기본이론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6F7D7-1CBD-A8DA-0E5A-1ABAC4084DA5}"/>
              </a:ext>
            </a:extLst>
          </p:cNvPr>
          <p:cNvSpPr txBox="1"/>
          <p:nvPr/>
        </p:nvSpPr>
        <p:spPr>
          <a:xfrm>
            <a:off x="5412769" y="132937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조 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BC7EAC-3D98-CA3F-FDA7-903838AE9252}"/>
              </a:ext>
            </a:extLst>
          </p:cNvPr>
          <p:cNvSpPr txBox="1"/>
          <p:nvPr/>
        </p:nvSpPr>
        <p:spPr>
          <a:xfrm>
            <a:off x="7816131" y="132937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판 </a:t>
            </a:r>
            <a:r>
              <a:rPr lang="ko-KR" altLang="en-US" dirty="0" err="1">
                <a:solidFill>
                  <a:schemeClr val="bg1"/>
                </a:solidFill>
              </a:rPr>
              <a:t>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647BC9-3B42-2229-BBBD-F62F1E405FCB}"/>
              </a:ext>
            </a:extLst>
          </p:cNvPr>
          <p:cNvSpPr txBox="1"/>
          <p:nvPr/>
        </p:nvSpPr>
        <p:spPr>
          <a:xfrm>
            <a:off x="10658558" y="131144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객관식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B3427C5-AB7E-FFAA-49CF-4FB7243E0E0B}"/>
              </a:ext>
            </a:extLst>
          </p:cNvPr>
          <p:cNvSpPr/>
          <p:nvPr/>
        </p:nvSpPr>
        <p:spPr>
          <a:xfrm>
            <a:off x="1205953" y="2238798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입문자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상반기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7800403-F5E1-69E1-2B33-87E79051B7D4}"/>
              </a:ext>
            </a:extLst>
          </p:cNvPr>
          <p:cNvSpPr/>
          <p:nvPr/>
        </p:nvSpPr>
        <p:spPr>
          <a:xfrm>
            <a:off x="1205953" y="5206376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재시생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169686F-C7EB-B07D-641E-B7A6F098F24A}"/>
              </a:ext>
            </a:extLst>
          </p:cNvPr>
          <p:cNvSpPr/>
          <p:nvPr/>
        </p:nvSpPr>
        <p:spPr>
          <a:xfrm>
            <a:off x="1205953" y="3722587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입문자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하반기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5FC7CD0-16D7-1504-5D7C-89F0F389A443}"/>
              </a:ext>
            </a:extLst>
          </p:cNvPr>
          <p:cNvCxnSpPr>
            <a:cxnSpLocks/>
            <a:stCxn id="4" idx="3"/>
            <a:endCxn id="4150" idx="1"/>
          </p:cNvCxnSpPr>
          <p:nvPr/>
        </p:nvCxnSpPr>
        <p:spPr>
          <a:xfrm>
            <a:off x="8687462" y="2391614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29B1A63-CCC7-9899-D0DB-7B33744041F6}"/>
              </a:ext>
            </a:extLst>
          </p:cNvPr>
          <p:cNvSpPr/>
          <p:nvPr/>
        </p:nvSpPr>
        <p:spPr>
          <a:xfrm>
            <a:off x="5186277" y="39345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조문강의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DA8A5BD-586A-3302-B8B6-DCAB4FD0FB78}"/>
              </a:ext>
            </a:extLst>
          </p:cNvPr>
          <p:cNvSpPr/>
          <p:nvPr/>
        </p:nvSpPr>
        <p:spPr>
          <a:xfrm>
            <a:off x="2532724" y="393770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</a:rPr>
              <a:t>1</a:t>
            </a:r>
            <a:r>
              <a:rPr lang="ko-KR" altLang="en-US" sz="1200" dirty="0">
                <a:solidFill>
                  <a:srgbClr val="FFFF00"/>
                </a:solidFill>
              </a:rPr>
              <a:t>차기본강의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EB983F-CF8A-E115-C3C0-A3724A7FA49F}"/>
              </a:ext>
            </a:extLst>
          </p:cNvPr>
          <p:cNvSpPr/>
          <p:nvPr/>
        </p:nvSpPr>
        <p:spPr>
          <a:xfrm>
            <a:off x="10530681" y="39345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9BA2E32-D4D5-9A59-6922-4CE0BC82B174}"/>
              </a:ext>
            </a:extLst>
          </p:cNvPr>
          <p:cNvSpPr/>
          <p:nvPr/>
        </p:nvSpPr>
        <p:spPr>
          <a:xfrm>
            <a:off x="7587959" y="393133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판례강의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최신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ABDDC88-A97C-DB01-A3B6-EFCF4C2250A4}"/>
              </a:ext>
            </a:extLst>
          </p:cNvPr>
          <p:cNvCxnSpPr>
            <a:stCxn id="29" idx="3"/>
            <a:endCxn id="28" idx="1"/>
          </p:cNvCxnSpPr>
          <p:nvPr/>
        </p:nvCxnSpPr>
        <p:spPr>
          <a:xfrm flipV="1">
            <a:off x="3632227" y="4076014"/>
            <a:ext cx="1554050" cy="31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96B0AAD-E417-EBAD-1E70-FCB7AFC35824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 flipV="1">
            <a:off x="6285780" y="4072789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A70C4C9-BA14-A910-42BC-4993D645635D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>
            <a:off x="8687462" y="4072789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B463C62-2C46-829F-4A37-E29E5AABA582}"/>
              </a:ext>
            </a:extLst>
          </p:cNvPr>
          <p:cNvSpPr/>
          <p:nvPr/>
        </p:nvSpPr>
        <p:spPr>
          <a:xfrm>
            <a:off x="5186277" y="54009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정리강의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49767BF-09FB-BFDA-779A-469BC52C4D21}"/>
              </a:ext>
            </a:extLst>
          </p:cNvPr>
          <p:cNvSpPr/>
          <p:nvPr/>
        </p:nvSpPr>
        <p:spPr>
          <a:xfrm>
            <a:off x="10530681" y="54009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4A7E867-255F-83AF-9AAD-C89C27948B2B}"/>
              </a:ext>
            </a:extLst>
          </p:cNvPr>
          <p:cNvSpPr/>
          <p:nvPr/>
        </p:nvSpPr>
        <p:spPr>
          <a:xfrm>
            <a:off x="7587959" y="539770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판례강의</a:t>
            </a:r>
            <a:r>
              <a:rPr lang="en-US" altLang="ko-KR" sz="1200" dirty="0">
                <a:solidFill>
                  <a:srgbClr val="FFFF00"/>
                </a:solidFill>
              </a:rPr>
              <a:t>(</a:t>
            </a:r>
            <a:r>
              <a:rPr lang="ko-KR" altLang="en-US" sz="1200" dirty="0">
                <a:solidFill>
                  <a:srgbClr val="FFFF00"/>
                </a:solidFill>
              </a:rPr>
              <a:t>심화</a:t>
            </a:r>
            <a:r>
              <a:rPr lang="en-US" altLang="ko-KR" sz="1200" dirty="0">
                <a:solidFill>
                  <a:srgbClr val="FFFF00"/>
                </a:solidFill>
              </a:rPr>
              <a:t>)</a:t>
            </a:r>
            <a:endParaRPr lang="ko-KR" altLang="en-US" sz="1200" dirty="0">
              <a:solidFill>
                <a:srgbClr val="FFFF00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5716C85-FC0E-BB02-B037-35A1E76D1268}"/>
              </a:ext>
            </a:extLst>
          </p:cNvPr>
          <p:cNvCxnSpPr>
            <a:cxnSpLocks/>
            <a:stCxn id="52" idx="3"/>
            <a:endCxn id="54" idx="1"/>
          </p:cNvCxnSpPr>
          <p:nvPr/>
        </p:nvCxnSpPr>
        <p:spPr>
          <a:xfrm flipV="1">
            <a:off x="6285780" y="5539160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3AADAE3-F396-8D39-DC25-C5E926810199}"/>
              </a:ext>
            </a:extLst>
          </p:cNvPr>
          <p:cNvCxnSpPr>
            <a:cxnSpLocks/>
            <a:stCxn id="54" idx="3"/>
            <a:endCxn id="53" idx="1"/>
          </p:cNvCxnSpPr>
          <p:nvPr/>
        </p:nvCxnSpPr>
        <p:spPr>
          <a:xfrm>
            <a:off x="8687462" y="5539160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말풍선: 모서리가 둥근 사각형 58">
            <a:extLst>
              <a:ext uri="{FF2B5EF4-FFF2-40B4-BE49-F238E27FC236}">
                <a16:creationId xmlns:a16="http://schemas.microsoft.com/office/drawing/2014/main" id="{19E0D912-50A6-44C6-2459-B685178D4493}"/>
              </a:ext>
            </a:extLst>
          </p:cNvPr>
          <p:cNvSpPr/>
          <p:nvPr/>
        </p:nvSpPr>
        <p:spPr>
          <a:xfrm>
            <a:off x="104630" y="1940591"/>
            <a:ext cx="1230378" cy="347039"/>
          </a:xfrm>
          <a:prstGeom prst="wedgeRoundRectCallout">
            <a:avLst>
              <a:gd name="adj1" fmla="val 39295"/>
              <a:gd name="adj2" fmla="val 10416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5</a:t>
            </a:r>
            <a:r>
              <a:rPr lang="ko-KR" altLang="en-US" sz="1050" dirty="0">
                <a:solidFill>
                  <a:schemeClr val="tx1"/>
                </a:solidFill>
              </a:rPr>
              <a:t>회독 </a:t>
            </a:r>
            <a:r>
              <a:rPr lang="ko-KR" altLang="en-US" sz="1050" dirty="0" err="1">
                <a:solidFill>
                  <a:schemeClr val="tx1"/>
                </a:solidFill>
              </a:rPr>
              <a:t>미만자</a:t>
            </a:r>
            <a:r>
              <a:rPr lang="ko-KR" altLang="en-US" sz="1050" dirty="0">
                <a:solidFill>
                  <a:schemeClr val="tx1"/>
                </a:solidFill>
              </a:rPr>
              <a:t> 포함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01D254-174D-5535-BA62-FC220978D2DD}"/>
              </a:ext>
            </a:extLst>
          </p:cNvPr>
          <p:cNvSpPr/>
          <p:nvPr/>
        </p:nvSpPr>
        <p:spPr>
          <a:xfrm>
            <a:off x="5186277" y="2552505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3ADED1-B325-61FF-6D7F-6CCA293C5029}"/>
              </a:ext>
            </a:extLst>
          </p:cNvPr>
          <p:cNvSpPr/>
          <p:nvPr/>
        </p:nvSpPr>
        <p:spPr>
          <a:xfrm>
            <a:off x="5186277" y="4239055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8088CF2-AC03-F986-C7D2-E35780878A44}"/>
              </a:ext>
            </a:extLst>
          </p:cNvPr>
          <p:cNvSpPr/>
          <p:nvPr/>
        </p:nvSpPr>
        <p:spPr>
          <a:xfrm>
            <a:off x="5186277" y="570906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E2B3F238-D227-B387-8ADD-60D3A11077FD}"/>
              </a:ext>
            </a:extLst>
          </p:cNvPr>
          <p:cNvSpPr/>
          <p:nvPr/>
        </p:nvSpPr>
        <p:spPr>
          <a:xfrm>
            <a:off x="74316" y="4928434"/>
            <a:ext cx="1230378" cy="347039"/>
          </a:xfrm>
          <a:prstGeom prst="wedgeRoundRectCallout">
            <a:avLst>
              <a:gd name="adj1" fmla="val 37109"/>
              <a:gd name="adj2" fmla="val 8607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5</a:t>
            </a:r>
            <a:r>
              <a:rPr lang="ko-KR" altLang="en-US" sz="1050" dirty="0">
                <a:solidFill>
                  <a:schemeClr val="tx1"/>
                </a:solidFill>
              </a:rPr>
              <a:t>회독 </a:t>
            </a:r>
            <a:r>
              <a:rPr lang="ko-KR" altLang="en-US" sz="1050" dirty="0" err="1">
                <a:solidFill>
                  <a:schemeClr val="tx1"/>
                </a:solidFill>
              </a:rPr>
              <a:t>이상자</a:t>
            </a:r>
            <a:r>
              <a:rPr lang="ko-KR" altLang="en-US" sz="1050" dirty="0">
                <a:solidFill>
                  <a:schemeClr val="tx1"/>
                </a:solidFill>
              </a:rPr>
              <a:t> 해당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C0719-1D58-5E57-88DE-B40EAB14C3B8}"/>
              </a:ext>
            </a:extLst>
          </p:cNvPr>
          <p:cNvSpPr txBox="1"/>
          <p:nvPr/>
        </p:nvSpPr>
        <p:spPr>
          <a:xfrm>
            <a:off x="139700" y="6388100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Pass </a:t>
            </a:r>
            <a:r>
              <a:rPr lang="ko-KR" altLang="en-US" dirty="0"/>
              <a:t>수강생은 포인트를 지급하여 교재 할인</a:t>
            </a:r>
          </a:p>
        </p:txBody>
      </p:sp>
    </p:spTree>
    <p:extLst>
      <p:ext uri="{BB962C8B-B14F-4D97-AF65-F5344CB8AC3E}">
        <p14:creationId xmlns:p14="http://schemas.microsoft.com/office/powerpoint/2010/main" val="150498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84C7-091E-4B35-D18A-D9B6D7D5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EE2E07-6225-D5B4-2DF5-AE013AF6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B1B4CF-A044-81C3-15D5-8EA19F18A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138" y="0"/>
            <a:ext cx="11853862" cy="711200"/>
          </a:xfrm>
        </p:spPr>
        <p:txBody>
          <a:bodyPr/>
          <a:lstStyle/>
          <a:p>
            <a:r>
              <a:rPr lang="ko-KR" altLang="en-US" dirty="0"/>
              <a:t>산업재산권법 온라인 구독 플랫폼</a:t>
            </a:r>
            <a:endParaRPr lang="en-US" altLang="ko-KR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6BA09A-3079-F889-74EE-600F71D648B9}"/>
              </a:ext>
            </a:extLst>
          </p:cNvPr>
          <p:cNvSpPr/>
          <p:nvPr/>
        </p:nvSpPr>
        <p:spPr>
          <a:xfrm>
            <a:off x="28575" y="1221441"/>
            <a:ext cx="12096749" cy="546864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C608BE-EDF6-EBCA-56A8-07B25839B0BC}"/>
              </a:ext>
            </a:extLst>
          </p:cNvPr>
          <p:cNvSpPr/>
          <p:nvPr/>
        </p:nvSpPr>
        <p:spPr>
          <a:xfrm>
            <a:off x="28575" y="3417226"/>
            <a:ext cx="12096749" cy="1424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57FB6-87C7-5875-F634-F18026A7A6A6}"/>
              </a:ext>
            </a:extLst>
          </p:cNvPr>
          <p:cNvSpPr/>
          <p:nvPr/>
        </p:nvSpPr>
        <p:spPr>
          <a:xfrm>
            <a:off x="5186277" y="225338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조문강의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9E6FB6-9DD7-EB07-9815-02EE810C4A9E}"/>
              </a:ext>
            </a:extLst>
          </p:cNvPr>
          <p:cNvSpPr/>
          <p:nvPr/>
        </p:nvSpPr>
        <p:spPr>
          <a:xfrm>
            <a:off x="2532724" y="22565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</a:rPr>
              <a:t>1</a:t>
            </a:r>
            <a:r>
              <a:rPr lang="ko-KR" altLang="en-US" sz="1200" dirty="0">
                <a:solidFill>
                  <a:srgbClr val="FFFF00"/>
                </a:solidFill>
              </a:rPr>
              <a:t>차기본강의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673896-525F-3CD9-B4D1-BCCBED7B500E}"/>
              </a:ext>
            </a:extLst>
          </p:cNvPr>
          <p:cNvSpPr/>
          <p:nvPr/>
        </p:nvSpPr>
        <p:spPr>
          <a:xfrm>
            <a:off x="10530681" y="225338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05868C-3FAA-56BA-5D6E-3F8697B0362D}"/>
              </a:ext>
            </a:extLst>
          </p:cNvPr>
          <p:cNvSpPr/>
          <p:nvPr/>
        </p:nvSpPr>
        <p:spPr>
          <a:xfrm>
            <a:off x="7587959" y="22501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판례강의</a:t>
            </a:r>
            <a:r>
              <a:rPr lang="en-US" altLang="ko-KR" sz="1200" dirty="0">
                <a:solidFill>
                  <a:srgbClr val="FFFF00"/>
                </a:solidFill>
              </a:rPr>
              <a:t>(</a:t>
            </a:r>
            <a:r>
              <a:rPr lang="ko-KR" altLang="en-US" sz="1200" dirty="0">
                <a:solidFill>
                  <a:srgbClr val="FFFF00"/>
                </a:solidFill>
              </a:rPr>
              <a:t>심화</a:t>
            </a:r>
            <a:r>
              <a:rPr lang="en-US" altLang="ko-KR" sz="1200" dirty="0">
                <a:solidFill>
                  <a:srgbClr val="FFFF00"/>
                </a:solidFill>
              </a:rPr>
              <a:t>)</a:t>
            </a:r>
            <a:endParaRPr lang="ko-KR" altLang="en-US" sz="1200" dirty="0">
              <a:solidFill>
                <a:srgbClr val="FFFF0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ED7A42-6D4A-C7E6-CAA9-CC6E02E9C811}"/>
              </a:ext>
            </a:extLst>
          </p:cNvPr>
          <p:cNvCxnSpPr>
            <a:stCxn id="10" idx="3"/>
            <a:endCxn id="9" idx="1"/>
          </p:cNvCxnSpPr>
          <p:nvPr/>
        </p:nvCxnSpPr>
        <p:spPr>
          <a:xfrm flipV="1">
            <a:off x="3632227" y="2394839"/>
            <a:ext cx="1554050" cy="31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45A2E9B-9AC5-57F1-1340-BB8FD1D3559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6285780" y="2391614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25EE8F-C03D-237C-998B-8BDAAB436FBA}"/>
              </a:ext>
            </a:extLst>
          </p:cNvPr>
          <p:cNvSpPr txBox="1"/>
          <p:nvPr/>
        </p:nvSpPr>
        <p:spPr>
          <a:xfrm>
            <a:off x="2578700" y="132937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기본이론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4C359-5D9B-6915-BE22-DF30EC994CA2}"/>
              </a:ext>
            </a:extLst>
          </p:cNvPr>
          <p:cNvSpPr txBox="1"/>
          <p:nvPr/>
        </p:nvSpPr>
        <p:spPr>
          <a:xfrm>
            <a:off x="5412769" y="132937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조 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DC0468-9A32-9552-C000-8EA5885D2B51}"/>
              </a:ext>
            </a:extLst>
          </p:cNvPr>
          <p:cNvSpPr txBox="1"/>
          <p:nvPr/>
        </p:nvSpPr>
        <p:spPr>
          <a:xfrm>
            <a:off x="7816131" y="1329373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판 </a:t>
            </a:r>
            <a:r>
              <a:rPr lang="ko-KR" altLang="en-US" dirty="0" err="1">
                <a:solidFill>
                  <a:schemeClr val="bg1"/>
                </a:solidFill>
              </a:rPr>
              <a:t>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E2A10-3037-4FFB-1EB2-EB60C353B467}"/>
              </a:ext>
            </a:extLst>
          </p:cNvPr>
          <p:cNvSpPr txBox="1"/>
          <p:nvPr/>
        </p:nvSpPr>
        <p:spPr>
          <a:xfrm>
            <a:off x="10658558" y="131144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객관식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6A3E1E0-22B9-AC83-D11F-E412EF46153E}"/>
              </a:ext>
            </a:extLst>
          </p:cNvPr>
          <p:cNvSpPr/>
          <p:nvPr/>
        </p:nvSpPr>
        <p:spPr>
          <a:xfrm>
            <a:off x="1205953" y="2238798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입문자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상반기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7C4FFF3-3719-A674-8214-F33681CCD3D3}"/>
              </a:ext>
            </a:extLst>
          </p:cNvPr>
          <p:cNvSpPr/>
          <p:nvPr/>
        </p:nvSpPr>
        <p:spPr>
          <a:xfrm>
            <a:off x="1205953" y="5206376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재시생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C5D259C-4804-F371-B5FF-BDC231201D13}"/>
              </a:ext>
            </a:extLst>
          </p:cNvPr>
          <p:cNvSpPr/>
          <p:nvPr/>
        </p:nvSpPr>
        <p:spPr>
          <a:xfrm>
            <a:off x="1205953" y="3722587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입문자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하반기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42F7C6-BBAA-C6EF-4C4B-CCC20412D6FF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8687462" y="2391614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B257482-957C-AC61-E564-4E0BA25F6D1C}"/>
              </a:ext>
            </a:extLst>
          </p:cNvPr>
          <p:cNvSpPr/>
          <p:nvPr/>
        </p:nvSpPr>
        <p:spPr>
          <a:xfrm>
            <a:off x="5186277" y="39345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조문강의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3657576-DD37-23B1-A2FB-736A910143BC}"/>
              </a:ext>
            </a:extLst>
          </p:cNvPr>
          <p:cNvSpPr/>
          <p:nvPr/>
        </p:nvSpPr>
        <p:spPr>
          <a:xfrm>
            <a:off x="2532724" y="393770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</a:rPr>
              <a:t>1</a:t>
            </a:r>
            <a:r>
              <a:rPr lang="ko-KR" altLang="en-US" sz="1200" dirty="0">
                <a:solidFill>
                  <a:srgbClr val="FFFF00"/>
                </a:solidFill>
              </a:rPr>
              <a:t>차기본강의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FC9095E-E54C-4119-DE64-347CAE6A1F5C}"/>
              </a:ext>
            </a:extLst>
          </p:cNvPr>
          <p:cNvSpPr/>
          <p:nvPr/>
        </p:nvSpPr>
        <p:spPr>
          <a:xfrm>
            <a:off x="10530681" y="393456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6816A81-C859-5943-6F4D-3C28CA346B2B}"/>
              </a:ext>
            </a:extLst>
          </p:cNvPr>
          <p:cNvSpPr/>
          <p:nvPr/>
        </p:nvSpPr>
        <p:spPr>
          <a:xfrm>
            <a:off x="7587959" y="393133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판례강의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최신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37481A0-B3F7-867E-650E-B518FA071A98}"/>
              </a:ext>
            </a:extLst>
          </p:cNvPr>
          <p:cNvCxnSpPr>
            <a:stCxn id="24" idx="3"/>
            <a:endCxn id="23" idx="1"/>
          </p:cNvCxnSpPr>
          <p:nvPr/>
        </p:nvCxnSpPr>
        <p:spPr>
          <a:xfrm flipV="1">
            <a:off x="3632227" y="4076014"/>
            <a:ext cx="1554050" cy="31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1A1FD58-1C32-F6FF-DBF6-56DF8C5EC43E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 flipV="1">
            <a:off x="6285780" y="4072789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7A89C23-5ACA-9BAC-6822-27DB445EEECA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8687462" y="4072789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FA3046D-C15E-1642-1901-1CA6B23F8F7A}"/>
              </a:ext>
            </a:extLst>
          </p:cNvPr>
          <p:cNvSpPr/>
          <p:nvPr/>
        </p:nvSpPr>
        <p:spPr>
          <a:xfrm>
            <a:off x="5186277" y="54009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정리강의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5630598-D12E-0852-88F7-3CEF1DCE76B4}"/>
              </a:ext>
            </a:extLst>
          </p:cNvPr>
          <p:cNvSpPr/>
          <p:nvPr/>
        </p:nvSpPr>
        <p:spPr>
          <a:xfrm>
            <a:off x="10530681" y="5400933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EEF4B73-D8CE-741A-8AF4-528A20C1841C}"/>
              </a:ext>
            </a:extLst>
          </p:cNvPr>
          <p:cNvSpPr/>
          <p:nvPr/>
        </p:nvSpPr>
        <p:spPr>
          <a:xfrm>
            <a:off x="7587959" y="539770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판례강의</a:t>
            </a:r>
            <a:r>
              <a:rPr lang="en-US" altLang="ko-KR" sz="1200" dirty="0">
                <a:solidFill>
                  <a:srgbClr val="FFFF00"/>
                </a:solidFill>
              </a:rPr>
              <a:t>(</a:t>
            </a:r>
            <a:r>
              <a:rPr lang="ko-KR" altLang="en-US" sz="1200" dirty="0">
                <a:solidFill>
                  <a:srgbClr val="FFFF00"/>
                </a:solidFill>
              </a:rPr>
              <a:t>심화</a:t>
            </a:r>
            <a:r>
              <a:rPr lang="en-US" altLang="ko-KR" sz="1200" dirty="0">
                <a:solidFill>
                  <a:srgbClr val="FFFF00"/>
                </a:solidFill>
              </a:rPr>
              <a:t>)</a:t>
            </a:r>
            <a:endParaRPr lang="ko-KR" altLang="en-US" sz="1200" dirty="0">
              <a:solidFill>
                <a:srgbClr val="FFFF00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6752836-C4A6-C804-7688-030E59F62673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6285780" y="5539160"/>
            <a:ext cx="1302179" cy="322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632FA8D-6F35-2C73-3DA6-1739B731CC91}"/>
              </a:ext>
            </a:extLst>
          </p:cNvPr>
          <p:cNvCxnSpPr>
            <a:cxnSpLocks/>
            <a:stCxn id="32" idx="3"/>
            <a:endCxn id="31" idx="1"/>
          </p:cNvCxnSpPr>
          <p:nvPr/>
        </p:nvCxnSpPr>
        <p:spPr>
          <a:xfrm>
            <a:off x="8687462" y="5539160"/>
            <a:ext cx="1843219" cy="3225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말풍선: 모서리가 둥근 사각형 34">
            <a:extLst>
              <a:ext uri="{FF2B5EF4-FFF2-40B4-BE49-F238E27FC236}">
                <a16:creationId xmlns:a16="http://schemas.microsoft.com/office/drawing/2014/main" id="{E87F42F6-2564-94F9-D6C6-84499927C1DB}"/>
              </a:ext>
            </a:extLst>
          </p:cNvPr>
          <p:cNvSpPr/>
          <p:nvPr/>
        </p:nvSpPr>
        <p:spPr>
          <a:xfrm>
            <a:off x="104630" y="1940591"/>
            <a:ext cx="1230378" cy="347039"/>
          </a:xfrm>
          <a:prstGeom prst="wedgeRoundRectCallout">
            <a:avLst>
              <a:gd name="adj1" fmla="val 39295"/>
              <a:gd name="adj2" fmla="val 10416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5</a:t>
            </a:r>
            <a:r>
              <a:rPr lang="ko-KR" altLang="en-US" sz="1050" dirty="0">
                <a:solidFill>
                  <a:schemeClr val="tx1"/>
                </a:solidFill>
              </a:rPr>
              <a:t>회독 </a:t>
            </a:r>
            <a:r>
              <a:rPr lang="ko-KR" altLang="en-US" sz="1050" dirty="0" err="1">
                <a:solidFill>
                  <a:schemeClr val="tx1"/>
                </a:solidFill>
              </a:rPr>
              <a:t>미만자</a:t>
            </a:r>
            <a:r>
              <a:rPr lang="ko-KR" altLang="en-US" sz="1050" dirty="0">
                <a:solidFill>
                  <a:schemeClr val="tx1"/>
                </a:solidFill>
              </a:rPr>
              <a:t> 포함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A763529-2CB4-3CF3-ECAF-94582CB0E2A8}"/>
              </a:ext>
            </a:extLst>
          </p:cNvPr>
          <p:cNvSpPr/>
          <p:nvPr/>
        </p:nvSpPr>
        <p:spPr>
          <a:xfrm>
            <a:off x="5186277" y="2552505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99679F4-5E46-9A96-73FC-8A3D59825B28}"/>
              </a:ext>
            </a:extLst>
          </p:cNvPr>
          <p:cNvSpPr/>
          <p:nvPr/>
        </p:nvSpPr>
        <p:spPr>
          <a:xfrm>
            <a:off x="5186277" y="4239055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72C8DD6-A3C8-983F-3B79-8F5D9B1823B1}"/>
              </a:ext>
            </a:extLst>
          </p:cNvPr>
          <p:cNvSpPr/>
          <p:nvPr/>
        </p:nvSpPr>
        <p:spPr>
          <a:xfrm>
            <a:off x="5186277" y="5709068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  <p:sp>
        <p:nvSpPr>
          <p:cNvPr id="39" name="말풍선: 모서리가 둥근 사각형 38">
            <a:extLst>
              <a:ext uri="{FF2B5EF4-FFF2-40B4-BE49-F238E27FC236}">
                <a16:creationId xmlns:a16="http://schemas.microsoft.com/office/drawing/2014/main" id="{67FE7602-E647-83FE-E831-1D6D9CE7801F}"/>
              </a:ext>
            </a:extLst>
          </p:cNvPr>
          <p:cNvSpPr/>
          <p:nvPr/>
        </p:nvSpPr>
        <p:spPr>
          <a:xfrm>
            <a:off x="74316" y="4928434"/>
            <a:ext cx="1230378" cy="347039"/>
          </a:xfrm>
          <a:prstGeom prst="wedgeRoundRectCallout">
            <a:avLst>
              <a:gd name="adj1" fmla="val 37109"/>
              <a:gd name="adj2" fmla="val 8607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5</a:t>
            </a:r>
            <a:r>
              <a:rPr lang="ko-KR" altLang="en-US" sz="1050" dirty="0">
                <a:solidFill>
                  <a:schemeClr val="tx1"/>
                </a:solidFill>
              </a:rPr>
              <a:t>회독 </a:t>
            </a:r>
            <a:r>
              <a:rPr lang="ko-KR" altLang="en-US" sz="1050" dirty="0" err="1">
                <a:solidFill>
                  <a:schemeClr val="tx1"/>
                </a:solidFill>
              </a:rPr>
              <a:t>이상자</a:t>
            </a:r>
            <a:r>
              <a:rPr lang="ko-KR" altLang="en-US" sz="1050" dirty="0">
                <a:solidFill>
                  <a:schemeClr val="tx1"/>
                </a:solidFill>
              </a:rPr>
              <a:t> 해당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0E3821-4891-6463-8242-8BD349437F04}"/>
              </a:ext>
            </a:extLst>
          </p:cNvPr>
          <p:cNvSpPr/>
          <p:nvPr/>
        </p:nvSpPr>
        <p:spPr>
          <a:xfrm>
            <a:off x="2241176" y="887506"/>
            <a:ext cx="1775012" cy="579120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B6E3E9-67E9-1FD9-60B8-15647252B7EA}"/>
              </a:ext>
            </a:extLst>
          </p:cNvPr>
          <p:cNvSpPr/>
          <p:nvPr/>
        </p:nvSpPr>
        <p:spPr>
          <a:xfrm>
            <a:off x="4839832" y="887506"/>
            <a:ext cx="6990217" cy="579120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D8DE78-163B-59E7-1E25-C225114D1817}"/>
              </a:ext>
            </a:extLst>
          </p:cNvPr>
          <p:cNvSpPr txBox="1"/>
          <p:nvPr/>
        </p:nvSpPr>
        <p:spPr>
          <a:xfrm>
            <a:off x="2250734" y="3162960"/>
            <a:ext cx="176545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필수</a:t>
            </a:r>
            <a:endParaRPr lang="en-US" altLang="ko-KR" dirty="0"/>
          </a:p>
          <a:p>
            <a:pPr algn="ctr"/>
            <a:r>
              <a:rPr lang="ko-KR" altLang="en-US" dirty="0" err="1"/>
              <a:t>수강률</a:t>
            </a:r>
            <a:r>
              <a:rPr lang="ko-KR" altLang="en-US" dirty="0"/>
              <a:t> </a:t>
            </a:r>
            <a:r>
              <a:rPr lang="en-US" altLang="ko-KR" dirty="0"/>
              <a:t>80%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E85EA4-DC66-8E66-881C-EC46417B8F75}"/>
              </a:ext>
            </a:extLst>
          </p:cNvPr>
          <p:cNvSpPr txBox="1"/>
          <p:nvPr/>
        </p:nvSpPr>
        <p:spPr>
          <a:xfrm>
            <a:off x="4839831" y="3171843"/>
            <a:ext cx="69902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선택</a:t>
            </a:r>
            <a:endParaRPr lang="en-US" altLang="ko-KR" dirty="0"/>
          </a:p>
          <a:p>
            <a:pPr algn="ctr"/>
            <a:r>
              <a:rPr lang="ko-KR" altLang="en-US" dirty="0" err="1"/>
              <a:t>수강률</a:t>
            </a:r>
            <a:r>
              <a:rPr lang="ko-KR" altLang="en-US" dirty="0"/>
              <a:t> </a:t>
            </a:r>
            <a:r>
              <a:rPr lang="en-US" altLang="ko-KR" dirty="0"/>
              <a:t>20%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76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BC30-3D50-E71A-359E-57EA56E2A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C6939BA-72EF-6288-F4CE-8723E0C34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B1668E-B281-F1D1-F3B4-7066CFC1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96F5BC-A231-F86E-5CA9-F8C33451E5F9}"/>
              </a:ext>
            </a:extLst>
          </p:cNvPr>
          <p:cNvSpPr/>
          <p:nvPr/>
        </p:nvSpPr>
        <p:spPr>
          <a:xfrm>
            <a:off x="4316167" y="829345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4C7543-9760-91CD-5F53-1C65D46FA2C0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944F99-1F84-5BE7-CC3C-D6C5553A3D9E}"/>
              </a:ext>
            </a:extLst>
          </p:cNvPr>
          <p:cNvSpPr/>
          <p:nvPr/>
        </p:nvSpPr>
        <p:spPr>
          <a:xfrm>
            <a:off x="4316167" y="1234468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8B508-BEF6-C644-B258-72571A393F9A}"/>
              </a:ext>
            </a:extLst>
          </p:cNvPr>
          <p:cNvSpPr txBox="1"/>
          <p:nvPr/>
        </p:nvSpPr>
        <p:spPr>
          <a:xfrm>
            <a:off x="1474692" y="1967034"/>
            <a:ext cx="1023035" cy="22506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0" bIns="0" rtlCol="0" anchor="ctr">
            <a:no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CE425-2FD7-BF10-987C-3C3D5CA549FD}"/>
              </a:ext>
            </a:extLst>
          </p:cNvPr>
          <p:cNvSpPr txBox="1"/>
          <p:nvPr/>
        </p:nvSpPr>
        <p:spPr>
          <a:xfrm>
            <a:off x="6961854" y="1948811"/>
            <a:ext cx="1023035" cy="22506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0" bIns="0" rtlCol="0" anchor="ctr">
            <a:no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F893FC-4EE2-34E4-9D9B-6FD921A57A3E}"/>
              </a:ext>
            </a:extLst>
          </p:cNvPr>
          <p:cNvSpPr txBox="1"/>
          <p:nvPr/>
        </p:nvSpPr>
        <p:spPr>
          <a:xfrm>
            <a:off x="1474692" y="3973951"/>
            <a:ext cx="1023035" cy="22506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0" bIns="0" rtlCol="0" anchor="ctr">
            <a:no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0B42F-201B-1EA7-C04A-A2328AD337EB}"/>
              </a:ext>
            </a:extLst>
          </p:cNvPr>
          <p:cNvSpPr txBox="1"/>
          <p:nvPr/>
        </p:nvSpPr>
        <p:spPr>
          <a:xfrm>
            <a:off x="7140753" y="2295010"/>
            <a:ext cx="2438270" cy="2303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선고일자</a:t>
            </a:r>
            <a:r>
              <a:rPr lang="en-US" altLang="ko-KR" sz="105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5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요지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B0F9C-B84E-0877-5164-664375281D8E}"/>
              </a:ext>
            </a:extLst>
          </p:cNvPr>
          <p:cNvSpPr txBox="1"/>
          <p:nvPr/>
        </p:nvSpPr>
        <p:spPr>
          <a:xfrm>
            <a:off x="7140753" y="2540478"/>
            <a:ext cx="243827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판시이유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7BB72-0B48-A27D-C635-C9B356D8BCFD}"/>
              </a:ext>
            </a:extLst>
          </p:cNvPr>
          <p:cNvSpPr txBox="1"/>
          <p:nvPr/>
        </p:nvSpPr>
        <p:spPr>
          <a:xfrm>
            <a:off x="7140753" y="2785948"/>
            <a:ext cx="243827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코멘트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5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평석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F535A-1BD0-0914-18FA-1E5A04336287}"/>
              </a:ext>
            </a:extLst>
          </p:cNvPr>
          <p:cNvSpPr txBox="1"/>
          <p:nvPr/>
        </p:nvSpPr>
        <p:spPr>
          <a:xfrm>
            <a:off x="7140753" y="3031418"/>
            <a:ext cx="243827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분류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09F954-51C1-10FF-3119-490067F36F81}"/>
              </a:ext>
            </a:extLst>
          </p:cNvPr>
          <p:cNvSpPr txBox="1"/>
          <p:nvPr/>
        </p:nvSpPr>
        <p:spPr>
          <a:xfrm>
            <a:off x="7140753" y="3272593"/>
            <a:ext cx="2438270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 및 동영상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DDF345-5BAD-E3F5-2DA9-6205BEC065D2}"/>
              </a:ext>
            </a:extLst>
          </p:cNvPr>
          <p:cNvSpPr txBox="1"/>
          <p:nvPr/>
        </p:nvSpPr>
        <p:spPr>
          <a:xfrm>
            <a:off x="7140753" y="3525871"/>
            <a:ext cx="2438270" cy="2303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즐겨찾기♡♡♡♡♡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42028E-4A28-1A20-4908-6CBF5DB2BA95}"/>
              </a:ext>
            </a:extLst>
          </p:cNvPr>
          <p:cNvSpPr txBox="1"/>
          <p:nvPr/>
        </p:nvSpPr>
        <p:spPr>
          <a:xfrm>
            <a:off x="2985508" y="2080231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중요도 ☆☆☆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79E0F4-B44A-7E89-F13C-83F38D1CA620}"/>
              </a:ext>
            </a:extLst>
          </p:cNvPr>
          <p:cNvSpPr txBox="1"/>
          <p:nvPr/>
        </p:nvSpPr>
        <p:spPr>
          <a:xfrm>
            <a:off x="2985508" y="2325700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OX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548743-FD97-C24C-10BB-DFFAC961E4AB}"/>
              </a:ext>
            </a:extLst>
          </p:cNvPr>
          <p:cNvSpPr txBox="1"/>
          <p:nvPr/>
        </p:nvSpPr>
        <p:spPr>
          <a:xfrm>
            <a:off x="2985508" y="2571169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빈칸채우기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9205B8-D1DB-A1FA-7E3B-F74AB8847F07}"/>
              </a:ext>
            </a:extLst>
          </p:cNvPr>
          <p:cNvSpPr txBox="1"/>
          <p:nvPr/>
        </p:nvSpPr>
        <p:spPr>
          <a:xfrm>
            <a:off x="2985508" y="2816639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 및 동영상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B92E6A-DA29-352B-A9A8-F9B22CC11ED9}"/>
              </a:ext>
            </a:extLst>
          </p:cNvPr>
          <p:cNvSpPr txBox="1"/>
          <p:nvPr/>
        </p:nvSpPr>
        <p:spPr>
          <a:xfrm>
            <a:off x="2985508" y="3973951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30BC96-D3E5-D828-2897-B240F000C87B}"/>
              </a:ext>
            </a:extLst>
          </p:cNvPr>
          <p:cNvSpPr txBox="1"/>
          <p:nvPr/>
        </p:nvSpPr>
        <p:spPr>
          <a:xfrm>
            <a:off x="2985508" y="4779037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해설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9EFB40-B25F-FA63-7E96-FDDC39134EC5}"/>
              </a:ext>
            </a:extLst>
          </p:cNvPr>
          <p:cNvSpPr txBox="1"/>
          <p:nvPr/>
        </p:nvSpPr>
        <p:spPr>
          <a:xfrm>
            <a:off x="2985508" y="4200800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분류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69AC26-0A61-62D5-2DC5-3A42180970C0}"/>
              </a:ext>
            </a:extLst>
          </p:cNvPr>
          <p:cNvSpPr txBox="1"/>
          <p:nvPr/>
        </p:nvSpPr>
        <p:spPr>
          <a:xfrm>
            <a:off x="2985508" y="5617074"/>
            <a:ext cx="2438268" cy="203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 및 동영상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F4010C-B94E-6E7A-D4AB-A53E32AE58BA}"/>
              </a:ext>
            </a:extLst>
          </p:cNvPr>
          <p:cNvSpPr txBox="1"/>
          <p:nvPr/>
        </p:nvSpPr>
        <p:spPr>
          <a:xfrm>
            <a:off x="2985508" y="3072848"/>
            <a:ext cx="2438268" cy="2303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</a:t>
            </a:r>
            <a:r>
              <a:rPr lang="ko-KR" altLang="en-US" sz="900" dirty="0"/>
              <a:t>♡♡♡♡♡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CA1556-B080-1098-38A4-C9CBF3DF3971}"/>
              </a:ext>
            </a:extLst>
          </p:cNvPr>
          <p:cNvSpPr txBox="1"/>
          <p:nvPr/>
        </p:nvSpPr>
        <p:spPr>
          <a:xfrm>
            <a:off x="2985508" y="5858249"/>
            <a:ext cx="2438268" cy="2303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즐겨찾기♡♡♡♡♡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236686-8351-0C87-BF96-859B1FF4A6F9}"/>
              </a:ext>
            </a:extLst>
          </p:cNvPr>
          <p:cNvSpPr txBox="1"/>
          <p:nvPr/>
        </p:nvSpPr>
        <p:spPr>
          <a:xfrm>
            <a:off x="2985508" y="5318877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문제평가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0F0682-5E3D-E5FF-65E1-B2078A13E3B2}"/>
              </a:ext>
            </a:extLst>
          </p:cNvPr>
          <p:cNvSpPr txBox="1"/>
          <p:nvPr/>
        </p:nvSpPr>
        <p:spPr>
          <a:xfrm>
            <a:off x="2985508" y="1810528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내용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69367CE9-766F-372C-DAAC-E41306C6AF39}"/>
              </a:ext>
            </a:extLst>
          </p:cNvPr>
          <p:cNvSpPr txBox="1"/>
          <p:nvPr/>
        </p:nvSpPr>
        <p:spPr>
          <a:xfrm>
            <a:off x="7140753" y="3785421"/>
            <a:ext cx="2438270" cy="203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Q&amp;A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099" name="TextBox 4098">
            <a:extLst>
              <a:ext uri="{FF2B5EF4-FFF2-40B4-BE49-F238E27FC236}">
                <a16:creationId xmlns:a16="http://schemas.microsoft.com/office/drawing/2014/main" id="{6B076946-FA93-7176-ABB8-349ADE3FDD03}"/>
              </a:ext>
            </a:extLst>
          </p:cNvPr>
          <p:cNvSpPr txBox="1"/>
          <p:nvPr/>
        </p:nvSpPr>
        <p:spPr>
          <a:xfrm>
            <a:off x="2985508" y="3332398"/>
            <a:ext cx="2438268" cy="203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>
                <a:latin typeface="Rix모던고딕 M" panose="02020603020101020101" pitchFamily="18" charset="-127"/>
                <a:ea typeface="Rix모던고딕 M" panose="02020603020101020101" pitchFamily="18" charset="-127"/>
              </a:rPr>
              <a:t>Q&amp;A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02" name="TextBox 4101">
            <a:extLst>
              <a:ext uri="{FF2B5EF4-FFF2-40B4-BE49-F238E27FC236}">
                <a16:creationId xmlns:a16="http://schemas.microsoft.com/office/drawing/2014/main" id="{4D532DCF-2CB8-3A6C-A449-1F97591FDA35}"/>
              </a:ext>
            </a:extLst>
          </p:cNvPr>
          <p:cNvSpPr txBox="1"/>
          <p:nvPr/>
        </p:nvSpPr>
        <p:spPr>
          <a:xfrm>
            <a:off x="2985508" y="6133995"/>
            <a:ext cx="2438268" cy="203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Q&amp;A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4103" name="연결선: 꺾임 4102">
            <a:extLst>
              <a:ext uri="{FF2B5EF4-FFF2-40B4-BE49-F238E27FC236}">
                <a16:creationId xmlns:a16="http://schemas.microsoft.com/office/drawing/2014/main" id="{11437000-6D59-FD8D-8A8F-1595A372E4B5}"/>
              </a:ext>
            </a:extLst>
          </p:cNvPr>
          <p:cNvCxnSpPr>
            <a:stCxn id="53" idx="3"/>
            <a:endCxn id="20" idx="1"/>
          </p:cNvCxnSpPr>
          <p:nvPr/>
        </p:nvCxnSpPr>
        <p:spPr>
          <a:xfrm flipV="1">
            <a:off x="5423776" y="2061345"/>
            <a:ext cx="1538078" cy="2819405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7" name="직선 연결선 4106">
            <a:extLst>
              <a:ext uri="{FF2B5EF4-FFF2-40B4-BE49-F238E27FC236}">
                <a16:creationId xmlns:a16="http://schemas.microsoft.com/office/drawing/2014/main" id="{A8856C8E-81E9-12FD-DB84-BA19FA93B4B2}"/>
              </a:ext>
            </a:extLst>
          </p:cNvPr>
          <p:cNvCxnSpPr>
            <a:cxnSpLocks/>
          </p:cNvCxnSpPr>
          <p:nvPr/>
        </p:nvCxnSpPr>
        <p:spPr>
          <a:xfrm>
            <a:off x="-68358" y="1721189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859C3B3C-8939-00BD-201F-49C964252C3C}"/>
              </a:ext>
            </a:extLst>
          </p:cNvPr>
          <p:cNvSpPr/>
          <p:nvPr/>
        </p:nvSpPr>
        <p:spPr>
          <a:xfrm>
            <a:off x="5619920" y="829345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E938D949-F6F2-C1AA-EB2C-4E762D3B969A}"/>
              </a:ext>
            </a:extLst>
          </p:cNvPr>
          <p:cNvSpPr/>
          <p:nvPr/>
        </p:nvSpPr>
        <p:spPr>
          <a:xfrm>
            <a:off x="5619920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0" name="직사각형 4109">
            <a:extLst>
              <a:ext uri="{FF2B5EF4-FFF2-40B4-BE49-F238E27FC236}">
                <a16:creationId xmlns:a16="http://schemas.microsoft.com/office/drawing/2014/main" id="{A9C4CD6F-5FD2-A14D-A111-4F882D04DF3C}"/>
              </a:ext>
            </a:extLst>
          </p:cNvPr>
          <p:cNvSpPr/>
          <p:nvPr/>
        </p:nvSpPr>
        <p:spPr>
          <a:xfrm>
            <a:off x="5619920" y="1234468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F58869F2-08A8-0D4B-1519-412EDCCE2A23}"/>
              </a:ext>
            </a:extLst>
          </p:cNvPr>
          <p:cNvSpPr/>
          <p:nvPr/>
        </p:nvSpPr>
        <p:spPr>
          <a:xfrm>
            <a:off x="6914706" y="829345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EAD95EAB-572D-669C-138D-44479951F2BE}"/>
              </a:ext>
            </a:extLst>
          </p:cNvPr>
          <p:cNvSpPr/>
          <p:nvPr/>
        </p:nvSpPr>
        <p:spPr>
          <a:xfrm>
            <a:off x="8211806" y="829345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9E6515D9-0359-B2CA-6E06-9DBDDA54A139}"/>
              </a:ext>
            </a:extLst>
          </p:cNvPr>
          <p:cNvSpPr/>
          <p:nvPr/>
        </p:nvSpPr>
        <p:spPr>
          <a:xfrm>
            <a:off x="9513247" y="829345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20" name="말풍선: 모서리가 둥근 사각형 4119">
            <a:extLst>
              <a:ext uri="{FF2B5EF4-FFF2-40B4-BE49-F238E27FC236}">
                <a16:creationId xmlns:a16="http://schemas.microsoft.com/office/drawing/2014/main" id="{1C3B4C6E-0C1E-5080-10C2-010C6FF433FC}"/>
              </a:ext>
            </a:extLst>
          </p:cNvPr>
          <p:cNvSpPr/>
          <p:nvPr/>
        </p:nvSpPr>
        <p:spPr>
          <a:xfrm>
            <a:off x="2080226" y="2941827"/>
            <a:ext cx="787528" cy="262041"/>
          </a:xfrm>
          <a:prstGeom prst="wedgeRoundRectCallout">
            <a:avLst>
              <a:gd name="adj1" fmla="val 71743"/>
              <a:gd name="adj2" fmla="val 5228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121" name="말풍선: 모서리가 둥근 사각형 4120">
            <a:extLst>
              <a:ext uri="{FF2B5EF4-FFF2-40B4-BE49-F238E27FC236}">
                <a16:creationId xmlns:a16="http://schemas.microsoft.com/office/drawing/2014/main" id="{A359058A-0D38-1837-7883-EF5ECEE82441}"/>
              </a:ext>
            </a:extLst>
          </p:cNvPr>
          <p:cNvSpPr/>
          <p:nvPr/>
        </p:nvSpPr>
        <p:spPr>
          <a:xfrm>
            <a:off x="5269044" y="1853790"/>
            <a:ext cx="1177768" cy="262041"/>
          </a:xfrm>
          <a:prstGeom prst="wedgeRoundRectCallout">
            <a:avLst>
              <a:gd name="adj1" fmla="val -57671"/>
              <a:gd name="adj2" fmla="val 819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</a:t>
            </a:r>
          </a:p>
        </p:txBody>
      </p:sp>
      <p:sp>
        <p:nvSpPr>
          <p:cNvPr id="4122" name="말풍선: 모서리가 둥근 사각형 4121">
            <a:extLst>
              <a:ext uri="{FF2B5EF4-FFF2-40B4-BE49-F238E27FC236}">
                <a16:creationId xmlns:a16="http://schemas.microsoft.com/office/drawing/2014/main" id="{05660831-EA03-C1C9-684E-419545D0ADE1}"/>
              </a:ext>
            </a:extLst>
          </p:cNvPr>
          <p:cNvSpPr/>
          <p:nvPr/>
        </p:nvSpPr>
        <p:spPr>
          <a:xfrm>
            <a:off x="5501800" y="4354971"/>
            <a:ext cx="1177768" cy="262041"/>
          </a:xfrm>
          <a:prstGeom prst="wedgeRoundRectCallout">
            <a:avLst>
              <a:gd name="adj1" fmla="val -86880"/>
              <a:gd name="adj2" fmla="val 113905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</a:t>
            </a:r>
          </a:p>
        </p:txBody>
      </p:sp>
      <p:sp>
        <p:nvSpPr>
          <p:cNvPr id="4124" name="말풍선: 모서리가 둥근 사각형 4123">
            <a:extLst>
              <a:ext uri="{FF2B5EF4-FFF2-40B4-BE49-F238E27FC236}">
                <a16:creationId xmlns:a16="http://schemas.microsoft.com/office/drawing/2014/main" id="{DC82E09A-1470-C00B-3758-1E6C8C57087E}"/>
              </a:ext>
            </a:extLst>
          </p:cNvPr>
          <p:cNvSpPr/>
          <p:nvPr/>
        </p:nvSpPr>
        <p:spPr>
          <a:xfrm>
            <a:off x="8295670" y="1966398"/>
            <a:ext cx="1177768" cy="262041"/>
          </a:xfrm>
          <a:prstGeom prst="wedgeRoundRectCallout">
            <a:avLst>
              <a:gd name="adj1" fmla="val -5103"/>
              <a:gd name="adj2" fmla="val 154530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</a:t>
            </a:r>
          </a:p>
        </p:txBody>
      </p:sp>
      <p:sp>
        <p:nvSpPr>
          <p:cNvPr id="4125" name="말풍선: 모서리가 둥근 사각형 4124">
            <a:extLst>
              <a:ext uri="{FF2B5EF4-FFF2-40B4-BE49-F238E27FC236}">
                <a16:creationId xmlns:a16="http://schemas.microsoft.com/office/drawing/2014/main" id="{EF902890-2502-D93F-A687-B1076154FB8F}"/>
              </a:ext>
            </a:extLst>
          </p:cNvPr>
          <p:cNvSpPr/>
          <p:nvPr/>
        </p:nvSpPr>
        <p:spPr>
          <a:xfrm>
            <a:off x="5827617" y="3225775"/>
            <a:ext cx="1177768" cy="262041"/>
          </a:xfrm>
          <a:prstGeom prst="wedgeRoundRectCallout">
            <a:avLst>
              <a:gd name="adj1" fmla="val 48606"/>
              <a:gd name="adj2" fmla="val -101624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</a:t>
            </a:r>
          </a:p>
        </p:txBody>
      </p:sp>
      <p:sp>
        <p:nvSpPr>
          <p:cNvPr id="4126" name="말풍선: 모서리가 둥근 사각형 4125">
            <a:extLst>
              <a:ext uri="{FF2B5EF4-FFF2-40B4-BE49-F238E27FC236}">
                <a16:creationId xmlns:a16="http://schemas.microsoft.com/office/drawing/2014/main" id="{264B8F47-E80C-F22E-5800-CFDBF46D7A7B}"/>
              </a:ext>
            </a:extLst>
          </p:cNvPr>
          <p:cNvSpPr/>
          <p:nvPr/>
        </p:nvSpPr>
        <p:spPr>
          <a:xfrm>
            <a:off x="9275397" y="2341265"/>
            <a:ext cx="1177768" cy="262041"/>
          </a:xfrm>
          <a:prstGeom prst="wedgeRoundRectCallout">
            <a:avLst>
              <a:gd name="adj1" fmla="val -55245"/>
              <a:gd name="adj2" fmla="val 7867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25963B51-E1F4-DFF0-D730-1EDB01AF00FD}"/>
              </a:ext>
            </a:extLst>
          </p:cNvPr>
          <p:cNvSpPr txBox="1"/>
          <p:nvPr/>
        </p:nvSpPr>
        <p:spPr>
          <a:xfrm>
            <a:off x="376517" y="4542198"/>
            <a:ext cx="212121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긍정형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부정형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8A61007B-65C7-CD7D-3D6B-706F9B590632}"/>
              </a:ext>
            </a:extLst>
          </p:cNvPr>
          <p:cNvSpPr txBox="1"/>
          <p:nvPr/>
        </p:nvSpPr>
        <p:spPr>
          <a:xfrm>
            <a:off x="376517" y="4819697"/>
            <a:ext cx="2121210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단원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종합</a:t>
            </a: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147DEDE4-82A2-F0E7-4AA8-2D437F4E88CE}"/>
              </a:ext>
            </a:extLst>
          </p:cNvPr>
          <p:cNvSpPr txBox="1"/>
          <p:nvPr/>
        </p:nvSpPr>
        <p:spPr>
          <a:xfrm>
            <a:off x="376517" y="5097196"/>
            <a:ext cx="212121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단답형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</a:t>
            </a:r>
          </a:p>
        </p:txBody>
      </p:sp>
      <p:sp>
        <p:nvSpPr>
          <p:cNvPr id="4130" name="TextBox 4129">
            <a:extLst>
              <a:ext uri="{FF2B5EF4-FFF2-40B4-BE49-F238E27FC236}">
                <a16:creationId xmlns:a16="http://schemas.microsoft.com/office/drawing/2014/main" id="{B5571AC0-8734-E44A-32A2-715FA9ADC0D7}"/>
              </a:ext>
            </a:extLst>
          </p:cNvPr>
          <p:cNvSpPr txBox="1"/>
          <p:nvPr/>
        </p:nvSpPr>
        <p:spPr>
          <a:xfrm>
            <a:off x="376517" y="5409188"/>
            <a:ext cx="212121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4131" name="연결선: 꺾임 4130">
            <a:extLst>
              <a:ext uri="{FF2B5EF4-FFF2-40B4-BE49-F238E27FC236}">
                <a16:creationId xmlns:a16="http://schemas.microsoft.com/office/drawing/2014/main" id="{ECB5B9C1-B7AC-EB74-F85E-0BE1A6EAAE5F}"/>
              </a:ext>
            </a:extLst>
          </p:cNvPr>
          <p:cNvCxnSpPr>
            <a:cxnSpLocks/>
            <a:stCxn id="4127" idx="3"/>
            <a:endCxn id="55" idx="1"/>
          </p:cNvCxnSpPr>
          <p:nvPr/>
        </p:nvCxnSpPr>
        <p:spPr>
          <a:xfrm flipV="1">
            <a:off x="2497727" y="4327758"/>
            <a:ext cx="487781" cy="341398"/>
          </a:xfrm>
          <a:prstGeom prst="bentConnector3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2" name="연결선: 꺾임 4131">
            <a:extLst>
              <a:ext uri="{FF2B5EF4-FFF2-40B4-BE49-F238E27FC236}">
                <a16:creationId xmlns:a16="http://schemas.microsoft.com/office/drawing/2014/main" id="{8956286C-B3F4-6C30-B973-D9591534B735}"/>
              </a:ext>
            </a:extLst>
          </p:cNvPr>
          <p:cNvCxnSpPr>
            <a:cxnSpLocks/>
            <a:stCxn id="4128" idx="3"/>
            <a:endCxn id="55" idx="1"/>
          </p:cNvCxnSpPr>
          <p:nvPr/>
        </p:nvCxnSpPr>
        <p:spPr>
          <a:xfrm flipV="1">
            <a:off x="2497727" y="4327758"/>
            <a:ext cx="487781" cy="618897"/>
          </a:xfrm>
          <a:prstGeom prst="bentConnector3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3" name="연결선: 꺾임 4132">
            <a:extLst>
              <a:ext uri="{FF2B5EF4-FFF2-40B4-BE49-F238E27FC236}">
                <a16:creationId xmlns:a16="http://schemas.microsoft.com/office/drawing/2014/main" id="{1032ACB4-234F-0DA4-F3F2-6530FB984D94}"/>
              </a:ext>
            </a:extLst>
          </p:cNvPr>
          <p:cNvCxnSpPr>
            <a:cxnSpLocks/>
            <a:stCxn id="4129" idx="3"/>
            <a:endCxn id="55" idx="1"/>
          </p:cNvCxnSpPr>
          <p:nvPr/>
        </p:nvCxnSpPr>
        <p:spPr>
          <a:xfrm flipV="1">
            <a:off x="2497727" y="4327758"/>
            <a:ext cx="487781" cy="896396"/>
          </a:xfrm>
          <a:prstGeom prst="bentConnector3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4" name="연결선: 꺾임 4133">
            <a:extLst>
              <a:ext uri="{FF2B5EF4-FFF2-40B4-BE49-F238E27FC236}">
                <a16:creationId xmlns:a16="http://schemas.microsoft.com/office/drawing/2014/main" id="{3C386740-2B3F-4628-1D3D-3B437738626A}"/>
              </a:ext>
            </a:extLst>
          </p:cNvPr>
          <p:cNvCxnSpPr>
            <a:cxnSpLocks/>
            <a:stCxn id="4130" idx="3"/>
            <a:endCxn id="55" idx="1"/>
          </p:cNvCxnSpPr>
          <p:nvPr/>
        </p:nvCxnSpPr>
        <p:spPr>
          <a:xfrm flipV="1">
            <a:off x="2497727" y="4327758"/>
            <a:ext cx="487781" cy="1208388"/>
          </a:xfrm>
          <a:prstGeom prst="bentConnector3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E9A5DF97-608F-535D-2D31-1058DE230758}"/>
              </a:ext>
            </a:extLst>
          </p:cNvPr>
          <p:cNvSpPr/>
          <p:nvPr/>
        </p:nvSpPr>
        <p:spPr>
          <a:xfrm>
            <a:off x="3019068" y="829345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B196E8B8-EF29-87BB-CCD4-EB04D72F3FFB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7E19366A-2787-CF7F-55EF-B3E3F2FE55C9}"/>
              </a:ext>
            </a:extLst>
          </p:cNvPr>
          <p:cNvSpPr/>
          <p:nvPr/>
        </p:nvSpPr>
        <p:spPr>
          <a:xfrm>
            <a:off x="3019068" y="1234468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EE8B021C-5C13-44A6-8422-0E13574E269C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BA16B-B49E-D200-4C91-18ABBCB138F8}"/>
              </a:ext>
            </a:extLst>
          </p:cNvPr>
          <p:cNvSpPr txBox="1"/>
          <p:nvPr/>
        </p:nvSpPr>
        <p:spPr>
          <a:xfrm>
            <a:off x="5653203" y="5489752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24C5A-8D09-1170-4952-0220382E32BC}"/>
              </a:ext>
            </a:extLst>
          </p:cNvPr>
          <p:cNvSpPr txBox="1"/>
          <p:nvPr/>
        </p:nvSpPr>
        <p:spPr>
          <a:xfrm>
            <a:off x="376517" y="4254205"/>
            <a:ext cx="2121210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(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1B795B3-B501-CC89-2A0C-FF585BD48FC5}"/>
              </a:ext>
            </a:extLst>
          </p:cNvPr>
          <p:cNvCxnSpPr>
            <a:cxnSpLocks/>
            <a:stCxn id="6" idx="3"/>
            <a:endCxn id="55" idx="1"/>
          </p:cNvCxnSpPr>
          <p:nvPr/>
        </p:nvCxnSpPr>
        <p:spPr>
          <a:xfrm flipV="1">
            <a:off x="2497727" y="4327758"/>
            <a:ext cx="487781" cy="53405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601194C-482A-1CE5-011A-0897EF23CA38}"/>
              </a:ext>
            </a:extLst>
          </p:cNvPr>
          <p:cNvSpPr txBox="1"/>
          <p:nvPr/>
        </p:nvSpPr>
        <p:spPr>
          <a:xfrm>
            <a:off x="2985508" y="5025007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해설유형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F3B8FC-D022-CBFD-F6A4-C8E448079C8E}"/>
              </a:ext>
            </a:extLst>
          </p:cNvPr>
          <p:cNvSpPr txBox="1"/>
          <p:nvPr/>
        </p:nvSpPr>
        <p:spPr>
          <a:xfrm>
            <a:off x="5653203" y="5203082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난이도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(1-5)</a:t>
            </a:r>
            <a:endParaRPr lang="ko-KR" altLang="en-US" sz="105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4096" name="연결선: 꺾임 4095">
            <a:extLst>
              <a:ext uri="{FF2B5EF4-FFF2-40B4-BE49-F238E27FC236}">
                <a16:creationId xmlns:a16="http://schemas.microsoft.com/office/drawing/2014/main" id="{9C7C42AA-959E-E4FA-6BB0-ABB1A1C87CC6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 flipV="1">
            <a:off x="5423776" y="5330040"/>
            <a:ext cx="229427" cy="1157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5" name="연결선: 꺾임 4134">
            <a:extLst>
              <a:ext uri="{FF2B5EF4-FFF2-40B4-BE49-F238E27FC236}">
                <a16:creationId xmlns:a16="http://schemas.microsoft.com/office/drawing/2014/main" id="{AC5F53C6-038E-8AEE-0EE7-8251B0F383EC}"/>
              </a:ext>
            </a:extLst>
          </p:cNvPr>
          <p:cNvCxnSpPr>
            <a:cxnSpLocks/>
            <a:stCxn id="60" idx="3"/>
            <a:endCxn id="3" idx="1"/>
          </p:cNvCxnSpPr>
          <p:nvPr/>
        </p:nvCxnSpPr>
        <p:spPr>
          <a:xfrm>
            <a:off x="5423776" y="5445835"/>
            <a:ext cx="229427" cy="1708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6" name="TextBox 4145">
            <a:extLst>
              <a:ext uri="{FF2B5EF4-FFF2-40B4-BE49-F238E27FC236}">
                <a16:creationId xmlns:a16="http://schemas.microsoft.com/office/drawing/2014/main" id="{598A7BEE-B6F8-C9F3-2572-0339C9189D75}"/>
              </a:ext>
            </a:extLst>
          </p:cNvPr>
          <p:cNvSpPr txBox="1"/>
          <p:nvPr/>
        </p:nvSpPr>
        <p:spPr>
          <a:xfrm>
            <a:off x="2985508" y="4469481"/>
            <a:ext cx="2438268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48B19-5322-4F84-7B6E-AAE201E6E1FD}"/>
              </a:ext>
            </a:extLst>
          </p:cNvPr>
          <p:cNvSpPr txBox="1"/>
          <p:nvPr/>
        </p:nvSpPr>
        <p:spPr>
          <a:xfrm>
            <a:off x="9757114" y="3089227"/>
            <a:ext cx="212121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362AA3-B20F-D09C-5D2C-214DE11C4F7D}"/>
              </a:ext>
            </a:extLst>
          </p:cNvPr>
          <p:cNvSpPr txBox="1"/>
          <p:nvPr/>
        </p:nvSpPr>
        <p:spPr>
          <a:xfrm>
            <a:off x="9757114" y="3366726"/>
            <a:ext cx="2121210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예상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식별번호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99443B-AA1B-F07B-D512-AB0DDE86F8E7}"/>
              </a:ext>
            </a:extLst>
          </p:cNvPr>
          <p:cNvSpPr txBox="1"/>
          <p:nvPr/>
        </p:nvSpPr>
        <p:spPr>
          <a:xfrm>
            <a:off x="9757114" y="3644225"/>
            <a:ext cx="2121210" cy="2539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중요도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022E5-C5FB-BB02-25A2-C5BDB37C387C}"/>
              </a:ext>
            </a:extLst>
          </p:cNvPr>
          <p:cNvSpPr txBox="1"/>
          <p:nvPr/>
        </p:nvSpPr>
        <p:spPr>
          <a:xfrm>
            <a:off x="9757114" y="2801234"/>
            <a:ext cx="2121210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 </a:t>
            </a:r>
            <a:r>
              <a:rPr lang="en-US" altLang="ko-KR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5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5F75F48F-3B34-41A6-D1F6-2DD13555C57D}"/>
              </a:ext>
            </a:extLst>
          </p:cNvPr>
          <p:cNvCxnSpPr>
            <a:cxnSpLocks/>
            <a:stCxn id="35" idx="1"/>
            <a:endCxn id="32" idx="3"/>
          </p:cNvCxnSpPr>
          <p:nvPr/>
        </p:nvCxnSpPr>
        <p:spPr>
          <a:xfrm rot="10800000" flipV="1">
            <a:off x="9579024" y="2928192"/>
            <a:ext cx="178091" cy="230184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1A67B192-BD82-96AD-B7F3-89CDC46DE055}"/>
              </a:ext>
            </a:extLst>
          </p:cNvPr>
          <p:cNvCxnSpPr>
            <a:cxnSpLocks/>
            <a:stCxn id="26" idx="1"/>
            <a:endCxn id="32" idx="3"/>
          </p:cNvCxnSpPr>
          <p:nvPr/>
        </p:nvCxnSpPr>
        <p:spPr>
          <a:xfrm rot="10800000">
            <a:off x="9579024" y="3158377"/>
            <a:ext cx="178091" cy="57809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3390A794-D0BB-090B-803E-A35556F492A1}"/>
              </a:ext>
            </a:extLst>
          </p:cNvPr>
          <p:cNvCxnSpPr>
            <a:cxnSpLocks/>
            <a:stCxn id="29" idx="1"/>
            <a:endCxn id="32" idx="3"/>
          </p:cNvCxnSpPr>
          <p:nvPr/>
        </p:nvCxnSpPr>
        <p:spPr>
          <a:xfrm rot="10800000">
            <a:off x="9579024" y="3158376"/>
            <a:ext cx="178091" cy="335308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DD881643-9270-9A76-8099-31D9EA24AE3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9579024" y="3158377"/>
            <a:ext cx="178091" cy="612807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29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840EB-C762-55D0-6E54-48C24A11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72224-13FA-4FB4-9242-7137482544B5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F641179-B868-E5AA-2701-0188228313E3}"/>
              </a:ext>
            </a:extLst>
          </p:cNvPr>
          <p:cNvSpPr txBox="1"/>
          <p:nvPr/>
        </p:nvSpPr>
        <p:spPr>
          <a:xfrm>
            <a:off x="405349" y="111236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C05C2A5-938E-BCE0-7C05-61074E54F860}"/>
              </a:ext>
            </a:extLst>
          </p:cNvPr>
          <p:cNvSpPr txBox="1"/>
          <p:nvPr/>
        </p:nvSpPr>
        <p:spPr>
          <a:xfrm>
            <a:off x="1253764" y="1112363"/>
            <a:ext cx="1444626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학습목표 및 과목별 진도</a:t>
            </a:r>
            <a:endParaRPr lang="ko-KR" altLang="en-US" sz="1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DC2C1EF-6D99-1C47-2F0D-BC26993ECD14}"/>
              </a:ext>
            </a:extLst>
          </p:cNvPr>
          <p:cNvSpPr txBox="1"/>
          <p:nvPr/>
        </p:nvSpPr>
        <p:spPr>
          <a:xfrm>
            <a:off x="2966462" y="1112363"/>
            <a:ext cx="681597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최신 정보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9F58831-F9CC-E8FA-5A5E-2C2804297144}"/>
              </a:ext>
            </a:extLst>
          </p:cNvPr>
          <p:cNvSpPr txBox="1"/>
          <p:nvPr/>
        </p:nvSpPr>
        <p:spPr>
          <a:xfrm>
            <a:off x="8002673" y="1112363"/>
            <a:ext cx="729687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온라인 </a:t>
            </a:r>
            <a:r>
              <a:rPr lang="en-US" altLang="ko-KR" sz="1000" dirty="0"/>
              <a:t>GS</a:t>
            </a:r>
            <a:endParaRPr lang="ko-KR" altLang="en-US" sz="10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770EE61-613C-DB3C-02DA-D79BDDA22B38}"/>
              </a:ext>
            </a:extLst>
          </p:cNvPr>
          <p:cNvSpPr txBox="1"/>
          <p:nvPr/>
        </p:nvSpPr>
        <p:spPr>
          <a:xfrm>
            <a:off x="9518093" y="111236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커뮤니티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7D18D92-EA57-DDF3-3735-83E2C25E0F1D}"/>
              </a:ext>
            </a:extLst>
          </p:cNvPr>
          <p:cNvSpPr txBox="1"/>
          <p:nvPr/>
        </p:nvSpPr>
        <p:spPr>
          <a:xfrm>
            <a:off x="10950157" y="1112363"/>
            <a:ext cx="530915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운영자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EE08487-9DED-E6A0-B498-B5979C1F726D}"/>
              </a:ext>
            </a:extLst>
          </p:cNvPr>
          <p:cNvSpPr txBox="1"/>
          <p:nvPr/>
        </p:nvSpPr>
        <p:spPr>
          <a:xfrm>
            <a:off x="1413478" y="1640264"/>
            <a:ext cx="56618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법 개정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F6A8415-52A6-2EA4-24E6-9652D4CE8920}"/>
              </a:ext>
            </a:extLst>
          </p:cNvPr>
          <p:cNvSpPr txBox="1"/>
          <p:nvPr/>
        </p:nvSpPr>
        <p:spPr>
          <a:xfrm>
            <a:off x="2073353" y="1640264"/>
            <a:ext cx="681597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최근 판례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5C8DDA6-706E-493C-8981-AA840BB73C69}"/>
              </a:ext>
            </a:extLst>
          </p:cNvPr>
          <p:cNvSpPr txBox="1"/>
          <p:nvPr/>
        </p:nvSpPr>
        <p:spPr>
          <a:xfrm>
            <a:off x="2853337" y="1640264"/>
            <a:ext cx="79701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객관식 문제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013A18A-F566-6125-248C-ECB164BA7A59}"/>
              </a:ext>
            </a:extLst>
          </p:cNvPr>
          <p:cNvSpPr txBox="1"/>
          <p:nvPr/>
        </p:nvSpPr>
        <p:spPr>
          <a:xfrm>
            <a:off x="3746591" y="1640264"/>
            <a:ext cx="79701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주관식 문제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B5387A2-C4DE-34C5-348E-C4905235B03F}"/>
              </a:ext>
            </a:extLst>
          </p:cNvPr>
          <p:cNvSpPr txBox="1"/>
          <p:nvPr/>
        </p:nvSpPr>
        <p:spPr>
          <a:xfrm>
            <a:off x="4639845" y="1640264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논문</a:t>
            </a:r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D7B9C824-78B7-64B3-63A9-1C3AF891A087}"/>
              </a:ext>
            </a:extLst>
          </p:cNvPr>
          <p:cNvCxnSpPr>
            <a:stCxn id="128" idx="2"/>
            <a:endCxn id="134" idx="0"/>
          </p:cNvCxnSpPr>
          <p:nvPr/>
        </p:nvCxnSpPr>
        <p:spPr>
          <a:xfrm rot="5400000">
            <a:off x="2361075" y="694078"/>
            <a:ext cx="281680" cy="16106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395CCE24-194D-ECF8-06E9-464A75604CA8}"/>
              </a:ext>
            </a:extLst>
          </p:cNvPr>
          <p:cNvCxnSpPr>
            <a:stCxn id="128" idx="2"/>
            <a:endCxn id="138" idx="0"/>
          </p:cNvCxnSpPr>
          <p:nvPr/>
        </p:nvCxnSpPr>
        <p:spPr>
          <a:xfrm rot="16200000" flipH="1">
            <a:off x="3936587" y="729257"/>
            <a:ext cx="281680" cy="15403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92A7D355-3156-305E-1895-53D6CC29D90F}"/>
              </a:ext>
            </a:extLst>
          </p:cNvPr>
          <p:cNvCxnSpPr>
            <a:stCxn id="128" idx="2"/>
            <a:endCxn id="135" idx="0"/>
          </p:cNvCxnSpPr>
          <p:nvPr/>
        </p:nvCxnSpPr>
        <p:spPr>
          <a:xfrm rot="5400000">
            <a:off x="2719867" y="1052870"/>
            <a:ext cx="281680" cy="8931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4147CE44-3D91-5873-E590-037BE761A2BE}"/>
              </a:ext>
            </a:extLst>
          </p:cNvPr>
          <p:cNvCxnSpPr>
            <a:stCxn id="128" idx="2"/>
            <a:endCxn id="136" idx="0"/>
          </p:cNvCxnSpPr>
          <p:nvPr/>
        </p:nvCxnSpPr>
        <p:spPr>
          <a:xfrm rot="5400000">
            <a:off x="3138713" y="1471716"/>
            <a:ext cx="281680" cy="554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B01252F6-BD4C-AB29-301A-29C07EA0DB87}"/>
              </a:ext>
            </a:extLst>
          </p:cNvPr>
          <p:cNvCxnSpPr>
            <a:stCxn id="128" idx="2"/>
            <a:endCxn id="137" idx="0"/>
          </p:cNvCxnSpPr>
          <p:nvPr/>
        </p:nvCxnSpPr>
        <p:spPr>
          <a:xfrm rot="16200000" flipH="1">
            <a:off x="3585339" y="1080505"/>
            <a:ext cx="281680" cy="8378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CC9C0BB7-A50C-C9A1-4586-E94953D5B95B}"/>
              </a:ext>
            </a:extLst>
          </p:cNvPr>
          <p:cNvSpPr txBox="1"/>
          <p:nvPr/>
        </p:nvSpPr>
        <p:spPr>
          <a:xfrm>
            <a:off x="6741376" y="1112363"/>
            <a:ext cx="79701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과목별 학습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B8ECFC3-7C47-1842-1ED1-498E309356C4}"/>
              </a:ext>
            </a:extLst>
          </p:cNvPr>
          <p:cNvSpPr txBox="1"/>
          <p:nvPr/>
        </p:nvSpPr>
        <p:spPr>
          <a:xfrm>
            <a:off x="5188392" y="1640264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민법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E247CA-3C39-9D81-3A94-D27C750FB451}"/>
              </a:ext>
            </a:extLst>
          </p:cNvPr>
          <p:cNvSpPr txBox="1"/>
          <p:nvPr/>
        </p:nvSpPr>
        <p:spPr>
          <a:xfrm>
            <a:off x="5829413" y="1640264"/>
            <a:ext cx="87716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산업재산권법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5E94C72-F71D-E172-FFED-75675F9D000F}"/>
              </a:ext>
            </a:extLst>
          </p:cNvPr>
          <p:cNvSpPr txBox="1"/>
          <p:nvPr/>
        </p:nvSpPr>
        <p:spPr>
          <a:xfrm>
            <a:off x="6967621" y="1640264"/>
            <a:ext cx="761747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민사소송법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CC43FEF-8EC4-0EE2-7CEE-754A528F46A4}"/>
              </a:ext>
            </a:extLst>
          </p:cNvPr>
          <p:cNvSpPr txBox="1"/>
          <p:nvPr/>
        </p:nvSpPr>
        <p:spPr>
          <a:xfrm>
            <a:off x="8002274" y="1640264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자연과학</a:t>
            </a:r>
          </a:p>
        </p:txBody>
      </p:sp>
      <p:cxnSp>
        <p:nvCxnSpPr>
          <p:cNvPr id="155" name="연결선: 꺾임 154">
            <a:extLst>
              <a:ext uri="{FF2B5EF4-FFF2-40B4-BE49-F238E27FC236}">
                <a16:creationId xmlns:a16="http://schemas.microsoft.com/office/drawing/2014/main" id="{E83239A9-804D-CA01-B055-64A505D85554}"/>
              </a:ext>
            </a:extLst>
          </p:cNvPr>
          <p:cNvCxnSpPr>
            <a:stCxn id="149" idx="2"/>
            <a:endCxn id="150" idx="0"/>
          </p:cNvCxnSpPr>
          <p:nvPr/>
        </p:nvCxnSpPr>
        <p:spPr>
          <a:xfrm rot="5400000">
            <a:off x="6127172" y="627553"/>
            <a:ext cx="281680" cy="17437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0C20A06D-CD99-2EB8-798A-0629D93247F8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 rot="5400000">
            <a:off x="6563099" y="1063480"/>
            <a:ext cx="281680" cy="8718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연결선: 꺾임 157">
            <a:extLst>
              <a:ext uri="{FF2B5EF4-FFF2-40B4-BE49-F238E27FC236}">
                <a16:creationId xmlns:a16="http://schemas.microsoft.com/office/drawing/2014/main" id="{4E6B255A-A879-3E5E-1F29-7036DA047D04}"/>
              </a:ext>
            </a:extLst>
          </p:cNvPr>
          <p:cNvCxnSpPr>
            <a:stCxn id="149" idx="2"/>
            <a:endCxn id="152" idx="0"/>
          </p:cNvCxnSpPr>
          <p:nvPr/>
        </p:nvCxnSpPr>
        <p:spPr>
          <a:xfrm rot="16200000" flipH="1">
            <a:off x="7103349" y="1395118"/>
            <a:ext cx="281680" cy="2086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134150E9-F892-9A2F-0C75-DDB0A6AE89B4}"/>
              </a:ext>
            </a:extLst>
          </p:cNvPr>
          <p:cNvCxnSpPr>
            <a:stCxn id="149" idx="2"/>
            <a:endCxn id="153" idx="0"/>
          </p:cNvCxnSpPr>
          <p:nvPr/>
        </p:nvCxnSpPr>
        <p:spPr>
          <a:xfrm rot="16200000" flipH="1">
            <a:off x="7591821" y="906645"/>
            <a:ext cx="281680" cy="11855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9E9E42A-920D-B506-0676-62C76BAF044A}"/>
              </a:ext>
            </a:extLst>
          </p:cNvPr>
          <p:cNvSpPr txBox="1"/>
          <p:nvPr/>
        </p:nvSpPr>
        <p:spPr>
          <a:xfrm>
            <a:off x="5256326" y="2045054"/>
            <a:ext cx="530915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특허법</a:t>
            </a:r>
            <a:endParaRPr lang="ko-KR" altLang="en-US" sz="10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59EA5AD-4A03-2023-7F93-50F1797564D8}"/>
              </a:ext>
            </a:extLst>
          </p:cNvPr>
          <p:cNvSpPr txBox="1"/>
          <p:nvPr/>
        </p:nvSpPr>
        <p:spPr>
          <a:xfrm>
            <a:off x="5910002" y="2045054"/>
            <a:ext cx="530915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상표법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6D72FB2-7FF0-B4F3-EC15-CBEBFF9C5B0C}"/>
              </a:ext>
            </a:extLst>
          </p:cNvPr>
          <p:cNvSpPr txBox="1"/>
          <p:nvPr/>
        </p:nvSpPr>
        <p:spPr>
          <a:xfrm>
            <a:off x="6557275" y="2045054"/>
            <a:ext cx="877163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디자인보호법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B609E20-BEB5-C596-8940-0A010D1590D5}"/>
              </a:ext>
            </a:extLst>
          </p:cNvPr>
          <p:cNvSpPr txBox="1"/>
          <p:nvPr/>
        </p:nvSpPr>
        <p:spPr>
          <a:xfrm>
            <a:off x="7550796" y="2045054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물리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2870287-A887-C45C-4CFC-DEB0635E5374}"/>
              </a:ext>
            </a:extLst>
          </p:cNvPr>
          <p:cNvSpPr txBox="1"/>
          <p:nvPr/>
        </p:nvSpPr>
        <p:spPr>
          <a:xfrm>
            <a:off x="8053642" y="2045054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화학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3CCCA1A-B2B7-9972-6D39-F787DE6801D5}"/>
              </a:ext>
            </a:extLst>
          </p:cNvPr>
          <p:cNvSpPr txBox="1"/>
          <p:nvPr/>
        </p:nvSpPr>
        <p:spPr>
          <a:xfrm>
            <a:off x="8550085" y="2045054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생물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C2BF814-EC41-0096-BBDE-F6C693D8973E}"/>
              </a:ext>
            </a:extLst>
          </p:cNvPr>
          <p:cNvSpPr txBox="1"/>
          <p:nvPr/>
        </p:nvSpPr>
        <p:spPr>
          <a:xfrm>
            <a:off x="9008684" y="2045054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지구과학</a:t>
            </a:r>
          </a:p>
        </p:txBody>
      </p:sp>
      <p:cxnSp>
        <p:nvCxnSpPr>
          <p:cNvPr id="169" name="연결선: 꺾임 168">
            <a:extLst>
              <a:ext uri="{FF2B5EF4-FFF2-40B4-BE49-F238E27FC236}">
                <a16:creationId xmlns:a16="http://schemas.microsoft.com/office/drawing/2014/main" id="{6553858F-73C4-0125-776C-F56B46D3B2EC}"/>
              </a:ext>
            </a:extLst>
          </p:cNvPr>
          <p:cNvCxnSpPr>
            <a:stCxn id="161" idx="0"/>
            <a:endCxn id="151" idx="2"/>
          </p:cNvCxnSpPr>
          <p:nvPr/>
        </p:nvCxnSpPr>
        <p:spPr>
          <a:xfrm rot="5400000" flipH="1" flipV="1">
            <a:off x="5815605" y="1592665"/>
            <a:ext cx="158569" cy="74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1884EEB5-E769-687B-9CB6-3B7B7D013845}"/>
              </a:ext>
            </a:extLst>
          </p:cNvPr>
          <p:cNvCxnSpPr>
            <a:stCxn id="151" idx="2"/>
            <a:endCxn id="162" idx="0"/>
          </p:cNvCxnSpPr>
          <p:nvPr/>
        </p:nvCxnSpPr>
        <p:spPr>
          <a:xfrm rot="5400000">
            <a:off x="6142444" y="1919502"/>
            <a:ext cx="158569" cy="92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연결선: 꺾임 172">
            <a:extLst>
              <a:ext uri="{FF2B5EF4-FFF2-40B4-BE49-F238E27FC236}">
                <a16:creationId xmlns:a16="http://schemas.microsoft.com/office/drawing/2014/main" id="{3CA92333-4C81-209B-1DC2-5453E74D1F89}"/>
              </a:ext>
            </a:extLst>
          </p:cNvPr>
          <p:cNvCxnSpPr>
            <a:stCxn id="151" idx="2"/>
            <a:endCxn id="163" idx="0"/>
          </p:cNvCxnSpPr>
          <p:nvPr/>
        </p:nvCxnSpPr>
        <p:spPr>
          <a:xfrm rot="16200000" flipH="1">
            <a:off x="6552642" y="1601838"/>
            <a:ext cx="158569" cy="7278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9D117BA0-91F5-F1AA-5FAB-13D5D233854B}"/>
              </a:ext>
            </a:extLst>
          </p:cNvPr>
          <p:cNvCxnSpPr>
            <a:stCxn id="153" idx="2"/>
            <a:endCxn id="164" idx="0"/>
          </p:cNvCxnSpPr>
          <p:nvPr/>
        </p:nvCxnSpPr>
        <p:spPr>
          <a:xfrm rot="5400000">
            <a:off x="7962709" y="1682322"/>
            <a:ext cx="158569" cy="5668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B1C371D6-33BA-2695-7915-5EA3589050C9}"/>
              </a:ext>
            </a:extLst>
          </p:cNvPr>
          <p:cNvCxnSpPr>
            <a:stCxn id="153" idx="2"/>
            <a:endCxn id="165" idx="0"/>
          </p:cNvCxnSpPr>
          <p:nvPr/>
        </p:nvCxnSpPr>
        <p:spPr>
          <a:xfrm rot="5400000">
            <a:off x="8214132" y="1933745"/>
            <a:ext cx="158569" cy="640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79698745-BAE2-845C-0167-2688FD482951}"/>
              </a:ext>
            </a:extLst>
          </p:cNvPr>
          <p:cNvCxnSpPr>
            <a:stCxn id="153" idx="2"/>
            <a:endCxn id="166" idx="0"/>
          </p:cNvCxnSpPr>
          <p:nvPr/>
        </p:nvCxnSpPr>
        <p:spPr>
          <a:xfrm rot="16200000" flipH="1">
            <a:off x="8462353" y="1749572"/>
            <a:ext cx="158569" cy="4323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연결선: 꺾임 180">
            <a:extLst>
              <a:ext uri="{FF2B5EF4-FFF2-40B4-BE49-F238E27FC236}">
                <a16:creationId xmlns:a16="http://schemas.microsoft.com/office/drawing/2014/main" id="{E94FDDB4-C3D2-00F3-0224-E153991A4229}"/>
              </a:ext>
            </a:extLst>
          </p:cNvPr>
          <p:cNvCxnSpPr>
            <a:stCxn id="153" idx="2"/>
            <a:endCxn id="167" idx="0"/>
          </p:cNvCxnSpPr>
          <p:nvPr/>
        </p:nvCxnSpPr>
        <p:spPr>
          <a:xfrm rot="16200000" flipH="1">
            <a:off x="8749361" y="1462564"/>
            <a:ext cx="158569" cy="10064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86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363A-9E7D-D688-D99F-1DB272C91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8C73FA-66DA-FF81-24BC-29C57C8F6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 err="1">
                <a:solidFill>
                  <a:srgbClr val="44546A"/>
                </a:solidFill>
              </a:rPr>
              <a:t>법개정</a:t>
            </a:r>
            <a:r>
              <a:rPr lang="ko-KR" altLang="en-US" dirty="0">
                <a:solidFill>
                  <a:srgbClr val="44546A"/>
                </a:solidFill>
              </a:rPr>
              <a:t>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3E227F-0B6F-7518-DBDE-2BFB0ECD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447D3D7-A535-DAD5-4676-7C54A1AB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52462"/>
              </p:ext>
            </p:extLst>
          </p:nvPr>
        </p:nvGraphicFramePr>
        <p:xfrm>
          <a:off x="338666" y="1306023"/>
          <a:ext cx="11491385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3466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799705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1256732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1598798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1166842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  <a:gridCol w="1166841">
                  <a:extLst>
                    <a:ext uri="{9D8B030D-6E8A-4147-A177-3AD203B41FA5}">
                      <a16:colId xmlns:a16="http://schemas.microsoft.com/office/drawing/2014/main" val="3453731879"/>
                    </a:ext>
                  </a:extLst>
                </a:gridCol>
                <a:gridCol w="964889">
                  <a:extLst>
                    <a:ext uri="{9D8B030D-6E8A-4147-A177-3AD203B41FA5}">
                      <a16:colId xmlns:a16="http://schemas.microsoft.com/office/drawing/2014/main" val="1342974984"/>
                    </a:ext>
                  </a:extLst>
                </a:gridCol>
                <a:gridCol w="1144402">
                  <a:extLst>
                    <a:ext uri="{9D8B030D-6E8A-4147-A177-3AD203B41FA5}">
                      <a16:colId xmlns:a16="http://schemas.microsoft.com/office/drawing/2014/main" val="683021080"/>
                    </a:ext>
                  </a:extLst>
                </a:gridCol>
                <a:gridCol w="1359855">
                  <a:extLst>
                    <a:ext uri="{9D8B030D-6E8A-4147-A177-3AD203B41FA5}">
                      <a16:colId xmlns:a16="http://schemas.microsoft.com/office/drawing/2014/main" val="1298072918"/>
                    </a:ext>
                  </a:extLst>
                </a:gridCol>
                <a:gridCol w="1359855">
                  <a:extLst>
                    <a:ext uri="{9D8B030D-6E8A-4147-A177-3AD203B41FA5}">
                      <a16:colId xmlns:a16="http://schemas.microsoft.com/office/drawing/2014/main" val="2965590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명칭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법률 등의 번호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개정일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시행일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개정이유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신구조문대비표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개정해설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동영상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법률 제</a:t>
                      </a:r>
                      <a:r>
                        <a:rPr lang="en-US" altLang="ko-KR" sz="1000" dirty="0"/>
                        <a:t>21065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시행령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대통령령 제</a:t>
                      </a:r>
                      <a:r>
                        <a:rPr lang="en-US" altLang="ko-KR" sz="1000" dirty="0"/>
                        <a:t>35809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 시행규칙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총리령 제</a:t>
                      </a:r>
                      <a:r>
                        <a:rPr lang="en-US" altLang="ko-KR" sz="1000" dirty="0"/>
                        <a:t>2054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74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3E8E-2E17-74BA-5EAE-2A51BA07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DBBE9A4-D737-1528-9BB6-0BFE6894E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 err="1">
                <a:solidFill>
                  <a:srgbClr val="44546A"/>
                </a:solidFill>
              </a:rPr>
              <a:t>법개정</a:t>
            </a:r>
            <a:r>
              <a:rPr lang="ko-KR" altLang="en-US" dirty="0">
                <a:solidFill>
                  <a:srgbClr val="44546A"/>
                </a:solidFill>
              </a:rPr>
              <a:t>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2A9AD8D-F09F-4447-3664-BF6B314D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8977D-CF4F-B71B-32E2-B18BD83D60CF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개정이유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신구조문대비표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개정해설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클릭하였을 때 별도의 팝업창을 통해 각각을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신구조문대비표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개정해설을 다운로드할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라벨에 분류기준을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804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CC46-A4B0-A07C-51BF-7C2ED95F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TextBox 4105">
            <a:extLst>
              <a:ext uri="{FF2B5EF4-FFF2-40B4-BE49-F238E27FC236}">
                <a16:creationId xmlns:a16="http://schemas.microsoft.com/office/drawing/2014/main" id="{1BA30A56-47D2-974B-4666-A0F76ED12224}"/>
              </a:ext>
            </a:extLst>
          </p:cNvPr>
          <p:cNvSpPr txBox="1"/>
          <p:nvPr/>
        </p:nvSpPr>
        <p:spPr>
          <a:xfrm>
            <a:off x="4167624" y="4160721"/>
            <a:ext cx="801355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/>
              <a:t>문제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762D1FF-9B13-7A24-B8B6-33A622780B31}"/>
              </a:ext>
            </a:extLst>
          </p:cNvPr>
          <p:cNvSpPr/>
          <p:nvPr/>
        </p:nvSpPr>
        <p:spPr>
          <a:xfrm>
            <a:off x="3260270" y="6152704"/>
            <a:ext cx="8931730" cy="7052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136BFEE2-3AD2-B99F-501D-01EE7FFEE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</a:t>
            </a:r>
            <a:r>
              <a:rPr lang="en-US" altLang="ko-KR" dirty="0"/>
              <a:t>/2</a:t>
            </a:r>
            <a:r>
              <a:rPr lang="ko-KR" altLang="en-US" dirty="0"/>
              <a:t>차 조문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7E4733-6CF7-A069-F9A5-B9BD6078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BCBE6D-89B4-6681-C51F-11F3A28791E7}"/>
              </a:ext>
            </a:extLst>
          </p:cNvPr>
          <p:cNvSpPr/>
          <p:nvPr/>
        </p:nvSpPr>
        <p:spPr>
          <a:xfrm>
            <a:off x="4316167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E1C8D2-68C2-DA1D-D25D-431EB39F955E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CE499EAE-AD01-5328-9D22-035EC0EBA9C1}"/>
              </a:ext>
            </a:extLst>
          </p:cNvPr>
          <p:cNvSpPr/>
          <p:nvPr/>
        </p:nvSpPr>
        <p:spPr>
          <a:xfrm>
            <a:off x="5614477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1CDC4FDD-709B-1E94-8B6D-F815B15D20A6}"/>
              </a:ext>
            </a:extLst>
          </p:cNvPr>
          <p:cNvSpPr/>
          <p:nvPr/>
        </p:nvSpPr>
        <p:spPr>
          <a:xfrm>
            <a:off x="5614477" y="1036997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C9FAD49C-CC9F-8A32-5DDB-B3F7A7D3524D}"/>
              </a:ext>
            </a:extLst>
          </p:cNvPr>
          <p:cNvSpPr/>
          <p:nvPr/>
        </p:nvSpPr>
        <p:spPr>
          <a:xfrm>
            <a:off x="69092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BE37156E-CB53-084D-E073-5CD01579CE8E}"/>
              </a:ext>
            </a:extLst>
          </p:cNvPr>
          <p:cNvSpPr/>
          <p:nvPr/>
        </p:nvSpPr>
        <p:spPr>
          <a:xfrm>
            <a:off x="82063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41ED0F2D-0F66-91D0-B15C-C9C30E9D648D}"/>
              </a:ext>
            </a:extLst>
          </p:cNvPr>
          <p:cNvSpPr/>
          <p:nvPr/>
        </p:nvSpPr>
        <p:spPr>
          <a:xfrm>
            <a:off x="9507804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91E8A955-BBE9-79F7-902B-189BF777E997}"/>
              </a:ext>
            </a:extLst>
          </p:cNvPr>
          <p:cNvSpPr/>
          <p:nvPr/>
        </p:nvSpPr>
        <p:spPr>
          <a:xfrm>
            <a:off x="3019068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67BF0BCB-78AB-FDF0-9D1B-42989A6A15EE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56A19EC2-0C1E-F65E-BCE2-9AF41D68263C}"/>
              </a:ext>
            </a:extLst>
          </p:cNvPr>
          <p:cNvSpPr/>
          <p:nvPr/>
        </p:nvSpPr>
        <p:spPr>
          <a:xfrm>
            <a:off x="3019068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62A3484C-30DD-E3E3-DCD9-9F5F10A5C426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2FFABD7-5038-5BFC-2712-3597A8B79BBB}"/>
              </a:ext>
            </a:extLst>
          </p:cNvPr>
          <p:cNvCxnSpPr>
            <a:cxnSpLocks/>
          </p:cNvCxnSpPr>
          <p:nvPr/>
        </p:nvCxnSpPr>
        <p:spPr>
          <a:xfrm>
            <a:off x="173690" y="1759290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051A26A-576E-A995-BF67-5F54BD044D3C}"/>
              </a:ext>
            </a:extLst>
          </p:cNvPr>
          <p:cNvSpPr txBox="1"/>
          <p:nvPr/>
        </p:nvSpPr>
        <p:spPr>
          <a:xfrm>
            <a:off x="125126" y="1848979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총칙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98C8B-635F-3641-8BF0-6452C37FB02D}"/>
              </a:ext>
            </a:extLst>
          </p:cNvPr>
          <p:cNvSpPr txBox="1"/>
          <p:nvPr/>
        </p:nvSpPr>
        <p:spPr>
          <a:xfrm>
            <a:off x="2190309" y="2121663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4A52F0-FE6E-ED59-CE53-D0F662110332}"/>
              </a:ext>
            </a:extLst>
          </p:cNvPr>
          <p:cNvSpPr txBox="1"/>
          <p:nvPr/>
        </p:nvSpPr>
        <p:spPr>
          <a:xfrm>
            <a:off x="2190309" y="2394348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227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1CFA41-2629-6E4B-23B6-970E661287E0}"/>
              </a:ext>
            </a:extLst>
          </p:cNvPr>
          <p:cNvSpPr txBox="1"/>
          <p:nvPr/>
        </p:nvSpPr>
        <p:spPr>
          <a:xfrm>
            <a:off x="2190309" y="3406968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232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39E6A8-20D6-78F5-834A-50504675C42D}"/>
              </a:ext>
            </a:extLst>
          </p:cNvPr>
          <p:cNvSpPr txBox="1"/>
          <p:nvPr/>
        </p:nvSpPr>
        <p:spPr>
          <a:xfrm>
            <a:off x="2190309" y="2665335"/>
            <a:ext cx="988318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228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FDEB56-4B85-E88B-13E8-C5AB31633DB3}"/>
              </a:ext>
            </a:extLst>
          </p:cNvPr>
          <p:cNvSpPr txBox="1"/>
          <p:nvPr/>
        </p:nvSpPr>
        <p:spPr>
          <a:xfrm>
            <a:off x="2190309" y="1841471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225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 </a:t>
            </a:r>
            <a:r>
              <a:rPr lang="ko-KR" altLang="en-US" sz="8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침해죄</a:t>
            </a:r>
            <a:endParaRPr lang="ko-KR" altLang="en-US" sz="8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4157" name="직선 연결선 4156">
            <a:extLst>
              <a:ext uri="{FF2B5EF4-FFF2-40B4-BE49-F238E27FC236}">
                <a16:creationId xmlns:a16="http://schemas.microsoft.com/office/drawing/2014/main" id="{28B37EF9-AAE1-A8AB-AA7C-5D302755A3F3}"/>
              </a:ext>
            </a:extLst>
          </p:cNvPr>
          <p:cNvCxnSpPr/>
          <p:nvPr/>
        </p:nvCxnSpPr>
        <p:spPr>
          <a:xfrm>
            <a:off x="3260269" y="1790700"/>
            <a:ext cx="0" cy="4958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CE64D97-D614-10FB-9AB9-A16811BFFE4C}"/>
              </a:ext>
            </a:extLst>
          </p:cNvPr>
          <p:cNvSpPr txBox="1"/>
          <p:nvPr/>
        </p:nvSpPr>
        <p:spPr>
          <a:xfrm>
            <a:off x="4157837" y="6269249"/>
            <a:ext cx="1075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총칙 </a:t>
            </a:r>
            <a:r>
              <a:rPr lang="en-US" altLang="ko-KR" sz="800" dirty="0"/>
              <a:t>&gt; </a:t>
            </a:r>
            <a:r>
              <a:rPr lang="ko-KR" altLang="en-US" sz="800" dirty="0"/>
              <a:t>발명의 </a:t>
            </a:r>
            <a:r>
              <a:rPr lang="ko-KR" altLang="en-US" sz="800" dirty="0" err="1"/>
              <a:t>성립성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A72DD6-7607-E3C9-3EEF-0158FE1204A4}"/>
              </a:ext>
            </a:extLst>
          </p:cNvPr>
          <p:cNvSpPr txBox="1"/>
          <p:nvPr/>
        </p:nvSpPr>
        <p:spPr>
          <a:xfrm>
            <a:off x="4157837" y="6497477"/>
            <a:ext cx="1220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</a:t>
            </a:r>
            <a:r>
              <a:rPr lang="en-US" altLang="ko-KR" sz="800" dirty="0"/>
              <a:t>1</a:t>
            </a:r>
            <a:r>
              <a:rPr lang="ko-KR" altLang="en-US" sz="800" dirty="0"/>
              <a:t>장 총칙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</a:t>
            </a:r>
            <a:r>
              <a:rPr lang="ko-KR" altLang="en-US" sz="800" dirty="0"/>
              <a:t>조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815DF-C165-6F49-E165-685B23FC7392}"/>
              </a:ext>
            </a:extLst>
          </p:cNvPr>
          <p:cNvSpPr txBox="1"/>
          <p:nvPr/>
        </p:nvSpPr>
        <p:spPr>
          <a:xfrm>
            <a:off x="125126" y="2091796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특허요건 및 특허출원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E8D3F-67DB-503A-13E4-5B1E3E3CD053}"/>
              </a:ext>
            </a:extLst>
          </p:cNvPr>
          <p:cNvSpPr txBox="1"/>
          <p:nvPr/>
        </p:nvSpPr>
        <p:spPr>
          <a:xfrm>
            <a:off x="125126" y="2341244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심사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140C37-6308-4ED9-A14A-4E96889FDE7E}"/>
              </a:ext>
            </a:extLst>
          </p:cNvPr>
          <p:cNvSpPr txBox="1"/>
          <p:nvPr/>
        </p:nvSpPr>
        <p:spPr>
          <a:xfrm>
            <a:off x="125126" y="2584061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특허료 및 특허등록 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9EBA1-678E-0C0F-D17A-2A9A5D67E10C}"/>
              </a:ext>
            </a:extLst>
          </p:cNvPr>
          <p:cNvSpPr txBox="1"/>
          <p:nvPr/>
        </p:nvSpPr>
        <p:spPr>
          <a:xfrm>
            <a:off x="125126" y="2837492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8E0C0-6C5D-CD51-3929-6C1F72E4D63D}"/>
              </a:ext>
            </a:extLst>
          </p:cNvPr>
          <p:cNvSpPr txBox="1"/>
          <p:nvPr/>
        </p:nvSpPr>
        <p:spPr>
          <a:xfrm>
            <a:off x="125126" y="3080309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특허권자의 보호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6B9DE-5599-2B5D-AB42-C90845E97C70}"/>
              </a:ext>
            </a:extLst>
          </p:cNvPr>
          <p:cNvSpPr txBox="1"/>
          <p:nvPr/>
        </p:nvSpPr>
        <p:spPr>
          <a:xfrm>
            <a:off x="125126" y="3329757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장의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특허취소신청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AD62F-CB58-ACDB-3A2E-2E1FCAF467DB}"/>
              </a:ext>
            </a:extLst>
          </p:cNvPr>
          <p:cNvSpPr txBox="1"/>
          <p:nvPr/>
        </p:nvSpPr>
        <p:spPr>
          <a:xfrm>
            <a:off x="125126" y="3572574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7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심판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5B190-B89C-9C16-3193-F37EA60F6C71}"/>
              </a:ext>
            </a:extLst>
          </p:cNvPr>
          <p:cNvSpPr txBox="1"/>
          <p:nvPr/>
        </p:nvSpPr>
        <p:spPr>
          <a:xfrm>
            <a:off x="125126" y="3815391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8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재심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10F396-FECB-114F-6137-54C3DA3EF481}"/>
              </a:ext>
            </a:extLst>
          </p:cNvPr>
          <p:cNvSpPr txBox="1"/>
          <p:nvPr/>
        </p:nvSpPr>
        <p:spPr>
          <a:xfrm>
            <a:off x="125126" y="4058208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9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소송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CB3FB3-4430-6C3D-B168-6C450A763CC0}"/>
              </a:ext>
            </a:extLst>
          </p:cNvPr>
          <p:cNvSpPr txBox="1"/>
          <p:nvPr/>
        </p:nvSpPr>
        <p:spPr>
          <a:xfrm>
            <a:off x="125126" y="4307656"/>
            <a:ext cx="1446498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10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특허협력조약에 의한 국제출원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14AC71-DBC3-6299-703C-6EEFD2425090}"/>
              </a:ext>
            </a:extLst>
          </p:cNvPr>
          <p:cNvSpPr txBox="1"/>
          <p:nvPr/>
        </p:nvSpPr>
        <p:spPr>
          <a:xfrm>
            <a:off x="125126" y="4692816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11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</a:t>
            </a:r>
            <a:r>
              <a:rPr lang="ko-KR" altLang="en-US" sz="8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보칙</a:t>
            </a:r>
            <a:endParaRPr lang="ko-KR" altLang="en-US" sz="8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8314F7-8ED8-F770-5E16-0999A3E31C26}"/>
              </a:ext>
            </a:extLst>
          </p:cNvPr>
          <p:cNvSpPr txBox="1"/>
          <p:nvPr/>
        </p:nvSpPr>
        <p:spPr>
          <a:xfrm>
            <a:off x="125126" y="4954866"/>
            <a:ext cx="1446498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벌칙</a:t>
            </a: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459ADA02-282C-21EC-4F89-5AA39A11601C}"/>
              </a:ext>
            </a:extLst>
          </p:cNvPr>
          <p:cNvSpPr/>
          <p:nvPr/>
        </p:nvSpPr>
        <p:spPr>
          <a:xfrm>
            <a:off x="3341912" y="1858510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조 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98F5EAE-4610-D66A-D42D-A29A679C8845}"/>
              </a:ext>
            </a:extLst>
          </p:cNvPr>
          <p:cNvSpPr/>
          <p:nvPr/>
        </p:nvSpPr>
        <p:spPr>
          <a:xfrm>
            <a:off x="3341912" y="4226518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정오문제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CC96664E-F11D-248E-81D7-2EE77C6997A3}"/>
              </a:ext>
            </a:extLst>
          </p:cNvPr>
          <p:cNvSpPr/>
          <p:nvPr/>
        </p:nvSpPr>
        <p:spPr>
          <a:xfrm>
            <a:off x="4568301" y="4025481"/>
            <a:ext cx="4872049" cy="228950"/>
          </a:xfrm>
          <a:prstGeom prst="wedgeRoundRectCallout">
            <a:avLst>
              <a:gd name="adj1" fmla="val -60327"/>
              <a:gd name="adj2" fmla="val 93986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객관식과 자동 연동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전체 정오 문제 중 일부분 무작위 선별하여 노출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406E9B2-7FCE-8B88-8C4F-671E86CECEEF}"/>
              </a:ext>
            </a:extLst>
          </p:cNvPr>
          <p:cNvSpPr/>
          <p:nvPr/>
        </p:nvSpPr>
        <p:spPr>
          <a:xfrm>
            <a:off x="3341912" y="5007771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관련자료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54C0E3-349B-75D8-B04A-B0C36AD80D75}"/>
              </a:ext>
            </a:extLst>
          </p:cNvPr>
          <p:cNvSpPr/>
          <p:nvPr/>
        </p:nvSpPr>
        <p:spPr>
          <a:xfrm>
            <a:off x="4174626" y="5011074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614425-6831-B036-60B0-500021B58E93}"/>
              </a:ext>
            </a:extLst>
          </p:cNvPr>
          <p:cNvSpPr/>
          <p:nvPr/>
        </p:nvSpPr>
        <p:spPr>
          <a:xfrm>
            <a:off x="4174626" y="5184425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</a:t>
            </a:r>
          </a:p>
        </p:txBody>
      </p:sp>
      <p:sp>
        <p:nvSpPr>
          <p:cNvPr id="32" name="말풍선: 모서리가 둥근 사각형 31">
            <a:extLst>
              <a:ext uri="{FF2B5EF4-FFF2-40B4-BE49-F238E27FC236}">
                <a16:creationId xmlns:a16="http://schemas.microsoft.com/office/drawing/2014/main" id="{F241F797-B2C3-0E39-2A69-074A2DBD1783}"/>
              </a:ext>
            </a:extLst>
          </p:cNvPr>
          <p:cNvSpPr/>
          <p:nvPr/>
        </p:nvSpPr>
        <p:spPr>
          <a:xfrm>
            <a:off x="7272437" y="2130655"/>
            <a:ext cx="1177768" cy="262041"/>
          </a:xfrm>
          <a:prstGeom prst="wedgeRoundRectCallout">
            <a:avLst>
              <a:gd name="adj1" fmla="val -86547"/>
              <a:gd name="adj2" fmla="val 6943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</a:p>
        </p:txBody>
      </p:sp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12EC867E-6B6A-7438-06F2-C40D51ACA164}"/>
              </a:ext>
            </a:extLst>
          </p:cNvPr>
          <p:cNvSpPr/>
          <p:nvPr/>
        </p:nvSpPr>
        <p:spPr>
          <a:xfrm>
            <a:off x="4436708" y="1893721"/>
            <a:ext cx="1659291" cy="262041"/>
          </a:xfrm>
          <a:prstGeom prst="wedgeRoundRectCallout">
            <a:avLst>
              <a:gd name="adj1" fmla="val -77044"/>
              <a:gd name="adj2" fmla="val 161490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제목만 보일 수 있는 기능 </a:t>
            </a:r>
          </a:p>
        </p:txBody>
      </p:sp>
      <p:sp>
        <p:nvSpPr>
          <p:cNvPr id="53" name="말풍선: 모서리가 둥근 사각형 52">
            <a:extLst>
              <a:ext uri="{FF2B5EF4-FFF2-40B4-BE49-F238E27FC236}">
                <a16:creationId xmlns:a16="http://schemas.microsoft.com/office/drawing/2014/main" id="{DAC24D33-99CA-AC9A-A019-CB8D4803AA8F}"/>
              </a:ext>
            </a:extLst>
          </p:cNvPr>
          <p:cNvSpPr/>
          <p:nvPr/>
        </p:nvSpPr>
        <p:spPr>
          <a:xfrm>
            <a:off x="5311611" y="5032396"/>
            <a:ext cx="1042151" cy="246221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클릭하여 연결</a:t>
            </a: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B3687773-CDA4-C673-435D-A0F138EC22E7}"/>
              </a:ext>
            </a:extLst>
          </p:cNvPr>
          <p:cNvCxnSpPr>
            <a:stCxn id="31" idx="3"/>
            <a:endCxn id="51" idx="1"/>
          </p:cNvCxnSpPr>
          <p:nvPr/>
        </p:nvCxnSpPr>
        <p:spPr>
          <a:xfrm flipV="1">
            <a:off x="1571624" y="2773057"/>
            <a:ext cx="618685" cy="2289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3C56591-8EDF-82E3-BD3F-1F10045D9F21}"/>
              </a:ext>
            </a:extLst>
          </p:cNvPr>
          <p:cNvSpPr txBox="1"/>
          <p:nvPr/>
        </p:nvSpPr>
        <p:spPr>
          <a:xfrm>
            <a:off x="3313250" y="2140180"/>
            <a:ext cx="8652388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제</a:t>
            </a:r>
            <a:r>
              <a:rPr lang="en-US" altLang="ko-KR" sz="900" dirty="0"/>
              <a:t>2</a:t>
            </a:r>
            <a:r>
              <a:rPr lang="ko-KR" altLang="en-US" sz="900" dirty="0"/>
              <a:t>조</a:t>
            </a:r>
            <a:r>
              <a:rPr lang="en-US" altLang="ko-KR" sz="900" dirty="0"/>
              <a:t>【</a:t>
            </a:r>
            <a:r>
              <a:rPr lang="ko-KR" altLang="en-US" sz="900" dirty="0"/>
              <a:t>정의</a:t>
            </a:r>
            <a:r>
              <a:rPr lang="en-US" altLang="ko-KR" sz="900" dirty="0"/>
              <a:t>】</a:t>
            </a:r>
          </a:p>
          <a:p>
            <a:r>
              <a:rPr lang="ko-KR" altLang="en-US" sz="900" dirty="0"/>
              <a:t>이 법에서 사용하는 용어의 뜻은 다음과 같다</a:t>
            </a:r>
            <a:r>
              <a:rPr lang="en-US" altLang="ko-KR" sz="900" dirty="0"/>
              <a:t>. </a:t>
            </a:r>
            <a:r>
              <a:rPr lang="en-US" altLang="ko-KR" sz="700" dirty="0"/>
              <a:t>&lt;</a:t>
            </a:r>
            <a:r>
              <a:rPr lang="ko-KR" altLang="en-US" sz="700" dirty="0"/>
              <a:t>개정 </a:t>
            </a:r>
            <a:r>
              <a:rPr lang="en-US" altLang="ko-KR" sz="700" dirty="0"/>
              <a:t>2019. 12. 10., 2025. 1. 21.&gt;</a:t>
            </a:r>
            <a:endParaRPr lang="en-US" altLang="ko-KR" sz="900" dirty="0"/>
          </a:p>
          <a:p>
            <a:r>
              <a:rPr lang="en-US" altLang="ko-KR" sz="900" dirty="0"/>
              <a:t>  1. 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발명의 정의</a:t>
            </a:r>
            <a:r>
              <a:rPr lang="en-US" altLang="ko-KR" sz="900" b="1" dirty="0"/>
              <a:t>) </a:t>
            </a:r>
            <a:r>
              <a:rPr lang="en-US" altLang="ko-KR" sz="900" dirty="0"/>
              <a:t>"</a:t>
            </a:r>
            <a:r>
              <a:rPr lang="ko-KR" altLang="en-US" sz="900" dirty="0"/>
              <a:t>발명</a:t>
            </a:r>
            <a:r>
              <a:rPr lang="en-US" altLang="ko-KR" sz="900" dirty="0"/>
              <a:t>"</a:t>
            </a:r>
            <a:r>
              <a:rPr lang="ko-KR" altLang="en-US" sz="900" dirty="0"/>
              <a:t>이란 </a:t>
            </a:r>
            <a:r>
              <a:rPr lang="ko-KR" altLang="en-US" sz="900" dirty="0">
                <a:highlight>
                  <a:srgbClr val="00FFFF"/>
                </a:highlight>
              </a:rPr>
              <a:t>자연법칙을 이용한 기술적 사상의 창작</a:t>
            </a:r>
            <a:r>
              <a:rPr lang="ko-KR" altLang="en-US" sz="900" dirty="0"/>
              <a:t>으로서 고도</a:t>
            </a:r>
            <a:r>
              <a:rPr lang="en-US" altLang="ko-KR" sz="900" dirty="0"/>
              <a:t>(</a:t>
            </a:r>
            <a:r>
              <a:rPr lang="ko-KR" altLang="en-US" sz="900" dirty="0"/>
              <a:t>高度</a:t>
            </a:r>
            <a:r>
              <a:rPr lang="en-US" altLang="ko-KR" sz="900" dirty="0"/>
              <a:t>)</a:t>
            </a:r>
            <a:r>
              <a:rPr lang="ko-KR" altLang="en-US" sz="900" dirty="0"/>
              <a:t>한 것을 말한다</a:t>
            </a:r>
            <a:r>
              <a:rPr lang="en-US" altLang="ko-KR" sz="900" dirty="0"/>
              <a:t>.</a:t>
            </a:r>
          </a:p>
          <a:p>
            <a:r>
              <a:rPr lang="en-US" altLang="ko-KR" sz="900" dirty="0"/>
              <a:t>  2. 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특허발명의 정의</a:t>
            </a:r>
            <a:r>
              <a:rPr lang="en-US" altLang="ko-KR" sz="900" b="1" dirty="0"/>
              <a:t>)</a:t>
            </a:r>
            <a:r>
              <a:rPr lang="en-US" altLang="ko-KR" sz="900" dirty="0"/>
              <a:t> "</a:t>
            </a:r>
            <a:r>
              <a:rPr lang="ko-KR" altLang="en-US" sz="900" dirty="0"/>
              <a:t>특허발명</a:t>
            </a:r>
            <a:r>
              <a:rPr lang="en-US" altLang="ko-KR" sz="900" dirty="0"/>
              <a:t>"</a:t>
            </a:r>
            <a:r>
              <a:rPr lang="ko-KR" altLang="en-US" sz="900" dirty="0"/>
              <a:t>이란 특허를 받은 발명을 말한다</a:t>
            </a:r>
            <a:r>
              <a:rPr lang="en-US" altLang="ko-KR" sz="900" dirty="0"/>
              <a:t>. </a:t>
            </a:r>
          </a:p>
          <a:p>
            <a:r>
              <a:rPr lang="en-US" altLang="ko-KR" sz="900"/>
              <a:t>  3</a:t>
            </a:r>
            <a:r>
              <a:rPr lang="en-US" altLang="ko-KR" sz="900" dirty="0"/>
              <a:t>.</a:t>
            </a:r>
            <a:r>
              <a:rPr lang="en-US" altLang="ko-KR" sz="900" b="1" dirty="0"/>
              <a:t> (</a:t>
            </a:r>
            <a:r>
              <a:rPr lang="ko-KR" altLang="en-US" sz="900" b="1" dirty="0"/>
              <a:t>실시의 정의</a:t>
            </a:r>
            <a:r>
              <a:rPr lang="en-US" altLang="ko-KR" sz="900" b="1" dirty="0"/>
              <a:t>)</a:t>
            </a:r>
            <a:r>
              <a:rPr lang="en-US" altLang="ko-KR" sz="900" dirty="0"/>
              <a:t> "</a:t>
            </a:r>
            <a:r>
              <a:rPr lang="ko-KR" altLang="en-US" sz="900" dirty="0"/>
              <a:t>실시</a:t>
            </a:r>
            <a:r>
              <a:rPr lang="en-US" altLang="ko-KR" sz="900" dirty="0"/>
              <a:t>"</a:t>
            </a:r>
            <a:r>
              <a:rPr lang="ko-KR" altLang="en-US" sz="900" dirty="0"/>
              <a:t>란 다음 각 목의 구분에 따른 행위를 말한다</a:t>
            </a:r>
            <a:r>
              <a:rPr lang="en-US" altLang="ko-KR" sz="900" dirty="0"/>
              <a:t>.</a:t>
            </a:r>
          </a:p>
          <a:p>
            <a:r>
              <a:rPr lang="en-US" altLang="ko-KR" sz="900" dirty="0"/>
              <a:t>    </a:t>
            </a:r>
            <a:r>
              <a:rPr lang="ko-KR" altLang="en-US" sz="900" dirty="0"/>
              <a:t>가</a:t>
            </a:r>
            <a:r>
              <a:rPr lang="en-US" altLang="ko-KR" sz="900" dirty="0"/>
              <a:t>. 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물건발명</a:t>
            </a:r>
            <a:r>
              <a:rPr lang="en-US" altLang="ko-KR" sz="900" b="1" dirty="0"/>
              <a:t>)</a:t>
            </a:r>
            <a:r>
              <a:rPr lang="en-US" altLang="ko-KR" sz="900" dirty="0"/>
              <a:t> </a:t>
            </a:r>
            <a:r>
              <a:rPr lang="ko-KR" altLang="en-US" sz="900" dirty="0"/>
              <a:t>물건의 발명인 경우</a:t>
            </a:r>
            <a:r>
              <a:rPr lang="en-US" altLang="ko-KR" sz="900" dirty="0"/>
              <a:t>: </a:t>
            </a:r>
            <a:r>
              <a:rPr lang="ko-KR" altLang="en-US" sz="900" dirty="0"/>
              <a:t>그 물건을 생산</a:t>
            </a:r>
            <a:r>
              <a:rPr lang="en-US" altLang="ko-KR" sz="900" dirty="0"/>
              <a:t>·</a:t>
            </a:r>
            <a:r>
              <a:rPr lang="ko-KR" altLang="en-US" sz="900" dirty="0"/>
              <a:t>사용</a:t>
            </a:r>
            <a:r>
              <a:rPr lang="en-US" altLang="ko-KR" sz="900" dirty="0"/>
              <a:t>·</a:t>
            </a:r>
            <a:r>
              <a:rPr lang="ko-KR" altLang="en-US" sz="900" dirty="0"/>
              <a:t>양도</a:t>
            </a:r>
            <a:r>
              <a:rPr lang="en-US" altLang="ko-KR" sz="900" dirty="0"/>
              <a:t>·</a:t>
            </a:r>
            <a:r>
              <a:rPr lang="ko-KR" altLang="en-US" sz="900" dirty="0"/>
              <a:t>대여</a:t>
            </a:r>
            <a:r>
              <a:rPr lang="en-US" altLang="ko-KR" sz="900" dirty="0"/>
              <a:t>·</a:t>
            </a:r>
            <a:r>
              <a:rPr lang="ko-KR" altLang="en-US" sz="900" dirty="0"/>
              <a:t>수출 또는 수입하거나 그 물건의 양도 또는 대여의 청약</a:t>
            </a:r>
            <a:r>
              <a:rPr lang="en-US" altLang="ko-KR" sz="900" dirty="0"/>
              <a:t>(</a:t>
            </a:r>
            <a:r>
              <a:rPr lang="ko-KR" altLang="en-US" sz="900" dirty="0"/>
              <a:t>양도 또는 대여를 위한 전시를 포함한다</a:t>
            </a:r>
            <a:r>
              <a:rPr lang="en-US" altLang="ko-KR" sz="900" dirty="0"/>
              <a:t>. </a:t>
            </a:r>
            <a:r>
              <a:rPr lang="ko-KR" altLang="en-US" sz="900" dirty="0"/>
              <a:t>이하 같다</a:t>
            </a:r>
            <a:r>
              <a:rPr lang="en-US" altLang="ko-KR" sz="900" dirty="0"/>
              <a:t>)</a:t>
            </a:r>
            <a:r>
              <a:rPr lang="ko-KR" altLang="en-US" sz="900" dirty="0"/>
              <a:t>을 하는 행위</a:t>
            </a:r>
          </a:p>
          <a:p>
            <a:r>
              <a:rPr lang="ko-KR" altLang="en-US" sz="900" dirty="0"/>
              <a:t>    나</a:t>
            </a:r>
            <a:r>
              <a:rPr lang="en-US" altLang="ko-KR" sz="900" dirty="0"/>
              <a:t>. 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방법발명</a:t>
            </a:r>
            <a:r>
              <a:rPr lang="en-US" altLang="ko-KR" sz="900" b="1" dirty="0"/>
              <a:t>)</a:t>
            </a:r>
            <a:r>
              <a:rPr lang="en-US" altLang="ko-KR" sz="900" dirty="0"/>
              <a:t> </a:t>
            </a:r>
            <a:r>
              <a:rPr lang="ko-KR" altLang="en-US" sz="900" dirty="0"/>
              <a:t>방법의 발명인 경우</a:t>
            </a:r>
            <a:r>
              <a:rPr lang="en-US" altLang="ko-KR" sz="900" dirty="0"/>
              <a:t>: </a:t>
            </a:r>
            <a:r>
              <a:rPr lang="ko-KR" altLang="en-US" sz="900" dirty="0"/>
              <a:t>그 방법을 사용하는 행위 또는 그 방법의 사용을 청약하는 행위 </a:t>
            </a:r>
            <a:endParaRPr lang="en-US" altLang="ko-KR" sz="900" dirty="0"/>
          </a:p>
          <a:p>
            <a:r>
              <a:rPr lang="en-US" altLang="ko-KR" sz="900" dirty="0"/>
              <a:t>    </a:t>
            </a:r>
            <a:r>
              <a:rPr lang="ko-KR" altLang="en-US" sz="900" dirty="0"/>
              <a:t>다</a:t>
            </a:r>
            <a:r>
              <a:rPr lang="en-US" altLang="ko-KR" sz="900" dirty="0"/>
              <a:t>. 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제법발명</a:t>
            </a:r>
            <a:r>
              <a:rPr lang="en-US" altLang="ko-KR" sz="900" b="1" dirty="0"/>
              <a:t>)</a:t>
            </a:r>
            <a:r>
              <a:rPr lang="en-US" altLang="ko-KR" sz="900" dirty="0"/>
              <a:t> </a:t>
            </a:r>
            <a:r>
              <a:rPr lang="ko-KR" altLang="en-US" sz="900" dirty="0"/>
              <a:t>물건을 생산하는 방법의 발명인 경우</a:t>
            </a:r>
            <a:r>
              <a:rPr lang="en-US" altLang="ko-KR" sz="900" dirty="0"/>
              <a:t>: </a:t>
            </a:r>
            <a:r>
              <a:rPr lang="ko-KR" altLang="en-US" sz="900" dirty="0" err="1"/>
              <a:t>나목의</a:t>
            </a:r>
            <a:r>
              <a:rPr lang="ko-KR" altLang="en-US" sz="900" dirty="0"/>
              <a:t> 행위 외에 그 방법에 의하여 생산한 물건을 사용</a:t>
            </a:r>
            <a:r>
              <a:rPr lang="en-US" altLang="ko-KR" sz="900" dirty="0"/>
              <a:t>·</a:t>
            </a:r>
            <a:r>
              <a:rPr lang="ko-KR" altLang="en-US" sz="900" dirty="0"/>
              <a:t>양도</a:t>
            </a:r>
            <a:r>
              <a:rPr lang="en-US" altLang="ko-KR" sz="900" dirty="0"/>
              <a:t>·</a:t>
            </a:r>
            <a:r>
              <a:rPr lang="ko-KR" altLang="en-US" sz="900" dirty="0"/>
              <a:t>대여</a:t>
            </a:r>
            <a:r>
              <a:rPr lang="en-US" altLang="ko-KR" sz="900" dirty="0"/>
              <a:t>·</a:t>
            </a:r>
            <a:r>
              <a:rPr lang="ko-KR" altLang="en-US" sz="900" dirty="0"/>
              <a:t>수출 또는 수입하거나 그 물건의 양도 또는 대여의 청약을 하는 행위 </a:t>
            </a:r>
          </a:p>
          <a:p>
            <a:r>
              <a:rPr lang="en-US" altLang="ko-KR" sz="700" dirty="0"/>
              <a:t>[</a:t>
            </a:r>
            <a:r>
              <a:rPr lang="ko-KR" altLang="en-US" sz="700" dirty="0"/>
              <a:t>전문개정 </a:t>
            </a:r>
            <a:r>
              <a:rPr lang="en-US" altLang="ko-KR" sz="700" dirty="0"/>
              <a:t>2014.6.11.]</a:t>
            </a:r>
            <a:endParaRPr lang="ko-KR" altLang="en-US" sz="7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A0E8F85-A18C-5C1E-BA8F-A6CD744B0441}"/>
              </a:ext>
            </a:extLst>
          </p:cNvPr>
          <p:cNvSpPr/>
          <p:nvPr/>
        </p:nvSpPr>
        <p:spPr>
          <a:xfrm>
            <a:off x="3341912" y="3549803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중요도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E61233-CC3B-82BA-087D-010C14B6258D}"/>
              </a:ext>
            </a:extLst>
          </p:cNvPr>
          <p:cNvSpPr txBox="1"/>
          <p:nvPr/>
        </p:nvSpPr>
        <p:spPr>
          <a:xfrm>
            <a:off x="4085983" y="3553016"/>
            <a:ext cx="10491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 </a:t>
            </a:r>
            <a:r>
              <a:rPr lang="en-US" altLang="ko-KR" sz="1050" dirty="0"/>
              <a:t>★★</a:t>
            </a:r>
            <a:endParaRPr lang="ko-KR" altLang="en-US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0AF517-66A2-B53F-5664-E86DF12A03F7}"/>
              </a:ext>
            </a:extLst>
          </p:cNvPr>
          <p:cNvSpPr txBox="1"/>
          <p:nvPr/>
        </p:nvSpPr>
        <p:spPr>
          <a:xfrm>
            <a:off x="9673528" y="2481836"/>
            <a:ext cx="2045490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dirty="0"/>
              <a:t>法 </a:t>
            </a:r>
            <a:r>
              <a:rPr lang="en-US" altLang="ko-KR" sz="1000" dirty="0"/>
              <a:t>81</a:t>
            </a:r>
            <a:r>
              <a:rPr lang="ko-KR" altLang="en-US" sz="1000" dirty="0"/>
              <a:t>의</a:t>
            </a:r>
            <a:r>
              <a:rPr lang="en-US" altLang="ko-KR" sz="1000" dirty="0"/>
              <a:t>3③, 89, </a:t>
            </a:r>
            <a:r>
              <a:rPr lang="en-US" altLang="ko-KR" sz="1000" dirty="0" err="1"/>
              <a:t>107①Ⅰ,Ⅱ</a:t>
            </a:r>
            <a:r>
              <a:rPr lang="en-US" altLang="ko-KR" sz="1000" dirty="0"/>
              <a:t>, 136③</a:t>
            </a:r>
          </a:p>
        </p:txBody>
      </p:sp>
      <p:sp>
        <p:nvSpPr>
          <p:cNvPr id="4096" name="말풍선: 모서리가 둥근 사각형 4095">
            <a:extLst>
              <a:ext uri="{FF2B5EF4-FFF2-40B4-BE49-F238E27FC236}">
                <a16:creationId xmlns:a16="http://schemas.microsoft.com/office/drawing/2014/main" id="{8176DBED-85D2-C7C1-64F6-35B04ABB69CD}"/>
              </a:ext>
            </a:extLst>
          </p:cNvPr>
          <p:cNvSpPr/>
          <p:nvPr/>
        </p:nvSpPr>
        <p:spPr>
          <a:xfrm>
            <a:off x="10306347" y="1929897"/>
            <a:ext cx="1229871" cy="262041"/>
          </a:xfrm>
          <a:prstGeom prst="wedgeRoundRectCallout">
            <a:avLst>
              <a:gd name="adj1" fmla="val -77044"/>
              <a:gd name="adj2" fmla="val 161490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bg1">
                    <a:lumMod val="50000"/>
                  </a:schemeClr>
                </a:solidFill>
              </a:rPr>
              <a:t>관련조문 연결기능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02" name="TextBox 4101">
            <a:extLst>
              <a:ext uri="{FF2B5EF4-FFF2-40B4-BE49-F238E27FC236}">
                <a16:creationId xmlns:a16="http://schemas.microsoft.com/office/drawing/2014/main" id="{374E6260-6C17-E771-BDB2-3235C03135AE}"/>
              </a:ext>
            </a:extLst>
          </p:cNvPr>
          <p:cNvSpPr txBox="1"/>
          <p:nvPr/>
        </p:nvSpPr>
        <p:spPr>
          <a:xfrm>
            <a:off x="8076005" y="2911248"/>
            <a:ext cx="652359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dirty="0"/>
              <a:t>法 </a:t>
            </a:r>
            <a:r>
              <a:rPr lang="en-US" altLang="ko-KR" sz="1000" dirty="0"/>
              <a:t>94②</a:t>
            </a:r>
          </a:p>
        </p:txBody>
      </p:sp>
      <p:sp>
        <p:nvSpPr>
          <p:cNvPr id="4107" name="TextBox 4106">
            <a:extLst>
              <a:ext uri="{FF2B5EF4-FFF2-40B4-BE49-F238E27FC236}">
                <a16:creationId xmlns:a16="http://schemas.microsoft.com/office/drawing/2014/main" id="{C513F8CC-C4D0-0E11-F85F-D7B98DB7202F}"/>
              </a:ext>
            </a:extLst>
          </p:cNvPr>
          <p:cNvSpPr txBox="1"/>
          <p:nvPr/>
        </p:nvSpPr>
        <p:spPr>
          <a:xfrm>
            <a:off x="4167624" y="4438474"/>
            <a:ext cx="801355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/>
              <a:t>해설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7C6BC591-3A68-F87E-1F95-BF13FB98A180}"/>
              </a:ext>
            </a:extLst>
          </p:cNvPr>
          <p:cNvSpPr/>
          <p:nvPr/>
        </p:nvSpPr>
        <p:spPr>
          <a:xfrm>
            <a:off x="3341912" y="5499107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즐겨찾기</a:t>
            </a: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F7B7E7EE-CA17-7019-1A25-B13FE5D47058}"/>
              </a:ext>
            </a:extLst>
          </p:cNvPr>
          <p:cNvSpPr/>
          <p:nvPr/>
        </p:nvSpPr>
        <p:spPr>
          <a:xfrm>
            <a:off x="3341912" y="5833379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질의응답</a:t>
            </a:r>
          </a:p>
        </p:txBody>
      </p:sp>
      <p:sp>
        <p:nvSpPr>
          <p:cNvPr id="4117" name="말풍선: 모서리가 둥근 사각형 4116">
            <a:extLst>
              <a:ext uri="{FF2B5EF4-FFF2-40B4-BE49-F238E27FC236}">
                <a16:creationId xmlns:a16="http://schemas.microsoft.com/office/drawing/2014/main" id="{B414210E-02DF-6987-16BC-F0A9844880B5}"/>
              </a:ext>
            </a:extLst>
          </p:cNvPr>
          <p:cNvSpPr/>
          <p:nvPr/>
        </p:nvSpPr>
        <p:spPr>
          <a:xfrm>
            <a:off x="5488196" y="5376761"/>
            <a:ext cx="787528" cy="262041"/>
          </a:xfrm>
          <a:prstGeom prst="wedgeRoundRectCallout">
            <a:avLst>
              <a:gd name="adj1" fmla="val -121774"/>
              <a:gd name="adj2" fmla="val 5228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119" name="TextBox 4118">
            <a:extLst>
              <a:ext uri="{FF2B5EF4-FFF2-40B4-BE49-F238E27FC236}">
                <a16:creationId xmlns:a16="http://schemas.microsoft.com/office/drawing/2014/main" id="{9F61F986-CE33-1765-7B59-9BCF028D8D29}"/>
              </a:ext>
            </a:extLst>
          </p:cNvPr>
          <p:cNvSpPr txBox="1"/>
          <p:nvPr/>
        </p:nvSpPr>
        <p:spPr>
          <a:xfrm>
            <a:off x="4136551" y="5508342"/>
            <a:ext cx="7564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♡♡♡♡♡</a:t>
            </a:r>
            <a:endParaRPr lang="ko-KR" altLang="en-US" sz="1200" dirty="0"/>
          </a:p>
        </p:txBody>
      </p:sp>
      <p:sp>
        <p:nvSpPr>
          <p:cNvPr id="4120" name="TextBox 4119">
            <a:extLst>
              <a:ext uri="{FF2B5EF4-FFF2-40B4-BE49-F238E27FC236}">
                <a16:creationId xmlns:a16="http://schemas.microsoft.com/office/drawing/2014/main" id="{CDF7BC02-5BF9-82DD-A9D0-13266F2DFA9F}"/>
              </a:ext>
            </a:extLst>
          </p:cNvPr>
          <p:cNvSpPr txBox="1"/>
          <p:nvPr/>
        </p:nvSpPr>
        <p:spPr>
          <a:xfrm>
            <a:off x="4167624" y="4715899"/>
            <a:ext cx="801355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/>
              <a:t>즐겨찾기</a:t>
            </a:r>
          </a:p>
        </p:txBody>
      </p:sp>
      <p:sp>
        <p:nvSpPr>
          <p:cNvPr id="4121" name="말풍선: 모서리가 둥근 사각형 4120">
            <a:extLst>
              <a:ext uri="{FF2B5EF4-FFF2-40B4-BE49-F238E27FC236}">
                <a16:creationId xmlns:a16="http://schemas.microsoft.com/office/drawing/2014/main" id="{28EEFD19-0FE3-10C7-BD08-5BC4C7047763}"/>
              </a:ext>
            </a:extLst>
          </p:cNvPr>
          <p:cNvSpPr/>
          <p:nvPr/>
        </p:nvSpPr>
        <p:spPr>
          <a:xfrm>
            <a:off x="6373553" y="4587885"/>
            <a:ext cx="787528" cy="262041"/>
          </a:xfrm>
          <a:prstGeom prst="wedgeRoundRectCallout">
            <a:avLst>
              <a:gd name="adj1" fmla="val -121774"/>
              <a:gd name="adj2" fmla="val 5228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122" name="TextBox 4121">
            <a:extLst>
              <a:ext uri="{FF2B5EF4-FFF2-40B4-BE49-F238E27FC236}">
                <a16:creationId xmlns:a16="http://schemas.microsoft.com/office/drawing/2014/main" id="{B25F0F97-C925-902B-AB88-995279A91940}"/>
              </a:ext>
            </a:extLst>
          </p:cNvPr>
          <p:cNvSpPr txBox="1"/>
          <p:nvPr/>
        </p:nvSpPr>
        <p:spPr>
          <a:xfrm>
            <a:off x="5021909" y="4730773"/>
            <a:ext cx="7170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♡♡♡♡♡</a:t>
            </a:r>
            <a:endParaRPr lang="ko-KR" altLang="en-US" sz="1200" dirty="0"/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235A535E-C2B1-2499-2F6D-B8CC908D0569}"/>
              </a:ext>
            </a:extLst>
          </p:cNvPr>
          <p:cNvSpPr/>
          <p:nvPr/>
        </p:nvSpPr>
        <p:spPr>
          <a:xfrm>
            <a:off x="3341912" y="3861727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코멘트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251906-643D-26BB-D848-E0B0A91FA41A}"/>
              </a:ext>
            </a:extLst>
          </p:cNvPr>
          <p:cNvGrpSpPr/>
          <p:nvPr/>
        </p:nvGrpSpPr>
        <p:grpSpPr>
          <a:xfrm>
            <a:off x="3397606" y="6289336"/>
            <a:ext cx="790691" cy="425068"/>
            <a:chOff x="3397606" y="4143224"/>
            <a:chExt cx="1267838" cy="42506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6AE409-2938-7236-8629-525C1709CB1B}"/>
                </a:ext>
              </a:extLst>
            </p:cNvPr>
            <p:cNvSpPr/>
            <p:nvPr/>
          </p:nvSpPr>
          <p:spPr>
            <a:xfrm>
              <a:off x="3397606" y="4143224"/>
              <a:ext cx="1267838" cy="20653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체계도 순서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72DD9DB-086A-E11B-5301-94480625E683}"/>
                </a:ext>
              </a:extLst>
            </p:cNvPr>
            <p:cNvSpPr/>
            <p:nvPr/>
          </p:nvSpPr>
          <p:spPr>
            <a:xfrm>
              <a:off x="3397606" y="4361762"/>
              <a:ext cx="1267838" cy="2065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accent4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조문 순서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1657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8877-04B4-F45B-E485-CF7D75DD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8B3929D-1A55-67D1-6ECA-861D432EB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</a:t>
            </a:r>
            <a:r>
              <a:rPr lang="en-US" altLang="ko-KR" dirty="0"/>
              <a:t>/2</a:t>
            </a:r>
            <a:r>
              <a:rPr lang="ko-KR" altLang="en-US" dirty="0"/>
              <a:t>차 조문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1D9B0D-A882-1D90-4874-59FC4C5F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7EBE4-E926-8AA7-853F-2643FD87BF53}"/>
              </a:ext>
            </a:extLst>
          </p:cNvPr>
          <p:cNvSpPr txBox="1"/>
          <p:nvPr/>
        </p:nvSpPr>
        <p:spPr>
          <a:xfrm>
            <a:off x="272145" y="1162748"/>
            <a:ext cx="3919662" cy="101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순서에 따라 판례를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제목과 내용을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 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제목만 보일 수 있는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관련조문을 연결시키고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클릭하면 관련 조문에 연결된다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2D52839-F73D-2035-73B3-D75348F42AB6}"/>
              </a:ext>
            </a:extLst>
          </p:cNvPr>
          <p:cNvSpPr/>
          <p:nvPr/>
        </p:nvSpPr>
        <p:spPr>
          <a:xfrm>
            <a:off x="272145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9BEB553-33ED-A130-5A6A-E81D1B6F53A8}"/>
              </a:ext>
            </a:extLst>
          </p:cNvPr>
          <p:cNvSpPr/>
          <p:nvPr/>
        </p:nvSpPr>
        <p:spPr>
          <a:xfrm>
            <a:off x="4355454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D461A-1DE7-2B74-7DF9-05F72EB0C393}"/>
              </a:ext>
            </a:extLst>
          </p:cNvPr>
          <p:cNvSpPr txBox="1"/>
          <p:nvPr/>
        </p:nvSpPr>
        <p:spPr>
          <a:xfrm>
            <a:off x="4295877" y="1162749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조문과 관련된 강의노트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클릭하여 강의를 들을 수 있도록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52D8645-B353-ACA0-FDF9-6DBE80DE4A6A}"/>
              </a:ext>
            </a:extLst>
          </p:cNvPr>
          <p:cNvSpPr/>
          <p:nvPr/>
        </p:nvSpPr>
        <p:spPr>
          <a:xfrm>
            <a:off x="4355454" y="163873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즐겨찾기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5B764-6439-2D10-4CAB-AC1EF5927387}"/>
              </a:ext>
            </a:extLst>
          </p:cNvPr>
          <p:cNvSpPr txBox="1"/>
          <p:nvPr/>
        </p:nvSpPr>
        <p:spPr>
          <a:xfrm>
            <a:off x="4295877" y="2008278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클릭하여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할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클릭할 때마다 메모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383831-3AFB-9F33-90F3-5B8FB5978D09}"/>
              </a:ext>
            </a:extLst>
          </p:cNvPr>
          <p:cNvSpPr/>
          <p:nvPr/>
        </p:nvSpPr>
        <p:spPr>
          <a:xfrm>
            <a:off x="4355454" y="2651110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질의응답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8BD39-B679-B70E-F2E2-D9DD329DDEE4}"/>
              </a:ext>
            </a:extLst>
          </p:cNvPr>
          <p:cNvSpPr txBox="1"/>
          <p:nvPr/>
        </p:nvSpPr>
        <p:spPr>
          <a:xfrm>
            <a:off x="4295877" y="3020649"/>
            <a:ext cx="3919662" cy="256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기존의 질문과 답변을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검색기능을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새로운 질문을 작성하는 경우 그 질문을 답변자에게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답변자가 링크를 클릭하면서 답변을 하는 경우 그 답변을 질문자에게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답변자는 답변을 할 때 질문의 수준을 평가한다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6BD7257-D995-2EF7-8558-2E981998BC52}"/>
              </a:ext>
            </a:extLst>
          </p:cNvPr>
          <p:cNvGraphicFramePr>
            <a:graphicFrameLocks noGrp="1"/>
          </p:cNvGraphicFramePr>
          <p:nvPr/>
        </p:nvGraphicFramePr>
        <p:xfrm>
          <a:off x="4430895" y="4206923"/>
          <a:ext cx="3227978" cy="914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30551">
                  <a:extLst>
                    <a:ext uri="{9D8B030D-6E8A-4147-A177-3AD203B41FA5}">
                      <a16:colId xmlns:a16="http://schemas.microsoft.com/office/drawing/2014/main" val="912422853"/>
                    </a:ext>
                  </a:extLst>
                </a:gridCol>
                <a:gridCol w="497427">
                  <a:extLst>
                    <a:ext uri="{9D8B030D-6E8A-4147-A177-3AD203B41FA5}">
                      <a16:colId xmlns:a16="http://schemas.microsoft.com/office/drawing/2014/main" val="990125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평가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5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지식이 있고</a:t>
                      </a:r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요구사항에 대한 정확한 파악을 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지식은 있으나 요구사항을 파악하지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이론에 대한 지식이 부족함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373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F1C2E05-9A43-2185-23F9-B65A2927CA97}"/>
              </a:ext>
            </a:extLst>
          </p:cNvPr>
          <p:cNvSpPr txBox="1"/>
          <p:nvPr/>
        </p:nvSpPr>
        <p:spPr>
          <a:xfrm>
            <a:off x="272145" y="2713623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중요도에 따라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★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을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개부터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개까지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A887B48-BD10-3852-616D-D9E9F9731A2F}"/>
              </a:ext>
            </a:extLst>
          </p:cNvPr>
          <p:cNvSpPr/>
          <p:nvPr/>
        </p:nvSpPr>
        <p:spPr>
          <a:xfrm>
            <a:off x="272145" y="2344083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중요도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BE589-BADC-CB34-B2BB-D0FFD83EFE9C}"/>
              </a:ext>
            </a:extLst>
          </p:cNvPr>
          <p:cNvSpPr txBox="1"/>
          <p:nvPr/>
        </p:nvSpPr>
        <p:spPr>
          <a:xfrm>
            <a:off x="272145" y="3740007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7C7EDD-649D-C732-BF5D-8B0824D3D456}"/>
              </a:ext>
            </a:extLst>
          </p:cNvPr>
          <p:cNvSpPr/>
          <p:nvPr/>
        </p:nvSpPr>
        <p:spPr>
          <a:xfrm>
            <a:off x="272145" y="3370467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코멘트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B7792-8468-75FC-71ED-09E359B80061}"/>
              </a:ext>
            </a:extLst>
          </p:cNvPr>
          <p:cNvSpPr txBox="1"/>
          <p:nvPr/>
        </p:nvSpPr>
        <p:spPr>
          <a:xfrm>
            <a:off x="272145" y="4756620"/>
            <a:ext cx="3919662" cy="1895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문제와 해설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경우 객관식과 자동으로 연동하여 제공되는 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연동하지 않고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업로드되는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제공시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이를 구분하여 표시한다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중복되는 정오문제를 제거한다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기출문제는 기출연도를 표시한다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34938" indent="-13493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문제는 전체를 노출할 수도 있고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일부를 무작위 선별하여 노출할 수도 있다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문제에 대한 정오 표시를 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그 정답과 해설을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42875" indent="-14287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5.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즐겨찾기의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경우 ♡를 클릭할 수 있도록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클릭할 때마다 메모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1578397-02C3-D5BE-6BB1-EA14564BB698}"/>
              </a:ext>
            </a:extLst>
          </p:cNvPr>
          <p:cNvSpPr/>
          <p:nvPr/>
        </p:nvSpPr>
        <p:spPr>
          <a:xfrm>
            <a:off x="272145" y="438708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정오문제</a:t>
            </a:r>
          </a:p>
        </p:txBody>
      </p:sp>
    </p:spTree>
    <p:extLst>
      <p:ext uri="{BB962C8B-B14F-4D97-AF65-F5344CB8AC3E}">
        <p14:creationId xmlns:p14="http://schemas.microsoft.com/office/powerpoint/2010/main" val="1223184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EB77-67C1-7617-3272-2C55940D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843808-60BB-7270-4DB6-3488CE7DF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1</a:t>
            </a:r>
            <a:r>
              <a:rPr lang="ko-KR" altLang="en-US" dirty="0">
                <a:solidFill>
                  <a:srgbClr val="44546A"/>
                </a:solidFill>
              </a:rPr>
              <a:t>차 객관식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E9B32A-CD15-3717-DDF6-00BDA273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8A18CF2-1007-B030-6AA8-78ED42452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441111"/>
              </p:ext>
            </p:extLst>
          </p:nvPr>
        </p:nvGraphicFramePr>
        <p:xfrm>
          <a:off x="338665" y="1394464"/>
          <a:ext cx="10778067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20828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1568411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2464750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3135623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2288455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명칭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출제일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산업재산권법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기출문제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63</a:t>
                      </a:r>
                      <a:r>
                        <a:rPr lang="ko-KR" altLang="en-US" sz="1000" dirty="0"/>
                        <a:t>회 기출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2026/02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자연과학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월 전체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민법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월 진도별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07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2D8B-0FF1-9434-D269-A10B37A3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8DF353-DCDF-8AE4-516F-7B0F9EC02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1</a:t>
            </a:r>
            <a:r>
              <a:rPr lang="ko-KR" altLang="en-US" dirty="0">
                <a:solidFill>
                  <a:srgbClr val="44546A"/>
                </a:solidFill>
              </a:rPr>
              <a:t>차 객관식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EE3D82-ED7A-DA9E-7550-69230D69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FAD8-9180-8EA7-F12D-B73328688426}"/>
              </a:ext>
            </a:extLst>
          </p:cNvPr>
          <p:cNvSpPr txBox="1"/>
          <p:nvPr/>
        </p:nvSpPr>
        <p:spPr>
          <a:xfrm>
            <a:off x="272145" y="862849"/>
            <a:ext cx="3919662" cy="2068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기출문제와 모의고사문제의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기출문제를 클릭하여 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정답 및 해설을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시험 결과에 대한 자료를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모의고사문제를 클릭하여 정해진 시간 안에 모의고사를 풀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풀이가 끝나고 제출하면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답안과 모의고사 결과를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전체 결과에 대한 점수를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개인으로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유형별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단답형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 문제로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조문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780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379E-5626-C6E4-51FF-CFA3E630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TextBox 4130">
            <a:extLst>
              <a:ext uri="{FF2B5EF4-FFF2-40B4-BE49-F238E27FC236}">
                <a16:creationId xmlns:a16="http://schemas.microsoft.com/office/drawing/2014/main" id="{F43A5F7A-1A2B-4A26-3264-3796D0BBE76D}"/>
              </a:ext>
            </a:extLst>
          </p:cNvPr>
          <p:cNvSpPr txBox="1"/>
          <p:nvPr/>
        </p:nvSpPr>
        <p:spPr>
          <a:xfrm>
            <a:off x="4085982" y="4581545"/>
            <a:ext cx="7627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①</a:t>
            </a:r>
            <a:endParaRPr lang="ko-KR" altLang="en-US" dirty="0"/>
          </a:p>
        </p:txBody>
      </p:sp>
      <p:sp>
        <p:nvSpPr>
          <p:cNvPr id="4132" name="직사각형 4131">
            <a:extLst>
              <a:ext uri="{FF2B5EF4-FFF2-40B4-BE49-F238E27FC236}">
                <a16:creationId xmlns:a16="http://schemas.microsoft.com/office/drawing/2014/main" id="{A25D1E44-7CF1-99F5-F6F4-A6352EDDA393}"/>
              </a:ext>
            </a:extLst>
          </p:cNvPr>
          <p:cNvSpPr/>
          <p:nvPr/>
        </p:nvSpPr>
        <p:spPr>
          <a:xfrm>
            <a:off x="3260270" y="4882898"/>
            <a:ext cx="8931730" cy="7052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EDAEC71-DD80-E340-095F-679DE13ECB04}"/>
              </a:ext>
            </a:extLst>
          </p:cNvPr>
          <p:cNvSpPr/>
          <p:nvPr/>
        </p:nvSpPr>
        <p:spPr>
          <a:xfrm>
            <a:off x="3260270" y="3523867"/>
            <a:ext cx="8931730" cy="7052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6CC26A07-970A-CC6F-3043-D5067BA9F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 객관식 문제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D6669-E530-2C6B-A43C-EE7AD84A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6E17F6-016F-89BE-A696-4992A4099BDE}"/>
              </a:ext>
            </a:extLst>
          </p:cNvPr>
          <p:cNvSpPr/>
          <p:nvPr/>
        </p:nvSpPr>
        <p:spPr>
          <a:xfrm>
            <a:off x="4316167" y="818459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673DF-CF17-0D11-A1F6-48E13795A716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9730CD-CDE9-D6E8-CC56-2A184B10A45B}"/>
              </a:ext>
            </a:extLst>
          </p:cNvPr>
          <p:cNvSpPr/>
          <p:nvPr/>
        </p:nvSpPr>
        <p:spPr>
          <a:xfrm>
            <a:off x="4316167" y="1256240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4EA7E5F4-BEA8-3598-6B96-F2CF6F66EF11}"/>
              </a:ext>
            </a:extLst>
          </p:cNvPr>
          <p:cNvSpPr/>
          <p:nvPr/>
        </p:nvSpPr>
        <p:spPr>
          <a:xfrm>
            <a:off x="5614477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29BE6EA4-FFC7-CEF8-5B4D-D21941AD9193}"/>
              </a:ext>
            </a:extLst>
          </p:cNvPr>
          <p:cNvSpPr/>
          <p:nvPr/>
        </p:nvSpPr>
        <p:spPr>
          <a:xfrm>
            <a:off x="561447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0" name="직사각형 4109">
            <a:extLst>
              <a:ext uri="{FF2B5EF4-FFF2-40B4-BE49-F238E27FC236}">
                <a16:creationId xmlns:a16="http://schemas.microsoft.com/office/drawing/2014/main" id="{2C03F460-4759-3021-846A-0CA64372FC90}"/>
              </a:ext>
            </a:extLst>
          </p:cNvPr>
          <p:cNvSpPr/>
          <p:nvPr/>
        </p:nvSpPr>
        <p:spPr>
          <a:xfrm>
            <a:off x="5614477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8AB36E26-841A-B607-8C12-4454FF1A8AA5}"/>
              </a:ext>
            </a:extLst>
          </p:cNvPr>
          <p:cNvSpPr/>
          <p:nvPr/>
        </p:nvSpPr>
        <p:spPr>
          <a:xfrm>
            <a:off x="69092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4FD28B00-7753-6EB9-4307-6D85C8B11C5E}"/>
              </a:ext>
            </a:extLst>
          </p:cNvPr>
          <p:cNvSpPr/>
          <p:nvPr/>
        </p:nvSpPr>
        <p:spPr>
          <a:xfrm>
            <a:off x="82063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7BA3C930-8470-5B77-F579-91D9D6026935}"/>
              </a:ext>
            </a:extLst>
          </p:cNvPr>
          <p:cNvSpPr/>
          <p:nvPr/>
        </p:nvSpPr>
        <p:spPr>
          <a:xfrm>
            <a:off x="9507804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9EABFD27-E7EB-7162-94BC-D1303620E1DD}"/>
              </a:ext>
            </a:extLst>
          </p:cNvPr>
          <p:cNvSpPr/>
          <p:nvPr/>
        </p:nvSpPr>
        <p:spPr>
          <a:xfrm>
            <a:off x="3019068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E670959F-A82E-369B-DB9E-F830823235B6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3A3C23EC-D5DE-25F1-D285-E825962F6A96}"/>
              </a:ext>
            </a:extLst>
          </p:cNvPr>
          <p:cNvSpPr/>
          <p:nvPr/>
        </p:nvSpPr>
        <p:spPr>
          <a:xfrm>
            <a:off x="3019068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378CD65F-3CE7-E756-E05F-3083E6EB4D47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FF5F998-1CD5-FEFB-7604-6FA465A77370}"/>
              </a:ext>
            </a:extLst>
          </p:cNvPr>
          <p:cNvCxnSpPr>
            <a:cxnSpLocks/>
          </p:cNvCxnSpPr>
          <p:nvPr/>
        </p:nvCxnSpPr>
        <p:spPr>
          <a:xfrm>
            <a:off x="173690" y="1759290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2D507E57-061D-7C25-8E86-5C8D5BF81CA6}"/>
              </a:ext>
            </a:extLst>
          </p:cNvPr>
          <p:cNvGrpSpPr/>
          <p:nvPr/>
        </p:nvGrpSpPr>
        <p:grpSpPr>
          <a:xfrm>
            <a:off x="125127" y="1841471"/>
            <a:ext cx="3053500" cy="2427096"/>
            <a:chOff x="125127" y="1841471"/>
            <a:chExt cx="3053500" cy="242709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2ABEF9E-1A48-6F35-E9E2-34EF7A3740B4}"/>
                </a:ext>
              </a:extLst>
            </p:cNvPr>
            <p:cNvSpPr txBox="1"/>
            <p:nvPr/>
          </p:nvSpPr>
          <p:spPr>
            <a:xfrm>
              <a:off x="125127" y="184897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총칙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47C0BF9-2FF1-D8A7-7185-DDA586F93A81}"/>
                </a:ext>
              </a:extLst>
            </p:cNvPr>
            <p:cNvSpPr txBox="1"/>
            <p:nvPr/>
          </p:nvSpPr>
          <p:spPr>
            <a:xfrm>
              <a:off x="125127" y="2121663"/>
              <a:ext cx="558444" cy="2154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특허요건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2508E11-394D-A237-842F-DD0C093D8926}"/>
                </a:ext>
              </a:extLst>
            </p:cNvPr>
            <p:cNvSpPr txBox="1"/>
            <p:nvPr/>
          </p:nvSpPr>
          <p:spPr>
            <a:xfrm>
              <a:off x="125127" y="2394348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이익제도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BEF6F65-C779-9652-70EE-CAF7DDE66A9E}"/>
                </a:ext>
              </a:extLst>
            </p:cNvPr>
            <p:cNvSpPr txBox="1"/>
            <p:nvPr/>
          </p:nvSpPr>
          <p:spPr>
            <a:xfrm>
              <a:off x="125127" y="320793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심판제도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E80EFCA-9A6E-C106-EC20-9555A59583A1}"/>
                </a:ext>
              </a:extLst>
            </p:cNvPr>
            <p:cNvSpPr txBox="1"/>
            <p:nvPr/>
          </p:nvSpPr>
          <p:spPr>
            <a:xfrm>
              <a:off x="125127" y="3492658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소송제도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932FDB3-6E35-9ECE-3FE5-64C2E29C3228}"/>
                </a:ext>
              </a:extLst>
            </p:cNvPr>
            <p:cNvSpPr txBox="1"/>
            <p:nvPr/>
          </p:nvSpPr>
          <p:spPr>
            <a:xfrm>
              <a:off x="125127" y="3777377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PCT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900BCBA-6F56-F5EF-90E9-C7B6036A5570}"/>
                </a:ext>
              </a:extLst>
            </p:cNvPr>
            <p:cNvSpPr txBox="1"/>
            <p:nvPr/>
          </p:nvSpPr>
          <p:spPr>
            <a:xfrm>
              <a:off x="125127" y="293430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특허권</a:t>
              </a:r>
            </a:p>
          </p:txBody>
        </p:sp>
        <p:sp>
          <p:nvSpPr>
            <p:cNvPr id="4102" name="TextBox 4101">
              <a:extLst>
                <a:ext uri="{FF2B5EF4-FFF2-40B4-BE49-F238E27FC236}">
                  <a16:creationId xmlns:a16="http://schemas.microsoft.com/office/drawing/2014/main" id="{2D03E0E1-1A4B-F3FF-FCC6-0665389C1D9F}"/>
                </a:ext>
              </a:extLst>
            </p:cNvPr>
            <p:cNvSpPr txBox="1"/>
            <p:nvPr/>
          </p:nvSpPr>
          <p:spPr>
            <a:xfrm>
              <a:off x="125127" y="4053123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보칙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3CD9C6-E6E8-7778-989B-05B9BD198211}"/>
                </a:ext>
              </a:extLst>
            </p:cNvPr>
            <p:cNvSpPr txBox="1"/>
            <p:nvPr/>
          </p:nvSpPr>
          <p:spPr>
            <a:xfrm>
              <a:off x="125127" y="2665335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심사제도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C3B8734-FEAF-5682-CD2D-FCBF603ED331}"/>
                </a:ext>
              </a:extLst>
            </p:cNvPr>
            <p:cNvGrpSpPr/>
            <p:nvPr/>
          </p:nvGrpSpPr>
          <p:grpSpPr>
            <a:xfrm>
              <a:off x="838636" y="1848979"/>
              <a:ext cx="1214336" cy="1859123"/>
              <a:chOff x="1104845" y="1848979"/>
              <a:chExt cx="1796201" cy="1859123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B44DD8-0758-DF00-83B7-C9D326B03A19}"/>
                  </a:ext>
                </a:extLst>
              </p:cNvPr>
              <p:cNvSpPr txBox="1"/>
              <p:nvPr/>
            </p:nvSpPr>
            <p:spPr>
              <a:xfrm>
                <a:off x="1104845" y="1848979"/>
                <a:ext cx="1796201" cy="21544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발명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CD3860-98F3-4F24-80B0-C3429F257692}"/>
                  </a:ext>
                </a:extLst>
              </p:cNvPr>
              <p:cNvSpPr txBox="1"/>
              <p:nvPr/>
            </p:nvSpPr>
            <p:spPr>
              <a:xfrm>
                <a:off x="1104845" y="2394348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없는 발명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4B0A29-08F1-9D13-8B6E-26F813C97CB1}"/>
                  </a:ext>
                </a:extLst>
              </p:cNvPr>
              <p:cNvSpPr txBox="1"/>
              <p:nvPr/>
            </p:nvSpPr>
            <p:spPr>
              <a:xfrm>
                <a:off x="1104845" y="3492658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출원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A2A777-C69A-87E0-9679-C179C27B5588}"/>
                  </a:ext>
                </a:extLst>
              </p:cNvPr>
              <p:cNvSpPr txBox="1"/>
              <p:nvPr/>
            </p:nvSpPr>
            <p:spPr>
              <a:xfrm>
                <a:off x="1104845" y="2934309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자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233DE3-E6ED-1C8D-F73C-068B6A3F5B67}"/>
                </a:ext>
              </a:extLst>
            </p:cNvPr>
            <p:cNvSpPr txBox="1"/>
            <p:nvPr/>
          </p:nvSpPr>
          <p:spPr>
            <a:xfrm>
              <a:off x="2190309" y="2121663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신규성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38A08E5-32A4-FD48-438D-4C03583DEFD3}"/>
                </a:ext>
              </a:extLst>
            </p:cNvPr>
            <p:cNvSpPr txBox="1"/>
            <p:nvPr/>
          </p:nvSpPr>
          <p:spPr>
            <a:xfrm>
              <a:off x="2190309" y="2394348"/>
              <a:ext cx="988318" cy="2154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진보성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354F2F-6F23-904E-682C-7E7B3F43A3F4}"/>
                </a:ext>
              </a:extLst>
            </p:cNvPr>
            <p:cNvSpPr txBox="1"/>
            <p:nvPr/>
          </p:nvSpPr>
          <p:spPr>
            <a:xfrm>
              <a:off x="2190309" y="2934309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선출원주의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597BA5-2A44-029D-B261-0E9988F102F0}"/>
                </a:ext>
              </a:extLst>
            </p:cNvPr>
            <p:cNvSpPr txBox="1"/>
            <p:nvPr/>
          </p:nvSpPr>
          <p:spPr>
            <a:xfrm>
              <a:off x="2190309" y="2665335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확대된 </a:t>
              </a:r>
              <a:r>
                <a:rPr lang="ko-KR" altLang="en-US" sz="800" dirty="0" err="1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선출원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E7CF2D0-0ABB-94DD-7106-C75EDAB5377C}"/>
                </a:ext>
              </a:extLst>
            </p:cNvPr>
            <p:cNvSpPr txBox="1"/>
            <p:nvPr/>
          </p:nvSpPr>
          <p:spPr>
            <a:xfrm>
              <a:off x="2190309" y="1841471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산업상 이용가능성</a:t>
              </a:r>
            </a:p>
          </p:txBody>
        </p:sp>
        <p:cxnSp>
          <p:nvCxnSpPr>
            <p:cNvPr id="4096" name="연결선: 꺾임 4095">
              <a:extLst>
                <a:ext uri="{FF2B5EF4-FFF2-40B4-BE49-F238E27FC236}">
                  <a16:creationId xmlns:a16="http://schemas.microsoft.com/office/drawing/2014/main" id="{8CA900DE-CAAA-C1C7-4AEA-0B217F66A07A}"/>
                </a:ext>
              </a:extLst>
            </p:cNvPr>
            <p:cNvCxnSpPr>
              <a:stCxn id="53" idx="3"/>
              <a:endCxn id="7" idx="1"/>
            </p:cNvCxnSpPr>
            <p:nvPr/>
          </p:nvCxnSpPr>
          <p:spPr>
            <a:xfrm flipV="1">
              <a:off x="683571" y="1956701"/>
              <a:ext cx="155065" cy="272684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연결선: 꺾임 4134">
              <a:extLst>
                <a:ext uri="{FF2B5EF4-FFF2-40B4-BE49-F238E27FC236}">
                  <a16:creationId xmlns:a16="http://schemas.microsoft.com/office/drawing/2014/main" id="{641CD1E0-422E-649F-E179-33566DE52DC7}"/>
                </a:ext>
              </a:extLst>
            </p:cNvPr>
            <p:cNvCxnSpPr>
              <a:stCxn id="53" idx="3"/>
              <a:endCxn id="13" idx="1"/>
            </p:cNvCxnSpPr>
            <p:nvPr/>
          </p:nvCxnSpPr>
          <p:spPr>
            <a:xfrm>
              <a:off x="683571" y="2229385"/>
              <a:ext cx="155065" cy="1370995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연결선: 꺾임 4140">
              <a:extLst>
                <a:ext uri="{FF2B5EF4-FFF2-40B4-BE49-F238E27FC236}">
                  <a16:creationId xmlns:a16="http://schemas.microsoft.com/office/drawing/2014/main" id="{27373EC7-2E40-98CA-BF64-2751A2BC4E65}"/>
                </a:ext>
              </a:extLst>
            </p:cNvPr>
            <p:cNvCxnSpPr>
              <a:stCxn id="53" idx="3"/>
              <a:endCxn id="11" idx="1"/>
            </p:cNvCxnSpPr>
            <p:nvPr/>
          </p:nvCxnSpPr>
          <p:spPr>
            <a:xfrm>
              <a:off x="683571" y="2229385"/>
              <a:ext cx="155065" cy="272685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연결선: 꺾임 4142">
              <a:extLst>
                <a:ext uri="{FF2B5EF4-FFF2-40B4-BE49-F238E27FC236}">
                  <a16:creationId xmlns:a16="http://schemas.microsoft.com/office/drawing/2014/main" id="{B036332E-ECE9-8A3B-01F8-C541B3F10D45}"/>
                </a:ext>
              </a:extLst>
            </p:cNvPr>
            <p:cNvCxnSpPr>
              <a:stCxn id="53" idx="3"/>
              <a:endCxn id="17" idx="1"/>
            </p:cNvCxnSpPr>
            <p:nvPr/>
          </p:nvCxnSpPr>
          <p:spPr>
            <a:xfrm>
              <a:off x="683571" y="2229385"/>
              <a:ext cx="155065" cy="81264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연결선: 꺾임 4144">
              <a:extLst>
                <a:ext uri="{FF2B5EF4-FFF2-40B4-BE49-F238E27FC236}">
                  <a16:creationId xmlns:a16="http://schemas.microsoft.com/office/drawing/2014/main" id="{E210D1C8-4D9E-3948-79A7-CC8959CE0D9A}"/>
                </a:ext>
              </a:extLst>
            </p:cNvPr>
            <p:cNvCxnSpPr>
              <a:stCxn id="7" idx="3"/>
              <a:endCxn id="61" idx="1"/>
            </p:cNvCxnSpPr>
            <p:nvPr/>
          </p:nvCxnSpPr>
          <p:spPr>
            <a:xfrm flipV="1">
              <a:off x="2052972" y="1949193"/>
              <a:ext cx="137337" cy="7508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연결선: 꺾임 4146">
              <a:extLst>
                <a:ext uri="{FF2B5EF4-FFF2-40B4-BE49-F238E27FC236}">
                  <a16:creationId xmlns:a16="http://schemas.microsoft.com/office/drawing/2014/main" id="{43E6B250-6262-4D6C-4DB2-EED80C733BDD}"/>
                </a:ext>
              </a:extLst>
            </p:cNvPr>
            <p:cNvCxnSpPr>
              <a:stCxn id="7" idx="3"/>
              <a:endCxn id="41" idx="1"/>
            </p:cNvCxnSpPr>
            <p:nvPr/>
          </p:nvCxnSpPr>
          <p:spPr>
            <a:xfrm>
              <a:off x="2052972" y="1956701"/>
              <a:ext cx="137337" cy="108533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연결선: 꺾임 4148">
              <a:extLst>
                <a:ext uri="{FF2B5EF4-FFF2-40B4-BE49-F238E27FC236}">
                  <a16:creationId xmlns:a16="http://schemas.microsoft.com/office/drawing/2014/main" id="{55821C9F-392E-FF9B-5241-7B5ED5701C60}"/>
                </a:ext>
              </a:extLst>
            </p:cNvPr>
            <p:cNvCxnSpPr>
              <a:cxnSpLocks/>
              <a:stCxn id="7" idx="3"/>
              <a:endCxn id="29" idx="1"/>
            </p:cNvCxnSpPr>
            <p:nvPr/>
          </p:nvCxnSpPr>
          <p:spPr>
            <a:xfrm>
              <a:off x="2052972" y="1956701"/>
              <a:ext cx="137337" cy="27268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연결선: 꺾임 4151">
              <a:extLst>
                <a:ext uri="{FF2B5EF4-FFF2-40B4-BE49-F238E27FC236}">
                  <a16:creationId xmlns:a16="http://schemas.microsoft.com/office/drawing/2014/main" id="{2BA5ABB5-C0D7-8065-CE3C-BBBF52756390}"/>
                </a:ext>
              </a:extLst>
            </p:cNvPr>
            <p:cNvCxnSpPr>
              <a:stCxn id="7" idx="3"/>
              <a:endCxn id="33" idx="1"/>
            </p:cNvCxnSpPr>
            <p:nvPr/>
          </p:nvCxnSpPr>
          <p:spPr>
            <a:xfrm>
              <a:off x="2052972" y="1956701"/>
              <a:ext cx="137337" cy="545369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연결선: 꺾임 4153">
              <a:extLst>
                <a:ext uri="{FF2B5EF4-FFF2-40B4-BE49-F238E27FC236}">
                  <a16:creationId xmlns:a16="http://schemas.microsoft.com/office/drawing/2014/main" id="{010E5CEA-9B46-CE5A-F1D8-F687F38614BA}"/>
                </a:ext>
              </a:extLst>
            </p:cNvPr>
            <p:cNvCxnSpPr>
              <a:stCxn id="7" idx="3"/>
              <a:endCxn id="51" idx="1"/>
            </p:cNvCxnSpPr>
            <p:nvPr/>
          </p:nvCxnSpPr>
          <p:spPr>
            <a:xfrm>
              <a:off x="2052972" y="1956701"/>
              <a:ext cx="137337" cy="81635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57" name="직선 연결선 4156">
            <a:extLst>
              <a:ext uri="{FF2B5EF4-FFF2-40B4-BE49-F238E27FC236}">
                <a16:creationId xmlns:a16="http://schemas.microsoft.com/office/drawing/2014/main" id="{0C961EED-74FD-5853-91BD-7B3F57E52231}"/>
              </a:ext>
            </a:extLst>
          </p:cNvPr>
          <p:cNvCxnSpPr/>
          <p:nvPr/>
        </p:nvCxnSpPr>
        <p:spPr>
          <a:xfrm>
            <a:off x="3260269" y="1790700"/>
            <a:ext cx="0" cy="4958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AC5DB7-AB2C-0B4F-C9E7-DA90685AB796}"/>
              </a:ext>
            </a:extLst>
          </p:cNvPr>
          <p:cNvSpPr txBox="1"/>
          <p:nvPr/>
        </p:nvSpPr>
        <p:spPr>
          <a:xfrm>
            <a:off x="3397606" y="2091796"/>
            <a:ext cx="8405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12. </a:t>
            </a:r>
            <a:r>
              <a:rPr lang="ko-KR" altLang="en-US" sz="1050" dirty="0"/>
              <a:t>발명의 신규성 또는 진보성 판단에 사용되는 선행기술에 관한 설명으로 옳은 것은</a:t>
            </a:r>
            <a:r>
              <a:rPr lang="en-US" altLang="ko-KR" sz="1050" dirty="0"/>
              <a:t>?(</a:t>
            </a:r>
            <a:r>
              <a:rPr lang="ko-KR" altLang="en-US" sz="1050" dirty="0"/>
              <a:t>다툼이 있으면 판례에 따름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F738D-AD7A-E43A-E96A-3C54357D20BB}"/>
              </a:ext>
            </a:extLst>
          </p:cNvPr>
          <p:cNvSpPr txBox="1"/>
          <p:nvPr/>
        </p:nvSpPr>
        <p:spPr>
          <a:xfrm>
            <a:off x="3469035" y="2286400"/>
            <a:ext cx="8597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indent="-107950"/>
            <a:r>
              <a:rPr lang="ko-KR" altLang="en-US" sz="800" dirty="0">
                <a:solidFill>
                  <a:schemeClr val="accent6"/>
                </a:solidFill>
              </a:rPr>
              <a:t>① 출원서에 첨부한 명세서에 ‘</a:t>
            </a:r>
            <a:r>
              <a:rPr lang="ko-KR" altLang="en-US" sz="800" dirty="0" err="1">
                <a:solidFill>
                  <a:schemeClr val="accent6"/>
                </a:solidFill>
              </a:rPr>
              <a:t>종래기술’을</a:t>
            </a:r>
            <a:r>
              <a:rPr lang="ko-KR" altLang="en-US" sz="800" dirty="0">
                <a:solidFill>
                  <a:schemeClr val="accent6"/>
                </a:solidFill>
              </a:rPr>
              <a:t> 기재하는 경우에는 출원발명의 출원 전에 그 기술분야에서 알려진 기술에 비하여 출원발명이 신규성과 진보성이 있음을 나타내기 위한 것이라고 할 것이어서</a:t>
            </a:r>
            <a:r>
              <a:rPr lang="en-US" altLang="ko-KR" sz="800" dirty="0">
                <a:solidFill>
                  <a:schemeClr val="accent6"/>
                </a:solidFill>
              </a:rPr>
              <a:t>, </a:t>
            </a:r>
            <a:r>
              <a:rPr lang="ko-KR" altLang="en-US" sz="800" dirty="0">
                <a:solidFill>
                  <a:schemeClr val="accent6"/>
                </a:solidFill>
              </a:rPr>
              <a:t>그 ‘</a:t>
            </a:r>
            <a:r>
              <a:rPr lang="ko-KR" altLang="en-US" sz="800" dirty="0" err="1">
                <a:solidFill>
                  <a:schemeClr val="accent6"/>
                </a:solidFill>
              </a:rPr>
              <a:t>종래기술’은</a:t>
            </a:r>
            <a:r>
              <a:rPr lang="ko-KR" altLang="en-US" sz="800" dirty="0">
                <a:solidFill>
                  <a:schemeClr val="accent6"/>
                </a:solidFill>
              </a:rPr>
              <a:t> 특별한 사정이 없는 한 출원발명의 신규성 또는 진보성이 부정되는지 여부를 판단함에 있어서 특허법 제</a:t>
            </a:r>
            <a:r>
              <a:rPr lang="en-US" altLang="ko-KR" sz="800" dirty="0">
                <a:solidFill>
                  <a:schemeClr val="accent6"/>
                </a:solidFill>
              </a:rPr>
              <a:t>29</a:t>
            </a:r>
            <a:r>
              <a:rPr lang="ko-KR" altLang="en-US" sz="800" dirty="0">
                <a:solidFill>
                  <a:schemeClr val="accent6"/>
                </a:solidFill>
              </a:rPr>
              <a:t>조</a:t>
            </a:r>
            <a:r>
              <a:rPr lang="en-US" altLang="ko-KR" sz="800" dirty="0">
                <a:solidFill>
                  <a:schemeClr val="accent6"/>
                </a:solidFill>
              </a:rPr>
              <a:t>(</a:t>
            </a:r>
            <a:r>
              <a:rPr lang="ko-KR" altLang="en-US" sz="800" dirty="0">
                <a:solidFill>
                  <a:schemeClr val="accent6"/>
                </a:solidFill>
              </a:rPr>
              <a:t>특허요건</a:t>
            </a:r>
            <a:r>
              <a:rPr lang="en-US" altLang="ko-KR" sz="800" dirty="0">
                <a:solidFill>
                  <a:schemeClr val="accent6"/>
                </a:solidFill>
              </a:rPr>
              <a:t>) </a:t>
            </a:r>
            <a:r>
              <a:rPr lang="ko-KR" altLang="en-US" sz="800" dirty="0">
                <a:solidFill>
                  <a:schemeClr val="accent6"/>
                </a:solidFill>
              </a:rPr>
              <a:t>제</a:t>
            </a:r>
            <a:r>
              <a:rPr lang="en-US" altLang="ko-KR" sz="800" dirty="0">
                <a:solidFill>
                  <a:schemeClr val="accent6"/>
                </a:solidFill>
              </a:rPr>
              <a:t>1</a:t>
            </a:r>
            <a:r>
              <a:rPr lang="ko-KR" altLang="en-US" sz="800" dirty="0">
                <a:solidFill>
                  <a:schemeClr val="accent6"/>
                </a:solidFill>
              </a:rPr>
              <a:t>항 각 호에 열거된 발명들 중 하나로 보아야 할 것이다</a:t>
            </a:r>
            <a:r>
              <a:rPr lang="en-US" altLang="ko-KR" sz="800" dirty="0">
                <a:solidFill>
                  <a:schemeClr val="accent6"/>
                </a:solidFill>
              </a:rPr>
              <a:t>.</a:t>
            </a:r>
          </a:p>
          <a:p>
            <a:pPr marL="107950" indent="-107950"/>
            <a:r>
              <a:rPr lang="en-US" altLang="ko-KR" sz="800" dirty="0"/>
              <a:t>② </a:t>
            </a:r>
            <a:r>
              <a:rPr lang="ko-KR" altLang="en-US" sz="800" dirty="0"/>
              <a:t>발명의 진보성 판단에 사용되는 선행기술은 기술구성 전체가 명확하게 표현되어야 하므로</a:t>
            </a:r>
            <a:r>
              <a:rPr lang="en-US" altLang="ko-KR" sz="800" dirty="0"/>
              <a:t>, </a:t>
            </a:r>
            <a:r>
              <a:rPr lang="ko-KR" altLang="en-US" sz="800" dirty="0"/>
              <a:t>표현이 불충분하거나 일부 내용에 흠결이 있는 선행기술은 그 자체로 대비대상이 될 수 없다</a:t>
            </a:r>
            <a:r>
              <a:rPr lang="en-US" altLang="ko-KR" sz="800" dirty="0"/>
              <a:t>.</a:t>
            </a:r>
          </a:p>
          <a:p>
            <a:pPr marL="107950" indent="-107950"/>
            <a:r>
              <a:rPr lang="en-US" altLang="ko-KR" sz="800" dirty="0">
                <a:solidFill>
                  <a:schemeClr val="accent6"/>
                </a:solidFill>
              </a:rPr>
              <a:t>③ </a:t>
            </a:r>
            <a:r>
              <a:rPr lang="ko-KR" altLang="en-US" sz="800" dirty="0">
                <a:solidFill>
                  <a:schemeClr val="accent6"/>
                </a:solidFill>
              </a:rPr>
              <a:t>특허발명의 진보성 판단에 사용되는 선행기술이 어떤 구성요소를 가지고 있는지는 역사적 사실이므로 당사자의 자백의 대상이 되지 못한다</a:t>
            </a:r>
            <a:r>
              <a:rPr lang="en-US" altLang="ko-KR" sz="800" dirty="0">
                <a:solidFill>
                  <a:schemeClr val="accent6"/>
                </a:solidFill>
              </a:rPr>
              <a:t>.</a:t>
            </a:r>
          </a:p>
          <a:p>
            <a:pPr marL="107950" indent="-107950"/>
            <a:r>
              <a:rPr lang="en-US" altLang="ko-KR" sz="800" dirty="0"/>
              <a:t>④ </a:t>
            </a:r>
            <a:r>
              <a:rPr lang="ko-KR" altLang="en-US" sz="800" dirty="0"/>
              <a:t>특허법 제</a:t>
            </a:r>
            <a:r>
              <a:rPr lang="en-US" altLang="ko-KR" sz="800" dirty="0"/>
              <a:t>29</a:t>
            </a:r>
            <a:r>
              <a:rPr lang="ko-KR" altLang="en-US" sz="800" dirty="0"/>
              <a:t>조 제</a:t>
            </a:r>
            <a:r>
              <a:rPr lang="en-US" altLang="ko-KR" sz="800" dirty="0"/>
              <a:t>1</a:t>
            </a:r>
            <a:r>
              <a:rPr lang="ko-KR" altLang="en-US" sz="800" dirty="0"/>
              <a:t>항 제</a:t>
            </a:r>
            <a:r>
              <a:rPr lang="en-US" altLang="ko-KR" sz="800" dirty="0"/>
              <a:t>2</a:t>
            </a:r>
            <a:r>
              <a:rPr lang="ko-KR" altLang="en-US" sz="800" dirty="0"/>
              <a:t>호 소정의 간행물에 기재된 발명이라 함은 그 기재된 내용에 따라 해당 기술분야에서 통상의 지식을 가진 사람이 쉽게 실시할 수 있을 정도로 기재되어 있는 발명을 말하므로</a:t>
            </a:r>
            <a:r>
              <a:rPr lang="en-US" altLang="ko-KR" sz="800" dirty="0"/>
              <a:t>, </a:t>
            </a:r>
            <a:r>
              <a:rPr lang="ko-KR" altLang="en-US" sz="800" dirty="0"/>
              <a:t>발명이 간행물에 기재되어 있다고 하기 위해서는 적어도 발명이 어떤 구성을 가지고 있는지가 제시되어 있어야 할 것이고</a:t>
            </a:r>
            <a:r>
              <a:rPr lang="en-US" altLang="ko-KR" sz="800" dirty="0"/>
              <a:t>, </a:t>
            </a:r>
            <a:r>
              <a:rPr lang="ko-KR" altLang="en-US" sz="800" dirty="0"/>
              <a:t>따라서 내부에 특징이 있는 발명에 대해 그 외형 사진만이 게재되어 있는 경우에는 그 발명은 기재된 것이 아니다</a:t>
            </a:r>
            <a:r>
              <a:rPr lang="en-US" altLang="ko-KR" sz="800" dirty="0"/>
              <a:t>.</a:t>
            </a:r>
          </a:p>
          <a:p>
            <a:pPr marL="107950" indent="-107950"/>
            <a:r>
              <a:rPr lang="en-US" altLang="ko-KR" sz="800" dirty="0">
                <a:solidFill>
                  <a:schemeClr val="accent6"/>
                </a:solidFill>
              </a:rPr>
              <a:t>⑤ </a:t>
            </a:r>
            <a:r>
              <a:rPr lang="ko-KR" altLang="en-US" sz="800" dirty="0">
                <a:solidFill>
                  <a:schemeClr val="accent6"/>
                </a:solidFill>
              </a:rPr>
              <a:t>특허법 제</a:t>
            </a:r>
            <a:r>
              <a:rPr lang="en-US" altLang="ko-KR" sz="800" dirty="0">
                <a:solidFill>
                  <a:schemeClr val="accent6"/>
                </a:solidFill>
              </a:rPr>
              <a:t>29</a:t>
            </a:r>
            <a:r>
              <a:rPr lang="ko-KR" altLang="en-US" sz="800" dirty="0">
                <a:solidFill>
                  <a:schemeClr val="accent6"/>
                </a:solidFill>
              </a:rPr>
              <a:t>조 제</a:t>
            </a:r>
            <a:r>
              <a:rPr lang="en-US" altLang="ko-KR" sz="800" dirty="0">
                <a:solidFill>
                  <a:schemeClr val="accent6"/>
                </a:solidFill>
              </a:rPr>
              <a:t>1</a:t>
            </a:r>
            <a:r>
              <a:rPr lang="ko-KR" altLang="en-US" sz="800" dirty="0">
                <a:solidFill>
                  <a:schemeClr val="accent6"/>
                </a:solidFill>
              </a:rPr>
              <a:t>항 각 호의 선행기술인지 여부를 판단하는 기준점은 ‘</a:t>
            </a:r>
            <a:r>
              <a:rPr lang="ko-KR" altLang="en-US" sz="800" dirty="0" err="1">
                <a:solidFill>
                  <a:schemeClr val="accent6"/>
                </a:solidFill>
              </a:rPr>
              <a:t>출원일’이</a:t>
            </a:r>
            <a:r>
              <a:rPr lang="ko-KR" altLang="en-US" sz="800" dirty="0">
                <a:solidFill>
                  <a:schemeClr val="accent6"/>
                </a:solidFill>
              </a:rPr>
              <a:t> 아니라 ‘</a:t>
            </a:r>
            <a:r>
              <a:rPr lang="ko-KR" altLang="en-US" sz="800" dirty="0" err="1">
                <a:solidFill>
                  <a:schemeClr val="accent6"/>
                </a:solidFill>
              </a:rPr>
              <a:t>출원시’이나</a:t>
            </a:r>
            <a:r>
              <a:rPr lang="en-US" altLang="ko-KR" sz="800" dirty="0">
                <a:solidFill>
                  <a:schemeClr val="accent6"/>
                </a:solidFill>
              </a:rPr>
              <a:t>, </a:t>
            </a:r>
            <a:r>
              <a:rPr lang="ko-KR" altLang="en-US" sz="800" dirty="0">
                <a:solidFill>
                  <a:schemeClr val="accent6"/>
                </a:solidFill>
              </a:rPr>
              <a:t>국내우선권 주장이 있는 경우에는 그 주장의 기초가 되는 특허출원</a:t>
            </a:r>
            <a:r>
              <a:rPr lang="en-US" altLang="ko-KR" sz="800" dirty="0">
                <a:solidFill>
                  <a:schemeClr val="accent6"/>
                </a:solidFill>
              </a:rPr>
              <a:t>(</a:t>
            </a:r>
            <a:r>
              <a:rPr lang="ko-KR" altLang="en-US" sz="800" dirty="0" err="1">
                <a:solidFill>
                  <a:schemeClr val="accent6"/>
                </a:solidFill>
              </a:rPr>
              <a:t>선출원</a:t>
            </a:r>
            <a:r>
              <a:rPr lang="en-US" altLang="ko-KR" sz="800" dirty="0">
                <a:solidFill>
                  <a:schemeClr val="accent6"/>
                </a:solidFill>
              </a:rPr>
              <a:t>)</a:t>
            </a:r>
            <a:r>
              <a:rPr lang="ko-KR" altLang="en-US" sz="800" dirty="0">
                <a:solidFill>
                  <a:schemeClr val="accent6"/>
                </a:solidFill>
              </a:rPr>
              <a:t>의 ‘</a:t>
            </a:r>
            <a:r>
              <a:rPr lang="ko-KR" altLang="en-US" sz="800" dirty="0" err="1">
                <a:solidFill>
                  <a:schemeClr val="accent6"/>
                </a:solidFill>
              </a:rPr>
              <a:t>출원일’을</a:t>
            </a:r>
            <a:r>
              <a:rPr lang="ko-KR" altLang="en-US" sz="800" dirty="0">
                <a:solidFill>
                  <a:schemeClr val="accent6"/>
                </a:solidFill>
              </a:rPr>
              <a:t> 기준으로 선행기술인지 여부를 판단하여야 한다</a:t>
            </a:r>
            <a:r>
              <a:rPr lang="en-US" altLang="ko-KR" sz="800" dirty="0">
                <a:solidFill>
                  <a:schemeClr val="accent6"/>
                </a:solidFill>
              </a:rPr>
              <a:t>.</a:t>
            </a:r>
            <a:endParaRPr lang="ko-KR" altLang="en-US" sz="800" dirty="0">
              <a:solidFill>
                <a:schemeClr val="accent6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CFA2AF-B47A-7A91-604B-0C2DB3E5AE1C}"/>
              </a:ext>
            </a:extLst>
          </p:cNvPr>
          <p:cNvSpPr/>
          <p:nvPr/>
        </p:nvSpPr>
        <p:spPr>
          <a:xfrm>
            <a:off x="7005463" y="357388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43D1B8-8C96-9246-5798-3EC983EA1551}"/>
              </a:ext>
            </a:extLst>
          </p:cNvPr>
          <p:cNvSpPr/>
          <p:nvPr/>
        </p:nvSpPr>
        <p:spPr>
          <a:xfrm>
            <a:off x="7005463" y="374724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D9722FE-384C-CF40-D5D1-F15A7E8E2037}"/>
              </a:ext>
            </a:extLst>
          </p:cNvPr>
          <p:cNvSpPr/>
          <p:nvPr/>
        </p:nvSpPr>
        <p:spPr>
          <a:xfrm>
            <a:off x="7005463" y="391480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2BAF274-AF23-E836-8708-2CDFD60E63DD}"/>
              </a:ext>
            </a:extLst>
          </p:cNvPr>
          <p:cNvSpPr/>
          <p:nvPr/>
        </p:nvSpPr>
        <p:spPr>
          <a:xfrm>
            <a:off x="8901909" y="3573889"/>
            <a:ext cx="1042153" cy="163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840ED2-062E-9F36-E962-7C124E37CB03}"/>
              </a:ext>
            </a:extLst>
          </p:cNvPr>
          <p:cNvSpPr/>
          <p:nvPr/>
        </p:nvSpPr>
        <p:spPr>
          <a:xfrm>
            <a:off x="8901909" y="3747240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종합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603338-8DF6-73DD-5AD0-856D9A2D384D}"/>
              </a:ext>
            </a:extLst>
          </p:cNvPr>
          <p:cNvSpPr/>
          <p:nvPr/>
        </p:nvSpPr>
        <p:spPr>
          <a:xfrm>
            <a:off x="11024720" y="357388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단답형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DC26D8D-EE18-DF72-7802-B30D7D6B5404}"/>
              </a:ext>
            </a:extLst>
          </p:cNvPr>
          <p:cNvSpPr/>
          <p:nvPr/>
        </p:nvSpPr>
        <p:spPr>
          <a:xfrm>
            <a:off x="11024720" y="374724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222E09-4323-888C-072F-2C2E972F3C0A}"/>
              </a:ext>
            </a:extLst>
          </p:cNvPr>
          <p:cNvSpPr/>
          <p:nvPr/>
        </p:nvSpPr>
        <p:spPr>
          <a:xfrm>
            <a:off x="11024720" y="391480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7AE99A7-2CD7-D41D-7260-A8D2E87DC1EB}"/>
              </a:ext>
            </a:extLst>
          </p:cNvPr>
          <p:cNvSpPr/>
          <p:nvPr/>
        </p:nvSpPr>
        <p:spPr>
          <a:xfrm>
            <a:off x="3341912" y="181998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문  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DDD6B12-E1A7-6CD0-A2C0-1AD54D5A09E0}"/>
              </a:ext>
            </a:extLst>
          </p:cNvPr>
          <p:cNvGrpSpPr/>
          <p:nvPr/>
        </p:nvGrpSpPr>
        <p:grpSpPr>
          <a:xfrm>
            <a:off x="3397606" y="3569480"/>
            <a:ext cx="790691" cy="425068"/>
            <a:chOff x="3397606" y="4143224"/>
            <a:chExt cx="1267838" cy="42506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FD6CA44-9A9B-56A4-4751-E4541EC02559}"/>
                </a:ext>
              </a:extLst>
            </p:cNvPr>
            <p:cNvSpPr/>
            <p:nvPr/>
          </p:nvSpPr>
          <p:spPr>
            <a:xfrm>
              <a:off x="3397606" y="4143224"/>
              <a:ext cx="1267838" cy="2065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accent4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체계도 순서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DBF5C1C-2A32-BCD6-CF8A-3ACDCB7BDCA5}"/>
                </a:ext>
              </a:extLst>
            </p:cNvPr>
            <p:cNvSpPr/>
            <p:nvPr/>
          </p:nvSpPr>
          <p:spPr>
            <a:xfrm>
              <a:off x="3397606" y="4361762"/>
              <a:ext cx="1267838" cy="206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조문 순서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ADA633-E267-3E3E-7C12-AE8A5B69D8B6}"/>
              </a:ext>
            </a:extLst>
          </p:cNvPr>
          <p:cNvSpPr/>
          <p:nvPr/>
        </p:nvSpPr>
        <p:spPr>
          <a:xfrm>
            <a:off x="9963314" y="3578285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긍정형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CF2770B-5105-3890-D167-63D9A21E17D1}"/>
              </a:ext>
            </a:extLst>
          </p:cNvPr>
          <p:cNvSpPr/>
          <p:nvPr/>
        </p:nvSpPr>
        <p:spPr>
          <a:xfrm>
            <a:off x="9963314" y="3751636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부정형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B31579-CDB3-4BB8-11C3-B99504088C97}"/>
              </a:ext>
            </a:extLst>
          </p:cNvPr>
          <p:cNvSpPr txBox="1"/>
          <p:nvPr/>
        </p:nvSpPr>
        <p:spPr>
          <a:xfrm>
            <a:off x="4157837" y="3541797"/>
            <a:ext cx="2117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특허를 받을 수 있는 발명 </a:t>
            </a:r>
            <a:r>
              <a:rPr lang="en-US" altLang="ko-KR" sz="800" dirty="0"/>
              <a:t>&gt; </a:t>
            </a:r>
            <a:r>
              <a:rPr lang="ko-KR" altLang="en-US" sz="800" dirty="0"/>
              <a:t>진보성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FA25FA-7DF4-5148-D204-7FF2DE0C7E18}"/>
              </a:ext>
            </a:extLst>
          </p:cNvPr>
          <p:cNvSpPr txBox="1"/>
          <p:nvPr/>
        </p:nvSpPr>
        <p:spPr>
          <a:xfrm>
            <a:off x="4157837" y="3770025"/>
            <a:ext cx="28360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</a:t>
            </a:r>
            <a:r>
              <a:rPr lang="en-US" altLang="ko-KR" sz="800" dirty="0"/>
              <a:t>2</a:t>
            </a:r>
            <a:r>
              <a:rPr lang="ko-KR" altLang="en-US" sz="800" dirty="0"/>
              <a:t>장 특허요건 및 특허출원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</a:t>
            </a:r>
            <a:r>
              <a:rPr lang="en-US" altLang="ko-KR" sz="800" dirty="0"/>
              <a:t> </a:t>
            </a:r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조제</a:t>
            </a:r>
            <a:r>
              <a:rPr lang="en-US" altLang="ko-KR" sz="800" dirty="0"/>
              <a:t>2</a:t>
            </a:r>
            <a:r>
              <a:rPr lang="ko-KR" altLang="en-US" sz="800" dirty="0"/>
              <a:t>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3EF8B4-A942-60CF-BEC0-376F42D9EA00}"/>
              </a:ext>
            </a:extLst>
          </p:cNvPr>
          <p:cNvSpPr txBox="1"/>
          <p:nvPr/>
        </p:nvSpPr>
        <p:spPr>
          <a:xfrm>
            <a:off x="4157837" y="4000873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2019</a:t>
            </a:r>
            <a:endParaRPr lang="ko-KR" altLang="en-US" sz="8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32CB7D-306A-0A43-3D3D-47158A403368}"/>
              </a:ext>
            </a:extLst>
          </p:cNvPr>
          <p:cNvSpPr/>
          <p:nvPr/>
        </p:nvSpPr>
        <p:spPr>
          <a:xfrm>
            <a:off x="3341912" y="4258455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 답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9A023903-0622-D8C1-3488-38D33E8D9F80}"/>
              </a:ext>
            </a:extLst>
          </p:cNvPr>
          <p:cNvSpPr txBox="1"/>
          <p:nvPr/>
        </p:nvSpPr>
        <p:spPr>
          <a:xfrm>
            <a:off x="4085983" y="426849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④</a:t>
            </a:r>
            <a:endParaRPr lang="ko-KR" altLang="en-US" sz="1000" dirty="0"/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F97A2DF8-2569-C26E-9F29-906035C94921}"/>
              </a:ext>
            </a:extLst>
          </p:cNvPr>
          <p:cNvSpPr/>
          <p:nvPr/>
        </p:nvSpPr>
        <p:spPr>
          <a:xfrm>
            <a:off x="3341912" y="457339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해 설</a:t>
            </a:r>
          </a:p>
        </p:txBody>
      </p:sp>
      <p:sp>
        <p:nvSpPr>
          <p:cNvPr id="4100" name="직사각형 4099">
            <a:extLst>
              <a:ext uri="{FF2B5EF4-FFF2-40B4-BE49-F238E27FC236}">
                <a16:creationId xmlns:a16="http://schemas.microsoft.com/office/drawing/2014/main" id="{ED3A3A5C-1C5E-86A8-9C20-BC2921F512FB}"/>
              </a:ext>
            </a:extLst>
          </p:cNvPr>
          <p:cNvSpPr/>
          <p:nvPr/>
        </p:nvSpPr>
        <p:spPr>
          <a:xfrm>
            <a:off x="4695703" y="4317307"/>
            <a:ext cx="1476497" cy="158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정답률에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따른 난이도</a:t>
            </a:r>
          </a:p>
        </p:txBody>
      </p:sp>
      <p:sp>
        <p:nvSpPr>
          <p:cNvPr id="4106" name="말풍선: 모서리가 둥근 사각형 4105">
            <a:extLst>
              <a:ext uri="{FF2B5EF4-FFF2-40B4-BE49-F238E27FC236}">
                <a16:creationId xmlns:a16="http://schemas.microsoft.com/office/drawing/2014/main" id="{A38EC96A-1127-68B6-BD7E-BDD469DBFAEF}"/>
              </a:ext>
            </a:extLst>
          </p:cNvPr>
          <p:cNvSpPr/>
          <p:nvPr/>
        </p:nvSpPr>
        <p:spPr>
          <a:xfrm>
            <a:off x="1977494" y="4055266"/>
            <a:ext cx="1177768" cy="262041"/>
          </a:xfrm>
          <a:prstGeom prst="wedgeRoundRectCallout">
            <a:avLst>
              <a:gd name="adj1" fmla="val 67597"/>
              <a:gd name="adj2" fmla="val -13994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문제 전체 색인</a:t>
            </a:r>
          </a:p>
        </p:txBody>
      </p:sp>
      <p:sp>
        <p:nvSpPr>
          <p:cNvPr id="4116" name="직사각형 4115">
            <a:extLst>
              <a:ext uri="{FF2B5EF4-FFF2-40B4-BE49-F238E27FC236}">
                <a16:creationId xmlns:a16="http://schemas.microsoft.com/office/drawing/2014/main" id="{2CD17E9F-35D6-364A-3208-E94DBB0B25D9}"/>
              </a:ext>
            </a:extLst>
          </p:cNvPr>
          <p:cNvSpPr/>
          <p:nvPr/>
        </p:nvSpPr>
        <p:spPr>
          <a:xfrm>
            <a:off x="3413412" y="5023246"/>
            <a:ext cx="790691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17" name="직사각형 4116">
            <a:extLst>
              <a:ext uri="{FF2B5EF4-FFF2-40B4-BE49-F238E27FC236}">
                <a16:creationId xmlns:a16="http://schemas.microsoft.com/office/drawing/2014/main" id="{6FD49AA7-4ACA-54BE-D00F-744CB9E72ED6}"/>
              </a:ext>
            </a:extLst>
          </p:cNvPr>
          <p:cNvSpPr/>
          <p:nvPr/>
        </p:nvSpPr>
        <p:spPr>
          <a:xfrm>
            <a:off x="3413412" y="5241784"/>
            <a:ext cx="790691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9" name="TextBox 4118">
            <a:extLst>
              <a:ext uri="{FF2B5EF4-FFF2-40B4-BE49-F238E27FC236}">
                <a16:creationId xmlns:a16="http://schemas.microsoft.com/office/drawing/2014/main" id="{CAD64AEE-5777-8080-CA95-D80F0203A4D7}"/>
              </a:ext>
            </a:extLst>
          </p:cNvPr>
          <p:cNvSpPr txBox="1"/>
          <p:nvPr/>
        </p:nvSpPr>
        <p:spPr>
          <a:xfrm>
            <a:off x="4200757" y="5024810"/>
            <a:ext cx="2117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특허를 받을 수 있는 발명 </a:t>
            </a:r>
            <a:r>
              <a:rPr lang="en-US" altLang="ko-KR" sz="800" dirty="0"/>
              <a:t>&gt; </a:t>
            </a:r>
            <a:r>
              <a:rPr lang="ko-KR" altLang="en-US" sz="800" dirty="0"/>
              <a:t>진보성</a:t>
            </a:r>
          </a:p>
        </p:txBody>
      </p:sp>
      <p:sp>
        <p:nvSpPr>
          <p:cNvPr id="4120" name="TextBox 4119">
            <a:extLst>
              <a:ext uri="{FF2B5EF4-FFF2-40B4-BE49-F238E27FC236}">
                <a16:creationId xmlns:a16="http://schemas.microsoft.com/office/drawing/2014/main" id="{76C43284-0A0B-F7B1-9454-CC1182030287}"/>
              </a:ext>
            </a:extLst>
          </p:cNvPr>
          <p:cNvSpPr txBox="1"/>
          <p:nvPr/>
        </p:nvSpPr>
        <p:spPr>
          <a:xfrm>
            <a:off x="4204098" y="5244642"/>
            <a:ext cx="28360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</a:t>
            </a:r>
            <a:r>
              <a:rPr lang="en-US" altLang="ko-KR" sz="800" dirty="0"/>
              <a:t>2</a:t>
            </a:r>
            <a:r>
              <a:rPr lang="ko-KR" altLang="en-US" sz="800" dirty="0"/>
              <a:t>장 특허요건 및 특허출원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</a:t>
            </a:r>
            <a:r>
              <a:rPr lang="en-US" altLang="ko-KR" sz="800" dirty="0"/>
              <a:t> </a:t>
            </a:r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조제</a:t>
            </a:r>
            <a:r>
              <a:rPr lang="en-US" altLang="ko-KR" sz="800" dirty="0"/>
              <a:t>2</a:t>
            </a:r>
            <a:r>
              <a:rPr lang="ko-KR" altLang="en-US" sz="800" dirty="0"/>
              <a:t>항</a:t>
            </a:r>
          </a:p>
        </p:txBody>
      </p:sp>
      <p:sp>
        <p:nvSpPr>
          <p:cNvPr id="4121" name="직사각형 4120">
            <a:extLst>
              <a:ext uri="{FF2B5EF4-FFF2-40B4-BE49-F238E27FC236}">
                <a16:creationId xmlns:a16="http://schemas.microsoft.com/office/drawing/2014/main" id="{2E3BFA03-E8E1-C513-E0D5-9646C7717F0E}"/>
              </a:ext>
            </a:extLst>
          </p:cNvPr>
          <p:cNvSpPr/>
          <p:nvPr/>
        </p:nvSpPr>
        <p:spPr>
          <a:xfrm>
            <a:off x="8106019" y="4979433"/>
            <a:ext cx="1042153" cy="163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4122" name="직사각형 4121">
            <a:extLst>
              <a:ext uri="{FF2B5EF4-FFF2-40B4-BE49-F238E27FC236}">
                <a16:creationId xmlns:a16="http://schemas.microsoft.com/office/drawing/2014/main" id="{4589ED7A-EFCA-76C6-A455-CA3BC78377BC}"/>
              </a:ext>
            </a:extLst>
          </p:cNvPr>
          <p:cNvSpPr/>
          <p:nvPr/>
        </p:nvSpPr>
        <p:spPr>
          <a:xfrm>
            <a:off x="8106019" y="5152784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4123" name="직사각형 4122">
            <a:extLst>
              <a:ext uri="{FF2B5EF4-FFF2-40B4-BE49-F238E27FC236}">
                <a16:creationId xmlns:a16="http://schemas.microsoft.com/office/drawing/2014/main" id="{077340E8-B06D-C864-32C4-5CA82DBD8276}"/>
              </a:ext>
            </a:extLst>
          </p:cNvPr>
          <p:cNvSpPr/>
          <p:nvPr/>
        </p:nvSpPr>
        <p:spPr>
          <a:xfrm>
            <a:off x="8106019" y="5320344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이론／실무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BD61A4F2-11D5-BC54-8B5B-0C740ACF337D}"/>
              </a:ext>
            </a:extLst>
          </p:cNvPr>
          <p:cNvSpPr txBox="1"/>
          <p:nvPr/>
        </p:nvSpPr>
        <p:spPr>
          <a:xfrm>
            <a:off x="4397643" y="4577157"/>
            <a:ext cx="207261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dirty="0"/>
              <a:t>대법원 </a:t>
            </a:r>
            <a:r>
              <a:rPr lang="en-US" altLang="ko-KR" sz="1000" dirty="0"/>
              <a:t>2000. 12. 8. </a:t>
            </a:r>
            <a:r>
              <a:rPr lang="ko-KR" altLang="en-US" sz="1000" dirty="0"/>
              <a:t>선고 </a:t>
            </a:r>
            <a:r>
              <a:rPr lang="en-US" altLang="ko-KR" sz="1000" dirty="0"/>
              <a:t>98</a:t>
            </a:r>
            <a:r>
              <a:rPr lang="ko-KR" altLang="en-US" sz="1000" dirty="0"/>
              <a:t>후</a:t>
            </a:r>
            <a:r>
              <a:rPr lang="en-US" altLang="ko-KR" sz="1000" dirty="0"/>
              <a:t>270</a:t>
            </a:r>
            <a:r>
              <a:rPr lang="ko-KR" altLang="en-US" sz="1000" dirty="0"/>
              <a:t>。</a:t>
            </a: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C1E4C1A1-E4B3-F4EC-934F-E8275086645A}"/>
              </a:ext>
            </a:extLst>
          </p:cNvPr>
          <p:cNvSpPr txBox="1"/>
          <p:nvPr/>
        </p:nvSpPr>
        <p:spPr>
          <a:xfrm>
            <a:off x="6492879" y="4563842"/>
            <a:ext cx="5472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명세서에 배경기술</a:t>
            </a:r>
            <a:r>
              <a:rPr lang="en-US" altLang="ko-KR" sz="1000" dirty="0"/>
              <a:t>(</a:t>
            </a:r>
            <a:r>
              <a:rPr lang="ko-KR" altLang="en-US" sz="1000" dirty="0"/>
              <a:t>종래기술</a:t>
            </a:r>
            <a:r>
              <a:rPr lang="en-US" altLang="ko-KR" sz="1000" dirty="0"/>
              <a:t>)</a:t>
            </a:r>
            <a:r>
              <a:rPr lang="ko-KR" altLang="en-US" sz="1000" dirty="0"/>
              <a:t>로 기재되어 있다고 하여 그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ko-KR" altLang="en-US" sz="1000" dirty="0">
                <a:highlight>
                  <a:srgbClr val="00FFFF"/>
                </a:highlight>
              </a:rPr>
              <a:t>자체로 공지기술로 볼 수 없다고 판시하였다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4133" name="말풍선: 모서리가 둥근 사각형 4132">
            <a:extLst>
              <a:ext uri="{FF2B5EF4-FFF2-40B4-BE49-F238E27FC236}">
                <a16:creationId xmlns:a16="http://schemas.microsoft.com/office/drawing/2014/main" id="{6C49BB0E-CCF8-7A99-6362-37A95C0B049B}"/>
              </a:ext>
            </a:extLst>
          </p:cNvPr>
          <p:cNvSpPr/>
          <p:nvPr/>
        </p:nvSpPr>
        <p:spPr>
          <a:xfrm>
            <a:off x="2021045" y="5240254"/>
            <a:ext cx="1177768" cy="338397"/>
          </a:xfrm>
          <a:prstGeom prst="wedgeRoundRectCallout">
            <a:avLst>
              <a:gd name="adj1" fmla="val 67597"/>
              <a:gd name="adj2" fmla="val -13994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지문별 색인하여 정오문제 연동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34" name="말풍선: 모서리가 둥근 사각형 4133">
            <a:extLst>
              <a:ext uri="{FF2B5EF4-FFF2-40B4-BE49-F238E27FC236}">
                <a16:creationId xmlns:a16="http://schemas.microsoft.com/office/drawing/2014/main" id="{6DBE7028-1FAF-2382-BCCF-6FDBAEADF6AC}"/>
              </a:ext>
            </a:extLst>
          </p:cNvPr>
          <p:cNvSpPr/>
          <p:nvPr/>
        </p:nvSpPr>
        <p:spPr>
          <a:xfrm>
            <a:off x="6565089" y="4234538"/>
            <a:ext cx="1177768" cy="262041"/>
          </a:xfrm>
          <a:prstGeom prst="wedgeRoundRectCallout">
            <a:avLst>
              <a:gd name="adj1" fmla="val -65682"/>
              <a:gd name="adj2" fmla="val 98510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판례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조문 연결</a:t>
            </a:r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64975067-CDF3-B370-6EE0-12148B7E441C}"/>
              </a:ext>
            </a:extLst>
          </p:cNvPr>
          <p:cNvSpPr/>
          <p:nvPr/>
        </p:nvSpPr>
        <p:spPr>
          <a:xfrm>
            <a:off x="3341912" y="564332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관련자료</a:t>
            </a:r>
          </a:p>
        </p:txBody>
      </p:sp>
      <p:sp>
        <p:nvSpPr>
          <p:cNvPr id="4142" name="직사각형 4141">
            <a:extLst>
              <a:ext uri="{FF2B5EF4-FFF2-40B4-BE49-F238E27FC236}">
                <a16:creationId xmlns:a16="http://schemas.microsoft.com/office/drawing/2014/main" id="{7879266B-EDBB-5363-A64B-E5D7A91240C3}"/>
              </a:ext>
            </a:extLst>
          </p:cNvPr>
          <p:cNvSpPr/>
          <p:nvPr/>
        </p:nvSpPr>
        <p:spPr>
          <a:xfrm>
            <a:off x="4174626" y="564662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</a:t>
            </a:r>
          </a:p>
        </p:txBody>
      </p:sp>
      <p:sp>
        <p:nvSpPr>
          <p:cNvPr id="4144" name="직사각형 4143">
            <a:extLst>
              <a:ext uri="{FF2B5EF4-FFF2-40B4-BE49-F238E27FC236}">
                <a16:creationId xmlns:a16="http://schemas.microsoft.com/office/drawing/2014/main" id="{374AAA87-CBF7-D087-4D79-94BD04E1C73C}"/>
              </a:ext>
            </a:extLst>
          </p:cNvPr>
          <p:cNvSpPr/>
          <p:nvPr/>
        </p:nvSpPr>
        <p:spPr>
          <a:xfrm>
            <a:off x="4174626" y="5819980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</a:t>
            </a: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2BF0C774-0E41-1E08-BF32-9F792490B7BE}"/>
              </a:ext>
            </a:extLst>
          </p:cNvPr>
          <p:cNvSpPr/>
          <p:nvPr/>
        </p:nvSpPr>
        <p:spPr>
          <a:xfrm>
            <a:off x="3341912" y="6053798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즐겨찾기</a:t>
            </a:r>
          </a:p>
        </p:txBody>
      </p:sp>
      <p:sp>
        <p:nvSpPr>
          <p:cNvPr id="4150" name="TextBox 4149">
            <a:extLst>
              <a:ext uri="{FF2B5EF4-FFF2-40B4-BE49-F238E27FC236}">
                <a16:creationId xmlns:a16="http://schemas.microsoft.com/office/drawing/2014/main" id="{A1BA3A78-6F29-BE2E-5174-8166EE50E70E}"/>
              </a:ext>
            </a:extLst>
          </p:cNvPr>
          <p:cNvSpPr txBox="1"/>
          <p:nvPr/>
        </p:nvSpPr>
        <p:spPr>
          <a:xfrm>
            <a:off x="4136551" y="6062473"/>
            <a:ext cx="7564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♡♡♡♡♡</a:t>
            </a:r>
            <a:endParaRPr lang="ko-KR" altLang="en-US" sz="1200" dirty="0"/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7D0CA990-3F56-F917-0B6C-BAA70BF248BD}"/>
              </a:ext>
            </a:extLst>
          </p:cNvPr>
          <p:cNvSpPr/>
          <p:nvPr/>
        </p:nvSpPr>
        <p:spPr>
          <a:xfrm>
            <a:off x="3341912" y="6464270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질의응답</a:t>
            </a:r>
          </a:p>
        </p:txBody>
      </p:sp>
      <p:sp>
        <p:nvSpPr>
          <p:cNvPr id="4153" name="말풍선: 모서리가 둥근 사각형 4152">
            <a:extLst>
              <a:ext uri="{FF2B5EF4-FFF2-40B4-BE49-F238E27FC236}">
                <a16:creationId xmlns:a16="http://schemas.microsoft.com/office/drawing/2014/main" id="{2CF69C45-68CA-ADDD-1037-E7989A80317A}"/>
              </a:ext>
            </a:extLst>
          </p:cNvPr>
          <p:cNvSpPr/>
          <p:nvPr/>
        </p:nvSpPr>
        <p:spPr>
          <a:xfrm>
            <a:off x="5488196" y="5931452"/>
            <a:ext cx="787528" cy="262041"/>
          </a:xfrm>
          <a:prstGeom prst="wedgeRoundRectCallout">
            <a:avLst>
              <a:gd name="adj1" fmla="val -121774"/>
              <a:gd name="adj2" fmla="val 52285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155" name="말풍선: 모서리가 둥근 사각형 4154">
            <a:extLst>
              <a:ext uri="{FF2B5EF4-FFF2-40B4-BE49-F238E27FC236}">
                <a16:creationId xmlns:a16="http://schemas.microsoft.com/office/drawing/2014/main" id="{BFFA4570-E188-F069-8C1C-5E9B22B6B686}"/>
              </a:ext>
            </a:extLst>
          </p:cNvPr>
          <p:cNvSpPr/>
          <p:nvPr/>
        </p:nvSpPr>
        <p:spPr>
          <a:xfrm>
            <a:off x="10484390" y="4245745"/>
            <a:ext cx="1177768" cy="262041"/>
          </a:xfrm>
          <a:prstGeom prst="wedgeRoundRectCallout">
            <a:avLst>
              <a:gd name="adj1" fmla="val -86547"/>
              <a:gd name="adj2" fmla="val 6943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</a:p>
        </p:txBody>
      </p:sp>
      <p:sp>
        <p:nvSpPr>
          <p:cNvPr id="4156" name="직사각형 4155">
            <a:extLst>
              <a:ext uri="{FF2B5EF4-FFF2-40B4-BE49-F238E27FC236}">
                <a16:creationId xmlns:a16="http://schemas.microsoft.com/office/drawing/2014/main" id="{5D8BD942-F650-C204-A2E6-1E21CBBB46EF}"/>
              </a:ext>
            </a:extLst>
          </p:cNvPr>
          <p:cNvSpPr/>
          <p:nvPr/>
        </p:nvSpPr>
        <p:spPr>
          <a:xfrm>
            <a:off x="8086121" y="3573889"/>
            <a:ext cx="796535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연도（２０１９</a:t>
            </a:r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）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B51BCB05-6AF9-0E04-AD95-56FF02121834}"/>
              </a:ext>
            </a:extLst>
          </p:cNvPr>
          <p:cNvSpPr/>
          <p:nvPr/>
        </p:nvSpPr>
        <p:spPr>
          <a:xfrm>
            <a:off x="5292491" y="5606422"/>
            <a:ext cx="983233" cy="262945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클릭하여 연결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5820B2C4-17B7-41E1-8706-F54138009DB1}"/>
              </a:ext>
            </a:extLst>
          </p:cNvPr>
          <p:cNvSpPr/>
          <p:nvPr/>
        </p:nvSpPr>
        <p:spPr>
          <a:xfrm>
            <a:off x="4739101" y="6422486"/>
            <a:ext cx="2301029" cy="262041"/>
          </a:xfrm>
          <a:prstGeom prst="wedgeRoundRectCallout">
            <a:avLst>
              <a:gd name="adj1" fmla="val -76971"/>
              <a:gd name="adj2" fmla="val 249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질문에 대해 담당자에게 메일 보내기</a:t>
            </a:r>
          </a:p>
        </p:txBody>
      </p:sp>
    </p:spTree>
    <p:extLst>
      <p:ext uri="{BB962C8B-B14F-4D97-AF65-F5344CB8AC3E}">
        <p14:creationId xmlns:p14="http://schemas.microsoft.com/office/powerpoint/2010/main" val="3291306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3D1A-A72E-BD4E-F60B-86016DAE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236960F-4CF9-381E-C4AE-8B95F655E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 객관식 문제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3C8477-40BB-E93D-C340-6892803F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6EE8C-5B07-1105-F21C-4D78A7B4D142}"/>
              </a:ext>
            </a:extLst>
          </p:cNvPr>
          <p:cNvSpPr txBox="1"/>
          <p:nvPr/>
        </p:nvSpPr>
        <p:spPr>
          <a:xfrm>
            <a:off x="272145" y="1162748"/>
            <a:ext cx="3919662" cy="19722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연도별 순서에 따라 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연도별 순서는 기출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 문제에 한해 적용한다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분류를 다음과 같이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예상문제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모의고사문제로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기출변형은 연도를 표시한다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모의고사문제는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출제연월을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표시한다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단원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종합문제를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종합문제는 문제의 지문에 별도로 표시하여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(3)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긍정형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부정형 문제로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(4)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단답형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 문제로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지문을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해설과 함께 정오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(O/X)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문제로 연동하여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지문에 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700C199-9A80-ECA4-9FAD-CD491440D4EB}"/>
              </a:ext>
            </a:extLst>
          </p:cNvPr>
          <p:cNvSpPr/>
          <p:nvPr/>
        </p:nvSpPr>
        <p:spPr>
          <a:xfrm>
            <a:off x="272145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문제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18E25-51D9-FFFC-AA6E-60ECC6E65EF0}"/>
              </a:ext>
            </a:extLst>
          </p:cNvPr>
          <p:cNvSpPr txBox="1"/>
          <p:nvPr/>
        </p:nvSpPr>
        <p:spPr>
          <a:xfrm>
            <a:off x="272144" y="3596177"/>
            <a:ext cx="3919663" cy="1456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문제에 대한 답을 체크하였을 때 정답을 공개한다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정답률에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따른 문제의 난이도를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CAD213E-915A-58CD-F3D5-1493F61EB58A}"/>
              </a:ext>
            </a:extLst>
          </p:cNvPr>
          <p:cNvSpPr/>
          <p:nvPr/>
        </p:nvSpPr>
        <p:spPr>
          <a:xfrm>
            <a:off x="272145" y="3226637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정답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ADA4480-8CB6-8F56-50A3-DA7F584D4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50873"/>
              </p:ext>
            </p:extLst>
          </p:nvPr>
        </p:nvGraphicFramePr>
        <p:xfrm>
          <a:off x="553721" y="4038123"/>
          <a:ext cx="3227978" cy="914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13989">
                  <a:extLst>
                    <a:ext uri="{9D8B030D-6E8A-4147-A177-3AD203B41FA5}">
                      <a16:colId xmlns:a16="http://schemas.microsoft.com/office/drawing/2014/main" val="912422853"/>
                    </a:ext>
                  </a:extLst>
                </a:gridCol>
                <a:gridCol w="1613989">
                  <a:extLst>
                    <a:ext uri="{9D8B030D-6E8A-4147-A177-3AD203B41FA5}">
                      <a16:colId xmlns:a16="http://schemas.microsoft.com/office/drawing/2014/main" val="990125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정답률</a:t>
                      </a:r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(%)</a:t>
                      </a:r>
                      <a:endParaRPr lang="ko-KR" altLang="en-US" sz="900" dirty="0"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난이도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5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0-40</a:t>
                      </a:r>
                      <a:endParaRPr lang="ko-KR" altLang="en-US" sz="900" dirty="0"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41-80</a:t>
                      </a:r>
                      <a:endParaRPr lang="ko-KR" altLang="en-US" sz="900" dirty="0"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81-100</a:t>
                      </a:r>
                      <a:endParaRPr lang="ko-KR" altLang="en-US" sz="900" dirty="0"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37368"/>
                  </a:ext>
                </a:extLst>
              </a:tr>
            </a:tbl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879D6AA-CD3F-5A2B-C908-7F61626C8EB7}"/>
              </a:ext>
            </a:extLst>
          </p:cNvPr>
          <p:cNvSpPr/>
          <p:nvPr/>
        </p:nvSpPr>
        <p:spPr>
          <a:xfrm>
            <a:off x="4312827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2A24D-BC8F-4738-9D1E-E653063C86ED}"/>
              </a:ext>
            </a:extLst>
          </p:cNvPr>
          <p:cNvSpPr txBox="1"/>
          <p:nvPr/>
        </p:nvSpPr>
        <p:spPr>
          <a:xfrm>
            <a:off x="272145" y="5533361"/>
            <a:ext cx="3919663" cy="1063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각 지문별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O, X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로 구분하여 해설을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지문인지 분류하여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지문은 그 조문으로 연결된 링크를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지문은 그 판례로 연결된 링크를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해설을 지문과 함께 함께 정오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(O/X)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문제로 연동하여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해설에 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E3ECCA0-3359-92EF-D360-24C3E5B95A5F}"/>
              </a:ext>
            </a:extLst>
          </p:cNvPr>
          <p:cNvSpPr/>
          <p:nvPr/>
        </p:nvSpPr>
        <p:spPr>
          <a:xfrm>
            <a:off x="272145" y="516382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해설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61C8F-AC29-E31D-4058-286E49F11C14}"/>
              </a:ext>
            </a:extLst>
          </p:cNvPr>
          <p:cNvSpPr txBox="1"/>
          <p:nvPr/>
        </p:nvSpPr>
        <p:spPr>
          <a:xfrm>
            <a:off x="4253250" y="1162748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정답과 관련된 강의노트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클릭하여 강의를 들을 수 있도록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8546938-F806-3318-1E6F-04EA2242C9D9}"/>
              </a:ext>
            </a:extLst>
          </p:cNvPr>
          <p:cNvSpPr/>
          <p:nvPr/>
        </p:nvSpPr>
        <p:spPr>
          <a:xfrm>
            <a:off x="4312827" y="1805580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즐겨찾기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729B0-FFCE-736B-F217-17269FBB3F0A}"/>
              </a:ext>
            </a:extLst>
          </p:cNvPr>
          <p:cNvSpPr txBox="1"/>
          <p:nvPr/>
        </p:nvSpPr>
        <p:spPr>
          <a:xfrm>
            <a:off x="4253250" y="2175120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클릭하여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할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클릭할 때마다 메모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A9E517-B942-3AC8-CD74-C7F10A261573}"/>
              </a:ext>
            </a:extLst>
          </p:cNvPr>
          <p:cNvSpPr/>
          <p:nvPr/>
        </p:nvSpPr>
        <p:spPr>
          <a:xfrm>
            <a:off x="4312827" y="281795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질의응답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FEF7D-3182-8BDA-6220-D2DD9A78F1AE}"/>
              </a:ext>
            </a:extLst>
          </p:cNvPr>
          <p:cNvSpPr txBox="1"/>
          <p:nvPr/>
        </p:nvSpPr>
        <p:spPr>
          <a:xfrm>
            <a:off x="4253250" y="3187491"/>
            <a:ext cx="3919662" cy="256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기존의 질문과 답변을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검색기능을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새로운 질문을 작성하는 경우 그 질문을 답변자에게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답변자가 링크를 클릭하면서 답변을 하는 경우 그 답변을 질문자에게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답변자는 답변을 할 때 질문의 수준을 평가한다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7531EA7-6754-8EAB-A6D5-3C59AB22A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523984"/>
              </p:ext>
            </p:extLst>
          </p:nvPr>
        </p:nvGraphicFramePr>
        <p:xfrm>
          <a:off x="4388268" y="4373765"/>
          <a:ext cx="3227978" cy="914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30551">
                  <a:extLst>
                    <a:ext uri="{9D8B030D-6E8A-4147-A177-3AD203B41FA5}">
                      <a16:colId xmlns:a16="http://schemas.microsoft.com/office/drawing/2014/main" val="912422853"/>
                    </a:ext>
                  </a:extLst>
                </a:gridCol>
                <a:gridCol w="497427">
                  <a:extLst>
                    <a:ext uri="{9D8B030D-6E8A-4147-A177-3AD203B41FA5}">
                      <a16:colId xmlns:a16="http://schemas.microsoft.com/office/drawing/2014/main" val="990125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평가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5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지식이 있고</a:t>
                      </a:r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요구사항에 대한 정확한 파악을 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지식은 있으나 요구사항을 파악하지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이론에 대한 지식이 부족함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37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61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EDA1-F151-7979-724D-F5234E0D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8A4477-C14E-E76C-3CE0-9EB03D528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판례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ED2524-E524-BEDA-C16C-D8DB30FC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3258174-35DA-E848-59B4-70C59E497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704517"/>
              </p:ext>
            </p:extLst>
          </p:nvPr>
        </p:nvGraphicFramePr>
        <p:xfrm>
          <a:off x="338665" y="1977828"/>
          <a:ext cx="11217554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45657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885427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1391444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1770177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1291919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  <a:gridCol w="1291918">
                  <a:extLst>
                    <a:ext uri="{9D8B030D-6E8A-4147-A177-3AD203B41FA5}">
                      <a16:colId xmlns:a16="http://schemas.microsoft.com/office/drawing/2014/main" val="3453731879"/>
                    </a:ext>
                  </a:extLst>
                </a:gridCol>
                <a:gridCol w="1068318">
                  <a:extLst>
                    <a:ext uri="{9D8B030D-6E8A-4147-A177-3AD203B41FA5}">
                      <a16:colId xmlns:a16="http://schemas.microsoft.com/office/drawing/2014/main" val="1342974984"/>
                    </a:ext>
                  </a:extLst>
                </a:gridCol>
                <a:gridCol w="1267073">
                  <a:extLst>
                    <a:ext uri="{9D8B030D-6E8A-4147-A177-3AD203B41FA5}">
                      <a16:colId xmlns:a16="http://schemas.microsoft.com/office/drawing/2014/main" val="683021080"/>
                    </a:ext>
                  </a:extLst>
                </a:gridCol>
                <a:gridCol w="1505621">
                  <a:extLst>
                    <a:ext uri="{9D8B030D-6E8A-4147-A177-3AD203B41FA5}">
                      <a16:colId xmlns:a16="http://schemas.microsoft.com/office/drawing/2014/main" val="1298072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선고일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번호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사건명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전원합의체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차 기출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차 기출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대법원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2015. 8. 13. </a:t>
                      </a:r>
                      <a:r>
                        <a:rPr lang="ko-KR" altLang="en-US" sz="1000" dirty="0"/>
                        <a:t>선고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2013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10265 </a:t>
                      </a:r>
                      <a:r>
                        <a:rPr lang="ko-KR" altLang="en-US" sz="1000" dirty="0"/>
                        <a:t>판결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【</a:t>
                      </a:r>
                      <a:r>
                        <a:rPr lang="ko-KR" altLang="en-US" sz="1000" dirty="0"/>
                        <a:t>특허법 위반</a:t>
                      </a:r>
                      <a:r>
                        <a:rPr lang="en-US" altLang="ko-KR" sz="1000" dirty="0"/>
                        <a:t>】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749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7E23-C4A7-B3C1-B0FC-1BA65270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DDDF6E2-D4E9-2E8A-B10E-DE3C36FA2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판례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D2189A-421E-511B-3FBE-28A0E65F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9B1B4-4392-D30A-90A7-AC51F4B5A4C8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데이터를 입력하였을 때 자동적으로 업데이트된다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/2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기출을 클릭하였을 때 별도의 팝업창을 통해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라벨에 분류기준을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470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E7BF-13B4-3914-57A7-F26B0077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D026FD32-AB0A-102F-015E-8241B5455013}"/>
              </a:ext>
            </a:extLst>
          </p:cNvPr>
          <p:cNvSpPr/>
          <p:nvPr/>
        </p:nvSpPr>
        <p:spPr>
          <a:xfrm>
            <a:off x="3260270" y="6145108"/>
            <a:ext cx="8931730" cy="7052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764A199-7476-3BB5-2D18-6B433D005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</a:t>
            </a:r>
            <a:r>
              <a:rPr lang="en-US" altLang="ko-KR" dirty="0"/>
              <a:t>/2</a:t>
            </a:r>
            <a:r>
              <a:rPr lang="ko-KR" altLang="en-US" dirty="0"/>
              <a:t>차 판례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970470-E940-A237-C62B-83E3EADD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C50C5A-8E46-303D-F88C-3C29CA97D45F}"/>
              </a:ext>
            </a:extLst>
          </p:cNvPr>
          <p:cNvSpPr/>
          <p:nvPr/>
        </p:nvSpPr>
        <p:spPr>
          <a:xfrm>
            <a:off x="4316167" y="818459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865A0C-11AA-495F-1661-C49620295F4C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CAF124-6AE0-0BC9-9A62-980AD422244B}"/>
              </a:ext>
            </a:extLst>
          </p:cNvPr>
          <p:cNvSpPr/>
          <p:nvPr/>
        </p:nvSpPr>
        <p:spPr>
          <a:xfrm>
            <a:off x="4316167" y="1256240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DF65C8B7-A0CF-71EA-4FB3-A4E1672E0B09}"/>
              </a:ext>
            </a:extLst>
          </p:cNvPr>
          <p:cNvSpPr/>
          <p:nvPr/>
        </p:nvSpPr>
        <p:spPr>
          <a:xfrm>
            <a:off x="5614477" y="818459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11C08C4E-B7C4-25F8-8D59-9678F30F2BB9}"/>
              </a:ext>
            </a:extLst>
          </p:cNvPr>
          <p:cNvSpPr/>
          <p:nvPr/>
        </p:nvSpPr>
        <p:spPr>
          <a:xfrm>
            <a:off x="5614477" y="1036997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0" name="직사각형 4109">
            <a:extLst>
              <a:ext uri="{FF2B5EF4-FFF2-40B4-BE49-F238E27FC236}">
                <a16:creationId xmlns:a16="http://schemas.microsoft.com/office/drawing/2014/main" id="{C5E5EC92-E84B-7F7D-03C9-149AA0A34AB4}"/>
              </a:ext>
            </a:extLst>
          </p:cNvPr>
          <p:cNvSpPr/>
          <p:nvPr/>
        </p:nvSpPr>
        <p:spPr>
          <a:xfrm>
            <a:off x="5614477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0AECAC76-71A0-B0C0-75A4-61226854C263}"/>
              </a:ext>
            </a:extLst>
          </p:cNvPr>
          <p:cNvSpPr/>
          <p:nvPr/>
        </p:nvSpPr>
        <p:spPr>
          <a:xfrm>
            <a:off x="69092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D2DCA273-1B1B-DB4C-3764-D14453B45F99}"/>
              </a:ext>
            </a:extLst>
          </p:cNvPr>
          <p:cNvSpPr/>
          <p:nvPr/>
        </p:nvSpPr>
        <p:spPr>
          <a:xfrm>
            <a:off x="82063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74EC0892-2A16-BE8E-155C-A00F4281BDED}"/>
              </a:ext>
            </a:extLst>
          </p:cNvPr>
          <p:cNvSpPr/>
          <p:nvPr/>
        </p:nvSpPr>
        <p:spPr>
          <a:xfrm>
            <a:off x="9507804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79638E66-F197-298F-A991-BF73402B0670}"/>
              </a:ext>
            </a:extLst>
          </p:cNvPr>
          <p:cNvSpPr/>
          <p:nvPr/>
        </p:nvSpPr>
        <p:spPr>
          <a:xfrm>
            <a:off x="3019068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B4B469F4-F685-F0A6-9AF1-DF599D5EA3E1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05F29C9C-FC38-E306-304A-7A9C4EBF3DAC}"/>
              </a:ext>
            </a:extLst>
          </p:cNvPr>
          <p:cNvSpPr/>
          <p:nvPr/>
        </p:nvSpPr>
        <p:spPr>
          <a:xfrm>
            <a:off x="3019068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FFF145A8-AD6F-9ACD-E663-CB64861802CE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08A6914-A330-7488-E001-7400DFBAA59E}"/>
              </a:ext>
            </a:extLst>
          </p:cNvPr>
          <p:cNvCxnSpPr>
            <a:cxnSpLocks/>
          </p:cNvCxnSpPr>
          <p:nvPr/>
        </p:nvCxnSpPr>
        <p:spPr>
          <a:xfrm>
            <a:off x="173690" y="1759290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EC8B19F-6829-631A-17ED-3105185C857F}"/>
              </a:ext>
            </a:extLst>
          </p:cNvPr>
          <p:cNvSpPr txBox="1"/>
          <p:nvPr/>
        </p:nvSpPr>
        <p:spPr>
          <a:xfrm>
            <a:off x="125126" y="1848979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총칙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A79623-133F-AB32-957F-F1837A130FDA}"/>
              </a:ext>
            </a:extLst>
          </p:cNvPr>
          <p:cNvSpPr txBox="1"/>
          <p:nvPr/>
        </p:nvSpPr>
        <p:spPr>
          <a:xfrm>
            <a:off x="2190309" y="2121663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A27DFB-7D17-EB4A-D7B3-6B27CEC85E63}"/>
              </a:ext>
            </a:extLst>
          </p:cNvPr>
          <p:cNvSpPr txBox="1"/>
          <p:nvPr/>
        </p:nvSpPr>
        <p:spPr>
          <a:xfrm>
            <a:off x="2190309" y="2394348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227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77B95D-F1D2-7676-F75B-847E1C66F75E}"/>
              </a:ext>
            </a:extLst>
          </p:cNvPr>
          <p:cNvSpPr txBox="1"/>
          <p:nvPr/>
        </p:nvSpPr>
        <p:spPr>
          <a:xfrm>
            <a:off x="2190309" y="3406968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232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8C3166-AEA0-3C56-20F9-A6EE0A0609D2}"/>
              </a:ext>
            </a:extLst>
          </p:cNvPr>
          <p:cNvSpPr txBox="1"/>
          <p:nvPr/>
        </p:nvSpPr>
        <p:spPr>
          <a:xfrm>
            <a:off x="2190309" y="2665335"/>
            <a:ext cx="988318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228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E8DCFE-BF12-1380-9223-B51F0A669EE8}"/>
              </a:ext>
            </a:extLst>
          </p:cNvPr>
          <p:cNvSpPr txBox="1"/>
          <p:nvPr/>
        </p:nvSpPr>
        <p:spPr>
          <a:xfrm>
            <a:off x="2190309" y="1841471"/>
            <a:ext cx="98831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225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 </a:t>
            </a:r>
            <a:r>
              <a:rPr lang="ko-KR" altLang="en-US" sz="8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침해죄</a:t>
            </a:r>
            <a:endParaRPr lang="ko-KR" altLang="en-US" sz="8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4157" name="직선 연결선 4156">
            <a:extLst>
              <a:ext uri="{FF2B5EF4-FFF2-40B4-BE49-F238E27FC236}">
                <a16:creationId xmlns:a16="http://schemas.microsoft.com/office/drawing/2014/main" id="{2399F1C7-BFD4-C901-47A0-178EC734569A}"/>
              </a:ext>
            </a:extLst>
          </p:cNvPr>
          <p:cNvCxnSpPr/>
          <p:nvPr/>
        </p:nvCxnSpPr>
        <p:spPr>
          <a:xfrm>
            <a:off x="3260269" y="1790700"/>
            <a:ext cx="0" cy="4958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15A5D3-36C3-2CA1-D299-4266E8CA6C79}"/>
              </a:ext>
            </a:extLst>
          </p:cNvPr>
          <p:cNvSpPr txBox="1"/>
          <p:nvPr/>
        </p:nvSpPr>
        <p:spPr>
          <a:xfrm>
            <a:off x="3402360" y="2496778"/>
            <a:ext cx="866451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특허법 제</a:t>
            </a:r>
            <a:r>
              <a:rPr lang="en-US" altLang="ko-KR" sz="900" dirty="0"/>
              <a:t>224</a:t>
            </a:r>
            <a:r>
              <a:rPr lang="ko-KR" altLang="en-US" sz="900" dirty="0"/>
              <a:t>조 제</a:t>
            </a:r>
            <a:r>
              <a:rPr lang="en-US" altLang="ko-KR" sz="900" dirty="0"/>
              <a:t>3</a:t>
            </a:r>
            <a:r>
              <a:rPr lang="ko-KR" altLang="en-US" sz="900" dirty="0"/>
              <a:t>호는 같은 조 제</a:t>
            </a:r>
            <a:r>
              <a:rPr lang="en-US" altLang="ko-KR" sz="900" dirty="0"/>
              <a:t>1</a:t>
            </a:r>
            <a:r>
              <a:rPr lang="ko-KR" altLang="en-US" sz="900" dirty="0"/>
              <a:t>호의 </a:t>
            </a:r>
            <a:r>
              <a:rPr lang="ko-KR" altLang="en-US" sz="900" dirty="0" err="1"/>
              <a:t>특허된</a:t>
            </a:r>
            <a:r>
              <a:rPr lang="ko-KR" altLang="en-US" sz="900" dirty="0"/>
              <a:t> 것이 아닌 물건</a:t>
            </a:r>
            <a:r>
              <a:rPr lang="en-US" altLang="ko-KR" sz="900" dirty="0"/>
              <a:t>, </a:t>
            </a:r>
            <a:r>
              <a:rPr lang="ko-KR" altLang="en-US" sz="900" dirty="0"/>
              <a:t>특허출원 중이 아닌 물건</a:t>
            </a:r>
            <a:r>
              <a:rPr lang="en-US" altLang="ko-KR" sz="900" dirty="0"/>
              <a:t>, </a:t>
            </a:r>
            <a:r>
              <a:rPr lang="ko-KR" altLang="en-US" sz="900" dirty="0" err="1"/>
              <a:t>특허된</a:t>
            </a:r>
            <a:r>
              <a:rPr lang="ko-KR" altLang="en-US" sz="900" dirty="0"/>
              <a:t> 것이 아닌 방법이나 특허출원 중이 아닌 방법에 의하여 생산한 물건을 생산</a:t>
            </a:r>
            <a:r>
              <a:rPr lang="en-US" altLang="ko-KR" sz="900" dirty="0"/>
              <a:t>․</a:t>
            </a:r>
            <a:r>
              <a:rPr lang="ko-KR" altLang="en-US" sz="900" dirty="0"/>
              <a:t>사용</a:t>
            </a:r>
            <a:r>
              <a:rPr lang="en-US" altLang="ko-KR" sz="900" dirty="0"/>
              <a:t>․</a:t>
            </a:r>
            <a:r>
              <a:rPr lang="ko-KR" altLang="en-US" sz="900" dirty="0"/>
              <a:t>양도하기 위하여 광고 등에 그 물건이 특허나 </a:t>
            </a:r>
            <a:r>
              <a:rPr lang="ko-KR" altLang="en-US" sz="900" dirty="0" err="1"/>
              <a:t>특허출원된</a:t>
            </a:r>
            <a:r>
              <a:rPr lang="ko-KR" altLang="en-US" sz="900" dirty="0"/>
              <a:t> 것 또는 </a:t>
            </a:r>
            <a:r>
              <a:rPr lang="ko-KR" altLang="en-US" sz="900" dirty="0" err="1"/>
              <a:t>특허된</a:t>
            </a:r>
            <a:r>
              <a:rPr lang="ko-KR" altLang="en-US" sz="900" dirty="0"/>
              <a:t> 방법이나 특허출원 중인 방법에 따라 생산한 것으로 표시하거나 이와 혼동하기 쉬운 표시</a:t>
            </a:r>
            <a:r>
              <a:rPr lang="en-US" altLang="ko-KR" sz="900" dirty="0"/>
              <a:t>(</a:t>
            </a:r>
            <a:r>
              <a:rPr lang="ko-KR" altLang="en-US" sz="900" dirty="0"/>
              <a:t>이하 ‘</a:t>
            </a:r>
            <a:r>
              <a:rPr lang="ko-KR" altLang="en-US" sz="900" dirty="0" err="1"/>
              <a:t>특허된</a:t>
            </a:r>
            <a:r>
              <a:rPr lang="ko-KR" altLang="en-US" sz="900" dirty="0"/>
              <a:t> 것 등으로 </a:t>
            </a:r>
            <a:r>
              <a:rPr lang="ko-KR" altLang="en-US" sz="900" dirty="0" err="1"/>
              <a:t>표시’라</a:t>
            </a:r>
            <a:r>
              <a:rPr lang="ko-KR" altLang="en-US" sz="900" dirty="0"/>
              <a:t> 한다</a:t>
            </a:r>
            <a:r>
              <a:rPr lang="en-US" altLang="ko-KR" sz="900" dirty="0"/>
              <a:t>)</a:t>
            </a:r>
            <a:r>
              <a:rPr lang="ko-KR" altLang="en-US" sz="900" dirty="0"/>
              <a:t>를 하는 행위를 금지하고 있다</a:t>
            </a:r>
            <a:r>
              <a:rPr lang="en-US" altLang="ko-KR" sz="900" dirty="0"/>
              <a:t>. </a:t>
            </a:r>
            <a:r>
              <a:rPr lang="ko-KR" altLang="en-US" sz="900" u="sng" dirty="0"/>
              <a:t>위 규정의 취지는 특허로 인한 거래상의 유리함과 특허에 관한 공중의 신뢰를 악용하여 공중을 </a:t>
            </a:r>
            <a:r>
              <a:rPr lang="ko-KR" altLang="en-US" sz="900" u="sng" dirty="0" err="1"/>
              <a:t>오인시키는</a:t>
            </a:r>
            <a:r>
              <a:rPr lang="ko-KR" altLang="en-US" sz="900" u="sng" dirty="0"/>
              <a:t> 행위를 처벌함으로써 거래의 안전을 보호하는 데에 있다고 할 것이다</a:t>
            </a:r>
            <a:r>
              <a:rPr lang="en-US" altLang="ko-KR" sz="900" u="sng" dirty="0"/>
              <a:t>. </a:t>
            </a:r>
            <a:r>
              <a:rPr lang="ko-KR" altLang="en-US" sz="900" u="sng" dirty="0"/>
              <a:t>이러한 취지에 비추어 볼 때</a:t>
            </a:r>
            <a:r>
              <a:rPr lang="en-US" altLang="ko-KR" sz="900" u="sng" dirty="0"/>
              <a:t>, </a:t>
            </a:r>
            <a:r>
              <a:rPr lang="ko-KR" altLang="en-US" sz="900" u="sng" dirty="0" err="1"/>
              <a:t>특허된</a:t>
            </a:r>
            <a:r>
              <a:rPr lang="ko-KR" altLang="en-US" sz="900" u="sng" dirty="0"/>
              <a:t> 것 등으로 표시한 물건의 </a:t>
            </a:r>
            <a:r>
              <a:rPr lang="ko-KR" altLang="en-US" sz="900" u="sng" dirty="0">
                <a:highlight>
                  <a:srgbClr val="FFFF00"/>
                </a:highlight>
              </a:rPr>
              <a:t>기술적 구성이 청구범위에 기재된 발명의 구성을 일부 변경한 것이라고 하더라도</a:t>
            </a:r>
            <a:r>
              <a:rPr lang="en-US" altLang="ko-KR" sz="900" u="sng" dirty="0"/>
              <a:t>, </a:t>
            </a:r>
            <a:r>
              <a:rPr lang="ko-KR" altLang="en-US" sz="900" u="sng" dirty="0"/>
              <a:t>그러한 변경이 해당 기술분야에서 통상의 지식을 가진 사람</a:t>
            </a:r>
            <a:r>
              <a:rPr lang="en-US" altLang="ko-KR" sz="900" u="sng" dirty="0"/>
              <a:t>(</a:t>
            </a:r>
            <a:r>
              <a:rPr lang="ko-KR" altLang="en-US" sz="900" u="sng" dirty="0"/>
              <a:t>이하 ‘통상의 </a:t>
            </a:r>
            <a:r>
              <a:rPr lang="ko-KR" altLang="en-US" sz="900" u="sng" dirty="0" err="1"/>
              <a:t>기술자’라고</a:t>
            </a:r>
            <a:r>
              <a:rPr lang="ko-KR" altLang="en-US" sz="900" u="sng" dirty="0"/>
              <a:t> 한다</a:t>
            </a:r>
            <a:r>
              <a:rPr lang="en-US" altLang="ko-KR" sz="900" u="sng" dirty="0"/>
              <a:t>)</a:t>
            </a:r>
            <a:r>
              <a:rPr lang="ko-KR" altLang="en-US" sz="900" u="sng" dirty="0"/>
              <a:t>이 보통 채용하는 정도로 기술적 구성을 부가</a:t>
            </a:r>
            <a:r>
              <a:rPr lang="en-US" altLang="ko-KR" sz="900" u="sng" dirty="0"/>
              <a:t>․</a:t>
            </a:r>
            <a:r>
              <a:rPr lang="ko-KR" altLang="en-US" sz="900" u="sng" dirty="0"/>
              <a:t>삭제</a:t>
            </a:r>
            <a:r>
              <a:rPr lang="en-US" altLang="ko-KR" sz="900" u="sng" dirty="0"/>
              <a:t>․</a:t>
            </a:r>
            <a:r>
              <a:rPr lang="ko-KR" altLang="en-US" sz="900" u="sng" dirty="0"/>
              <a:t>변경한 것에 지나지 아니하고 그로 인하여 발명의 효과에 특별한 차이가 생기지도 아니하는 등 공중을 </a:t>
            </a:r>
            <a:r>
              <a:rPr lang="ko-KR" altLang="en-US" sz="900" u="sng" dirty="0" err="1"/>
              <a:t>오인시킬</a:t>
            </a:r>
            <a:r>
              <a:rPr lang="ko-KR" altLang="en-US" sz="900" u="sng" dirty="0"/>
              <a:t> 정도에 이르지 아니한 경우에는</a:t>
            </a:r>
            <a:r>
              <a:rPr lang="en-US" altLang="ko-KR" sz="900" u="sng" dirty="0"/>
              <a:t>, </a:t>
            </a:r>
            <a:r>
              <a:rPr lang="ko-KR" altLang="en-US" sz="900" u="sng" dirty="0"/>
              <a:t>위 물건에 </a:t>
            </a:r>
            <a:r>
              <a:rPr lang="ko-KR" altLang="en-US" sz="900" u="sng" dirty="0" err="1"/>
              <a:t>특허된</a:t>
            </a:r>
            <a:r>
              <a:rPr lang="ko-KR" altLang="en-US" sz="900" u="sng" dirty="0"/>
              <a:t> 것 등으로 표시를 하는 행위가 위 규정에서 금지하는 표시행위에 해당한다고 볼 수 없다</a:t>
            </a:r>
            <a:r>
              <a:rPr lang="en-US" altLang="ko-KR" sz="900" u="sng" dirty="0"/>
              <a:t>.</a:t>
            </a:r>
            <a:endParaRPr lang="ko-KR" altLang="en-US" sz="900" u="sng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D9DE4B-1D72-9CD8-6E9B-47679F7D75C9}"/>
              </a:ext>
            </a:extLst>
          </p:cNvPr>
          <p:cNvSpPr/>
          <p:nvPr/>
        </p:nvSpPr>
        <p:spPr>
          <a:xfrm>
            <a:off x="7685286" y="6196750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일반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BE8229-6A2B-4394-70E2-F243662FC35D}"/>
              </a:ext>
            </a:extLst>
          </p:cNvPr>
          <p:cNvSpPr/>
          <p:nvPr/>
        </p:nvSpPr>
        <p:spPr>
          <a:xfrm>
            <a:off x="7685286" y="6370101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전원합의체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0A88F4E-7AD9-D426-EE6A-1CED8D7F1719}"/>
              </a:ext>
            </a:extLst>
          </p:cNvPr>
          <p:cNvSpPr/>
          <p:nvPr/>
        </p:nvSpPr>
        <p:spPr>
          <a:xfrm>
            <a:off x="3341912" y="1819986"/>
            <a:ext cx="744071" cy="263602"/>
          </a:xfrm>
          <a:prstGeom prst="roundRect">
            <a:avLst>
              <a:gd name="adj" fmla="val 0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대법원</a:t>
            </a:r>
            <a:endParaRPr lang="ko-KR" altLang="en-US" sz="105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593BD8-4FDA-5216-E5A7-FD87380220D4}"/>
              </a:ext>
            </a:extLst>
          </p:cNvPr>
          <p:cNvGrpSpPr/>
          <p:nvPr/>
        </p:nvGrpSpPr>
        <p:grpSpPr>
          <a:xfrm>
            <a:off x="3397606" y="6289336"/>
            <a:ext cx="790691" cy="425068"/>
            <a:chOff x="3397606" y="4143224"/>
            <a:chExt cx="1267838" cy="42506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19CF6B8-46B5-292E-661B-C39653FCF1B5}"/>
                </a:ext>
              </a:extLst>
            </p:cNvPr>
            <p:cNvSpPr/>
            <p:nvPr/>
          </p:nvSpPr>
          <p:spPr>
            <a:xfrm>
              <a:off x="3397606" y="4143224"/>
              <a:ext cx="1267838" cy="20653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체계도 순서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91620FB-AB1C-79E3-6EA6-BEBAACD9F0C1}"/>
                </a:ext>
              </a:extLst>
            </p:cNvPr>
            <p:cNvSpPr/>
            <p:nvPr/>
          </p:nvSpPr>
          <p:spPr>
            <a:xfrm>
              <a:off x="3397606" y="4361762"/>
              <a:ext cx="1267838" cy="2065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accent4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조문 순서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72B87F4-A0F8-3591-0397-E32E9C2B0D5C}"/>
              </a:ext>
            </a:extLst>
          </p:cNvPr>
          <p:cNvSpPr txBox="1"/>
          <p:nvPr/>
        </p:nvSpPr>
        <p:spPr>
          <a:xfrm>
            <a:off x="4157837" y="6261653"/>
            <a:ext cx="2114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특허권 </a:t>
            </a:r>
            <a:r>
              <a:rPr lang="en-US" altLang="ko-KR" sz="800" dirty="0"/>
              <a:t>&gt; </a:t>
            </a:r>
            <a:r>
              <a:rPr lang="ko-KR" altLang="en-US" sz="800" dirty="0"/>
              <a:t>침해 </a:t>
            </a:r>
            <a:r>
              <a:rPr lang="en-US" altLang="ko-KR" sz="800" dirty="0"/>
              <a:t>&gt; </a:t>
            </a:r>
            <a:r>
              <a:rPr lang="ko-KR" altLang="en-US" sz="800" dirty="0"/>
              <a:t>침해에 대한 조치 </a:t>
            </a:r>
            <a:r>
              <a:rPr lang="en-US" altLang="ko-KR" sz="800" dirty="0"/>
              <a:t>&gt; </a:t>
            </a:r>
            <a:r>
              <a:rPr lang="ko-KR" altLang="en-US" sz="800" dirty="0"/>
              <a:t>기타 벌칙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63B298-69E5-6903-CCB9-CE08224B783C}"/>
              </a:ext>
            </a:extLst>
          </p:cNvPr>
          <p:cNvSpPr txBox="1"/>
          <p:nvPr/>
        </p:nvSpPr>
        <p:spPr>
          <a:xfrm>
            <a:off x="4157837" y="6489881"/>
            <a:ext cx="16722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</a:t>
            </a:r>
            <a:r>
              <a:rPr lang="en-US" altLang="ko-KR" sz="800" dirty="0"/>
              <a:t>12</a:t>
            </a:r>
            <a:r>
              <a:rPr lang="ko-KR" altLang="en-US" sz="800" dirty="0"/>
              <a:t>장 벌칙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228</a:t>
            </a:r>
            <a:r>
              <a:rPr lang="ko-KR" altLang="en-US" sz="800" dirty="0"/>
              <a:t>조 허위표시죄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76BC7-E82E-0EC7-E647-5C2B03EC739F}"/>
              </a:ext>
            </a:extLst>
          </p:cNvPr>
          <p:cNvSpPr txBox="1"/>
          <p:nvPr/>
        </p:nvSpPr>
        <p:spPr>
          <a:xfrm>
            <a:off x="125126" y="2091796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특허요건 및 특허출원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FE4B3-93F0-6F86-DA9A-FCC01E7314EE}"/>
              </a:ext>
            </a:extLst>
          </p:cNvPr>
          <p:cNvSpPr txBox="1"/>
          <p:nvPr/>
        </p:nvSpPr>
        <p:spPr>
          <a:xfrm>
            <a:off x="125126" y="2341244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심사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3FD00-4A5C-95C1-F1F2-838E8F8CF451}"/>
              </a:ext>
            </a:extLst>
          </p:cNvPr>
          <p:cNvSpPr txBox="1"/>
          <p:nvPr/>
        </p:nvSpPr>
        <p:spPr>
          <a:xfrm>
            <a:off x="125126" y="2584061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특허료 및 특허등록 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B81150-3748-488B-B056-5751FE76C65D}"/>
              </a:ext>
            </a:extLst>
          </p:cNvPr>
          <p:cNvSpPr txBox="1"/>
          <p:nvPr/>
        </p:nvSpPr>
        <p:spPr>
          <a:xfrm>
            <a:off x="125126" y="2837492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D08A5-5FCD-E46D-9572-8142BCA338CE}"/>
              </a:ext>
            </a:extLst>
          </p:cNvPr>
          <p:cNvSpPr txBox="1"/>
          <p:nvPr/>
        </p:nvSpPr>
        <p:spPr>
          <a:xfrm>
            <a:off x="125126" y="3080309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특허권자의 보호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A877AC-E45A-7E89-FEC9-5445E80AEF7C}"/>
              </a:ext>
            </a:extLst>
          </p:cNvPr>
          <p:cNvSpPr txBox="1"/>
          <p:nvPr/>
        </p:nvSpPr>
        <p:spPr>
          <a:xfrm>
            <a:off x="125126" y="3329757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장의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특허취소신청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C2B53-B488-03D5-AFD7-B541DCBA4AD0}"/>
              </a:ext>
            </a:extLst>
          </p:cNvPr>
          <p:cNvSpPr txBox="1"/>
          <p:nvPr/>
        </p:nvSpPr>
        <p:spPr>
          <a:xfrm>
            <a:off x="125126" y="3572574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7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심판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C96FD2-D1F7-7EF6-F119-06041C77DE2C}"/>
              </a:ext>
            </a:extLst>
          </p:cNvPr>
          <p:cNvSpPr txBox="1"/>
          <p:nvPr/>
        </p:nvSpPr>
        <p:spPr>
          <a:xfrm>
            <a:off x="125126" y="3815391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8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재심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63BFFC-D216-E2B4-09C2-DB0436F95CAD}"/>
              </a:ext>
            </a:extLst>
          </p:cNvPr>
          <p:cNvSpPr txBox="1"/>
          <p:nvPr/>
        </p:nvSpPr>
        <p:spPr>
          <a:xfrm>
            <a:off x="125126" y="4058208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9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소송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23E707-396B-C0FA-690D-1CE28B272E5B}"/>
              </a:ext>
            </a:extLst>
          </p:cNvPr>
          <p:cNvSpPr txBox="1"/>
          <p:nvPr/>
        </p:nvSpPr>
        <p:spPr>
          <a:xfrm>
            <a:off x="125126" y="4307656"/>
            <a:ext cx="1446498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10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특허협력조약에 의한 국제출원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09DAD-59C3-C692-E913-23E3FAF883BD}"/>
              </a:ext>
            </a:extLst>
          </p:cNvPr>
          <p:cNvSpPr txBox="1"/>
          <p:nvPr/>
        </p:nvSpPr>
        <p:spPr>
          <a:xfrm>
            <a:off x="125126" y="4692816"/>
            <a:ext cx="144649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11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</a:t>
            </a:r>
            <a:r>
              <a:rPr lang="ko-KR" altLang="en-US" sz="8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보칙</a:t>
            </a:r>
            <a:endParaRPr lang="ko-KR" altLang="en-US" sz="8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7CBBDE-00E6-79D0-2E86-2A37FE15FC44}"/>
              </a:ext>
            </a:extLst>
          </p:cNvPr>
          <p:cNvSpPr txBox="1"/>
          <p:nvPr/>
        </p:nvSpPr>
        <p:spPr>
          <a:xfrm>
            <a:off x="125126" y="4954866"/>
            <a:ext cx="1446498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장 벌칙</a:t>
            </a:r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810CD10C-321D-CBB6-EC9B-02E42BF01770}"/>
              </a:ext>
            </a:extLst>
          </p:cNvPr>
          <p:cNvSpPr/>
          <p:nvPr/>
        </p:nvSpPr>
        <p:spPr>
          <a:xfrm>
            <a:off x="4123201" y="1819986"/>
            <a:ext cx="1267949" cy="263602"/>
          </a:xfrm>
          <a:prstGeom prst="roundRect">
            <a:avLst>
              <a:gd name="adj" fmla="val 0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2015. 8. 13. </a:t>
            </a:r>
            <a:r>
              <a:rPr lang="ko-KR" altLang="en-US" sz="1050" dirty="0"/>
              <a:t>선고</a:t>
            </a: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774C4E5D-8092-7968-3F82-D1EE6947EC4C}"/>
              </a:ext>
            </a:extLst>
          </p:cNvPr>
          <p:cNvSpPr/>
          <p:nvPr/>
        </p:nvSpPr>
        <p:spPr>
          <a:xfrm>
            <a:off x="5428367" y="1819986"/>
            <a:ext cx="1267949" cy="263602"/>
          </a:xfrm>
          <a:prstGeom prst="roundRect">
            <a:avLst>
              <a:gd name="adj" fmla="val 0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2013</a:t>
            </a:r>
            <a:r>
              <a:rPr lang="ko-KR" altLang="en-US" sz="1050" dirty="0"/>
              <a:t>도</a:t>
            </a:r>
            <a:r>
              <a:rPr lang="en-US" altLang="ko-KR" sz="1050" dirty="0"/>
              <a:t>10265 </a:t>
            </a:r>
            <a:r>
              <a:rPr lang="ko-KR" altLang="en-US" sz="1050" dirty="0"/>
              <a:t>판결</a:t>
            </a:r>
          </a:p>
        </p:txBody>
      </p:sp>
      <p:sp>
        <p:nvSpPr>
          <p:cNvPr id="4104" name="사각형: 둥근 모서리 4103">
            <a:extLst>
              <a:ext uri="{FF2B5EF4-FFF2-40B4-BE49-F238E27FC236}">
                <a16:creationId xmlns:a16="http://schemas.microsoft.com/office/drawing/2014/main" id="{6D9038AA-9B11-363D-696E-01005F0592CF}"/>
              </a:ext>
            </a:extLst>
          </p:cNvPr>
          <p:cNvSpPr/>
          <p:nvPr/>
        </p:nvSpPr>
        <p:spPr>
          <a:xfrm>
            <a:off x="6734741" y="1819986"/>
            <a:ext cx="980509" cy="263602"/>
          </a:xfrm>
          <a:prstGeom prst="roundRect">
            <a:avLst>
              <a:gd name="adj" fmla="val 0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【</a:t>
            </a:r>
            <a:r>
              <a:rPr lang="ko-KR" altLang="en-US" sz="1050" dirty="0"/>
              <a:t>특허법 위반</a:t>
            </a:r>
            <a:r>
              <a:rPr lang="en-US" altLang="ko-KR" sz="1050" dirty="0"/>
              <a:t>】</a:t>
            </a:r>
            <a:endParaRPr lang="ko-KR" altLang="en-US" sz="1050" dirty="0"/>
          </a:p>
        </p:txBody>
      </p:sp>
      <p:sp>
        <p:nvSpPr>
          <p:cNvPr id="4105" name="사각형: 둥근 모서리 4104">
            <a:extLst>
              <a:ext uri="{FF2B5EF4-FFF2-40B4-BE49-F238E27FC236}">
                <a16:creationId xmlns:a16="http://schemas.microsoft.com/office/drawing/2014/main" id="{D2A95D62-D9FA-49F6-112D-449AB4EB4F85}"/>
              </a:ext>
            </a:extLst>
          </p:cNvPr>
          <p:cNvSpPr/>
          <p:nvPr/>
        </p:nvSpPr>
        <p:spPr>
          <a:xfrm>
            <a:off x="3341912" y="2172947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판결요지</a:t>
            </a:r>
            <a:endParaRPr lang="ko-KR" altLang="en-US" sz="1050" dirty="0"/>
          </a:p>
        </p:txBody>
      </p:sp>
      <p:sp>
        <p:nvSpPr>
          <p:cNvPr id="4115" name="TextBox 4114">
            <a:extLst>
              <a:ext uri="{FF2B5EF4-FFF2-40B4-BE49-F238E27FC236}">
                <a16:creationId xmlns:a16="http://schemas.microsoft.com/office/drawing/2014/main" id="{37F52661-0709-69D1-2B05-89BC8031F69F}"/>
              </a:ext>
            </a:extLst>
          </p:cNvPr>
          <p:cNvSpPr txBox="1"/>
          <p:nvPr/>
        </p:nvSpPr>
        <p:spPr>
          <a:xfrm>
            <a:off x="4085984" y="2139217"/>
            <a:ext cx="78796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Aft>
                <a:spcPts val="200"/>
              </a:spcAft>
              <a:buNone/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1100" kern="0" spc="-20" dirty="0">
                <a:solidFill>
                  <a:srgbClr val="000000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특허표시한 물건의 기술적 구성이 청구범위에 기재된 발명의 구성과 일부 상이할 경우 이를 허위표시의 금지 위반으로 볼 수 있는지 여부에 대한 사례</a:t>
            </a:r>
            <a:endParaRPr lang="ko-KR" altLang="en-US" sz="1100" kern="0" spc="-30" dirty="0">
              <a:solidFill>
                <a:srgbClr val="000000"/>
              </a:solidFill>
              <a:effectLst/>
              <a:latin typeface="-윤명조320" panose="02030504000101010101" pitchFamily="18" charset="-127"/>
            </a:endParaRP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211382A5-8221-25E0-865F-D4AB2B9788DE}"/>
              </a:ext>
            </a:extLst>
          </p:cNvPr>
          <p:cNvSpPr/>
          <p:nvPr/>
        </p:nvSpPr>
        <p:spPr>
          <a:xfrm>
            <a:off x="3341912" y="3579455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판시이유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EE99F927-FDD5-52D4-56FB-C49F0007E914}"/>
              </a:ext>
            </a:extLst>
          </p:cNvPr>
          <p:cNvSpPr txBox="1"/>
          <p:nvPr/>
        </p:nvSpPr>
        <p:spPr>
          <a:xfrm>
            <a:off x="3397606" y="3845343"/>
            <a:ext cx="8426795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Aft>
                <a:spcPts val="200"/>
              </a:spcAft>
              <a:buNone/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ko-KR" altLang="en-US" sz="900" kern="0" spc="-30" dirty="0">
                <a:solidFill>
                  <a:srgbClr val="000000"/>
                </a:solidFill>
                <a:effectLst/>
                <a:latin typeface="+mn-ea"/>
              </a:rPr>
              <a:t>▪원심판결 이유와 원심이 적법하게 채택한 증거들에 의하면 다음과 같은 사정들을 알 수 있다</a:t>
            </a:r>
            <a:r>
              <a:rPr lang="en-US" altLang="ko-KR" sz="900" kern="0" spc="-3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  <a:p>
            <a:pPr marL="0" marR="0" indent="0" algn="just" fontAlgn="base" latinLnBrk="1">
              <a:spcAft>
                <a:spcPts val="200"/>
              </a:spcAft>
              <a:buNone/>
              <a:tabLst>
                <a:tab pos="228600" algn="l"/>
                <a:tab pos="408940" algn="l"/>
                <a:tab pos="624840" algn="l"/>
                <a:tab pos="4561840" algn="r"/>
                <a:tab pos="5036820" algn="r"/>
                <a:tab pos="228600" algn="l"/>
                <a:tab pos="408940" algn="l"/>
                <a:tab pos="624840" algn="l"/>
                <a:tab pos="4561840" algn="r"/>
                <a:tab pos="5036820" algn="r"/>
              </a:tabLst>
            </a:pPr>
            <a:r>
              <a:rPr lang="en-US" altLang="ko-KR" sz="900" kern="0" spc="-30" dirty="0">
                <a:solidFill>
                  <a:srgbClr val="000000"/>
                </a:solidFill>
                <a:effectLst/>
                <a:latin typeface="+mn-ea"/>
              </a:rPr>
              <a:t>  ⑴ </a:t>
            </a:r>
            <a:r>
              <a:rPr lang="ko-KR" altLang="en-US" sz="900" kern="0" spc="-30" dirty="0">
                <a:solidFill>
                  <a:srgbClr val="000000"/>
                </a:solidFill>
                <a:effectLst/>
                <a:latin typeface="+mn-ea"/>
              </a:rPr>
              <a:t>피고인 </a:t>
            </a:r>
            <a:r>
              <a:rPr lang="en-US" altLang="ko-KR" sz="900" kern="0" spc="-30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ko-KR" altLang="en-US" sz="900" kern="0" spc="-30" dirty="0">
                <a:solidFill>
                  <a:srgbClr val="000000"/>
                </a:solidFill>
                <a:effectLst/>
                <a:latin typeface="+mn-ea"/>
              </a:rPr>
              <a:t>은 </a:t>
            </a:r>
            <a:r>
              <a:rPr lang="en-US" altLang="ko-KR" sz="900" kern="0" spc="-30" dirty="0">
                <a:solidFill>
                  <a:srgbClr val="000000"/>
                </a:solidFill>
                <a:effectLst/>
                <a:latin typeface="+mn-ea"/>
              </a:rPr>
              <a:t>2003. 12. 16. </a:t>
            </a:r>
            <a:r>
              <a:rPr lang="ko-KR" altLang="en-US" sz="900" kern="0" spc="-30" dirty="0">
                <a:solidFill>
                  <a:srgbClr val="000000"/>
                </a:solidFill>
                <a:effectLst/>
                <a:latin typeface="+mn-ea"/>
              </a:rPr>
              <a:t>명칭을 “납골함 </a:t>
            </a:r>
            <a:r>
              <a:rPr lang="ko-KR" altLang="en-US" sz="900" kern="0" spc="-30" dirty="0" err="1">
                <a:solidFill>
                  <a:srgbClr val="000000"/>
                </a:solidFill>
                <a:effectLst/>
                <a:latin typeface="+mn-ea"/>
              </a:rPr>
              <a:t>안치대”로</a:t>
            </a:r>
            <a:r>
              <a:rPr lang="ko-KR" altLang="en-US" sz="900" kern="0" spc="-3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latin typeface="+mn-ea"/>
              </a:rPr>
              <a:t>하는 이 사건 특허발명을 발명자 피고인 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latin typeface="+mn-ea"/>
              </a:rPr>
              <a:t>1, 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latin typeface="+mn-ea"/>
              </a:rPr>
              <a:t>출원인 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피고인 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2 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회사로 출원하여 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2004. 2. 6. 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latin typeface="+mn-ea"/>
              </a:rPr>
              <a:t>특허등록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latin typeface="+mn-ea"/>
              </a:rPr>
              <a:t>특허등록번호 생략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latin typeface="+mn-ea"/>
              </a:rPr>
              <a:t>)</a:t>
            </a:r>
            <a:r>
              <a:rPr lang="ko-KR" altLang="en-US" sz="900" u="sng" kern="0" spc="-30" dirty="0">
                <a:solidFill>
                  <a:srgbClr val="000000"/>
                </a:solidFill>
                <a:effectLst/>
                <a:latin typeface="+mn-ea"/>
              </a:rPr>
              <a:t>을 받았다</a:t>
            </a:r>
            <a:r>
              <a:rPr lang="en-US" altLang="ko-KR" sz="900" u="sng" kern="0" spc="-30" dirty="0">
                <a:solidFill>
                  <a:srgbClr val="000000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4127" name="사각형: 둥근 모서리 4126">
            <a:extLst>
              <a:ext uri="{FF2B5EF4-FFF2-40B4-BE49-F238E27FC236}">
                <a16:creationId xmlns:a16="http://schemas.microsoft.com/office/drawing/2014/main" id="{F8E41D18-0091-1548-68EC-A59E3C3AC643}"/>
              </a:ext>
            </a:extLst>
          </p:cNvPr>
          <p:cNvSpPr/>
          <p:nvPr/>
        </p:nvSpPr>
        <p:spPr>
          <a:xfrm>
            <a:off x="7805065" y="182863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판결전문</a:t>
            </a:r>
          </a:p>
        </p:txBody>
      </p:sp>
      <p:sp>
        <p:nvSpPr>
          <p:cNvPr id="4128" name="말풍선: 모서리가 둥근 사각형 4127">
            <a:extLst>
              <a:ext uri="{FF2B5EF4-FFF2-40B4-BE49-F238E27FC236}">
                <a16:creationId xmlns:a16="http://schemas.microsoft.com/office/drawing/2014/main" id="{44C05903-77AA-4262-179D-6EEAA80DB209}"/>
              </a:ext>
            </a:extLst>
          </p:cNvPr>
          <p:cNvSpPr/>
          <p:nvPr/>
        </p:nvSpPr>
        <p:spPr>
          <a:xfrm>
            <a:off x="8330036" y="1311726"/>
            <a:ext cx="1177768" cy="426290"/>
          </a:xfrm>
          <a:prstGeom prst="wedgeRoundRectCallout">
            <a:avLst>
              <a:gd name="adj1" fmla="val -38204"/>
              <a:gd name="adj2" fmla="val 8243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클릭하여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PDF</a:t>
            </a:r>
          </a:p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파일 확인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9AFFE6A-E892-24F7-6F82-495552004A5A}"/>
              </a:ext>
            </a:extLst>
          </p:cNvPr>
          <p:cNvSpPr/>
          <p:nvPr/>
        </p:nvSpPr>
        <p:spPr>
          <a:xfrm>
            <a:off x="3341912" y="4213331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코멘트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0864D4-5481-80ED-8A43-3EDD1D96FF61}"/>
              </a:ext>
            </a:extLst>
          </p:cNvPr>
          <p:cNvSpPr/>
          <p:nvPr/>
        </p:nvSpPr>
        <p:spPr>
          <a:xfrm>
            <a:off x="3341912" y="4515231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관련문제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8A828AF-BEA9-A924-8CEE-EFD227FDBC8B}"/>
              </a:ext>
            </a:extLst>
          </p:cNvPr>
          <p:cNvSpPr/>
          <p:nvPr/>
        </p:nvSpPr>
        <p:spPr>
          <a:xfrm>
            <a:off x="3341912" y="5108075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관련자료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B1907A-F2AE-3584-5E0D-C3094A153F78}"/>
              </a:ext>
            </a:extLst>
          </p:cNvPr>
          <p:cNvSpPr/>
          <p:nvPr/>
        </p:nvSpPr>
        <p:spPr>
          <a:xfrm>
            <a:off x="4174626" y="5111378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BE68A7-F051-7C7E-DF4B-84BBCC778301}"/>
              </a:ext>
            </a:extLst>
          </p:cNvPr>
          <p:cNvSpPr/>
          <p:nvPr/>
        </p:nvSpPr>
        <p:spPr>
          <a:xfrm>
            <a:off x="4174626" y="528472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4BC8E5-28AB-6255-68A5-5DC344318E61}"/>
              </a:ext>
            </a:extLst>
          </p:cNvPr>
          <p:cNvSpPr/>
          <p:nvPr/>
        </p:nvSpPr>
        <p:spPr>
          <a:xfrm>
            <a:off x="6454146" y="5096812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관련논문</a:t>
            </a:r>
          </a:p>
        </p:txBody>
      </p:sp>
      <p:sp>
        <p:nvSpPr>
          <p:cNvPr id="32" name="말풍선: 모서리가 둥근 사각형 31">
            <a:extLst>
              <a:ext uri="{FF2B5EF4-FFF2-40B4-BE49-F238E27FC236}">
                <a16:creationId xmlns:a16="http://schemas.microsoft.com/office/drawing/2014/main" id="{F4ADDE56-21C9-D998-8870-1A1049366FE0}"/>
              </a:ext>
            </a:extLst>
          </p:cNvPr>
          <p:cNvSpPr/>
          <p:nvPr/>
        </p:nvSpPr>
        <p:spPr>
          <a:xfrm>
            <a:off x="9938965" y="3701437"/>
            <a:ext cx="1177768" cy="262041"/>
          </a:xfrm>
          <a:prstGeom prst="wedgeRoundRectCallout">
            <a:avLst>
              <a:gd name="adj1" fmla="val -86547"/>
              <a:gd name="adj2" fmla="val 6943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</a:p>
        </p:txBody>
      </p:sp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44EAC0CD-9F67-D12A-F8E6-8892F1861D48}"/>
              </a:ext>
            </a:extLst>
          </p:cNvPr>
          <p:cNvSpPr/>
          <p:nvPr/>
        </p:nvSpPr>
        <p:spPr>
          <a:xfrm>
            <a:off x="8106019" y="3389659"/>
            <a:ext cx="1177768" cy="262041"/>
          </a:xfrm>
          <a:prstGeom prst="wedgeRoundRectCallout">
            <a:avLst>
              <a:gd name="adj1" fmla="val -11953"/>
              <a:gd name="adj2" fmla="val -17688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</a:p>
        </p:txBody>
      </p:sp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65F1E03A-8E71-63C2-ACF5-F8452ED17351}"/>
              </a:ext>
            </a:extLst>
          </p:cNvPr>
          <p:cNvSpPr/>
          <p:nvPr/>
        </p:nvSpPr>
        <p:spPr>
          <a:xfrm>
            <a:off x="2000859" y="3999276"/>
            <a:ext cx="1177768" cy="262041"/>
          </a:xfrm>
          <a:prstGeom prst="wedgeRoundRectCallout">
            <a:avLst>
              <a:gd name="adj1" fmla="val 61880"/>
              <a:gd name="adj2" fmla="val 86536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</a:p>
        </p:txBody>
      </p:sp>
      <p:sp>
        <p:nvSpPr>
          <p:cNvPr id="53" name="말풍선: 모서리가 둥근 사각형 52">
            <a:extLst>
              <a:ext uri="{FF2B5EF4-FFF2-40B4-BE49-F238E27FC236}">
                <a16:creationId xmlns:a16="http://schemas.microsoft.com/office/drawing/2014/main" id="{3C087329-023B-2376-2366-AD93ED420207}"/>
              </a:ext>
            </a:extLst>
          </p:cNvPr>
          <p:cNvSpPr/>
          <p:nvPr/>
        </p:nvSpPr>
        <p:spPr>
          <a:xfrm>
            <a:off x="5311611" y="5132700"/>
            <a:ext cx="1042151" cy="246221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클릭하여 연결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9C966AF-7A38-4FB6-11BE-8519689E0A96}"/>
              </a:ext>
            </a:extLst>
          </p:cNvPr>
          <p:cNvSpPr/>
          <p:nvPr/>
        </p:nvSpPr>
        <p:spPr>
          <a:xfrm>
            <a:off x="6454146" y="526590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관련기사</a:t>
            </a: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B91569EE-60E3-3CA0-C0A9-988058A400C1}"/>
              </a:ext>
            </a:extLst>
          </p:cNvPr>
          <p:cNvCxnSpPr>
            <a:stCxn id="31" idx="3"/>
            <a:endCxn id="51" idx="1"/>
          </p:cNvCxnSpPr>
          <p:nvPr/>
        </p:nvCxnSpPr>
        <p:spPr>
          <a:xfrm flipV="1">
            <a:off x="1571624" y="2773057"/>
            <a:ext cx="618685" cy="2289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F9D0BF4-C126-14D4-F632-E7855896056B}"/>
              </a:ext>
            </a:extLst>
          </p:cNvPr>
          <p:cNvSpPr/>
          <p:nvPr/>
        </p:nvSpPr>
        <p:spPr>
          <a:xfrm>
            <a:off x="3341912" y="5453167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즐겨찾기</a:t>
            </a: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4AB12E25-0F0E-0C7D-68FD-9089728763D4}"/>
              </a:ext>
            </a:extLst>
          </p:cNvPr>
          <p:cNvSpPr/>
          <p:nvPr/>
        </p:nvSpPr>
        <p:spPr>
          <a:xfrm>
            <a:off x="3341912" y="5863639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질의응답</a:t>
            </a:r>
          </a:p>
        </p:txBody>
      </p:sp>
      <p:sp>
        <p:nvSpPr>
          <p:cNvPr id="4097" name="말풍선: 모서리가 둥근 사각형 4096">
            <a:extLst>
              <a:ext uri="{FF2B5EF4-FFF2-40B4-BE49-F238E27FC236}">
                <a16:creationId xmlns:a16="http://schemas.microsoft.com/office/drawing/2014/main" id="{E14708DC-CEF0-3F2F-B217-72382B696258}"/>
              </a:ext>
            </a:extLst>
          </p:cNvPr>
          <p:cNvSpPr/>
          <p:nvPr/>
        </p:nvSpPr>
        <p:spPr>
          <a:xfrm>
            <a:off x="5488196" y="5743199"/>
            <a:ext cx="787528" cy="262041"/>
          </a:xfrm>
          <a:prstGeom prst="wedgeRoundRectCallout">
            <a:avLst>
              <a:gd name="adj1" fmla="val -124051"/>
              <a:gd name="adj2" fmla="val -9824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099" name="TextBox 4098">
            <a:extLst>
              <a:ext uri="{FF2B5EF4-FFF2-40B4-BE49-F238E27FC236}">
                <a16:creationId xmlns:a16="http://schemas.microsoft.com/office/drawing/2014/main" id="{44869A40-B062-E9D4-1183-8791E1E46C52}"/>
              </a:ext>
            </a:extLst>
          </p:cNvPr>
          <p:cNvSpPr txBox="1"/>
          <p:nvPr/>
        </p:nvSpPr>
        <p:spPr>
          <a:xfrm>
            <a:off x="4136551" y="5470801"/>
            <a:ext cx="7564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♡♡♡♡♡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EEFB7C-3D48-8FDE-EA8C-BEA3E1B5EBC4}"/>
              </a:ext>
            </a:extLst>
          </p:cNvPr>
          <p:cNvSpPr txBox="1"/>
          <p:nvPr/>
        </p:nvSpPr>
        <p:spPr>
          <a:xfrm>
            <a:off x="4552267" y="4438402"/>
            <a:ext cx="2121210" cy="21455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 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4F240F-179F-2CB0-0E81-8E9C11014382}"/>
              </a:ext>
            </a:extLst>
          </p:cNvPr>
          <p:cNvSpPr txBox="1"/>
          <p:nvPr/>
        </p:nvSpPr>
        <p:spPr>
          <a:xfrm>
            <a:off x="4552267" y="4643219"/>
            <a:ext cx="2121210" cy="2145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예상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식별번호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A03F7F-65C9-EC76-A91B-1202677D115D}"/>
              </a:ext>
            </a:extLst>
          </p:cNvPr>
          <p:cNvSpPr txBox="1"/>
          <p:nvPr/>
        </p:nvSpPr>
        <p:spPr>
          <a:xfrm>
            <a:off x="4552267" y="4225840"/>
            <a:ext cx="2121210" cy="2145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년도 </a:t>
            </a:r>
            <a:r>
              <a:rPr lang="en-US" altLang="ko-KR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</p:spTree>
    <p:extLst>
      <p:ext uri="{BB962C8B-B14F-4D97-AF65-F5344CB8AC3E}">
        <p14:creationId xmlns:p14="http://schemas.microsoft.com/office/powerpoint/2010/main" val="2154590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FAD6-9BE8-187A-495B-F7F4C917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E7615E4-CEB7-E838-FEA5-B30A339E8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1</a:t>
            </a:r>
            <a:r>
              <a:rPr lang="ko-KR" altLang="en-US" dirty="0"/>
              <a:t>차</a:t>
            </a:r>
            <a:r>
              <a:rPr lang="en-US" altLang="ko-KR" dirty="0"/>
              <a:t>/2</a:t>
            </a:r>
            <a:r>
              <a:rPr lang="ko-KR" altLang="en-US" dirty="0"/>
              <a:t>차 판례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650B75-EF56-2105-0055-CFF0A0CD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952CBD-C8B8-5895-24B6-678250E16EF1}"/>
              </a:ext>
            </a:extLst>
          </p:cNvPr>
          <p:cNvSpPr txBox="1"/>
          <p:nvPr/>
        </p:nvSpPr>
        <p:spPr>
          <a:xfrm>
            <a:off x="272145" y="1162748"/>
            <a:ext cx="3919662" cy="101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순서에 따라 판례를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법원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선고일자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번호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전원합의체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일반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사건명으로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구분된 항목에 대한 검색기능을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36525" indent="-13652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판결전문에 대한 링크를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클릭한 경우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PDF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파일이 열리도록 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E7BC13-DAD9-E47E-A4D6-F60E56A18A00}"/>
              </a:ext>
            </a:extLst>
          </p:cNvPr>
          <p:cNvSpPr/>
          <p:nvPr/>
        </p:nvSpPr>
        <p:spPr>
          <a:xfrm>
            <a:off x="272145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판례번호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85B29EF-CC65-49C1-D5F5-721C838E95C1}"/>
              </a:ext>
            </a:extLst>
          </p:cNvPr>
          <p:cNvSpPr/>
          <p:nvPr/>
        </p:nvSpPr>
        <p:spPr>
          <a:xfrm>
            <a:off x="8219242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17F7D-FD8E-9B9A-D004-EBD32CAE3E20}"/>
              </a:ext>
            </a:extLst>
          </p:cNvPr>
          <p:cNvSpPr txBox="1"/>
          <p:nvPr/>
        </p:nvSpPr>
        <p:spPr>
          <a:xfrm>
            <a:off x="8159665" y="1162748"/>
            <a:ext cx="3919662" cy="10946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판례와 관련된 강의노트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클릭하여 강의를 들을 수 있도록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2. 2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 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예상문제에 대한 강의노트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클릭하여 강의를 들을 수 있도록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관련논문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관련기사를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클릭한 경우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PDF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파일이 열리도록 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F497B4-D080-40AC-4538-5C2173896877}"/>
              </a:ext>
            </a:extLst>
          </p:cNvPr>
          <p:cNvSpPr/>
          <p:nvPr/>
        </p:nvSpPr>
        <p:spPr>
          <a:xfrm>
            <a:off x="8219242" y="242763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즐겨찾기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2B446-5C81-F9A6-A889-593D0BCDF8F4}"/>
              </a:ext>
            </a:extLst>
          </p:cNvPr>
          <p:cNvSpPr txBox="1"/>
          <p:nvPr/>
        </p:nvSpPr>
        <p:spPr>
          <a:xfrm>
            <a:off x="8159665" y="2797172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클릭하여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할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클릭할 때마다 메모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A82C6A-168D-BBC9-654C-E077C9DAB4DF}"/>
              </a:ext>
            </a:extLst>
          </p:cNvPr>
          <p:cNvSpPr/>
          <p:nvPr/>
        </p:nvSpPr>
        <p:spPr>
          <a:xfrm>
            <a:off x="8219242" y="3440004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질의응답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38C1D-580C-3AF3-C927-F8E60F356708}"/>
              </a:ext>
            </a:extLst>
          </p:cNvPr>
          <p:cNvSpPr txBox="1"/>
          <p:nvPr/>
        </p:nvSpPr>
        <p:spPr>
          <a:xfrm>
            <a:off x="8159665" y="3809543"/>
            <a:ext cx="3919662" cy="256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기존의 질문과 답변을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검색기능을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새로운 질문을 작성하는 경우 그 질문을 답변자에게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답변자가 링크를 클릭하면서 답변을 하는 경우 그 답변을 질문자에게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답변자는 답변을 할 때 질문의 수준을 평가한다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5007FE6-6039-3233-0AB5-3343AA4C9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959183"/>
              </p:ext>
            </p:extLst>
          </p:nvPr>
        </p:nvGraphicFramePr>
        <p:xfrm>
          <a:off x="8294683" y="4995817"/>
          <a:ext cx="3227978" cy="914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30551">
                  <a:extLst>
                    <a:ext uri="{9D8B030D-6E8A-4147-A177-3AD203B41FA5}">
                      <a16:colId xmlns:a16="http://schemas.microsoft.com/office/drawing/2014/main" val="912422853"/>
                    </a:ext>
                  </a:extLst>
                </a:gridCol>
                <a:gridCol w="497427">
                  <a:extLst>
                    <a:ext uri="{9D8B030D-6E8A-4147-A177-3AD203B41FA5}">
                      <a16:colId xmlns:a16="http://schemas.microsoft.com/office/drawing/2014/main" val="990125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평가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5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지식이 있고</a:t>
                      </a:r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요구사항에 대한 정확한 파악을 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지식은 있으나 요구사항을 파악하지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이론에 대한 지식이 부족함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373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06D218-336A-7474-18C9-84590203258E}"/>
              </a:ext>
            </a:extLst>
          </p:cNvPr>
          <p:cNvSpPr txBox="1"/>
          <p:nvPr/>
        </p:nvSpPr>
        <p:spPr>
          <a:xfrm>
            <a:off x="272145" y="2713623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제목과 내용으로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제목과 내용 모두에 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94933D-8FEB-D7D8-CB96-27359F3CDBF9}"/>
              </a:ext>
            </a:extLst>
          </p:cNvPr>
          <p:cNvSpPr/>
          <p:nvPr/>
        </p:nvSpPr>
        <p:spPr>
          <a:xfrm>
            <a:off x="272145" y="2344083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판결요지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F7B92-7B71-A575-DCFA-FD0173DFA696}"/>
              </a:ext>
            </a:extLst>
          </p:cNvPr>
          <p:cNvSpPr txBox="1"/>
          <p:nvPr/>
        </p:nvSpPr>
        <p:spPr>
          <a:xfrm>
            <a:off x="272145" y="3740007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필요한 경우에만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736CB2B-D6B8-9772-1CAD-9FC7A64BEDCE}"/>
              </a:ext>
            </a:extLst>
          </p:cNvPr>
          <p:cNvSpPr/>
          <p:nvPr/>
        </p:nvSpPr>
        <p:spPr>
          <a:xfrm>
            <a:off x="272145" y="3370467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판시이유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CC7DE-E4B4-9A95-6479-332876D10377}"/>
              </a:ext>
            </a:extLst>
          </p:cNvPr>
          <p:cNvSpPr txBox="1"/>
          <p:nvPr/>
        </p:nvSpPr>
        <p:spPr>
          <a:xfrm>
            <a:off x="272145" y="4756622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출처표시와 내용을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28BEB56-5BC9-F8BA-010F-917CACCE3F69}"/>
              </a:ext>
            </a:extLst>
          </p:cNvPr>
          <p:cNvSpPr/>
          <p:nvPr/>
        </p:nvSpPr>
        <p:spPr>
          <a:xfrm>
            <a:off x="272145" y="438708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코멘트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DA2F40-5A0E-A83E-37D9-3F7EE482A0CC}"/>
              </a:ext>
            </a:extLst>
          </p:cNvPr>
          <p:cNvSpPr txBox="1"/>
          <p:nvPr/>
        </p:nvSpPr>
        <p:spPr>
          <a:xfrm>
            <a:off x="4210467" y="1165354"/>
            <a:ext cx="3919662" cy="1372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 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걸어 그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클릭한 경우 기출문제로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2. 2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 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클릭한 경우 기출문제로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3. 2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기출 예상문제를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예상문제 링크를 클릭한 경우 기출예상문제로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242888" indent="-2428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E5A6C31-0C5F-1633-AB0C-40CC400FCE07}"/>
              </a:ext>
            </a:extLst>
          </p:cNvPr>
          <p:cNvSpPr/>
          <p:nvPr/>
        </p:nvSpPr>
        <p:spPr>
          <a:xfrm>
            <a:off x="4210467" y="795814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관련문제</a:t>
            </a:r>
          </a:p>
        </p:txBody>
      </p:sp>
    </p:spTree>
    <p:extLst>
      <p:ext uri="{BB962C8B-B14F-4D97-AF65-F5344CB8AC3E}">
        <p14:creationId xmlns:p14="http://schemas.microsoft.com/office/powerpoint/2010/main" val="156647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D57-6202-BB7C-F836-0EE062D7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ED9B70-5DEC-ED57-6148-B49529FB5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</a:t>
            </a:r>
            <a:r>
              <a:rPr lang="en-US" altLang="ko-KR" dirty="0"/>
              <a:t>2</a:t>
            </a:r>
            <a:r>
              <a:rPr lang="ko-KR" altLang="en-US" dirty="0"/>
              <a:t>차 공부의 문제점과 방향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4159DB-FA9D-A32E-75F2-3C8BCC97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B9A523F-A256-BFA3-23ED-E288E906281D}"/>
              </a:ext>
            </a:extLst>
          </p:cNvPr>
          <p:cNvSpPr/>
          <p:nvPr/>
        </p:nvSpPr>
        <p:spPr>
          <a:xfrm>
            <a:off x="1285758" y="4582592"/>
            <a:ext cx="1256145" cy="960580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최신정보</a:t>
            </a:r>
            <a:endParaRPr lang="en-US" altLang="ko-KR" dirty="0"/>
          </a:p>
          <a:p>
            <a:pPr algn="ctr"/>
            <a:r>
              <a:rPr lang="ko-KR" altLang="en-US" dirty="0"/>
              <a:t>습득한계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62712-658F-5AF2-B741-8CF115FBD30B}"/>
              </a:ext>
            </a:extLst>
          </p:cNvPr>
          <p:cNvSpPr txBox="1"/>
          <p:nvPr/>
        </p:nvSpPr>
        <p:spPr>
          <a:xfrm>
            <a:off x="2749721" y="4878216"/>
            <a:ext cx="5869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중요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판례·논문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 최근 쟁점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혼자서 습득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정리하기 어려움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B384A62-CBFA-9645-4AF7-12ECF242134B}"/>
              </a:ext>
            </a:extLst>
          </p:cNvPr>
          <p:cNvSpPr/>
          <p:nvPr/>
        </p:nvSpPr>
        <p:spPr>
          <a:xfrm>
            <a:off x="1285758" y="3425502"/>
            <a:ext cx="1256145" cy="96058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정합성</a:t>
            </a:r>
            <a:endParaRPr lang="en-US" altLang="ko-KR" dirty="0"/>
          </a:p>
          <a:p>
            <a:pPr algn="ctr"/>
            <a:r>
              <a:rPr lang="ko-KR" altLang="en-US" dirty="0"/>
              <a:t>부족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4FF40-1942-9E50-1075-1629F5D9A1DD}"/>
              </a:ext>
            </a:extLst>
          </p:cNvPr>
          <p:cNvSpPr txBox="1"/>
          <p:nvPr/>
        </p:nvSpPr>
        <p:spPr>
          <a:xfrm>
            <a:off x="2749722" y="3604581"/>
            <a:ext cx="5139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강사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교재의 단절로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차와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 공부의 </a:t>
            </a:r>
            <a:r>
              <a:rPr lang="ko-KR" altLang="en-US" dirty="0">
                <a:latin typeface="Arial" panose="020B0604020202020204" pitchFamily="34" charset="0"/>
              </a:rPr>
              <a:t>연계가 부족함</a:t>
            </a:r>
            <a:endParaRPr lang="en-US" altLang="ko-KR" dirty="0">
              <a:latin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</a:rPr>
              <a:t>구조적인 한계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393A457-0A41-BF92-151E-0DFBB606E92D}"/>
              </a:ext>
            </a:extLst>
          </p:cNvPr>
          <p:cNvSpPr/>
          <p:nvPr/>
        </p:nvSpPr>
        <p:spPr>
          <a:xfrm>
            <a:off x="1285758" y="2268412"/>
            <a:ext cx="1256145" cy="9605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답안작성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능력요구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7D951-3C74-A878-00F1-301CE6EA5FCF}"/>
              </a:ext>
            </a:extLst>
          </p:cNvPr>
          <p:cNvSpPr txBox="1"/>
          <p:nvPr/>
        </p:nvSpPr>
        <p:spPr>
          <a:xfrm>
            <a:off x="2749721" y="2564036"/>
            <a:ext cx="7703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latin typeface="Arial" panose="020B0604020202020204" pitchFamily="34" charset="0"/>
              </a:rPr>
              <a:t>단순 암기에서 벗어나 논점 </a:t>
            </a:r>
            <a:r>
              <a:rPr lang="ko-KR" altLang="ko-KR" dirty="0" err="1">
                <a:latin typeface="Arial" panose="020B0604020202020204" pitchFamily="34" charset="0"/>
              </a:rPr>
              <a:t>추출·구성</a:t>
            </a:r>
            <a:r>
              <a:rPr lang="ko-KR" altLang="ko-KR" dirty="0">
                <a:latin typeface="Arial" panose="020B0604020202020204" pitchFamily="34" charset="0"/>
              </a:rPr>
              <a:t> 및 제한된 시간 내 답안 작성 훈련이 필요</a:t>
            </a:r>
            <a:r>
              <a:rPr lang="ko-KR" altLang="en-US" dirty="0">
                <a:latin typeface="Arial" panose="020B0604020202020204" pitchFamily="34" charset="0"/>
              </a:rPr>
              <a:t>함</a:t>
            </a:r>
            <a:endParaRPr lang="ko-KR" altLang="ko-KR" dirty="0">
              <a:latin typeface="Arial" panose="020B06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167AC82-1753-D134-557D-2406363AC63E}"/>
              </a:ext>
            </a:extLst>
          </p:cNvPr>
          <p:cNvSpPr/>
          <p:nvPr/>
        </p:nvSpPr>
        <p:spPr>
          <a:xfrm>
            <a:off x="1285758" y="1103617"/>
            <a:ext cx="1256145" cy="9605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정답부재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3F0B6-CB06-B6B9-9EFF-D42A52D48187}"/>
              </a:ext>
            </a:extLst>
          </p:cNvPr>
          <p:cNvSpPr txBox="1"/>
          <p:nvPr/>
        </p:nvSpPr>
        <p:spPr>
          <a:xfrm>
            <a:off x="2749721" y="1399241"/>
            <a:ext cx="7263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 err="1">
                <a:latin typeface="Arial" panose="020B0604020202020204" pitchFamily="34" charset="0"/>
              </a:rPr>
              <a:t>1차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시험과</a:t>
            </a:r>
            <a:r>
              <a:rPr lang="ko-KR" altLang="ko-KR" dirty="0">
                <a:latin typeface="Arial" panose="020B0604020202020204" pitchFamily="34" charset="0"/>
              </a:rPr>
              <a:t> 달리 명확한 정답이 없어, 모범답안이 곧 고득점을 보장하지 </a:t>
            </a:r>
            <a:r>
              <a:rPr lang="ko-KR" altLang="en-US" dirty="0">
                <a:latin typeface="Arial" panose="020B0604020202020204" pitchFamily="34" charset="0"/>
              </a:rPr>
              <a:t>않음</a:t>
            </a:r>
            <a:endParaRPr lang="ko-KR" altLang="ko-KR" dirty="0">
              <a:latin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3FEE73-4696-D2E8-BD47-EF2AA256C026}"/>
              </a:ext>
            </a:extLst>
          </p:cNvPr>
          <p:cNvSpPr/>
          <p:nvPr/>
        </p:nvSpPr>
        <p:spPr>
          <a:xfrm>
            <a:off x="8579223" y="842677"/>
            <a:ext cx="2895601" cy="484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다양한 </a:t>
            </a:r>
            <a:r>
              <a:rPr lang="ko-KR" altLang="en-US">
                <a:solidFill>
                  <a:srgbClr val="FF0000"/>
                </a:solidFill>
              </a:rPr>
              <a:t>관점의 모범답안 제시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9C6122-A968-8067-B67D-073F44CE84A6}"/>
              </a:ext>
            </a:extLst>
          </p:cNvPr>
          <p:cNvSpPr/>
          <p:nvPr/>
        </p:nvSpPr>
        <p:spPr>
          <a:xfrm>
            <a:off x="7772399" y="2057523"/>
            <a:ext cx="3720352" cy="484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답안 작성 방안의 체계적 교육 실시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80FC8E-ABBA-7CCC-2F9D-CBF333CC42F5}"/>
              </a:ext>
            </a:extLst>
          </p:cNvPr>
          <p:cNvSpPr/>
          <p:nvPr/>
        </p:nvSpPr>
        <p:spPr>
          <a:xfrm>
            <a:off x="8072581" y="3470998"/>
            <a:ext cx="3420169" cy="484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교재의 공유와 강사간의 소통 강화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E00CCD-9B32-C867-B5A4-F29BD9B4C4C3}"/>
              </a:ext>
            </a:extLst>
          </p:cNvPr>
          <p:cNvSpPr/>
          <p:nvPr/>
        </p:nvSpPr>
        <p:spPr>
          <a:xfrm>
            <a:off x="8601504" y="4595966"/>
            <a:ext cx="3119717" cy="484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최신정보 체계적 정리 및 구독 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7C061DD-908F-F057-8BDD-F781105B00AA}"/>
              </a:ext>
            </a:extLst>
          </p:cNvPr>
          <p:cNvSpPr/>
          <p:nvPr/>
        </p:nvSpPr>
        <p:spPr>
          <a:xfrm>
            <a:off x="694087" y="1310831"/>
            <a:ext cx="591671" cy="591671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F81DE7E-B05C-D71E-02DC-5AD58668C984}"/>
              </a:ext>
            </a:extLst>
          </p:cNvPr>
          <p:cNvSpPr/>
          <p:nvPr/>
        </p:nvSpPr>
        <p:spPr>
          <a:xfrm>
            <a:off x="694087" y="2473266"/>
            <a:ext cx="591671" cy="591671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5CB8BD3-0D3B-7FE8-B09A-AA2878F2C4BE}"/>
              </a:ext>
            </a:extLst>
          </p:cNvPr>
          <p:cNvSpPr/>
          <p:nvPr/>
        </p:nvSpPr>
        <p:spPr>
          <a:xfrm>
            <a:off x="694087" y="3631910"/>
            <a:ext cx="591671" cy="591671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40E284E-EBD2-A4F6-95C8-48CA0A9B941D}"/>
              </a:ext>
            </a:extLst>
          </p:cNvPr>
          <p:cNvSpPr/>
          <p:nvPr/>
        </p:nvSpPr>
        <p:spPr>
          <a:xfrm>
            <a:off x="694087" y="4767046"/>
            <a:ext cx="591671" cy="591671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BA38F7-61FB-7541-D830-9DCDB65D6F68}"/>
              </a:ext>
            </a:extLst>
          </p:cNvPr>
          <p:cNvSpPr/>
          <p:nvPr/>
        </p:nvSpPr>
        <p:spPr>
          <a:xfrm>
            <a:off x="1285758" y="5707128"/>
            <a:ext cx="1256145" cy="96058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방향성</a:t>
            </a:r>
            <a:endParaRPr lang="en-US" altLang="ko-KR" dirty="0"/>
          </a:p>
          <a:p>
            <a:pPr algn="ctr"/>
            <a:r>
              <a:rPr lang="ko-KR" altLang="en-US" dirty="0"/>
              <a:t>부재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C4B15-9DFA-3AAA-AD1C-D0DC95EDB223}"/>
              </a:ext>
            </a:extLst>
          </p:cNvPr>
          <p:cNvSpPr txBox="1"/>
          <p:nvPr/>
        </p:nvSpPr>
        <p:spPr>
          <a:xfrm>
            <a:off x="2749721" y="5850351"/>
            <a:ext cx="77927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부족한 부분을 보완하는 방향성이 있어야 하는데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비효율적 공부로 시간 낭비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</a:rPr>
              <a:t>방대한 교재의 정리</a:t>
            </a:r>
            <a:r>
              <a:rPr lang="en-US" altLang="ko-KR" dirty="0">
                <a:latin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</a:rPr>
              <a:t>방향이 맞지 않는 </a:t>
            </a:r>
            <a:r>
              <a:rPr lang="en-US" altLang="ko-KR" dirty="0">
                <a:latin typeface="Arial" panose="020B0604020202020204" pitchFamily="34" charset="0"/>
              </a:rPr>
              <a:t>GS </a:t>
            </a:r>
            <a:r>
              <a:rPr lang="ko-KR" altLang="en-US" dirty="0">
                <a:latin typeface="Arial" panose="020B0604020202020204" pitchFamily="34" charset="0"/>
              </a:rPr>
              <a:t>강의로 시간 낭비</a:t>
            </a:r>
            <a:r>
              <a:rPr lang="en-US" altLang="ko-KR" dirty="0">
                <a:latin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</a:rPr>
              <a:t>패배의식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604858F-49A5-8E84-3BE3-50A802A77ED1}"/>
              </a:ext>
            </a:extLst>
          </p:cNvPr>
          <p:cNvSpPr/>
          <p:nvPr/>
        </p:nvSpPr>
        <p:spPr>
          <a:xfrm>
            <a:off x="694087" y="5891582"/>
            <a:ext cx="591671" cy="591671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027C65-46B3-773A-34E2-CF1B98C850A1}"/>
              </a:ext>
            </a:extLst>
          </p:cNvPr>
          <p:cNvSpPr/>
          <p:nvPr/>
        </p:nvSpPr>
        <p:spPr>
          <a:xfrm>
            <a:off x="7987553" y="5351352"/>
            <a:ext cx="3948821" cy="484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진단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분석을 통한 맞춤형 커리큘럼 제시</a:t>
            </a:r>
          </a:p>
        </p:txBody>
      </p:sp>
    </p:spTree>
    <p:extLst>
      <p:ext uri="{BB962C8B-B14F-4D97-AF65-F5344CB8AC3E}">
        <p14:creationId xmlns:p14="http://schemas.microsoft.com/office/powerpoint/2010/main" val="189585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E1CA-B6A3-4C9F-F42A-1EFC57B4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29FDD0B-3643-9D56-59D2-9C057CB71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</a:t>
            </a:r>
            <a:r>
              <a:rPr lang="en-US" altLang="ko-KR" dirty="0"/>
              <a:t>2</a:t>
            </a:r>
            <a:r>
              <a:rPr lang="ko-KR" altLang="en-US" dirty="0"/>
              <a:t>차 커리큘럼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FE1E00-6B47-8110-5AD9-21C63714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DBDBE5A-615F-08B0-CA2D-63C0B91F6275}"/>
              </a:ext>
            </a:extLst>
          </p:cNvPr>
          <p:cNvSpPr/>
          <p:nvPr/>
        </p:nvSpPr>
        <p:spPr>
          <a:xfrm>
            <a:off x="28575" y="1299882"/>
            <a:ext cx="12096749" cy="54686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8C49497-2EB5-AA38-DCAA-4AA81B79ECEE}"/>
              </a:ext>
            </a:extLst>
          </p:cNvPr>
          <p:cNvSpPr/>
          <p:nvPr/>
        </p:nvSpPr>
        <p:spPr>
          <a:xfrm>
            <a:off x="28575" y="3755644"/>
            <a:ext cx="12096749" cy="1927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0231133B-1080-CE53-D8F6-07314CA1A7B0}"/>
              </a:ext>
            </a:extLst>
          </p:cNvPr>
          <p:cNvSpPr/>
          <p:nvPr/>
        </p:nvSpPr>
        <p:spPr>
          <a:xfrm>
            <a:off x="4962160" y="2538016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기출문제풀이</a:t>
            </a:r>
          </a:p>
        </p:txBody>
      </p:sp>
      <p:sp>
        <p:nvSpPr>
          <p:cNvPr id="4142" name="사각형: 둥근 모서리 4141">
            <a:extLst>
              <a:ext uri="{FF2B5EF4-FFF2-40B4-BE49-F238E27FC236}">
                <a16:creationId xmlns:a16="http://schemas.microsoft.com/office/drawing/2014/main" id="{DE5EFD5F-C837-4913-B8F2-1CD516BB71AD}"/>
              </a:ext>
            </a:extLst>
          </p:cNvPr>
          <p:cNvSpPr/>
          <p:nvPr/>
        </p:nvSpPr>
        <p:spPr>
          <a:xfrm>
            <a:off x="2532724" y="2541162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판례강의</a:t>
            </a:r>
            <a:r>
              <a:rPr lang="en-US" altLang="ko-KR" sz="1200" dirty="0">
                <a:solidFill>
                  <a:srgbClr val="FFFF00"/>
                </a:solidFill>
              </a:rPr>
              <a:t>(</a:t>
            </a:r>
            <a:r>
              <a:rPr lang="ko-KR" altLang="en-US" sz="1200" dirty="0">
                <a:solidFill>
                  <a:srgbClr val="FFFF00"/>
                </a:solidFill>
              </a:rPr>
              <a:t>심화</a:t>
            </a:r>
            <a:r>
              <a:rPr lang="en-US" altLang="ko-KR" sz="1200" dirty="0">
                <a:solidFill>
                  <a:srgbClr val="FFFF00"/>
                </a:solidFill>
              </a:rPr>
              <a:t>)</a:t>
            </a:r>
            <a:endParaRPr lang="ko-KR" altLang="en-US" sz="1200" dirty="0">
              <a:solidFill>
                <a:srgbClr val="FFFF0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2F4868-8F62-C253-B889-5E9073B6E581}"/>
              </a:ext>
            </a:extLst>
          </p:cNvPr>
          <p:cNvSpPr/>
          <p:nvPr/>
        </p:nvSpPr>
        <p:spPr>
          <a:xfrm>
            <a:off x="10142904" y="2534792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모의고사</a:t>
            </a:r>
            <a:r>
              <a:rPr lang="en-US" altLang="ko-KR" sz="1200" dirty="0">
                <a:solidFill>
                  <a:srgbClr val="FFFF00"/>
                </a:solidFill>
              </a:rPr>
              <a:t>*</a:t>
            </a:r>
            <a:r>
              <a:rPr lang="ko-KR" altLang="en-US" sz="1200" dirty="0">
                <a:solidFill>
                  <a:srgbClr val="FFFF00"/>
                </a:solidFill>
              </a:rPr>
              <a:t>강평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6E76C-C2AD-D5AD-3BE6-65E9B2E28872}"/>
              </a:ext>
            </a:extLst>
          </p:cNvPr>
          <p:cNvSpPr txBox="1"/>
          <p:nvPr/>
        </p:nvSpPr>
        <p:spPr>
          <a:xfrm>
            <a:off x="2623525" y="138988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이론강의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7980E-D55D-B82A-A147-324D4C215AA7}"/>
              </a:ext>
            </a:extLst>
          </p:cNvPr>
          <p:cNvSpPr txBox="1"/>
          <p:nvPr/>
        </p:nvSpPr>
        <p:spPr>
          <a:xfrm>
            <a:off x="4570083" y="1300234"/>
            <a:ext cx="1851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풀이능력배양강의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FF00"/>
                </a:solidFill>
              </a:rPr>
              <a:t>(</a:t>
            </a:r>
            <a:r>
              <a:rPr lang="ko-KR" altLang="en-US" sz="1400" dirty="0">
                <a:solidFill>
                  <a:srgbClr val="FFFF00"/>
                </a:solidFill>
              </a:rPr>
              <a:t>목차강의</a:t>
            </a:r>
            <a:r>
              <a:rPr lang="en-US" altLang="ko-KR" sz="1400" dirty="0">
                <a:solidFill>
                  <a:srgbClr val="FFFF00"/>
                </a:solidFill>
              </a:rPr>
              <a:t>)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3DC7AA-4753-069B-A420-0C1F85BCF3EB}"/>
              </a:ext>
            </a:extLst>
          </p:cNvPr>
          <p:cNvSpPr/>
          <p:nvPr/>
        </p:nvSpPr>
        <p:spPr>
          <a:xfrm>
            <a:off x="757717" y="2424812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동차생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85A856-86B8-F91D-A822-964CA03CAFF6}"/>
              </a:ext>
            </a:extLst>
          </p:cNvPr>
          <p:cNvSpPr/>
          <p:nvPr/>
        </p:nvSpPr>
        <p:spPr>
          <a:xfrm>
            <a:off x="757717" y="4267196"/>
            <a:ext cx="813742" cy="7855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재시생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2C6FB3A-8C89-AF3B-1B1C-1280745C3A3F}"/>
              </a:ext>
            </a:extLst>
          </p:cNvPr>
          <p:cNvSpPr/>
          <p:nvPr/>
        </p:nvSpPr>
        <p:spPr>
          <a:xfrm>
            <a:off x="2532724" y="427612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최신판례강의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E7B726-E64D-2022-81D4-7ADD4A3C5194}"/>
              </a:ext>
            </a:extLst>
          </p:cNvPr>
          <p:cNvSpPr/>
          <p:nvPr/>
        </p:nvSpPr>
        <p:spPr>
          <a:xfrm>
            <a:off x="4962160" y="2853269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사례문제풀이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6DBE9E5-ACF1-3946-259E-E7BB50456133}"/>
              </a:ext>
            </a:extLst>
          </p:cNvPr>
          <p:cNvSpPr/>
          <p:nvPr/>
        </p:nvSpPr>
        <p:spPr>
          <a:xfrm>
            <a:off x="2532724" y="2847006"/>
            <a:ext cx="1099502" cy="263157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쟁점정리강의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95D4760-3C87-0E1D-BCB5-6771D081BD54}"/>
              </a:ext>
            </a:extLst>
          </p:cNvPr>
          <p:cNvSpPr/>
          <p:nvPr/>
        </p:nvSpPr>
        <p:spPr>
          <a:xfrm>
            <a:off x="2532724" y="4586242"/>
            <a:ext cx="1099502" cy="263157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쟁점정리강의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5BDCA-217D-C756-53D6-7EF0814C3C49}"/>
              </a:ext>
            </a:extLst>
          </p:cNvPr>
          <p:cNvSpPr txBox="1"/>
          <p:nvPr/>
        </p:nvSpPr>
        <p:spPr>
          <a:xfrm>
            <a:off x="10165611" y="141677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실전강의</a:t>
            </a:r>
            <a:endParaRPr lang="en-US" altLang="ko-KR" dirty="0">
              <a:solidFill>
                <a:srgbClr val="FFFF00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32F693-BE52-52BD-8A61-45FC6FAD1604}"/>
              </a:ext>
            </a:extLst>
          </p:cNvPr>
          <p:cNvSpPr/>
          <p:nvPr/>
        </p:nvSpPr>
        <p:spPr>
          <a:xfrm>
            <a:off x="4962160" y="4558899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사례문제풀이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3A843A6-2683-3124-8997-9279D078A448}"/>
              </a:ext>
            </a:extLst>
          </p:cNvPr>
          <p:cNvSpPr/>
          <p:nvPr/>
        </p:nvSpPr>
        <p:spPr>
          <a:xfrm>
            <a:off x="10142904" y="456014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</a:rPr>
              <a:t>모의고사</a:t>
            </a:r>
            <a:r>
              <a:rPr lang="en-US" altLang="ko-KR" sz="1200" dirty="0">
                <a:solidFill>
                  <a:srgbClr val="FFFF00"/>
                </a:solidFill>
              </a:rPr>
              <a:t>*</a:t>
            </a:r>
            <a:r>
              <a:rPr lang="ko-KR" altLang="en-US" sz="1200" dirty="0">
                <a:solidFill>
                  <a:srgbClr val="FFFF00"/>
                </a:solidFill>
              </a:rPr>
              <a:t>강평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6C05B7-6C86-B003-3937-757B1B2F717A}"/>
              </a:ext>
            </a:extLst>
          </p:cNvPr>
          <p:cNvSpPr txBox="1"/>
          <p:nvPr/>
        </p:nvSpPr>
        <p:spPr>
          <a:xfrm>
            <a:off x="2581376" y="2136891"/>
            <a:ext cx="108715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중급강의</a:t>
            </a:r>
            <a:r>
              <a:rPr lang="en-US" altLang="ko-KR" sz="1200" dirty="0"/>
              <a:t>*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056E66-5361-EBE2-38C9-0E7425915016}"/>
              </a:ext>
            </a:extLst>
          </p:cNvPr>
          <p:cNvSpPr txBox="1"/>
          <p:nvPr/>
        </p:nvSpPr>
        <p:spPr>
          <a:xfrm>
            <a:off x="7643759" y="1273342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답안작성능력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ko-KR" altLang="en-US" dirty="0">
                <a:solidFill>
                  <a:srgbClr val="FFFF00"/>
                </a:solidFill>
              </a:rPr>
              <a:t>배양강의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99F7E67-7987-FEF7-2B89-496BA884B0FA}"/>
              </a:ext>
            </a:extLst>
          </p:cNvPr>
          <p:cNvSpPr/>
          <p:nvPr/>
        </p:nvSpPr>
        <p:spPr>
          <a:xfrm>
            <a:off x="7785186" y="2534707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G/S</a:t>
            </a:r>
            <a:r>
              <a:rPr lang="ko-KR" altLang="en-US" sz="1200" dirty="0">
                <a:solidFill>
                  <a:schemeClr val="bg1"/>
                </a:solidFill>
              </a:rPr>
              <a:t>강의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F355A27-9F59-4DF5-1904-3DA1D951E2FA}"/>
              </a:ext>
            </a:extLst>
          </p:cNvPr>
          <p:cNvSpPr/>
          <p:nvPr/>
        </p:nvSpPr>
        <p:spPr>
          <a:xfrm>
            <a:off x="7785186" y="4559459"/>
            <a:ext cx="1099503" cy="282902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G/S</a:t>
            </a:r>
            <a:r>
              <a:rPr lang="ko-KR" altLang="en-US" sz="1200" dirty="0">
                <a:solidFill>
                  <a:schemeClr val="bg1"/>
                </a:solidFill>
              </a:rPr>
              <a:t>강의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A969212-D568-6998-DDEC-1058C10D8B9D}"/>
              </a:ext>
            </a:extLst>
          </p:cNvPr>
          <p:cNvCxnSpPr>
            <a:cxnSpLocks/>
            <a:stCxn id="8" idx="1"/>
            <a:endCxn id="4142" idx="3"/>
          </p:cNvCxnSpPr>
          <p:nvPr/>
        </p:nvCxnSpPr>
        <p:spPr>
          <a:xfrm rot="10800000">
            <a:off x="3632228" y="2682614"/>
            <a:ext cx="1329933" cy="31210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58F8E684-9BC2-DFBA-08FB-7623F47643BB}"/>
              </a:ext>
            </a:extLst>
          </p:cNvPr>
          <p:cNvCxnSpPr>
            <a:cxnSpLocks/>
            <a:stCxn id="8" idx="3"/>
            <a:endCxn id="34" idx="1"/>
          </p:cNvCxnSpPr>
          <p:nvPr/>
        </p:nvCxnSpPr>
        <p:spPr>
          <a:xfrm flipV="1">
            <a:off x="6061663" y="2676158"/>
            <a:ext cx="1723523" cy="31856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9D7E258-BB85-2370-A6FB-568F701D6CB2}"/>
              </a:ext>
            </a:extLst>
          </p:cNvPr>
          <p:cNvCxnSpPr>
            <a:stCxn id="34" idx="3"/>
            <a:endCxn id="4" idx="1"/>
          </p:cNvCxnSpPr>
          <p:nvPr/>
        </p:nvCxnSpPr>
        <p:spPr>
          <a:xfrm>
            <a:off x="8884689" y="2676158"/>
            <a:ext cx="1258215" cy="8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6939E8B-B592-059A-2A50-D57818B489F9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3632232" y="4388244"/>
            <a:ext cx="1329929" cy="31210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106DBEE2-6ECD-9794-A753-086DBECD2BA2}"/>
              </a:ext>
            </a:extLst>
          </p:cNvPr>
          <p:cNvCxnSpPr>
            <a:cxnSpLocks/>
            <a:stCxn id="35" idx="1"/>
            <a:endCxn id="15" idx="3"/>
          </p:cNvCxnSpPr>
          <p:nvPr/>
        </p:nvCxnSpPr>
        <p:spPr>
          <a:xfrm rot="10800000">
            <a:off x="6061664" y="4700350"/>
            <a:ext cx="1723523" cy="56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6" name="연결선: 꺾임 4095">
            <a:extLst>
              <a:ext uri="{FF2B5EF4-FFF2-40B4-BE49-F238E27FC236}">
                <a16:creationId xmlns:a16="http://schemas.microsoft.com/office/drawing/2014/main" id="{6AEDE2F7-9708-C67F-D347-8FD205D2B16B}"/>
              </a:ext>
            </a:extLst>
          </p:cNvPr>
          <p:cNvCxnSpPr>
            <a:cxnSpLocks/>
            <a:stCxn id="24" idx="1"/>
            <a:endCxn id="35" idx="3"/>
          </p:cNvCxnSpPr>
          <p:nvPr/>
        </p:nvCxnSpPr>
        <p:spPr>
          <a:xfrm rot="10800000">
            <a:off x="8884690" y="4700910"/>
            <a:ext cx="1258215" cy="68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B9A852A-697C-E811-E818-9F0429165E88}"/>
              </a:ext>
            </a:extLst>
          </p:cNvPr>
          <p:cNvSpPr/>
          <p:nvPr/>
        </p:nvSpPr>
        <p:spPr>
          <a:xfrm>
            <a:off x="2483224" y="2402541"/>
            <a:ext cx="3621741" cy="851647"/>
          </a:xfrm>
          <a:custGeom>
            <a:avLst/>
            <a:gdLst>
              <a:gd name="csX0" fmla="*/ 0 w 3621741"/>
              <a:gd name="csY0" fmla="*/ 0 h 851647"/>
              <a:gd name="csX1" fmla="*/ 0 w 3621741"/>
              <a:gd name="csY1" fmla="*/ 851647 h 851647"/>
              <a:gd name="csX2" fmla="*/ 1452282 w 3621741"/>
              <a:gd name="csY2" fmla="*/ 851647 h 851647"/>
              <a:gd name="csX3" fmla="*/ 1452282 w 3621741"/>
              <a:gd name="csY3" fmla="*/ 448235 h 851647"/>
              <a:gd name="csX4" fmla="*/ 3621741 w 3621741"/>
              <a:gd name="csY4" fmla="*/ 448235 h 851647"/>
              <a:gd name="csX5" fmla="*/ 3621741 w 3621741"/>
              <a:gd name="csY5" fmla="*/ 8965 h 851647"/>
              <a:gd name="csX6" fmla="*/ 0 w 3621741"/>
              <a:gd name="csY6" fmla="*/ 0 h 851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21741" h="851647">
                <a:moveTo>
                  <a:pt x="0" y="0"/>
                </a:moveTo>
                <a:lnTo>
                  <a:pt x="0" y="851647"/>
                </a:lnTo>
                <a:lnTo>
                  <a:pt x="1452282" y="851647"/>
                </a:lnTo>
                <a:lnTo>
                  <a:pt x="1452282" y="448235"/>
                </a:lnTo>
                <a:lnTo>
                  <a:pt x="3621741" y="448235"/>
                </a:lnTo>
                <a:lnTo>
                  <a:pt x="3621741" y="8965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963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3355-A7AA-760A-FD0E-7DEED54B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5ECF4A-A61C-A99A-3E00-CB46DC001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2</a:t>
            </a:r>
            <a:r>
              <a:rPr lang="ko-KR" altLang="en-US" dirty="0">
                <a:solidFill>
                  <a:srgbClr val="44546A"/>
                </a:solidFill>
              </a:rPr>
              <a:t>차 주관식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8FEC2F-6A57-DB11-CA78-2CE1D07B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27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F8765A0-A548-0921-24C8-68FF539A1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89333"/>
              </p:ext>
            </p:extLst>
          </p:nvPr>
        </p:nvGraphicFramePr>
        <p:xfrm>
          <a:off x="338665" y="1394464"/>
          <a:ext cx="10778067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20828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1568411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2464750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3135623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2288455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명칭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출제일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기출문제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63</a:t>
                      </a:r>
                      <a:r>
                        <a:rPr lang="ko-KR" altLang="en-US" sz="1000" dirty="0"/>
                        <a:t>회 기출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2026/02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상표법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월 전체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민사소송법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월 진도별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372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51BA-3285-0CB3-DB68-E4CDD6E6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4E389BC-4C00-E9F7-E45D-669E59051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2</a:t>
            </a:r>
            <a:r>
              <a:rPr lang="ko-KR" altLang="en-US" dirty="0">
                <a:solidFill>
                  <a:srgbClr val="44546A"/>
                </a:solidFill>
              </a:rPr>
              <a:t>차 주관식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B4467E-45A2-7144-58B8-50276684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E3635-62B3-428A-7D02-0BDF4AADDF43}"/>
              </a:ext>
            </a:extLst>
          </p:cNvPr>
          <p:cNvSpPr txBox="1"/>
          <p:nvPr/>
        </p:nvSpPr>
        <p:spPr>
          <a:xfrm>
            <a:off x="272145" y="862849"/>
            <a:ext cx="3919662" cy="2059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기출문제와 모의고사문제의 목록을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기출문제를 클릭하여 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모범답안을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시험 결과에 대한 자료를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34938" indent="-13493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모의고사문제의 목록을 제공하고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클릭하면 정해진 시간 안에 모의고사문제를 풀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답안작성이 끝나면 첨삭여부와 상관없이 모범답안을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관련판례를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동영상 강의를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 답안에 대한 첨삭을 원하는 경우 그 답안을 제출한다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(3)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답안을 출제자 또는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AI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에게 배분한다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(4)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출제자로부터 채점결과를 받는다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(5)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채점결과를 업로드하고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통계분석자료를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7464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A12F-DAD2-989D-8669-039BEE6C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CF0DF639-6FE7-FA46-EE62-167841538C1D}"/>
              </a:ext>
            </a:extLst>
          </p:cNvPr>
          <p:cNvSpPr/>
          <p:nvPr/>
        </p:nvSpPr>
        <p:spPr>
          <a:xfrm>
            <a:off x="3260270" y="3523867"/>
            <a:ext cx="8931730" cy="7052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B665AF14-247E-B24D-F48C-DB5303B71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2</a:t>
            </a:r>
            <a:r>
              <a:rPr lang="ko-KR" altLang="en-US" dirty="0">
                <a:solidFill>
                  <a:srgbClr val="44546A"/>
                </a:solidFill>
              </a:rPr>
              <a:t>차 주관식 문제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2B9E535-85EA-4E96-1A60-3D51C17A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A7FA30-4A2C-8C7E-62D0-C6763C6E35EF}"/>
              </a:ext>
            </a:extLst>
          </p:cNvPr>
          <p:cNvSpPr/>
          <p:nvPr/>
        </p:nvSpPr>
        <p:spPr>
          <a:xfrm>
            <a:off x="4316167" y="818459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7C50AA-F610-D71C-6A41-06B56E9475E7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C08E38-C4EC-4746-E8F5-BAC072A401D9}"/>
              </a:ext>
            </a:extLst>
          </p:cNvPr>
          <p:cNvSpPr/>
          <p:nvPr/>
        </p:nvSpPr>
        <p:spPr>
          <a:xfrm>
            <a:off x="4316167" y="1256240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6C00AF98-F952-A3BF-8FC7-23A0A8638E9B}"/>
              </a:ext>
            </a:extLst>
          </p:cNvPr>
          <p:cNvSpPr/>
          <p:nvPr/>
        </p:nvSpPr>
        <p:spPr>
          <a:xfrm>
            <a:off x="5614477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A68F40BB-1C80-FF86-2758-AB92EB63D1B4}"/>
              </a:ext>
            </a:extLst>
          </p:cNvPr>
          <p:cNvSpPr/>
          <p:nvPr/>
        </p:nvSpPr>
        <p:spPr>
          <a:xfrm>
            <a:off x="561447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0" name="직사각형 4109">
            <a:extLst>
              <a:ext uri="{FF2B5EF4-FFF2-40B4-BE49-F238E27FC236}">
                <a16:creationId xmlns:a16="http://schemas.microsoft.com/office/drawing/2014/main" id="{C084AEDB-C3A5-6E1C-4496-D0EDD2121248}"/>
              </a:ext>
            </a:extLst>
          </p:cNvPr>
          <p:cNvSpPr/>
          <p:nvPr/>
        </p:nvSpPr>
        <p:spPr>
          <a:xfrm>
            <a:off x="5614477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00206EA4-9406-F1E8-2D8A-5D60EE7D7EA5}"/>
              </a:ext>
            </a:extLst>
          </p:cNvPr>
          <p:cNvSpPr/>
          <p:nvPr/>
        </p:nvSpPr>
        <p:spPr>
          <a:xfrm>
            <a:off x="69092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14CDFA84-F3DD-5831-1516-D380326A97D2}"/>
              </a:ext>
            </a:extLst>
          </p:cNvPr>
          <p:cNvSpPr/>
          <p:nvPr/>
        </p:nvSpPr>
        <p:spPr>
          <a:xfrm>
            <a:off x="82063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184C0818-73DC-AC50-CA19-F51EFE3BBC96}"/>
              </a:ext>
            </a:extLst>
          </p:cNvPr>
          <p:cNvSpPr/>
          <p:nvPr/>
        </p:nvSpPr>
        <p:spPr>
          <a:xfrm>
            <a:off x="9507804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899567D3-C90E-4A2F-09B6-6C4773DF7043}"/>
              </a:ext>
            </a:extLst>
          </p:cNvPr>
          <p:cNvSpPr/>
          <p:nvPr/>
        </p:nvSpPr>
        <p:spPr>
          <a:xfrm>
            <a:off x="3019068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3A730372-97B3-59AD-556F-71216D2BB577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6FDD2C54-A5E5-AB5A-84FD-50D684C8A3E3}"/>
              </a:ext>
            </a:extLst>
          </p:cNvPr>
          <p:cNvSpPr/>
          <p:nvPr/>
        </p:nvSpPr>
        <p:spPr>
          <a:xfrm>
            <a:off x="3019068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DC892999-310A-98AA-5618-9DEA0B913F6D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677747E-4CE2-E153-CB6C-92E2F8E16A36}"/>
              </a:ext>
            </a:extLst>
          </p:cNvPr>
          <p:cNvCxnSpPr>
            <a:cxnSpLocks/>
          </p:cNvCxnSpPr>
          <p:nvPr/>
        </p:nvCxnSpPr>
        <p:spPr>
          <a:xfrm>
            <a:off x="173690" y="1759290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B0D41A1-62C7-1D3B-B40B-CD172D08039F}"/>
              </a:ext>
            </a:extLst>
          </p:cNvPr>
          <p:cNvGrpSpPr/>
          <p:nvPr/>
        </p:nvGrpSpPr>
        <p:grpSpPr>
          <a:xfrm>
            <a:off x="125127" y="1841471"/>
            <a:ext cx="3053500" cy="2427096"/>
            <a:chOff x="125127" y="1841471"/>
            <a:chExt cx="3053500" cy="242709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7936E50-7827-88C9-54FF-B9D1FB9A5898}"/>
                </a:ext>
              </a:extLst>
            </p:cNvPr>
            <p:cNvSpPr txBox="1"/>
            <p:nvPr/>
          </p:nvSpPr>
          <p:spPr>
            <a:xfrm>
              <a:off x="125127" y="184897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총칙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9021C3-E25D-86A7-1498-763B7FD002F0}"/>
                </a:ext>
              </a:extLst>
            </p:cNvPr>
            <p:cNvSpPr txBox="1"/>
            <p:nvPr/>
          </p:nvSpPr>
          <p:spPr>
            <a:xfrm>
              <a:off x="125127" y="2121663"/>
              <a:ext cx="558444" cy="2154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특허요건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AF9EBC-CD8B-FDD8-74FD-0FDB2FCC5951}"/>
                </a:ext>
              </a:extLst>
            </p:cNvPr>
            <p:cNvSpPr txBox="1"/>
            <p:nvPr/>
          </p:nvSpPr>
          <p:spPr>
            <a:xfrm>
              <a:off x="125127" y="2394348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이익제도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E02E15D-ED3D-431F-D6C1-8BA4F706CA6F}"/>
                </a:ext>
              </a:extLst>
            </p:cNvPr>
            <p:cNvSpPr txBox="1"/>
            <p:nvPr/>
          </p:nvSpPr>
          <p:spPr>
            <a:xfrm>
              <a:off x="125127" y="320793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심판제도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818A040-CDFF-2A64-93CB-473447C3750A}"/>
                </a:ext>
              </a:extLst>
            </p:cNvPr>
            <p:cNvSpPr txBox="1"/>
            <p:nvPr/>
          </p:nvSpPr>
          <p:spPr>
            <a:xfrm>
              <a:off x="125127" y="3492658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소송제도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BD3FAFC-F0B3-BDEA-0C0E-6D0A1571CE7C}"/>
                </a:ext>
              </a:extLst>
            </p:cNvPr>
            <p:cNvSpPr txBox="1"/>
            <p:nvPr/>
          </p:nvSpPr>
          <p:spPr>
            <a:xfrm>
              <a:off x="125127" y="3777377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PCT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2F46EA2-F5F7-781C-C4A5-94D2CE246F3D}"/>
                </a:ext>
              </a:extLst>
            </p:cNvPr>
            <p:cNvSpPr txBox="1"/>
            <p:nvPr/>
          </p:nvSpPr>
          <p:spPr>
            <a:xfrm>
              <a:off x="125127" y="2934309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특허권</a:t>
              </a:r>
            </a:p>
          </p:txBody>
        </p:sp>
        <p:sp>
          <p:nvSpPr>
            <p:cNvPr id="4102" name="TextBox 4101">
              <a:extLst>
                <a:ext uri="{FF2B5EF4-FFF2-40B4-BE49-F238E27FC236}">
                  <a16:creationId xmlns:a16="http://schemas.microsoft.com/office/drawing/2014/main" id="{43E4B426-7091-2E9B-1523-4E7979A5A8DA}"/>
                </a:ext>
              </a:extLst>
            </p:cNvPr>
            <p:cNvSpPr txBox="1"/>
            <p:nvPr/>
          </p:nvSpPr>
          <p:spPr>
            <a:xfrm>
              <a:off x="125127" y="4053123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보칙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0A5154B-D527-1753-3A13-38C9DF069F45}"/>
                </a:ext>
              </a:extLst>
            </p:cNvPr>
            <p:cNvSpPr txBox="1"/>
            <p:nvPr/>
          </p:nvSpPr>
          <p:spPr>
            <a:xfrm>
              <a:off x="125127" y="2665335"/>
              <a:ext cx="558444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심사제도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D3A1977-28D5-A902-F287-6E388905DFEA}"/>
                </a:ext>
              </a:extLst>
            </p:cNvPr>
            <p:cNvGrpSpPr/>
            <p:nvPr/>
          </p:nvGrpSpPr>
          <p:grpSpPr>
            <a:xfrm>
              <a:off x="838636" y="1848979"/>
              <a:ext cx="1214336" cy="1859123"/>
              <a:chOff x="1104845" y="1848979"/>
              <a:chExt cx="1796201" cy="1859123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0FD26D-87AB-C3E0-CB16-BB2FE0D52A01}"/>
                  </a:ext>
                </a:extLst>
              </p:cNvPr>
              <p:cNvSpPr txBox="1"/>
              <p:nvPr/>
            </p:nvSpPr>
            <p:spPr>
              <a:xfrm>
                <a:off x="1104845" y="1848979"/>
                <a:ext cx="1796201" cy="21544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발명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F89411-7783-D457-3344-DFD8E6E2C1E2}"/>
                  </a:ext>
                </a:extLst>
              </p:cNvPr>
              <p:cNvSpPr txBox="1"/>
              <p:nvPr/>
            </p:nvSpPr>
            <p:spPr>
              <a:xfrm>
                <a:off x="1104845" y="2394348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없는 발명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EA8F38-C867-5F48-2E6A-AC6ED1B5D890}"/>
                  </a:ext>
                </a:extLst>
              </p:cNvPr>
              <p:cNvSpPr txBox="1"/>
              <p:nvPr/>
            </p:nvSpPr>
            <p:spPr>
              <a:xfrm>
                <a:off x="1104845" y="3492658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출원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70E3AE-F9B2-B808-B01B-591F28EE2FE6}"/>
                  </a:ext>
                </a:extLst>
              </p:cNvPr>
              <p:cNvSpPr txBox="1"/>
              <p:nvPr/>
            </p:nvSpPr>
            <p:spPr>
              <a:xfrm>
                <a:off x="1104845" y="2934309"/>
                <a:ext cx="1796201" cy="21544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특허를 받을 수 있는 자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2B6BD2-5969-D79D-7D8F-DC84F3857203}"/>
                </a:ext>
              </a:extLst>
            </p:cNvPr>
            <p:cNvSpPr txBox="1"/>
            <p:nvPr/>
          </p:nvSpPr>
          <p:spPr>
            <a:xfrm>
              <a:off x="2190309" y="2121663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신규성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F30FB8-50A3-DA66-E78E-31316AB0267D}"/>
                </a:ext>
              </a:extLst>
            </p:cNvPr>
            <p:cNvSpPr txBox="1"/>
            <p:nvPr/>
          </p:nvSpPr>
          <p:spPr>
            <a:xfrm>
              <a:off x="2190309" y="2394348"/>
              <a:ext cx="988318" cy="2154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진보성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A5465B-D069-C766-25F8-64FF9773360A}"/>
                </a:ext>
              </a:extLst>
            </p:cNvPr>
            <p:cNvSpPr txBox="1"/>
            <p:nvPr/>
          </p:nvSpPr>
          <p:spPr>
            <a:xfrm>
              <a:off x="2190309" y="2934309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선출원주의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871A78-7842-8EB4-D8C0-1739F36824E2}"/>
                </a:ext>
              </a:extLst>
            </p:cNvPr>
            <p:cNvSpPr txBox="1"/>
            <p:nvPr/>
          </p:nvSpPr>
          <p:spPr>
            <a:xfrm>
              <a:off x="2190309" y="2665335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확대된 </a:t>
              </a:r>
              <a:r>
                <a:rPr lang="ko-KR" altLang="en-US" sz="800" dirty="0" err="1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선출원</a:t>
              </a:r>
              <a:endParaRPr lang="ko-KR" altLang="en-US" sz="80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FF1DC4-B5BA-015C-9DC2-C8161E804E1B}"/>
                </a:ext>
              </a:extLst>
            </p:cNvPr>
            <p:cNvSpPr txBox="1"/>
            <p:nvPr/>
          </p:nvSpPr>
          <p:spPr>
            <a:xfrm>
              <a:off x="2190309" y="1841471"/>
              <a:ext cx="988318" cy="21544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산업상 이용가능성</a:t>
              </a:r>
            </a:p>
          </p:txBody>
        </p:sp>
        <p:cxnSp>
          <p:nvCxnSpPr>
            <p:cNvPr id="4096" name="연결선: 꺾임 4095">
              <a:extLst>
                <a:ext uri="{FF2B5EF4-FFF2-40B4-BE49-F238E27FC236}">
                  <a16:creationId xmlns:a16="http://schemas.microsoft.com/office/drawing/2014/main" id="{96C0405B-E8C6-0B9E-6D5B-58941F4CC6D4}"/>
                </a:ext>
              </a:extLst>
            </p:cNvPr>
            <p:cNvCxnSpPr>
              <a:stCxn id="53" idx="3"/>
              <a:endCxn id="7" idx="1"/>
            </p:cNvCxnSpPr>
            <p:nvPr/>
          </p:nvCxnSpPr>
          <p:spPr>
            <a:xfrm flipV="1">
              <a:off x="683571" y="1956701"/>
              <a:ext cx="155065" cy="272684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연결선: 꺾임 4134">
              <a:extLst>
                <a:ext uri="{FF2B5EF4-FFF2-40B4-BE49-F238E27FC236}">
                  <a16:creationId xmlns:a16="http://schemas.microsoft.com/office/drawing/2014/main" id="{43FD2151-5BE9-DD66-59A3-CC76121C256B}"/>
                </a:ext>
              </a:extLst>
            </p:cNvPr>
            <p:cNvCxnSpPr>
              <a:stCxn id="53" idx="3"/>
              <a:endCxn id="13" idx="1"/>
            </p:cNvCxnSpPr>
            <p:nvPr/>
          </p:nvCxnSpPr>
          <p:spPr>
            <a:xfrm>
              <a:off x="683571" y="2229385"/>
              <a:ext cx="155065" cy="1370995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연결선: 꺾임 4140">
              <a:extLst>
                <a:ext uri="{FF2B5EF4-FFF2-40B4-BE49-F238E27FC236}">
                  <a16:creationId xmlns:a16="http://schemas.microsoft.com/office/drawing/2014/main" id="{FF1D29E2-5CC7-F3A6-F228-BB7F2EF586A1}"/>
                </a:ext>
              </a:extLst>
            </p:cNvPr>
            <p:cNvCxnSpPr>
              <a:stCxn id="53" idx="3"/>
              <a:endCxn id="11" idx="1"/>
            </p:cNvCxnSpPr>
            <p:nvPr/>
          </p:nvCxnSpPr>
          <p:spPr>
            <a:xfrm>
              <a:off x="683571" y="2229385"/>
              <a:ext cx="155065" cy="272685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연결선: 꺾임 4142">
              <a:extLst>
                <a:ext uri="{FF2B5EF4-FFF2-40B4-BE49-F238E27FC236}">
                  <a16:creationId xmlns:a16="http://schemas.microsoft.com/office/drawing/2014/main" id="{EBAA9B55-2D59-9D20-7793-3CBC75065FF6}"/>
                </a:ext>
              </a:extLst>
            </p:cNvPr>
            <p:cNvCxnSpPr>
              <a:stCxn id="53" idx="3"/>
              <a:endCxn id="17" idx="1"/>
            </p:cNvCxnSpPr>
            <p:nvPr/>
          </p:nvCxnSpPr>
          <p:spPr>
            <a:xfrm>
              <a:off x="683571" y="2229385"/>
              <a:ext cx="155065" cy="81264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연결선: 꺾임 4144">
              <a:extLst>
                <a:ext uri="{FF2B5EF4-FFF2-40B4-BE49-F238E27FC236}">
                  <a16:creationId xmlns:a16="http://schemas.microsoft.com/office/drawing/2014/main" id="{8766614D-5889-1C8B-95DE-2F6959B2A0D0}"/>
                </a:ext>
              </a:extLst>
            </p:cNvPr>
            <p:cNvCxnSpPr>
              <a:stCxn id="7" idx="3"/>
              <a:endCxn id="61" idx="1"/>
            </p:cNvCxnSpPr>
            <p:nvPr/>
          </p:nvCxnSpPr>
          <p:spPr>
            <a:xfrm flipV="1">
              <a:off x="2052972" y="1949193"/>
              <a:ext cx="137337" cy="7508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연결선: 꺾임 4146">
              <a:extLst>
                <a:ext uri="{FF2B5EF4-FFF2-40B4-BE49-F238E27FC236}">
                  <a16:creationId xmlns:a16="http://schemas.microsoft.com/office/drawing/2014/main" id="{86CF8AEE-9042-F4D4-4758-C854BD477999}"/>
                </a:ext>
              </a:extLst>
            </p:cNvPr>
            <p:cNvCxnSpPr>
              <a:stCxn id="7" idx="3"/>
              <a:endCxn id="41" idx="1"/>
            </p:cNvCxnSpPr>
            <p:nvPr/>
          </p:nvCxnSpPr>
          <p:spPr>
            <a:xfrm>
              <a:off x="2052972" y="1956701"/>
              <a:ext cx="137337" cy="108533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연결선: 꺾임 4148">
              <a:extLst>
                <a:ext uri="{FF2B5EF4-FFF2-40B4-BE49-F238E27FC236}">
                  <a16:creationId xmlns:a16="http://schemas.microsoft.com/office/drawing/2014/main" id="{EBCAFBBF-55A9-826F-F999-B9950C87372B}"/>
                </a:ext>
              </a:extLst>
            </p:cNvPr>
            <p:cNvCxnSpPr>
              <a:cxnSpLocks/>
              <a:stCxn id="7" idx="3"/>
              <a:endCxn id="29" idx="1"/>
            </p:cNvCxnSpPr>
            <p:nvPr/>
          </p:nvCxnSpPr>
          <p:spPr>
            <a:xfrm>
              <a:off x="2052972" y="1956701"/>
              <a:ext cx="137337" cy="27268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연결선: 꺾임 4151">
              <a:extLst>
                <a:ext uri="{FF2B5EF4-FFF2-40B4-BE49-F238E27FC236}">
                  <a16:creationId xmlns:a16="http://schemas.microsoft.com/office/drawing/2014/main" id="{AF318141-8C4A-3041-5F3A-00860B62AD39}"/>
                </a:ext>
              </a:extLst>
            </p:cNvPr>
            <p:cNvCxnSpPr>
              <a:stCxn id="7" idx="3"/>
              <a:endCxn id="33" idx="1"/>
            </p:cNvCxnSpPr>
            <p:nvPr/>
          </p:nvCxnSpPr>
          <p:spPr>
            <a:xfrm>
              <a:off x="2052972" y="1956701"/>
              <a:ext cx="137337" cy="545369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연결선: 꺾임 4153">
              <a:extLst>
                <a:ext uri="{FF2B5EF4-FFF2-40B4-BE49-F238E27FC236}">
                  <a16:creationId xmlns:a16="http://schemas.microsoft.com/office/drawing/2014/main" id="{DF787A77-2162-B821-92E6-CEDC0BE9692A}"/>
                </a:ext>
              </a:extLst>
            </p:cNvPr>
            <p:cNvCxnSpPr>
              <a:stCxn id="7" idx="3"/>
              <a:endCxn id="51" idx="1"/>
            </p:cNvCxnSpPr>
            <p:nvPr/>
          </p:nvCxnSpPr>
          <p:spPr>
            <a:xfrm>
              <a:off x="2052972" y="1956701"/>
              <a:ext cx="137337" cy="81635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57" name="직선 연결선 4156">
            <a:extLst>
              <a:ext uri="{FF2B5EF4-FFF2-40B4-BE49-F238E27FC236}">
                <a16:creationId xmlns:a16="http://schemas.microsoft.com/office/drawing/2014/main" id="{05482F97-5FF3-BCA4-7A6D-3E692EB554C2}"/>
              </a:ext>
            </a:extLst>
          </p:cNvPr>
          <p:cNvCxnSpPr/>
          <p:nvPr/>
        </p:nvCxnSpPr>
        <p:spPr>
          <a:xfrm>
            <a:off x="3260269" y="1790700"/>
            <a:ext cx="0" cy="49584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E25213-7A29-60D9-7245-6DB75C18AEB3}"/>
              </a:ext>
            </a:extLst>
          </p:cNvPr>
          <p:cNvSpPr txBox="1"/>
          <p:nvPr/>
        </p:nvSpPr>
        <p:spPr>
          <a:xfrm>
            <a:off x="3408824" y="2165306"/>
            <a:ext cx="8597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甲은 </a:t>
            </a:r>
            <a:r>
              <a:rPr lang="en-US" altLang="ko-KR" sz="800" dirty="0"/>
              <a:t>A+B+C</a:t>
            </a:r>
            <a:r>
              <a:rPr lang="ko-KR" altLang="en-US" sz="800" dirty="0"/>
              <a:t>로 구성되는 특허발명의 </a:t>
            </a:r>
            <a:r>
              <a:rPr lang="ko-KR" altLang="en-US" sz="800" dirty="0" err="1"/>
              <a:t>특허권자이고</a:t>
            </a:r>
            <a:r>
              <a:rPr lang="en-US" altLang="ko-KR" sz="800" dirty="0"/>
              <a:t>, </a:t>
            </a:r>
            <a:r>
              <a:rPr lang="ko-KR" altLang="en-US" sz="800" dirty="0"/>
              <a:t>구성 </a:t>
            </a:r>
            <a:r>
              <a:rPr lang="en-US" altLang="ko-KR" sz="800" dirty="0"/>
              <a:t>C</a:t>
            </a:r>
            <a:r>
              <a:rPr lang="ko-KR" altLang="en-US" sz="800" dirty="0"/>
              <a:t>는 특허발명의 전용품이다</a:t>
            </a:r>
            <a:r>
              <a:rPr lang="en-US" altLang="ko-KR" sz="800" dirty="0"/>
              <a:t>. </a:t>
            </a:r>
            <a:r>
              <a:rPr lang="ko-KR" altLang="en-US" sz="800" dirty="0"/>
              <a:t>이 사실에 기초하여 다음 물음에 </a:t>
            </a:r>
            <a:r>
              <a:rPr lang="ko-KR" altLang="en-US" sz="800" dirty="0" err="1"/>
              <a:t>답하시오</a:t>
            </a:r>
            <a:r>
              <a:rPr lang="en-US" altLang="ko-KR" sz="800" dirty="0"/>
              <a:t>. (</a:t>
            </a:r>
            <a:r>
              <a:rPr lang="ko-KR" altLang="en-US" sz="800" dirty="0"/>
              <a:t>단</a:t>
            </a:r>
            <a:r>
              <a:rPr lang="en-US" altLang="ko-KR" sz="800" dirty="0"/>
              <a:t>, </a:t>
            </a:r>
            <a:r>
              <a:rPr lang="ko-KR" altLang="en-US" sz="800" dirty="0"/>
              <a:t>각 물음은 독립적이다</a:t>
            </a:r>
            <a:r>
              <a:rPr lang="en-US" altLang="ko-KR" sz="800" dirty="0"/>
              <a:t>.)</a:t>
            </a:r>
          </a:p>
          <a:p>
            <a:endParaRPr lang="en-US" altLang="ko-KR" sz="800" dirty="0"/>
          </a:p>
          <a:p>
            <a:r>
              <a:rPr lang="en-US" altLang="ko-KR" sz="800" dirty="0"/>
              <a:t>(1) </a:t>
            </a:r>
            <a:r>
              <a:rPr lang="ko-KR" altLang="en-US" sz="800" dirty="0"/>
              <a:t>乙이 甲의 허락을 받지 않고 </a:t>
            </a:r>
            <a:r>
              <a:rPr lang="en-US" altLang="ko-KR" sz="800" dirty="0"/>
              <a:t>C+D</a:t>
            </a:r>
            <a:r>
              <a:rPr lang="ko-KR" altLang="en-US" sz="800" dirty="0"/>
              <a:t>를 판매하고 있다</a:t>
            </a:r>
            <a:r>
              <a:rPr lang="en-US" altLang="ko-KR" sz="800" dirty="0"/>
              <a:t>. </a:t>
            </a:r>
            <a:r>
              <a:rPr lang="ko-KR" altLang="en-US" sz="800" dirty="0"/>
              <a:t>乙은 </a:t>
            </a:r>
            <a:r>
              <a:rPr lang="en-US" altLang="ko-KR" sz="800" dirty="0"/>
              <a:t>C+D</a:t>
            </a:r>
            <a:r>
              <a:rPr lang="ko-KR" altLang="en-US" sz="800" dirty="0"/>
              <a:t>는 </a:t>
            </a:r>
            <a:r>
              <a:rPr lang="en-US" altLang="ko-KR" sz="800" dirty="0"/>
              <a:t>D</a:t>
            </a:r>
            <a:r>
              <a:rPr lang="ko-KR" altLang="en-US" sz="800" dirty="0"/>
              <a:t>의 부가로 인하여 자신의 판매 행위는 특허법 제</a:t>
            </a:r>
            <a:r>
              <a:rPr lang="en-US" altLang="ko-KR" sz="800" dirty="0"/>
              <a:t>127</a:t>
            </a:r>
            <a:r>
              <a:rPr lang="ko-KR" altLang="en-US" sz="800" dirty="0"/>
              <a:t>조의 침해로 보는 행위에 해당하지 않는다고 주장한다</a:t>
            </a:r>
            <a:r>
              <a:rPr lang="en-US" altLang="ko-KR" sz="800" dirty="0"/>
              <a:t>. </a:t>
            </a:r>
            <a:r>
              <a:rPr lang="ko-KR" altLang="en-US" sz="800" dirty="0"/>
              <a:t>乙의 주장이 타당한지에 대하여 </a:t>
            </a:r>
            <a:r>
              <a:rPr lang="ko-KR" altLang="en-US" sz="800" dirty="0" err="1"/>
              <a:t>논하시오</a:t>
            </a:r>
            <a:r>
              <a:rPr lang="en-US" altLang="ko-KR" sz="800" dirty="0"/>
              <a:t>. (8</a:t>
            </a:r>
            <a:r>
              <a:rPr lang="ko-KR" altLang="en-US" sz="800" dirty="0"/>
              <a:t>점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(2) </a:t>
            </a:r>
            <a:r>
              <a:rPr lang="ko-KR" altLang="en-US" sz="800" dirty="0"/>
              <a:t>乙이 </a:t>
            </a:r>
            <a:r>
              <a:rPr lang="en-US" altLang="ko-KR" sz="800" dirty="0"/>
              <a:t>C′(C′</a:t>
            </a:r>
            <a:r>
              <a:rPr lang="ko-KR" altLang="en-US" sz="800" dirty="0"/>
              <a:t>는 </a:t>
            </a:r>
            <a:r>
              <a:rPr lang="en-US" altLang="ko-KR" sz="800" dirty="0"/>
              <a:t>C</a:t>
            </a:r>
            <a:r>
              <a:rPr lang="ko-KR" altLang="en-US" sz="800" dirty="0"/>
              <a:t>와 균등의 물건이다</a:t>
            </a:r>
            <a:r>
              <a:rPr lang="en-US" altLang="ko-KR" sz="800" dirty="0"/>
              <a:t>.)</a:t>
            </a:r>
            <a:r>
              <a:rPr lang="ko-KR" altLang="en-US" sz="800" dirty="0"/>
              <a:t>를 판매하고 있는 경우</a:t>
            </a:r>
            <a:r>
              <a:rPr lang="en-US" altLang="ko-KR" sz="800" dirty="0"/>
              <a:t>, </a:t>
            </a:r>
            <a:r>
              <a:rPr lang="ko-KR" altLang="en-US" sz="800" dirty="0"/>
              <a:t>乙의 판매가 특허법 제</a:t>
            </a:r>
            <a:r>
              <a:rPr lang="en-US" altLang="ko-KR" sz="800" dirty="0"/>
              <a:t>127</a:t>
            </a:r>
            <a:r>
              <a:rPr lang="ko-KR" altLang="en-US" sz="800" dirty="0"/>
              <a:t>조의 침해로 보는 행위에 해당할 수 있는지에 대하여 </a:t>
            </a:r>
            <a:r>
              <a:rPr lang="ko-KR" altLang="en-US" sz="800" dirty="0" err="1"/>
              <a:t>논하시오</a:t>
            </a:r>
            <a:r>
              <a:rPr lang="en-US" altLang="ko-KR" sz="800" dirty="0"/>
              <a:t>. (7</a:t>
            </a:r>
            <a:r>
              <a:rPr lang="ko-KR" altLang="en-US" sz="800" dirty="0"/>
              <a:t>점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(3) </a:t>
            </a:r>
            <a:r>
              <a:rPr lang="ko-KR" altLang="en-US" sz="800" dirty="0"/>
              <a:t>만약</a:t>
            </a:r>
            <a:r>
              <a:rPr lang="en-US" altLang="ko-KR" sz="800" dirty="0"/>
              <a:t>, </a:t>
            </a:r>
            <a:r>
              <a:rPr lang="ko-KR" altLang="en-US" sz="800" dirty="0"/>
              <a:t>甲의 특허발명이 방법의 발명인 경우</a:t>
            </a:r>
            <a:r>
              <a:rPr lang="en-US" altLang="ko-KR" sz="800" dirty="0"/>
              <a:t>, </a:t>
            </a:r>
            <a:r>
              <a:rPr lang="ko-KR" altLang="en-US" sz="800" dirty="0"/>
              <a:t>그 방법의 실시에만 사용하는 물건 </a:t>
            </a:r>
            <a:r>
              <a:rPr lang="en-US" altLang="ko-KR" sz="800" dirty="0"/>
              <a:t>C</a:t>
            </a:r>
            <a:r>
              <a:rPr lang="ko-KR" altLang="en-US" sz="800" dirty="0"/>
              <a:t>를 甲이 乙에게 양도했다면</a:t>
            </a:r>
            <a:r>
              <a:rPr lang="en-US" altLang="ko-KR" sz="800" dirty="0"/>
              <a:t>, </a:t>
            </a:r>
            <a:r>
              <a:rPr lang="ko-KR" altLang="en-US" sz="800" dirty="0"/>
              <a:t>乙이 그 물건 </a:t>
            </a:r>
            <a:r>
              <a:rPr lang="en-US" altLang="ko-KR" sz="800" dirty="0"/>
              <a:t>C</a:t>
            </a:r>
            <a:r>
              <a:rPr lang="ko-KR" altLang="en-US" sz="800" dirty="0"/>
              <a:t>를 이용하여 해당 방법발명을 실시하는 것이 특허침해에 해당하는지에 대하여 </a:t>
            </a:r>
            <a:r>
              <a:rPr lang="ko-KR" altLang="en-US" sz="800" dirty="0" err="1"/>
              <a:t>논하시오</a:t>
            </a:r>
            <a:r>
              <a:rPr lang="en-US" altLang="ko-KR" sz="800" dirty="0"/>
              <a:t>. (8</a:t>
            </a:r>
            <a:r>
              <a:rPr lang="ko-KR" altLang="en-US" sz="800" dirty="0"/>
              <a:t>점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(4) </a:t>
            </a:r>
            <a:r>
              <a:rPr lang="ko-KR" altLang="en-US" sz="800" dirty="0"/>
              <a:t>만약</a:t>
            </a:r>
            <a:r>
              <a:rPr lang="en-US" altLang="ko-KR" sz="800" dirty="0"/>
              <a:t>, </a:t>
            </a:r>
            <a:r>
              <a:rPr lang="ko-KR" altLang="en-US" sz="800" dirty="0"/>
              <a:t>甲의 특허발명이 방법의 발명인 경우</a:t>
            </a:r>
            <a:r>
              <a:rPr lang="en-US" altLang="ko-KR" sz="800" dirty="0"/>
              <a:t>, </a:t>
            </a:r>
            <a:r>
              <a:rPr lang="ko-KR" altLang="en-US" sz="800" dirty="0"/>
              <a:t>그 방법의 실시에만 사용하는 물건 </a:t>
            </a:r>
            <a:r>
              <a:rPr lang="en-US" altLang="ko-KR" sz="800" dirty="0"/>
              <a:t>C</a:t>
            </a:r>
            <a:r>
              <a:rPr lang="ko-KR" altLang="en-US" sz="800" dirty="0"/>
              <a:t>와 대비되는 물건을 심판 청구의 대상이 되는 발명으로 특정하여 甲이 권리범위확인심판을 청구하는 것에 대한 적법성 여부를 </a:t>
            </a:r>
            <a:r>
              <a:rPr lang="ko-KR" altLang="en-US" sz="800" dirty="0" err="1"/>
              <a:t>논하시오</a:t>
            </a:r>
            <a:r>
              <a:rPr lang="en-US" altLang="ko-KR" sz="800" dirty="0"/>
              <a:t>. (7</a:t>
            </a:r>
            <a:r>
              <a:rPr lang="ko-KR" altLang="en-US" sz="800" dirty="0"/>
              <a:t>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775DF2-3CEF-7178-AD3D-478513603DC9}"/>
              </a:ext>
            </a:extLst>
          </p:cNvPr>
          <p:cNvSpPr/>
          <p:nvPr/>
        </p:nvSpPr>
        <p:spPr>
          <a:xfrm>
            <a:off x="7005463" y="357388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1FA9C4-ED1E-98C5-993A-8C787795FBAF}"/>
              </a:ext>
            </a:extLst>
          </p:cNvPr>
          <p:cNvSpPr/>
          <p:nvPr/>
        </p:nvSpPr>
        <p:spPr>
          <a:xfrm>
            <a:off x="7005463" y="374724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452A32-8266-D407-259F-15701714FD28}"/>
              </a:ext>
            </a:extLst>
          </p:cNvPr>
          <p:cNvSpPr/>
          <p:nvPr/>
        </p:nvSpPr>
        <p:spPr>
          <a:xfrm>
            <a:off x="7005463" y="3914800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89F0D7F-5C1C-EDD6-5981-44D62A0139B0}"/>
              </a:ext>
            </a:extLst>
          </p:cNvPr>
          <p:cNvSpPr/>
          <p:nvPr/>
        </p:nvSpPr>
        <p:spPr>
          <a:xfrm>
            <a:off x="3341912" y="181998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문  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6399C2F-09B3-7EB0-F6DC-88DF443346C2}"/>
              </a:ext>
            </a:extLst>
          </p:cNvPr>
          <p:cNvGrpSpPr/>
          <p:nvPr/>
        </p:nvGrpSpPr>
        <p:grpSpPr>
          <a:xfrm>
            <a:off x="3397606" y="3569480"/>
            <a:ext cx="790691" cy="425068"/>
            <a:chOff x="3397606" y="4143224"/>
            <a:chExt cx="1267838" cy="42506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FE7A51B-BF84-2D58-55F0-634619DAEAA0}"/>
                </a:ext>
              </a:extLst>
            </p:cNvPr>
            <p:cNvSpPr/>
            <p:nvPr/>
          </p:nvSpPr>
          <p:spPr>
            <a:xfrm>
              <a:off x="3397606" y="4143224"/>
              <a:ext cx="1267838" cy="2065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accent4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체계도 순서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EAB582-7B16-D1DF-E23B-C633839D7494}"/>
                </a:ext>
              </a:extLst>
            </p:cNvPr>
            <p:cNvSpPr/>
            <p:nvPr/>
          </p:nvSpPr>
          <p:spPr>
            <a:xfrm>
              <a:off x="3397606" y="4361762"/>
              <a:ext cx="1267838" cy="2065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조문 순서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C2594AA-E1CA-2941-166E-177E31A08009}"/>
              </a:ext>
            </a:extLst>
          </p:cNvPr>
          <p:cNvSpPr txBox="1"/>
          <p:nvPr/>
        </p:nvSpPr>
        <p:spPr>
          <a:xfrm>
            <a:off x="4157837" y="3541797"/>
            <a:ext cx="2117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특허를 받을 수 있는 발명 </a:t>
            </a:r>
            <a:r>
              <a:rPr lang="en-US" altLang="ko-KR" sz="800" dirty="0"/>
              <a:t>&gt; </a:t>
            </a:r>
            <a:r>
              <a:rPr lang="ko-KR" altLang="en-US" sz="800" dirty="0"/>
              <a:t>진보성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F99DB9-CBEC-B348-7358-9E9C097E0DFA}"/>
              </a:ext>
            </a:extLst>
          </p:cNvPr>
          <p:cNvSpPr txBox="1"/>
          <p:nvPr/>
        </p:nvSpPr>
        <p:spPr>
          <a:xfrm>
            <a:off x="4157837" y="3770025"/>
            <a:ext cx="28360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</a:t>
            </a:r>
            <a:r>
              <a:rPr lang="en-US" altLang="ko-KR" sz="800" dirty="0"/>
              <a:t>2</a:t>
            </a:r>
            <a:r>
              <a:rPr lang="ko-KR" altLang="en-US" sz="800" dirty="0"/>
              <a:t>장 특허요건 및 특허출원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</a:t>
            </a:r>
            <a:r>
              <a:rPr lang="en-US" altLang="ko-KR" sz="800" dirty="0"/>
              <a:t> </a:t>
            </a:r>
            <a:r>
              <a:rPr lang="ko-KR" altLang="en-US" sz="800" dirty="0"/>
              <a:t>특허요건 </a:t>
            </a:r>
            <a:r>
              <a:rPr lang="en-US" altLang="ko-KR" sz="800" dirty="0"/>
              <a:t>&gt; </a:t>
            </a:r>
            <a:r>
              <a:rPr lang="ko-KR" altLang="en-US" sz="800" dirty="0"/>
              <a:t>제</a:t>
            </a:r>
            <a:r>
              <a:rPr lang="en-US" altLang="ko-KR" sz="800" dirty="0"/>
              <a:t>29</a:t>
            </a:r>
            <a:r>
              <a:rPr lang="ko-KR" altLang="en-US" sz="800" dirty="0"/>
              <a:t>조제</a:t>
            </a:r>
            <a:r>
              <a:rPr lang="en-US" altLang="ko-KR" sz="800" dirty="0"/>
              <a:t>2</a:t>
            </a:r>
            <a:r>
              <a:rPr lang="ko-KR" altLang="en-US" sz="800" dirty="0"/>
              <a:t>항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85AFDB5-1B19-4D7B-40E3-84B33E78CED4}"/>
              </a:ext>
            </a:extLst>
          </p:cNvPr>
          <p:cNvSpPr/>
          <p:nvPr/>
        </p:nvSpPr>
        <p:spPr>
          <a:xfrm>
            <a:off x="3341912" y="4309041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채점기준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97A97E4A-DBE3-94BB-B326-5A6BE8E6CCF2}"/>
              </a:ext>
            </a:extLst>
          </p:cNvPr>
          <p:cNvSpPr/>
          <p:nvPr/>
        </p:nvSpPr>
        <p:spPr>
          <a:xfrm>
            <a:off x="3341912" y="4623982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모범답안</a:t>
            </a:r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BC7E36A4-597E-1499-6DC9-07D484DAF738}"/>
              </a:ext>
            </a:extLst>
          </p:cNvPr>
          <p:cNvSpPr/>
          <p:nvPr/>
        </p:nvSpPr>
        <p:spPr>
          <a:xfrm>
            <a:off x="3347522" y="5628426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관련자료</a:t>
            </a:r>
          </a:p>
        </p:txBody>
      </p:sp>
      <p:sp>
        <p:nvSpPr>
          <p:cNvPr id="4142" name="직사각형 4141">
            <a:extLst>
              <a:ext uri="{FF2B5EF4-FFF2-40B4-BE49-F238E27FC236}">
                <a16:creationId xmlns:a16="http://schemas.microsoft.com/office/drawing/2014/main" id="{29BA5767-B938-E059-52DC-1A70311E452E}"/>
              </a:ext>
            </a:extLst>
          </p:cNvPr>
          <p:cNvSpPr/>
          <p:nvPr/>
        </p:nvSpPr>
        <p:spPr>
          <a:xfrm>
            <a:off x="4180236" y="5631729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강의노트</a:t>
            </a:r>
          </a:p>
        </p:txBody>
      </p:sp>
      <p:sp>
        <p:nvSpPr>
          <p:cNvPr id="4144" name="직사각형 4143">
            <a:extLst>
              <a:ext uri="{FF2B5EF4-FFF2-40B4-BE49-F238E27FC236}">
                <a16:creationId xmlns:a16="http://schemas.microsoft.com/office/drawing/2014/main" id="{BD44BCEB-3B08-C871-531A-0652C60929BD}"/>
              </a:ext>
            </a:extLst>
          </p:cNvPr>
          <p:cNvSpPr/>
          <p:nvPr/>
        </p:nvSpPr>
        <p:spPr>
          <a:xfrm>
            <a:off x="4180236" y="5805080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</a:t>
            </a: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9D7CFAA6-55C0-39B7-C3F2-AB51CF15AB95}"/>
              </a:ext>
            </a:extLst>
          </p:cNvPr>
          <p:cNvSpPr/>
          <p:nvPr/>
        </p:nvSpPr>
        <p:spPr>
          <a:xfrm>
            <a:off x="3347522" y="6240852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즐겨찾기</a:t>
            </a:r>
          </a:p>
        </p:txBody>
      </p:sp>
      <p:sp>
        <p:nvSpPr>
          <p:cNvPr id="4150" name="TextBox 4149">
            <a:extLst>
              <a:ext uri="{FF2B5EF4-FFF2-40B4-BE49-F238E27FC236}">
                <a16:creationId xmlns:a16="http://schemas.microsoft.com/office/drawing/2014/main" id="{977EA1B4-8379-C6E2-183C-4CCDFA976A09}"/>
              </a:ext>
            </a:extLst>
          </p:cNvPr>
          <p:cNvSpPr txBox="1"/>
          <p:nvPr/>
        </p:nvSpPr>
        <p:spPr>
          <a:xfrm>
            <a:off x="4136551" y="6252079"/>
            <a:ext cx="875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♡♡♡♡♡</a:t>
            </a:r>
            <a:endParaRPr lang="ko-KR" altLang="en-US" sz="1200" dirty="0"/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49F5B088-9A51-AF03-8241-D16FDDC9572A}"/>
              </a:ext>
            </a:extLst>
          </p:cNvPr>
          <p:cNvSpPr/>
          <p:nvPr/>
        </p:nvSpPr>
        <p:spPr>
          <a:xfrm>
            <a:off x="3347522" y="6572784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질의응답</a:t>
            </a:r>
          </a:p>
        </p:txBody>
      </p:sp>
      <p:sp>
        <p:nvSpPr>
          <p:cNvPr id="4153" name="말풍선: 모서리가 둥근 사각형 4152">
            <a:extLst>
              <a:ext uri="{FF2B5EF4-FFF2-40B4-BE49-F238E27FC236}">
                <a16:creationId xmlns:a16="http://schemas.microsoft.com/office/drawing/2014/main" id="{62240A12-A90B-4EBD-5601-5191FDF74983}"/>
              </a:ext>
            </a:extLst>
          </p:cNvPr>
          <p:cNvSpPr/>
          <p:nvPr/>
        </p:nvSpPr>
        <p:spPr>
          <a:xfrm>
            <a:off x="5493806" y="6225094"/>
            <a:ext cx="787528" cy="262041"/>
          </a:xfrm>
          <a:prstGeom prst="wedgeRoundRectCallout">
            <a:avLst>
              <a:gd name="adj1" fmla="val -127473"/>
              <a:gd name="adj2" fmla="val 5187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메모기능</a:t>
            </a:r>
          </a:p>
        </p:txBody>
      </p:sp>
      <p:sp>
        <p:nvSpPr>
          <p:cNvPr id="4156" name="직사각형 4155">
            <a:extLst>
              <a:ext uri="{FF2B5EF4-FFF2-40B4-BE49-F238E27FC236}">
                <a16:creationId xmlns:a16="http://schemas.microsoft.com/office/drawing/2014/main" id="{C1F12A21-F660-9962-7D66-59E1EDD7452C}"/>
              </a:ext>
            </a:extLst>
          </p:cNvPr>
          <p:cNvSpPr/>
          <p:nvPr/>
        </p:nvSpPr>
        <p:spPr>
          <a:xfrm>
            <a:off x="8086121" y="3573889"/>
            <a:ext cx="796535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2017(54</a:t>
            </a:r>
            <a:r>
              <a:rPr lang="ko-KR" altLang="en-US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회</a:t>
            </a:r>
            <a:r>
              <a:rPr lang="en-US" altLang="ko-KR" sz="6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endParaRPr lang="ko-KR" altLang="en-US" sz="600" dirty="0">
              <a:solidFill>
                <a:schemeClr val="accent4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770E33B2-13D4-F880-7BE6-66A2697DEA46}"/>
              </a:ext>
            </a:extLst>
          </p:cNvPr>
          <p:cNvSpPr/>
          <p:nvPr/>
        </p:nvSpPr>
        <p:spPr>
          <a:xfrm>
            <a:off x="5298101" y="5591522"/>
            <a:ext cx="983233" cy="262945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클릭하여 연결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9E33690C-6DB7-99FF-2C41-271364E25920}"/>
              </a:ext>
            </a:extLst>
          </p:cNvPr>
          <p:cNvSpPr/>
          <p:nvPr/>
        </p:nvSpPr>
        <p:spPr>
          <a:xfrm>
            <a:off x="4744711" y="6531000"/>
            <a:ext cx="2301029" cy="262041"/>
          </a:xfrm>
          <a:prstGeom prst="wedgeRoundRectCallout">
            <a:avLst>
              <a:gd name="adj1" fmla="val -76971"/>
              <a:gd name="adj2" fmla="val 24916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질문에 대해 담당자에게 메일 보내기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600AEA6-38D9-D797-D1DE-35076F098B0A}"/>
              </a:ext>
            </a:extLst>
          </p:cNvPr>
          <p:cNvSpPr/>
          <p:nvPr/>
        </p:nvSpPr>
        <p:spPr>
          <a:xfrm>
            <a:off x="3341912" y="4946840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채점결과</a:t>
            </a:r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3C86194A-5D4B-3C54-DF60-38C771C56F81}"/>
              </a:ext>
            </a:extLst>
          </p:cNvPr>
          <p:cNvSpPr/>
          <p:nvPr/>
        </p:nvSpPr>
        <p:spPr>
          <a:xfrm>
            <a:off x="4247484" y="4305226"/>
            <a:ext cx="1240711" cy="262945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771E1BCE-1CF6-5665-F637-0D7BED68CB68}"/>
              </a:ext>
            </a:extLst>
          </p:cNvPr>
          <p:cNvSpPr/>
          <p:nvPr/>
        </p:nvSpPr>
        <p:spPr>
          <a:xfrm>
            <a:off x="4247484" y="4601128"/>
            <a:ext cx="1240711" cy="262945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E18C09-A8ED-289C-E5A9-6C3CB0A2D4C1}"/>
              </a:ext>
            </a:extLst>
          </p:cNvPr>
          <p:cNvSpPr txBox="1"/>
          <p:nvPr/>
        </p:nvSpPr>
        <p:spPr>
          <a:xfrm>
            <a:off x="4086396" y="1771299"/>
            <a:ext cx="2681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2017</a:t>
            </a:r>
            <a:r>
              <a:rPr lang="ko-KR" altLang="en-US" dirty="0"/>
              <a:t>년 </a:t>
            </a:r>
            <a:r>
              <a:rPr lang="en-US" altLang="ko-KR" dirty="0"/>
              <a:t>54</a:t>
            </a:r>
            <a:r>
              <a:rPr lang="ko-KR" altLang="en-US" dirty="0"/>
              <a:t>회 문제</a:t>
            </a:r>
            <a:r>
              <a:rPr lang="en-US" altLang="ko-KR" dirty="0"/>
              <a:t>1(30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61D62B-34C3-6D2B-6243-C018958663DA}"/>
              </a:ext>
            </a:extLst>
          </p:cNvPr>
          <p:cNvSpPr/>
          <p:nvPr/>
        </p:nvSpPr>
        <p:spPr>
          <a:xfrm>
            <a:off x="8953124" y="3572369"/>
            <a:ext cx="1042153" cy="1638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키워드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C41386-4A55-817B-6DAC-3EDB7DC7D450}"/>
              </a:ext>
            </a:extLst>
          </p:cNvPr>
          <p:cNvSpPr txBox="1"/>
          <p:nvPr/>
        </p:nvSpPr>
        <p:spPr>
          <a:xfrm>
            <a:off x="8950305" y="3777377"/>
            <a:ext cx="1652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rgbClr val="FF0000"/>
                </a:solidFill>
              </a:rPr>
              <a:t>간접침해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ko-KR" altLang="en-US" sz="700" dirty="0">
                <a:solidFill>
                  <a:srgbClr val="FF0000"/>
                </a:solidFill>
              </a:rPr>
              <a:t>권리범위확인심판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0893F4-82E5-FC20-59DA-56B47F6E74E5}"/>
              </a:ext>
            </a:extLst>
          </p:cNvPr>
          <p:cNvSpPr/>
          <p:nvPr/>
        </p:nvSpPr>
        <p:spPr>
          <a:xfrm>
            <a:off x="4180236" y="5983630"/>
            <a:ext cx="1042153" cy="163826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관련판례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596765D-260C-FF57-6AC4-791950A9A248}"/>
              </a:ext>
            </a:extLst>
          </p:cNvPr>
          <p:cNvSpPr/>
          <p:nvPr/>
        </p:nvSpPr>
        <p:spPr>
          <a:xfrm>
            <a:off x="3341912" y="5278772"/>
            <a:ext cx="744071" cy="26360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코멘트</a:t>
            </a:r>
          </a:p>
        </p:txBody>
      </p:sp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FC6D12F2-BDF5-342D-5FC9-C0126515AA45}"/>
              </a:ext>
            </a:extLst>
          </p:cNvPr>
          <p:cNvSpPr/>
          <p:nvPr/>
        </p:nvSpPr>
        <p:spPr>
          <a:xfrm>
            <a:off x="4247484" y="5266429"/>
            <a:ext cx="1240711" cy="262945"/>
          </a:xfrm>
          <a:prstGeom prst="wedgeRoundRectCallout">
            <a:avLst>
              <a:gd name="adj1" fmla="val -57994"/>
              <a:gd name="adj2" fmla="val 38269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bg1">
                    <a:lumMod val="50000"/>
                  </a:schemeClr>
                </a:solidFill>
              </a:rPr>
              <a:t>하이라이트 기능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445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C383-EB55-C5DD-0491-6DB8E3BF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5DB36FC-6E89-3FB3-BF3C-196995297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2</a:t>
            </a:r>
            <a:r>
              <a:rPr lang="ko-KR" altLang="en-US" dirty="0">
                <a:solidFill>
                  <a:srgbClr val="44546A"/>
                </a:solidFill>
              </a:rPr>
              <a:t>차 주관식 문제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73F96F-A587-C12C-7D75-6C6FE4D9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E1042-DC48-06D1-AE23-4ACCA2A75C33}"/>
              </a:ext>
            </a:extLst>
          </p:cNvPr>
          <p:cNvSpPr txBox="1"/>
          <p:nvPr/>
        </p:nvSpPr>
        <p:spPr>
          <a:xfrm>
            <a:off x="272145" y="116274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연도별 순서에 따라 문제를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연도별 순서는 기출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 문제에 한해 적용한다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분류를 다음과 같이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기출변형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예상문제로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키워드로 구분한다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29A987-12BD-C765-F55E-E04863B26A78}"/>
              </a:ext>
            </a:extLst>
          </p:cNvPr>
          <p:cNvSpPr/>
          <p:nvPr/>
        </p:nvSpPr>
        <p:spPr>
          <a:xfrm>
            <a:off x="272145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문제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65426A-6B25-1BE6-CEB8-8E3E4DB2579A}"/>
              </a:ext>
            </a:extLst>
          </p:cNvPr>
          <p:cNvSpPr txBox="1"/>
          <p:nvPr/>
        </p:nvSpPr>
        <p:spPr>
          <a:xfrm>
            <a:off x="272144" y="2702050"/>
            <a:ext cx="3919663" cy="4394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클릭을 하였을 때 기준을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52F9FDD-2015-E323-601F-FC64ED4353C5}"/>
              </a:ext>
            </a:extLst>
          </p:cNvPr>
          <p:cNvSpPr/>
          <p:nvPr/>
        </p:nvSpPr>
        <p:spPr>
          <a:xfrm>
            <a:off x="272145" y="2322795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채점기준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89E8C5C-BE63-D4DA-524F-ED0E22439F17}"/>
              </a:ext>
            </a:extLst>
          </p:cNvPr>
          <p:cNvSpPr/>
          <p:nvPr/>
        </p:nvSpPr>
        <p:spPr>
          <a:xfrm>
            <a:off x="4312827" y="79320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관련자료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3C950-B8A9-6C50-B29B-DEE140E6679B}"/>
              </a:ext>
            </a:extLst>
          </p:cNvPr>
          <p:cNvSpPr txBox="1"/>
          <p:nvPr/>
        </p:nvSpPr>
        <p:spPr>
          <a:xfrm>
            <a:off x="272145" y="5773147"/>
            <a:ext cx="3919663" cy="2779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채점자의 코멘트를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574C78-44FC-D898-4935-0D16F3BB5F93}"/>
              </a:ext>
            </a:extLst>
          </p:cNvPr>
          <p:cNvSpPr/>
          <p:nvPr/>
        </p:nvSpPr>
        <p:spPr>
          <a:xfrm>
            <a:off x="272145" y="5396905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코멘트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83B0F-FF3F-2D79-71F3-EF71DD400213}"/>
              </a:ext>
            </a:extLst>
          </p:cNvPr>
          <p:cNvSpPr txBox="1"/>
          <p:nvPr/>
        </p:nvSpPr>
        <p:spPr>
          <a:xfrm>
            <a:off x="4253250" y="1162747"/>
            <a:ext cx="3919662" cy="7347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문제와 관련된 강의노트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강의영상을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링크를 클릭하여 강의를 들을 수 있도록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문제와 관련된 판례를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판례를 연결한다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71D6343-1C7B-56CF-4CF1-3D1643B597C1}"/>
              </a:ext>
            </a:extLst>
          </p:cNvPr>
          <p:cNvSpPr/>
          <p:nvPr/>
        </p:nvSpPr>
        <p:spPr>
          <a:xfrm>
            <a:off x="4312827" y="206555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즐겨찾기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9E98E-8A4B-A84A-FAFD-093B2B7F1D40}"/>
              </a:ext>
            </a:extLst>
          </p:cNvPr>
          <p:cNvSpPr txBox="1"/>
          <p:nvPr/>
        </p:nvSpPr>
        <p:spPr>
          <a:xfrm>
            <a:off x="4253250" y="2435098"/>
            <a:ext cx="391966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클릭하여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즐겨찾기를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할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♡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클릭할 때마다 메모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BEDC69F-E9D0-5871-5AAA-25A6C5F3547E}"/>
              </a:ext>
            </a:extLst>
          </p:cNvPr>
          <p:cNvSpPr/>
          <p:nvPr/>
        </p:nvSpPr>
        <p:spPr>
          <a:xfrm>
            <a:off x="4312827" y="3006212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질의응답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0DE60-B13F-5239-7C2B-848808A2BBB5}"/>
              </a:ext>
            </a:extLst>
          </p:cNvPr>
          <p:cNvSpPr txBox="1"/>
          <p:nvPr/>
        </p:nvSpPr>
        <p:spPr>
          <a:xfrm>
            <a:off x="4253250" y="3375751"/>
            <a:ext cx="3919662" cy="256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기존의 질문과 답변을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검색기능을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새로운 질문을 작성하는 경우 그 질문을 답변자에게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답변자가 링크를 클릭하면서 답변을 하는 경우 그 답변을 질문자에게 메일 또는 카톡으로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답변자는 답변을 할 때 질문의 수준을 평가한다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C2CC93-16F4-9FF2-1CEE-E30B0BAF2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37258"/>
              </p:ext>
            </p:extLst>
          </p:nvPr>
        </p:nvGraphicFramePr>
        <p:xfrm>
          <a:off x="4388268" y="4562025"/>
          <a:ext cx="3227978" cy="914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30551">
                  <a:extLst>
                    <a:ext uri="{9D8B030D-6E8A-4147-A177-3AD203B41FA5}">
                      <a16:colId xmlns:a16="http://schemas.microsoft.com/office/drawing/2014/main" val="912422853"/>
                    </a:ext>
                  </a:extLst>
                </a:gridCol>
                <a:gridCol w="497427">
                  <a:extLst>
                    <a:ext uri="{9D8B030D-6E8A-4147-A177-3AD203B41FA5}">
                      <a16:colId xmlns:a16="http://schemas.microsoft.com/office/drawing/2014/main" val="990125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평가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5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지식이 있고</a:t>
                      </a:r>
                      <a:r>
                        <a:rPr lang="en-US" altLang="ko-KR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요구사항에 대한 정확한 파악을 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지식은 있으나 요구사항을 파악하지 못함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1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기본 이론에 대한 지식이 부족함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373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6ABC6F9-2F9B-86DF-A809-031AC6786217}"/>
              </a:ext>
            </a:extLst>
          </p:cNvPr>
          <p:cNvSpPr txBox="1"/>
          <p:nvPr/>
        </p:nvSpPr>
        <p:spPr>
          <a:xfrm>
            <a:off x="272144" y="3708354"/>
            <a:ext cx="3919663" cy="4394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클릭을 하였을 때 모범답안을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하이라이트 기능을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0A60774-7DAE-7DE7-876B-30F584B5D87E}"/>
              </a:ext>
            </a:extLst>
          </p:cNvPr>
          <p:cNvSpPr/>
          <p:nvPr/>
        </p:nvSpPr>
        <p:spPr>
          <a:xfrm>
            <a:off x="272145" y="3329099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모범답안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BB0C3-4C34-2247-067F-D5B4BB56DBC2}"/>
              </a:ext>
            </a:extLst>
          </p:cNvPr>
          <p:cNvSpPr txBox="1"/>
          <p:nvPr/>
        </p:nvSpPr>
        <p:spPr>
          <a:xfrm>
            <a:off x="272144" y="4632783"/>
            <a:ext cx="3919663" cy="655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 점수를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소문제별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전체 채점점수를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 우수답안을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D853C7-E1A0-F7A4-B114-346DE1E5EE51}"/>
              </a:ext>
            </a:extLst>
          </p:cNvPr>
          <p:cNvSpPr/>
          <p:nvPr/>
        </p:nvSpPr>
        <p:spPr>
          <a:xfrm>
            <a:off x="272145" y="4253528"/>
            <a:ext cx="90569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채점결과</a:t>
            </a:r>
          </a:p>
        </p:txBody>
      </p:sp>
    </p:spTree>
    <p:extLst>
      <p:ext uri="{BB962C8B-B14F-4D97-AF65-F5344CB8AC3E}">
        <p14:creationId xmlns:p14="http://schemas.microsoft.com/office/powerpoint/2010/main" val="2696144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2503-4345-F3AD-68DE-1DADF737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C7CA3F7-5053-190B-91F6-7BBB11327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이슈 및 논문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C61217-EEC2-F365-D250-4A3F2994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3E0CBC-02ED-61A5-8A48-5769572CC35C}"/>
              </a:ext>
            </a:extLst>
          </p:cNvPr>
          <p:cNvSpPr/>
          <p:nvPr/>
        </p:nvSpPr>
        <p:spPr>
          <a:xfrm>
            <a:off x="4316167" y="818459"/>
            <a:ext cx="1267838" cy="2065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AF9FBF-7AAA-12AE-EAE4-5CD7267D46F9}"/>
              </a:ext>
            </a:extLst>
          </p:cNvPr>
          <p:cNvSpPr/>
          <p:nvPr/>
        </p:nvSpPr>
        <p:spPr>
          <a:xfrm>
            <a:off x="431616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FE6FEB-A53E-60F3-3375-CF2DB3943E69}"/>
              </a:ext>
            </a:extLst>
          </p:cNvPr>
          <p:cNvSpPr/>
          <p:nvPr/>
        </p:nvSpPr>
        <p:spPr>
          <a:xfrm>
            <a:off x="4316167" y="1256240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</a:p>
        </p:txBody>
      </p:sp>
      <p:sp>
        <p:nvSpPr>
          <p:cNvPr id="4108" name="직사각형 4107">
            <a:extLst>
              <a:ext uri="{FF2B5EF4-FFF2-40B4-BE49-F238E27FC236}">
                <a16:creationId xmlns:a16="http://schemas.microsoft.com/office/drawing/2014/main" id="{64BDEA87-294E-96C2-B9AC-48B66C05FF4E}"/>
              </a:ext>
            </a:extLst>
          </p:cNvPr>
          <p:cNvSpPr/>
          <p:nvPr/>
        </p:nvSpPr>
        <p:spPr>
          <a:xfrm>
            <a:off x="5614477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체계도 순서</a:t>
            </a:r>
          </a:p>
        </p:txBody>
      </p:sp>
      <p:sp>
        <p:nvSpPr>
          <p:cNvPr id="4109" name="직사각형 4108">
            <a:extLst>
              <a:ext uri="{FF2B5EF4-FFF2-40B4-BE49-F238E27FC236}">
                <a16:creationId xmlns:a16="http://schemas.microsoft.com/office/drawing/2014/main" id="{F2970A86-7D65-611C-B273-D35E58B256C4}"/>
              </a:ext>
            </a:extLst>
          </p:cNvPr>
          <p:cNvSpPr/>
          <p:nvPr/>
        </p:nvSpPr>
        <p:spPr>
          <a:xfrm>
            <a:off x="5614477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순서</a:t>
            </a:r>
          </a:p>
        </p:txBody>
      </p:sp>
      <p:sp>
        <p:nvSpPr>
          <p:cNvPr id="4110" name="직사각형 4109">
            <a:extLst>
              <a:ext uri="{FF2B5EF4-FFF2-40B4-BE49-F238E27FC236}">
                <a16:creationId xmlns:a16="http://schemas.microsoft.com/office/drawing/2014/main" id="{3BF130B7-693F-FBE2-63DF-9F21C73B0906}"/>
              </a:ext>
            </a:extLst>
          </p:cNvPr>
          <p:cNvSpPr/>
          <p:nvPr/>
        </p:nvSpPr>
        <p:spPr>
          <a:xfrm>
            <a:off x="5614477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연도 순서</a:t>
            </a:r>
          </a:p>
        </p:txBody>
      </p:sp>
      <p:sp>
        <p:nvSpPr>
          <p:cNvPr id="4111" name="직사각형 4110">
            <a:extLst>
              <a:ext uri="{FF2B5EF4-FFF2-40B4-BE49-F238E27FC236}">
                <a16:creationId xmlns:a16="http://schemas.microsoft.com/office/drawing/2014/main" id="{C5994570-6FCC-B047-841E-1DB2DC4A30B6}"/>
              </a:ext>
            </a:extLst>
          </p:cNvPr>
          <p:cNvSpPr/>
          <p:nvPr/>
        </p:nvSpPr>
        <p:spPr>
          <a:xfrm>
            <a:off x="69092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2" name="직사각형 4111">
            <a:extLst>
              <a:ext uri="{FF2B5EF4-FFF2-40B4-BE49-F238E27FC236}">
                <a16:creationId xmlns:a16="http://schemas.microsoft.com/office/drawing/2014/main" id="{AE85ACC8-DDCC-3720-F05B-38BC3F8E328D}"/>
              </a:ext>
            </a:extLst>
          </p:cNvPr>
          <p:cNvSpPr/>
          <p:nvPr/>
        </p:nvSpPr>
        <p:spPr>
          <a:xfrm>
            <a:off x="8206363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13" name="직사각형 4112">
            <a:extLst>
              <a:ext uri="{FF2B5EF4-FFF2-40B4-BE49-F238E27FC236}">
                <a16:creationId xmlns:a16="http://schemas.microsoft.com/office/drawing/2014/main" id="{CCF54DFA-1001-3B25-2FF2-2CB00008C485}"/>
              </a:ext>
            </a:extLst>
          </p:cNvPr>
          <p:cNvSpPr/>
          <p:nvPr/>
        </p:nvSpPr>
        <p:spPr>
          <a:xfrm>
            <a:off x="9507804" y="818459"/>
            <a:ext cx="1267838" cy="20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세분류</a:t>
            </a:r>
            <a:endParaRPr lang="ko-KR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36" name="직사각형 4135">
            <a:extLst>
              <a:ext uri="{FF2B5EF4-FFF2-40B4-BE49-F238E27FC236}">
                <a16:creationId xmlns:a16="http://schemas.microsoft.com/office/drawing/2014/main" id="{65460C18-2823-A0A2-CE18-0D839C3C33D3}"/>
              </a:ext>
            </a:extLst>
          </p:cNvPr>
          <p:cNvSpPr/>
          <p:nvPr/>
        </p:nvSpPr>
        <p:spPr>
          <a:xfrm>
            <a:off x="3019068" y="818459"/>
            <a:ext cx="1267838" cy="20653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accent4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특허법</a:t>
            </a:r>
          </a:p>
        </p:txBody>
      </p:sp>
      <p:sp>
        <p:nvSpPr>
          <p:cNvPr id="4137" name="직사각형 4136">
            <a:extLst>
              <a:ext uri="{FF2B5EF4-FFF2-40B4-BE49-F238E27FC236}">
                <a16:creationId xmlns:a16="http://schemas.microsoft.com/office/drawing/2014/main" id="{4D4AF9B0-5F37-31B3-4242-0C8575D77267}"/>
              </a:ext>
            </a:extLst>
          </p:cNvPr>
          <p:cNvSpPr/>
          <p:nvPr/>
        </p:nvSpPr>
        <p:spPr>
          <a:xfrm>
            <a:off x="3019068" y="1036997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디자인보호법</a:t>
            </a:r>
          </a:p>
        </p:txBody>
      </p:sp>
      <p:sp>
        <p:nvSpPr>
          <p:cNvPr id="4138" name="직사각형 4137">
            <a:extLst>
              <a:ext uri="{FF2B5EF4-FFF2-40B4-BE49-F238E27FC236}">
                <a16:creationId xmlns:a16="http://schemas.microsoft.com/office/drawing/2014/main" id="{408699AA-5DB4-15DF-739C-6BA38F875D1B}"/>
              </a:ext>
            </a:extLst>
          </p:cNvPr>
          <p:cNvSpPr/>
          <p:nvPr/>
        </p:nvSpPr>
        <p:spPr>
          <a:xfrm>
            <a:off x="3019068" y="1256240"/>
            <a:ext cx="1267838" cy="2065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상표법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2F1566B6-A539-1E21-A02E-E612ADDA739D}"/>
              </a:ext>
            </a:extLst>
          </p:cNvPr>
          <p:cNvSpPr txBox="1"/>
          <p:nvPr/>
        </p:nvSpPr>
        <p:spPr>
          <a:xfrm>
            <a:off x="87236" y="814683"/>
            <a:ext cx="2866810" cy="60016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조문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문제의 유기적 연결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업데이트 정보를 제공하여 최신 지식 취득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79388" indent="-179388">
              <a:buAutoNum type="arabicPeriod"/>
            </a:pPr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이용자 수준을 측정하여 이용자 진단 및 분석</a:t>
            </a:r>
            <a:endParaRPr lang="en-US" altLang="ko-KR" sz="11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37C52B4-6C21-48B4-02CC-F257E65920B0}"/>
              </a:ext>
            </a:extLst>
          </p:cNvPr>
          <p:cNvCxnSpPr>
            <a:cxnSpLocks/>
          </p:cNvCxnSpPr>
          <p:nvPr/>
        </p:nvCxnSpPr>
        <p:spPr>
          <a:xfrm>
            <a:off x="173690" y="1759290"/>
            <a:ext cx="1179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79F9764-8A4F-322E-EB83-1886F6BA9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50467"/>
              </p:ext>
            </p:extLst>
          </p:nvPr>
        </p:nvGraphicFramePr>
        <p:xfrm>
          <a:off x="338666" y="1977828"/>
          <a:ext cx="11453285" cy="20726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20108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617601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608126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4575908">
                  <a:extLst>
                    <a:ext uri="{9D8B030D-6E8A-4147-A177-3AD203B41FA5}">
                      <a16:colId xmlns:a16="http://schemas.microsoft.com/office/drawing/2014/main" val="3100089722"/>
                    </a:ext>
                  </a:extLst>
                </a:gridCol>
                <a:gridCol w="1247434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1776648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  <a:gridCol w="1108830">
                  <a:extLst>
                    <a:ext uri="{9D8B030D-6E8A-4147-A177-3AD203B41FA5}">
                      <a16:colId xmlns:a16="http://schemas.microsoft.com/office/drawing/2014/main" val="3453731879"/>
                    </a:ext>
                  </a:extLst>
                </a:gridCol>
                <a:gridCol w="998630">
                  <a:extLst>
                    <a:ext uri="{9D8B030D-6E8A-4147-A177-3AD203B41FA5}">
                      <a16:colId xmlns:a16="http://schemas.microsoft.com/office/drawing/2014/main" val="13429749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저자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출판사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발행일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해설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권지</a:t>
                      </a: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네트워크 특허권의 속지주의와 역외적용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산업재산권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</a:t>
                      </a:r>
                      <a:r>
                        <a:rPr lang="en-US" altLang="ko-KR" sz="1000" dirty="0"/>
                        <a:t>82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사단법인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한국지식재산학회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12</a:t>
                      </a:r>
                      <a:r>
                        <a:rPr lang="ko-KR" altLang="en-US" sz="1000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배대</a:t>
                      </a: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특허권침해 또는 권리범위확인심판의 사안에서 기능적 표현을 기재한 특허청구범위의 </a:t>
                      </a:r>
                      <a:r>
                        <a:rPr lang="ko-KR" altLang="en-US" sz="1000" dirty="0" err="1"/>
                        <a:t>해석론</a:t>
                      </a:r>
                      <a:r>
                        <a:rPr lang="ko-KR" altLang="en-US" sz="1000" dirty="0"/>
                        <a:t> 분석과 입법적 보완 방안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대법원 </a:t>
                      </a:r>
                      <a:r>
                        <a:rPr lang="en-US" altLang="ko-KR" sz="1000" dirty="0"/>
                        <a:t>2025.7.17. </a:t>
                      </a:r>
                      <a:r>
                        <a:rPr lang="ko-KR" altLang="en-US" sz="1000" dirty="0"/>
                        <a:t>선고 </a:t>
                      </a:r>
                      <a:r>
                        <a:rPr lang="en-US" altLang="ko-KR" sz="1000" dirty="0"/>
                        <a:t>2023</a:t>
                      </a:r>
                      <a:r>
                        <a:rPr lang="ko-KR" altLang="en-US" sz="1000" dirty="0"/>
                        <a:t>후</a:t>
                      </a:r>
                      <a:r>
                        <a:rPr lang="en-US" altLang="ko-KR" sz="1000" dirty="0"/>
                        <a:t>11340 </a:t>
                      </a:r>
                      <a:r>
                        <a:rPr lang="ko-KR" altLang="en-US" sz="1000" dirty="0"/>
                        <a:t>판결을 중심으로 </a:t>
                      </a:r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산업재산권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</a:t>
                      </a:r>
                      <a:r>
                        <a:rPr lang="en-US" altLang="ko-KR" sz="1000" dirty="0"/>
                        <a:t>82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사단법인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한국지식재산학회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12</a:t>
                      </a:r>
                      <a:r>
                        <a:rPr lang="ko-KR" altLang="en-US" sz="1000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서유</a:t>
                      </a: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디자인보호법상 생성형 인공지능 디자인의 창작자성 판단기준에 관한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산업재산권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</a:t>
                      </a:r>
                      <a:r>
                        <a:rPr lang="en-US" altLang="ko-KR" sz="1000" dirty="0"/>
                        <a:t>82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사단법인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한국지식재산학회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2025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12</a:t>
                      </a:r>
                      <a:r>
                        <a:rPr lang="ko-KR" altLang="en-US" sz="1000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598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2FA0-947B-B6AE-39DA-1B4B0DAA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E382F3F-7581-8806-6958-60E0DFEA4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이슈 및 논문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E8DC46-6FCA-FBC4-25F9-AF7B8370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84E665-CD3E-64D2-BBF3-9B0E4613B2F6}"/>
              </a:ext>
            </a:extLst>
          </p:cNvPr>
          <p:cNvSpPr/>
          <p:nvPr/>
        </p:nvSpPr>
        <p:spPr>
          <a:xfrm>
            <a:off x="730250" y="1224614"/>
            <a:ext cx="2127250" cy="4454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400" dirty="0"/>
              <a:t>판 </a:t>
            </a:r>
            <a:r>
              <a:rPr lang="ko-KR" altLang="en-US" sz="1400" dirty="0" err="1"/>
              <a:t>례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5AD8882-8019-A5A8-7E54-37E86EED6F8B}"/>
              </a:ext>
            </a:extLst>
          </p:cNvPr>
          <p:cNvSpPr/>
          <p:nvPr/>
        </p:nvSpPr>
        <p:spPr>
          <a:xfrm>
            <a:off x="3505200" y="1224614"/>
            <a:ext cx="2127250" cy="4454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400"/>
              <a:t>논 문</a:t>
            </a:r>
            <a:endParaRPr lang="ko-KR" altLang="en-US" sz="14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D0DCEE9-1DC4-2BB7-B7D6-4AB0AA5D1079}"/>
              </a:ext>
            </a:extLst>
          </p:cNvPr>
          <p:cNvSpPr/>
          <p:nvPr/>
        </p:nvSpPr>
        <p:spPr>
          <a:xfrm>
            <a:off x="6280150" y="1224614"/>
            <a:ext cx="2127250" cy="445436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400" dirty="0"/>
              <a:t>기출 트렌드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15E97AB-EE0E-A9ED-07A4-5887C5B5D297}"/>
              </a:ext>
            </a:extLst>
          </p:cNvPr>
          <p:cNvSpPr/>
          <p:nvPr/>
        </p:nvSpPr>
        <p:spPr>
          <a:xfrm>
            <a:off x="730250" y="1870745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대법원 판례 해설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E946340-5C04-3682-2BBC-1464B59DF686}"/>
              </a:ext>
            </a:extLst>
          </p:cNvPr>
          <p:cNvSpPr/>
          <p:nvPr/>
        </p:nvSpPr>
        <p:spPr>
          <a:xfrm>
            <a:off x="730250" y="2454799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 법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7D39497-6943-60A5-5E83-761B38961736}"/>
              </a:ext>
            </a:extLst>
          </p:cNvPr>
          <p:cNvSpPr/>
          <p:nvPr/>
        </p:nvSpPr>
        <p:spPr>
          <a:xfrm>
            <a:off x="3479800" y="3052128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특허법학회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특허법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TOP10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판례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9B3DB6B-54C6-6113-AB8D-5FCF3D41EB45}"/>
              </a:ext>
            </a:extLst>
          </p:cNvPr>
          <p:cNvSpPr/>
          <p:nvPr/>
        </p:nvSpPr>
        <p:spPr>
          <a:xfrm>
            <a:off x="3479800" y="2454799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한국정보법학회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B1C810F-D3A8-EE0A-898D-5794793905A5}"/>
              </a:ext>
            </a:extLst>
          </p:cNvPr>
          <p:cNvSpPr/>
          <p:nvPr/>
        </p:nvSpPr>
        <p:spPr>
          <a:xfrm>
            <a:off x="3479800" y="1870745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한국지식재산학회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7F9C7E5-F9CD-DEA3-38FB-40767E603E46}"/>
              </a:ext>
            </a:extLst>
          </p:cNvPr>
          <p:cNvSpPr/>
          <p:nvPr/>
        </p:nvSpPr>
        <p:spPr>
          <a:xfrm>
            <a:off x="3479800" y="3649457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한국지식재산연구원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지식재산연구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B82947-2529-F4DB-B54D-A50461BE9785}"/>
              </a:ext>
            </a:extLst>
          </p:cNvPr>
          <p:cNvSpPr/>
          <p:nvPr/>
        </p:nvSpPr>
        <p:spPr>
          <a:xfrm>
            <a:off x="6280150" y="1870745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변호사시험 기출문제 분석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E6E55F3-A630-5720-B056-6F17543A5FE9}"/>
              </a:ext>
            </a:extLst>
          </p:cNvPr>
          <p:cNvSpPr/>
          <p:nvPr/>
        </p:nvSpPr>
        <p:spPr>
          <a:xfrm>
            <a:off x="3479800" y="4246785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특허법원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국제지식재산법연구센터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E7F24DD-FCC6-3FE3-E3B9-32BBAB2EE277}"/>
              </a:ext>
            </a:extLst>
          </p:cNvPr>
          <p:cNvSpPr/>
          <p:nvPr/>
        </p:nvSpPr>
        <p:spPr>
          <a:xfrm>
            <a:off x="3479800" y="4844114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특허청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연구보고서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A3E8DED-479F-1971-7F5F-1FC027477BE8}"/>
              </a:ext>
            </a:extLst>
          </p:cNvPr>
          <p:cNvSpPr/>
          <p:nvPr/>
        </p:nvSpPr>
        <p:spPr>
          <a:xfrm>
            <a:off x="3479800" y="5441443"/>
            <a:ext cx="2127250" cy="4454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특허심판원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판례연구논문 공모</a:t>
            </a:r>
          </a:p>
        </p:txBody>
      </p:sp>
    </p:spTree>
    <p:extLst>
      <p:ext uri="{BB962C8B-B14F-4D97-AF65-F5344CB8AC3E}">
        <p14:creationId xmlns:p14="http://schemas.microsoft.com/office/powerpoint/2010/main" val="1322032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6F6E-F12D-F86B-53A9-4BFEB3CC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85126FB-BF3B-DA9F-A2D8-376478DC4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이슈 및 논문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5C8A29-2734-6CD8-83F9-312F8756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93C33-8CDE-4417-B3E0-5EB7009F616B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제목을 클릭하였을 때 해당 별도의 팝업창을 통해 논문을 제공하는 사이트로 이동한다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코멘트를 클릭하였을 때 별도의 팝업창을 통해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라벨에 분류기준을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8963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7F0C-962E-7079-9A38-9CF4DD16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E5210A9-808B-B63E-2B28-E41D57E8B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B247C6-48DC-C28E-D137-D65D1FE5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1A5816-F860-AFDA-6306-F91D855EA2A1}"/>
              </a:ext>
            </a:extLst>
          </p:cNvPr>
          <p:cNvSpPr/>
          <p:nvPr/>
        </p:nvSpPr>
        <p:spPr>
          <a:xfrm>
            <a:off x="17462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업로드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53F2F6-2B25-DA7A-4DC8-1ADB17615402}"/>
              </a:ext>
            </a:extLst>
          </p:cNvPr>
          <p:cNvSpPr/>
          <p:nvPr/>
        </p:nvSpPr>
        <p:spPr>
          <a:xfrm>
            <a:off x="39814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배정 및 </a:t>
            </a:r>
          </a:p>
          <a:p>
            <a:pPr algn="ctr"/>
            <a:r>
              <a:rPr lang="ko-KR" altLang="en-US" dirty="0"/>
              <a:t>채점 양식 제공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49B4E96-28EE-98F4-50AD-7CEE82BF897C}"/>
              </a:ext>
            </a:extLst>
          </p:cNvPr>
          <p:cNvSpPr/>
          <p:nvPr/>
        </p:nvSpPr>
        <p:spPr>
          <a:xfrm>
            <a:off x="621665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채점 결과</a:t>
            </a:r>
            <a:endParaRPr lang="en-US" altLang="ko-KR" dirty="0"/>
          </a:p>
          <a:p>
            <a:pPr algn="ctr"/>
            <a:r>
              <a:rPr lang="ko-KR" altLang="en-US" dirty="0"/>
              <a:t>업로드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4BAF49-5A82-6944-6B50-37DC47ED39C6}"/>
              </a:ext>
            </a:extLst>
          </p:cNvPr>
          <p:cNvSpPr/>
          <p:nvPr/>
        </p:nvSpPr>
        <p:spPr>
          <a:xfrm>
            <a:off x="8374380" y="3093126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114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90F1-3BD3-A4FF-72D4-4594F0DE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3D447B-93E9-AF6F-1B7C-2241D6D28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7C38C4-1D9F-3613-668F-7BF57D42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35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C4EB030-B96E-4828-DDA2-19DD007EB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02097"/>
              </p:ext>
            </p:extLst>
          </p:nvPr>
        </p:nvGraphicFramePr>
        <p:xfrm>
          <a:off x="588684" y="1506071"/>
          <a:ext cx="11020610" cy="43568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02061">
                  <a:extLst>
                    <a:ext uri="{9D8B030D-6E8A-4147-A177-3AD203B41FA5}">
                      <a16:colId xmlns:a16="http://schemas.microsoft.com/office/drawing/2014/main" val="3752544374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956720741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1712061679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173289543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2492188075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620167379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301723324"/>
                    </a:ext>
                  </a:extLst>
                </a:gridCol>
                <a:gridCol w="1102061">
                  <a:extLst>
                    <a:ext uri="{9D8B030D-6E8A-4147-A177-3AD203B41FA5}">
                      <a16:colId xmlns:a16="http://schemas.microsoft.com/office/drawing/2014/main" val="3128529611"/>
                    </a:ext>
                  </a:extLst>
                </a:gridCol>
                <a:gridCol w="1110430">
                  <a:extLst>
                    <a:ext uri="{9D8B030D-6E8A-4147-A177-3AD203B41FA5}">
                      <a16:colId xmlns:a16="http://schemas.microsoft.com/office/drawing/2014/main" val="3462407731"/>
                    </a:ext>
                  </a:extLst>
                </a:gridCol>
                <a:gridCol w="1093692">
                  <a:extLst>
                    <a:ext uri="{9D8B030D-6E8A-4147-A177-3AD203B41FA5}">
                      <a16:colId xmlns:a16="http://schemas.microsoft.com/office/drawing/2014/main" val="246126180"/>
                    </a:ext>
                  </a:extLst>
                </a:gridCol>
              </a:tblGrid>
              <a:tr h="21784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57561"/>
                  </a:ext>
                </a:extLst>
              </a:tr>
              <a:tr h="21784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116703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8C3AA7-BBF9-436D-5BB3-140309BBD5EE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업로드</a:t>
            </a:r>
          </a:p>
        </p:txBody>
      </p:sp>
    </p:spTree>
    <p:extLst>
      <p:ext uri="{BB962C8B-B14F-4D97-AF65-F5344CB8AC3E}">
        <p14:creationId xmlns:p14="http://schemas.microsoft.com/office/powerpoint/2010/main" val="3183146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37AB-255A-B119-E482-C5C8FF3A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D994B58-35C5-623D-46BF-64AF861E6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4AF718-42D8-5286-6953-A287C731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0D95EF-4746-3234-385A-B2FA47265382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PDF, JPEG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등을 통해 업로드한다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업로드된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파일이 인식 불가능한 경우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재업로드를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요구한다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업로드된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파일의 순서를 조정한 후 제출할 수 있는 기회를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1,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2,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대한 순서 및 답안지 매수를 조정할 수 있도록 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278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8F4F-DEB8-708F-EDF6-12111B433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197A2AF-CA47-0FA8-3731-11B1260C3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FF7BE3-FDCE-7DE2-60AB-1469F1D3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E31225D-D1D1-C163-6BAE-2E3C1C26FE63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배정 및 </a:t>
            </a:r>
            <a:endParaRPr lang="en-US" altLang="ko-KR" dirty="0"/>
          </a:p>
          <a:p>
            <a:pPr algn="ctr"/>
            <a:r>
              <a:rPr lang="ko-KR" altLang="en-US" dirty="0"/>
              <a:t>채점 양식 제공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BFBC146-C243-8053-5EC3-80B27772EA6E}"/>
              </a:ext>
            </a:extLst>
          </p:cNvPr>
          <p:cNvGrpSpPr/>
          <p:nvPr/>
        </p:nvGrpSpPr>
        <p:grpSpPr>
          <a:xfrm>
            <a:off x="600891" y="1971727"/>
            <a:ext cx="4212771" cy="4247097"/>
            <a:chOff x="600891" y="1004172"/>
            <a:chExt cx="4212771" cy="5359621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18557DC-8093-FAF2-F85E-F130504D90B4}"/>
                </a:ext>
              </a:extLst>
            </p:cNvPr>
            <p:cNvSpPr/>
            <p:nvPr/>
          </p:nvSpPr>
          <p:spPr>
            <a:xfrm>
              <a:off x="600891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FD132E1-BEE4-26B0-B4C6-F9F6D7DDF14B}"/>
                </a:ext>
              </a:extLst>
            </p:cNvPr>
            <p:cNvSpPr/>
            <p:nvPr/>
          </p:nvSpPr>
          <p:spPr>
            <a:xfrm>
              <a:off x="600891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BC0A93B-E697-0AA0-6F8F-D703796CBFB4}"/>
                </a:ext>
              </a:extLst>
            </p:cNvPr>
            <p:cNvSpPr/>
            <p:nvPr/>
          </p:nvSpPr>
          <p:spPr>
            <a:xfrm>
              <a:off x="600891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7AADA1A-3EB2-1400-8D19-6B3985859947}"/>
                </a:ext>
              </a:extLst>
            </p:cNvPr>
            <p:cNvSpPr/>
            <p:nvPr/>
          </p:nvSpPr>
          <p:spPr>
            <a:xfrm>
              <a:off x="600891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EF05030-78E9-6194-E280-6469ED79FB5F}"/>
                </a:ext>
              </a:extLst>
            </p:cNvPr>
            <p:cNvSpPr/>
            <p:nvPr/>
          </p:nvSpPr>
          <p:spPr>
            <a:xfrm>
              <a:off x="600891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5</a:t>
              </a:r>
              <a:endParaRPr lang="ko-KR" altLang="en-US" sz="14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AC03EB0-D570-E30C-C2AC-ECB08760BB0D}"/>
                </a:ext>
              </a:extLst>
            </p:cNvPr>
            <p:cNvSpPr/>
            <p:nvPr/>
          </p:nvSpPr>
          <p:spPr>
            <a:xfrm>
              <a:off x="600891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6</a:t>
              </a:r>
              <a:endParaRPr lang="ko-KR" altLang="en-US" sz="14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220D1C5-B5B6-333A-07C9-C19BC789513A}"/>
                </a:ext>
              </a:extLst>
            </p:cNvPr>
            <p:cNvSpPr/>
            <p:nvPr/>
          </p:nvSpPr>
          <p:spPr>
            <a:xfrm>
              <a:off x="600891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7</a:t>
              </a:r>
              <a:endParaRPr lang="ko-KR" altLang="en-US" sz="14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CBFEBE9-747C-EC4A-2ABB-F599389AD179}"/>
                </a:ext>
              </a:extLst>
            </p:cNvPr>
            <p:cNvSpPr/>
            <p:nvPr/>
          </p:nvSpPr>
          <p:spPr>
            <a:xfrm>
              <a:off x="600891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8</a:t>
              </a:r>
              <a:endParaRPr lang="ko-KR" altLang="en-US" sz="14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E9C2118-BF2E-7CFE-BDAF-734C2977BA84}"/>
                </a:ext>
              </a:extLst>
            </p:cNvPr>
            <p:cNvSpPr/>
            <p:nvPr/>
          </p:nvSpPr>
          <p:spPr>
            <a:xfrm>
              <a:off x="600891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9</a:t>
              </a:r>
              <a:endParaRPr lang="ko-KR" altLang="en-US" sz="14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F38AD94-4676-A7A5-06FD-864B0D23ED87}"/>
                </a:ext>
              </a:extLst>
            </p:cNvPr>
            <p:cNvSpPr/>
            <p:nvPr/>
          </p:nvSpPr>
          <p:spPr>
            <a:xfrm>
              <a:off x="600891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/>
                <a:t>10</a:t>
              </a:r>
              <a:endParaRPr lang="ko-KR" altLang="en-US" sz="14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3565CF70-DE89-C4EE-8C7B-2A4B8DEA08A0}"/>
                </a:ext>
              </a:extLst>
            </p:cNvPr>
            <p:cNvSpPr/>
            <p:nvPr/>
          </p:nvSpPr>
          <p:spPr>
            <a:xfrm>
              <a:off x="1319348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8AD8463-E1B7-043B-8435-12C6E6FBCF4A}"/>
                </a:ext>
              </a:extLst>
            </p:cNvPr>
            <p:cNvSpPr/>
            <p:nvPr/>
          </p:nvSpPr>
          <p:spPr>
            <a:xfrm>
              <a:off x="1319348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F1514AA-AD39-7948-2003-4FA1914E6DB8}"/>
                </a:ext>
              </a:extLst>
            </p:cNvPr>
            <p:cNvSpPr/>
            <p:nvPr/>
          </p:nvSpPr>
          <p:spPr>
            <a:xfrm>
              <a:off x="1319348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48C1D9C-76A1-ABEC-FD24-01A5EB9ABC8F}"/>
                </a:ext>
              </a:extLst>
            </p:cNvPr>
            <p:cNvSpPr/>
            <p:nvPr/>
          </p:nvSpPr>
          <p:spPr>
            <a:xfrm>
              <a:off x="1319348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0C80F474-AECA-942A-15C3-95B8E2E2C0B4}"/>
                </a:ext>
              </a:extLst>
            </p:cNvPr>
            <p:cNvSpPr/>
            <p:nvPr/>
          </p:nvSpPr>
          <p:spPr>
            <a:xfrm>
              <a:off x="1319348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051219C-0311-FFA6-4908-5A63AD55BD03}"/>
                </a:ext>
              </a:extLst>
            </p:cNvPr>
            <p:cNvSpPr/>
            <p:nvPr/>
          </p:nvSpPr>
          <p:spPr>
            <a:xfrm>
              <a:off x="1319348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79D2DAE-AC7D-0446-974C-4F72A908FFB5}"/>
                </a:ext>
              </a:extLst>
            </p:cNvPr>
            <p:cNvSpPr/>
            <p:nvPr/>
          </p:nvSpPr>
          <p:spPr>
            <a:xfrm>
              <a:off x="1319348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0D319BE-0C6D-5A57-1920-52EC5C2C1498}"/>
                </a:ext>
              </a:extLst>
            </p:cNvPr>
            <p:cNvSpPr/>
            <p:nvPr/>
          </p:nvSpPr>
          <p:spPr>
            <a:xfrm>
              <a:off x="1319348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D902410-E151-10B6-6FDD-0A95D9D5CF5E}"/>
                </a:ext>
              </a:extLst>
            </p:cNvPr>
            <p:cNvSpPr/>
            <p:nvPr/>
          </p:nvSpPr>
          <p:spPr>
            <a:xfrm>
              <a:off x="1319348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A6B8432C-229B-8248-EA5E-C69AC8E59CB8}"/>
                </a:ext>
              </a:extLst>
            </p:cNvPr>
            <p:cNvSpPr/>
            <p:nvPr/>
          </p:nvSpPr>
          <p:spPr>
            <a:xfrm>
              <a:off x="1319348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10-1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B43BE56-9775-D984-4466-0173C68F69AE}"/>
                </a:ext>
              </a:extLst>
            </p:cNvPr>
            <p:cNvSpPr/>
            <p:nvPr/>
          </p:nvSpPr>
          <p:spPr>
            <a:xfrm>
              <a:off x="2037805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95BB1368-3C9B-6858-98E6-F8A1F59016F8}"/>
                </a:ext>
              </a:extLst>
            </p:cNvPr>
            <p:cNvSpPr/>
            <p:nvPr/>
          </p:nvSpPr>
          <p:spPr>
            <a:xfrm>
              <a:off x="2037805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2D2A86B5-46E1-23D0-5C87-0344D6572830}"/>
                </a:ext>
              </a:extLst>
            </p:cNvPr>
            <p:cNvSpPr/>
            <p:nvPr/>
          </p:nvSpPr>
          <p:spPr>
            <a:xfrm>
              <a:off x="2037805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85F5145-559A-06D0-07FD-390DB6E3F190}"/>
                </a:ext>
              </a:extLst>
            </p:cNvPr>
            <p:cNvSpPr/>
            <p:nvPr/>
          </p:nvSpPr>
          <p:spPr>
            <a:xfrm>
              <a:off x="2037805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64BAA28-586C-B3CC-47CE-AC193CD1A797}"/>
                </a:ext>
              </a:extLst>
            </p:cNvPr>
            <p:cNvSpPr/>
            <p:nvPr/>
          </p:nvSpPr>
          <p:spPr>
            <a:xfrm>
              <a:off x="2037805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BF55D9B7-BA6E-1FEC-F8D3-1D2F131EC59B}"/>
                </a:ext>
              </a:extLst>
            </p:cNvPr>
            <p:cNvSpPr/>
            <p:nvPr/>
          </p:nvSpPr>
          <p:spPr>
            <a:xfrm>
              <a:off x="2037805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06C6D4D-D17D-8A64-160A-A8857C143983}"/>
                </a:ext>
              </a:extLst>
            </p:cNvPr>
            <p:cNvSpPr/>
            <p:nvPr/>
          </p:nvSpPr>
          <p:spPr>
            <a:xfrm>
              <a:off x="2037805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756BC4F-A06E-121E-3990-166578E8E060}"/>
                </a:ext>
              </a:extLst>
            </p:cNvPr>
            <p:cNvSpPr/>
            <p:nvPr/>
          </p:nvSpPr>
          <p:spPr>
            <a:xfrm>
              <a:off x="2037805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B2ABDECD-04E7-7047-8E8B-2A02381D39EE}"/>
                </a:ext>
              </a:extLst>
            </p:cNvPr>
            <p:cNvSpPr/>
            <p:nvPr/>
          </p:nvSpPr>
          <p:spPr>
            <a:xfrm>
              <a:off x="2037805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72CA26E7-DFA7-E16D-4DC4-E785B8A0B79C}"/>
                </a:ext>
              </a:extLst>
            </p:cNvPr>
            <p:cNvSpPr/>
            <p:nvPr/>
          </p:nvSpPr>
          <p:spPr>
            <a:xfrm>
              <a:off x="2037805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10-2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B17C17DE-FC23-2D38-841C-D18D5FA02807}"/>
                </a:ext>
              </a:extLst>
            </p:cNvPr>
            <p:cNvSpPr/>
            <p:nvPr/>
          </p:nvSpPr>
          <p:spPr>
            <a:xfrm>
              <a:off x="2756262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89A5A2E-5799-E997-8EE1-E8F7008725FB}"/>
                </a:ext>
              </a:extLst>
            </p:cNvPr>
            <p:cNvSpPr/>
            <p:nvPr/>
          </p:nvSpPr>
          <p:spPr>
            <a:xfrm>
              <a:off x="2756262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C744946F-50AF-1C14-87D2-C9E3DFD021F6}"/>
                </a:ext>
              </a:extLst>
            </p:cNvPr>
            <p:cNvSpPr/>
            <p:nvPr/>
          </p:nvSpPr>
          <p:spPr>
            <a:xfrm>
              <a:off x="2756262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0831615-429E-0FE5-224A-5F14075BC60F}"/>
                </a:ext>
              </a:extLst>
            </p:cNvPr>
            <p:cNvSpPr/>
            <p:nvPr/>
          </p:nvSpPr>
          <p:spPr>
            <a:xfrm>
              <a:off x="2756262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A124FDC-A699-1F37-8562-59D9AC65992F}"/>
                </a:ext>
              </a:extLst>
            </p:cNvPr>
            <p:cNvSpPr/>
            <p:nvPr/>
          </p:nvSpPr>
          <p:spPr>
            <a:xfrm>
              <a:off x="2756262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DD840A8E-7C43-55FF-7E1A-084CA4D9ABC9}"/>
                </a:ext>
              </a:extLst>
            </p:cNvPr>
            <p:cNvSpPr/>
            <p:nvPr/>
          </p:nvSpPr>
          <p:spPr>
            <a:xfrm>
              <a:off x="2756262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82663A6-7FF4-E774-F31D-E51FBC85A1E4}"/>
                </a:ext>
              </a:extLst>
            </p:cNvPr>
            <p:cNvSpPr/>
            <p:nvPr/>
          </p:nvSpPr>
          <p:spPr>
            <a:xfrm>
              <a:off x="2756262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E774C324-404D-5B20-BAFB-795FBEFF7F47}"/>
                </a:ext>
              </a:extLst>
            </p:cNvPr>
            <p:cNvSpPr/>
            <p:nvPr/>
          </p:nvSpPr>
          <p:spPr>
            <a:xfrm>
              <a:off x="2756262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F81CED0-E318-0FB6-B12F-91492ED9CBEE}"/>
                </a:ext>
              </a:extLst>
            </p:cNvPr>
            <p:cNvSpPr/>
            <p:nvPr/>
          </p:nvSpPr>
          <p:spPr>
            <a:xfrm>
              <a:off x="2756262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D6498552-25BB-3EC0-E06E-C0714FDF26C6}"/>
                </a:ext>
              </a:extLst>
            </p:cNvPr>
            <p:cNvSpPr/>
            <p:nvPr/>
          </p:nvSpPr>
          <p:spPr>
            <a:xfrm>
              <a:off x="2756262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10-3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BB48A0FB-2B43-5030-0BF2-F1A38C4D7310}"/>
                </a:ext>
              </a:extLst>
            </p:cNvPr>
            <p:cNvSpPr/>
            <p:nvPr/>
          </p:nvSpPr>
          <p:spPr>
            <a:xfrm>
              <a:off x="3474719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525502C-7D08-06D4-7B37-29D0CCAD2C80}"/>
                </a:ext>
              </a:extLst>
            </p:cNvPr>
            <p:cNvSpPr/>
            <p:nvPr/>
          </p:nvSpPr>
          <p:spPr>
            <a:xfrm>
              <a:off x="3474719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2B66266B-43C3-AFFF-5EC2-F2F873A710A7}"/>
                </a:ext>
              </a:extLst>
            </p:cNvPr>
            <p:cNvSpPr/>
            <p:nvPr/>
          </p:nvSpPr>
          <p:spPr>
            <a:xfrm>
              <a:off x="3474719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31A1348-EF92-2646-B973-F28E0BBC6197}"/>
                </a:ext>
              </a:extLst>
            </p:cNvPr>
            <p:cNvSpPr/>
            <p:nvPr/>
          </p:nvSpPr>
          <p:spPr>
            <a:xfrm>
              <a:off x="3474719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B92AEF7-A38C-22F1-F9F6-4CB682DBC25E}"/>
                </a:ext>
              </a:extLst>
            </p:cNvPr>
            <p:cNvSpPr/>
            <p:nvPr/>
          </p:nvSpPr>
          <p:spPr>
            <a:xfrm>
              <a:off x="3474719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664DCDC-3555-2D9C-ABD6-B3CFF4F6D067}"/>
                </a:ext>
              </a:extLst>
            </p:cNvPr>
            <p:cNvSpPr/>
            <p:nvPr/>
          </p:nvSpPr>
          <p:spPr>
            <a:xfrm>
              <a:off x="3474719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D7C111DD-2EDD-D762-487C-FC2D799BE7C7}"/>
                </a:ext>
              </a:extLst>
            </p:cNvPr>
            <p:cNvSpPr/>
            <p:nvPr/>
          </p:nvSpPr>
          <p:spPr>
            <a:xfrm>
              <a:off x="3474719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FF7650E-2FBF-5A41-E1F8-8EA76924E190}"/>
                </a:ext>
              </a:extLst>
            </p:cNvPr>
            <p:cNvSpPr/>
            <p:nvPr/>
          </p:nvSpPr>
          <p:spPr>
            <a:xfrm>
              <a:off x="3474719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741E354E-DFA9-4E3F-4021-F300FF3540CD}"/>
                </a:ext>
              </a:extLst>
            </p:cNvPr>
            <p:cNvSpPr/>
            <p:nvPr/>
          </p:nvSpPr>
          <p:spPr>
            <a:xfrm>
              <a:off x="3474719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E11C3F93-272C-E1CE-56AA-52E04C9A1FE2}"/>
                </a:ext>
              </a:extLst>
            </p:cNvPr>
            <p:cNvSpPr/>
            <p:nvPr/>
          </p:nvSpPr>
          <p:spPr>
            <a:xfrm>
              <a:off x="3474719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10-4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65C2EBE-46C7-DC29-12EC-6916E66C6B3B}"/>
                </a:ext>
              </a:extLst>
            </p:cNvPr>
            <p:cNvSpPr/>
            <p:nvPr/>
          </p:nvSpPr>
          <p:spPr>
            <a:xfrm>
              <a:off x="4193176" y="1004172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1334267-23B5-D467-F9A8-8DF173ED403F}"/>
                </a:ext>
              </a:extLst>
            </p:cNvPr>
            <p:cNvSpPr/>
            <p:nvPr/>
          </p:nvSpPr>
          <p:spPr>
            <a:xfrm>
              <a:off x="4193176" y="1546281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E76BB3A6-4CCD-9AC7-48E2-08162031424B}"/>
                </a:ext>
              </a:extLst>
            </p:cNvPr>
            <p:cNvSpPr/>
            <p:nvPr/>
          </p:nvSpPr>
          <p:spPr>
            <a:xfrm>
              <a:off x="4193176" y="2088390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867BBAC1-0FC3-245B-FACB-30C6004E0DA2}"/>
                </a:ext>
              </a:extLst>
            </p:cNvPr>
            <p:cNvSpPr/>
            <p:nvPr/>
          </p:nvSpPr>
          <p:spPr>
            <a:xfrm>
              <a:off x="4193176" y="2630499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AA75F363-5660-2C99-3059-021C0EDD9C1F}"/>
                </a:ext>
              </a:extLst>
            </p:cNvPr>
            <p:cNvSpPr/>
            <p:nvPr/>
          </p:nvSpPr>
          <p:spPr>
            <a:xfrm>
              <a:off x="4193176" y="3172608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48F69FA6-6BCF-D01F-8F84-62599B92EFF0}"/>
                </a:ext>
              </a:extLst>
            </p:cNvPr>
            <p:cNvSpPr/>
            <p:nvPr/>
          </p:nvSpPr>
          <p:spPr>
            <a:xfrm>
              <a:off x="4193176" y="3714717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9160DA2D-318E-46DC-51C3-5691D28BCAF8}"/>
                </a:ext>
              </a:extLst>
            </p:cNvPr>
            <p:cNvSpPr/>
            <p:nvPr/>
          </p:nvSpPr>
          <p:spPr>
            <a:xfrm>
              <a:off x="4193176" y="4256826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CF231D53-979C-51AE-EABE-C4A598041902}"/>
                </a:ext>
              </a:extLst>
            </p:cNvPr>
            <p:cNvSpPr/>
            <p:nvPr/>
          </p:nvSpPr>
          <p:spPr>
            <a:xfrm>
              <a:off x="4193176" y="4798935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96" name="사각형: 둥근 모서리 4095">
              <a:extLst>
                <a:ext uri="{FF2B5EF4-FFF2-40B4-BE49-F238E27FC236}">
                  <a16:creationId xmlns:a16="http://schemas.microsoft.com/office/drawing/2014/main" id="{057DEF47-84D5-9126-0EC5-B5E5EB6C112D}"/>
                </a:ext>
              </a:extLst>
            </p:cNvPr>
            <p:cNvSpPr/>
            <p:nvPr/>
          </p:nvSpPr>
          <p:spPr>
            <a:xfrm>
              <a:off x="4193176" y="5341044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97" name="사각형: 둥근 모서리 4096">
              <a:extLst>
                <a:ext uri="{FF2B5EF4-FFF2-40B4-BE49-F238E27FC236}">
                  <a16:creationId xmlns:a16="http://schemas.microsoft.com/office/drawing/2014/main" id="{90BC088F-1249-01F3-EA56-6ED918CAE003}"/>
                </a:ext>
              </a:extLst>
            </p:cNvPr>
            <p:cNvSpPr/>
            <p:nvPr/>
          </p:nvSpPr>
          <p:spPr>
            <a:xfrm>
              <a:off x="4193176" y="5883153"/>
              <a:ext cx="620486" cy="4806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10-5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E08BF93F-74F0-1F36-EE81-9281D4DA0C32}"/>
              </a:ext>
            </a:extLst>
          </p:cNvPr>
          <p:cNvSpPr/>
          <p:nvPr/>
        </p:nvSpPr>
        <p:spPr>
          <a:xfrm>
            <a:off x="7264583" y="197172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100" name="사각형: 둥근 모서리 4099">
            <a:extLst>
              <a:ext uri="{FF2B5EF4-FFF2-40B4-BE49-F238E27FC236}">
                <a16:creationId xmlns:a16="http://schemas.microsoft.com/office/drawing/2014/main" id="{ED44FED3-53C2-65C8-C513-31DDE8A8DCC1}"/>
              </a:ext>
            </a:extLst>
          </p:cNvPr>
          <p:cNvSpPr/>
          <p:nvPr/>
        </p:nvSpPr>
        <p:spPr>
          <a:xfrm>
            <a:off x="7264583" y="240130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4C12902A-7A71-95FC-3EE0-596FEFE82848}"/>
              </a:ext>
            </a:extLst>
          </p:cNvPr>
          <p:cNvSpPr/>
          <p:nvPr/>
        </p:nvSpPr>
        <p:spPr>
          <a:xfrm>
            <a:off x="7264583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5F8E26DD-52A5-2650-937B-E0A34D371072}"/>
              </a:ext>
            </a:extLst>
          </p:cNvPr>
          <p:cNvSpPr/>
          <p:nvPr/>
        </p:nvSpPr>
        <p:spPr>
          <a:xfrm>
            <a:off x="7264583" y="326046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C0378072-510F-2EC5-FE30-44A900FB7B34}"/>
              </a:ext>
            </a:extLst>
          </p:cNvPr>
          <p:cNvSpPr/>
          <p:nvPr/>
        </p:nvSpPr>
        <p:spPr>
          <a:xfrm>
            <a:off x="7264583" y="369005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4104" name="사각형: 둥근 모서리 4103">
            <a:extLst>
              <a:ext uri="{FF2B5EF4-FFF2-40B4-BE49-F238E27FC236}">
                <a16:creationId xmlns:a16="http://schemas.microsoft.com/office/drawing/2014/main" id="{38397F9A-0B51-5181-79A3-8DF70972799D}"/>
              </a:ext>
            </a:extLst>
          </p:cNvPr>
          <p:cNvSpPr/>
          <p:nvPr/>
        </p:nvSpPr>
        <p:spPr>
          <a:xfrm>
            <a:off x="7264583" y="411963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4105" name="사각형: 둥근 모서리 4104">
            <a:extLst>
              <a:ext uri="{FF2B5EF4-FFF2-40B4-BE49-F238E27FC236}">
                <a16:creationId xmlns:a16="http://schemas.microsoft.com/office/drawing/2014/main" id="{C8832610-584A-C00F-4DF1-8AE4835C3B5B}"/>
              </a:ext>
            </a:extLst>
          </p:cNvPr>
          <p:cNvSpPr/>
          <p:nvPr/>
        </p:nvSpPr>
        <p:spPr>
          <a:xfrm>
            <a:off x="7264583" y="454921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7</a:t>
            </a:r>
            <a:endParaRPr lang="ko-KR" altLang="en-US" sz="1400" dirty="0"/>
          </a:p>
        </p:txBody>
      </p:sp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DCE2E521-5E3E-D8E4-98D9-CDC64A49D1D6}"/>
              </a:ext>
            </a:extLst>
          </p:cNvPr>
          <p:cNvSpPr/>
          <p:nvPr/>
        </p:nvSpPr>
        <p:spPr>
          <a:xfrm>
            <a:off x="7264583" y="497879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8</a:t>
            </a:r>
            <a:endParaRPr lang="ko-KR" altLang="en-US" sz="1400" dirty="0"/>
          </a:p>
        </p:txBody>
      </p:sp>
      <p:sp>
        <p:nvSpPr>
          <p:cNvPr id="4107" name="사각형: 둥근 모서리 4106">
            <a:extLst>
              <a:ext uri="{FF2B5EF4-FFF2-40B4-BE49-F238E27FC236}">
                <a16:creationId xmlns:a16="http://schemas.microsoft.com/office/drawing/2014/main" id="{C2BFCF88-716C-D0C6-F66C-9B30898B9A6E}"/>
              </a:ext>
            </a:extLst>
          </p:cNvPr>
          <p:cNvSpPr/>
          <p:nvPr/>
        </p:nvSpPr>
        <p:spPr>
          <a:xfrm>
            <a:off x="7264583" y="54083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9</a:t>
            </a:r>
            <a:endParaRPr lang="ko-KR" altLang="en-US" sz="1400" dirty="0"/>
          </a:p>
        </p:txBody>
      </p:sp>
      <p:sp>
        <p:nvSpPr>
          <p:cNvPr id="4108" name="사각형: 둥근 모서리 4107">
            <a:extLst>
              <a:ext uri="{FF2B5EF4-FFF2-40B4-BE49-F238E27FC236}">
                <a16:creationId xmlns:a16="http://schemas.microsoft.com/office/drawing/2014/main" id="{3AB51069-850B-0128-D99F-C9642084971B}"/>
              </a:ext>
            </a:extLst>
          </p:cNvPr>
          <p:cNvSpPr/>
          <p:nvPr/>
        </p:nvSpPr>
        <p:spPr>
          <a:xfrm>
            <a:off x="7264583" y="583795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/>
              <a:t>10</a:t>
            </a:r>
            <a:endParaRPr lang="ko-KR" altLang="en-US" sz="1400" dirty="0"/>
          </a:p>
        </p:txBody>
      </p:sp>
      <p:sp>
        <p:nvSpPr>
          <p:cNvPr id="4109" name="사각형: 둥근 모서리 4108">
            <a:extLst>
              <a:ext uri="{FF2B5EF4-FFF2-40B4-BE49-F238E27FC236}">
                <a16:creationId xmlns:a16="http://schemas.microsoft.com/office/drawing/2014/main" id="{84CBD519-FC7B-795D-44B6-9C269CE53B64}"/>
              </a:ext>
            </a:extLst>
          </p:cNvPr>
          <p:cNvSpPr/>
          <p:nvPr/>
        </p:nvSpPr>
        <p:spPr>
          <a:xfrm>
            <a:off x="7983040" y="241372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DCA5BACD-54D7-6512-8E34-42324F6F523B}"/>
              </a:ext>
            </a:extLst>
          </p:cNvPr>
          <p:cNvSpPr/>
          <p:nvPr/>
        </p:nvSpPr>
        <p:spPr>
          <a:xfrm>
            <a:off x="7983040" y="284331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1" name="사각형: 둥근 모서리 4110">
            <a:extLst>
              <a:ext uri="{FF2B5EF4-FFF2-40B4-BE49-F238E27FC236}">
                <a16:creationId xmlns:a16="http://schemas.microsoft.com/office/drawing/2014/main" id="{D3E5A40A-2EB2-4172-0C6D-1A5BE250C681}"/>
              </a:ext>
            </a:extLst>
          </p:cNvPr>
          <p:cNvSpPr/>
          <p:nvPr/>
        </p:nvSpPr>
        <p:spPr>
          <a:xfrm>
            <a:off x="7983040" y="327289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2" name="사각형: 둥근 모서리 4111">
            <a:extLst>
              <a:ext uri="{FF2B5EF4-FFF2-40B4-BE49-F238E27FC236}">
                <a16:creationId xmlns:a16="http://schemas.microsoft.com/office/drawing/2014/main" id="{EC6847EA-FFC6-9DD2-C1DB-9907AB8F1DC7}"/>
              </a:ext>
            </a:extLst>
          </p:cNvPr>
          <p:cNvSpPr/>
          <p:nvPr/>
        </p:nvSpPr>
        <p:spPr>
          <a:xfrm>
            <a:off x="7983040" y="370247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EA3CF6CD-0B22-5E2E-4C0D-E8AC53EBF9B1}"/>
              </a:ext>
            </a:extLst>
          </p:cNvPr>
          <p:cNvSpPr/>
          <p:nvPr/>
        </p:nvSpPr>
        <p:spPr>
          <a:xfrm>
            <a:off x="7983040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512F2142-99E5-07C7-1667-1EA6AC71E18B}"/>
              </a:ext>
            </a:extLst>
          </p:cNvPr>
          <p:cNvSpPr/>
          <p:nvPr/>
        </p:nvSpPr>
        <p:spPr>
          <a:xfrm>
            <a:off x="7983040" y="456163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3DDB1200-274E-BB96-C795-B923766F89E3}"/>
              </a:ext>
            </a:extLst>
          </p:cNvPr>
          <p:cNvSpPr/>
          <p:nvPr/>
        </p:nvSpPr>
        <p:spPr>
          <a:xfrm>
            <a:off x="7983040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BFA36C6B-DF5B-C4FD-7D9B-955D9B1A70FC}"/>
              </a:ext>
            </a:extLst>
          </p:cNvPr>
          <p:cNvSpPr/>
          <p:nvPr/>
        </p:nvSpPr>
        <p:spPr>
          <a:xfrm>
            <a:off x="7983040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500B6870-57AE-C1A4-6906-E05BA3634CB4}"/>
              </a:ext>
            </a:extLst>
          </p:cNvPr>
          <p:cNvSpPr/>
          <p:nvPr/>
        </p:nvSpPr>
        <p:spPr>
          <a:xfrm>
            <a:off x="7983040" y="585037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F19572B9-1C3F-4BF1-76A8-DF91EAEE2E11}"/>
              </a:ext>
            </a:extLst>
          </p:cNvPr>
          <p:cNvSpPr/>
          <p:nvPr/>
        </p:nvSpPr>
        <p:spPr>
          <a:xfrm>
            <a:off x="7983040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10-1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B485CC3E-5E5A-C08D-B6DD-378768C07B78}"/>
              </a:ext>
            </a:extLst>
          </p:cNvPr>
          <p:cNvSpPr/>
          <p:nvPr/>
        </p:nvSpPr>
        <p:spPr>
          <a:xfrm>
            <a:off x="8701497" y="2843310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6CBDEC50-0EB9-E927-BC27-11950D56CD6B}"/>
              </a:ext>
            </a:extLst>
          </p:cNvPr>
          <p:cNvSpPr/>
          <p:nvPr/>
        </p:nvSpPr>
        <p:spPr>
          <a:xfrm>
            <a:off x="8701497" y="327289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8CD78A53-B7F5-3B39-39A6-E2B25B8459D8}"/>
              </a:ext>
            </a:extLst>
          </p:cNvPr>
          <p:cNvSpPr/>
          <p:nvPr/>
        </p:nvSpPr>
        <p:spPr>
          <a:xfrm>
            <a:off x="8701497" y="370247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A6F19473-F48E-C691-20D5-DA1BD675FCDF}"/>
              </a:ext>
            </a:extLst>
          </p:cNvPr>
          <p:cNvSpPr/>
          <p:nvPr/>
        </p:nvSpPr>
        <p:spPr>
          <a:xfrm>
            <a:off x="8701497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8EF8EA59-5168-61F9-80F8-49D6DB644FEF}"/>
              </a:ext>
            </a:extLst>
          </p:cNvPr>
          <p:cNvSpPr/>
          <p:nvPr/>
        </p:nvSpPr>
        <p:spPr>
          <a:xfrm>
            <a:off x="8701497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0B430F1C-1497-573A-EEE4-75C796EEB1A5}"/>
              </a:ext>
            </a:extLst>
          </p:cNvPr>
          <p:cNvSpPr/>
          <p:nvPr/>
        </p:nvSpPr>
        <p:spPr>
          <a:xfrm>
            <a:off x="8701497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5" name="사각형: 둥근 모서리 4124">
            <a:extLst>
              <a:ext uri="{FF2B5EF4-FFF2-40B4-BE49-F238E27FC236}">
                <a16:creationId xmlns:a16="http://schemas.microsoft.com/office/drawing/2014/main" id="{9F8BCC8A-0BE4-78D4-A934-0D0660F6063E}"/>
              </a:ext>
            </a:extLst>
          </p:cNvPr>
          <p:cNvSpPr/>
          <p:nvPr/>
        </p:nvSpPr>
        <p:spPr>
          <a:xfrm>
            <a:off x="8701497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6" name="사각형: 둥근 모서리 4125">
            <a:extLst>
              <a:ext uri="{FF2B5EF4-FFF2-40B4-BE49-F238E27FC236}">
                <a16:creationId xmlns:a16="http://schemas.microsoft.com/office/drawing/2014/main" id="{6A9A0D24-7E69-C1CD-FDED-99AD3294DA01}"/>
              </a:ext>
            </a:extLst>
          </p:cNvPr>
          <p:cNvSpPr/>
          <p:nvPr/>
        </p:nvSpPr>
        <p:spPr>
          <a:xfrm>
            <a:off x="8701497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7" name="사각형: 둥근 모서리 4126">
            <a:extLst>
              <a:ext uri="{FF2B5EF4-FFF2-40B4-BE49-F238E27FC236}">
                <a16:creationId xmlns:a16="http://schemas.microsoft.com/office/drawing/2014/main" id="{32F20431-8C5E-528E-05DF-AC42292D9D6C}"/>
              </a:ext>
            </a:extLst>
          </p:cNvPr>
          <p:cNvSpPr/>
          <p:nvPr/>
        </p:nvSpPr>
        <p:spPr>
          <a:xfrm>
            <a:off x="8701497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8" name="사각형: 둥근 모서리 4127">
            <a:extLst>
              <a:ext uri="{FF2B5EF4-FFF2-40B4-BE49-F238E27FC236}">
                <a16:creationId xmlns:a16="http://schemas.microsoft.com/office/drawing/2014/main" id="{5335B5C3-04D8-9A71-4066-16DC40B08FC2}"/>
              </a:ext>
            </a:extLst>
          </p:cNvPr>
          <p:cNvSpPr/>
          <p:nvPr/>
        </p:nvSpPr>
        <p:spPr>
          <a:xfrm>
            <a:off x="8701497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10-2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29" name="사각형: 둥근 모서리 4128">
            <a:extLst>
              <a:ext uri="{FF2B5EF4-FFF2-40B4-BE49-F238E27FC236}">
                <a16:creationId xmlns:a16="http://schemas.microsoft.com/office/drawing/2014/main" id="{05E4A97A-4D1B-4344-AAF4-7016066A93F8}"/>
              </a:ext>
            </a:extLst>
          </p:cNvPr>
          <p:cNvSpPr/>
          <p:nvPr/>
        </p:nvSpPr>
        <p:spPr>
          <a:xfrm>
            <a:off x="9419954" y="327289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FFDD97D4-D18D-B7E9-7490-B61B5A05F51C}"/>
              </a:ext>
            </a:extLst>
          </p:cNvPr>
          <p:cNvSpPr/>
          <p:nvPr/>
        </p:nvSpPr>
        <p:spPr>
          <a:xfrm>
            <a:off x="9419954" y="37024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1" name="사각형: 둥근 모서리 4130">
            <a:extLst>
              <a:ext uri="{FF2B5EF4-FFF2-40B4-BE49-F238E27FC236}">
                <a16:creationId xmlns:a16="http://schemas.microsoft.com/office/drawing/2014/main" id="{5B59B5F3-1C33-2BBB-C2E7-94218CCA9E10}"/>
              </a:ext>
            </a:extLst>
          </p:cNvPr>
          <p:cNvSpPr/>
          <p:nvPr/>
        </p:nvSpPr>
        <p:spPr>
          <a:xfrm>
            <a:off x="9419954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2" name="사각형: 둥근 모서리 4131">
            <a:extLst>
              <a:ext uri="{FF2B5EF4-FFF2-40B4-BE49-F238E27FC236}">
                <a16:creationId xmlns:a16="http://schemas.microsoft.com/office/drawing/2014/main" id="{B2524BA0-6A8B-885B-802A-23CD18F40C3A}"/>
              </a:ext>
            </a:extLst>
          </p:cNvPr>
          <p:cNvSpPr/>
          <p:nvPr/>
        </p:nvSpPr>
        <p:spPr>
          <a:xfrm>
            <a:off x="9419954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3" name="사각형: 둥근 모서리 4132">
            <a:extLst>
              <a:ext uri="{FF2B5EF4-FFF2-40B4-BE49-F238E27FC236}">
                <a16:creationId xmlns:a16="http://schemas.microsoft.com/office/drawing/2014/main" id="{AD76D36E-CCB1-C285-F8AE-28F19596F0F7}"/>
              </a:ext>
            </a:extLst>
          </p:cNvPr>
          <p:cNvSpPr/>
          <p:nvPr/>
        </p:nvSpPr>
        <p:spPr>
          <a:xfrm>
            <a:off x="9419954" y="499121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4" name="사각형: 둥근 모서리 4133">
            <a:extLst>
              <a:ext uri="{FF2B5EF4-FFF2-40B4-BE49-F238E27FC236}">
                <a16:creationId xmlns:a16="http://schemas.microsoft.com/office/drawing/2014/main" id="{7BB4C842-07E4-4EFA-46D4-6E71B35E0BAC}"/>
              </a:ext>
            </a:extLst>
          </p:cNvPr>
          <p:cNvSpPr/>
          <p:nvPr/>
        </p:nvSpPr>
        <p:spPr>
          <a:xfrm>
            <a:off x="9419954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55A48305-C541-3BEC-4439-B77EF8B67D2F}"/>
              </a:ext>
            </a:extLst>
          </p:cNvPr>
          <p:cNvSpPr/>
          <p:nvPr/>
        </p:nvSpPr>
        <p:spPr>
          <a:xfrm>
            <a:off x="9419954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6" name="사각형: 둥근 모서리 4135">
            <a:extLst>
              <a:ext uri="{FF2B5EF4-FFF2-40B4-BE49-F238E27FC236}">
                <a16:creationId xmlns:a16="http://schemas.microsoft.com/office/drawing/2014/main" id="{E38F99C5-BC0C-EDC9-EF8F-921FFE5E18BC}"/>
              </a:ext>
            </a:extLst>
          </p:cNvPr>
          <p:cNvSpPr/>
          <p:nvPr/>
        </p:nvSpPr>
        <p:spPr>
          <a:xfrm>
            <a:off x="9419954" y="197172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7" name="사각형: 둥근 모서리 4136">
            <a:extLst>
              <a:ext uri="{FF2B5EF4-FFF2-40B4-BE49-F238E27FC236}">
                <a16:creationId xmlns:a16="http://schemas.microsoft.com/office/drawing/2014/main" id="{F45286F0-69E7-F931-41FA-4B7C5F17995E}"/>
              </a:ext>
            </a:extLst>
          </p:cNvPr>
          <p:cNvSpPr/>
          <p:nvPr/>
        </p:nvSpPr>
        <p:spPr>
          <a:xfrm>
            <a:off x="9419954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8" name="사각형: 둥근 모서리 4137">
            <a:extLst>
              <a:ext uri="{FF2B5EF4-FFF2-40B4-BE49-F238E27FC236}">
                <a16:creationId xmlns:a16="http://schemas.microsoft.com/office/drawing/2014/main" id="{33EC20EB-40BB-EDBA-1D31-5B5C949106BE}"/>
              </a:ext>
            </a:extLst>
          </p:cNvPr>
          <p:cNvSpPr/>
          <p:nvPr/>
        </p:nvSpPr>
        <p:spPr>
          <a:xfrm>
            <a:off x="9419954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10-3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39" name="사각형: 둥근 모서리 4138">
            <a:extLst>
              <a:ext uri="{FF2B5EF4-FFF2-40B4-BE49-F238E27FC236}">
                <a16:creationId xmlns:a16="http://schemas.microsoft.com/office/drawing/2014/main" id="{B8B44123-A8C3-D626-80A0-07E7F8317368}"/>
              </a:ext>
            </a:extLst>
          </p:cNvPr>
          <p:cNvSpPr/>
          <p:nvPr/>
        </p:nvSpPr>
        <p:spPr>
          <a:xfrm>
            <a:off x="10138411" y="413205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0" name="사각형: 둥근 모서리 4139">
            <a:extLst>
              <a:ext uri="{FF2B5EF4-FFF2-40B4-BE49-F238E27FC236}">
                <a16:creationId xmlns:a16="http://schemas.microsoft.com/office/drawing/2014/main" id="{917694AF-A1EC-6873-5788-33A92F669FD6}"/>
              </a:ext>
            </a:extLst>
          </p:cNvPr>
          <p:cNvSpPr/>
          <p:nvPr/>
        </p:nvSpPr>
        <p:spPr>
          <a:xfrm>
            <a:off x="10138411" y="456163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1" name="사각형: 둥근 모서리 4140">
            <a:extLst>
              <a:ext uri="{FF2B5EF4-FFF2-40B4-BE49-F238E27FC236}">
                <a16:creationId xmlns:a16="http://schemas.microsoft.com/office/drawing/2014/main" id="{C0A2063B-5147-7D88-90B8-0106411F385F}"/>
              </a:ext>
            </a:extLst>
          </p:cNvPr>
          <p:cNvSpPr/>
          <p:nvPr/>
        </p:nvSpPr>
        <p:spPr>
          <a:xfrm>
            <a:off x="10138411" y="499121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2" name="사각형: 둥근 모서리 4141">
            <a:extLst>
              <a:ext uri="{FF2B5EF4-FFF2-40B4-BE49-F238E27FC236}">
                <a16:creationId xmlns:a16="http://schemas.microsoft.com/office/drawing/2014/main" id="{15D5F592-69E8-767E-442A-5CAA30F3031A}"/>
              </a:ext>
            </a:extLst>
          </p:cNvPr>
          <p:cNvSpPr/>
          <p:nvPr/>
        </p:nvSpPr>
        <p:spPr>
          <a:xfrm>
            <a:off x="10138411" y="5420794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707C639E-3813-5F83-2252-EBCCA26CA05C}"/>
              </a:ext>
            </a:extLst>
          </p:cNvPr>
          <p:cNvSpPr/>
          <p:nvPr/>
        </p:nvSpPr>
        <p:spPr>
          <a:xfrm>
            <a:off x="10138411" y="5850375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4" name="사각형: 둥근 모서리 4143">
            <a:extLst>
              <a:ext uri="{FF2B5EF4-FFF2-40B4-BE49-F238E27FC236}">
                <a16:creationId xmlns:a16="http://schemas.microsoft.com/office/drawing/2014/main" id="{D2A0EE2F-767F-F70D-2682-8F624364D8B8}"/>
              </a:ext>
            </a:extLst>
          </p:cNvPr>
          <p:cNvSpPr/>
          <p:nvPr/>
        </p:nvSpPr>
        <p:spPr>
          <a:xfrm>
            <a:off x="10138411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4F3FFCE9-8649-F4D6-A088-67B401936E88}"/>
              </a:ext>
            </a:extLst>
          </p:cNvPr>
          <p:cNvSpPr/>
          <p:nvPr/>
        </p:nvSpPr>
        <p:spPr>
          <a:xfrm>
            <a:off x="10138411" y="240130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95EFA745-C723-B451-74D3-90E90758D2EB}"/>
              </a:ext>
            </a:extLst>
          </p:cNvPr>
          <p:cNvSpPr/>
          <p:nvPr/>
        </p:nvSpPr>
        <p:spPr>
          <a:xfrm>
            <a:off x="10138411" y="283088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6532EB43-8B58-9B26-3261-7B89FD66D51E}"/>
              </a:ext>
            </a:extLst>
          </p:cNvPr>
          <p:cNvSpPr/>
          <p:nvPr/>
        </p:nvSpPr>
        <p:spPr>
          <a:xfrm>
            <a:off x="10138411" y="326046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8" name="사각형: 둥근 모서리 4147">
            <a:extLst>
              <a:ext uri="{FF2B5EF4-FFF2-40B4-BE49-F238E27FC236}">
                <a16:creationId xmlns:a16="http://schemas.microsoft.com/office/drawing/2014/main" id="{223694EF-E189-1B8C-9317-264E1D118E35}"/>
              </a:ext>
            </a:extLst>
          </p:cNvPr>
          <p:cNvSpPr/>
          <p:nvPr/>
        </p:nvSpPr>
        <p:spPr>
          <a:xfrm>
            <a:off x="10138411" y="369004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10-4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885934D5-5159-F80A-4336-EF0FE09C79D5}"/>
              </a:ext>
            </a:extLst>
          </p:cNvPr>
          <p:cNvSpPr/>
          <p:nvPr/>
        </p:nvSpPr>
        <p:spPr>
          <a:xfrm>
            <a:off x="10856868" y="4549211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7267CF7B-2519-6533-DCA9-8205F2669355}"/>
              </a:ext>
            </a:extLst>
          </p:cNvPr>
          <p:cNvSpPr/>
          <p:nvPr/>
        </p:nvSpPr>
        <p:spPr>
          <a:xfrm>
            <a:off x="10856868" y="497879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3501BED7-9CAC-3EF4-2F96-DAA1FDE5D3A7}"/>
              </a:ext>
            </a:extLst>
          </p:cNvPr>
          <p:cNvSpPr/>
          <p:nvPr/>
        </p:nvSpPr>
        <p:spPr>
          <a:xfrm>
            <a:off x="10856868" y="5408372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A0983B9B-0AE2-C1EF-2D30-A1BE91020E55}"/>
              </a:ext>
            </a:extLst>
          </p:cNvPr>
          <p:cNvSpPr/>
          <p:nvPr/>
        </p:nvSpPr>
        <p:spPr>
          <a:xfrm>
            <a:off x="10856868" y="5837953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3" name="사각형: 둥근 모서리 4152">
            <a:extLst>
              <a:ext uri="{FF2B5EF4-FFF2-40B4-BE49-F238E27FC236}">
                <a16:creationId xmlns:a16="http://schemas.microsoft.com/office/drawing/2014/main" id="{9577FEF7-77A9-C2A2-5096-1B665C06250A}"/>
              </a:ext>
            </a:extLst>
          </p:cNvPr>
          <p:cNvSpPr/>
          <p:nvPr/>
        </p:nvSpPr>
        <p:spPr>
          <a:xfrm>
            <a:off x="10856868" y="197172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4" name="사각형: 둥근 모서리 4153">
            <a:extLst>
              <a:ext uri="{FF2B5EF4-FFF2-40B4-BE49-F238E27FC236}">
                <a16:creationId xmlns:a16="http://schemas.microsoft.com/office/drawing/2014/main" id="{4F220D38-6C34-E461-4BD8-06682067BE71}"/>
              </a:ext>
            </a:extLst>
          </p:cNvPr>
          <p:cNvSpPr/>
          <p:nvPr/>
        </p:nvSpPr>
        <p:spPr>
          <a:xfrm>
            <a:off x="10856868" y="2401306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5" name="사각형: 둥근 모서리 4154">
            <a:extLst>
              <a:ext uri="{FF2B5EF4-FFF2-40B4-BE49-F238E27FC236}">
                <a16:creationId xmlns:a16="http://schemas.microsoft.com/office/drawing/2014/main" id="{0B2958AE-285A-D481-4BDB-A242173A40F8}"/>
              </a:ext>
            </a:extLst>
          </p:cNvPr>
          <p:cNvSpPr/>
          <p:nvPr/>
        </p:nvSpPr>
        <p:spPr>
          <a:xfrm>
            <a:off x="10856868" y="2830887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6" name="사각형: 둥근 모서리 4155">
            <a:extLst>
              <a:ext uri="{FF2B5EF4-FFF2-40B4-BE49-F238E27FC236}">
                <a16:creationId xmlns:a16="http://schemas.microsoft.com/office/drawing/2014/main" id="{E7A7EC79-3561-AD61-C2AF-A85D845556E5}"/>
              </a:ext>
            </a:extLst>
          </p:cNvPr>
          <p:cNvSpPr/>
          <p:nvPr/>
        </p:nvSpPr>
        <p:spPr>
          <a:xfrm>
            <a:off x="10856868" y="326046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7" name="사각형: 둥근 모서리 4156">
            <a:extLst>
              <a:ext uri="{FF2B5EF4-FFF2-40B4-BE49-F238E27FC236}">
                <a16:creationId xmlns:a16="http://schemas.microsoft.com/office/drawing/2014/main" id="{2E736E05-117C-BA6A-7668-2D2C6718D3F3}"/>
              </a:ext>
            </a:extLst>
          </p:cNvPr>
          <p:cNvSpPr/>
          <p:nvPr/>
        </p:nvSpPr>
        <p:spPr>
          <a:xfrm>
            <a:off x="10856868" y="3690048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F607BF05-D533-60F6-3EFC-3BF9FC4B010F}"/>
              </a:ext>
            </a:extLst>
          </p:cNvPr>
          <p:cNvSpPr/>
          <p:nvPr/>
        </p:nvSpPr>
        <p:spPr>
          <a:xfrm>
            <a:off x="10856868" y="4119629"/>
            <a:ext cx="620486" cy="380871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10-5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59" name="직사각형 4158">
            <a:extLst>
              <a:ext uri="{FF2B5EF4-FFF2-40B4-BE49-F238E27FC236}">
                <a16:creationId xmlns:a16="http://schemas.microsoft.com/office/drawing/2014/main" id="{B92BFACE-F1E2-918F-D37F-EDB359649085}"/>
              </a:ext>
            </a:extLst>
          </p:cNvPr>
          <p:cNvSpPr/>
          <p:nvPr/>
        </p:nvSpPr>
        <p:spPr>
          <a:xfrm>
            <a:off x="476250" y="1793506"/>
            <a:ext cx="4534991" cy="45529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60" name="직사각형 4159">
            <a:extLst>
              <a:ext uri="{FF2B5EF4-FFF2-40B4-BE49-F238E27FC236}">
                <a16:creationId xmlns:a16="http://schemas.microsoft.com/office/drawing/2014/main" id="{8D988F8C-91B2-6616-DDC7-CA49FE762ABF}"/>
              </a:ext>
            </a:extLst>
          </p:cNvPr>
          <p:cNvSpPr/>
          <p:nvPr/>
        </p:nvSpPr>
        <p:spPr>
          <a:xfrm>
            <a:off x="7092587" y="1793506"/>
            <a:ext cx="4534991" cy="45529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61" name="직선 화살표 연결선 4160">
            <a:extLst>
              <a:ext uri="{FF2B5EF4-FFF2-40B4-BE49-F238E27FC236}">
                <a16:creationId xmlns:a16="http://schemas.microsoft.com/office/drawing/2014/main" id="{B6349586-B7B6-032C-EACA-9493A175183D}"/>
              </a:ext>
            </a:extLst>
          </p:cNvPr>
          <p:cNvCxnSpPr>
            <a:stCxn id="4159" idx="3"/>
            <a:endCxn id="4160" idx="1"/>
          </p:cNvCxnSpPr>
          <p:nvPr/>
        </p:nvCxnSpPr>
        <p:spPr>
          <a:xfrm>
            <a:off x="5011241" y="4069981"/>
            <a:ext cx="208134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2" name="TextBox 4161">
            <a:extLst>
              <a:ext uri="{FF2B5EF4-FFF2-40B4-BE49-F238E27FC236}">
                <a16:creationId xmlns:a16="http://schemas.microsoft.com/office/drawing/2014/main" id="{74CB648C-5A4B-377D-0E6B-6064A271713D}"/>
              </a:ext>
            </a:extLst>
          </p:cNvPr>
          <p:cNvSpPr txBox="1"/>
          <p:nvPr/>
        </p:nvSpPr>
        <p:spPr>
          <a:xfrm>
            <a:off x="5268262" y="4143591"/>
            <a:ext cx="172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무작위로 </a:t>
            </a:r>
            <a:r>
              <a:rPr lang="en-US" altLang="ko-KR" dirty="0"/>
              <a:t>N</a:t>
            </a:r>
            <a:r>
              <a:rPr lang="ko-KR" altLang="en-US" dirty="0"/>
              <a:t>개의 </a:t>
            </a:r>
            <a:endParaRPr lang="en-US" altLang="ko-KR" dirty="0"/>
          </a:p>
          <a:p>
            <a:pPr algn="ctr"/>
            <a:r>
              <a:rPr lang="ko-KR" altLang="en-US" dirty="0"/>
              <a:t>답안지 배정</a:t>
            </a:r>
          </a:p>
        </p:txBody>
      </p:sp>
      <p:sp>
        <p:nvSpPr>
          <p:cNvPr id="4163" name="TextBox 4162">
            <a:extLst>
              <a:ext uri="{FF2B5EF4-FFF2-40B4-BE49-F238E27FC236}">
                <a16:creationId xmlns:a16="http://schemas.microsoft.com/office/drawing/2014/main" id="{34674A3F-6570-9EB8-FCD8-49835ED741B9}"/>
              </a:ext>
            </a:extLst>
          </p:cNvPr>
          <p:cNvSpPr txBox="1"/>
          <p:nvPr/>
        </p:nvSpPr>
        <p:spPr>
          <a:xfrm>
            <a:off x="476250" y="138924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피채점자</a:t>
            </a:r>
            <a:endParaRPr lang="ko-KR" altLang="en-US" dirty="0"/>
          </a:p>
        </p:txBody>
      </p:sp>
      <p:sp>
        <p:nvSpPr>
          <p:cNvPr id="4164" name="TextBox 4163">
            <a:extLst>
              <a:ext uri="{FF2B5EF4-FFF2-40B4-BE49-F238E27FC236}">
                <a16:creationId xmlns:a16="http://schemas.microsoft.com/office/drawing/2014/main" id="{8A716C51-7297-708B-F84F-A76A27E62255}"/>
              </a:ext>
            </a:extLst>
          </p:cNvPr>
          <p:cNvSpPr txBox="1"/>
          <p:nvPr/>
        </p:nvSpPr>
        <p:spPr>
          <a:xfrm>
            <a:off x="7092587" y="138924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채점자</a:t>
            </a:r>
          </a:p>
        </p:txBody>
      </p:sp>
    </p:spTree>
    <p:extLst>
      <p:ext uri="{BB962C8B-B14F-4D97-AF65-F5344CB8AC3E}">
        <p14:creationId xmlns:p14="http://schemas.microsoft.com/office/powerpoint/2010/main" val="667368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CC71-21D0-0528-F6A7-729AD221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4526ED-CE46-B192-D47F-309E8A228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FEAC02-EFBA-0B4D-E43B-6989AC24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A5618-16DC-0C81-446C-1E9B30822246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피채점자의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답안지를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N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예를 들어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생성한다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생성된 답안지를 다른 수강생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또는 강사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 M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명에게 부작위로 교차 배정한다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답안지를 배정한 후 채점 기준과 채점표를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206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E4DC-3512-20FC-92F9-3A7E2228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A041EE5-CE7A-85CE-BF0B-4B8F1E9F8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3487B5-F366-E893-FB52-65D9444A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03CC8E-C3D7-E333-97A9-A11F929D1359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채점결과</a:t>
            </a:r>
            <a:endParaRPr lang="en-US" altLang="ko-KR" dirty="0"/>
          </a:p>
          <a:p>
            <a:pPr algn="ctr"/>
            <a:r>
              <a:rPr lang="ko-KR" altLang="en-US" dirty="0"/>
              <a:t>업로드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0F549B-4D95-0891-F140-BD686BEBA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649237"/>
              </p:ext>
            </p:extLst>
          </p:nvPr>
        </p:nvGraphicFramePr>
        <p:xfrm>
          <a:off x="338664" y="1421802"/>
          <a:ext cx="11476817" cy="5120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60635">
                  <a:extLst>
                    <a:ext uri="{9D8B030D-6E8A-4147-A177-3AD203B41FA5}">
                      <a16:colId xmlns:a16="http://schemas.microsoft.com/office/drawing/2014/main" val="1096865766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1824331871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268938268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504078475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422375552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1525001134"/>
                    </a:ext>
                  </a:extLst>
                </a:gridCol>
                <a:gridCol w="682685">
                  <a:extLst>
                    <a:ext uri="{9D8B030D-6E8A-4147-A177-3AD203B41FA5}">
                      <a16:colId xmlns:a16="http://schemas.microsoft.com/office/drawing/2014/main" val="4152264019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725515200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3099171280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327523572"/>
                    </a:ext>
                  </a:extLst>
                </a:gridCol>
                <a:gridCol w="830318">
                  <a:extLst>
                    <a:ext uri="{9D8B030D-6E8A-4147-A177-3AD203B41FA5}">
                      <a16:colId xmlns:a16="http://schemas.microsoft.com/office/drawing/2014/main" val="2372566142"/>
                    </a:ext>
                  </a:extLst>
                </a:gridCol>
                <a:gridCol w="1660635">
                  <a:extLst>
                    <a:ext uri="{9D8B030D-6E8A-4147-A177-3AD203B41FA5}">
                      <a16:colId xmlns:a16="http://schemas.microsoft.com/office/drawing/2014/main" val="288328294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채점기준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10-1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9-2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8-3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7-4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6-5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929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49318"/>
                  </a:ext>
                </a:extLst>
              </a:tr>
              <a:tr h="275259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</a:t>
                      </a:r>
                      <a:r>
                        <a:rPr lang="en-US" altLang="ko-KR" sz="800" dirty="0"/>
                        <a:t> 1(30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11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2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16952"/>
                  </a:ext>
                </a:extLst>
              </a:tr>
              <a:tr h="226684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2(20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87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2556"/>
                  </a:ext>
                </a:extLst>
              </a:tr>
              <a:tr h="275259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3(30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(3)(7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51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21904"/>
                  </a:ext>
                </a:extLst>
              </a:tr>
              <a:tr h="226684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4(20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680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소계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2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정성평가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4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총계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69.8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16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순위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9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944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F621-3941-6B38-06A1-739F70F4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F7C48A7-D57B-804F-8D59-6F0B9728E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868CB6-77E9-6583-DBBA-E07367F3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0781C-C96C-0B0D-72A0-F5EAEC016295}"/>
              </a:ext>
            </a:extLst>
          </p:cNvPr>
          <p:cNvSpPr txBox="1"/>
          <p:nvPr/>
        </p:nvSpPr>
        <p:spPr>
          <a:xfrm>
            <a:off x="272145" y="840018"/>
            <a:ext cx="3919662" cy="1058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채점자가 채점기준에 맞춰 답안을 채점한다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정량평가와 정성평가를 수행한다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42875" indent="-14287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2.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채점자의 채점이 완료되면 점수별 채점평균과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피채점자의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순위를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42875" indent="-142875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출제자가 학습 시킨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AI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또는 출제자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채점알바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의한 채점을 수행한다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61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0DB6-31E0-362F-B08C-76D5D933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2177F5-54A3-F504-89D3-AE92E19C3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458DC5-8114-43BD-025B-87977F99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1F29C9-E317-CB19-1106-A5D7621CD6B5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(1</a:t>
            </a:r>
            <a:r>
              <a:rPr lang="ko-KR" altLang="en-US" dirty="0"/>
              <a:t>회 모의고사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DD41942-E45F-8D07-EFDD-F63AA2806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42911"/>
              </p:ext>
            </p:extLst>
          </p:nvPr>
        </p:nvGraphicFramePr>
        <p:xfrm>
          <a:off x="457199" y="1421803"/>
          <a:ext cx="11214852" cy="5120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34571">
                  <a:extLst>
                    <a:ext uri="{9D8B030D-6E8A-4147-A177-3AD203B41FA5}">
                      <a16:colId xmlns:a16="http://schemas.microsoft.com/office/drawing/2014/main" val="35239215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096865766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824331871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504078475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52500113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72551520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327523572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88328294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262545334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561623090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3568700946"/>
                    </a:ext>
                  </a:extLst>
                </a:gridCol>
                <a:gridCol w="934571">
                  <a:extLst>
                    <a:ext uri="{9D8B030D-6E8A-4147-A177-3AD203B41FA5}">
                      <a16:colId xmlns:a16="http://schemas.microsoft.com/office/drawing/2014/main" val="1626493528"/>
                    </a:ext>
                  </a:extLst>
                </a:gridCol>
              </a:tblGrid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수강생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201424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채점기준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1-5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AI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평균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92925"/>
                  </a:ext>
                </a:extLst>
              </a:tr>
              <a:tr h="508870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</a:t>
                      </a:r>
                      <a:r>
                        <a:rPr lang="en-US" altLang="ko-KR" sz="800" dirty="0"/>
                        <a:t> 1(30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11506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28899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16952"/>
                  </a:ext>
                </a:extLst>
              </a:tr>
              <a:tr h="420371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2(20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(3)(6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879660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5972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52556"/>
                  </a:ext>
                </a:extLst>
              </a:tr>
              <a:tr h="508870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3(30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(2)(8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(3)(7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(4)(10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519700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소계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4835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정성평가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21904"/>
                  </a:ext>
                </a:extLst>
              </a:tr>
              <a:tr h="420371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문제 </a:t>
                      </a:r>
                      <a:r>
                        <a:rPr lang="en-US" altLang="ko-KR" sz="800" dirty="0"/>
                        <a:t>4(20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(1)(5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(2)(5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-US" altLang="ko-KR" sz="800" dirty="0"/>
                        <a:t>(3)(10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680035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소계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14.6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22469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정성평가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41016"/>
                  </a:ext>
                </a:extLst>
              </a:tr>
              <a:tr h="170812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총계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69.8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160063"/>
                  </a:ext>
                </a:extLst>
              </a:tr>
              <a:tr h="154874">
                <a:tc>
                  <a:txBody>
                    <a:bodyPr/>
                    <a:lstStyle/>
                    <a:p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순위</a:t>
                      </a: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4.2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9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017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F39B3-EE7E-5B9C-3DFD-8EAC760E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72D1451-C13E-E063-BEF2-E1726B03B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F148E4-2EA8-59EB-80AD-7BEF9595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FC9E8E-9908-40B5-48B7-2A9CA1BF77C2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(1</a:t>
            </a:r>
            <a:r>
              <a:rPr lang="ko-KR" altLang="en-US" dirty="0"/>
              <a:t>회 모의고사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D485036-1D7C-5D0D-C3E0-7C075E553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28414"/>
              </p:ext>
            </p:extLst>
          </p:nvPr>
        </p:nvGraphicFramePr>
        <p:xfrm>
          <a:off x="206187" y="1437340"/>
          <a:ext cx="11412067" cy="5171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34032">
                  <a:extLst>
                    <a:ext uri="{9D8B030D-6E8A-4147-A177-3AD203B41FA5}">
                      <a16:colId xmlns:a16="http://schemas.microsoft.com/office/drawing/2014/main" val="1140979479"/>
                    </a:ext>
                  </a:extLst>
                </a:gridCol>
                <a:gridCol w="472959">
                  <a:extLst>
                    <a:ext uri="{9D8B030D-6E8A-4147-A177-3AD203B41FA5}">
                      <a16:colId xmlns:a16="http://schemas.microsoft.com/office/drawing/2014/main" val="531656375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96680315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000227537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4190298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0983606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7935383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94189551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4007534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13069802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936729836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64389690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21082714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닉네임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문제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수강생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포인트지급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4761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표준점수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평균등급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평균등급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0865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83910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103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824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482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6158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731368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082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657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9819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12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522955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794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9093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81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38964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110034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120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109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6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8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878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72DD8-3D72-4695-0DBA-5D95D7F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1C9636-ACBC-E0DC-A6D5-FE5D14818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채점강의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A5D9DF-9353-FE29-3677-23CCB0E0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ACC8FFE-1266-970B-167F-7EEB42E37D43}"/>
              </a:ext>
            </a:extLst>
          </p:cNvPr>
          <p:cNvSpPr/>
          <p:nvPr/>
        </p:nvSpPr>
        <p:spPr>
          <a:xfrm>
            <a:off x="338665" y="710602"/>
            <a:ext cx="1771650" cy="5689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통계분석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피채점자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98B3CB9-C4E8-8E0A-915E-F4F8C62C5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4"/>
              </p:ext>
            </p:extLst>
          </p:nvPr>
        </p:nvGraphicFramePr>
        <p:xfrm>
          <a:off x="206187" y="1437340"/>
          <a:ext cx="11412067" cy="5171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34032">
                  <a:extLst>
                    <a:ext uri="{9D8B030D-6E8A-4147-A177-3AD203B41FA5}">
                      <a16:colId xmlns:a16="http://schemas.microsoft.com/office/drawing/2014/main" val="1140979479"/>
                    </a:ext>
                  </a:extLst>
                </a:gridCol>
                <a:gridCol w="472959">
                  <a:extLst>
                    <a:ext uri="{9D8B030D-6E8A-4147-A177-3AD203B41FA5}">
                      <a16:colId xmlns:a16="http://schemas.microsoft.com/office/drawing/2014/main" val="531656375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96680315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000227537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4190298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0983606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37935383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94189551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4040075340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2813069802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936729836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643896903"/>
                    </a:ext>
                  </a:extLst>
                </a:gridCol>
                <a:gridCol w="945916">
                  <a:extLst>
                    <a:ext uri="{9D8B030D-6E8A-4147-A177-3AD203B41FA5}">
                      <a16:colId xmlns:a16="http://schemas.microsoft.com/office/drawing/2014/main" val="121082714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닉네임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문제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수강생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출제자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포인트지급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4761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표준점수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평균등급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평균등급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모범답안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평균점수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순위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평균점수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0865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83910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103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824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4823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6158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9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731368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082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657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9819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124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522955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794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9093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81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38964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r>
                        <a:rPr lang="ko-KR" altLang="en-US" sz="900" dirty="0"/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8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110034"/>
                  </a:ext>
                </a:extLst>
              </a:tr>
              <a:tr h="154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9120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109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6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8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932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1DCC-4EBE-81BC-DB09-A556B0AD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80E62A-D8F2-9B8D-5A1F-62A105430238}"/>
              </a:ext>
            </a:extLst>
          </p:cNvPr>
          <p:cNvSpPr/>
          <p:nvPr/>
        </p:nvSpPr>
        <p:spPr>
          <a:xfrm>
            <a:off x="1028700" y="2867758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정오문제 </a:t>
            </a:r>
            <a:r>
              <a:rPr lang="ko-KR" altLang="en-US" sz="1200" dirty="0" err="1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endParaRPr lang="ko-KR" altLang="en-US" sz="12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AF569D-B39B-8F5A-D688-CC0B303BF066}"/>
              </a:ext>
            </a:extLst>
          </p:cNvPr>
          <p:cNvSpPr/>
          <p:nvPr/>
        </p:nvSpPr>
        <p:spPr>
          <a:xfrm>
            <a:off x="1028700" y="3759471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객관식 </a:t>
            </a:r>
            <a:r>
              <a:rPr lang="ko-KR" altLang="en-US" sz="1200" dirty="0" err="1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endParaRPr lang="ko-KR" altLang="en-US" sz="12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F7B683-69E8-5AB6-6870-004565A51CB6}"/>
              </a:ext>
            </a:extLst>
          </p:cNvPr>
          <p:cNvSpPr/>
          <p:nvPr/>
        </p:nvSpPr>
        <p:spPr>
          <a:xfrm>
            <a:off x="1028700" y="4602208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질의응답 중 질의수준</a:t>
            </a:r>
          </a:p>
        </p:txBody>
      </p:sp>
      <p:sp>
        <p:nvSpPr>
          <p:cNvPr id="41" name="말풍선: 모서리가 둥근 사각형 40">
            <a:extLst>
              <a:ext uri="{FF2B5EF4-FFF2-40B4-BE49-F238E27FC236}">
                <a16:creationId xmlns:a16="http://schemas.microsoft.com/office/drawing/2014/main" id="{59165EC6-50CC-1280-9514-4DCAE8C9DB32}"/>
              </a:ext>
            </a:extLst>
          </p:cNvPr>
          <p:cNvSpPr/>
          <p:nvPr/>
        </p:nvSpPr>
        <p:spPr>
          <a:xfrm>
            <a:off x="3186621" y="2344932"/>
            <a:ext cx="2173793" cy="426290"/>
          </a:xfrm>
          <a:prstGeom prst="wedgeRoundRectCallout">
            <a:avLst>
              <a:gd name="adj1" fmla="val -53102"/>
              <a:gd name="adj2" fmla="val 104775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개인별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정답률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수험생 전체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정답률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61A003-3CC8-80CA-936C-1784911D033E}"/>
              </a:ext>
            </a:extLst>
          </p:cNvPr>
          <p:cNvSpPr/>
          <p:nvPr/>
        </p:nvSpPr>
        <p:spPr>
          <a:xfrm>
            <a:off x="1028700" y="2432141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회독수</a:t>
            </a:r>
            <a:endParaRPr lang="ko-KR" altLang="en-US" sz="12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A80F825-8109-B6A5-9EB6-4E6F3D94D513}"/>
              </a:ext>
            </a:extLst>
          </p:cNvPr>
          <p:cNvSpPr/>
          <p:nvPr/>
        </p:nvSpPr>
        <p:spPr>
          <a:xfrm>
            <a:off x="1028700" y="3315906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정오문제 유형별 정답 비율</a:t>
            </a:r>
          </a:p>
        </p:txBody>
      </p:sp>
      <p:sp>
        <p:nvSpPr>
          <p:cNvPr id="128" name="말풍선: 모서리가 둥근 사각형 127">
            <a:extLst>
              <a:ext uri="{FF2B5EF4-FFF2-40B4-BE49-F238E27FC236}">
                <a16:creationId xmlns:a16="http://schemas.microsoft.com/office/drawing/2014/main" id="{5B820866-F4E4-BA66-98BA-7FF1329BD1B2}"/>
              </a:ext>
            </a:extLst>
          </p:cNvPr>
          <p:cNvSpPr/>
          <p:nvPr/>
        </p:nvSpPr>
        <p:spPr>
          <a:xfrm>
            <a:off x="3428668" y="3014537"/>
            <a:ext cx="2173793" cy="426290"/>
          </a:xfrm>
          <a:prstGeom prst="wedgeRoundRectCallout">
            <a:avLst>
              <a:gd name="adj1" fmla="val -61350"/>
              <a:gd name="adj2" fmla="val 52201"/>
              <a:gd name="adj3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조문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판례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이론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실무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로 구분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003ACEA-0604-C648-9DA7-8E7D35945A67}"/>
              </a:ext>
            </a:extLst>
          </p:cNvPr>
          <p:cNvSpPr txBox="1"/>
          <p:nvPr/>
        </p:nvSpPr>
        <p:spPr>
          <a:xfrm>
            <a:off x="339141" y="10859"/>
            <a:ext cx="9755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산업재산권법 온라인 구독 플랫폼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: 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이용자 </a:t>
            </a:r>
            <a:r>
              <a:rPr lang="ko-KR" altLang="en-US" sz="3600" b="1" dirty="0">
                <a:solidFill>
                  <a:srgbClr val="44546A"/>
                </a:solidFill>
                <a:latin typeface="Rix모던명조 B" pitchFamily="18" charset="-127"/>
                <a:ea typeface="Rix모던명조 B" pitchFamily="18" charset="-127"/>
                <a:cs typeface="+mj-cs"/>
              </a:rPr>
              <a:t>분석</a:t>
            </a:r>
            <a:endParaRPr lang="ko-KR" altLang="en-US" dirty="0"/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54609203-03AB-B6F9-204D-DAA6893EEE76}"/>
              </a:ext>
            </a:extLst>
          </p:cNvPr>
          <p:cNvSpPr/>
          <p:nvPr/>
        </p:nvSpPr>
        <p:spPr>
          <a:xfrm>
            <a:off x="339142" y="1135889"/>
            <a:ext cx="1213434" cy="35992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이용자 정보</a:t>
            </a:r>
            <a:endParaRPr lang="ko-KR" altLang="en-US" sz="1050" dirty="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32E44E75-6827-B7BD-9D20-D4632664B281}"/>
              </a:ext>
            </a:extLst>
          </p:cNvPr>
          <p:cNvSpPr/>
          <p:nvPr/>
        </p:nvSpPr>
        <p:spPr>
          <a:xfrm>
            <a:off x="1028700" y="5020255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</a:t>
            </a:r>
            <a:r>
              <a:rPr lang="ko-KR" altLang="en-US" sz="1200" dirty="0" err="1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endParaRPr lang="ko-KR" altLang="en-US" sz="12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CC82A7-48C4-FF6E-01BB-6C9EDBF5A42C}"/>
              </a:ext>
            </a:extLst>
          </p:cNvPr>
          <p:cNvSpPr/>
          <p:nvPr/>
        </p:nvSpPr>
        <p:spPr>
          <a:xfrm>
            <a:off x="1028700" y="4177518"/>
            <a:ext cx="2084740" cy="35992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객관식 유형별 정답 비율</a:t>
            </a:r>
          </a:p>
        </p:txBody>
      </p:sp>
    </p:spTree>
    <p:extLst>
      <p:ext uri="{BB962C8B-B14F-4D97-AF65-F5344CB8AC3E}">
        <p14:creationId xmlns:p14="http://schemas.microsoft.com/office/powerpoint/2010/main" val="184560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7CE60-6780-2FAF-4D9A-3E0CC797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41FD842-38D2-447A-EC71-0E7019C8F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>
                <a:solidFill>
                  <a:srgbClr val="44546A"/>
                </a:solidFill>
              </a:rPr>
              <a:t>이용자 분석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31883B-8C75-0E2F-2C93-98E222C8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162A7-7803-05E9-B0D7-6FE6AE830233}"/>
              </a:ext>
            </a:extLst>
          </p:cNvPr>
          <p:cNvSpPr txBox="1"/>
          <p:nvPr/>
        </p:nvSpPr>
        <p:spPr>
          <a:xfrm>
            <a:off x="272145" y="1162747"/>
            <a:ext cx="3919662" cy="1347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정오문제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정답률은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전체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정오문제 유형별 정답 비율은 조문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객관식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정답률은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전제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객관식 유형별 정답 비율은 단답형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 문제로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질의응답 중 질의수준은 상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정답률은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전체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정답률로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49945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590F-5A46-AE8E-D951-BBDAA684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36">
            <a:extLst>
              <a:ext uri="{FF2B5EF4-FFF2-40B4-BE49-F238E27FC236}">
                <a16:creationId xmlns:a16="http://schemas.microsoft.com/office/drawing/2014/main" id="{EEF14F2A-C17A-C0FB-1EA7-EB02BEBCC764}"/>
              </a:ext>
            </a:extLst>
          </p:cNvPr>
          <p:cNvSpPr txBox="1"/>
          <p:nvPr/>
        </p:nvSpPr>
        <p:spPr>
          <a:xfrm>
            <a:off x="339141" y="10859"/>
            <a:ext cx="10974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산업재산권법 온라인 구독 플랫폼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: </a:t>
            </a:r>
            <a:r>
              <a:rPr kumimoji="0" lang="ko-KR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메일링</a:t>
            </a: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ix모던명조 B" pitchFamily="18" charset="-127"/>
                <a:ea typeface="Rix모던명조 B" pitchFamily="18" charset="-127"/>
                <a:cs typeface="+mj-cs"/>
              </a:rPr>
              <a:t> 서비스</a:t>
            </a:r>
            <a:endParaRPr lang="ko-KR" altLang="en-US" dirty="0"/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509D19F7-A82B-410F-15F8-246F891CAFE3}"/>
              </a:ext>
            </a:extLst>
          </p:cNvPr>
          <p:cNvSpPr/>
          <p:nvPr/>
        </p:nvSpPr>
        <p:spPr>
          <a:xfrm>
            <a:off x="569428" y="1974512"/>
            <a:ext cx="1966296" cy="64633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최근 판례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967DAA-086C-39A3-AD1F-472FECBDD430}"/>
              </a:ext>
            </a:extLst>
          </p:cNvPr>
          <p:cNvSpPr/>
          <p:nvPr/>
        </p:nvSpPr>
        <p:spPr>
          <a:xfrm>
            <a:off x="2636353" y="1974512"/>
            <a:ext cx="1966296" cy="64633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최근 개정법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617997-0912-22CC-A79E-22CF400259F2}"/>
              </a:ext>
            </a:extLst>
          </p:cNvPr>
          <p:cNvSpPr/>
          <p:nvPr/>
        </p:nvSpPr>
        <p:spPr>
          <a:xfrm>
            <a:off x="4712803" y="1974512"/>
            <a:ext cx="1966296" cy="64633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</a:t>
            </a:r>
            <a:endParaRPr lang="en-US" altLang="ko-KR" sz="16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문제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E2E04DF-A485-918B-2C75-0C39B518957C}"/>
              </a:ext>
            </a:extLst>
          </p:cNvPr>
          <p:cNvSpPr/>
          <p:nvPr/>
        </p:nvSpPr>
        <p:spPr>
          <a:xfrm>
            <a:off x="6779728" y="1974512"/>
            <a:ext cx="1966296" cy="64633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</a:t>
            </a:r>
            <a:endParaRPr lang="en-US" altLang="ko-KR" sz="16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문제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F10430-131E-803F-8196-346D7A5E135E}"/>
              </a:ext>
            </a:extLst>
          </p:cNvPr>
          <p:cNvSpPr/>
          <p:nvPr/>
        </p:nvSpPr>
        <p:spPr>
          <a:xfrm>
            <a:off x="8846653" y="1974512"/>
            <a:ext cx="1966296" cy="64633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이슈 및 논문</a:t>
            </a:r>
            <a:endParaRPr lang="en-US" altLang="ko-KR" sz="16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7002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7B92-37D3-A205-9DA1-D01EA245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3A8C28-7162-B517-CBA4-699D21760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/>
              <a:t>: </a:t>
            </a:r>
            <a:r>
              <a:rPr lang="ko-KR" altLang="en-US" dirty="0" err="1"/>
              <a:t>메일링</a:t>
            </a:r>
            <a:r>
              <a:rPr lang="ko-KR" altLang="en-US" dirty="0"/>
              <a:t> 서비스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1D8E39-5B07-51B0-D2B3-2074468B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484CF-7FC4-EAD0-5669-C5443345DA1B}"/>
              </a:ext>
            </a:extLst>
          </p:cNvPr>
          <p:cNvSpPr txBox="1"/>
          <p:nvPr/>
        </p:nvSpPr>
        <p:spPr>
          <a:xfrm>
            <a:off x="272145" y="1162748"/>
            <a:ext cx="3919662" cy="4547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일정주기별로 업데이트된 판례의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목록을 클릭하면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F8B998F-7CEF-1221-F9A3-7BEAECE89C10}"/>
              </a:ext>
            </a:extLst>
          </p:cNvPr>
          <p:cNvSpPr/>
          <p:nvPr/>
        </p:nvSpPr>
        <p:spPr>
          <a:xfrm>
            <a:off x="272145" y="793208"/>
            <a:ext cx="133787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최근 판례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7B6A3AC-A2F3-B9BB-0FAB-E8542FB58921}"/>
              </a:ext>
            </a:extLst>
          </p:cNvPr>
          <p:cNvSpPr/>
          <p:nvPr/>
        </p:nvSpPr>
        <p:spPr>
          <a:xfrm>
            <a:off x="4355454" y="793208"/>
            <a:ext cx="1192654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이슈 및 논문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46D81-55A9-A14F-EC42-FC5632746A96}"/>
              </a:ext>
            </a:extLst>
          </p:cNvPr>
          <p:cNvSpPr txBox="1"/>
          <p:nvPr/>
        </p:nvSpPr>
        <p:spPr>
          <a:xfrm>
            <a:off x="4295877" y="1162749"/>
            <a:ext cx="3919662" cy="593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최근 논문의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목록을 클릭하면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논문을 볼 수 있는 사이트의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URL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논문에 대한 해설을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A7EFD-78B0-5398-960A-A0F020DE1FA9}"/>
              </a:ext>
            </a:extLst>
          </p:cNvPr>
          <p:cNvSpPr txBox="1"/>
          <p:nvPr/>
        </p:nvSpPr>
        <p:spPr>
          <a:xfrm>
            <a:off x="272145" y="2203127"/>
            <a:ext cx="3919662" cy="470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최근 개정된 내용의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클릭하면 개정내용과 신구조문 대비표를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E8ED8C-ED01-E80D-1B46-F35EF8EFA9C1}"/>
              </a:ext>
            </a:extLst>
          </p:cNvPr>
          <p:cNvSpPr/>
          <p:nvPr/>
        </p:nvSpPr>
        <p:spPr>
          <a:xfrm>
            <a:off x="272145" y="1833587"/>
            <a:ext cx="133787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최근 개정법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9DEB4-23F4-C4BA-AE71-3A00544D87A9}"/>
              </a:ext>
            </a:extLst>
          </p:cNvPr>
          <p:cNvSpPr txBox="1"/>
          <p:nvPr/>
        </p:nvSpPr>
        <p:spPr>
          <a:xfrm>
            <a:off x="272145" y="3229513"/>
            <a:ext cx="3919662" cy="1413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정해진 시간 안에 모의고사를 풀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풀이가 끝나고 제출하면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답안과 모의고사 결과를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전체 결과에 대한 점수를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개인으로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유형별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단답형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 문제로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조문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endParaRPr lang="en-US" altLang="ko-KR" sz="1000" dirty="0"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3C090F-C557-922E-480E-5218491758D1}"/>
              </a:ext>
            </a:extLst>
          </p:cNvPr>
          <p:cNvSpPr/>
          <p:nvPr/>
        </p:nvSpPr>
        <p:spPr>
          <a:xfrm>
            <a:off x="272145" y="2859974"/>
            <a:ext cx="133787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차 모의고사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33B14-62E3-AA08-8425-0AE51E32FB10}"/>
              </a:ext>
            </a:extLst>
          </p:cNvPr>
          <p:cNvSpPr txBox="1"/>
          <p:nvPr/>
        </p:nvSpPr>
        <p:spPr>
          <a:xfrm>
            <a:off x="272145" y="5205407"/>
            <a:ext cx="3919662" cy="152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클릭하면 정해진 시간 안에 모의고사문제를 풀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답안작성이 끝나면 첨삭여부와 상관없이 모범답안을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관련판례를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클릭하여 동영상 강의를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4.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 답안에 대한 첨삭을 원하는 경우 그 답안을 제출한다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5.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답안을 출제자 또는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AI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에게 배분한다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6.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출제자로부터 채점결과를 받는다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7.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채점결과를 업로드하고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통계분석자료를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2FC729-18FB-F2ED-00AB-35FD7D1A8118}"/>
              </a:ext>
            </a:extLst>
          </p:cNvPr>
          <p:cNvSpPr/>
          <p:nvPr/>
        </p:nvSpPr>
        <p:spPr>
          <a:xfrm>
            <a:off x="272145" y="4835868"/>
            <a:ext cx="1337872" cy="27794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차 모의고사</a:t>
            </a:r>
          </a:p>
        </p:txBody>
      </p:sp>
    </p:spTree>
    <p:extLst>
      <p:ext uri="{BB962C8B-B14F-4D97-AF65-F5344CB8AC3E}">
        <p14:creationId xmlns:p14="http://schemas.microsoft.com/office/powerpoint/2010/main" val="802154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9CCA-A42D-AC6C-82C6-9C7B8C803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C3D7A1B-406E-5564-E752-1291597E9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특허법 공부방법</a:t>
            </a:r>
            <a:r>
              <a:rPr lang="en-US" altLang="ko-KR" dirty="0"/>
              <a:t>: 1</a:t>
            </a:r>
            <a:r>
              <a:rPr lang="ko-KR" altLang="en-US" dirty="0"/>
              <a:t>차부터 </a:t>
            </a:r>
            <a:r>
              <a:rPr lang="en-US" altLang="ko-KR" dirty="0"/>
              <a:t>2</a:t>
            </a:r>
            <a:r>
              <a:rPr lang="ko-KR" altLang="en-US" dirty="0"/>
              <a:t>차까지 개괄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7663D1-3578-CA44-24FF-657E657C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EA080A-6B7C-E637-5CD4-52D2C1A2F793}"/>
              </a:ext>
            </a:extLst>
          </p:cNvPr>
          <p:cNvSpPr/>
          <p:nvPr/>
        </p:nvSpPr>
        <p:spPr>
          <a:xfrm>
            <a:off x="8139936" y="779929"/>
            <a:ext cx="4054059" cy="6078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D3D8F8-65C3-64C5-B9E9-009D32543BFF}"/>
              </a:ext>
            </a:extLst>
          </p:cNvPr>
          <p:cNvSpPr/>
          <p:nvPr/>
        </p:nvSpPr>
        <p:spPr>
          <a:xfrm>
            <a:off x="0" y="779929"/>
            <a:ext cx="4054058" cy="60780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16E224D-97BA-BF5A-F8B4-0C4EDB82713B}"/>
              </a:ext>
            </a:extLst>
          </p:cNvPr>
          <p:cNvSpPr/>
          <p:nvPr/>
        </p:nvSpPr>
        <p:spPr>
          <a:xfrm>
            <a:off x="1089239" y="2099400"/>
            <a:ext cx="2335851" cy="5104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조문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판례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762E7F2-922F-8F44-DBDB-92EDC329BAE5}"/>
              </a:ext>
            </a:extLst>
          </p:cNvPr>
          <p:cNvSpPr/>
          <p:nvPr/>
        </p:nvSpPr>
        <p:spPr>
          <a:xfrm>
            <a:off x="4821456" y="3386154"/>
            <a:ext cx="2335851" cy="5104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목차정리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EC749A-2764-CD9D-A054-448FA0B69017}"/>
              </a:ext>
            </a:extLst>
          </p:cNvPr>
          <p:cNvSpPr/>
          <p:nvPr/>
        </p:nvSpPr>
        <p:spPr>
          <a:xfrm>
            <a:off x="1084635" y="4507490"/>
            <a:ext cx="2335851" cy="5104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사례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쟁점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E15DA8B-706F-1FD4-7293-8FB1E86C4D74}"/>
              </a:ext>
            </a:extLst>
          </p:cNvPr>
          <p:cNvSpPr/>
          <p:nvPr/>
        </p:nvSpPr>
        <p:spPr>
          <a:xfrm>
            <a:off x="8815385" y="4540716"/>
            <a:ext cx="2335851" cy="51046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주관식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E7CBF3A-545D-729E-66B0-372DF5E7E2F2}"/>
              </a:ext>
            </a:extLst>
          </p:cNvPr>
          <p:cNvSpPr/>
          <p:nvPr/>
        </p:nvSpPr>
        <p:spPr>
          <a:xfrm>
            <a:off x="8815386" y="2122077"/>
            <a:ext cx="2335851" cy="51046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객관식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8F912-1999-8282-60F2-0E1BE07C4734}"/>
              </a:ext>
            </a:extLst>
          </p:cNvPr>
          <p:cNvSpPr txBox="1"/>
          <p:nvPr/>
        </p:nvSpPr>
        <p:spPr>
          <a:xfrm>
            <a:off x="962797" y="5078683"/>
            <a:ext cx="2897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최신 쟁점</a:t>
            </a:r>
            <a:r>
              <a:rPr lang="en-US" altLang="ko-KR" sz="1400" dirty="0"/>
              <a:t>(</a:t>
            </a:r>
            <a:r>
              <a:rPr lang="ko-KR" altLang="en-US" sz="1400" dirty="0"/>
              <a:t>개정법</a:t>
            </a:r>
            <a:r>
              <a:rPr lang="en-US" altLang="ko-KR" sz="1400" dirty="0"/>
              <a:t>, </a:t>
            </a:r>
            <a:r>
              <a:rPr lang="ko-KR" altLang="en-US" sz="1400" dirty="0"/>
              <a:t>논문</a:t>
            </a:r>
            <a:r>
              <a:rPr lang="en-US" altLang="ko-KR" sz="1400" dirty="0"/>
              <a:t>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* </a:t>
            </a:r>
            <a:r>
              <a:rPr lang="ko-KR" altLang="en-US" sz="1400" dirty="0"/>
              <a:t>최신 판례의 심화학습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A127F-B57F-95F1-E126-520944A0FEDB}"/>
              </a:ext>
            </a:extLst>
          </p:cNvPr>
          <p:cNvSpPr txBox="1"/>
          <p:nvPr/>
        </p:nvSpPr>
        <p:spPr>
          <a:xfrm>
            <a:off x="8815385" y="5086306"/>
            <a:ext cx="3236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논점 추출 및 구성 능력 </a:t>
            </a:r>
            <a:r>
              <a:rPr lang="en-US" altLang="ko-KR" sz="1400" dirty="0"/>
              <a:t>skill-up</a:t>
            </a:r>
          </a:p>
          <a:p>
            <a:r>
              <a:rPr lang="en-US" altLang="ko-KR" sz="1400" dirty="0"/>
              <a:t>* </a:t>
            </a:r>
            <a:r>
              <a:rPr lang="ko-KR" altLang="en-US" sz="1400" dirty="0"/>
              <a:t>답안 작성 능력 </a:t>
            </a:r>
            <a:r>
              <a:rPr lang="en-US" altLang="ko-KR" sz="1400" dirty="0"/>
              <a:t>skill-up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F045F-07A9-91AA-CB85-E382493A6308}"/>
              </a:ext>
            </a:extLst>
          </p:cNvPr>
          <p:cNvSpPr txBox="1"/>
          <p:nvPr/>
        </p:nvSpPr>
        <p:spPr>
          <a:xfrm>
            <a:off x="8815385" y="2697127"/>
            <a:ext cx="323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정오 판단 능력 </a:t>
            </a:r>
            <a:r>
              <a:rPr lang="en-US" altLang="ko-KR" sz="1400" dirty="0"/>
              <a:t>skill-up</a:t>
            </a:r>
            <a:endParaRPr lang="ko-KR" altLang="en-US" sz="14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B322ED1-1780-49DA-2F40-FA5D4ECDC6A3}"/>
              </a:ext>
            </a:extLst>
          </p:cNvPr>
          <p:cNvCxnSpPr>
            <a:cxnSpLocks/>
          </p:cNvCxnSpPr>
          <p:nvPr/>
        </p:nvCxnSpPr>
        <p:spPr>
          <a:xfrm flipH="1" flipV="1">
            <a:off x="1089239" y="2354631"/>
            <a:ext cx="10061998" cy="22677"/>
          </a:xfrm>
          <a:prstGeom prst="bentConnector5">
            <a:avLst>
              <a:gd name="adj1" fmla="val -2272"/>
              <a:gd name="adj2" fmla="val 2984685"/>
              <a:gd name="adj3" fmla="val 10227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600435-839B-E46F-D2A7-ABA12AA53B2A}"/>
              </a:ext>
            </a:extLst>
          </p:cNvPr>
          <p:cNvSpPr txBox="1"/>
          <p:nvPr/>
        </p:nvSpPr>
        <p:spPr>
          <a:xfrm>
            <a:off x="4044838" y="1398334"/>
            <a:ext cx="323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Feed-back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F4F11-785D-9EB1-96B4-58D8A3FE6383}"/>
              </a:ext>
            </a:extLst>
          </p:cNvPr>
          <p:cNvSpPr txBox="1"/>
          <p:nvPr/>
        </p:nvSpPr>
        <p:spPr>
          <a:xfrm>
            <a:off x="204566" y="834588"/>
            <a:ext cx="819211" cy="5193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이 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234CB8-225D-16FD-B4AD-803BF7CB92E9}"/>
              </a:ext>
            </a:extLst>
          </p:cNvPr>
          <p:cNvSpPr txBox="1"/>
          <p:nvPr/>
        </p:nvSpPr>
        <p:spPr>
          <a:xfrm>
            <a:off x="4238439" y="834588"/>
            <a:ext cx="1701766" cy="5193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>
                <a:solidFill>
                  <a:srgbClr val="FFFF00"/>
                </a:solidFill>
              </a:rPr>
              <a:t>정리 및 암기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12EE6-B475-0EE2-80B0-D96294A3F4F3}"/>
              </a:ext>
            </a:extLst>
          </p:cNvPr>
          <p:cNvSpPr txBox="1"/>
          <p:nvPr/>
        </p:nvSpPr>
        <p:spPr>
          <a:xfrm>
            <a:off x="8316959" y="834588"/>
            <a:ext cx="819211" cy="5193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적 용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72979887-750A-4252-8100-D79E8B84F291}"/>
              </a:ext>
            </a:extLst>
          </p:cNvPr>
          <p:cNvCxnSpPr/>
          <p:nvPr/>
        </p:nvCxnSpPr>
        <p:spPr>
          <a:xfrm>
            <a:off x="3425090" y="2354631"/>
            <a:ext cx="1396366" cy="12867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877D452-4E04-6772-5DCC-F6FCC5B61627}"/>
              </a:ext>
            </a:extLst>
          </p:cNvPr>
          <p:cNvCxnSpPr/>
          <p:nvPr/>
        </p:nvCxnSpPr>
        <p:spPr>
          <a:xfrm flipV="1">
            <a:off x="3420486" y="3641385"/>
            <a:ext cx="1400970" cy="11213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2E030D4-CE15-45B8-F80B-8A3658F8B7AC}"/>
              </a:ext>
            </a:extLst>
          </p:cNvPr>
          <p:cNvCxnSpPr/>
          <p:nvPr/>
        </p:nvCxnSpPr>
        <p:spPr>
          <a:xfrm flipV="1">
            <a:off x="7157307" y="2377308"/>
            <a:ext cx="1658079" cy="12640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7B0132B-FF03-9ABC-DF5B-A8A456F580D1}"/>
              </a:ext>
            </a:extLst>
          </p:cNvPr>
          <p:cNvCxnSpPr/>
          <p:nvPr/>
        </p:nvCxnSpPr>
        <p:spPr>
          <a:xfrm>
            <a:off x="7157307" y="3641385"/>
            <a:ext cx="1658078" cy="11545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4E57A6A0-0313-69B0-5136-C2092ABB14E6}"/>
              </a:ext>
            </a:extLst>
          </p:cNvPr>
          <p:cNvCxnSpPr>
            <a:cxnSpLocks/>
          </p:cNvCxnSpPr>
          <p:nvPr/>
        </p:nvCxnSpPr>
        <p:spPr>
          <a:xfrm flipH="1" flipV="1">
            <a:off x="1084635" y="4762721"/>
            <a:ext cx="10066601" cy="33226"/>
          </a:xfrm>
          <a:prstGeom prst="bentConnector5">
            <a:avLst>
              <a:gd name="adj1" fmla="val -2271"/>
              <a:gd name="adj2" fmla="val -2787760"/>
              <a:gd name="adj3" fmla="val 10227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5D4328-371B-2208-12A0-0E92C5B537AE}"/>
              </a:ext>
            </a:extLst>
          </p:cNvPr>
          <p:cNvSpPr txBox="1"/>
          <p:nvPr/>
        </p:nvSpPr>
        <p:spPr>
          <a:xfrm>
            <a:off x="4044838" y="5742493"/>
            <a:ext cx="323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Feed-back</a:t>
            </a:r>
            <a:endParaRPr lang="ko-KR" altLang="en-US" sz="140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76421C8-9E52-3E0A-5B5E-2BFA9A326ADA}"/>
              </a:ext>
            </a:extLst>
          </p:cNvPr>
          <p:cNvSpPr/>
          <p:nvPr/>
        </p:nvSpPr>
        <p:spPr>
          <a:xfrm>
            <a:off x="912382" y="1908863"/>
            <a:ext cx="366533" cy="345362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404466B-40C1-BE41-7472-FDBC00D9C6F8}"/>
              </a:ext>
            </a:extLst>
          </p:cNvPr>
          <p:cNvSpPr/>
          <p:nvPr/>
        </p:nvSpPr>
        <p:spPr>
          <a:xfrm>
            <a:off x="4649201" y="3198388"/>
            <a:ext cx="366533" cy="345362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704F9AE-3C2F-DAFB-8B74-CDDB7641608E}"/>
              </a:ext>
            </a:extLst>
          </p:cNvPr>
          <p:cNvSpPr/>
          <p:nvPr/>
        </p:nvSpPr>
        <p:spPr>
          <a:xfrm>
            <a:off x="8621105" y="1929540"/>
            <a:ext cx="388560" cy="345362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96C4137-84EF-6112-FAD7-E54CFF893907}"/>
              </a:ext>
            </a:extLst>
          </p:cNvPr>
          <p:cNvSpPr/>
          <p:nvPr/>
        </p:nvSpPr>
        <p:spPr>
          <a:xfrm>
            <a:off x="1300941" y="1908863"/>
            <a:ext cx="366533" cy="345362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1A96E5-9893-0DBD-A049-0F029966126F}"/>
              </a:ext>
            </a:extLst>
          </p:cNvPr>
          <p:cNvSpPr txBox="1"/>
          <p:nvPr/>
        </p:nvSpPr>
        <p:spPr>
          <a:xfrm>
            <a:off x="962797" y="2613807"/>
            <a:ext cx="2897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조문</a:t>
            </a:r>
            <a:endParaRPr lang="en-US" altLang="ko-KR" sz="1400" dirty="0"/>
          </a:p>
          <a:p>
            <a:r>
              <a:rPr lang="en-US" altLang="ko-KR" sz="1400" dirty="0"/>
              <a:t>* </a:t>
            </a:r>
            <a:r>
              <a:rPr lang="ko-KR" altLang="en-US" sz="1400" dirty="0"/>
              <a:t>판례의 결론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3CA73B0-20A4-D156-B663-BFF4A396220F}"/>
              </a:ext>
            </a:extLst>
          </p:cNvPr>
          <p:cNvSpPr/>
          <p:nvPr/>
        </p:nvSpPr>
        <p:spPr>
          <a:xfrm>
            <a:off x="922280" y="4345108"/>
            <a:ext cx="366533" cy="345362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B27F099-7858-6C81-54EF-301AC96982AB}"/>
              </a:ext>
            </a:extLst>
          </p:cNvPr>
          <p:cNvSpPr/>
          <p:nvPr/>
        </p:nvSpPr>
        <p:spPr>
          <a:xfrm>
            <a:off x="8628917" y="4390272"/>
            <a:ext cx="388560" cy="345362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F2C2FFF-7837-2321-CEE4-8F03D35384E3}"/>
              </a:ext>
            </a:extLst>
          </p:cNvPr>
          <p:cNvSpPr/>
          <p:nvPr/>
        </p:nvSpPr>
        <p:spPr>
          <a:xfrm>
            <a:off x="5037762" y="3205960"/>
            <a:ext cx="366533" cy="345362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1778056-FFB1-0449-F96F-F929C48FD07D}"/>
              </a:ext>
            </a:extLst>
          </p:cNvPr>
          <p:cNvSpPr/>
          <p:nvPr/>
        </p:nvSpPr>
        <p:spPr>
          <a:xfrm>
            <a:off x="922281" y="3454079"/>
            <a:ext cx="1008454" cy="23923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기본서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0FB6C9D-CEAB-D0DD-D1E7-6AD20EF36508}"/>
              </a:ext>
            </a:extLst>
          </p:cNvPr>
          <p:cNvSpPr/>
          <p:nvPr/>
        </p:nvSpPr>
        <p:spPr>
          <a:xfrm>
            <a:off x="922281" y="3723767"/>
            <a:ext cx="1008454" cy="239234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도해</a:t>
            </a:r>
            <a:r>
              <a:rPr lang="en-US" altLang="ko-KR" sz="1200" dirty="0"/>
              <a:t>(</a:t>
            </a:r>
            <a:r>
              <a:rPr lang="ko-KR" altLang="en-US" sz="1200" dirty="0"/>
              <a:t>정리서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4DC4180-CEDB-0970-752D-28E10FCEC05C}"/>
              </a:ext>
            </a:extLst>
          </p:cNvPr>
          <p:cNvSpPr/>
          <p:nvPr/>
        </p:nvSpPr>
        <p:spPr>
          <a:xfrm>
            <a:off x="922281" y="3984752"/>
            <a:ext cx="1008454" cy="23923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판례집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512D37E-574B-4828-6E5F-3DC2CAE1FA6F}"/>
              </a:ext>
            </a:extLst>
          </p:cNvPr>
          <p:cNvSpPr/>
          <p:nvPr/>
        </p:nvSpPr>
        <p:spPr>
          <a:xfrm>
            <a:off x="922281" y="3176973"/>
            <a:ext cx="1008454" cy="23923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체계도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D800B14-36E5-D726-6D76-265F6DA79C27}"/>
              </a:ext>
            </a:extLst>
          </p:cNvPr>
          <p:cNvSpPr/>
          <p:nvPr/>
        </p:nvSpPr>
        <p:spPr>
          <a:xfrm>
            <a:off x="900255" y="5843549"/>
            <a:ext cx="1030480" cy="263157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쟁점정리서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9387F4A-206F-52E5-524F-00999367F4F5}"/>
              </a:ext>
            </a:extLst>
          </p:cNvPr>
          <p:cNvSpPr/>
          <p:nvPr/>
        </p:nvSpPr>
        <p:spPr>
          <a:xfrm>
            <a:off x="922281" y="6142634"/>
            <a:ext cx="1008454" cy="26315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판례집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2339925-5081-9AA0-D7A5-E84D7BE37C95}"/>
              </a:ext>
            </a:extLst>
          </p:cNvPr>
          <p:cNvSpPr/>
          <p:nvPr/>
        </p:nvSpPr>
        <p:spPr>
          <a:xfrm>
            <a:off x="4795631" y="4276117"/>
            <a:ext cx="1008454" cy="23923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기본서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EAEB0D0-5D29-4B4A-91AE-07562CE5A777}"/>
              </a:ext>
            </a:extLst>
          </p:cNvPr>
          <p:cNvSpPr/>
          <p:nvPr/>
        </p:nvSpPr>
        <p:spPr>
          <a:xfrm>
            <a:off x="4795631" y="4545805"/>
            <a:ext cx="1008454" cy="239234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도해</a:t>
            </a:r>
            <a:r>
              <a:rPr lang="en-US" altLang="ko-KR" sz="1200" dirty="0"/>
              <a:t>(</a:t>
            </a:r>
            <a:r>
              <a:rPr lang="ko-KR" altLang="en-US" sz="1200" dirty="0"/>
              <a:t>정리서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169582D-6B36-668C-4DB5-F6D257C2B528}"/>
              </a:ext>
            </a:extLst>
          </p:cNvPr>
          <p:cNvSpPr/>
          <p:nvPr/>
        </p:nvSpPr>
        <p:spPr>
          <a:xfrm>
            <a:off x="4795631" y="3999011"/>
            <a:ext cx="1008454" cy="23923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체계도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72A8C05-86CF-FF3C-CB77-B3A879692D9B}"/>
              </a:ext>
            </a:extLst>
          </p:cNvPr>
          <p:cNvSpPr/>
          <p:nvPr/>
        </p:nvSpPr>
        <p:spPr>
          <a:xfrm>
            <a:off x="4795631" y="4825087"/>
            <a:ext cx="1008454" cy="263157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쟁점정리서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959DA25-0BCD-E809-0517-8264A05C153A}"/>
              </a:ext>
            </a:extLst>
          </p:cNvPr>
          <p:cNvSpPr/>
          <p:nvPr/>
        </p:nvSpPr>
        <p:spPr>
          <a:xfrm>
            <a:off x="8815385" y="3095646"/>
            <a:ext cx="1008454" cy="239234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객관식문제집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0FA2C29-68DB-483F-9F7F-636908264FE1}"/>
              </a:ext>
            </a:extLst>
          </p:cNvPr>
          <p:cNvSpPr/>
          <p:nvPr/>
        </p:nvSpPr>
        <p:spPr>
          <a:xfrm>
            <a:off x="8815385" y="5831477"/>
            <a:ext cx="1030480" cy="263157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사례문제집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8B9E9E3-7B50-574F-14DE-04525062B240}"/>
              </a:ext>
            </a:extLst>
          </p:cNvPr>
          <p:cNvSpPr/>
          <p:nvPr/>
        </p:nvSpPr>
        <p:spPr>
          <a:xfrm>
            <a:off x="2200275" y="3454079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조문강의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A210CAE-DD26-36F4-C2DA-B6CE88F6D6F7}"/>
              </a:ext>
            </a:extLst>
          </p:cNvPr>
          <p:cNvSpPr/>
          <p:nvPr/>
        </p:nvSpPr>
        <p:spPr>
          <a:xfrm>
            <a:off x="2200275" y="3723767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판례강의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최신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B0EC4C1-BD51-99D5-D1EB-32C4F906A363}"/>
              </a:ext>
            </a:extLst>
          </p:cNvPr>
          <p:cNvSpPr/>
          <p:nvPr/>
        </p:nvSpPr>
        <p:spPr>
          <a:xfrm>
            <a:off x="2200275" y="3984752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정리강의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5D12610-A4F1-57EA-B0B4-5F2589B53470}"/>
              </a:ext>
            </a:extLst>
          </p:cNvPr>
          <p:cNvSpPr/>
          <p:nvPr/>
        </p:nvSpPr>
        <p:spPr>
          <a:xfrm>
            <a:off x="2200275" y="3176973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차기본강의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F8A1FE9-A108-0BF3-17AF-619ACAB86833}"/>
              </a:ext>
            </a:extLst>
          </p:cNvPr>
          <p:cNvSpPr/>
          <p:nvPr/>
        </p:nvSpPr>
        <p:spPr>
          <a:xfrm>
            <a:off x="2200275" y="6119110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판례강의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심화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73FED95-815C-B308-2E0B-18E27A0DF4D6}"/>
              </a:ext>
            </a:extLst>
          </p:cNvPr>
          <p:cNvSpPr/>
          <p:nvPr/>
        </p:nvSpPr>
        <p:spPr>
          <a:xfrm>
            <a:off x="2200275" y="5842004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차기본강의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BFAFE59-4AA3-11CD-115C-CE319943A8C9}"/>
              </a:ext>
            </a:extLst>
          </p:cNvPr>
          <p:cNvSpPr/>
          <p:nvPr/>
        </p:nvSpPr>
        <p:spPr>
          <a:xfrm>
            <a:off x="10051733" y="3099607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객관식강의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D9D330-4FA0-B231-CD3A-3235D741AE12}"/>
              </a:ext>
            </a:extLst>
          </p:cNvPr>
          <p:cNvSpPr/>
          <p:nvPr/>
        </p:nvSpPr>
        <p:spPr>
          <a:xfrm>
            <a:off x="10051733" y="5840607"/>
            <a:ext cx="1099503" cy="2392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GS(</a:t>
            </a:r>
            <a:r>
              <a:rPr lang="ko-KR" altLang="en-US" sz="1200" dirty="0">
                <a:solidFill>
                  <a:schemeClr val="tx1"/>
                </a:solidFill>
              </a:rPr>
              <a:t>사례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강의</a:t>
            </a:r>
          </a:p>
        </p:txBody>
      </p:sp>
    </p:spTree>
    <p:extLst>
      <p:ext uri="{BB962C8B-B14F-4D97-AF65-F5344CB8AC3E}">
        <p14:creationId xmlns:p14="http://schemas.microsoft.com/office/powerpoint/2010/main" val="4166719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4FDF-AF06-E195-D7F1-DFBD2A3D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BF0933A-E415-F1AF-506B-6CEE9E60D3A9}"/>
              </a:ext>
            </a:extLst>
          </p:cNvPr>
          <p:cNvCxnSpPr>
            <a:cxnSpLocks/>
          </p:cNvCxnSpPr>
          <p:nvPr/>
        </p:nvCxnSpPr>
        <p:spPr>
          <a:xfrm>
            <a:off x="1881738" y="5985625"/>
            <a:ext cx="901934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8" name="Rectangle 2">
            <a:extLst>
              <a:ext uri="{FF2B5EF4-FFF2-40B4-BE49-F238E27FC236}">
                <a16:creationId xmlns:a16="http://schemas.microsoft.com/office/drawing/2014/main" id="{6B7CCA5A-7B96-A1F2-9209-F91C3DEAD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공부방법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A5FED7-9011-4A74-11A8-6D08E1E5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19" name="자유형 38">
            <a:extLst>
              <a:ext uri="{FF2B5EF4-FFF2-40B4-BE49-F238E27FC236}">
                <a16:creationId xmlns:a16="http://schemas.microsoft.com/office/drawing/2014/main" id="{D401DD19-7EE5-2FBD-EEBB-45AF55290703}"/>
              </a:ext>
            </a:extLst>
          </p:cNvPr>
          <p:cNvSpPr/>
          <p:nvPr/>
        </p:nvSpPr>
        <p:spPr>
          <a:xfrm>
            <a:off x="765342" y="5411069"/>
            <a:ext cx="1116396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kern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기출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문제</a:t>
            </a:r>
            <a:endParaRPr lang="ko-KR" altLang="en-US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자유형 40">
            <a:extLst>
              <a:ext uri="{FF2B5EF4-FFF2-40B4-BE49-F238E27FC236}">
                <a16:creationId xmlns:a16="http://schemas.microsoft.com/office/drawing/2014/main" id="{09E79253-0323-3EBB-CE73-07A322DC016B}"/>
              </a:ext>
            </a:extLst>
          </p:cNvPr>
          <p:cNvSpPr/>
          <p:nvPr/>
        </p:nvSpPr>
        <p:spPr>
          <a:xfrm>
            <a:off x="2421255" y="5411069"/>
            <a:ext cx="1648717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2812566"/>
              <a:satOff val="-4220"/>
              <a:lumOff val="-686"/>
              <a:alphaOff val="0"/>
            </a:schemeClr>
          </a:fillRef>
          <a:effectRef idx="0">
            <a:schemeClr val="accent3">
              <a:hueOff val="2812566"/>
              <a:satOff val="-4220"/>
              <a:lumOff val="-68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기본 목차</a:t>
            </a:r>
            <a:endParaRPr lang="en-US" altLang="ko-KR" kern="1200" dirty="0">
              <a:solidFill>
                <a:schemeClr val="tx1"/>
              </a:solidFill>
              <a:latin typeface="+mn-ea"/>
            </a:endParaRPr>
          </a:p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kern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컨텐츠</a:t>
            </a:r>
            <a:r>
              <a:rPr lang="en-US" altLang="ko-KR" kern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로부터</a:t>
            </a:r>
            <a:endParaRPr lang="en-US" altLang="ko-KR" kern="1200" dirty="0">
              <a:solidFill>
                <a:schemeClr val="tx1"/>
              </a:solidFill>
              <a:latin typeface="+mn-ea"/>
            </a:endParaRPr>
          </a:p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논점 추출</a:t>
            </a:r>
            <a:endParaRPr lang="ko-KR" altLang="en-US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자유형 42">
            <a:extLst>
              <a:ext uri="{FF2B5EF4-FFF2-40B4-BE49-F238E27FC236}">
                <a16:creationId xmlns:a16="http://schemas.microsoft.com/office/drawing/2014/main" id="{42421559-ED36-2A43-6B16-CFE34D6CAA08}"/>
              </a:ext>
            </a:extLst>
          </p:cNvPr>
          <p:cNvSpPr/>
          <p:nvPr/>
        </p:nvSpPr>
        <p:spPr>
          <a:xfrm>
            <a:off x="4750031" y="5411069"/>
            <a:ext cx="1116396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625132"/>
              <a:satOff val="-8440"/>
              <a:lumOff val="-1373"/>
              <a:alphaOff val="0"/>
            </a:schemeClr>
          </a:fillRef>
          <a:effectRef idx="0">
            <a:schemeClr val="accent3">
              <a:hueOff val="5625132"/>
              <a:satOff val="-8440"/>
              <a:lumOff val="-13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결론 </a:t>
            </a:r>
            <a:endParaRPr lang="en-US" altLang="ko-KR" kern="1200" dirty="0">
              <a:solidFill>
                <a:schemeClr val="tx1"/>
              </a:solidFill>
              <a:latin typeface="+mn-ea"/>
            </a:endParaRPr>
          </a:p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도출</a:t>
            </a:r>
          </a:p>
        </p:txBody>
      </p:sp>
      <p:sp>
        <p:nvSpPr>
          <p:cNvPr id="25" name="자유형 44">
            <a:extLst>
              <a:ext uri="{FF2B5EF4-FFF2-40B4-BE49-F238E27FC236}">
                <a16:creationId xmlns:a16="http://schemas.microsoft.com/office/drawing/2014/main" id="{75AE4110-E2D7-76D6-997F-93EF007190FB}"/>
              </a:ext>
            </a:extLst>
          </p:cNvPr>
          <p:cNvSpPr/>
          <p:nvPr/>
        </p:nvSpPr>
        <p:spPr>
          <a:xfrm>
            <a:off x="6567565" y="5409718"/>
            <a:ext cx="1116396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8437698"/>
              <a:satOff val="-12660"/>
              <a:lumOff val="-2059"/>
              <a:alphaOff val="0"/>
            </a:schemeClr>
          </a:fillRef>
          <a:effectRef idx="0">
            <a:schemeClr val="accent3">
              <a:hueOff val="8437698"/>
              <a:satOff val="-12660"/>
              <a:lumOff val="-205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응용 목차</a:t>
            </a:r>
            <a:endParaRPr lang="en-US" altLang="ko-KR" kern="1200" dirty="0">
              <a:solidFill>
                <a:schemeClr val="tx1"/>
              </a:solidFill>
              <a:latin typeface="+mn-ea"/>
            </a:endParaRPr>
          </a:p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kern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강약조절</a:t>
            </a:r>
            <a:r>
              <a:rPr lang="en-US" altLang="ko-KR" kern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자유형 45">
            <a:extLst>
              <a:ext uri="{FF2B5EF4-FFF2-40B4-BE49-F238E27FC236}">
                <a16:creationId xmlns:a16="http://schemas.microsoft.com/office/drawing/2014/main" id="{F8FB8146-5FAF-453F-1299-FA5051DE63A4}"/>
              </a:ext>
            </a:extLst>
          </p:cNvPr>
          <p:cNvSpPr/>
          <p:nvPr/>
        </p:nvSpPr>
        <p:spPr>
          <a:xfrm>
            <a:off x="8528534" y="5409718"/>
            <a:ext cx="1116396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4"/>
              <a:satOff val="-16880"/>
              <a:lumOff val="-2745"/>
              <a:alphaOff val="0"/>
            </a:schemeClr>
          </a:fillRef>
          <a:effectRef idx="0">
            <a:schemeClr val="accent3">
              <a:hueOff val="11250264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답안</a:t>
            </a:r>
            <a:endParaRPr lang="en-US" altLang="ko-KR" kern="1200" dirty="0">
              <a:solidFill>
                <a:schemeClr val="tx1"/>
              </a:solidFill>
              <a:latin typeface="+mn-ea"/>
            </a:endParaRPr>
          </a:p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>
                <a:solidFill>
                  <a:schemeClr val="tx1"/>
                </a:solidFill>
                <a:latin typeface="+mn-ea"/>
              </a:rPr>
              <a:t>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06113-1B68-A0D5-1220-9F4BB48830FA}"/>
              </a:ext>
            </a:extLst>
          </p:cNvPr>
          <p:cNvSpPr txBox="1"/>
          <p:nvPr/>
        </p:nvSpPr>
        <p:spPr>
          <a:xfrm>
            <a:off x="904194" y="476305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INPUT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5CCA1-9DF6-C64F-78CA-46DBCDF38F5E}"/>
              </a:ext>
            </a:extLst>
          </p:cNvPr>
          <p:cNvSpPr txBox="1"/>
          <p:nvPr/>
        </p:nvSpPr>
        <p:spPr>
          <a:xfrm>
            <a:off x="4418360" y="4763057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PROCESSING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84B7C-E038-868E-3D5D-ABA5DF9249F9}"/>
              </a:ext>
            </a:extLst>
          </p:cNvPr>
          <p:cNvSpPr txBox="1"/>
          <p:nvPr/>
        </p:nvSpPr>
        <p:spPr>
          <a:xfrm>
            <a:off x="8534130" y="4763057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OUTPUT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3D453E6-013E-7658-D67F-6553B330B85C}"/>
              </a:ext>
            </a:extLst>
          </p:cNvPr>
          <p:cNvCxnSpPr>
            <a:stCxn id="3" idx="2"/>
          </p:cNvCxnSpPr>
          <p:nvPr/>
        </p:nvCxnSpPr>
        <p:spPr>
          <a:xfrm flipH="1">
            <a:off x="1323539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F36159B0-E4DE-A3B5-D89A-852FB27BA3D0}"/>
              </a:ext>
            </a:extLst>
          </p:cNvPr>
          <p:cNvCxnSpPr>
            <a:cxnSpLocks/>
          </p:cNvCxnSpPr>
          <p:nvPr/>
        </p:nvCxnSpPr>
        <p:spPr>
          <a:xfrm rot="10800000">
            <a:off x="3251015" y="5132391"/>
            <a:ext cx="3874748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8BF9A9B-9543-C2DF-3EEF-EDDAD85D3D4A}"/>
              </a:ext>
            </a:extLst>
          </p:cNvPr>
          <p:cNvCxnSpPr/>
          <p:nvPr/>
        </p:nvCxnSpPr>
        <p:spPr>
          <a:xfrm flipH="1">
            <a:off x="9070015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11BF303-5D8B-9C9D-7EFB-82F9D407C1BF}"/>
              </a:ext>
            </a:extLst>
          </p:cNvPr>
          <p:cNvCxnSpPr/>
          <p:nvPr/>
        </p:nvCxnSpPr>
        <p:spPr>
          <a:xfrm flipH="1">
            <a:off x="7109045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313C7AB-E0B0-B51A-C6F4-5A3611BF7953}"/>
              </a:ext>
            </a:extLst>
          </p:cNvPr>
          <p:cNvCxnSpPr/>
          <p:nvPr/>
        </p:nvCxnSpPr>
        <p:spPr>
          <a:xfrm flipH="1">
            <a:off x="3246531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DF9D662-2FC8-3439-1B03-7E2B82439F29}"/>
              </a:ext>
            </a:extLst>
          </p:cNvPr>
          <p:cNvCxnSpPr/>
          <p:nvPr/>
        </p:nvCxnSpPr>
        <p:spPr>
          <a:xfrm flipH="1">
            <a:off x="5311557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A166DC2-2F05-C91C-B367-97D97DA8F0CD}"/>
              </a:ext>
            </a:extLst>
          </p:cNvPr>
          <p:cNvCxnSpPr/>
          <p:nvPr/>
        </p:nvCxnSpPr>
        <p:spPr>
          <a:xfrm>
            <a:off x="89647" y="4554070"/>
            <a:ext cx="1200374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FE8B6AA2-53A2-B4D3-9D7A-999C0CB8FD44}"/>
              </a:ext>
            </a:extLst>
          </p:cNvPr>
          <p:cNvSpPr/>
          <p:nvPr/>
        </p:nvSpPr>
        <p:spPr>
          <a:xfrm>
            <a:off x="941290" y="3141705"/>
            <a:ext cx="1667437" cy="587612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INPUT</a:t>
            </a:r>
          </a:p>
          <a:p>
            <a:pPr algn="ctr"/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자극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A5DF50FC-5F41-6B7C-9B29-BF04E333164A}"/>
              </a:ext>
            </a:extLst>
          </p:cNvPr>
          <p:cNvSpPr/>
          <p:nvPr/>
        </p:nvSpPr>
        <p:spPr>
          <a:xfrm>
            <a:off x="3765175" y="3141705"/>
            <a:ext cx="1667437" cy="58761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PROCESSING</a:t>
            </a:r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판단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100" name="사각형: 둥근 모서리 4099">
            <a:extLst>
              <a:ext uri="{FF2B5EF4-FFF2-40B4-BE49-F238E27FC236}">
                <a16:creationId xmlns:a16="http://schemas.microsoft.com/office/drawing/2014/main" id="{B2BDC6C7-1941-9F53-1954-86B3B66D8963}"/>
              </a:ext>
            </a:extLst>
          </p:cNvPr>
          <p:cNvSpPr/>
          <p:nvPr/>
        </p:nvSpPr>
        <p:spPr>
          <a:xfrm>
            <a:off x="3765175" y="2001047"/>
            <a:ext cx="1667437" cy="587612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MEMORY</a:t>
            </a:r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기억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66A2485E-801D-DAD0-4B42-7C480B399191}"/>
              </a:ext>
            </a:extLst>
          </p:cNvPr>
          <p:cNvSpPr/>
          <p:nvPr/>
        </p:nvSpPr>
        <p:spPr>
          <a:xfrm>
            <a:off x="6642848" y="3141705"/>
            <a:ext cx="1667437" cy="587612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OUTPUT</a:t>
            </a:r>
          </a:p>
          <a:p>
            <a:pPr algn="ctr"/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반응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FC546EFF-4874-248C-A501-71DB656A993F}"/>
              </a:ext>
            </a:extLst>
          </p:cNvPr>
          <p:cNvSpPr/>
          <p:nvPr/>
        </p:nvSpPr>
        <p:spPr>
          <a:xfrm>
            <a:off x="9045389" y="1413435"/>
            <a:ext cx="1667437" cy="58761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회신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03" name="직선 화살표 연결선 4102">
            <a:extLst>
              <a:ext uri="{FF2B5EF4-FFF2-40B4-BE49-F238E27FC236}">
                <a16:creationId xmlns:a16="http://schemas.microsoft.com/office/drawing/2014/main" id="{BAFF0F0C-B074-2C07-F865-1E87156F07D3}"/>
              </a:ext>
            </a:extLst>
          </p:cNvPr>
          <p:cNvCxnSpPr>
            <a:stCxn id="4100" idx="2"/>
            <a:endCxn id="4099" idx="0"/>
          </p:cNvCxnSpPr>
          <p:nvPr/>
        </p:nvCxnSpPr>
        <p:spPr>
          <a:xfrm>
            <a:off x="4598894" y="2588659"/>
            <a:ext cx="0" cy="5530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4" name="직선 화살표 연결선 4103">
            <a:extLst>
              <a:ext uri="{FF2B5EF4-FFF2-40B4-BE49-F238E27FC236}">
                <a16:creationId xmlns:a16="http://schemas.microsoft.com/office/drawing/2014/main" id="{B7799929-6B9B-93D0-EDE0-D01BA1E89D5A}"/>
              </a:ext>
            </a:extLst>
          </p:cNvPr>
          <p:cNvCxnSpPr>
            <a:stCxn id="4097" idx="3"/>
            <a:endCxn id="4099" idx="1"/>
          </p:cNvCxnSpPr>
          <p:nvPr/>
        </p:nvCxnSpPr>
        <p:spPr>
          <a:xfrm>
            <a:off x="2608727" y="3435511"/>
            <a:ext cx="1156448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5" name="직선 화살표 연결선 4104">
            <a:extLst>
              <a:ext uri="{FF2B5EF4-FFF2-40B4-BE49-F238E27FC236}">
                <a16:creationId xmlns:a16="http://schemas.microsoft.com/office/drawing/2014/main" id="{26C149D9-023A-2B99-1198-62DA30A6C248}"/>
              </a:ext>
            </a:extLst>
          </p:cNvPr>
          <p:cNvCxnSpPr>
            <a:stCxn id="4099" idx="3"/>
            <a:endCxn id="4101" idx="1"/>
          </p:cNvCxnSpPr>
          <p:nvPr/>
        </p:nvCxnSpPr>
        <p:spPr>
          <a:xfrm>
            <a:off x="5432612" y="3435511"/>
            <a:ext cx="1210236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6" name="연결선: 꺾임 4105">
            <a:extLst>
              <a:ext uri="{FF2B5EF4-FFF2-40B4-BE49-F238E27FC236}">
                <a16:creationId xmlns:a16="http://schemas.microsoft.com/office/drawing/2014/main" id="{E7CC5936-ACED-318C-80B7-E739C2EF1D29}"/>
              </a:ext>
            </a:extLst>
          </p:cNvPr>
          <p:cNvCxnSpPr>
            <a:cxnSpLocks/>
            <a:stCxn id="4101" idx="3"/>
            <a:endCxn id="4102" idx="2"/>
          </p:cNvCxnSpPr>
          <p:nvPr/>
        </p:nvCxnSpPr>
        <p:spPr>
          <a:xfrm flipV="1">
            <a:off x="8310285" y="2001047"/>
            <a:ext cx="1568823" cy="1434464"/>
          </a:xfrm>
          <a:prstGeom prst="bentConnector2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연결선: 꺾임 4106">
            <a:extLst>
              <a:ext uri="{FF2B5EF4-FFF2-40B4-BE49-F238E27FC236}">
                <a16:creationId xmlns:a16="http://schemas.microsoft.com/office/drawing/2014/main" id="{61BF1602-44B5-59D9-B25D-4AAA17EC616F}"/>
              </a:ext>
            </a:extLst>
          </p:cNvPr>
          <p:cNvCxnSpPr>
            <a:stCxn id="4102" idx="0"/>
            <a:endCxn id="4097" idx="0"/>
          </p:cNvCxnSpPr>
          <p:nvPr/>
        </p:nvCxnSpPr>
        <p:spPr>
          <a:xfrm rot="16200000" flipH="1" flipV="1">
            <a:off x="4962924" y="-1774480"/>
            <a:ext cx="1728270" cy="8104099"/>
          </a:xfrm>
          <a:prstGeom prst="bentConnector3">
            <a:avLst>
              <a:gd name="adj1" fmla="val -10929"/>
            </a:avLst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8" name="연결선: 꺾임 4107">
            <a:extLst>
              <a:ext uri="{FF2B5EF4-FFF2-40B4-BE49-F238E27FC236}">
                <a16:creationId xmlns:a16="http://schemas.microsoft.com/office/drawing/2014/main" id="{2FC71F50-5E02-1FF5-5994-719DD2178F90}"/>
              </a:ext>
            </a:extLst>
          </p:cNvPr>
          <p:cNvCxnSpPr>
            <a:stCxn id="4102" idx="1"/>
            <a:endCxn id="4100" idx="0"/>
          </p:cNvCxnSpPr>
          <p:nvPr/>
        </p:nvCxnSpPr>
        <p:spPr>
          <a:xfrm rot="10800000" flipV="1">
            <a:off x="4598895" y="1707242"/>
            <a:ext cx="4446495" cy="293806"/>
          </a:xfrm>
          <a:prstGeom prst="bentConnector2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9" name="연결선: 꺾임 4108">
            <a:extLst>
              <a:ext uri="{FF2B5EF4-FFF2-40B4-BE49-F238E27FC236}">
                <a16:creationId xmlns:a16="http://schemas.microsoft.com/office/drawing/2014/main" id="{9C892897-7EF4-01D7-2C5E-BFA7F92742FA}"/>
              </a:ext>
            </a:extLst>
          </p:cNvPr>
          <p:cNvCxnSpPr>
            <a:stCxn id="4102" idx="3"/>
            <a:endCxn id="4099" idx="2"/>
          </p:cNvCxnSpPr>
          <p:nvPr/>
        </p:nvCxnSpPr>
        <p:spPr>
          <a:xfrm flipH="1">
            <a:off x="4598894" y="1707242"/>
            <a:ext cx="6113932" cy="2022075"/>
          </a:xfrm>
          <a:prstGeom prst="bentConnector4">
            <a:avLst>
              <a:gd name="adj1" fmla="val -3739"/>
              <a:gd name="adj2" fmla="val 126557"/>
            </a:avLst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0" name="TextBox 4109">
            <a:extLst>
              <a:ext uri="{FF2B5EF4-FFF2-40B4-BE49-F238E27FC236}">
                <a16:creationId xmlns:a16="http://schemas.microsoft.com/office/drawing/2014/main" id="{82358A88-1888-0D3B-E8D7-EA34AD96F76E}"/>
              </a:ext>
            </a:extLst>
          </p:cNvPr>
          <p:cNvSpPr txBox="1"/>
          <p:nvPr/>
        </p:nvSpPr>
        <p:spPr>
          <a:xfrm>
            <a:off x="2755346" y="3141705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유형화</a:t>
            </a: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1ACE9D87-4BFA-7415-8EDA-4A213E3DD252}"/>
              </a:ext>
            </a:extLst>
          </p:cNvPr>
          <p:cNvSpPr txBox="1"/>
          <p:nvPr/>
        </p:nvSpPr>
        <p:spPr>
          <a:xfrm>
            <a:off x="4627671" y="2686184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추출</a:t>
            </a:r>
            <a:endParaRPr lang="ko-KR" altLang="en-US" sz="1200" dirty="0"/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31E3ADEF-781B-9FE8-904A-253437B7CFA9}"/>
              </a:ext>
            </a:extLst>
          </p:cNvPr>
          <p:cNvSpPr txBox="1"/>
          <p:nvPr/>
        </p:nvSpPr>
        <p:spPr>
          <a:xfrm>
            <a:off x="5581114" y="3141705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최적화</a:t>
            </a:r>
          </a:p>
        </p:txBody>
      </p:sp>
      <p:sp>
        <p:nvSpPr>
          <p:cNvPr id="4113" name="TextBox 4112">
            <a:extLst>
              <a:ext uri="{FF2B5EF4-FFF2-40B4-BE49-F238E27FC236}">
                <a16:creationId xmlns:a16="http://schemas.microsoft.com/office/drawing/2014/main" id="{30B750BA-157A-DEE0-B520-91D0E45BB423}"/>
              </a:ext>
            </a:extLst>
          </p:cNvPr>
          <p:cNvSpPr txBox="1"/>
          <p:nvPr/>
        </p:nvSpPr>
        <p:spPr>
          <a:xfrm>
            <a:off x="8827638" y="314170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비교</a:t>
            </a:r>
          </a:p>
        </p:txBody>
      </p:sp>
      <p:sp>
        <p:nvSpPr>
          <p:cNvPr id="4114" name="TextBox 4113">
            <a:extLst>
              <a:ext uri="{FF2B5EF4-FFF2-40B4-BE49-F238E27FC236}">
                <a16:creationId xmlns:a16="http://schemas.microsoft.com/office/drawing/2014/main" id="{FB772747-07FC-3E36-39FB-4CA9212106D1}"/>
              </a:ext>
            </a:extLst>
          </p:cNvPr>
          <p:cNvSpPr txBox="1"/>
          <p:nvPr/>
        </p:nvSpPr>
        <p:spPr>
          <a:xfrm>
            <a:off x="5464573" y="1997847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단순화</a:t>
            </a:r>
            <a:endParaRPr lang="ko-KR" altLang="en-US" sz="1200" dirty="0"/>
          </a:p>
        </p:txBody>
      </p:sp>
      <p:sp>
        <p:nvSpPr>
          <p:cNvPr id="4115" name="TextBox 4114">
            <a:extLst>
              <a:ext uri="{FF2B5EF4-FFF2-40B4-BE49-F238E27FC236}">
                <a16:creationId xmlns:a16="http://schemas.microsoft.com/office/drawing/2014/main" id="{04004B44-6254-6849-F1B4-B00DF02988A5}"/>
              </a:ext>
            </a:extLst>
          </p:cNvPr>
          <p:cNvSpPr txBox="1"/>
          <p:nvPr/>
        </p:nvSpPr>
        <p:spPr>
          <a:xfrm>
            <a:off x="5464573" y="2277569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계층화</a:t>
            </a:r>
          </a:p>
        </p:txBody>
      </p:sp>
      <p:grpSp>
        <p:nvGrpSpPr>
          <p:cNvPr id="4116" name="그룹 4115">
            <a:extLst>
              <a:ext uri="{FF2B5EF4-FFF2-40B4-BE49-F238E27FC236}">
                <a16:creationId xmlns:a16="http://schemas.microsoft.com/office/drawing/2014/main" id="{B055FCCD-1E09-77F0-299D-9D8CF51B1C62}"/>
              </a:ext>
            </a:extLst>
          </p:cNvPr>
          <p:cNvGrpSpPr/>
          <p:nvPr/>
        </p:nvGrpSpPr>
        <p:grpSpPr>
          <a:xfrm>
            <a:off x="6170176" y="1935402"/>
            <a:ext cx="843987" cy="714090"/>
            <a:chOff x="6232931" y="2621274"/>
            <a:chExt cx="843987" cy="674864"/>
          </a:xfrm>
        </p:grpSpPr>
        <p:sp>
          <p:nvSpPr>
            <p:cNvPr id="4117" name="타원 4116">
              <a:extLst>
                <a:ext uri="{FF2B5EF4-FFF2-40B4-BE49-F238E27FC236}">
                  <a16:creationId xmlns:a16="http://schemas.microsoft.com/office/drawing/2014/main" id="{F6CA3125-3517-9F93-42BA-612393356577}"/>
                </a:ext>
              </a:extLst>
            </p:cNvPr>
            <p:cNvSpPr/>
            <p:nvPr/>
          </p:nvSpPr>
          <p:spPr>
            <a:xfrm>
              <a:off x="6584176" y="2621274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18" name="타원 4117">
              <a:extLst>
                <a:ext uri="{FF2B5EF4-FFF2-40B4-BE49-F238E27FC236}">
                  <a16:creationId xmlns:a16="http://schemas.microsoft.com/office/drawing/2014/main" id="{15D8F1E1-9D65-ECB6-035C-83BDDA80ED14}"/>
                </a:ext>
              </a:extLst>
            </p:cNvPr>
            <p:cNvSpPr/>
            <p:nvPr/>
          </p:nvSpPr>
          <p:spPr>
            <a:xfrm>
              <a:off x="6409387" y="2870020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D4E96439-A6DD-D14B-6BF8-D77070A77FD2}"/>
                </a:ext>
              </a:extLst>
            </p:cNvPr>
            <p:cNvSpPr/>
            <p:nvPr/>
          </p:nvSpPr>
          <p:spPr>
            <a:xfrm>
              <a:off x="6724007" y="2870020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20" name="타원 4119">
              <a:extLst>
                <a:ext uri="{FF2B5EF4-FFF2-40B4-BE49-F238E27FC236}">
                  <a16:creationId xmlns:a16="http://schemas.microsoft.com/office/drawing/2014/main" id="{4DD6BF7F-AB1C-303F-2F5E-8695EBE02848}"/>
                </a:ext>
              </a:extLst>
            </p:cNvPr>
            <p:cNvSpPr/>
            <p:nvPr/>
          </p:nvSpPr>
          <p:spPr>
            <a:xfrm>
              <a:off x="6232931" y="3120425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21" name="타원 4120">
              <a:extLst>
                <a:ext uri="{FF2B5EF4-FFF2-40B4-BE49-F238E27FC236}">
                  <a16:creationId xmlns:a16="http://schemas.microsoft.com/office/drawing/2014/main" id="{6C80FF53-C2B7-7CD5-59A6-3D4018C0C63D}"/>
                </a:ext>
              </a:extLst>
            </p:cNvPr>
            <p:cNvSpPr/>
            <p:nvPr/>
          </p:nvSpPr>
          <p:spPr>
            <a:xfrm>
              <a:off x="6585842" y="3120425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22" name="타원 4121">
              <a:extLst>
                <a:ext uri="{FF2B5EF4-FFF2-40B4-BE49-F238E27FC236}">
                  <a16:creationId xmlns:a16="http://schemas.microsoft.com/office/drawing/2014/main" id="{843CE1A0-1150-241E-5A25-BA3DC6CAB9E4}"/>
                </a:ext>
              </a:extLst>
            </p:cNvPr>
            <p:cNvSpPr/>
            <p:nvPr/>
          </p:nvSpPr>
          <p:spPr>
            <a:xfrm>
              <a:off x="6900462" y="3120425"/>
              <a:ext cx="176456" cy="1757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4123" name="직선 연결선 4122">
              <a:extLst>
                <a:ext uri="{FF2B5EF4-FFF2-40B4-BE49-F238E27FC236}">
                  <a16:creationId xmlns:a16="http://schemas.microsoft.com/office/drawing/2014/main" id="{62D59751-F46F-3246-D6A0-B9255B2A2CA1}"/>
                </a:ext>
              </a:extLst>
            </p:cNvPr>
            <p:cNvCxnSpPr>
              <a:stCxn id="4117" idx="3"/>
              <a:endCxn id="4118" idx="7"/>
            </p:cNvCxnSpPr>
            <p:nvPr/>
          </p:nvCxnSpPr>
          <p:spPr>
            <a:xfrm flipH="1">
              <a:off x="6560002" y="2771254"/>
              <a:ext cx="50015" cy="12449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직선 연결선 4123">
              <a:extLst>
                <a:ext uri="{FF2B5EF4-FFF2-40B4-BE49-F238E27FC236}">
                  <a16:creationId xmlns:a16="http://schemas.microsoft.com/office/drawing/2014/main" id="{D6F05652-0B91-3255-AE36-D6483CD5AA2D}"/>
                </a:ext>
              </a:extLst>
            </p:cNvPr>
            <p:cNvCxnSpPr>
              <a:cxnSpLocks/>
              <a:stCxn id="4118" idx="3"/>
              <a:endCxn id="4120" idx="7"/>
            </p:cNvCxnSpPr>
            <p:nvPr/>
          </p:nvCxnSpPr>
          <p:spPr>
            <a:xfrm flipH="1">
              <a:off x="6383546" y="3020000"/>
              <a:ext cx="51682" cy="12615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직선 연결선 4124">
              <a:extLst>
                <a:ext uri="{FF2B5EF4-FFF2-40B4-BE49-F238E27FC236}">
                  <a16:creationId xmlns:a16="http://schemas.microsoft.com/office/drawing/2014/main" id="{701A15BF-BB55-3C82-3DC1-955961D93776}"/>
                </a:ext>
              </a:extLst>
            </p:cNvPr>
            <p:cNvCxnSpPr>
              <a:stCxn id="4118" idx="5"/>
              <a:endCxn id="4121" idx="0"/>
            </p:cNvCxnSpPr>
            <p:nvPr/>
          </p:nvCxnSpPr>
          <p:spPr>
            <a:xfrm>
              <a:off x="6560002" y="3020000"/>
              <a:ext cx="114068" cy="10042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직선 연결선 4125">
              <a:extLst>
                <a:ext uri="{FF2B5EF4-FFF2-40B4-BE49-F238E27FC236}">
                  <a16:creationId xmlns:a16="http://schemas.microsoft.com/office/drawing/2014/main" id="{C51944C4-9B70-7910-F7ED-6F7EA37E65AA}"/>
                </a:ext>
              </a:extLst>
            </p:cNvPr>
            <p:cNvCxnSpPr>
              <a:cxnSpLocks/>
              <a:stCxn id="4119" idx="3"/>
              <a:endCxn id="4121" idx="0"/>
            </p:cNvCxnSpPr>
            <p:nvPr/>
          </p:nvCxnSpPr>
          <p:spPr>
            <a:xfrm flipH="1">
              <a:off x="6674070" y="3020000"/>
              <a:ext cx="75778" cy="10042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직선 연결선 4126">
              <a:extLst>
                <a:ext uri="{FF2B5EF4-FFF2-40B4-BE49-F238E27FC236}">
                  <a16:creationId xmlns:a16="http://schemas.microsoft.com/office/drawing/2014/main" id="{CA13A49E-A685-7735-1CF5-7DA7FB5C8534}"/>
                </a:ext>
              </a:extLst>
            </p:cNvPr>
            <p:cNvCxnSpPr>
              <a:stCxn id="4117" idx="5"/>
              <a:endCxn id="4119" idx="0"/>
            </p:cNvCxnSpPr>
            <p:nvPr/>
          </p:nvCxnSpPr>
          <p:spPr>
            <a:xfrm>
              <a:off x="6734791" y="2771254"/>
              <a:ext cx="77444" cy="9876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직선 연결선 4127">
              <a:extLst>
                <a:ext uri="{FF2B5EF4-FFF2-40B4-BE49-F238E27FC236}">
                  <a16:creationId xmlns:a16="http://schemas.microsoft.com/office/drawing/2014/main" id="{448D1D2E-C3FD-8A7F-CECE-6B344B701CFB}"/>
                </a:ext>
              </a:extLst>
            </p:cNvPr>
            <p:cNvCxnSpPr>
              <a:stCxn id="4117" idx="4"/>
              <a:endCxn id="4121" idx="0"/>
            </p:cNvCxnSpPr>
            <p:nvPr/>
          </p:nvCxnSpPr>
          <p:spPr>
            <a:xfrm>
              <a:off x="6672404" y="2796987"/>
              <a:ext cx="1666" cy="32343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직선 연결선 4128">
              <a:extLst>
                <a:ext uri="{FF2B5EF4-FFF2-40B4-BE49-F238E27FC236}">
                  <a16:creationId xmlns:a16="http://schemas.microsoft.com/office/drawing/2014/main" id="{E4463C01-09CD-94CC-5D73-A6BFAE805966}"/>
                </a:ext>
              </a:extLst>
            </p:cNvPr>
            <p:cNvCxnSpPr>
              <a:stCxn id="4119" idx="5"/>
              <a:endCxn id="4122" idx="0"/>
            </p:cNvCxnSpPr>
            <p:nvPr/>
          </p:nvCxnSpPr>
          <p:spPr>
            <a:xfrm>
              <a:off x="6874622" y="3020000"/>
              <a:ext cx="114068" cy="10042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직선 연결선 4129">
              <a:extLst>
                <a:ext uri="{FF2B5EF4-FFF2-40B4-BE49-F238E27FC236}">
                  <a16:creationId xmlns:a16="http://schemas.microsoft.com/office/drawing/2014/main" id="{71640D73-EBB6-CACD-DA59-D07879328B2A}"/>
                </a:ext>
              </a:extLst>
            </p:cNvPr>
            <p:cNvCxnSpPr>
              <a:stCxn id="4118" idx="6"/>
              <a:endCxn id="4119" idx="2"/>
            </p:cNvCxnSpPr>
            <p:nvPr/>
          </p:nvCxnSpPr>
          <p:spPr>
            <a:xfrm>
              <a:off x="6585843" y="2957877"/>
              <a:ext cx="13816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직선 연결선 4130">
              <a:extLst>
                <a:ext uri="{FF2B5EF4-FFF2-40B4-BE49-F238E27FC236}">
                  <a16:creationId xmlns:a16="http://schemas.microsoft.com/office/drawing/2014/main" id="{0B88BB13-3429-A0C8-7199-4746831C6769}"/>
                </a:ext>
              </a:extLst>
            </p:cNvPr>
            <p:cNvCxnSpPr>
              <a:stCxn id="4120" idx="6"/>
              <a:endCxn id="4121" idx="1"/>
            </p:cNvCxnSpPr>
            <p:nvPr/>
          </p:nvCxnSpPr>
          <p:spPr>
            <a:xfrm>
              <a:off x="6409387" y="3208282"/>
              <a:ext cx="176455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직선 연결선 4131">
              <a:extLst>
                <a:ext uri="{FF2B5EF4-FFF2-40B4-BE49-F238E27FC236}">
                  <a16:creationId xmlns:a16="http://schemas.microsoft.com/office/drawing/2014/main" id="{A9FF8672-57D8-3349-A2B2-7236609C18A5}"/>
                </a:ext>
              </a:extLst>
            </p:cNvPr>
            <p:cNvCxnSpPr>
              <a:stCxn id="4121" idx="6"/>
              <a:endCxn id="4122" idx="2"/>
            </p:cNvCxnSpPr>
            <p:nvPr/>
          </p:nvCxnSpPr>
          <p:spPr>
            <a:xfrm>
              <a:off x="6762298" y="3208282"/>
              <a:ext cx="13816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직선 연결선 4132">
              <a:extLst>
                <a:ext uri="{FF2B5EF4-FFF2-40B4-BE49-F238E27FC236}">
                  <a16:creationId xmlns:a16="http://schemas.microsoft.com/office/drawing/2014/main" id="{D58455C0-C9D3-0193-3507-5BEB6A4D1ED4}"/>
                </a:ext>
              </a:extLst>
            </p:cNvPr>
            <p:cNvCxnSpPr>
              <a:cxnSpLocks/>
              <a:stCxn id="4120" idx="6"/>
              <a:endCxn id="4119" idx="3"/>
            </p:cNvCxnSpPr>
            <p:nvPr/>
          </p:nvCxnSpPr>
          <p:spPr>
            <a:xfrm flipV="1">
              <a:off x="6409387" y="3020000"/>
              <a:ext cx="340461" cy="18828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직선 연결선 4133">
              <a:extLst>
                <a:ext uri="{FF2B5EF4-FFF2-40B4-BE49-F238E27FC236}">
                  <a16:creationId xmlns:a16="http://schemas.microsoft.com/office/drawing/2014/main" id="{504B7040-96AA-72E5-64E4-6548F1D3E511}"/>
                </a:ext>
              </a:extLst>
            </p:cNvPr>
            <p:cNvCxnSpPr>
              <a:stCxn id="4122" idx="1"/>
              <a:endCxn id="4118" idx="5"/>
            </p:cNvCxnSpPr>
            <p:nvPr/>
          </p:nvCxnSpPr>
          <p:spPr>
            <a:xfrm flipH="1" flipV="1">
              <a:off x="6560002" y="3020000"/>
              <a:ext cx="366301" cy="12615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35" name="TextBox 4134">
            <a:extLst>
              <a:ext uri="{FF2B5EF4-FFF2-40B4-BE49-F238E27FC236}">
                <a16:creationId xmlns:a16="http://schemas.microsoft.com/office/drawing/2014/main" id="{A3342F00-F02F-249F-A5A7-0493E011D818}"/>
              </a:ext>
            </a:extLst>
          </p:cNvPr>
          <p:cNvSpPr txBox="1"/>
          <p:nvPr/>
        </p:nvSpPr>
        <p:spPr>
          <a:xfrm>
            <a:off x="195229" y="714775"/>
            <a:ext cx="7379947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ko-KR" altLang="en-US" sz="2000" b="1" dirty="0">
                <a:solidFill>
                  <a:schemeClr val="accent2">
                    <a:lumMod val="50000"/>
                  </a:schemeClr>
                </a:solidFill>
              </a:rPr>
              <a:t>예측 오류를 최소화하는 방향으로 인간의 뇌는 발전한다</a:t>
            </a:r>
            <a:r>
              <a:rPr lang="en-US" altLang="ko-KR" sz="2000" b="1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ko-KR" altLang="en-US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자유형 45">
            <a:extLst>
              <a:ext uri="{FF2B5EF4-FFF2-40B4-BE49-F238E27FC236}">
                <a16:creationId xmlns:a16="http://schemas.microsoft.com/office/drawing/2014/main" id="{A574B438-2C9D-D1F9-C5D2-AAA27BFB55ED}"/>
              </a:ext>
            </a:extLst>
          </p:cNvPr>
          <p:cNvSpPr/>
          <p:nvPr/>
        </p:nvSpPr>
        <p:spPr>
          <a:xfrm>
            <a:off x="10430078" y="5409718"/>
            <a:ext cx="1116396" cy="1161411"/>
          </a:xfrm>
          <a:custGeom>
            <a:avLst/>
            <a:gdLst>
              <a:gd name="connsiteX0" fmla="*/ 0 w 1116396"/>
              <a:gd name="connsiteY0" fmla="*/ 0 h 669837"/>
              <a:gd name="connsiteX1" fmla="*/ 1116396 w 1116396"/>
              <a:gd name="connsiteY1" fmla="*/ 0 h 669837"/>
              <a:gd name="connsiteX2" fmla="*/ 1116396 w 1116396"/>
              <a:gd name="connsiteY2" fmla="*/ 669837 h 669837"/>
              <a:gd name="connsiteX3" fmla="*/ 0 w 1116396"/>
              <a:gd name="connsiteY3" fmla="*/ 669837 h 669837"/>
              <a:gd name="connsiteX4" fmla="*/ 0 w 1116396"/>
              <a:gd name="connsiteY4" fmla="*/ 0 h 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396" h="669837">
                <a:moveTo>
                  <a:pt x="0" y="0"/>
                </a:moveTo>
                <a:lnTo>
                  <a:pt x="1116396" y="0"/>
                </a:lnTo>
                <a:lnTo>
                  <a:pt x="1116396" y="669837"/>
                </a:lnTo>
                <a:lnTo>
                  <a:pt x="0" y="6698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50264"/>
              <a:satOff val="-16880"/>
              <a:lumOff val="-2745"/>
              <a:alphaOff val="0"/>
            </a:schemeClr>
          </a:fillRef>
          <a:effectRef idx="0">
            <a:schemeClr val="accent3">
              <a:hueOff val="11250264"/>
              <a:satOff val="-16880"/>
              <a:lumOff val="-27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120" tIns="71120" rIns="71120" bIns="71120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채점</a:t>
            </a:r>
            <a:endParaRPr lang="ko-KR" altLang="en-US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181C8-D425-9565-F59F-E54AB8C60524}"/>
              </a:ext>
            </a:extLst>
          </p:cNvPr>
          <p:cNvSpPr txBox="1"/>
          <p:nvPr/>
        </p:nvSpPr>
        <p:spPr>
          <a:xfrm>
            <a:off x="10258538" y="4763057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(FEED)BACK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EFB5289-26EC-E89B-8570-EE93FE1F80B5}"/>
              </a:ext>
            </a:extLst>
          </p:cNvPr>
          <p:cNvCxnSpPr/>
          <p:nvPr/>
        </p:nvCxnSpPr>
        <p:spPr>
          <a:xfrm flipH="1">
            <a:off x="10982681" y="5132389"/>
            <a:ext cx="1" cy="2773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403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C8742-CDAD-626A-CCB5-8C9F9C8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38B5C74-7AB5-4E57-567C-DB27DAA8D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목차와 컨텐츠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68A563-0E73-B83C-3916-84CF60BF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EF59FE31-E2BB-A0AB-C9A9-8F353A4A35C1}"/>
              </a:ext>
            </a:extLst>
          </p:cNvPr>
          <p:cNvSpPr txBox="1"/>
          <p:nvPr/>
        </p:nvSpPr>
        <p:spPr>
          <a:xfrm>
            <a:off x="1281953" y="4025153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판례형</a:t>
            </a:r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44A7F736-F869-79C6-4C45-4F7DD2FABC4A}"/>
              </a:ext>
            </a:extLst>
          </p:cNvPr>
          <p:cNvSpPr txBox="1"/>
          <p:nvPr/>
        </p:nvSpPr>
        <p:spPr>
          <a:xfrm>
            <a:off x="2716306" y="4025153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약술형</a:t>
            </a:r>
            <a:endParaRPr lang="ko-KR" altLang="en-US" dirty="0"/>
          </a:p>
        </p:txBody>
      </p:sp>
      <p:sp>
        <p:nvSpPr>
          <p:cNvPr id="4138" name="TextBox 4137">
            <a:extLst>
              <a:ext uri="{FF2B5EF4-FFF2-40B4-BE49-F238E27FC236}">
                <a16:creationId xmlns:a16="http://schemas.microsoft.com/office/drawing/2014/main" id="{C4620D56-9B51-9E5E-8480-21EB943E848D}"/>
              </a:ext>
            </a:extLst>
          </p:cNvPr>
          <p:cNvSpPr txBox="1"/>
          <p:nvPr/>
        </p:nvSpPr>
        <p:spPr>
          <a:xfrm>
            <a:off x="2716306" y="4394485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쟁점형</a:t>
            </a:r>
          </a:p>
        </p:txBody>
      </p:sp>
      <p:sp>
        <p:nvSpPr>
          <p:cNvPr id="4139" name="TextBox 4138">
            <a:extLst>
              <a:ext uri="{FF2B5EF4-FFF2-40B4-BE49-F238E27FC236}">
                <a16:creationId xmlns:a16="http://schemas.microsoft.com/office/drawing/2014/main" id="{2642EA2C-674C-2691-559D-480C5AF0A905}"/>
              </a:ext>
            </a:extLst>
          </p:cNvPr>
          <p:cNvSpPr txBox="1"/>
          <p:nvPr/>
        </p:nvSpPr>
        <p:spPr>
          <a:xfrm>
            <a:off x="4150659" y="4025153"/>
            <a:ext cx="80983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조치형</a:t>
            </a:r>
          </a:p>
        </p:txBody>
      </p:sp>
    </p:spTree>
    <p:extLst>
      <p:ext uri="{BB962C8B-B14F-4D97-AF65-F5344CB8AC3E}">
        <p14:creationId xmlns:p14="http://schemas.microsoft.com/office/powerpoint/2010/main" val="3597356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9489-A3B2-B35B-2CBE-EB7D7190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3E731DB-FD43-3025-CC75-58F4C66AD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답안 작성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2F6B030-7195-C32A-CE1A-1C6CB12F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45A052-FE44-AAEF-3778-00F757C99C6D}"/>
              </a:ext>
            </a:extLst>
          </p:cNvPr>
          <p:cNvSpPr/>
          <p:nvPr/>
        </p:nvSpPr>
        <p:spPr bwMode="auto">
          <a:xfrm>
            <a:off x="1801986" y="1378831"/>
            <a:ext cx="1800200" cy="11521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THINK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4D9182-8846-C27F-D02E-86D2A8783F40}"/>
              </a:ext>
            </a:extLst>
          </p:cNvPr>
          <p:cNvSpPr/>
          <p:nvPr/>
        </p:nvSpPr>
        <p:spPr bwMode="auto">
          <a:xfrm>
            <a:off x="1801986" y="2602967"/>
            <a:ext cx="1800200" cy="24482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WRITE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27CE18-146C-B631-6E7F-F6AAE010DBC9}"/>
              </a:ext>
            </a:extLst>
          </p:cNvPr>
          <p:cNvSpPr/>
          <p:nvPr/>
        </p:nvSpPr>
        <p:spPr bwMode="auto">
          <a:xfrm>
            <a:off x="1801986" y="5123247"/>
            <a:ext cx="1800200" cy="936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BUFFER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E185B-CD64-B144-A26D-325316B29197}"/>
              </a:ext>
            </a:extLst>
          </p:cNvPr>
          <p:cNvSpPr txBox="1"/>
          <p:nvPr/>
        </p:nvSpPr>
        <p:spPr>
          <a:xfrm>
            <a:off x="757772" y="2386943"/>
            <a:ext cx="1024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20 Minute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79CEA-D49F-9D3A-0802-2BC445AC962F}"/>
              </a:ext>
            </a:extLst>
          </p:cNvPr>
          <p:cNvSpPr txBox="1"/>
          <p:nvPr/>
        </p:nvSpPr>
        <p:spPr>
          <a:xfrm>
            <a:off x="866777" y="1234815"/>
            <a:ext cx="915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0 Minute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5B4FF3-9777-221A-2E21-FC5CC02D8F57}"/>
              </a:ext>
            </a:extLst>
          </p:cNvPr>
          <p:cNvSpPr txBox="1"/>
          <p:nvPr/>
        </p:nvSpPr>
        <p:spPr>
          <a:xfrm>
            <a:off x="648768" y="4907223"/>
            <a:ext cx="1133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100 Minute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0AE15-21B4-34F6-7322-A1672D585F7C}"/>
              </a:ext>
            </a:extLst>
          </p:cNvPr>
          <p:cNvSpPr txBox="1"/>
          <p:nvPr/>
        </p:nvSpPr>
        <p:spPr>
          <a:xfrm>
            <a:off x="648768" y="5915335"/>
            <a:ext cx="1133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120 Minute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F97CD-AD24-62EF-E567-569DC8E80D35}"/>
              </a:ext>
            </a:extLst>
          </p:cNvPr>
          <p:cNvSpPr txBox="1"/>
          <p:nvPr/>
        </p:nvSpPr>
        <p:spPr>
          <a:xfrm>
            <a:off x="3627664" y="1396631"/>
            <a:ext cx="7429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600" b="0" dirty="0">
                <a:solidFill>
                  <a:srgbClr val="FF0000"/>
                </a:solidFill>
                <a:latin typeface="+mn-ea"/>
              </a:rPr>
              <a:t> 당락은 </a:t>
            </a:r>
            <a:r>
              <a:rPr lang="en-US" altLang="ko-KR" sz="1600" b="0" dirty="0">
                <a:solidFill>
                  <a:srgbClr val="FF0000"/>
                </a:solidFill>
                <a:latin typeface="+mn-ea"/>
              </a:rPr>
              <a:t>20</a:t>
            </a:r>
            <a:r>
              <a:rPr lang="ko-KR" altLang="en-US" sz="1600" b="0" dirty="0">
                <a:solidFill>
                  <a:srgbClr val="FF0000"/>
                </a:solidFill>
                <a:latin typeface="+mn-ea"/>
              </a:rPr>
              <a:t>분내에 결정된다</a:t>
            </a:r>
            <a:r>
              <a:rPr lang="en-US" altLang="ko-KR" sz="1600" b="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사실관계를 파악하고</a:t>
            </a:r>
            <a:r>
              <a:rPr lang="en-US" altLang="ko-KR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접근방법을 이용하여 판단한 후 결론을 도출한다</a:t>
            </a:r>
            <a:r>
              <a:rPr lang="en-US" altLang="ko-KR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출제자의 요구에 따라 목차를 구성한다</a:t>
            </a:r>
            <a:r>
              <a:rPr lang="en-US" altLang="ko-KR" sz="1600" b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.</a:t>
            </a:r>
            <a:endParaRPr lang="ko-KR" altLang="en-US" sz="1600" b="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B5112D-418A-1A21-61B9-A75D2E5EB4A9}"/>
              </a:ext>
            </a:extLst>
          </p:cNvPr>
          <p:cNvSpPr txBox="1"/>
          <p:nvPr/>
        </p:nvSpPr>
        <p:spPr>
          <a:xfrm>
            <a:off x="3627664" y="2607957"/>
            <a:ext cx="74298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생각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(Think)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의 속도에서 자유로워야 한다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포맷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(Format)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을 구비하라</a:t>
            </a:r>
            <a:endParaRPr lang="en-US" altLang="ko-KR" sz="1600" b="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buFont typeface="Wingdings" pitchFamily="2" charset="2"/>
              <a:buChar char="§"/>
            </a:pPr>
            <a:r>
              <a:rPr lang="zh-TW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天上天下唯我獨尊  </a:t>
            </a:r>
            <a:r>
              <a:rPr lang="en-US" altLang="zh-TW" sz="1600" b="0" dirty="0">
                <a:solidFill>
                  <a:schemeClr val="accent4">
                    <a:lumMod val="50000"/>
                  </a:schemeClr>
                </a:solidFill>
                <a:latin typeface="+mn-ea"/>
                <a:sym typeface="Wingdings" pitchFamily="2" charset="2"/>
              </a:rPr>
              <a:t> 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  <a:sym typeface="Wingdings" pitchFamily="2" charset="2"/>
              </a:rPr>
              <a:t>세상에 믿을 놈 하나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  <a:sym typeface="Wingdings" pitchFamily="2" charset="2"/>
              </a:rPr>
              <a:t> 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  <a:sym typeface="Wingdings" pitchFamily="2" charset="2"/>
              </a:rPr>
              <a:t>없다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  <a:sym typeface="Wingdings" pitchFamily="2" charset="2"/>
              </a:rPr>
              <a:t>.</a:t>
            </a:r>
            <a:endParaRPr lang="zh-TW" altLang="en-US" sz="1600" b="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가독성을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높여라</a:t>
            </a:r>
            <a:endParaRPr lang="en-US" altLang="ko-KR" sz="1600" b="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홈런보다는 안타가 중요하다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채점자가 至尊이다</a:t>
            </a:r>
            <a:r>
              <a:rPr lang="en-US" altLang="ko-KR" sz="1600" b="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ko-KR" altLang="en-US" sz="1600" b="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922EB8-20F2-7D6F-5817-F7937EBDFEE1}"/>
              </a:ext>
            </a:extLst>
          </p:cNvPr>
          <p:cNvSpPr txBox="1"/>
          <p:nvPr/>
        </p:nvSpPr>
        <p:spPr>
          <a:xfrm>
            <a:off x="3627664" y="5145242"/>
            <a:ext cx="7429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 실전은 연습과 다르다</a:t>
            </a:r>
            <a:r>
              <a:rPr lang="en-US" altLang="ko-KR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미래를 위해 준비하라</a:t>
            </a:r>
            <a:r>
              <a:rPr lang="en-US" altLang="ko-KR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altLang="ko-KR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시간을 컨트롤하라</a:t>
            </a:r>
            <a:r>
              <a:rPr lang="en-US" altLang="ko-KR" sz="1600" b="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20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22438</TotalTime>
  <Words>6609</Words>
  <Application>Microsoft Office PowerPoint</Application>
  <PresentationFormat>와이드스크린</PresentationFormat>
  <Paragraphs>1808</Paragraphs>
  <Slides>51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2" baseType="lpstr">
      <vt:lpstr>Frutiger LT 65 Bold</vt:lpstr>
      <vt:lpstr>Wingdings</vt:lpstr>
      <vt:lpstr>Rix모던명조 B</vt:lpstr>
      <vt:lpstr>Rix모던고딕 EB</vt:lpstr>
      <vt:lpstr>KoPubWorld돋움체 Bold</vt:lpstr>
      <vt:lpstr>Rix모던고딕 M</vt:lpstr>
      <vt:lpstr>Arial</vt:lpstr>
      <vt:lpstr>맑은 고딕</vt:lpstr>
      <vt:lpstr>Frutiger LT 75 Black</vt:lpstr>
      <vt:lpstr>-윤명조320</vt:lpstr>
      <vt:lpstr>Office 테마</vt:lpstr>
      <vt:lpstr>PowerPoint 프레젠테이션</vt:lpstr>
      <vt:lpstr>변리사 시장: 통계자료</vt:lpstr>
      <vt:lpstr>변리사 시장: 시장의 특색 및 니즈</vt:lpstr>
      <vt:lpstr>변리사 시장: 학원의 수익성 악화 요인</vt:lpstr>
      <vt:lpstr>변리사 시장: SWOT 분석</vt:lpstr>
      <vt:lpstr>변리사 시장: SWOT 분석에 따른 전략도출</vt:lpstr>
      <vt:lpstr>전략에 따른 운영방안</vt:lpstr>
      <vt:lpstr>온라인 생태계 안에서 통합 프로그램을 통한 맞춤형·데이터 기반 학습관리</vt:lpstr>
      <vt:lpstr>특허법 1차 커리큘럼과 Pass</vt:lpstr>
      <vt:lpstr>산업재산권법 온라인 구독 플랫폼</vt:lpstr>
      <vt:lpstr>산업재산권법 온라인 구독 플랫폼</vt:lpstr>
      <vt:lpstr>PowerPoint 프레젠테이션</vt:lpstr>
      <vt:lpstr>산업재산권법 온라인 구독 플랫폼: 법개정 색인</vt:lpstr>
      <vt:lpstr>산업재산권법 온라인 구독 플랫폼: 법개정 색인</vt:lpstr>
      <vt:lpstr>산업재산권법 온라인 구독 플랫폼: 1차/2차 조문</vt:lpstr>
      <vt:lpstr>산업재산권법 온라인 구독 플랫폼: 1차/2차 조문</vt:lpstr>
      <vt:lpstr>산업재산권법 온라인 구독 플랫폼: 1차 객관식 문제 색인</vt:lpstr>
      <vt:lpstr>산업재산권법 온라인 구독 플랫폼: 1차 객관식 문제 색인</vt:lpstr>
      <vt:lpstr>산업재산권법 온라인 구독 플랫폼: 1차 객관식 문제</vt:lpstr>
      <vt:lpstr>산업재산권법 온라인 구독 플랫폼: 1차 객관식 문제</vt:lpstr>
      <vt:lpstr>산업재산권법 온라인 구독 플랫폼: 판례 색인</vt:lpstr>
      <vt:lpstr>산업재산권법 온라인 구독 플랫폼: 판례 색인</vt:lpstr>
      <vt:lpstr>산업재산권법 온라인 구독 플랫폼: 1차/2차 판례</vt:lpstr>
      <vt:lpstr>산업재산권법 온라인 구독 플랫폼: 1차/2차 판례</vt:lpstr>
      <vt:lpstr>산업재산권법 2차 공부의 문제점과 방향</vt:lpstr>
      <vt:lpstr>산업재산권법 2차 커리큘럼</vt:lpstr>
      <vt:lpstr>산업재산권법 온라인 구독 플랫폼: 2차 주관식 문제 색인</vt:lpstr>
      <vt:lpstr>산업재산권법 온라인 구독 플랫폼: 2차 주관식 문제 색인</vt:lpstr>
      <vt:lpstr>산업재산권법 온라인 구독 플랫폼: 2차 주관식 문제</vt:lpstr>
      <vt:lpstr>산업재산권법 온라인 구독 플랫폼: 2차 주관식 문제</vt:lpstr>
      <vt:lpstr>산업재산권법 온라인 구독 플랫폼: 이슈 및 논문</vt:lpstr>
      <vt:lpstr>산업재산권법 온라인 구독 플랫폼: 이슈 및 논문</vt:lpstr>
      <vt:lpstr>산업재산권법 온라인 구독 플랫폼: 이슈 및 논문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산업재산권법 온라인 구독 플랫폼: 채점강의</vt:lpstr>
      <vt:lpstr>PowerPoint 프레젠테이션</vt:lpstr>
      <vt:lpstr>산업재산권법 온라인 구독 플랫폼: 이용자 분석</vt:lpstr>
      <vt:lpstr>PowerPoint 프레젠테이션</vt:lpstr>
      <vt:lpstr>산업재산권법 온라인 구독 플랫폼: 메일링 서비스</vt:lpstr>
      <vt:lpstr>특허법 공부방법: 1차부터 2차까지 개괄</vt:lpstr>
      <vt:lpstr>2차 공부방법</vt:lpstr>
      <vt:lpstr>기본 목차와 컨텐츠</vt:lpstr>
      <vt:lpstr>답안 작성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1030</cp:revision>
  <cp:lastPrinted>2026-04-13T07:54:15Z</cp:lastPrinted>
  <dcterms:created xsi:type="dcterms:W3CDTF">2016-02-25T00:12:49Z</dcterms:created>
  <dcterms:modified xsi:type="dcterms:W3CDTF">2026-04-27T07:09:23Z</dcterms:modified>
</cp:coreProperties>
</file>